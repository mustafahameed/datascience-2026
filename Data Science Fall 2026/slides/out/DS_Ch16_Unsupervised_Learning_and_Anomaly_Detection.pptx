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8.svg" ContentType="image/svg+xml"/>
  <Override PartName="/ppt/media/image30.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7.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6.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68.svg" ContentType="image/svg+xml"/>
  <Override PartName="/ppt/media/image69.svg" ContentType="image/svg+xml"/>
  <Override PartName="/ppt/media/image70.svg" ContentType="image/svg+xml"/>
  <Override PartName="/ppt/media/image71.svg" ContentType="image/svg+xml"/>
  <Override PartName="/ppt/media/image72.svg" ContentType="image/svg+xml"/>
  <Override PartName="/ppt/media/image74.svg" ContentType="image/svg+xml"/>
  <Override PartName="/ppt/media/image75.svg" ContentType="image/svg+xml"/>
  <Override PartName="/ppt/media/image76.svg" ContentType="image/svg+xml"/>
  <Override PartName="/ppt/media/image77.svg" ContentType="image/svg+xml"/>
  <Override PartName="/ppt/media/image78.svg" ContentType="image/svg+xml"/>
  <Override PartName="/ppt/media/image79.svg" ContentType="image/svg+xml"/>
  <Override PartName="/ppt/media/image8.svg" ContentType="image/svg+xml"/>
  <Override PartName="/ppt/media/image81.svg" ContentType="image/svg+xml"/>
  <Override PartName="/ppt/media/image83.svg" ContentType="image/svg+xml"/>
  <Override PartName="/ppt/media/image84.svg" ContentType="image/svg+xml"/>
  <Override PartName="/ppt/media/image85.svg" ContentType="image/svg+xml"/>
  <Override PartName="/ppt/media/image86.svg" ContentType="image/svg+xml"/>
  <Override PartName="/ppt/media/image87.svg" ContentType="image/svg+xml"/>
  <Override PartName="/ppt/media/image89.svg" ContentType="image/svg+xml"/>
  <Override PartName="/ppt/media/image91.svg" ContentType="image/svg+xml"/>
  <Override PartName="/ppt/media/image92.svg" ContentType="image/svg+xml"/>
  <Override PartName="/ppt/media/image9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B306642-3B10-4E39-85F8-AC46366C1E58}">
          <p14:sldIdLst>
            <p14:sldId id="256"/>
            <p14:sldId id="257"/>
            <p14:sldId id="258"/>
            <p14:sldId id="259"/>
            <p14:sldId id="260"/>
          </p14:sldIdLst>
        </p14:section>
        <p14:section name="16.1 Learning Without Answers" id="{91167441-D329-4F9E-B937-F8BE48A1A737}">
          <p14:sldIdLst>
            <p14:sldId id="261"/>
          </p14:sldIdLst>
        </p14:section>
        <p14:section name="16.2 k-Means Clustering" id="{A6C9E0A3-201A-4597-A6C2-9AC2194419A4}">
          <p14:sldIdLst>
            <p14:sldId id="262"/>
            <p14:sldId id="263"/>
            <p14:sldId id="264"/>
            <p14:sldId id="265"/>
            <p14:sldId id="266"/>
          </p14:sldIdLst>
        </p14:section>
        <p14:section name="16.3 Hierarchical Clustering and DBSCAN" id="{7DD921A1-E663-4780-B99B-C0570AE353B5}">
          <p14:sldIdLst>
            <p14:sldId id="267"/>
            <p14:sldId id="268"/>
            <p14:sldId id="269"/>
            <p14:sldId id="270"/>
          </p14:sldIdLst>
        </p14:section>
        <p14:section name="16.4 Dimensionality Reduction" id="{F03DE012-A4FD-4E44-A6F7-10700AB4B156}">
          <p14:sldIdLst>
            <p14:sldId id="271"/>
            <p14:sldId id="272"/>
            <p14:sldId id="273"/>
            <p14:sldId id="274"/>
            <p14:sldId id="275"/>
          </p14:sldIdLst>
        </p14:section>
        <p14:section name="16.5 Anomaly Detection" id="{936D207D-F6AD-4093-B810-786904F04F0B}">
          <p14:sldIdLst>
            <p14:sldId id="276"/>
            <p14:sldId id="277"/>
            <p14:sldId id="278"/>
            <p14:sldId id="279"/>
            <p14:sldId id="280"/>
          </p14:sldIdLst>
        </p14:section>
        <p14:section name="Four lenses" id="{0AEF38BE-4D0A-416D-BDB5-D7568CFE7E6B}">
          <p14:sldIdLst>
            <p14:sldId id="281"/>
            <p14:sldId id="282"/>
            <p14:sldId id="283"/>
            <p14:sldId id="284"/>
            <p14:sldId id="285"/>
          </p14:sldIdLst>
        </p14:section>
        <p14:section name="Lab" id="{7A6B7A35-7773-45DB-920C-3D8EC1567523}">
          <p14:sldIdLst>
            <p14:sldId id="286"/>
            <p14:sldId id="287"/>
            <p14:sldId id="288"/>
            <p14:sldId id="289"/>
            <p14:sldId id="290"/>
            <p14:sldId id="291"/>
          </p14:sldIdLst>
        </p14:section>
        <p14:section name="Checkpoint" id="{A7FDA186-CAC9-48E0-8970-87B407B060EC}">
          <p14:sldIdLst>
            <p14:sldId id="292"/>
            <p14:sldId id="293"/>
            <p14:sldId id="294"/>
            <p14:sldId id="295"/>
            <p14:sldId id="296"/>
            <p14:sldId id="297"/>
          </p14:sldIdLst>
        </p14:section>
        <p14:section name="Wrap-up" id="{F3532F19-333F-41B1-A485-DDEFB308D40D}">
          <p14:sldIdLst>
            <p14:sldId id="298"/>
            <p14:sldId id="299"/>
            <p14:sldId id="300"/>
            <p14:sldId id="301"/>
            <p14:sldId id="30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16: Unsupervised Learning and Anomaly Detection. Part 3 — Machine Learning Core. Week 9: Features and ensembles; unsupervised (mostly revision). Handout pages 101–108.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4 (distance and scaling — clustering is distance, so unscaled features will decide your clusters for you) and Chapter 14. Revision note: clustering and PCA revise Machine Learning Fall 2026, Chapters 15 and 16; anomaly detection is genuinely new.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clustering; k-means; centroid; inertia; elbow method; silhouette score; hierarchical clustering; dendrogram; DBSCAN; dimensionality reduction; PCA; explained variance; t-SNE / UMAP; anomaly detection; isolation forest; association rules.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16.1 (handout p. 102): k-means in four steps. Assignment and update alternate until nothing moves. Because the starting positions are random, different runs can converge differently — which is why n_init exists and why you should fix the random seed.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16.2 (handout p. 102): Two ways to choose k. Inertia falls monotonically, so the elbow is a judgement call; the silhouette score has a true maximum and is the better default. Both should agree with a domain reason for the number you pick.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16.3 (handout p. 103): Left: a dendrogram, where the number of clusters is chosen after the fact by cutting at a chosen height. Right: DBSCAN separates dense regions from noise, which makes it a clustering algorithm and an outlier detector at once.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16.4 (handout p. 103): PCA. Left: the components are the directions along which the data actually varies, not the original axes. Right: the scree plot shows where adding components stops buying much, which is how the number to keep is chosen.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Cluster students on engagement patterns to discover learner types — steady, bursty, front-loaded, disengaging — which no one had defined in advance and which support different interventions. Use k-means with silhouette selection, then profile each cluster in plain language. Ethical caution: these clusters must never become permanent labels attached to students (Chapter 28); they describe a semester’s behaviour, not a person.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Cluster past projects to find natural categories of work, giving better reference classes for estimation than the official project taxonomy. With only dozens of projects, hierarchical clustering is preferable to k-means — the dendrogram itself is the useful output, because a manager can see why two projects were grouped and overrule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Cluster devices by behavioural signature to find fleet sub-populations that need different maintenance regimes. More importantly, use isolation forests on window features for anomaly detection: you cannot supervise a failure mode that has never occurred, and this is the standard approach when there are no positive labels at all. Establish each device’s own baseline — fleet-wide thresholds miss a device that is abnormal only for itself.</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This is the chapter’s home domain. Unsupervised methods detect novel attacks that no signature covers — precisely what supervised models trained on past attacks cannot do. Use DBSCAN or isolation forests for user and entity behaviour analytics, scoring each account against its own 30-day profile. Remember the base rate from Chapter 6: an anomaly score is not a verdict, and tuning contamination too high will bury your analysts.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Choose k by silhouette, not by eye.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Stability check: do the clusters survive resampling?.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PCA for visualisation and for the scree plot.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Anomaly detection with no labels at all.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Because more centroids can only reduce the distance from each point to its nearest one; at k=n inertia is zero. Minimising it therefore always chooses the largest k, so it must be combined with the elbow judgement, the silhouette score, and a domain reason.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DBSCAN. k-means assumes roughly spherical clusters and forces every point into one, so the outliers you want identified would be absorbed into the nearest cluster and hidden.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unscaled feature with the largest variance — typically the one with the biggest units — dominated. PCA maximises variance, which is scale-dependent. Standardise first.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17 — Neural Network Foundations. READ: Handout Chapter 16, pages 101–108. THIS WEEK'S LAB: Engineer, ensemble, interpret; cluster &amp; detect. ASSESSMENT: Assignment 2 set.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2.xml"/><Relationship Id="rId8" Type="http://schemas.openxmlformats.org/officeDocument/2006/relationships/slide" Target="slide16.xml"/><Relationship Id="rId9" Type="http://schemas.openxmlformats.org/officeDocument/2006/relationships/slide" Target="slide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9.svg"/><Relationship Id="rId4" Type="http://schemas.openxmlformats.org/officeDocument/2006/relationships/image" Target="../media/image20.png"/><Relationship Id="rId5" Type="http://schemas.openxmlformats.org/officeDocument/2006/relationships/image" Target="../media/image21.sv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image" Target="../media/image25.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image" Target="../media/image27.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8.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0.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image" Target="../media/image32.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image" Target="../media/image33.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4.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35.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image" Target="../media/image37.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image" Target="../media/image38.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0.svg"/><Relationship Id="rId4" Type="http://schemas.openxmlformats.org/officeDocument/2006/relationships/image" Target="../media/image41.png"/><Relationship Id="rId5" Type="http://schemas.openxmlformats.org/officeDocument/2006/relationships/image" Target="../media/image42.svg"/><Relationship Id="rId6" Type="http://schemas.openxmlformats.org/officeDocument/2006/relationships/image" Target="../media/image43.png"/><Relationship Id="rId7" Type="http://schemas.openxmlformats.org/officeDocument/2006/relationships/image" Target="../media/image44.svg"/><Relationship Id="rId8" Type="http://schemas.openxmlformats.org/officeDocument/2006/relationships/image" Target="../media/image45.png"/><Relationship Id="rId9" Type="http://schemas.openxmlformats.org/officeDocument/2006/relationships/image" Target="../media/image46.svg"/><Relationship Id="rId10" Type="http://schemas.openxmlformats.org/officeDocument/2006/relationships/image" Target="../media/image47.png"/><Relationship Id="rId11" Type="http://schemas.openxmlformats.org/officeDocument/2006/relationships/image" Target="../media/image48.svg"/><Relationship Id="rId1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0.svg"/><Relationship Id="rId4" Type="http://schemas.openxmlformats.org/officeDocument/2006/relationships/image" Target="../media/image41.png"/><Relationship Id="rId5" Type="http://schemas.openxmlformats.org/officeDocument/2006/relationships/image" Target="../media/image51.svg"/><Relationship Id="rId6" Type="http://schemas.openxmlformats.org/officeDocument/2006/relationships/image" Target="../media/image43.png"/><Relationship Id="rId7" Type="http://schemas.openxmlformats.org/officeDocument/2006/relationships/image" Target="../media/image52.svg"/><Relationship Id="rId8" Type="http://schemas.openxmlformats.org/officeDocument/2006/relationships/image" Target="../media/image45.png"/><Relationship Id="rId9" Type="http://schemas.openxmlformats.org/officeDocument/2006/relationships/image" Target="../media/image53.svg"/><Relationship Id="rId10" Type="http://schemas.openxmlformats.org/officeDocument/2006/relationships/image" Target="../media/image47.png"/><Relationship Id="rId11" Type="http://schemas.openxmlformats.org/officeDocument/2006/relationships/image" Target="../media/image54.svg"/><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56.svg"/><Relationship Id="rId4" Type="http://schemas.openxmlformats.org/officeDocument/2006/relationships/image" Target="../media/image43.png"/><Relationship Id="rId5" Type="http://schemas.openxmlformats.org/officeDocument/2006/relationships/image" Target="../media/image57.svg"/><Relationship Id="rId6" Type="http://schemas.openxmlformats.org/officeDocument/2006/relationships/image" Target="../media/image41.png"/><Relationship Id="rId7" Type="http://schemas.openxmlformats.org/officeDocument/2006/relationships/image" Target="../media/image58.svg"/><Relationship Id="rId8" Type="http://schemas.openxmlformats.org/officeDocument/2006/relationships/image" Target="../media/image45.png"/><Relationship Id="rId9" Type="http://schemas.openxmlformats.org/officeDocument/2006/relationships/image" Target="../media/image59.svg"/><Relationship Id="rId10" Type="http://schemas.openxmlformats.org/officeDocument/2006/relationships/image" Target="../media/image47.png"/><Relationship Id="rId11" Type="http://schemas.openxmlformats.org/officeDocument/2006/relationships/image" Target="../media/image60.svg"/><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2.svg"/><Relationship Id="rId4" Type="http://schemas.openxmlformats.org/officeDocument/2006/relationships/image" Target="../media/image45.png"/><Relationship Id="rId5" Type="http://schemas.openxmlformats.org/officeDocument/2006/relationships/image" Target="../media/image63.svg"/><Relationship Id="rId6" Type="http://schemas.openxmlformats.org/officeDocument/2006/relationships/image" Target="../media/image41.png"/><Relationship Id="rId7" Type="http://schemas.openxmlformats.org/officeDocument/2006/relationships/image" Target="../media/image64.svg"/><Relationship Id="rId8" Type="http://schemas.openxmlformats.org/officeDocument/2006/relationships/image" Target="../media/image43.png"/><Relationship Id="rId9" Type="http://schemas.openxmlformats.org/officeDocument/2006/relationships/image" Target="../media/image65.svg"/><Relationship Id="rId10" Type="http://schemas.openxmlformats.org/officeDocument/2006/relationships/image" Target="../media/image47.png"/><Relationship Id="rId11" Type="http://schemas.openxmlformats.org/officeDocument/2006/relationships/image" Target="../media/image66.svg"/><Relationship Id="rId1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image" Target="../media/image68.svg"/><Relationship Id="rId4" Type="http://schemas.openxmlformats.org/officeDocument/2006/relationships/image" Target="../media/image47.png"/><Relationship Id="rId5" Type="http://schemas.openxmlformats.org/officeDocument/2006/relationships/image" Target="../media/image69.svg"/><Relationship Id="rId6" Type="http://schemas.openxmlformats.org/officeDocument/2006/relationships/image" Target="../media/image41.png"/><Relationship Id="rId7" Type="http://schemas.openxmlformats.org/officeDocument/2006/relationships/image" Target="../media/image70.svg"/><Relationship Id="rId8" Type="http://schemas.openxmlformats.org/officeDocument/2006/relationships/image" Target="../media/image43.png"/><Relationship Id="rId9" Type="http://schemas.openxmlformats.org/officeDocument/2006/relationships/image" Target="../media/image71.svg"/><Relationship Id="rId10" Type="http://schemas.openxmlformats.org/officeDocument/2006/relationships/image" Target="../media/image45.png"/><Relationship Id="rId11" Type="http://schemas.openxmlformats.org/officeDocument/2006/relationships/image" Target="../media/image72.svg"/><Relationship Id="rId1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4.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5.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6.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7.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8.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9.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1.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4.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png"/><Relationship Id="rId3" Type="http://schemas.openxmlformats.org/officeDocument/2006/relationships/image" Target="../media/image85.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6.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png"/><Relationship Id="rId3" Type="http://schemas.openxmlformats.org/officeDocument/2006/relationships/image" Target="../media/image87.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8.png"/><Relationship Id="rId3" Type="http://schemas.openxmlformats.org/officeDocument/2006/relationships/image" Target="../media/image89.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0.png"/><Relationship Id="rId3" Type="http://schemas.openxmlformats.org/officeDocument/2006/relationships/image" Target="../media/image91.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0.png"/><Relationship Id="rId3" Type="http://schemas.openxmlformats.org/officeDocument/2006/relationships/image" Target="../media/image92.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0.png"/><Relationship Id="rId3" Type="http://schemas.openxmlformats.org/officeDocument/2006/relationships/image" Target="../media/image93.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28756"/>
                </a:solidFill>
                <a:latin typeface="Segoe UI Black"/>
              </a:rPr>
              <a:t>16</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Unsupervised Learning and Anomaly Detection</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PART III  ·  MACHINE LEARNING CORE</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CHAPTER 16  ·  WEEK 9</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E4D9"/>
                </a:solidFill>
                <a:latin typeface="Segoe UI"/>
              </a:rPr>
              <a:t>Data Science — From Foundations to Intelligent Systems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58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C0B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D0C5"/>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C0B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101     </a:t>
            </a:r>
            <a:fld id="{413A68BF-AC48-4186-8D70-2C1D87B45D99}" type="slidenum">
              <a:rPr lang="en-GB" sz="1000">
                <a:solidFill>
                  <a:srgbClr val="8795A1"/>
                </a:solidFill>
                <a:latin typeface="Segoe UI"/>
              </a:rPr>
              <a:t>2</a:t>
            </a:fld>
          </a:p>
        </p:txBody>
      </p:sp>
      <p:sp>
        <p:nvSpPr>
          <p:cNvPr id="7" name="!!rp1"/>
          <p:cNvSpPr txBox="1"/>
          <p:nvPr/>
        </p:nvSpPr>
        <p:spPr>
          <a:xfrm>
            <a:off x="77724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740856" y="1755648"/>
            <a:ext cx="107133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740856" y="2029967"/>
            <a:ext cx="107133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141374" y="1755648"/>
            <a:ext cx="178988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B7A43"/>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141374" y="2029967"/>
            <a:ext cx="1789880" cy="4572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415887"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415887"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379504"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379504"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061571"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061571"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75342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6619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03497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9435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31652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2250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5980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5066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187962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17881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216117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0697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271703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262559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299858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29071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328013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31886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356168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347024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411755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402611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439910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430766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468065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458921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496220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487076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524375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515231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5534448" y="2112264"/>
            <a:ext cx="566928" cy="566928"/>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5534448"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16</a:t>
            </a:r>
          </a:p>
        </p:txBody>
      </p:sp>
      <p:sp>
        <p:nvSpPr>
          <p:cNvPr id="51" name="!!dot17">
            <a:extLst>
              <a:ext uri="{C183D7F6-B498-43B3-948B-1728B52AA6E4}">
                <adec:decorative xmlns:adec="http://schemas.microsoft.com/office/drawing/2017/decorative" val="1"/>
              </a:ext>
            </a:extLst>
          </p:cNvPr>
          <p:cNvSpPr/>
          <p:nvPr/>
        </p:nvSpPr>
        <p:spPr>
          <a:xfrm>
            <a:off x="6392070"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63006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667361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658217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695516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686372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723671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714527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751826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742682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779981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770837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835568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826424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23</a:t>
            </a:r>
          </a:p>
        </p:txBody>
      </p:sp>
      <p:sp>
        <p:nvSpPr>
          <p:cNvPr id="65" name="!!dot24">
            <a:extLst>
              <a:ext uri="{C183D7F6-B498-43B3-948B-1728B52AA6E4}">
                <adec:decorative xmlns:adec="http://schemas.microsoft.com/office/drawing/2017/decorative" val="1"/>
              </a:ext>
            </a:extLst>
          </p:cNvPr>
          <p:cNvSpPr/>
          <p:nvPr/>
        </p:nvSpPr>
        <p:spPr>
          <a:xfrm>
            <a:off x="863723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dotn24"/>
          <p:cNvSpPr txBox="1"/>
          <p:nvPr/>
        </p:nvSpPr>
        <p:spPr>
          <a:xfrm>
            <a:off x="854579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24</a:t>
            </a:r>
          </a:p>
        </p:txBody>
      </p:sp>
      <p:sp>
        <p:nvSpPr>
          <p:cNvPr id="67" name="!!dot25">
            <a:extLst>
              <a:ext uri="{C183D7F6-B498-43B3-948B-1728B52AA6E4}">
                <adec:decorative xmlns:adec="http://schemas.microsoft.com/office/drawing/2017/decorative" val="1"/>
              </a:ext>
            </a:extLst>
          </p:cNvPr>
          <p:cNvSpPr/>
          <p:nvPr/>
        </p:nvSpPr>
        <p:spPr>
          <a:xfrm>
            <a:off x="891878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dotn25"/>
          <p:cNvSpPr txBox="1"/>
          <p:nvPr/>
        </p:nvSpPr>
        <p:spPr>
          <a:xfrm>
            <a:off x="882734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25</a:t>
            </a:r>
          </a:p>
        </p:txBody>
      </p:sp>
      <p:sp>
        <p:nvSpPr>
          <p:cNvPr id="69" name="!!dot26">
            <a:extLst>
              <a:ext uri="{C183D7F6-B498-43B3-948B-1728B52AA6E4}">
                <adec:decorative xmlns:adec="http://schemas.microsoft.com/office/drawing/2017/decorative" val="1"/>
              </a:ext>
            </a:extLst>
          </p:cNvPr>
          <p:cNvSpPr/>
          <p:nvPr/>
        </p:nvSpPr>
        <p:spPr>
          <a:xfrm>
            <a:off x="920033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dotn26"/>
          <p:cNvSpPr txBox="1"/>
          <p:nvPr/>
        </p:nvSpPr>
        <p:spPr>
          <a:xfrm>
            <a:off x="910889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26</a:t>
            </a:r>
          </a:p>
        </p:txBody>
      </p:sp>
      <p:sp>
        <p:nvSpPr>
          <p:cNvPr id="71" name="!!dot27">
            <a:extLst>
              <a:ext uri="{C183D7F6-B498-43B3-948B-1728B52AA6E4}">
                <adec:decorative xmlns:adec="http://schemas.microsoft.com/office/drawing/2017/decorative" val="1"/>
              </a:ext>
            </a:extLst>
          </p:cNvPr>
          <p:cNvSpPr/>
          <p:nvPr/>
        </p:nvSpPr>
        <p:spPr>
          <a:xfrm>
            <a:off x="948188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dotn27"/>
          <p:cNvSpPr txBox="1"/>
          <p:nvPr/>
        </p:nvSpPr>
        <p:spPr>
          <a:xfrm>
            <a:off x="93904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27</a:t>
            </a:r>
          </a:p>
        </p:txBody>
      </p:sp>
      <p:sp>
        <p:nvSpPr>
          <p:cNvPr id="73" name="!!dot28">
            <a:extLst>
              <a:ext uri="{C183D7F6-B498-43B3-948B-1728B52AA6E4}">
                <adec:decorative xmlns:adec="http://schemas.microsoft.com/office/drawing/2017/decorative" val="1"/>
              </a:ext>
            </a:extLst>
          </p:cNvPr>
          <p:cNvSpPr/>
          <p:nvPr/>
        </p:nvSpPr>
        <p:spPr>
          <a:xfrm>
            <a:off x="1003775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dotn28"/>
          <p:cNvSpPr txBox="1"/>
          <p:nvPr/>
        </p:nvSpPr>
        <p:spPr>
          <a:xfrm>
            <a:off x="99463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28</a:t>
            </a:r>
          </a:p>
        </p:txBody>
      </p:sp>
      <p:sp>
        <p:nvSpPr>
          <p:cNvPr id="75" name="!!dot29">
            <a:extLst>
              <a:ext uri="{C183D7F6-B498-43B3-948B-1728B52AA6E4}">
                <adec:decorative xmlns:adec="http://schemas.microsoft.com/office/drawing/2017/decorative" val="1"/>
              </a:ext>
            </a:extLst>
          </p:cNvPr>
          <p:cNvSpPr/>
          <p:nvPr/>
        </p:nvSpPr>
        <p:spPr>
          <a:xfrm>
            <a:off x="1031930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dotn29"/>
          <p:cNvSpPr txBox="1"/>
          <p:nvPr/>
        </p:nvSpPr>
        <p:spPr>
          <a:xfrm>
            <a:off x="10227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29</a:t>
            </a:r>
          </a:p>
        </p:txBody>
      </p:sp>
      <p:sp>
        <p:nvSpPr>
          <p:cNvPr id="77" name="!!dot30">
            <a:extLst>
              <a:ext uri="{C183D7F6-B498-43B3-948B-1728B52AA6E4}">
                <adec:decorative xmlns:adec="http://schemas.microsoft.com/office/drawing/2017/decorative" val="1"/>
              </a:ext>
            </a:extLst>
          </p:cNvPr>
          <p:cNvSpPr/>
          <p:nvPr/>
        </p:nvSpPr>
        <p:spPr>
          <a:xfrm>
            <a:off x="1060085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dotn30"/>
          <p:cNvSpPr txBox="1"/>
          <p:nvPr/>
        </p:nvSpPr>
        <p:spPr>
          <a:xfrm>
            <a:off x="105094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30</a:t>
            </a:r>
          </a:p>
        </p:txBody>
      </p:sp>
      <p:sp>
        <p:nvSpPr>
          <p:cNvPr id="79" name="!!dot31">
            <a:extLst>
              <a:ext uri="{C183D7F6-B498-43B3-948B-1728B52AA6E4}">
                <adec:decorative xmlns:adec="http://schemas.microsoft.com/office/drawing/2017/decorative" val="1"/>
              </a:ext>
            </a:extLst>
          </p:cNvPr>
          <p:cNvSpPr/>
          <p:nvPr/>
        </p:nvSpPr>
        <p:spPr>
          <a:xfrm>
            <a:off x="1088240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dotn31"/>
          <p:cNvSpPr txBox="1"/>
          <p:nvPr/>
        </p:nvSpPr>
        <p:spPr>
          <a:xfrm>
            <a:off x="107909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31</a:t>
            </a:r>
          </a:p>
        </p:txBody>
      </p:sp>
      <p:sp>
        <p:nvSpPr>
          <p:cNvPr id="81" name="!!dot32">
            <a:extLst>
              <a:ext uri="{C183D7F6-B498-43B3-948B-1728B52AA6E4}">
                <adec:decorative xmlns:adec="http://schemas.microsoft.com/office/drawing/2017/decorative" val="1"/>
              </a:ext>
            </a:extLst>
          </p:cNvPr>
          <p:cNvSpPr/>
          <p:nvPr/>
        </p:nvSpPr>
        <p:spPr>
          <a:xfrm>
            <a:off x="1116395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dotn32"/>
          <p:cNvSpPr txBox="1"/>
          <p:nvPr/>
        </p:nvSpPr>
        <p:spPr>
          <a:xfrm>
            <a:off x="110725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32</a:t>
            </a:r>
          </a:p>
        </p:txBody>
      </p:sp>
      <p:sp>
        <p:nvSpPr>
          <p:cNvPr id="83" name="!!dotlabel"/>
          <p:cNvSpPr txBox="1"/>
          <p:nvPr/>
        </p:nvSpPr>
        <p:spPr>
          <a:xfrm>
            <a:off x="3531912" y="2798064"/>
            <a:ext cx="457200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B7A43"/>
                </a:solidFill>
                <a:latin typeface="Segoe UI"/>
              </a:rPr>
              <a:t>Unsupervised Learning and Anomaly Detection</a:t>
            </a:r>
          </a:p>
        </p:txBody>
      </p:sp>
      <p:sp>
        <p:nvSpPr>
          <p:cNvPr id="8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85" name="!!chipBU4">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bBU4">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tBU4"/>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4  </a:t>
            </a:r>
            <a:r>
              <a:rPr sz="1400" b="0" i="0">
                <a:solidFill>
                  <a:srgbClr val="1C252B"/>
                </a:solidFill>
                <a:latin typeface="Segoe UI"/>
              </a:rPr>
              <a:t>The Mathematical Toolkit</a:t>
            </a:r>
          </a:p>
        </p:txBody>
      </p:sp>
      <p:sp>
        <p:nvSpPr>
          <p:cNvPr id="88" name="!!chipBU14">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9" name="!!chipbBU14">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chiptBU14"/>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14  </a:t>
            </a:r>
            <a:r>
              <a:rPr sz="1400" b="0" i="0">
                <a:solidFill>
                  <a:srgbClr val="1C252B"/>
                </a:solidFill>
                <a:latin typeface="Segoe UI"/>
              </a:rPr>
              <a:t>Model Evaluation and Selection</a:t>
            </a:r>
          </a:p>
        </p:txBody>
      </p:sp>
      <p:sp>
        <p:nvSpPr>
          <p:cNvPr id="91"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92" name="!!chipUS25">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3" name="!!chipbUS25">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4" name="!!chiptUS25"/>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25  </a:t>
            </a:r>
            <a:r>
              <a:rPr sz="1400" b="0" i="0">
                <a:solidFill>
                  <a:srgbClr val="1C252B"/>
                </a:solidFill>
                <a:latin typeface="Segoe UI"/>
              </a:rPr>
              <a:t>Data Science for the Internet of Things</a:t>
            </a:r>
          </a:p>
        </p:txBody>
      </p:sp>
      <p:sp>
        <p:nvSpPr>
          <p:cNvPr id="95" name="!!chipUS26">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6" name="!!chipbUS26">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7" name="!!chiptUS26"/>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26  </a:t>
            </a:r>
            <a:r>
              <a:rPr sz="1400" b="0" i="0">
                <a:solidFill>
                  <a:srgbClr val="1C252B"/>
                </a:solidFill>
                <a:latin typeface="Segoe UI"/>
              </a:rPr>
              <a:t>Data Science for Cybersecurity</a:t>
            </a:r>
          </a:p>
        </p:txBody>
      </p:sp>
      <p:sp>
        <p:nvSpPr>
          <p:cNvPr id="9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9" name="!!pfill">
            <a:extLst>
              <a:ext uri="{C183D7F6-B498-43B3-948B-1728B52AA6E4}">
                <adec:decorative xmlns:adec="http://schemas.microsoft.com/office/drawing/2017/decorative" val="1"/>
              </a:ext>
            </a:extLst>
          </p:cNvPr>
          <p:cNvSpPr/>
          <p:nvPr/>
        </p:nvSpPr>
        <p:spPr>
          <a:xfrm>
            <a:off x="0" y="0"/>
            <a:ext cx="51879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101     </a:t>
            </a:r>
            <a:fld id="{BE3831C5-FAF4-4A9E-A24C-FF2EEB97227D}"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Run</a:t>
            </a:r>
            <a:r>
              <a:rPr sz="2100" b="0" i="0">
                <a:solidFill>
                  <a:srgbClr val="1C252B"/>
                </a:solidFill>
                <a:latin typeface="Segoe UI"/>
              </a:rPr>
              <a:t> and </a:t>
            </a:r>
            <a:r>
              <a:rPr sz="2100" b="1" i="0">
                <a:solidFill>
                  <a:srgbClr val="1C252B"/>
                </a:solidFill>
                <a:latin typeface="Segoe UI"/>
              </a:rPr>
              <a:t>interpret</a:t>
            </a:r>
            <a:r>
              <a:rPr sz="2100" b="0" i="0">
                <a:solidFill>
                  <a:srgbClr val="1C252B"/>
                </a:solidFill>
                <a:latin typeface="Segoe UI"/>
              </a:rPr>
              <a:t> k-means, hierarchical and density-based clustering, and choose between them.</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111703"/>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Select</a:t>
            </a:r>
            <a:r>
              <a:rPr sz="2100" b="0" i="0">
                <a:solidFill>
                  <a:srgbClr val="1C252B"/>
                </a:solidFill>
                <a:latin typeface="Segoe UI"/>
              </a:rPr>
              <a:t> the number of clusters using the elbow and silhouette methods.</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715207"/>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Explain</a:t>
            </a:r>
            <a:r>
              <a:rPr sz="2100" b="0" i="0">
                <a:solidFill>
                  <a:srgbClr val="1C252B"/>
                </a:solidFill>
                <a:latin typeface="Segoe UI"/>
              </a:rPr>
              <a:t> what PCA does and read a scree plot.</a:t>
            </a:r>
          </a:p>
        </p:txBody>
      </p:sp>
      <p:sp>
        <p:nvSpPr>
          <p:cNvPr id="17" name="!!ob3">
            <a:extLst>
              <a:ext uri="{C183D7F6-B498-43B3-948B-1728B52AA6E4}">
                <adec:decorative xmlns:adec="http://schemas.microsoft.com/office/drawing/2017/decorative" val="1"/>
              </a:ext>
            </a:extLst>
          </p:cNvPr>
          <p:cNvSpPr/>
          <p:nvPr/>
        </p:nvSpPr>
        <p:spPr>
          <a:xfrm>
            <a:off x="658368" y="4277563"/>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336999"/>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268419"/>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Choose</a:t>
            </a:r>
            <a:r>
              <a:rPr sz="2100" b="0" i="0">
                <a:solidFill>
                  <a:srgbClr val="1C252B"/>
                </a:solidFill>
                <a:latin typeface="Segoe UI"/>
              </a:rPr>
              <a:t> an anomaly detection method appropriate to the data and the definition of “anomalous”.</a:t>
            </a:r>
          </a:p>
        </p:txBody>
      </p:sp>
      <p:sp>
        <p:nvSpPr>
          <p:cNvPr id="20" name="!!ob4">
            <a:extLst>
              <a:ext uri="{C183D7F6-B498-43B3-948B-1728B52AA6E4}">
                <adec:decorative xmlns:adec="http://schemas.microsoft.com/office/drawing/2017/decorative" val="1"/>
              </a:ext>
            </a:extLst>
          </p:cNvPr>
          <p:cNvSpPr/>
          <p:nvPr/>
        </p:nvSpPr>
        <p:spPr>
          <a:xfrm>
            <a:off x="658368" y="5126126"/>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18556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167274"/>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Evaluate</a:t>
            </a:r>
            <a:r>
              <a:rPr sz="2100" b="0" i="0">
                <a:solidFill>
                  <a:srgbClr val="1C252B"/>
                </a:solidFill>
                <a:latin typeface="Segoe UI"/>
              </a:rPr>
              <a:t> unsupervised results despite having no labels.</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7819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101     </a:t>
            </a:r>
            <a:fld id="{98F6F40F-7C99-4DFF-8AB4-6710E84BFD05}" type="slidenum">
              <a:rPr lang="en-GB" sz="1000">
                <a:solidFill>
                  <a:srgbClr val="8795A1"/>
                </a:solidFill>
                <a:latin typeface="Segoe UI"/>
              </a:rPr>
              <a:t>4</a:t>
            </a:fld>
          </a:p>
        </p:txBody>
      </p:sp>
      <p:sp>
        <p:nvSpPr>
          <p:cNvPr id="7" name="!!term-clustering">
            <a:extLst>
              <a:ext uri="{C183D7F6-B498-43B3-948B-1728B52AA6E4}">
                <adec:decorative xmlns:adec="http://schemas.microsoft.com/office/drawing/2017/decorative" val="1"/>
              </a:ext>
            </a:extLst>
          </p:cNvPr>
          <p:cNvSpPr/>
          <p:nvPr/>
        </p:nvSpPr>
        <p:spPr>
          <a:xfrm>
            <a:off x="658368" y="1847088"/>
            <a:ext cx="133032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clustering">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clustering"/>
          <p:cNvSpPr txBox="1"/>
          <p:nvPr/>
        </p:nvSpPr>
        <p:spPr>
          <a:xfrm>
            <a:off x="950976" y="1962911"/>
            <a:ext cx="114744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clustering</a:t>
            </a:r>
          </a:p>
        </p:txBody>
      </p:sp>
      <p:sp>
        <p:nvSpPr>
          <p:cNvPr id="10" name="!!term-k-means">
            <a:extLst>
              <a:ext uri="{C183D7F6-B498-43B3-948B-1728B52AA6E4}">
                <adec:decorative xmlns:adec="http://schemas.microsoft.com/office/drawing/2017/decorative" val="1"/>
              </a:ext>
            </a:extLst>
          </p:cNvPr>
          <p:cNvSpPr/>
          <p:nvPr/>
        </p:nvSpPr>
        <p:spPr>
          <a:xfrm>
            <a:off x="2135000" y="1847088"/>
            <a:ext cx="122214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k-means">
            <a:extLst>
              <a:ext uri="{C183D7F6-B498-43B3-948B-1728B52AA6E4}">
                <adec:decorative xmlns:adec="http://schemas.microsoft.com/office/drawing/2017/decorative" val="1"/>
              </a:ext>
            </a:extLst>
          </p:cNvPr>
          <p:cNvSpPr/>
          <p:nvPr/>
        </p:nvSpPr>
        <p:spPr>
          <a:xfrm>
            <a:off x="226301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k-means"/>
          <p:cNvSpPr txBox="1"/>
          <p:nvPr/>
        </p:nvSpPr>
        <p:spPr>
          <a:xfrm>
            <a:off x="2427608" y="1962911"/>
            <a:ext cx="103926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k-means</a:t>
            </a:r>
          </a:p>
        </p:txBody>
      </p:sp>
      <p:sp>
        <p:nvSpPr>
          <p:cNvPr id="13" name="!!term-centroid">
            <a:extLst>
              <a:ext uri="{C183D7F6-B498-43B3-948B-1728B52AA6E4}">
                <adec:decorative xmlns:adec="http://schemas.microsoft.com/office/drawing/2017/decorative" val="1"/>
              </a:ext>
            </a:extLst>
          </p:cNvPr>
          <p:cNvSpPr/>
          <p:nvPr/>
        </p:nvSpPr>
        <p:spPr>
          <a:xfrm>
            <a:off x="3503454" y="1847088"/>
            <a:ext cx="119641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centroid">
            <a:extLst>
              <a:ext uri="{C183D7F6-B498-43B3-948B-1728B52AA6E4}">
                <adec:decorative xmlns:adec="http://schemas.microsoft.com/office/drawing/2017/decorative" val="1"/>
              </a:ext>
            </a:extLst>
          </p:cNvPr>
          <p:cNvSpPr/>
          <p:nvPr/>
        </p:nvSpPr>
        <p:spPr>
          <a:xfrm>
            <a:off x="363147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centroid"/>
          <p:cNvSpPr txBox="1"/>
          <p:nvPr/>
        </p:nvSpPr>
        <p:spPr>
          <a:xfrm>
            <a:off x="3796062" y="1962911"/>
            <a:ext cx="101353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centroid</a:t>
            </a:r>
          </a:p>
        </p:txBody>
      </p:sp>
      <p:sp>
        <p:nvSpPr>
          <p:cNvPr id="16" name="!!term-inertia">
            <a:extLst>
              <a:ext uri="{C183D7F6-B498-43B3-948B-1728B52AA6E4}">
                <adec:decorative xmlns:adec="http://schemas.microsoft.com/office/drawing/2017/decorative" val="1"/>
              </a:ext>
            </a:extLst>
          </p:cNvPr>
          <p:cNvSpPr/>
          <p:nvPr/>
        </p:nvSpPr>
        <p:spPr>
          <a:xfrm>
            <a:off x="4846178" y="1847088"/>
            <a:ext cx="101291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inertia">
            <a:extLst>
              <a:ext uri="{C183D7F6-B498-43B3-948B-1728B52AA6E4}">
                <adec:decorative xmlns:adec="http://schemas.microsoft.com/office/drawing/2017/decorative" val="1"/>
              </a:ext>
            </a:extLst>
          </p:cNvPr>
          <p:cNvSpPr/>
          <p:nvPr/>
        </p:nvSpPr>
        <p:spPr>
          <a:xfrm>
            <a:off x="497419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inertia"/>
          <p:cNvSpPr txBox="1"/>
          <p:nvPr/>
        </p:nvSpPr>
        <p:spPr>
          <a:xfrm>
            <a:off x="5138786" y="1962911"/>
            <a:ext cx="83003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inertia</a:t>
            </a:r>
          </a:p>
        </p:txBody>
      </p:sp>
      <p:sp>
        <p:nvSpPr>
          <p:cNvPr id="19" name="!!term-elbow method">
            <a:extLst>
              <a:ext uri="{C183D7F6-B498-43B3-948B-1728B52AA6E4}">
                <adec:decorative xmlns:adec="http://schemas.microsoft.com/office/drawing/2017/decorative" val="1"/>
              </a:ext>
            </a:extLst>
          </p:cNvPr>
          <p:cNvSpPr/>
          <p:nvPr/>
        </p:nvSpPr>
        <p:spPr>
          <a:xfrm>
            <a:off x="6005402" y="1847088"/>
            <a:ext cx="176540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elbow method">
            <a:extLst>
              <a:ext uri="{C183D7F6-B498-43B3-948B-1728B52AA6E4}">
                <adec:decorative xmlns:adec="http://schemas.microsoft.com/office/drawing/2017/decorative" val="1"/>
              </a:ext>
            </a:extLst>
          </p:cNvPr>
          <p:cNvSpPr/>
          <p:nvPr/>
        </p:nvSpPr>
        <p:spPr>
          <a:xfrm>
            <a:off x="613341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elbow method"/>
          <p:cNvSpPr txBox="1"/>
          <p:nvPr/>
        </p:nvSpPr>
        <p:spPr>
          <a:xfrm>
            <a:off x="6298010" y="1962911"/>
            <a:ext cx="158252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elbow method</a:t>
            </a:r>
          </a:p>
        </p:txBody>
      </p:sp>
      <p:sp>
        <p:nvSpPr>
          <p:cNvPr id="22" name="!!term-silhouette sco">
            <a:extLst>
              <a:ext uri="{C183D7F6-B498-43B3-948B-1728B52AA6E4}">
                <adec:decorative xmlns:adec="http://schemas.microsoft.com/office/drawing/2017/decorative" val="1"/>
              </a:ext>
            </a:extLst>
          </p:cNvPr>
          <p:cNvSpPr/>
          <p:nvPr/>
        </p:nvSpPr>
        <p:spPr>
          <a:xfrm>
            <a:off x="7917107" y="1847088"/>
            <a:ext cx="188285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silhouette sco">
            <a:extLst>
              <a:ext uri="{C183D7F6-B498-43B3-948B-1728B52AA6E4}">
                <adec:decorative xmlns:adec="http://schemas.microsoft.com/office/drawing/2017/decorative" val="1"/>
              </a:ext>
            </a:extLst>
          </p:cNvPr>
          <p:cNvSpPr/>
          <p:nvPr/>
        </p:nvSpPr>
        <p:spPr>
          <a:xfrm>
            <a:off x="804512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silhouette sco"/>
          <p:cNvSpPr txBox="1"/>
          <p:nvPr/>
        </p:nvSpPr>
        <p:spPr>
          <a:xfrm>
            <a:off x="8209715" y="1962911"/>
            <a:ext cx="169997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silhouette score</a:t>
            </a:r>
          </a:p>
        </p:txBody>
      </p:sp>
      <p:sp>
        <p:nvSpPr>
          <p:cNvPr id="25" name="!!term-hierarchical c">
            <a:extLst>
              <a:ext uri="{C183D7F6-B498-43B3-948B-1728B52AA6E4}">
                <adec:decorative xmlns:adec="http://schemas.microsoft.com/office/drawing/2017/decorative" val="1"/>
              </a:ext>
            </a:extLst>
          </p:cNvPr>
          <p:cNvSpPr/>
          <p:nvPr/>
        </p:nvSpPr>
        <p:spPr>
          <a:xfrm>
            <a:off x="658368" y="2468880"/>
            <a:ext cx="242733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hierarchical c">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hierarchical c"/>
          <p:cNvSpPr txBox="1"/>
          <p:nvPr/>
        </p:nvSpPr>
        <p:spPr>
          <a:xfrm>
            <a:off x="950976" y="2584704"/>
            <a:ext cx="224445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hierarchical clustering</a:t>
            </a:r>
          </a:p>
        </p:txBody>
      </p:sp>
      <p:sp>
        <p:nvSpPr>
          <p:cNvPr id="28" name="!!term-dendrogram">
            <a:extLst>
              <a:ext uri="{C183D7F6-B498-43B3-948B-1728B52AA6E4}">
                <adec:decorative xmlns:adec="http://schemas.microsoft.com/office/drawing/2017/decorative" val="1"/>
              </a:ext>
            </a:extLst>
          </p:cNvPr>
          <p:cNvSpPr/>
          <p:nvPr/>
        </p:nvSpPr>
        <p:spPr>
          <a:xfrm>
            <a:off x="3232006" y="2468880"/>
            <a:ext cx="158048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dendrogram">
            <a:extLst>
              <a:ext uri="{C183D7F6-B498-43B3-948B-1728B52AA6E4}">
                <adec:decorative xmlns:adec="http://schemas.microsoft.com/office/drawing/2017/decorative" val="1"/>
              </a:ext>
            </a:extLst>
          </p:cNvPr>
          <p:cNvSpPr/>
          <p:nvPr/>
        </p:nvSpPr>
        <p:spPr>
          <a:xfrm>
            <a:off x="3360022"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dendrogram"/>
          <p:cNvSpPr txBox="1"/>
          <p:nvPr/>
        </p:nvSpPr>
        <p:spPr>
          <a:xfrm>
            <a:off x="3524614" y="2584704"/>
            <a:ext cx="139760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dendrogram</a:t>
            </a:r>
          </a:p>
        </p:txBody>
      </p:sp>
      <p:sp>
        <p:nvSpPr>
          <p:cNvPr id="31" name="!!term-DBSCAN">
            <a:extLst>
              <a:ext uri="{C183D7F6-B498-43B3-948B-1728B52AA6E4}">
                <adec:decorative xmlns:adec="http://schemas.microsoft.com/office/drawing/2017/decorative" val="1"/>
              </a:ext>
            </a:extLst>
          </p:cNvPr>
          <p:cNvSpPr/>
          <p:nvPr/>
        </p:nvSpPr>
        <p:spPr>
          <a:xfrm>
            <a:off x="4958790" y="2468880"/>
            <a:ext cx="123003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DBSCAN">
            <a:extLst>
              <a:ext uri="{C183D7F6-B498-43B3-948B-1728B52AA6E4}">
                <adec:decorative xmlns:adec="http://schemas.microsoft.com/office/drawing/2017/decorative" val="1"/>
              </a:ext>
            </a:extLst>
          </p:cNvPr>
          <p:cNvSpPr/>
          <p:nvPr/>
        </p:nvSpPr>
        <p:spPr>
          <a:xfrm>
            <a:off x="508680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DBSCAN"/>
          <p:cNvSpPr txBox="1"/>
          <p:nvPr/>
        </p:nvSpPr>
        <p:spPr>
          <a:xfrm>
            <a:off x="5251398" y="2584704"/>
            <a:ext cx="104715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DBSCAN</a:t>
            </a:r>
          </a:p>
        </p:txBody>
      </p:sp>
      <p:sp>
        <p:nvSpPr>
          <p:cNvPr id="34" name="!!term-dimensionality">
            <a:extLst>
              <a:ext uri="{C183D7F6-B498-43B3-948B-1728B52AA6E4}">
                <adec:decorative xmlns:adec="http://schemas.microsoft.com/office/drawing/2017/decorative" val="1"/>
              </a:ext>
            </a:extLst>
          </p:cNvPr>
          <p:cNvSpPr/>
          <p:nvPr/>
        </p:nvSpPr>
        <p:spPr>
          <a:xfrm>
            <a:off x="6335133" y="2468880"/>
            <a:ext cx="270012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dimensionality">
            <a:extLst>
              <a:ext uri="{C183D7F6-B498-43B3-948B-1728B52AA6E4}">
                <adec:decorative xmlns:adec="http://schemas.microsoft.com/office/drawing/2017/decorative" val="1"/>
              </a:ext>
            </a:extLst>
          </p:cNvPr>
          <p:cNvSpPr/>
          <p:nvPr/>
        </p:nvSpPr>
        <p:spPr>
          <a:xfrm>
            <a:off x="646314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dimensionality"/>
          <p:cNvSpPr txBox="1"/>
          <p:nvPr/>
        </p:nvSpPr>
        <p:spPr>
          <a:xfrm>
            <a:off x="6627741" y="2584704"/>
            <a:ext cx="251724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dimensionality reduction</a:t>
            </a:r>
          </a:p>
        </p:txBody>
      </p:sp>
      <p:sp>
        <p:nvSpPr>
          <p:cNvPr id="37" name="!!term-PCA">
            <a:extLst>
              <a:ext uri="{C183D7F6-B498-43B3-948B-1728B52AA6E4}">
                <adec:decorative xmlns:adec="http://schemas.microsoft.com/office/drawing/2017/decorative" val="1"/>
              </a:ext>
            </a:extLst>
          </p:cNvPr>
          <p:cNvSpPr/>
          <p:nvPr/>
        </p:nvSpPr>
        <p:spPr>
          <a:xfrm>
            <a:off x="9181557" y="2468880"/>
            <a:ext cx="81696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PCA">
            <a:extLst>
              <a:ext uri="{C183D7F6-B498-43B3-948B-1728B52AA6E4}">
                <adec:decorative xmlns:adec="http://schemas.microsoft.com/office/drawing/2017/decorative" val="1"/>
              </a:ext>
            </a:extLst>
          </p:cNvPr>
          <p:cNvSpPr/>
          <p:nvPr/>
        </p:nvSpPr>
        <p:spPr>
          <a:xfrm>
            <a:off x="930957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PCA"/>
          <p:cNvSpPr txBox="1"/>
          <p:nvPr/>
        </p:nvSpPr>
        <p:spPr>
          <a:xfrm>
            <a:off x="9474165" y="2584704"/>
            <a:ext cx="63408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PCA</a:t>
            </a:r>
          </a:p>
        </p:txBody>
      </p:sp>
      <p:sp>
        <p:nvSpPr>
          <p:cNvPr id="40" name="!!term-explained vari">
            <a:extLst>
              <a:ext uri="{C183D7F6-B498-43B3-948B-1728B52AA6E4}">
                <adec:decorative xmlns:adec="http://schemas.microsoft.com/office/drawing/2017/decorative" val="1"/>
              </a:ext>
            </a:extLst>
          </p:cNvPr>
          <p:cNvSpPr/>
          <p:nvPr/>
        </p:nvSpPr>
        <p:spPr>
          <a:xfrm>
            <a:off x="658368" y="3090672"/>
            <a:ext cx="212867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explained vari">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explained vari"/>
          <p:cNvSpPr txBox="1"/>
          <p:nvPr/>
        </p:nvSpPr>
        <p:spPr>
          <a:xfrm>
            <a:off x="950976" y="3206496"/>
            <a:ext cx="194579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explained variance</a:t>
            </a:r>
          </a:p>
        </p:txBody>
      </p:sp>
      <p:sp>
        <p:nvSpPr>
          <p:cNvPr id="43" name="!!term-t-SNE / UMAP">
            <a:extLst>
              <a:ext uri="{C183D7F6-B498-43B3-948B-1728B52AA6E4}">
                <adec:decorative xmlns:adec="http://schemas.microsoft.com/office/drawing/2017/decorative" val="1"/>
              </a:ext>
            </a:extLst>
          </p:cNvPr>
          <p:cNvSpPr/>
          <p:nvPr/>
        </p:nvSpPr>
        <p:spPr>
          <a:xfrm>
            <a:off x="2933349" y="3090672"/>
            <a:ext cx="173454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t-SNE / UMAP">
            <a:extLst>
              <a:ext uri="{C183D7F6-B498-43B3-948B-1728B52AA6E4}">
                <adec:decorative xmlns:adec="http://schemas.microsoft.com/office/drawing/2017/decorative" val="1"/>
              </a:ext>
            </a:extLst>
          </p:cNvPr>
          <p:cNvSpPr/>
          <p:nvPr/>
        </p:nvSpPr>
        <p:spPr>
          <a:xfrm>
            <a:off x="3061365"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t-SNE / UMAP"/>
          <p:cNvSpPr txBox="1"/>
          <p:nvPr/>
        </p:nvSpPr>
        <p:spPr>
          <a:xfrm>
            <a:off x="3225957" y="3206496"/>
            <a:ext cx="155166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t-SNE / UMAP</a:t>
            </a:r>
          </a:p>
        </p:txBody>
      </p:sp>
      <p:sp>
        <p:nvSpPr>
          <p:cNvPr id="46" name="!!term-anomaly detect">
            <a:extLst>
              <a:ext uri="{C183D7F6-B498-43B3-948B-1728B52AA6E4}">
                <adec:decorative xmlns:adec="http://schemas.microsoft.com/office/drawing/2017/decorative" val="1"/>
              </a:ext>
            </a:extLst>
          </p:cNvPr>
          <p:cNvSpPr/>
          <p:nvPr/>
        </p:nvSpPr>
        <p:spPr>
          <a:xfrm>
            <a:off x="4814201" y="3090672"/>
            <a:ext cx="213845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anomaly detect">
            <a:extLst>
              <a:ext uri="{C183D7F6-B498-43B3-948B-1728B52AA6E4}">
                <adec:decorative xmlns:adec="http://schemas.microsoft.com/office/drawing/2017/decorative" val="1"/>
              </a:ext>
            </a:extLst>
          </p:cNvPr>
          <p:cNvSpPr/>
          <p:nvPr/>
        </p:nvSpPr>
        <p:spPr>
          <a:xfrm>
            <a:off x="4942217"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anomaly detect"/>
          <p:cNvSpPr txBox="1"/>
          <p:nvPr/>
        </p:nvSpPr>
        <p:spPr>
          <a:xfrm>
            <a:off x="5106809" y="3206496"/>
            <a:ext cx="195557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anomaly detection</a:t>
            </a:r>
          </a:p>
        </p:txBody>
      </p:sp>
      <p:sp>
        <p:nvSpPr>
          <p:cNvPr id="49" name="!!term-isolation fore">
            <a:extLst>
              <a:ext uri="{C183D7F6-B498-43B3-948B-1728B52AA6E4}">
                <adec:decorative xmlns:adec="http://schemas.microsoft.com/office/drawing/2017/decorative" val="1"/>
              </a:ext>
            </a:extLst>
          </p:cNvPr>
          <p:cNvSpPr/>
          <p:nvPr/>
        </p:nvSpPr>
        <p:spPr>
          <a:xfrm>
            <a:off x="7098956" y="3090672"/>
            <a:ext cx="179499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isolation fore">
            <a:extLst>
              <a:ext uri="{C183D7F6-B498-43B3-948B-1728B52AA6E4}">
                <adec:decorative xmlns:adec="http://schemas.microsoft.com/office/drawing/2017/decorative" val="1"/>
              </a:ext>
            </a:extLst>
          </p:cNvPr>
          <p:cNvSpPr/>
          <p:nvPr/>
        </p:nvSpPr>
        <p:spPr>
          <a:xfrm>
            <a:off x="7226972"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isolation fore"/>
          <p:cNvSpPr txBox="1"/>
          <p:nvPr/>
        </p:nvSpPr>
        <p:spPr>
          <a:xfrm>
            <a:off x="7391564" y="3206496"/>
            <a:ext cx="161211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isolation forest</a:t>
            </a:r>
          </a:p>
        </p:txBody>
      </p:sp>
      <p:sp>
        <p:nvSpPr>
          <p:cNvPr id="52" name="!!term-association ru">
            <a:extLst>
              <a:ext uri="{C183D7F6-B498-43B3-948B-1728B52AA6E4}">
                <adec:decorative xmlns:adec="http://schemas.microsoft.com/office/drawing/2017/decorative" val="1"/>
              </a:ext>
            </a:extLst>
          </p:cNvPr>
          <p:cNvSpPr/>
          <p:nvPr/>
        </p:nvSpPr>
        <p:spPr>
          <a:xfrm>
            <a:off x="9040258" y="3090672"/>
            <a:ext cx="194489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association ru">
            <a:extLst>
              <a:ext uri="{C183D7F6-B498-43B3-948B-1728B52AA6E4}">
                <adec:decorative xmlns:adec="http://schemas.microsoft.com/office/drawing/2017/decorative" val="1"/>
              </a:ext>
            </a:extLst>
          </p:cNvPr>
          <p:cNvSpPr/>
          <p:nvPr/>
        </p:nvSpPr>
        <p:spPr>
          <a:xfrm>
            <a:off x="916827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association ru"/>
          <p:cNvSpPr txBox="1"/>
          <p:nvPr/>
        </p:nvSpPr>
        <p:spPr>
          <a:xfrm>
            <a:off x="9332866" y="3206496"/>
            <a:ext cx="176201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association rules</a:t>
            </a:r>
          </a:p>
        </p:txBody>
      </p:sp>
      <p:sp>
        <p:nvSpPr>
          <p:cNvPr id="55"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pfill">
            <a:extLst>
              <a:ext uri="{C183D7F6-B498-43B3-948B-1728B52AA6E4}">
                <adec:decorative xmlns:adec="http://schemas.microsoft.com/office/drawing/2017/decorative" val="1"/>
              </a:ext>
            </a:extLst>
          </p:cNvPr>
          <p:cNvSpPr/>
          <p:nvPr/>
        </p:nvSpPr>
        <p:spPr>
          <a:xfrm>
            <a:off x="0" y="0"/>
            <a:ext cx="103759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101–108     </a:t>
            </a:r>
            <a:fld id="{CB1FA98D-DF85-42C7-91EA-1671E40CD974}" type="slidenum">
              <a:rPr lang="en-GB" sz="1000">
                <a:solidFill>
                  <a:srgbClr val="8795A1"/>
                </a:solidFill>
                <a:latin typeface="Segoe UI"/>
              </a:rPr>
              <a:t>5</a:t>
            </a:fld>
          </a:p>
        </p:txBody>
      </p:sp>
      <p:sp>
        <p:nvSpPr>
          <p:cNvPr id="7" name="!!ag0" descr="Go to section 16.1 Learning Without Answers">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16.1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Learning Without Answers</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101  ›</a:t>
            </a:r>
          </a:p>
        </p:txBody>
      </p:sp>
      <p:sp>
        <p:nvSpPr>
          <p:cNvPr id="12" name="!!ag1" descr="Go to section 16.2 k-Means Clustering">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16.2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k-Means Clustering</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101  ›</a:t>
            </a:r>
          </a:p>
        </p:txBody>
      </p:sp>
      <p:sp>
        <p:nvSpPr>
          <p:cNvPr id="17" name="!!ag2" descr="Go to section 16.3 Hierarchical Clustering and DBSCAN">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16.3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Hierarchical Clustering and DBSCAN</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102  ›</a:t>
            </a:r>
          </a:p>
        </p:txBody>
      </p:sp>
      <p:sp>
        <p:nvSpPr>
          <p:cNvPr id="22" name="!!ag3" descr="Go to section 16.4 Dimensionality Reduction">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16.4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Dimensionality Reduction</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103  ›</a:t>
            </a:r>
          </a:p>
        </p:txBody>
      </p:sp>
      <p:sp>
        <p:nvSpPr>
          <p:cNvPr id="27" name="!!ag4" descr="Go to section 16.5 Anomaly Detection">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16.5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Anomaly Detection</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104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29698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Without Answers</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§16.1  ·  Handout p. 101     </a:t>
            </a:r>
            <a:fld id="{1F54FA0E-7685-4D5A-879C-56BC5EC24A4E}" type="slidenum">
              <a:rPr lang="en-GB" sz="1000">
                <a:solidFill>
                  <a:srgbClr val="8795A1"/>
                </a:solidFill>
                <a:latin typeface="Segoe UI"/>
              </a:rPr>
              <a:t>6</a:t>
            </a:fld>
          </a:p>
        </p:txBody>
      </p:sp>
      <p:sp>
        <p:nvSpPr>
          <p:cNvPr id="7" name="!!stbar">
            <a:extLst>
              <a:ext uri="{C183D7F6-B498-43B3-948B-1728B52AA6E4}">
                <adec:decorative xmlns:adec="http://schemas.microsoft.com/office/drawing/2017/decorative" val="1"/>
              </a:ext>
            </a:extLst>
          </p:cNvPr>
          <p:cNvSpPr/>
          <p:nvPr/>
        </p:nvSpPr>
        <p:spPr>
          <a:xfrm>
            <a:off x="658368" y="1810512"/>
            <a:ext cx="73152" cy="202387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2106168"/>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Unsupervised learning finds structure when no labels exist. That describes most real data: nobody has labelled which of your 12,000 accounts are compromised, or which students form meaningful behavioural groups. This chapter is also the direct technical foundation of Chapter 26, where the anomaly is the target.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55638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k-Means Clustering</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2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16.2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16.1   Learning Without Answers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16.2   k-Means Clustering</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16.3   Hierarchical Clustering and DBSCAN</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16.4   Dimensionality Reduction</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16.5   Anomaly Detection</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§16.2     </a:t>
            </a:r>
            <a:fld id="{17AD24F2-8925-460E-B92A-627F89DE0AAA}" type="slidenum">
              <a:rPr lang="en-GB" sz="1000">
                <a:solidFill>
                  <a:srgbClr val="8795A1"/>
                </a:solidFill>
                <a:latin typeface="Segoe UI"/>
              </a:rPr>
              <a:t>7</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81578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k-Means</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§16.2  ·  Handout p. 101     </a:t>
            </a:r>
            <a:fld id="{E8799844-2083-4024-A376-363B33A0AB51}"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Choose </a:t>
            </a:r>
            <a:r>
              <a:rPr sz="2300" b="0" i="1">
                <a:solidFill>
                  <a:srgbClr val="1C252B"/>
                </a:solidFill>
                <a:latin typeface="Cambria"/>
              </a:rPr>
              <a:t>k</a:t>
            </a:r>
            <a:r>
              <a:rPr sz="2300" b="0" i="0">
                <a:solidFill>
                  <a:srgbClr val="1C252B"/>
                </a:solidFill>
                <a:latin typeface="Segoe UI"/>
              </a:rPr>
              <a:t>. Place </a:t>
            </a:r>
            <a:r>
              <a:rPr sz="2300" b="0" i="1">
                <a:solidFill>
                  <a:srgbClr val="1C252B"/>
                </a:solidFill>
                <a:latin typeface="Cambria"/>
              </a:rPr>
              <a:t>k</a:t>
            </a:r>
            <a:r>
              <a:rPr sz="2300" b="0" i="0">
                <a:solidFill>
                  <a:srgbClr val="1C252B"/>
                </a:solidFill>
                <a:latin typeface="Segoe UI"/>
              </a:rPr>
              <a:t> centroids at random. Repeat until stable: (1) assign each point to its nearest centroid; (2) move each centroid to the mean of its assigned points. It minimises </a:t>
            </a:r>
            <a:r>
              <a:rPr sz="2300" b="1" i="0">
                <a:solidFill>
                  <a:srgbClr val="1A5276"/>
                </a:solidFill>
                <a:latin typeface="Segoe UI"/>
              </a:rPr>
              <a:t>inertia</a:t>
            </a:r>
            <a:r>
              <a:rPr sz="2300" b="0" i="0">
                <a:solidFill>
                  <a:srgbClr val="1C252B"/>
                </a:solidFill>
                <a:latin typeface="Segoe UI"/>
              </a:rPr>
              <a:t> — the total squared distance from points to their own centroid.</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07518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k-means in four steps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16.1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§16.2  ·  Handout p. 101     </a:t>
            </a:r>
            <a:fld id="{B6B171F4-0D21-40F4-ABE8-AA43359CCC0B}" type="slidenum">
              <a:rPr lang="en-GB" sz="1000">
                <a:solidFill>
                  <a:srgbClr val="8795A1"/>
                </a:solidFill>
                <a:latin typeface="Segoe UI"/>
              </a:rPr>
              <a:t>9</a:t>
            </a:fld>
          </a:p>
        </p:txBody>
      </p:sp>
      <p:pic>
        <p:nvPicPr>
          <p:cNvPr id="6" name="!!figure" descr="Figure 16.1. k-means in four steps. Assignment and update alternate until nothing moves. Because the starting positions are random, different runs can converge differently — which is why n_init exists and why you should fix the random seed."/>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930704"/>
            <a:ext cx="10874959" cy="2635682"/>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Assignment and update alternate until nothing moves. Because the starting positions are random, different runs can converge differently — which is why n_init exists and why you should fix the random seed.</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33457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Two ways to choose k</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16.2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§16.2.1  ·  Handout p. 102     </a:t>
            </a:r>
            <a:fld id="{12502AEF-21E6-4A1A-8795-C190956A054F}" type="slidenum">
              <a:rPr lang="en-GB" sz="1000">
                <a:solidFill>
                  <a:srgbClr val="8795A1"/>
                </a:solidFill>
                <a:latin typeface="Segoe UI"/>
              </a:rPr>
              <a:t>10</a:t>
            </a:fld>
          </a:p>
        </p:txBody>
      </p:sp>
      <p:pic>
        <p:nvPicPr>
          <p:cNvPr id="6" name="!!figure" descr="Figure 16.2. Two ways to choose k. Inertia falls monotonically, so the elbow is a judgement call; the silhouette score has a true maximum and is the better default. Both should agree with a domain reason for the number you pick."/>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5135" y="1737360"/>
            <a:ext cx="10541424"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Inertia falls monotonically, so the elbow is a judgement call; the silhouette score has a true maximum and is the better default. Both should agree with a domain reason for the number you pick.</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59397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Silhouette Score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§16.2.1  ·  Handout p. 102     </a:t>
            </a:r>
            <a:fld id="{08424260-5A49-4BBF-8F60-9EB3B81B424E}"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381463"/>
          </a:xfrm>
          <a:prstGeom prst="roundRect">
            <a:avLst>
              <a:gd name="adj" fmla="val 3839"/>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381463"/>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For each point, compare a (mean distance to its own cluster) with b (mean distance to the nearest other cluster): s = (b−a)/max(a,b). Near +1 means well-clustered, near 0 means on a boundary, negative means probably in the wrong cluster. Average over all point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048255"/>
            <a:ext cx="10161727" cy="1759671"/>
          </a:xfrm>
          <a:prstGeom prst="rect">
            <a:avLst/>
          </a:prstGeom>
        </p:spPr>
      </p:pic>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85337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Hierarchical Clustering and DBSCAN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3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16.3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16.1   Learning Without Answers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16.2   k-Means Clustering</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16.3   Hierarchical Clustering and DBSCAN</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16.4   Dimensionality Reduction</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16.5   Anomaly Detection</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§16.3     </a:t>
            </a:r>
            <a:fld id="{4ED58131-CFFC-4E0E-937E-91C7199C9564}" type="slidenum">
              <a:rPr lang="en-GB" sz="1000">
                <a:solidFill>
                  <a:srgbClr val="8795A1"/>
                </a:solidFill>
                <a:latin typeface="Segoe UI"/>
              </a:rPr>
              <a:t>12</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11277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Hierarchical Clustering and DBSCAN</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§16.3  ·  Handout p. 102     </a:t>
            </a:r>
            <a:fld id="{F10C1E5B-7049-4A71-8FDD-8C8E0EE76547}" type="slidenum">
              <a:rPr lang="en-GB" sz="1000">
                <a:solidFill>
                  <a:srgbClr val="8795A1"/>
                </a:solidFill>
                <a:latin typeface="Segoe UI"/>
              </a:rPr>
              <a:t>13</a:t>
            </a:fld>
          </a:p>
        </p:txBody>
      </p:sp>
      <p:graphicFrame>
        <p:nvGraphicFramePr>
          <p:cNvPr id="7" name="!!table"/>
          <p:cNvGraphicFramePr>
            <a:graphicFrameLocks noGrp="1"/>
          </p:cNvGraphicFramePr>
          <p:nvPr/>
        </p:nvGraphicFramePr>
        <p:xfrm>
          <a:off x="658368" y="1737360"/>
          <a:ext cx="10874957" cy="3355848"/>
        </p:xfrm>
        <a:graphic>
          <a:graphicData uri="http://schemas.openxmlformats.org/drawingml/2006/table">
            <a:tbl>
              <a:tblPr firstRow="0" bandRow="0" firstCol="0" lastRow="0" lastCol="0" bandCol="0">
                <a:tableStyleId>{2D5ABB26-0587-4C30-8999-92F81FD0307C}</a:tableStyleId>
              </a:tblPr>
              <a:tblGrid>
                <a:gridCol w="1941956"/>
                <a:gridCol w="2718739"/>
                <a:gridCol w="2796418"/>
                <a:gridCol w="3417844"/>
              </a:tblGrid>
              <a:tr h="405384">
                <a:tc>
                  <a:txBody>
                    <a:bodyPr wrap="square"/>
                    <a:lstStyle/>
                    <a:p>
                      <a:pPr algn="l"/>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k-means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Hierarchical</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DBSCAN</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64464">
                <a:tc>
                  <a:txBody>
                    <a:bodyPr wrap="square"/>
                    <a:lstStyle/>
                    <a:p>
                      <a:pPr algn="l"/>
                      <a:r>
                        <a:rPr sz="1700" b="0" i="0">
                          <a:solidFill>
                            <a:srgbClr val="1C252B"/>
                          </a:solidFill>
                          <a:latin typeface="Segoe UI"/>
                        </a:rPr>
                        <a:t>Needs </a:t>
                      </a:r>
                      <a:r>
                        <a:rPr sz="1700" b="0" i="1">
                          <a:solidFill>
                            <a:srgbClr val="1C252B"/>
                          </a:solidFill>
                          <a:latin typeface="Cambria"/>
                        </a:rPr>
                        <a:t>k</a:t>
                      </a:r>
                      <a:r>
                        <a:rPr sz="1700" b="0" i="0">
                          <a:solidFill>
                            <a:srgbClr val="1C252B"/>
                          </a:solidFill>
                          <a:latin typeface="Segoe UI"/>
                        </a:rPr>
                        <a: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Yes, in advance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No — cut the dendrogram anywhere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No</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Cluster shape</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Spherical only</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Any</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1" i="0">
                          <a:solidFill>
                            <a:srgbClr val="1C252B"/>
                          </a:solidFill>
                          <a:latin typeface="Segoe UI"/>
                        </a:rPr>
                        <a:t>Any</a:t>
                      </a:r>
                      <a:endParaRPr sz="1700"/>
                    </a:p>
                  </a:txBody>
                  <a:tcPr marL="109728" marR="109728" marT="64008" marB="45720" anchor="t">
                    <a:lnL w="0" cmpd="sng">
                      <a:noFill/>
                    </a:lnL>
                    <a:lnR w="0" cmpd="sng">
                      <a:noFill/>
                    </a:lnR>
                    <a:lnT w="9525" cmpd="sng">
                      <a:noFill/>
                    </a:lnT>
                    <a:lnB w="9525" cmpd="sng">
                      <a:noFill/>
                    </a:lnB>
                    <a:solidFill>
                      <a:srgbClr val="F2F8FC"/>
                    </a:solidFill>
                  </a:tcPr>
                </a:tc>
              </a:tr>
              <a:tr h="405384">
                <a:tc>
                  <a:txBody>
                    <a:bodyPr wrap="square"/>
                    <a:lstStyle/>
                    <a:p>
                      <a:pPr algn="l"/>
                      <a:r>
                        <a:rPr sz="1700" b="0" i="0">
                          <a:solidFill>
                            <a:srgbClr val="1C252B"/>
                          </a:solidFill>
                          <a:latin typeface="Segoe UI"/>
                        </a:rPr>
                        <a:t>Outliers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Forced into a cluster</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Forced into a cluster</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1" i="0">
                          <a:solidFill>
                            <a:srgbClr val="1C252B"/>
                          </a:solidFill>
                          <a:latin typeface="Segoe UI"/>
                        </a:rPr>
                        <a:t>Labelled as noise</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Scales to large </a:t>
                      </a:r>
                      <a:r>
                        <a:rPr sz="1700" b="0" i="1">
                          <a:solidFill>
                            <a:srgbClr val="1C252B"/>
                          </a:solidFill>
                          <a:latin typeface="Cambria"/>
                        </a:rPr>
                        <a:t>n</a:t>
                      </a:r>
                      <a:r>
                        <a:rPr sz="1700" b="0" i="0">
                          <a:solidFill>
                            <a:srgbClr val="1C252B"/>
                          </a:solidFill>
                          <a:latin typeface="Segoe UI"/>
                        </a:rPr>
                        <a:t>?</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Yes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No (</a:t>
                      </a:r>
                      <a:r>
                        <a:rPr sz="1700" b="0" i="1">
                          <a:solidFill>
                            <a:srgbClr val="1C252B"/>
                          </a:solidFill>
                          <a:latin typeface="Cambria"/>
                        </a:rPr>
                        <a:t>O</a:t>
                      </a:r>
                      <a:r>
                        <a:rPr sz="1700" b="0" i="0">
                          <a:solidFill>
                            <a:srgbClr val="1C252B"/>
                          </a:solidFill>
                          <a:latin typeface="Cambria"/>
                        </a:rPr>
                        <a:t>(</a:t>
                      </a:r>
                      <a:r>
                        <a:rPr sz="1700" b="0" i="1">
                          <a:solidFill>
                            <a:srgbClr val="1C252B"/>
                          </a:solidFill>
                          <a:latin typeface="Cambria"/>
                        </a:rPr>
                        <a:t>n</a:t>
                      </a:r>
                      <a:r>
                        <a:rPr sz="1700" b="0" i="0" baseline="30000">
                          <a:solidFill>
                            <a:srgbClr val="1C252B"/>
                          </a:solidFill>
                          <a:latin typeface="Cambria"/>
                        </a:rPr>
                        <a:t>2</a:t>
                      </a:r>
                      <a:r>
                        <a:rPr sz="1700" b="0" i="0">
                          <a:solidFill>
                            <a:srgbClr val="1C252B"/>
                          </a:solidFill>
                          <a:latin typeface="Cambria"/>
                        </a:rPr>
                        <a:t>)</a:t>
                      </a:r>
                      <a:r>
                        <a:rPr sz="1700" b="0" i="0">
                          <a:solidFill>
                            <a:srgbClr val="1C252B"/>
                          </a:solidFill>
                          <a:latin typeface="Segoe UI"/>
                        </a:rPr>
                        <a:t> or worse)</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Moderately</a:t>
                      </a:r>
                      <a:endParaRPr sz="1700"/>
                    </a:p>
                  </a:txBody>
                  <a:tcPr marL="109728" marR="109728" marT="64008" marB="45720" anchor="t">
                    <a:lnL w="0" cmpd="sng">
                      <a:noFill/>
                    </a:lnL>
                    <a:lnR w="0" cmpd="sng">
                      <a:noFill/>
                    </a:lnR>
                    <a:lnT w="9525" cmpd="sng">
                      <a:noFill/>
                    </a:lnT>
                    <a:lnB w="9525" cmpd="sng">
                      <a:noFill/>
                    </a:lnB>
                    <a:solidFill>
                      <a:srgbClr val="F2F8FC"/>
                    </a:solidFill>
                  </a:tcPr>
                </a:tc>
              </a:tr>
              <a:tr h="405384">
                <a:tc>
                  <a:txBody>
                    <a:bodyPr wrap="square"/>
                    <a:lstStyle/>
                    <a:p>
                      <a:pPr algn="l"/>
                      <a:r>
                        <a:rPr sz="1700" b="0" i="0">
                          <a:solidFill>
                            <a:srgbClr val="1C252B"/>
                          </a:solidFill>
                          <a:latin typeface="Segoe UI"/>
                        </a:rPr>
                        <a:t>Key parameter</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1">
                          <a:solidFill>
                            <a:srgbClr val="1C252B"/>
                          </a:solidFill>
                          <a:latin typeface="Cambria"/>
                        </a:rPr>
                        <a:t>k</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linkage, cut height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F4E79"/>
                          </a:solidFill>
                          <a:latin typeface="Consolas"/>
                        </a:rPr>
                        <a:t>eps</a:t>
                      </a:r>
                      <a:r>
                        <a:rPr sz="1700" b="0" i="0">
                          <a:solidFill>
                            <a:srgbClr val="1C252B"/>
                          </a:solidFill>
                          <a:latin typeface="Segoe UI"/>
                        </a:rPr>
                        <a:t>, </a:t>
                      </a:r>
                      <a:r>
                        <a:rPr sz="1600" b="0" i="0">
                          <a:solidFill>
                            <a:srgbClr val="1F4E79"/>
                          </a:solidFill>
                          <a:latin typeface="Consolas"/>
                        </a:rPr>
                        <a:t>min_samples</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Use when</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Large data, roughly round groups</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You want the hierarchy itself</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Irregular shapes, or you need outliers identified</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337217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DBSCAN Matters for This Course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§16.3  ·  Handout p. 102     </a:t>
            </a:r>
            <a:fld id="{CBAB0317-F79D-4AD3-9589-9B5400488BA1}"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DBSCAN defines clusters as dense regions and labels everything else </a:t>
            </a:r>
            <a:r>
              <a:rPr sz="2300" b="0" i="1">
                <a:solidFill>
                  <a:srgbClr val="1C252B"/>
                </a:solidFill>
                <a:latin typeface="Segoe UI"/>
              </a:rPr>
              <a:t>noise</a:t>
            </a:r>
            <a:r>
              <a:rPr sz="2300" b="0" i="0">
                <a:solidFill>
                  <a:srgbClr val="1C252B"/>
                </a:solidFill>
                <a:latin typeface="Segoe UI"/>
              </a:rPr>
              <a:t>. For cybersecurity and IoT that is not a side-effect — it is the output you want. The points k-means would have swept into the nearest cluster are precisely the sessions or devices you were looking for.</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63156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Hierarchical Clustering and DBSCAN</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16.3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§16.3  ·  Handout p. 102     </a:t>
            </a:r>
            <a:fld id="{E946AE5C-DF1A-4050-BEF0-CB8DEBD1746E}" type="slidenum">
              <a:rPr lang="en-GB" sz="1000">
                <a:solidFill>
                  <a:srgbClr val="8795A1"/>
                </a:solidFill>
                <a:latin typeface="Segoe UI"/>
              </a:rPr>
              <a:t>15</a:t>
            </a:fld>
          </a:p>
        </p:txBody>
      </p:sp>
      <p:pic>
        <p:nvPicPr>
          <p:cNvPr id="6" name="!!figure" descr="Figure 16.3. Left: a dendrogram, where the number of clusters is chosen after the fact by cutting at a chosen height. Right: DBSCAN separates dense regions from noise, which makes it a clustering algorithm and an outlier detector at onc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776838"/>
            <a:ext cx="10874959" cy="324546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391302"/>
            <a:ext cx="54864" cy="844905"/>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373014"/>
            <a:ext cx="10600639" cy="1027785"/>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Left: a dendrogram, where the number of clusters is chosen after the fact by cutting at a chosen height. Right: DBSCAN separates dense regions from noise, which makes it a clustering algorithm and an outlier detector at once.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89096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Dimensionality Reduction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4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16.4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16.1   Learning Without Answers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16.2   k-Means Clustering</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16.3   Hierarchical Clustering and DBSCAN</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16.4   Dimensionality Reduction</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16.5   Anomaly Detection</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§16.4     </a:t>
            </a:r>
            <a:fld id="{833D593C-C25E-4076-8C6C-094DAA9B16BC}" type="slidenum">
              <a:rPr lang="en-GB" sz="1000">
                <a:solidFill>
                  <a:srgbClr val="8795A1"/>
                </a:solidFill>
                <a:latin typeface="Segoe UI"/>
              </a:rPr>
              <a:t>16</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415036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Principal Component Analysis</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103     </a:t>
            </a:r>
            <a:fld id="{C5A77527-E5C2-41EC-95F5-3083DAC5DA26}"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PCA finds new axes — </a:t>
            </a:r>
            <a:r>
              <a:rPr sz="2300" b="1" i="0">
                <a:solidFill>
                  <a:srgbClr val="1A5276"/>
                </a:solidFill>
                <a:latin typeface="Segoe UI"/>
              </a:rPr>
              <a:t>principal components</a:t>
            </a:r>
            <a:r>
              <a:rPr sz="2300" b="0" i="0">
                <a:solidFill>
                  <a:srgbClr val="1C252B"/>
                </a:solidFill>
                <a:latin typeface="Segoe UI"/>
              </a:rPr>
              <a:t> — that are linear combinations of the original features, ordered so that the first captures the most variance, the second the most of what remains, and so on. Keeping the first few gives a lower-dimensional representation that preserves most of the structure.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40976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Dimensionality Reduction</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16.4</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103     </a:t>
            </a:r>
            <a:fld id="{3296FAE5-FBC5-4497-89A4-9C4949CF66C5}" type="slidenum">
              <a:rPr lang="en-GB" sz="1000">
                <a:solidFill>
                  <a:srgbClr val="8795A1"/>
                </a:solidFill>
                <a:latin typeface="Segoe UI"/>
              </a:rPr>
              <a:t>18</a:t>
            </a:fld>
          </a:p>
        </p:txBody>
      </p:sp>
      <p:pic>
        <p:nvPicPr>
          <p:cNvPr id="6" name="!!figure" descr="Figure 16.4. PCA. Left: the components are the directions along which the data actually varies, not the original axes. Right: the scree plot shows where adding components stops buying much, which is how the number to keep is chose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12110" y="1737360"/>
            <a:ext cx="9167474" cy="3471062"/>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391302"/>
            <a:ext cx="54864" cy="844905"/>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373014"/>
            <a:ext cx="10600639" cy="1027785"/>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PCA. Left: the components are the directions along which the data actually varies, not the original axes. Right: the scree plot shows where adding components stops buying much, which is how the number to keep is chosen.</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66915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PCA Requires Scaling, and Destroys Interpretability</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103     </a:t>
            </a:r>
            <a:fld id="{35FFB99E-EB72-41C0-9500-06776A004E63}"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PCA maximises variance, so an unscaled feature measured in bytes will dominate one measured in seconds regardless of importance — always standardise first. And the components are mixtures: “PC1” has no meaning a stakeholder can act on. Use PCA for compression, visualisation and noise reduction, not when you must explain which feature drove a decision.</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92855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t-SNE and UMAP: For Looking, Not for Modelling</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103     </a:t>
            </a:r>
            <a:fld id="{E9DB2F90-1CDF-4466-94CB-063CFB49D31A}"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These produce striking 2-D pictures of high-dimensional data by preserving local neighbourhoods. Two cautions: distances </a:t>
            </a:r>
            <a:r>
              <a:rPr sz="2300" b="0" i="1">
                <a:solidFill>
                  <a:srgbClr val="1C252B"/>
                </a:solidFill>
                <a:latin typeface="Segoe UI"/>
              </a:rPr>
              <a:t>between</a:t>
            </a:r>
            <a:r>
              <a:rPr sz="2300" b="0" i="0">
                <a:solidFill>
                  <a:srgbClr val="1C252B"/>
                </a:solidFill>
                <a:latin typeface="Segoe UI"/>
              </a:rPr>
              <a:t> clusters in the picture are not meaningful, and the layout changes with the random seed and the perplexity setting. Use them to generate hypotheses, never as evidence, and never as features for a downstream model.</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18795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Anomaly Detection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5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16.5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16.1   Learning Without Answers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16.2   k-Means Clustering</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16.3   Hierarchical Clustering and DBSCAN</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16.4   Dimensionality Reduction</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16.5   Anomaly Detection</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§16.5     </a:t>
            </a:r>
            <a:fld id="{AC31CECC-3F28-49D5-AB02-2D5EDC1EDC8B}" type="slidenum">
              <a:rPr lang="en-GB" sz="1000">
                <a:solidFill>
                  <a:srgbClr val="8795A1"/>
                </a:solidFill>
                <a:latin typeface="Segoe UI"/>
              </a:rPr>
              <a:t>21</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544735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Anomaly Detection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§16.5  ·  Handout p. 104     </a:t>
            </a:r>
            <a:fld id="{AAA591DC-4728-4148-A0C5-67FF5C74F71B}"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Identifying observations that differ markedly from the majority. It is the unsupervised counterpart to the rare-class classification of Chapter 14, used when labelled examples of the rare class are unavailable — which is the norm for novel attacks and for equipment that has not yet failed.</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70675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Anomaly Detection</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§16.5  ·  Handout p. 104     </a:t>
            </a:r>
            <a:fld id="{E99BF0DB-FF74-4A15-8F4D-35A5774FDBF2}" type="slidenum">
              <a:rPr lang="en-GB" sz="1000">
                <a:solidFill>
                  <a:srgbClr val="8795A1"/>
                </a:solidFill>
                <a:latin typeface="Segoe UI"/>
              </a:rPr>
              <a:t>23</a:t>
            </a:fld>
          </a:p>
        </p:txBody>
      </p:sp>
      <p:graphicFrame>
        <p:nvGraphicFramePr>
          <p:cNvPr id="7" name="!!table"/>
          <p:cNvGraphicFramePr>
            <a:graphicFrameLocks noGrp="1"/>
          </p:cNvGraphicFramePr>
          <p:nvPr/>
        </p:nvGraphicFramePr>
        <p:xfrm>
          <a:off x="658368" y="1737360"/>
          <a:ext cx="10874958" cy="4133088"/>
        </p:xfrm>
        <a:graphic>
          <a:graphicData uri="http://schemas.openxmlformats.org/drawingml/2006/table">
            <a:tbl>
              <a:tblPr firstRow="0" bandRow="0" firstCol="0" lastRow="0" lastCol="0" bandCol="0">
                <a:tableStyleId>{2D5ABB26-0587-4C30-8999-92F81FD0307C}</a:tableStyleId>
              </a:tblPr>
              <a:tblGrid>
                <a:gridCol w="2450695"/>
                <a:gridCol w="3829210"/>
                <a:gridCol w="4595053"/>
              </a:tblGrid>
              <a:tr h="405384">
                <a:tc>
                  <a:txBody>
                    <a:bodyPr wrap="square"/>
                    <a:lstStyle/>
                    <a:p>
                      <a:pPr algn="l"/>
                      <a:r>
                        <a:rPr sz="1700" b="1" i="0">
                          <a:solidFill>
                            <a:srgbClr val="1A5276"/>
                          </a:solidFill>
                          <a:latin typeface="Segoe UI"/>
                        </a:rPr>
                        <a:t>Method</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Idea</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Best for</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64464">
                <a:tc>
                  <a:txBody>
                    <a:bodyPr wrap="square"/>
                    <a:lstStyle/>
                    <a:p>
                      <a:pPr algn="l"/>
                      <a:r>
                        <a:rPr sz="1700" b="0" i="0">
                          <a:solidFill>
                            <a:srgbClr val="1C252B"/>
                          </a:solidFill>
                          <a:latin typeface="Segoe UI"/>
                        </a:rPr>
                        <a:t>Statistical (</a:t>
                      </a:r>
                      <a:r>
                        <a:rPr sz="1700" b="0" i="1">
                          <a:solidFill>
                            <a:srgbClr val="1C252B"/>
                          </a:solidFill>
                          <a:latin typeface="Cambria"/>
                        </a:rPr>
                        <a:t>z</a:t>
                      </a:r>
                      <a:r>
                        <a:rPr sz="1700" b="0" i="0">
                          <a:solidFill>
                            <a:srgbClr val="1C252B"/>
                          </a:solidFill>
                          <a:latin typeface="Segoe UI"/>
                        </a:rPr>
                        <a:t>, IQR)</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Beyond </a:t>
                      </a:r>
                      <a:r>
                        <a:rPr sz="1700" b="0" i="0">
                          <a:solidFill>
                            <a:srgbClr val="1C252B"/>
                          </a:solidFill>
                          <a:latin typeface="Cambria"/>
                        </a:rPr>
                        <a:t>3σ</a:t>
                      </a:r>
                      <a:r>
                        <a:rPr sz="1700" b="0" i="0">
                          <a:solidFill>
                            <a:srgbClr val="1C252B"/>
                          </a:solidFill>
                          <a:latin typeface="Segoe UI"/>
                        </a:rPr>
                        <a:t> or </a:t>
                      </a:r>
                      <a:r>
                        <a:rPr sz="1700" b="0" i="0">
                          <a:solidFill>
                            <a:srgbClr val="1C252B"/>
                          </a:solidFill>
                          <a:latin typeface="Cambria"/>
                        </a:rPr>
                        <a:t>1.5×</a:t>
                      </a:r>
                      <a:r>
                        <a:rPr sz="1700" b="0" i="0">
                          <a:solidFill>
                            <a:srgbClr val="1C252B"/>
                          </a:solidFill>
                          <a:latin typeface="Segoe UI"/>
                        </a:rPr>
                        <a:t>IQR</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Single variables that are roughly normal. Fails badly on long tails (Chapter 5)</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Distance / k-NN</a:t>
                      </a:r>
                      <a:endParaRPr sz="17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700" b="0" i="0">
                          <a:solidFill>
                            <a:srgbClr val="1C252B"/>
                          </a:solidFill>
                          <a:latin typeface="Segoe UI"/>
                        </a:rPr>
                        <a:t>Far from its nearest neighbours</a:t>
                      </a:r>
                      <a:endParaRPr sz="17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700" b="0" i="0">
                          <a:solidFill>
                            <a:srgbClr val="1C252B"/>
                          </a:solidFill>
                          <a:latin typeface="Segoe UI"/>
                        </a:rPr>
                        <a:t>Moderate dimensions; needs scaling</a:t>
                      </a:r>
                      <a:endParaRPr sz="1700"/>
                    </a:p>
                  </a:txBody>
                  <a:tcPr marL="109728" marR="109728" marT="64008" marB="45720" anchor="t">
                    <a:lnL w="0" cmpd="sng">
                      <a:noFill/>
                    </a:lnL>
                    <a:lnR w="0" cmpd="sng">
                      <a:noFill/>
                    </a:lnR>
                    <a:lnT w="9525" cmpd="sng">
                      <a:noFill/>
                    </a:lnT>
                    <a:lnB w="9525" cmpd="sng">
                      <a:noFill/>
                    </a:lnB>
                    <a:solidFill>
                      <a:srgbClr val="FEF7F1"/>
                    </a:solidFill>
                  </a:tcPr>
                </a:tc>
              </a:tr>
              <a:tr h="664464">
                <a:tc>
                  <a:txBody>
                    <a:bodyPr wrap="square"/>
                    <a:lstStyle/>
                    <a:p>
                      <a:pPr algn="l"/>
                      <a:r>
                        <a:rPr sz="1700" b="0" i="0">
                          <a:solidFill>
                            <a:srgbClr val="1C252B"/>
                          </a:solidFill>
                          <a:latin typeface="Segoe UI"/>
                        </a:rPr>
                        <a:t>Density (LOF, DBSCAN)</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In a sparse region relative to its neighbourhood</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Clusters of differing density</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Isolation Forest</a:t>
                      </a:r>
                      <a:endParaRPr sz="17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700" b="0" i="0">
                          <a:solidFill>
                            <a:srgbClr val="1C252B"/>
                          </a:solidFill>
                          <a:latin typeface="Segoe UI"/>
                        </a:rPr>
                        <a:t>Randomly split; anomalies get isolated in few splits</a:t>
                      </a:r>
                      <a:endParaRPr sz="17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700" b="1" i="0">
                          <a:solidFill>
                            <a:srgbClr val="1C252B"/>
                          </a:solidFill>
                          <a:latin typeface="Segoe UI"/>
                        </a:rPr>
                        <a:t>The strong default</a:t>
                      </a:r>
                      <a:r>
                        <a:rPr sz="1700" b="0" i="0">
                          <a:solidFill>
                            <a:srgbClr val="1C252B"/>
                          </a:solidFill>
                          <a:latin typeface="Segoe UI"/>
                        </a:rPr>
                        <a:t> — fast, scales well, high dimensions</a:t>
                      </a:r>
                      <a:endParaRPr sz="1700"/>
                    </a:p>
                  </a:txBody>
                  <a:tcPr marL="109728" marR="109728" marT="64008" marB="45720" anchor="t">
                    <a:lnL w="0" cmpd="sng">
                      <a:noFill/>
                    </a:lnL>
                    <a:lnR w="0" cmpd="sng">
                      <a:noFill/>
                    </a:lnR>
                    <a:lnT w="9525" cmpd="sng">
                      <a:noFill/>
                    </a:lnT>
                    <a:lnB w="9525" cmpd="sng">
                      <a:noFill/>
                    </a:lnB>
                    <a:solidFill>
                      <a:srgbClr val="FEF7F1"/>
                    </a:solidFill>
                  </a:tcPr>
                </a:tc>
              </a:tr>
              <a:tr h="664464">
                <a:tc>
                  <a:txBody>
                    <a:bodyPr wrap="square"/>
                    <a:lstStyle/>
                    <a:p>
                      <a:pPr algn="l"/>
                      <a:r>
                        <a:rPr sz="1700" b="0" i="0">
                          <a:solidFill>
                            <a:srgbClr val="1C252B"/>
                          </a:solidFill>
                          <a:latin typeface="Segoe UI"/>
                        </a:rPr>
                        <a:t>Autoencoder</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Train to reconstruct normal data; high reconstruction error = anomaly</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Complex or sequential data (Chapter 18)</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Time-series residual</a:t>
                      </a:r>
                      <a:endParaRPr sz="1700"/>
                    </a:p>
                  </a:txBody>
                  <a:tcPr marL="109728" marR="109728" marT="64008" marB="45720" anchor="t">
                    <a:lnL w="0" cmpd="sng">
                      <a:noFill/>
                    </a:lnL>
                    <a:lnR w="0" cmpd="sng">
                      <a:noFill/>
                    </a:lnR>
                    <a:lnT w="19050" cmpd="sng">
                      <a:noFill/>
                    </a:lnT>
                    <a:lnB w="19050" cmpd="sng">
                      <a:solidFill>
                        <a:srgbClr val="1A5276"/>
                      </a:solidFill>
                    </a:lnB>
                    <a:solidFill>
                      <a:srgbClr val="FEF7F1"/>
                    </a:solidFill>
                  </a:tcPr>
                </a:tc>
                <a:tc>
                  <a:txBody>
                    <a:bodyPr wrap="square"/>
                    <a:lstStyle/>
                    <a:p>
                      <a:pPr algn="l"/>
                      <a:r>
                        <a:rPr sz="1700" b="0" i="0">
                          <a:solidFill>
                            <a:srgbClr val="1C252B"/>
                          </a:solidFill>
                          <a:latin typeface="Segoe UI"/>
                        </a:rPr>
                        <a:t>Forecast the next value; large error = anomaly</a:t>
                      </a:r>
                      <a:endParaRPr sz="1700"/>
                    </a:p>
                  </a:txBody>
                  <a:tcPr marL="109728" marR="109728" marT="64008" marB="45720" anchor="t">
                    <a:lnL w="0" cmpd="sng">
                      <a:noFill/>
                    </a:lnL>
                    <a:lnR w="0" cmpd="sng">
                      <a:noFill/>
                    </a:lnR>
                    <a:lnT w="19050" cmpd="sng">
                      <a:noFill/>
                    </a:lnT>
                    <a:lnB w="19050" cmpd="sng">
                      <a:solidFill>
                        <a:srgbClr val="1A5276"/>
                      </a:solidFill>
                    </a:lnB>
                    <a:solidFill>
                      <a:srgbClr val="FEF7F1"/>
                    </a:solidFill>
                  </a:tcPr>
                </a:tc>
                <a:tc>
                  <a:txBody>
                    <a:bodyPr wrap="square"/>
                    <a:lstStyle/>
                    <a:p>
                      <a:pPr algn="l"/>
                      <a:r>
                        <a:rPr sz="1700" b="0" i="0">
                          <a:solidFill>
                            <a:srgbClr val="1C252B"/>
                          </a:solidFill>
                          <a:latin typeface="Segoe UI"/>
                        </a:rPr>
                        <a:t>Telemetry and log volumes (Chapter 19)</a:t>
                      </a:r>
                      <a:endParaRPr sz="1700"/>
                    </a:p>
                  </a:txBody>
                  <a:tcPr marL="109728" marR="109728" marT="64008" marB="45720" anchor="t">
                    <a:lnL w="0" cmpd="sng">
                      <a:noFill/>
                    </a:lnL>
                    <a:lnR w="0" cmpd="sng">
                      <a:noFill/>
                    </a:lnR>
                    <a:lnT w="19050" cmpd="sng">
                      <a:noFill/>
                    </a:lnT>
                    <a:lnB w="19050" cmpd="sng">
                      <a:solidFill>
                        <a:srgbClr val="1A5276"/>
                      </a:solidFill>
                    </a:lnB>
                    <a:solidFill>
                      <a:srgbClr val="FEF7F1"/>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596614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Evaluating Clusters Without Labels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§16.5  ·  Handout p. 104     </a:t>
            </a:r>
            <a:fld id="{AABE636F-0AF6-4373-A7C7-6837090D6DB7}" type="slidenum">
              <a:rPr lang="en-GB" sz="1000">
                <a:solidFill>
                  <a:srgbClr val="8795A1"/>
                </a:solidFill>
                <a:latin typeface="Segoe UI"/>
              </a:rPr>
              <a:t>24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958209"/>
          </a:xfrm>
          <a:prstGeom prst="roundRect">
            <a:avLst>
              <a:gd name="adj" fmla="val 231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95820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You cluster 12,000 user accounts into </a:t>
            </a:r>
            <a:r>
              <a:rPr sz="1900" b="0" i="1">
                <a:solidFill>
                  <a:srgbClr val="1C252B"/>
                </a:solidFill>
                <a:latin typeface="Cambria"/>
              </a:rPr>
              <a:t>k</a:t>
            </a:r>
            <a:r>
              <a:rPr sz="1900" b="0" i="0">
                <a:solidFill>
                  <a:srgbClr val="1C252B"/>
                </a:solidFill>
                <a:latin typeface="Cambria"/>
              </a:rPr>
              <a:t>=4</a:t>
            </a:r>
            <a:r>
              <a:rPr sz="1900" b="0" i="0">
                <a:solidFill>
                  <a:srgbClr val="1C252B"/>
                </a:solidFill>
                <a:latin typeface="Segoe UI"/>
              </a:rPr>
              <a:t> and must decide whether the result is useful. There are no labels, so accuracy is unavailable.</a:t>
            </a:r>
          </a:p>
        </p:txBody>
      </p:sp>
      <p:sp>
        <p:nvSpPr>
          <p:cNvPr id="10" name="body-1"/>
          <p:cNvSpPr txBox="1"/>
          <p:nvPr/>
        </p:nvSpPr>
        <p:spPr>
          <a:xfrm>
            <a:off x="1042416" y="2746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1. Internal validity.</a:t>
            </a:r>
            <a:r>
              <a:rPr sz="1900" b="0" i="0">
                <a:solidFill>
                  <a:srgbClr val="1C252B"/>
                </a:solidFill>
                <a:latin typeface="Segoe UI"/>
              </a:rPr>
              <a:t> Silhouette </a:t>
            </a:r>
            <a:r>
              <a:rPr sz="1900" b="0" i="0">
                <a:solidFill>
                  <a:srgbClr val="1C252B"/>
                </a:solidFill>
                <a:latin typeface="Cambria"/>
              </a:rPr>
              <a:t>= 0.61</a:t>
            </a:r>
            <a:r>
              <a:rPr sz="1900" b="0" i="0">
                <a:solidFill>
                  <a:srgbClr val="1C252B"/>
                </a:solidFill>
                <a:latin typeface="Segoe UI"/>
              </a:rPr>
              <a:t>. Above about 0.5 the structure is reasonably well separated. Compare against </a:t>
            </a:r>
            <a:r>
              <a:rPr sz="1900" b="0" i="1">
                <a:solidFill>
                  <a:srgbClr val="1C252B"/>
                </a:solidFill>
                <a:latin typeface="Cambria"/>
              </a:rPr>
              <a:t>k</a:t>
            </a:r>
            <a:r>
              <a:rPr sz="1900" b="0" i="0">
                <a:solidFill>
                  <a:srgbClr val="1C252B"/>
                </a:solidFill>
                <a:latin typeface="Cambria"/>
              </a:rPr>
              <a:t>=3</a:t>
            </a:r>
            <a:r>
              <a:rPr sz="1900" b="0" i="0">
                <a:solidFill>
                  <a:srgbClr val="1C252B"/>
                </a:solidFill>
                <a:latin typeface="Segoe UI"/>
              </a:rPr>
              <a:t> and </a:t>
            </a:r>
            <a:r>
              <a:rPr sz="1900" b="0" i="1">
                <a:solidFill>
                  <a:srgbClr val="1C252B"/>
                </a:solidFill>
                <a:latin typeface="Cambria"/>
              </a:rPr>
              <a:t>k</a:t>
            </a:r>
            <a:r>
              <a:rPr sz="1900" b="0" i="0">
                <a:solidFill>
                  <a:srgbClr val="1C252B"/>
                </a:solidFill>
                <a:latin typeface="Cambria"/>
              </a:rPr>
              <a:t>=5</a:t>
            </a:r>
            <a:r>
              <a:rPr sz="1900" b="0" i="0">
                <a:solidFill>
                  <a:srgbClr val="1C252B"/>
                </a:solidFill>
                <a:latin typeface="Segoe UI"/>
              </a:rPr>
              <a:t>.</a:t>
            </a:r>
          </a:p>
        </p:txBody>
      </p:sp>
      <p:sp>
        <p:nvSpPr>
          <p:cNvPr id="11" name="body-2"/>
          <p:cNvSpPr txBox="1"/>
          <p:nvPr/>
        </p:nvSpPr>
        <p:spPr>
          <a:xfrm>
            <a:off x="1042416" y="348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2. Stability.</a:t>
            </a:r>
            <a:r>
              <a:rPr sz="1900" b="0" i="0">
                <a:solidFill>
                  <a:srgbClr val="1C252B"/>
                </a:solidFill>
                <a:latin typeface="Segoe UI"/>
              </a:rPr>
              <a:t> Re-run on a random 80% subsample, five times. If cluster memberships shuffle wildly between runs, the structure is an artefact of the sample, not of the population. This test is skipped far too often.</a:t>
            </a:r>
          </a:p>
        </p:txBody>
      </p:sp>
      <p:sp>
        <p:nvSpPr>
          <p:cNvPr id="12" name="body-3"/>
          <p:cNvSpPr txBox="1"/>
          <p:nvPr/>
        </p:nvSpPr>
        <p:spPr>
          <a:xfrm>
            <a:off x="1042416" y="4517821"/>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3. Profile the clusters.</a:t>
            </a:r>
            <a:r>
              <a:rPr sz="1900" b="0" i="0">
                <a:solidFill>
                  <a:srgbClr val="1C252B"/>
                </a:solidFill>
                <a:latin typeface="Segoe UI"/>
              </a:rPr>
              <a:t> Compute the mean of every feature per cluster and compare against the overall mean. Cluster 3 has 4</a:t>
            </a:r>
            <a:r>
              <a:rPr sz="1900" b="0" i="0">
                <a:solidFill>
                  <a:srgbClr val="1C252B"/>
                </a:solidFill>
                <a:latin typeface="Cambria"/>
              </a:rPr>
              <a:t>×</a:t>
            </a:r>
            <a:r>
              <a:rPr sz="1900" b="0" i="0">
                <a:solidFill>
                  <a:srgbClr val="1C252B"/>
                </a:solidFill>
                <a:latin typeface="Segoe UI"/>
              </a:rPr>
              <a:t> the failed-login rate, 2</a:t>
            </a:r>
            <a:r>
              <a:rPr sz="1900" b="0" i="0">
                <a:solidFill>
                  <a:srgbClr val="1C252B"/>
                </a:solidFill>
                <a:latin typeface="Cambria"/>
              </a:rPr>
              <a:t>×</a:t>
            </a:r>
            <a:r>
              <a:rPr sz="1900" b="0" i="0">
                <a:solidFill>
                  <a:srgbClr val="1C252B"/>
                </a:solidFill>
                <a:latin typeface="Segoe UI"/>
              </a:rPr>
              <a:t> the distinct destination ports and half the session duration.</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622554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Evaluating Clusters Without Labels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§16.5  ·  Handout p. 104     </a:t>
            </a:r>
            <a:fld id="{A1FD50B7-E65F-47D3-80E4-B4868951D6A8}" type="slidenum">
              <a:rPr lang="en-GB" sz="1000">
                <a:solidFill>
                  <a:srgbClr val="8795A1"/>
                </a:solidFill>
                <a:latin typeface="Segoe UI"/>
              </a:rPr>
              <a:t>25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88209"/>
          </a:xfrm>
          <a:prstGeom prst="roundRect">
            <a:avLst>
              <a:gd name="adj" fmla="val 367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8820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4. External validation — the decisive test.</a:t>
            </a:r>
            <a:r>
              <a:rPr sz="1900" b="0" i="0">
                <a:solidFill>
                  <a:srgbClr val="1C252B"/>
                </a:solidFill>
                <a:latin typeface="Segoe UI"/>
              </a:rPr>
              <a:t> Do the clusters relate to something you did </a:t>
            </a:r>
            <a:r>
              <a:rPr sz="1900" b="0" i="1">
                <a:solidFill>
                  <a:srgbClr val="1C252B"/>
                </a:solidFill>
                <a:latin typeface="Segoe UI"/>
              </a:rPr>
              <a:t>not</a:t>
            </a:r>
            <a:r>
              <a:rPr sz="1900" b="0" i="0">
                <a:solidFill>
                  <a:srgbClr val="1C252B"/>
                </a:solidFill>
                <a:latin typeface="Segoe UI"/>
              </a:rPr>
              <a:t> cluster on? If cluster 3 also contains 70% of the accounts later confirmed compromised, the clustering has found something real.</a:t>
            </a:r>
          </a:p>
        </p:txBody>
      </p:sp>
      <p:sp>
        <p:nvSpPr>
          <p:cNvPr id="10" name="body-1"/>
          <p:cNvSpPr txBox="1"/>
          <p:nvPr/>
        </p:nvSpPr>
        <p:spPr>
          <a:xfrm>
            <a:off x="1042416" y="3047822"/>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Verdict:</a:t>
            </a:r>
            <a:r>
              <a:rPr sz="1900" b="0" i="0">
                <a:solidFill>
                  <a:srgbClr val="1C252B"/>
                </a:solidFill>
                <a:latin typeface="Segoe UI"/>
              </a:rPr>
              <a:t> steps 1–2 say the clusters are statistically sound; steps 3–4 say whether they are </a:t>
            </a:r>
            <a:r>
              <a:rPr sz="1900" b="0" i="1">
                <a:solidFill>
                  <a:srgbClr val="1C252B"/>
                </a:solidFill>
                <a:latin typeface="Segoe UI"/>
              </a:rPr>
              <a:t>useful</a:t>
            </a:r>
            <a:r>
              <a:rPr sz="1900" b="0" i="0">
                <a:solidFill>
                  <a:srgbClr val="1C252B"/>
                </a:solidFill>
                <a:latin typeface="Segoe UI"/>
              </a:rPr>
              <a:t>. A clustering can pass the first pair and fail the second, in which case it is a mathematically valid answer to a question nobody asked.</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648494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right)">
                                      <p:cBhvr>
                                        <p:cTn id="13"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Finding Structure Without Labels</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108     </a:t>
            </a:r>
            <a:fld id="{0BB26FFD-117E-48D6-8814-5B45CEE6E2DA}" type="slidenum">
              <a:rPr lang="en-GB" sz="1000">
                <a:solidFill>
                  <a:srgbClr val="8795A1"/>
                </a:solidFill>
                <a:latin typeface="Segoe UI"/>
              </a:rPr>
              <a:t>26</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Cluster students on engagement patterns to discover learner </a:t>
            </a:r>
            <a:r>
              <a:rPr sz="1800" b="0" i="1">
                <a:solidFill>
                  <a:srgbClr val="1C252B"/>
                </a:solidFill>
                <a:latin typeface="Segoe UI"/>
              </a:rPr>
              <a:t>types</a:t>
            </a:r>
            <a:r>
              <a:rPr sz="1800" b="0" i="0">
                <a:solidFill>
                  <a:srgbClr val="1C252B"/>
                </a:solidFill>
                <a:latin typeface="Segoe UI"/>
              </a:rPr>
              <a:t> — steady, bursty, front-loaded, disengaging — which no one had defined in advance and which support different interventions.</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Cluster past projects to find natural categories of work, giving better reference classes for estimation than the official project taxonomy.</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Cluster devices by behavioural signature to find fleet sub-populations that need different maintenance regimes.</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This is the chapter’s home domain.</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74434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Finding Structure Without Labels</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108     </a:t>
            </a:r>
            <a:fld id="{E17AF6A5-AB3F-49E2-A6FA-D75F213B27EA}" type="slidenum">
              <a:rPr lang="en-GB" sz="1000">
                <a:solidFill>
                  <a:srgbClr val="8795A1"/>
                </a:solidFill>
                <a:latin typeface="Segoe UI"/>
              </a:rPr>
              <a:t>27</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Cluster students on engagement patterns to discover learner </a:t>
            </a:r>
            <a:r>
              <a:rPr sz="2200" b="0" i="1">
                <a:solidFill>
                  <a:srgbClr val="1C252B"/>
                </a:solidFill>
                <a:latin typeface="Segoe UI"/>
              </a:rPr>
              <a:t>types</a:t>
            </a:r>
            <a:r>
              <a:rPr sz="2200" b="0" i="0">
                <a:solidFill>
                  <a:srgbClr val="1C252B"/>
                </a:solidFill>
                <a:latin typeface="Segoe UI"/>
              </a:rPr>
              <a:t> — steady, bursty, front-loaded, disengaging — which no one had defined in advance and which support different interventions. Use </a:t>
            </a:r>
            <a:r>
              <a:rPr sz="2200" b="0" i="1">
                <a:solidFill>
                  <a:srgbClr val="1C252B"/>
                </a:solidFill>
                <a:latin typeface="Cambria"/>
              </a:rPr>
              <a:t>k</a:t>
            </a:r>
            <a:r>
              <a:rPr sz="2200" b="0" i="0">
                <a:solidFill>
                  <a:srgbClr val="1C252B"/>
                </a:solidFill>
                <a:latin typeface="Segoe UI"/>
              </a:rPr>
              <a:t>-means with silhouette selection, then profile each cluster in plain language. </a:t>
            </a:r>
            <a:r>
              <a:rPr sz="2200" b="1" i="0">
                <a:solidFill>
                  <a:srgbClr val="1C252B"/>
                </a:solidFill>
                <a:latin typeface="Segoe UI"/>
              </a:rPr>
              <a:t>Ethical caution:</a:t>
            </a:r>
            <a:r>
              <a:rPr sz="2200" b="0" i="0">
                <a:solidFill>
                  <a:srgbClr val="1C252B"/>
                </a:solidFill>
                <a:latin typeface="Segoe UI"/>
              </a:rPr>
              <a:t> these clusters must never become permanent labels attached to students (Chapter 28); they describe a semester’s behaviour, not a person.</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00373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Finding Structure Without Labels</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108     </a:t>
            </a:r>
            <a:fld id="{DA458D97-EE4B-4044-91A4-2BF003DE00FF}" type="slidenum">
              <a:rPr lang="en-GB" sz="1000">
                <a:solidFill>
                  <a:srgbClr val="8795A1"/>
                </a:solidFill>
                <a:latin typeface="Segoe UI"/>
              </a:rPr>
              <a:t>28</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Cluster past projects to find natural categories of work, giving better reference classes for estimation than the official project taxonomy. With only dozens of projects, hierarchical clustering is preferable to k-means — the dendrogram itself is the useful output, because a manager can see </a:t>
            </a:r>
            <a:r>
              <a:rPr sz="2200" b="0" i="1">
                <a:solidFill>
                  <a:srgbClr val="1C252B"/>
                </a:solidFill>
                <a:latin typeface="Segoe UI"/>
              </a:rPr>
              <a:t>why</a:t>
            </a:r>
            <a:r>
              <a:rPr sz="2200" b="0" i="0">
                <a:solidFill>
                  <a:srgbClr val="1C252B"/>
                </a:solidFill>
                <a:latin typeface="Segoe UI"/>
              </a:rPr>
              <a:t> two projects were grouped and overrule it.</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26313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Finding Structure Without Labels</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108     </a:t>
            </a:r>
            <a:fld id="{EBECFBA8-782F-437B-86C2-C3814012FDD8}" type="slidenum">
              <a:rPr lang="en-GB" sz="1000">
                <a:solidFill>
                  <a:srgbClr val="8795A1"/>
                </a:solidFill>
                <a:latin typeface="Segoe UI"/>
              </a:rPr>
              <a:t>29</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Cluster devices by behavioural signature to find fleet sub-populations that need different maintenance regimes. More importantly, use </a:t>
            </a:r>
            <a:r>
              <a:rPr sz="2200" b="0" i="1">
                <a:solidFill>
                  <a:srgbClr val="1C252B"/>
                </a:solidFill>
                <a:latin typeface="Segoe UI"/>
              </a:rPr>
              <a:t>isolation forests on window features</a:t>
            </a:r>
            <a:r>
              <a:rPr sz="2200" b="0" i="0">
                <a:solidFill>
                  <a:srgbClr val="1C252B"/>
                </a:solidFill>
                <a:latin typeface="Segoe UI"/>
              </a:rPr>
              <a:t> for anomaly detection: you cannot supervise a failure mode that has never occurred, and this is the standard approach when there are no positive labels at all. Establish each device’s own baseline — fleet-wide thresholds miss a device that is abnormal only for itself.</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52253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Finding Structure Without Labels</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108     </a:t>
            </a:r>
            <a:fld id="{73D3C3B5-C7F9-4F30-ABA8-9C24A0B890B0}" type="slidenum">
              <a:rPr lang="en-GB" sz="1000">
                <a:solidFill>
                  <a:srgbClr val="8795A1"/>
                </a:solidFill>
                <a:latin typeface="Segoe UI"/>
              </a:rPr>
              <a:t>30</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This is the chapter’s home domain. Unsupervised methods detect </a:t>
            </a:r>
            <a:r>
              <a:rPr sz="2200" b="0" i="1">
                <a:solidFill>
                  <a:srgbClr val="1C252B"/>
                </a:solidFill>
                <a:latin typeface="Segoe UI"/>
              </a:rPr>
              <a:t>novel</a:t>
            </a:r>
            <a:r>
              <a:rPr sz="2200" b="0" i="0">
                <a:solidFill>
                  <a:srgbClr val="1C252B"/>
                </a:solidFill>
                <a:latin typeface="Segoe UI"/>
              </a:rPr>
              <a:t> attacks that no signature covers — precisely what supervised models trained on past attacks cannot do. Use DBSCAN or isolation forests for user and entity behaviour analytics, scoring each account against its own 30-day profile. Remember the base rate from Chapter 6: an anomaly score is not a verdict, and tuning contamination too high will bury your analysts.</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78193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Cluster, Reduce, Detect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§16.5  ·  Handout p. 104     </a:t>
            </a:r>
            <a:fld id="{A208188D-AE1C-48D1-AE8D-BD5749A2A804}" type="slidenum">
              <a:rPr lang="en-GB" sz="1000">
                <a:solidFill>
                  <a:srgbClr val="8795A1"/>
                </a:solidFill>
                <a:latin typeface="Segoe UI"/>
              </a:rPr>
              <a:t>31</a:t>
            </a:fld>
          </a:p>
        </p:txBody>
      </p:sp>
      <p:sp>
        <p:nvSpPr>
          <p:cNvPr id="7" name="!!labsteps-h"/>
          <p:cNvSpPr txBox="1"/>
          <p:nvPr/>
        </p:nvSpPr>
        <p:spPr>
          <a:xfrm>
            <a:off x="658368" y="173736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8" name="!!labsteps"/>
          <p:cNvSpPr txBox="1"/>
          <p:nvPr/>
        </p:nvSpPr>
        <p:spPr>
          <a:xfrm>
            <a:off x="658368" y="2121408"/>
            <a:ext cx="10874959" cy="1466849"/>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Choose k by silhouette, not by eye</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Stability check: do the clusters survive resampling?</a:t>
            </a:r>
          </a:p>
          <a:p>
            <a:pPr algn="l" marL="459473" indent="-459473">
              <a:lnSpc>
                <a:spcPct val="100000"/>
              </a:lnSpc>
              <a:spcBef>
                <a:spcPts val="0"/>
              </a:spcBef>
              <a:spcAft>
                <a:spcPts val="570"/>
              </a:spcAft>
            </a:pPr>
            <a:r>
              <a:rPr sz="1900" b="1">
                <a:solidFill>
                  <a:srgbClr val="117A65"/>
                </a:solidFill>
                <a:latin typeface="Segoe UI"/>
              </a:rPr>
              <a:t>3.	</a:t>
            </a:r>
            <a:r>
              <a:rPr sz="1900" b="0" i="0">
                <a:solidFill>
                  <a:srgbClr val="1C252B"/>
                </a:solidFill>
                <a:latin typeface="Segoe UI"/>
              </a:rPr>
              <a:t>PCA for visualisation and for the scree plot</a:t>
            </a:r>
          </a:p>
          <a:p>
            <a:pPr algn="l" marL="459473" indent="-459473">
              <a:lnSpc>
                <a:spcPct val="100000"/>
              </a:lnSpc>
              <a:spcBef>
                <a:spcPts val="0"/>
              </a:spcBef>
              <a:spcAft>
                <a:spcPts val="0"/>
              </a:spcAft>
            </a:pPr>
            <a:r>
              <a:rPr sz="1900" b="1">
                <a:solidFill>
                  <a:srgbClr val="117A65"/>
                </a:solidFill>
                <a:latin typeface="Segoe UI"/>
              </a:rPr>
              <a:t>4.	</a:t>
            </a:r>
            <a:r>
              <a:rPr sz="1900" b="0" i="0">
                <a:solidFill>
                  <a:srgbClr val="1C252B"/>
                </a:solidFill>
                <a:latin typeface="Segoe UI"/>
              </a:rPr>
              <a:t>Anomaly detection with no labels at all</a:t>
            </a:r>
          </a:p>
        </p:txBody>
      </p:sp>
      <p:sp>
        <p:nvSpPr>
          <p:cNvPr id="24" name="!!lfTHIS">
            <a:extLst>
              <a:ext uri="{C183D7F6-B498-43B3-948B-1728B52AA6E4}">
                <adec:decorative xmlns:adec="http://schemas.microsoft.com/office/drawing/2017/decorative" val="1"/>
              </a:ext>
            </a:extLst>
          </p:cNvPr>
          <p:cNvSpPr/>
          <p:nvPr/>
        </p:nvSpPr>
        <p:spPr>
          <a:xfrm>
            <a:off x="658368"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flTHIS"/>
          <p:cNvSpPr txBox="1"/>
          <p:nvPr/>
        </p:nvSpPr>
        <p:spPr>
          <a:xfrm>
            <a:off x="932688"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27" name="!!lfvTHIS"/>
          <p:cNvSpPr txBox="1"/>
          <p:nvPr/>
        </p:nvSpPr>
        <p:spPr>
          <a:xfrm>
            <a:off x="932688"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9: Engineer, ensemble, interpret; cluster &amp; detect</a:t>
            </a:r>
          </a:p>
        </p:txBody>
      </p:sp>
      <p:sp>
        <p:nvSpPr>
          <p:cNvPr id="28" name="!!lfWHAT">
            <a:extLst>
              <a:ext uri="{C183D7F6-B498-43B3-948B-1728B52AA6E4}">
                <adec:decorative xmlns:adec="http://schemas.microsoft.com/office/drawing/2017/decorative" val="1"/>
              </a:ext>
            </a:extLst>
          </p:cNvPr>
          <p:cNvSpPr/>
          <p:nvPr/>
        </p:nvSpPr>
        <p:spPr>
          <a:xfrm>
            <a:off x="6233007"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lfbWHAT">
            <a:extLst>
              <a:ext uri="{C183D7F6-B498-43B3-948B-1728B52AA6E4}">
                <adec:decorative xmlns:adec="http://schemas.microsoft.com/office/drawing/2017/decorative" val="1"/>
              </a:ext>
            </a:extLst>
          </p:cNvPr>
          <p:cNvSpPr/>
          <p:nvPr/>
        </p:nvSpPr>
        <p:spPr>
          <a:xfrm>
            <a:off x="6233007"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lflWHAT"/>
          <p:cNvSpPr txBox="1"/>
          <p:nvPr/>
        </p:nvSpPr>
        <p:spPr>
          <a:xfrm>
            <a:off x="6507327"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31" name="!!lfvWHAT"/>
          <p:cNvSpPr txBox="1"/>
          <p:nvPr/>
        </p:nvSpPr>
        <p:spPr>
          <a:xfrm>
            <a:off x="6507327"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34 lines of Python</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804133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0"/>
                                            </p:txEl>
                                          </p:spTgt>
                                        </p:tgtEl>
                                        <p:attrNameLst>
                                          <p:attrName>style.visibility</p:attrName>
                                        </p:attrNameLst>
                                      </p:cBhvr>
                                      <p:to>
                                        <p:strVal val="visible"/>
                                      </p:to>
                                    </p:set>
                                    <p:animEffect transition="in" filter="fade">
                                      <p:cBhvr>
                                        <p:cTn id="8" dur="300"/>
                                        <p:tgtEl>
                                          <p:spTgt spid="8">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300"/>
                                        <p:tgtEl>
                                          <p:spTgt spid="8">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fade">
                                      <p:cBhvr>
                                        <p:cTn id="18" dur="300"/>
                                        <p:tgtEl>
                                          <p:spTgt spid="8">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animEffect transition="in" filter="fade">
                                      <p:cBhvr>
                                        <p:cTn id="23" dur="3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Cluster, Reduce, Detect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§16.5  ·  Handout p. 104     </a:t>
            </a:r>
            <a:fld id="{FDE57544-1C52-4C1B-8E4C-60D7DEFE6655}"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676144"/>
          </a:xfrm>
          <a:prstGeom prst="roundRect">
            <a:avLst>
              <a:gd name="adj" fmla="val 341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import numpy as np, matplotlib.pyplot as plt from sklearn.preprocessing import StandardScaler from sklearn.cluster import KMeans, DBSCAN from sklearn.decomposition import PCA from sklearn.ensemble import IsolationForest from sklearn.metrics import silhouette_score Xs = StandardScaler().fit_transform(X) # MANDATORY -- clustering is distance"/>
          <p:cNvSpPr txBox="1"/>
          <p:nvPr/>
        </p:nvSpPr>
        <p:spPr>
          <a:xfrm>
            <a:off x="1362456" y="2523744"/>
            <a:ext cx="9987991" cy="2182368"/>
          </a:xfrm>
          <a:prstGeom prst="rect">
            <a:avLst/>
          </a:prstGeom>
          <a:noFill/>
        </p:spPr>
        <p:txBody>
          <a:bodyPr wrap="none" anchor="t" lIns="0" rIns="0" tIns="0" bIns="0">
            <a:noAutofit/>
          </a:bodyPr>
          <a:lstStyle/>
          <a:p>
            <a:pPr>
              <a:lnSpc>
                <a:spcPct val="100000"/>
              </a:lnSpc>
              <a:spcAft>
                <a:spcPts val="0"/>
              </a:spcAft>
            </a:pPr>
            <a:r>
              <a:rPr sz="1700" i="0">
                <a:solidFill>
                  <a:srgbClr val="5DADE2"/>
                </a:solidFill>
                <a:latin typeface="Consolas"/>
              </a:rPr>
              <a:t>import</a:t>
            </a:r>
            <a:r>
              <a:rPr sz="1700" i="0">
                <a:solidFill>
                  <a:srgbClr val="E8EDF2"/>
                </a:solidFill>
                <a:latin typeface="Consolas"/>
              </a:rPr>
              <a:t> </a:t>
            </a:r>
            <a:r>
              <a:rPr sz="1700" i="0">
                <a:solidFill>
                  <a:srgbClr val="76D7C4"/>
                </a:solidFill>
                <a:latin typeface="Consolas"/>
              </a:rPr>
              <a:t>numpy</a:t>
            </a:r>
            <a:r>
              <a:rPr sz="1700" i="0">
                <a:solidFill>
                  <a:srgbClr val="E8EDF2"/>
                </a:solidFill>
                <a:latin typeface="Consolas"/>
              </a:rPr>
              <a:t> </a:t>
            </a:r>
            <a:r>
              <a:rPr sz="1700" i="0">
                <a:solidFill>
                  <a:srgbClr val="5DADE2"/>
                </a:solidFill>
                <a:latin typeface="Consolas"/>
              </a:rPr>
              <a:t>as</a:t>
            </a:r>
            <a:r>
              <a:rPr sz="1700" i="0">
                <a:solidFill>
                  <a:srgbClr val="E8EDF2"/>
                </a:solidFill>
                <a:latin typeface="Consolas"/>
              </a:rPr>
              <a:t> </a:t>
            </a:r>
            <a:r>
              <a:rPr sz="1700" i="0">
                <a:solidFill>
                  <a:srgbClr val="76D7C4"/>
                </a:solidFill>
                <a:latin typeface="Consolas"/>
              </a:rPr>
              <a:t>np</a:t>
            </a:r>
            <a:r>
              <a:rPr sz="1700" i="0">
                <a:solidFill>
                  <a:srgbClr val="AEB6BF"/>
                </a:solidFill>
                <a:latin typeface="Consolas"/>
              </a:rPr>
              <a:t>,</a:t>
            </a:r>
            <a:r>
              <a:rPr sz="1700" i="0">
                <a:solidFill>
                  <a:srgbClr val="E8EDF2"/>
                </a:solidFill>
                <a:latin typeface="Consolas"/>
              </a:rPr>
              <a:t> </a:t>
            </a:r>
            <a:r>
              <a:rPr sz="1700" i="0">
                <a:solidFill>
                  <a:srgbClr val="76D7C4"/>
                </a:solidFill>
                <a:latin typeface="Consolas"/>
              </a:rPr>
              <a:t>matplotlib</a:t>
            </a:r>
            <a:r>
              <a:rPr sz="1700" i="0">
                <a:solidFill>
                  <a:srgbClr val="76D7C4"/>
                </a:solidFill>
                <a:latin typeface="Consolas"/>
              </a:rPr>
              <a:t>.</a:t>
            </a:r>
            <a:r>
              <a:rPr sz="1700" i="0">
                <a:solidFill>
                  <a:srgbClr val="76D7C4"/>
                </a:solidFill>
                <a:latin typeface="Consolas"/>
              </a:rPr>
              <a:t>pyplot</a:t>
            </a:r>
            <a:r>
              <a:rPr sz="1700" i="0">
                <a:solidFill>
                  <a:srgbClr val="E8EDF2"/>
                </a:solidFill>
                <a:latin typeface="Consolas"/>
              </a:rPr>
              <a:t> </a:t>
            </a:r>
            <a:r>
              <a:rPr sz="1700" i="0">
                <a:solidFill>
                  <a:srgbClr val="5DADE2"/>
                </a:solidFill>
                <a:latin typeface="Consolas"/>
              </a:rPr>
              <a:t>as</a:t>
            </a:r>
            <a:r>
              <a:rPr sz="1700" i="0">
                <a:solidFill>
                  <a:srgbClr val="E8EDF2"/>
                </a:solidFill>
                <a:latin typeface="Consolas"/>
              </a:rPr>
              <a:t> </a:t>
            </a:r>
            <a:r>
              <a:rPr sz="1700" i="0">
                <a:solidFill>
                  <a:srgbClr val="76D7C4"/>
                </a:solidFill>
                <a:latin typeface="Consolas"/>
              </a:rPr>
              <a:t>plt</a:t>
            </a:r>
          </a:p>
          <a:p>
            <a:pPr>
              <a:lnSpc>
                <a:spcPct val="100000"/>
              </a:lnSpc>
              <a:spcAft>
                <a:spcPts val="0"/>
              </a:spcAft>
            </a:pPr>
            <a:r>
              <a:rPr sz="1700" i="0">
                <a:solidFill>
                  <a:srgbClr val="5DADE2"/>
                </a:solidFill>
                <a:latin typeface="Consolas"/>
              </a:rPr>
              <a:t>from</a:t>
            </a:r>
            <a:r>
              <a:rPr sz="1700" i="0">
                <a:solidFill>
                  <a:srgbClr val="E8EDF2"/>
                </a:solidFill>
                <a:latin typeface="Consolas"/>
              </a:rPr>
              <a:t> </a:t>
            </a:r>
            <a:r>
              <a:rPr sz="1700" i="0">
                <a:solidFill>
                  <a:srgbClr val="76D7C4"/>
                </a:solidFill>
                <a:latin typeface="Consolas"/>
              </a:rPr>
              <a:t>sklearn</a:t>
            </a:r>
            <a:r>
              <a:rPr sz="1700" i="0">
                <a:solidFill>
                  <a:srgbClr val="76D7C4"/>
                </a:solidFill>
                <a:latin typeface="Consolas"/>
              </a:rPr>
              <a:t>.</a:t>
            </a:r>
            <a:r>
              <a:rPr sz="1700" i="0">
                <a:solidFill>
                  <a:srgbClr val="76D7C4"/>
                </a:solidFill>
                <a:latin typeface="Consolas"/>
              </a:rPr>
              <a:t>preprocessing</a:t>
            </a:r>
            <a:r>
              <a:rPr sz="1700" i="0">
                <a:solidFill>
                  <a:srgbClr val="E8EDF2"/>
                </a:solidFill>
                <a:latin typeface="Consolas"/>
              </a:rPr>
              <a:t> </a:t>
            </a:r>
            <a:r>
              <a:rPr sz="1700" i="0">
                <a:solidFill>
                  <a:srgbClr val="5DADE2"/>
                </a:solidFill>
                <a:latin typeface="Consolas"/>
              </a:rPr>
              <a:t>import</a:t>
            </a:r>
            <a:r>
              <a:rPr sz="1700" i="0">
                <a:solidFill>
                  <a:srgbClr val="E8EDF2"/>
                </a:solidFill>
                <a:latin typeface="Consolas"/>
              </a:rPr>
              <a:t> </a:t>
            </a:r>
            <a:r>
              <a:rPr sz="1700" i="0">
                <a:solidFill>
                  <a:srgbClr val="E8EDF2"/>
                </a:solidFill>
                <a:latin typeface="Consolas"/>
              </a:rPr>
              <a:t>StandardScaler</a:t>
            </a:r>
          </a:p>
          <a:p>
            <a:pPr>
              <a:lnSpc>
                <a:spcPct val="100000"/>
              </a:lnSpc>
              <a:spcAft>
                <a:spcPts val="0"/>
              </a:spcAft>
            </a:pPr>
            <a:r>
              <a:rPr sz="1700" i="0">
                <a:solidFill>
                  <a:srgbClr val="5DADE2"/>
                </a:solidFill>
                <a:latin typeface="Consolas"/>
              </a:rPr>
              <a:t>from</a:t>
            </a:r>
            <a:r>
              <a:rPr sz="1700" i="0">
                <a:solidFill>
                  <a:srgbClr val="E8EDF2"/>
                </a:solidFill>
                <a:latin typeface="Consolas"/>
              </a:rPr>
              <a:t> </a:t>
            </a:r>
            <a:r>
              <a:rPr sz="1700" i="0">
                <a:solidFill>
                  <a:srgbClr val="76D7C4"/>
                </a:solidFill>
                <a:latin typeface="Consolas"/>
              </a:rPr>
              <a:t>sklearn</a:t>
            </a:r>
            <a:r>
              <a:rPr sz="1700" i="0">
                <a:solidFill>
                  <a:srgbClr val="76D7C4"/>
                </a:solidFill>
                <a:latin typeface="Consolas"/>
              </a:rPr>
              <a:t>.</a:t>
            </a:r>
            <a:r>
              <a:rPr sz="1700" i="0">
                <a:solidFill>
                  <a:srgbClr val="76D7C4"/>
                </a:solidFill>
                <a:latin typeface="Consolas"/>
              </a:rPr>
              <a:t>cluster</a:t>
            </a:r>
            <a:r>
              <a:rPr sz="1700" i="0">
                <a:solidFill>
                  <a:srgbClr val="E8EDF2"/>
                </a:solidFill>
                <a:latin typeface="Consolas"/>
              </a:rPr>
              <a:t> </a:t>
            </a:r>
            <a:r>
              <a:rPr sz="1700" i="0">
                <a:solidFill>
                  <a:srgbClr val="5DADE2"/>
                </a:solidFill>
                <a:latin typeface="Consolas"/>
              </a:rPr>
              <a:t>import</a:t>
            </a:r>
            <a:r>
              <a:rPr sz="1700" i="0">
                <a:solidFill>
                  <a:srgbClr val="E8EDF2"/>
                </a:solidFill>
                <a:latin typeface="Consolas"/>
              </a:rPr>
              <a:t> </a:t>
            </a:r>
            <a:r>
              <a:rPr sz="1700" i="0">
                <a:solidFill>
                  <a:srgbClr val="E8EDF2"/>
                </a:solidFill>
                <a:latin typeface="Consolas"/>
              </a:rPr>
              <a:t>KMeans</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DBSCAN</a:t>
            </a:r>
          </a:p>
          <a:p>
            <a:pPr>
              <a:lnSpc>
                <a:spcPct val="100000"/>
              </a:lnSpc>
              <a:spcAft>
                <a:spcPts val="0"/>
              </a:spcAft>
            </a:pPr>
            <a:r>
              <a:rPr sz="1700" i="0">
                <a:solidFill>
                  <a:srgbClr val="5DADE2"/>
                </a:solidFill>
                <a:latin typeface="Consolas"/>
              </a:rPr>
              <a:t>from</a:t>
            </a:r>
            <a:r>
              <a:rPr sz="1700" i="0">
                <a:solidFill>
                  <a:srgbClr val="E8EDF2"/>
                </a:solidFill>
                <a:latin typeface="Consolas"/>
              </a:rPr>
              <a:t> </a:t>
            </a:r>
            <a:r>
              <a:rPr sz="1700" i="0">
                <a:solidFill>
                  <a:srgbClr val="76D7C4"/>
                </a:solidFill>
                <a:latin typeface="Consolas"/>
              </a:rPr>
              <a:t>sklearn</a:t>
            </a:r>
            <a:r>
              <a:rPr sz="1700" i="0">
                <a:solidFill>
                  <a:srgbClr val="76D7C4"/>
                </a:solidFill>
                <a:latin typeface="Consolas"/>
              </a:rPr>
              <a:t>.</a:t>
            </a:r>
            <a:r>
              <a:rPr sz="1700" i="0">
                <a:solidFill>
                  <a:srgbClr val="76D7C4"/>
                </a:solidFill>
                <a:latin typeface="Consolas"/>
              </a:rPr>
              <a:t>decomposition</a:t>
            </a:r>
            <a:r>
              <a:rPr sz="1700" i="0">
                <a:solidFill>
                  <a:srgbClr val="E8EDF2"/>
                </a:solidFill>
                <a:latin typeface="Consolas"/>
              </a:rPr>
              <a:t> </a:t>
            </a:r>
            <a:r>
              <a:rPr sz="1700" i="0">
                <a:solidFill>
                  <a:srgbClr val="5DADE2"/>
                </a:solidFill>
                <a:latin typeface="Consolas"/>
              </a:rPr>
              <a:t>import</a:t>
            </a:r>
            <a:r>
              <a:rPr sz="1700" i="0">
                <a:solidFill>
                  <a:srgbClr val="E8EDF2"/>
                </a:solidFill>
                <a:latin typeface="Consolas"/>
              </a:rPr>
              <a:t> </a:t>
            </a:r>
            <a:r>
              <a:rPr sz="1700" i="0">
                <a:solidFill>
                  <a:srgbClr val="E8EDF2"/>
                </a:solidFill>
                <a:latin typeface="Consolas"/>
              </a:rPr>
              <a:t>PCA</a:t>
            </a:r>
          </a:p>
          <a:p>
            <a:pPr>
              <a:lnSpc>
                <a:spcPct val="100000"/>
              </a:lnSpc>
              <a:spcAft>
                <a:spcPts val="0"/>
              </a:spcAft>
            </a:pPr>
            <a:r>
              <a:rPr sz="1700" i="0">
                <a:solidFill>
                  <a:srgbClr val="5DADE2"/>
                </a:solidFill>
                <a:latin typeface="Consolas"/>
              </a:rPr>
              <a:t>from</a:t>
            </a:r>
            <a:r>
              <a:rPr sz="1700" i="0">
                <a:solidFill>
                  <a:srgbClr val="E8EDF2"/>
                </a:solidFill>
                <a:latin typeface="Consolas"/>
              </a:rPr>
              <a:t> </a:t>
            </a:r>
            <a:r>
              <a:rPr sz="1700" i="0">
                <a:solidFill>
                  <a:srgbClr val="76D7C4"/>
                </a:solidFill>
                <a:latin typeface="Consolas"/>
              </a:rPr>
              <a:t>sklearn</a:t>
            </a:r>
            <a:r>
              <a:rPr sz="1700" i="0">
                <a:solidFill>
                  <a:srgbClr val="76D7C4"/>
                </a:solidFill>
                <a:latin typeface="Consolas"/>
              </a:rPr>
              <a:t>.</a:t>
            </a:r>
            <a:r>
              <a:rPr sz="1700" i="0">
                <a:solidFill>
                  <a:srgbClr val="76D7C4"/>
                </a:solidFill>
                <a:latin typeface="Consolas"/>
              </a:rPr>
              <a:t>ensemble</a:t>
            </a:r>
            <a:r>
              <a:rPr sz="1700" i="0">
                <a:solidFill>
                  <a:srgbClr val="E8EDF2"/>
                </a:solidFill>
                <a:latin typeface="Consolas"/>
              </a:rPr>
              <a:t> </a:t>
            </a:r>
            <a:r>
              <a:rPr sz="1700" i="0">
                <a:solidFill>
                  <a:srgbClr val="5DADE2"/>
                </a:solidFill>
                <a:latin typeface="Consolas"/>
              </a:rPr>
              <a:t>import</a:t>
            </a:r>
            <a:r>
              <a:rPr sz="1700" i="0">
                <a:solidFill>
                  <a:srgbClr val="E8EDF2"/>
                </a:solidFill>
                <a:latin typeface="Consolas"/>
              </a:rPr>
              <a:t> </a:t>
            </a:r>
            <a:r>
              <a:rPr sz="1700" i="0">
                <a:solidFill>
                  <a:srgbClr val="E8EDF2"/>
                </a:solidFill>
                <a:latin typeface="Consolas"/>
              </a:rPr>
              <a:t>IsolationForest</a:t>
            </a:r>
          </a:p>
          <a:p>
            <a:pPr>
              <a:lnSpc>
                <a:spcPct val="100000"/>
              </a:lnSpc>
              <a:spcAft>
                <a:spcPts val="0"/>
              </a:spcAft>
            </a:pPr>
            <a:r>
              <a:rPr sz="1700" i="0">
                <a:solidFill>
                  <a:srgbClr val="5DADE2"/>
                </a:solidFill>
                <a:latin typeface="Consolas"/>
              </a:rPr>
              <a:t>from</a:t>
            </a:r>
            <a:r>
              <a:rPr sz="1700" i="0">
                <a:solidFill>
                  <a:srgbClr val="E8EDF2"/>
                </a:solidFill>
                <a:latin typeface="Consolas"/>
              </a:rPr>
              <a:t> </a:t>
            </a:r>
            <a:r>
              <a:rPr sz="1700" i="0">
                <a:solidFill>
                  <a:srgbClr val="76D7C4"/>
                </a:solidFill>
                <a:latin typeface="Consolas"/>
              </a:rPr>
              <a:t>sklearn</a:t>
            </a:r>
            <a:r>
              <a:rPr sz="1700" i="0">
                <a:solidFill>
                  <a:srgbClr val="76D7C4"/>
                </a:solidFill>
                <a:latin typeface="Consolas"/>
              </a:rPr>
              <a:t>.</a:t>
            </a:r>
            <a:r>
              <a:rPr sz="1700" i="0">
                <a:solidFill>
                  <a:srgbClr val="76D7C4"/>
                </a:solidFill>
                <a:latin typeface="Consolas"/>
              </a:rPr>
              <a:t>metrics</a:t>
            </a:r>
            <a:r>
              <a:rPr sz="1700" i="0">
                <a:solidFill>
                  <a:srgbClr val="E8EDF2"/>
                </a:solidFill>
                <a:latin typeface="Consolas"/>
              </a:rPr>
              <a:t> </a:t>
            </a:r>
            <a:r>
              <a:rPr sz="1700" i="0">
                <a:solidFill>
                  <a:srgbClr val="5DADE2"/>
                </a:solidFill>
                <a:latin typeface="Consolas"/>
              </a:rPr>
              <a:t>import</a:t>
            </a:r>
            <a:r>
              <a:rPr sz="1700" i="0">
                <a:solidFill>
                  <a:srgbClr val="E8EDF2"/>
                </a:solidFill>
                <a:latin typeface="Consolas"/>
              </a:rPr>
              <a:t> </a:t>
            </a:r>
            <a:r>
              <a:rPr sz="1700" i="0">
                <a:solidFill>
                  <a:srgbClr val="E8EDF2"/>
                </a:solidFill>
                <a:latin typeface="Consolas"/>
              </a:rPr>
              <a:t>silhouette_score</a:t>
            </a:r>
          </a:p>
          <a:p>
            <a:pPr>
              <a:lnSpc>
                <a:spcPct val="100000"/>
              </a:lnSpc>
              <a:spcAft>
                <a:spcPts val="0"/>
              </a:spcAft>
            </a:pPr>
            <a:r>
              <a:rPr sz="1700">
                <a:latin typeface="Consolas"/>
              </a:rPr>
              <a:t> </a:t>
            </a:r>
          </a:p>
          <a:p>
            <a:pPr>
              <a:lnSpc>
                <a:spcPct val="100000"/>
              </a:lnSpc>
              <a:spcAft>
                <a:spcPts val="0"/>
              </a:spcAft>
            </a:pPr>
            <a:r>
              <a:rPr sz="1700" i="0">
                <a:solidFill>
                  <a:srgbClr val="E8EDF2"/>
                </a:solidFill>
                <a:latin typeface="Consolas"/>
              </a:rPr>
              <a:t>Xs</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StandardScaler</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fit_transform</a:t>
            </a:r>
            <a:r>
              <a:rPr sz="1700" i="0">
                <a:solidFill>
                  <a:srgbClr val="AEB6BF"/>
                </a:solidFill>
                <a:latin typeface="Consolas"/>
              </a:rPr>
              <a:t>(</a:t>
            </a:r>
            <a:r>
              <a:rPr sz="1700" i="0">
                <a:solidFill>
                  <a:srgbClr val="E8EDF2"/>
                </a:solidFill>
                <a:latin typeface="Consolas"/>
              </a:rPr>
              <a:t>X</a:t>
            </a:r>
            <a:r>
              <a:rPr sz="1700" i="0">
                <a:solidFill>
                  <a:srgbClr val="AEB6BF"/>
                </a:solidFill>
                <a:latin typeface="Consolas"/>
              </a:rPr>
              <a:t>)</a:t>
            </a:r>
            <a:r>
              <a:rPr sz="1700" i="0">
                <a:solidFill>
                  <a:srgbClr val="E8EDF2"/>
                </a:solidFill>
                <a:latin typeface="Consolas"/>
              </a:rPr>
              <a:t>      </a:t>
            </a:r>
            <a:r>
              <a:rPr sz="1700" i="1">
                <a:solidFill>
                  <a:srgbClr val="8795A1"/>
                </a:solidFill>
                <a:latin typeface="Consolas"/>
              </a:rPr>
              <a:t># MANDATORY -- clustering is distance</a:t>
            </a:r>
          </a:p>
        </p:txBody>
      </p:sp>
      <p:sp>
        <p:nvSpPr>
          <p:cNvPr id="15" name="!!code-num"/>
          <p:cNvSpPr txBox="1"/>
          <p:nvPr/>
        </p:nvSpPr>
        <p:spPr>
          <a:xfrm>
            <a:off x="768096" y="2523744"/>
            <a:ext cx="393192" cy="2182368"/>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1</a:t>
            </a:r>
          </a:p>
          <a:p>
            <a:pPr algn="r">
              <a:lnSpc>
                <a:spcPct val="100000"/>
              </a:lnSpc>
            </a:pPr>
            <a:r>
              <a:rPr sz="1700">
                <a:solidFill>
                  <a:srgbClr val="4F5D6A"/>
                </a:solidFill>
                <a:latin typeface="Consolas"/>
              </a:rPr>
              <a:t>2</a:t>
            </a:r>
          </a:p>
          <a:p>
            <a:pPr algn="r">
              <a:lnSpc>
                <a:spcPct val="100000"/>
              </a:lnSpc>
            </a:pPr>
            <a:r>
              <a:rPr sz="1700">
                <a:solidFill>
                  <a:srgbClr val="4F5D6A"/>
                </a:solidFill>
                <a:latin typeface="Consolas"/>
              </a:rPr>
              <a:t>3</a:t>
            </a:r>
          </a:p>
          <a:p>
            <a:pPr algn="r">
              <a:lnSpc>
                <a:spcPct val="100000"/>
              </a:lnSpc>
            </a:pPr>
            <a:r>
              <a:rPr sz="1700">
                <a:solidFill>
                  <a:srgbClr val="4F5D6A"/>
                </a:solidFill>
                <a:latin typeface="Consolas"/>
              </a:rPr>
              <a:t>4</a:t>
            </a:r>
          </a:p>
          <a:p>
            <a:pPr algn="r">
              <a:lnSpc>
                <a:spcPct val="100000"/>
              </a:lnSpc>
            </a:pPr>
            <a:r>
              <a:rPr sz="1700">
                <a:solidFill>
                  <a:srgbClr val="4F5D6A"/>
                </a:solidFill>
                <a:latin typeface="Consolas"/>
              </a:rPr>
              <a:t>5</a:t>
            </a:r>
          </a:p>
          <a:p>
            <a:pPr algn="r">
              <a:lnSpc>
                <a:spcPct val="100000"/>
              </a:lnSpc>
            </a:pPr>
            <a:r>
              <a:rPr sz="1700">
                <a:solidFill>
                  <a:srgbClr val="4F5D6A"/>
                </a:solidFill>
                <a:latin typeface="Consolas"/>
              </a:rPr>
              <a:t>6</a:t>
            </a:r>
          </a:p>
          <a:p>
            <a:pPr algn="r">
              <a:lnSpc>
                <a:spcPct val="100000"/>
              </a:lnSpc>
            </a:pPr>
            <a:r>
              <a:rPr sz="1700">
                <a:solidFill>
                  <a:srgbClr val="4F5D6A"/>
                </a:solidFill>
                <a:latin typeface="Consolas"/>
              </a:rPr>
              <a:t>7</a:t>
            </a:r>
          </a:p>
          <a:p>
            <a:pPr algn="r">
              <a:lnSpc>
                <a:spcPct val="100000"/>
              </a:lnSpc>
            </a:pPr>
            <a:r>
              <a:rPr sz="1700">
                <a:solidFill>
                  <a:srgbClr val="4F5D6A"/>
                </a:solidFill>
                <a:latin typeface="Consolas"/>
              </a:rPr>
              <a:t>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0072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Cluster, Reduce, Detect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§16.5  ·  Handout p. 104     </a:t>
            </a:r>
            <a:fld id="{BB4ACB16-F601-4C11-8EA7-9B183EF0D2C6}"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Choose k by silhouette, not by eye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56944"/>
          </a:xfrm>
          <a:prstGeom prst="roundRect">
            <a:avLst>
              <a:gd name="adj" fmla="val 62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choose k by silhouette, not by eye -------------------------------- for k in range(2, 9): km = KMeans(n_clusters=k, n_init=10, random_state=0).fit(Xs) print(f&quot;k={k} inertia={km.inertia_:9.1f} silhouette={silhouette_score(Xs, km.labels_):.3f}&quot;)"/>
          <p:cNvSpPr txBox="1"/>
          <p:nvPr/>
        </p:nvSpPr>
        <p:spPr>
          <a:xfrm>
            <a:off x="1362456" y="2523744"/>
            <a:ext cx="9987991" cy="963168"/>
          </a:xfrm>
          <a:prstGeom prst="rect">
            <a:avLst/>
          </a:prstGeom>
          <a:noFill/>
        </p:spPr>
        <p:txBody>
          <a:bodyPr wrap="none" anchor="t" lIns="0" rIns="0" tIns="0" bIns="0">
            <a:noAutofit/>
          </a:bodyPr>
          <a:lstStyle/>
          <a:p>
            <a:pPr>
              <a:lnSpc>
                <a:spcPct val="100000"/>
              </a:lnSpc>
              <a:spcAft>
                <a:spcPts val="0"/>
              </a:spcAft>
            </a:pPr>
            <a:r>
              <a:rPr sz="1400" i="1">
                <a:solidFill>
                  <a:srgbClr val="8795A1"/>
                </a:solidFill>
                <a:latin typeface="Consolas"/>
              </a:rPr>
              <a:t># --- choose k by silhouette, not by eye --------------------------------</a:t>
            </a:r>
          </a:p>
          <a:p>
            <a:pPr>
              <a:lnSpc>
                <a:spcPct val="100000"/>
              </a:lnSpc>
              <a:spcAft>
                <a:spcPts val="0"/>
              </a:spcAft>
            </a:pP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k</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C39BD3"/>
                </a:solidFill>
                <a:latin typeface="Consolas"/>
              </a:rPr>
              <a:t>range</a:t>
            </a:r>
            <a:r>
              <a:rPr sz="1400" i="0">
                <a:solidFill>
                  <a:srgbClr val="AEB6BF"/>
                </a:solidFill>
                <a:latin typeface="Consolas"/>
              </a:rPr>
              <a:t>(</a:t>
            </a:r>
            <a:r>
              <a:rPr sz="1400" i="0">
                <a:solidFill>
                  <a:srgbClr val="F7DC6F"/>
                </a:solidFill>
                <a:latin typeface="Consolas"/>
              </a:rPr>
              <a:t>2</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9</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km</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KMeans</a:t>
            </a:r>
            <a:r>
              <a:rPr sz="1400" i="0">
                <a:solidFill>
                  <a:srgbClr val="AEB6BF"/>
                </a:solidFill>
                <a:latin typeface="Consolas"/>
              </a:rPr>
              <a:t>(</a:t>
            </a:r>
            <a:r>
              <a:rPr sz="1400" i="0">
                <a:solidFill>
                  <a:srgbClr val="E8EDF2"/>
                </a:solidFill>
                <a:latin typeface="Consolas"/>
              </a:rPr>
              <a:t>n_clusters</a:t>
            </a:r>
            <a:r>
              <a:rPr sz="1400" i="0">
                <a:solidFill>
                  <a:srgbClr val="AEB6BF"/>
                </a:solidFill>
                <a:latin typeface="Consolas"/>
              </a:rPr>
              <a:t>=</a:t>
            </a:r>
            <a:r>
              <a:rPr sz="1400" i="0">
                <a:solidFill>
                  <a:srgbClr val="E8EDF2"/>
                </a:solidFill>
                <a:latin typeface="Consolas"/>
              </a:rPr>
              <a:t>k</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n_init</a:t>
            </a:r>
            <a:r>
              <a:rPr sz="1400" i="0">
                <a:solidFill>
                  <a:srgbClr val="AEB6BF"/>
                </a:solidFill>
                <a:latin typeface="Consolas"/>
              </a:rPr>
              <a:t>=</a:t>
            </a:r>
            <a:r>
              <a:rPr sz="1400" i="0">
                <a:solidFill>
                  <a:srgbClr val="F7DC6F"/>
                </a:solidFill>
                <a:latin typeface="Consolas"/>
              </a:rPr>
              <a:t>10</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random_state</a:t>
            </a:r>
            <a:r>
              <a:rPr sz="1400" i="0">
                <a:solidFill>
                  <a:srgbClr val="AEB6BF"/>
                </a:solidFill>
                <a:latin typeface="Consolas"/>
              </a:rPr>
              <a:t>=</a:t>
            </a:r>
            <a:r>
              <a:rPr sz="1400" i="0">
                <a:solidFill>
                  <a:srgbClr val="F7DC6F"/>
                </a:solidFill>
                <a:latin typeface="Consolas"/>
              </a:rPr>
              <a:t>0</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fit</a:t>
            </a:r>
            <a:r>
              <a:rPr sz="1400" i="0">
                <a:solidFill>
                  <a:srgbClr val="AEB6BF"/>
                </a:solidFill>
                <a:latin typeface="Consolas"/>
              </a:rPr>
              <a:t>(</a:t>
            </a:r>
            <a:r>
              <a:rPr sz="1400" i="0">
                <a:solidFill>
                  <a:srgbClr val="E8EDF2"/>
                </a:solidFill>
                <a:latin typeface="Consolas"/>
              </a:rPr>
              <a:t>Xs</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f</a:t>
            </a:r>
            <a:r>
              <a:rPr sz="1400" i="0">
                <a:solidFill>
                  <a:srgbClr val="7DCEA0"/>
                </a:solidFill>
                <a:latin typeface="Consolas"/>
              </a:rPr>
              <a:t>"</a:t>
            </a:r>
            <a:r>
              <a:rPr sz="1400" i="0">
                <a:solidFill>
                  <a:srgbClr val="7DCEA0"/>
                </a:solidFill>
                <a:latin typeface="Consolas"/>
              </a:rPr>
              <a:t>k=</a:t>
            </a:r>
            <a:r>
              <a:rPr sz="1400" i="0">
                <a:solidFill>
                  <a:srgbClr val="7DCEA0"/>
                </a:solidFill>
                <a:latin typeface="Consolas"/>
              </a:rPr>
              <a:t>{</a:t>
            </a:r>
            <a:r>
              <a:rPr sz="1400" i="0">
                <a:solidFill>
                  <a:srgbClr val="E8EDF2"/>
                </a:solidFill>
                <a:latin typeface="Consolas"/>
              </a:rPr>
              <a:t>k</a:t>
            </a:r>
            <a:r>
              <a:rPr sz="1400" i="0">
                <a:solidFill>
                  <a:srgbClr val="7DCEA0"/>
                </a:solidFill>
                <a:latin typeface="Consolas"/>
              </a:rPr>
              <a:t>}</a:t>
            </a:r>
            <a:r>
              <a:rPr sz="1400" i="0">
                <a:solidFill>
                  <a:srgbClr val="7DCEA0"/>
                </a:solidFill>
                <a:latin typeface="Consolas"/>
              </a:rPr>
              <a:t>  inertia=</a:t>
            </a:r>
            <a:r>
              <a:rPr sz="1400" i="0">
                <a:solidFill>
                  <a:srgbClr val="7DCEA0"/>
                </a:solidFill>
                <a:latin typeface="Consolas"/>
              </a:rPr>
              <a:t>{</a:t>
            </a:r>
            <a:r>
              <a:rPr sz="1400" i="0">
                <a:solidFill>
                  <a:srgbClr val="E8EDF2"/>
                </a:solidFill>
                <a:latin typeface="Consolas"/>
              </a:rPr>
              <a:t>km</a:t>
            </a:r>
            <a:r>
              <a:rPr sz="1400" i="0">
                <a:solidFill>
                  <a:srgbClr val="AEB6BF"/>
                </a:solidFill>
                <a:latin typeface="Consolas"/>
              </a:rPr>
              <a:t>.</a:t>
            </a:r>
            <a:r>
              <a:rPr sz="1400" i="0">
                <a:solidFill>
                  <a:srgbClr val="E8EDF2"/>
                </a:solidFill>
                <a:latin typeface="Consolas"/>
              </a:rPr>
              <a:t>inertia_</a:t>
            </a:r>
            <a:r>
              <a:rPr sz="1400" i="0">
                <a:solidFill>
                  <a:srgbClr val="7DCEA0"/>
                </a:solidFill>
                <a:latin typeface="Consolas"/>
              </a:rPr>
              <a:t>:</a:t>
            </a:r>
            <a:r>
              <a:rPr sz="1400" i="0">
                <a:solidFill>
                  <a:srgbClr val="7DCEA0"/>
                </a:solidFill>
                <a:latin typeface="Consolas"/>
              </a:rPr>
              <a:t>9.1f</a:t>
            </a:r>
            <a:r>
              <a:rPr sz="1400" i="0">
                <a:solidFill>
                  <a:srgbClr val="7DCEA0"/>
                </a:solidFill>
                <a:latin typeface="Consolas"/>
              </a:rPr>
              <a:t>}</a:t>
            </a:r>
            <a:r>
              <a:rPr sz="1400" i="0">
                <a:solidFill>
                  <a:srgbClr val="7DCEA0"/>
                </a:solidFill>
                <a:latin typeface="Consolas"/>
              </a:rPr>
              <a:t>  silhouette=</a:t>
            </a:r>
            <a:r>
              <a:rPr sz="1400" i="0">
                <a:solidFill>
                  <a:srgbClr val="7DCEA0"/>
                </a:solidFill>
                <a:latin typeface="Consolas"/>
              </a:rPr>
              <a:t>{</a:t>
            </a:r>
            <a:r>
              <a:rPr sz="1400" i="0">
                <a:solidFill>
                  <a:srgbClr val="E8EDF2"/>
                </a:solidFill>
                <a:latin typeface="Consolas"/>
              </a:rPr>
              <a:t>silhouette_score</a:t>
            </a:r>
            <a:r>
              <a:rPr sz="1400" i="0">
                <a:solidFill>
                  <a:srgbClr val="AEB6BF"/>
                </a:solidFill>
                <a:latin typeface="Consolas"/>
              </a:rPr>
              <a:t>(</a:t>
            </a:r>
            <a:r>
              <a:rPr sz="1400" i="0">
                <a:solidFill>
                  <a:srgbClr val="E8EDF2"/>
                </a:solidFill>
                <a:latin typeface="Consolas"/>
              </a:rPr>
              <a:t>Xs</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km</a:t>
            </a:r>
            <a:r>
              <a:rPr sz="1400" i="0">
                <a:solidFill>
                  <a:srgbClr val="AEB6BF"/>
                </a:solidFill>
                <a:latin typeface="Consolas"/>
              </a:rPr>
              <a:t>.</a:t>
            </a:r>
            <a:r>
              <a:rPr sz="1400" i="0">
                <a:solidFill>
                  <a:srgbClr val="E8EDF2"/>
                </a:solidFill>
                <a:latin typeface="Consolas"/>
              </a:rPr>
              <a:t>labels_</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.3f</a:t>
            </a:r>
            <a:r>
              <a:rPr sz="1400" i="0">
                <a:solidFill>
                  <a:srgbClr val="7DCEA0"/>
                </a:solidFill>
                <a:latin typeface="Consolas"/>
              </a:rPr>
              <a:t>}</a:t>
            </a:r>
            <a:r>
              <a:rPr sz="1400" i="0">
                <a:solidFill>
                  <a:srgbClr val="7DCEA0"/>
                </a:solidFill>
                <a:latin typeface="Consolas"/>
              </a:rPr>
              <a:t>"</a:t>
            </a:r>
            <a:r>
              <a:rPr sz="1400" i="0">
                <a:solidFill>
                  <a:srgbClr val="AEB6BF"/>
                </a:solidFill>
                <a:latin typeface="Consolas"/>
              </a:rPr>
              <a:t>)</a:t>
            </a:r>
          </a:p>
        </p:txBody>
      </p:sp>
      <p:sp>
        <p:nvSpPr>
          <p:cNvPr id="15" name="!!code-num"/>
          <p:cNvSpPr txBox="1"/>
          <p:nvPr/>
        </p:nvSpPr>
        <p:spPr>
          <a:xfrm>
            <a:off x="768096" y="2523744"/>
            <a:ext cx="393192" cy="963168"/>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9</a:t>
            </a:r>
          </a:p>
          <a:p>
            <a:pPr algn="r">
              <a:lnSpc>
                <a:spcPct val="100000"/>
              </a:lnSpc>
            </a:pPr>
            <a:r>
              <a:rPr sz="1400">
                <a:solidFill>
                  <a:srgbClr val="4F5D6A"/>
                </a:solidFill>
                <a:latin typeface="Consolas"/>
              </a:rPr>
              <a:t>10</a:t>
            </a:r>
          </a:p>
          <a:p>
            <a:pPr algn="r">
              <a:lnSpc>
                <a:spcPct val="100000"/>
              </a:lnSpc>
            </a:pPr>
            <a:r>
              <a:rPr sz="1400">
                <a:solidFill>
                  <a:srgbClr val="4F5D6A"/>
                </a:solidFill>
                <a:latin typeface="Consolas"/>
              </a:rPr>
              <a:t>11</a:t>
            </a:r>
          </a:p>
          <a:p>
            <a:pPr algn="r">
              <a:lnSpc>
                <a:spcPct val="100000"/>
              </a:lnSpc>
            </a:pPr>
            <a:r>
              <a:rPr sz="1400">
                <a:solidFill>
                  <a:srgbClr val="4F5D6A"/>
                </a:solidFill>
                <a:latin typeface="Consolas"/>
              </a:rPr>
              <a:t>12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6012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Cluster, Reduce, Detect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§16.5  ·  Handout p. 104     </a:t>
            </a:r>
            <a:fld id="{A76517DF-E247-4871-A4FD-88EBE4D4A78E}"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Stability check: do the clusters survive resampling?</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066543"/>
          </a:xfrm>
          <a:prstGeom prst="roundRect">
            <a:avLst>
              <a:gd name="adj" fmla="val 442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stability check: do the clusters survive resampling? -------------- rng = np.random.default_rng(0) for _ in range(3): idx = rng.choice(len(Xs), size=int(0.8*len(Xs)), replace=False) km2 = KMeans(n_clusters=4, n_init=10, random_state=0).fit(Xs[idx]) print(&quot; subsample silhouette:&quot;, round(silhouette_score(Xs[idx], km2.labels_), 3))"/>
          <p:cNvSpPr txBox="1"/>
          <p:nvPr/>
        </p:nvSpPr>
        <p:spPr>
          <a:xfrm>
            <a:off x="1362456" y="2523744"/>
            <a:ext cx="9987991" cy="1572768"/>
          </a:xfrm>
          <a:prstGeom prst="rect">
            <a:avLst/>
          </a:prstGeom>
          <a:noFill/>
        </p:spPr>
        <p:txBody>
          <a:bodyPr wrap="none" anchor="t" lIns="0" rIns="0" tIns="0" bIns="0">
            <a:noAutofit/>
          </a:bodyPr>
          <a:lstStyle/>
          <a:p>
            <a:pPr>
              <a:lnSpc>
                <a:spcPct val="100000"/>
              </a:lnSpc>
              <a:spcAft>
                <a:spcPts val="0"/>
              </a:spcAft>
            </a:pPr>
            <a:r>
              <a:rPr sz="1600" i="1">
                <a:solidFill>
                  <a:srgbClr val="8795A1"/>
                </a:solidFill>
                <a:latin typeface="Consolas"/>
              </a:rPr>
              <a:t># --- stability check: do the clusters survive resampling? --------------</a:t>
            </a:r>
          </a:p>
          <a:p>
            <a:pPr>
              <a:lnSpc>
                <a:spcPct val="100000"/>
              </a:lnSpc>
              <a:spcAft>
                <a:spcPts val="0"/>
              </a:spcAft>
            </a:pPr>
            <a:r>
              <a:rPr sz="1600" i="0">
                <a:solidFill>
                  <a:srgbClr val="E8EDF2"/>
                </a:solidFill>
                <a:latin typeface="Consolas"/>
              </a:rPr>
              <a:t>rng</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np</a:t>
            </a:r>
            <a:r>
              <a:rPr sz="1600" i="0">
                <a:solidFill>
                  <a:srgbClr val="AEB6BF"/>
                </a:solidFill>
                <a:latin typeface="Consolas"/>
              </a:rPr>
              <a:t>.</a:t>
            </a:r>
            <a:r>
              <a:rPr sz="1600" i="0">
                <a:solidFill>
                  <a:srgbClr val="E8EDF2"/>
                </a:solidFill>
                <a:latin typeface="Consolas"/>
              </a:rPr>
              <a:t>random</a:t>
            </a:r>
            <a:r>
              <a:rPr sz="1600" i="0">
                <a:solidFill>
                  <a:srgbClr val="AEB6BF"/>
                </a:solidFill>
                <a:latin typeface="Consolas"/>
              </a:rPr>
              <a:t>.</a:t>
            </a:r>
            <a:r>
              <a:rPr sz="1600" i="0">
                <a:solidFill>
                  <a:srgbClr val="E8EDF2"/>
                </a:solidFill>
                <a:latin typeface="Consolas"/>
              </a:rPr>
              <a:t>default_rng</a:t>
            </a:r>
            <a:r>
              <a:rPr sz="1600" i="0">
                <a:solidFill>
                  <a:srgbClr val="AEB6BF"/>
                </a:solidFill>
                <a:latin typeface="Consolas"/>
              </a:rPr>
              <a:t>(</a:t>
            </a:r>
            <a:r>
              <a:rPr sz="1600" i="0">
                <a:solidFill>
                  <a:srgbClr val="F7DC6F"/>
                </a:solidFill>
                <a:latin typeface="Consolas"/>
              </a:rPr>
              <a:t>0</a:t>
            </a:r>
            <a:r>
              <a:rPr sz="1600" i="0">
                <a:solidFill>
                  <a:srgbClr val="AEB6BF"/>
                </a:solidFill>
                <a:latin typeface="Consolas"/>
              </a:rPr>
              <a:t>)</a:t>
            </a:r>
          </a:p>
          <a:p>
            <a:pPr>
              <a:lnSpc>
                <a:spcPct val="100000"/>
              </a:lnSpc>
              <a:spcAft>
                <a:spcPts val="0"/>
              </a:spcAft>
            </a:pPr>
            <a:r>
              <a:rPr sz="1600" i="0">
                <a:solidFill>
                  <a:srgbClr val="5DADE2"/>
                </a:solidFill>
                <a:latin typeface="Consolas"/>
              </a:rPr>
              <a:t>for</a:t>
            </a:r>
            <a:r>
              <a:rPr sz="1600" i="0">
                <a:solidFill>
                  <a:srgbClr val="E8EDF2"/>
                </a:solidFill>
                <a:latin typeface="Consolas"/>
              </a:rPr>
              <a:t> </a:t>
            </a:r>
            <a:r>
              <a:rPr sz="1600" i="0">
                <a:solidFill>
                  <a:srgbClr val="E8EDF2"/>
                </a:solidFill>
                <a:latin typeface="Consolas"/>
              </a:rPr>
              <a:t>_</a:t>
            </a:r>
            <a:r>
              <a:rPr sz="1600" i="0">
                <a:solidFill>
                  <a:srgbClr val="E8EDF2"/>
                </a:solidFill>
                <a:latin typeface="Consolas"/>
              </a:rPr>
              <a:t> </a:t>
            </a:r>
            <a:r>
              <a:rPr sz="1600" i="0">
                <a:solidFill>
                  <a:srgbClr val="AEB6BF"/>
                </a:solidFill>
                <a:latin typeface="Consolas"/>
              </a:rPr>
              <a:t>in</a:t>
            </a:r>
            <a:r>
              <a:rPr sz="1600" i="0">
                <a:solidFill>
                  <a:srgbClr val="E8EDF2"/>
                </a:solidFill>
                <a:latin typeface="Consolas"/>
              </a:rPr>
              <a:t> </a:t>
            </a:r>
            <a:r>
              <a:rPr sz="1600" i="0">
                <a:solidFill>
                  <a:srgbClr val="C39BD3"/>
                </a:solidFill>
                <a:latin typeface="Consolas"/>
              </a:rPr>
              <a:t>range</a:t>
            </a:r>
            <a:r>
              <a:rPr sz="1600" i="0">
                <a:solidFill>
                  <a:srgbClr val="AEB6BF"/>
                </a:solidFill>
                <a:latin typeface="Consolas"/>
              </a:rPr>
              <a:t>(</a:t>
            </a:r>
            <a:r>
              <a:rPr sz="1600" i="0">
                <a:solidFill>
                  <a:srgbClr val="F7DC6F"/>
                </a:solidFill>
                <a:latin typeface="Consolas"/>
              </a:rPr>
              <a:t>3</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idx</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rng</a:t>
            </a:r>
            <a:r>
              <a:rPr sz="1600" i="0">
                <a:solidFill>
                  <a:srgbClr val="AEB6BF"/>
                </a:solidFill>
                <a:latin typeface="Consolas"/>
              </a:rPr>
              <a:t>.</a:t>
            </a:r>
            <a:r>
              <a:rPr sz="1600" i="0">
                <a:solidFill>
                  <a:srgbClr val="E8EDF2"/>
                </a:solidFill>
                <a:latin typeface="Consolas"/>
              </a:rPr>
              <a:t>choice</a:t>
            </a:r>
            <a:r>
              <a:rPr sz="1600" i="0">
                <a:solidFill>
                  <a:srgbClr val="AEB6BF"/>
                </a:solidFill>
                <a:latin typeface="Consolas"/>
              </a:rPr>
              <a:t>(</a:t>
            </a:r>
            <a:r>
              <a:rPr sz="1600" i="0">
                <a:solidFill>
                  <a:srgbClr val="C39BD3"/>
                </a:solidFill>
                <a:latin typeface="Consolas"/>
              </a:rPr>
              <a:t>len</a:t>
            </a:r>
            <a:r>
              <a:rPr sz="1600" i="0">
                <a:solidFill>
                  <a:srgbClr val="AEB6BF"/>
                </a:solidFill>
                <a:latin typeface="Consolas"/>
              </a:rPr>
              <a:t>(</a:t>
            </a:r>
            <a:r>
              <a:rPr sz="1600" i="0">
                <a:solidFill>
                  <a:srgbClr val="E8EDF2"/>
                </a:solidFill>
                <a:latin typeface="Consolas"/>
              </a:rPr>
              <a:t>Xs</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size</a:t>
            </a:r>
            <a:r>
              <a:rPr sz="1600" i="0">
                <a:solidFill>
                  <a:srgbClr val="AEB6BF"/>
                </a:solidFill>
                <a:latin typeface="Consolas"/>
              </a:rPr>
              <a:t>=</a:t>
            </a:r>
            <a:r>
              <a:rPr sz="1600" i="0">
                <a:solidFill>
                  <a:srgbClr val="C39BD3"/>
                </a:solidFill>
                <a:latin typeface="Consolas"/>
              </a:rPr>
              <a:t>int</a:t>
            </a:r>
            <a:r>
              <a:rPr sz="1600" i="0">
                <a:solidFill>
                  <a:srgbClr val="AEB6BF"/>
                </a:solidFill>
                <a:latin typeface="Consolas"/>
              </a:rPr>
              <a:t>(</a:t>
            </a:r>
            <a:r>
              <a:rPr sz="1600" i="0">
                <a:solidFill>
                  <a:srgbClr val="F7DC6F"/>
                </a:solidFill>
                <a:latin typeface="Consolas"/>
              </a:rPr>
              <a:t>0.8</a:t>
            </a:r>
            <a:r>
              <a:rPr sz="1600" i="0">
                <a:solidFill>
                  <a:srgbClr val="AEB6BF"/>
                </a:solidFill>
                <a:latin typeface="Consolas"/>
              </a:rPr>
              <a:t>*</a:t>
            </a:r>
            <a:r>
              <a:rPr sz="1600" i="0">
                <a:solidFill>
                  <a:srgbClr val="C39BD3"/>
                </a:solidFill>
                <a:latin typeface="Consolas"/>
              </a:rPr>
              <a:t>len</a:t>
            </a:r>
            <a:r>
              <a:rPr sz="1600" i="0">
                <a:solidFill>
                  <a:srgbClr val="AEB6BF"/>
                </a:solidFill>
                <a:latin typeface="Consolas"/>
              </a:rPr>
              <a:t>(</a:t>
            </a:r>
            <a:r>
              <a:rPr sz="1600" i="0">
                <a:solidFill>
                  <a:srgbClr val="E8EDF2"/>
                </a:solidFill>
                <a:latin typeface="Consolas"/>
              </a:rPr>
              <a:t>Xs</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replace</a:t>
            </a:r>
            <a:r>
              <a:rPr sz="1600" i="0">
                <a:solidFill>
                  <a:srgbClr val="AEB6BF"/>
                </a:solidFill>
                <a:latin typeface="Consolas"/>
              </a:rPr>
              <a:t>=</a:t>
            </a:r>
            <a:r>
              <a:rPr sz="1600" i="0">
                <a:solidFill>
                  <a:srgbClr val="5DADE2"/>
                </a:solidFill>
                <a:latin typeface="Consolas"/>
              </a:rPr>
              <a:t>False</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km2</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KMeans</a:t>
            </a:r>
            <a:r>
              <a:rPr sz="1600" i="0">
                <a:solidFill>
                  <a:srgbClr val="AEB6BF"/>
                </a:solidFill>
                <a:latin typeface="Consolas"/>
              </a:rPr>
              <a:t>(</a:t>
            </a:r>
            <a:r>
              <a:rPr sz="1600" i="0">
                <a:solidFill>
                  <a:srgbClr val="E8EDF2"/>
                </a:solidFill>
                <a:latin typeface="Consolas"/>
              </a:rPr>
              <a:t>n_clusters</a:t>
            </a:r>
            <a:r>
              <a:rPr sz="1600" i="0">
                <a:solidFill>
                  <a:srgbClr val="AEB6BF"/>
                </a:solidFill>
                <a:latin typeface="Consolas"/>
              </a:rPr>
              <a:t>=</a:t>
            </a:r>
            <a:r>
              <a:rPr sz="1600" i="0">
                <a:solidFill>
                  <a:srgbClr val="F7DC6F"/>
                </a:solidFill>
                <a:latin typeface="Consolas"/>
              </a:rPr>
              <a:t>4</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n_init</a:t>
            </a:r>
            <a:r>
              <a:rPr sz="1600" i="0">
                <a:solidFill>
                  <a:srgbClr val="AEB6BF"/>
                </a:solidFill>
                <a:latin typeface="Consolas"/>
              </a:rPr>
              <a:t>=</a:t>
            </a:r>
            <a:r>
              <a:rPr sz="1600" i="0">
                <a:solidFill>
                  <a:srgbClr val="F7DC6F"/>
                </a:solidFill>
                <a:latin typeface="Consolas"/>
              </a:rPr>
              <a:t>10</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random_state</a:t>
            </a:r>
            <a:r>
              <a:rPr sz="1600" i="0">
                <a:solidFill>
                  <a:srgbClr val="AEB6BF"/>
                </a:solidFill>
                <a:latin typeface="Consolas"/>
              </a:rPr>
              <a:t>=</a:t>
            </a:r>
            <a:r>
              <a:rPr sz="1600" i="0">
                <a:solidFill>
                  <a:srgbClr val="F7DC6F"/>
                </a:solidFill>
                <a:latin typeface="Consolas"/>
              </a:rPr>
              <a:t>0</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fit</a:t>
            </a:r>
            <a:r>
              <a:rPr sz="1600" i="0">
                <a:solidFill>
                  <a:srgbClr val="AEB6BF"/>
                </a:solidFill>
                <a:latin typeface="Consolas"/>
              </a:rPr>
              <a:t>(</a:t>
            </a:r>
            <a:r>
              <a:rPr sz="1600" i="0">
                <a:solidFill>
                  <a:srgbClr val="E8EDF2"/>
                </a:solidFill>
                <a:latin typeface="Consolas"/>
              </a:rPr>
              <a:t>Xs</a:t>
            </a:r>
            <a:r>
              <a:rPr sz="1600" i="0">
                <a:solidFill>
                  <a:srgbClr val="AEB6BF"/>
                </a:solidFill>
                <a:latin typeface="Consolas"/>
              </a:rPr>
              <a:t>[</a:t>
            </a:r>
            <a:r>
              <a:rPr sz="1600" i="0">
                <a:solidFill>
                  <a:srgbClr val="E8EDF2"/>
                </a:solidFill>
                <a:latin typeface="Consolas"/>
              </a:rPr>
              <a:t>idx</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C39BD3"/>
                </a:solidFill>
                <a:latin typeface="Consolas"/>
              </a:rPr>
              <a:t>print</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  subsample silhouette:</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C39BD3"/>
                </a:solidFill>
                <a:latin typeface="Consolas"/>
              </a:rPr>
              <a:t>round</a:t>
            </a:r>
            <a:r>
              <a:rPr sz="1600" i="0">
                <a:solidFill>
                  <a:srgbClr val="AEB6BF"/>
                </a:solidFill>
                <a:latin typeface="Consolas"/>
              </a:rPr>
              <a:t>(</a:t>
            </a:r>
            <a:r>
              <a:rPr sz="1600" i="0">
                <a:solidFill>
                  <a:srgbClr val="E8EDF2"/>
                </a:solidFill>
                <a:latin typeface="Consolas"/>
              </a:rPr>
              <a:t>silhouette_score</a:t>
            </a:r>
            <a:r>
              <a:rPr sz="1600" i="0">
                <a:solidFill>
                  <a:srgbClr val="AEB6BF"/>
                </a:solidFill>
                <a:latin typeface="Consolas"/>
              </a:rPr>
              <a:t>(</a:t>
            </a:r>
            <a:r>
              <a:rPr sz="1600" i="0">
                <a:solidFill>
                  <a:srgbClr val="E8EDF2"/>
                </a:solidFill>
                <a:latin typeface="Consolas"/>
              </a:rPr>
              <a:t>Xs</a:t>
            </a:r>
            <a:r>
              <a:rPr sz="1600" i="0">
                <a:solidFill>
                  <a:srgbClr val="AEB6BF"/>
                </a:solidFill>
                <a:latin typeface="Consolas"/>
              </a:rPr>
              <a:t>[</a:t>
            </a:r>
            <a:r>
              <a:rPr sz="1600" i="0">
                <a:solidFill>
                  <a:srgbClr val="E8EDF2"/>
                </a:solidFill>
                <a:latin typeface="Consolas"/>
              </a:rPr>
              <a:t>idx</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km2</a:t>
            </a:r>
            <a:r>
              <a:rPr sz="1600" i="0">
                <a:solidFill>
                  <a:srgbClr val="AEB6BF"/>
                </a:solidFill>
                <a:latin typeface="Consolas"/>
              </a:rPr>
              <a:t>.</a:t>
            </a:r>
            <a:r>
              <a:rPr sz="1600" i="0">
                <a:solidFill>
                  <a:srgbClr val="E8EDF2"/>
                </a:solidFill>
                <a:latin typeface="Consolas"/>
              </a:rPr>
              <a:t>labels_</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F7DC6F"/>
                </a:solidFill>
                <a:latin typeface="Consolas"/>
              </a:rPr>
              <a:t>3</a:t>
            </a:r>
            <a:r>
              <a:rPr sz="1600" i="0">
                <a:solidFill>
                  <a:srgbClr val="AEB6BF"/>
                </a:solidFill>
                <a:latin typeface="Consolas"/>
              </a:rPr>
              <a:t>)</a:t>
            </a:r>
            <a:r>
              <a:rPr sz="1600" i="0">
                <a:solidFill>
                  <a:srgbClr val="AEB6BF"/>
                </a:solidFill>
                <a:latin typeface="Consolas"/>
              </a:rPr>
              <a:t>)</a:t>
            </a:r>
          </a:p>
        </p:txBody>
      </p:sp>
      <p:sp>
        <p:nvSpPr>
          <p:cNvPr id="15" name="!!code-num"/>
          <p:cNvSpPr txBox="1"/>
          <p:nvPr/>
        </p:nvSpPr>
        <p:spPr>
          <a:xfrm>
            <a:off x="768096" y="2523744"/>
            <a:ext cx="393192" cy="1572768"/>
          </a:xfrm>
          <a:prstGeom prst="rect">
            <a:avLst/>
          </a:prstGeom>
          <a:noFill/>
        </p:spPr>
        <p:txBody>
          <a:bodyPr wrap="none" anchor="t" lIns="0" rIns="0" tIns="0" bIns="0">
            <a:noAutofit/>
          </a:bodyPr>
          <a:lstStyle/>
          <a:p>
            <a:pPr algn="r">
              <a:lnSpc>
                <a:spcPct val="100000"/>
              </a:lnSpc>
            </a:pPr>
            <a:r>
              <a:rPr sz="1600">
                <a:solidFill>
                  <a:srgbClr val="4F5D6A"/>
                </a:solidFill>
                <a:latin typeface="Consolas"/>
              </a:rPr>
              <a:t>13</a:t>
            </a:r>
          </a:p>
          <a:p>
            <a:pPr algn="r">
              <a:lnSpc>
                <a:spcPct val="100000"/>
              </a:lnSpc>
            </a:pPr>
            <a:r>
              <a:rPr sz="1600">
                <a:solidFill>
                  <a:srgbClr val="4F5D6A"/>
                </a:solidFill>
                <a:latin typeface="Consolas"/>
              </a:rPr>
              <a:t>14</a:t>
            </a:r>
          </a:p>
          <a:p>
            <a:pPr algn="r">
              <a:lnSpc>
                <a:spcPct val="100000"/>
              </a:lnSpc>
            </a:pPr>
            <a:r>
              <a:rPr sz="1600">
                <a:solidFill>
                  <a:srgbClr val="4F5D6A"/>
                </a:solidFill>
                <a:latin typeface="Consolas"/>
              </a:rPr>
              <a:t>15</a:t>
            </a:r>
          </a:p>
          <a:p>
            <a:pPr algn="r">
              <a:lnSpc>
                <a:spcPct val="100000"/>
              </a:lnSpc>
            </a:pPr>
            <a:r>
              <a:rPr sz="1600">
                <a:solidFill>
                  <a:srgbClr val="4F5D6A"/>
                </a:solidFill>
                <a:latin typeface="Consolas"/>
              </a:rPr>
              <a:t>16</a:t>
            </a:r>
          </a:p>
          <a:p>
            <a:pPr algn="r">
              <a:lnSpc>
                <a:spcPct val="100000"/>
              </a:lnSpc>
            </a:pPr>
            <a:r>
              <a:rPr sz="1600">
                <a:solidFill>
                  <a:srgbClr val="4F5D6A"/>
                </a:solidFill>
                <a:latin typeface="Consolas"/>
              </a:rPr>
              <a:t>17</a:t>
            </a:r>
          </a:p>
          <a:p>
            <a:pPr algn="r">
              <a:lnSpc>
                <a:spcPct val="100000"/>
              </a:lnSpc>
            </a:pPr>
            <a:r>
              <a:rPr sz="1600">
                <a:solidFill>
                  <a:srgbClr val="4F5D6A"/>
                </a:solidFill>
                <a:latin typeface="Consolas"/>
              </a:rPr>
              <a:t>18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81952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Cluster, Reduce, Detect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§16.5  ·  Handout p. 104     </a:t>
            </a:r>
            <a:fld id="{1ECB5C0B-79B9-4D05-95FF-543E55A5AF71}" type="slidenum">
              <a:rPr lang="en-GB" sz="1000">
                <a:solidFill>
                  <a:srgbClr val="8795A1"/>
                </a:solidFill>
                <a:latin typeface="Segoe UI"/>
              </a:rPr>
              <a:t>35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PCA for visualisation and for the scree plot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00784"/>
          </a:xfrm>
          <a:prstGeom prst="roundRect">
            <a:avLst>
              <a:gd name="adj" fmla="val 53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PCA for visualisation and for the scree plot ---------------------- p = PCA().fit(Xs) print(&quot;variance explained:&quot;, (p.explained_variance_ratio_[:5]*100).round(1)) proj = PCA(n_components=2).fit_transform(Xs)"/>
          <p:cNvSpPr txBox="1"/>
          <p:nvPr/>
        </p:nvSpPr>
        <p:spPr>
          <a:xfrm>
            <a:off x="1362456" y="2523744"/>
            <a:ext cx="9987991" cy="120700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PCA for visualisation and for the scree plot ----------------------</a:t>
            </a:r>
          </a:p>
          <a:p>
            <a:pPr>
              <a:lnSpc>
                <a:spcPct val="100000"/>
              </a:lnSpc>
              <a:spcAft>
                <a:spcPts val="0"/>
              </a:spcAft>
            </a:pPr>
            <a:r>
              <a:rPr sz="1800" i="0">
                <a:solidFill>
                  <a:srgbClr val="E8EDF2"/>
                </a:solidFill>
                <a:latin typeface="Consolas"/>
              </a:rPr>
              <a:t>p</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PCA</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fit</a:t>
            </a:r>
            <a:r>
              <a:rPr sz="1800" i="0">
                <a:solidFill>
                  <a:srgbClr val="AEB6BF"/>
                </a:solidFill>
                <a:latin typeface="Consolas"/>
              </a:rPr>
              <a:t>(</a:t>
            </a:r>
            <a:r>
              <a:rPr sz="1800" i="0">
                <a:solidFill>
                  <a:srgbClr val="E8EDF2"/>
                </a:solidFill>
                <a:latin typeface="Consolas"/>
              </a:rPr>
              <a:t>Xs</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variance explained:</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p</a:t>
            </a:r>
            <a:r>
              <a:rPr sz="1800" i="0">
                <a:solidFill>
                  <a:srgbClr val="AEB6BF"/>
                </a:solidFill>
                <a:latin typeface="Consolas"/>
              </a:rPr>
              <a:t>.</a:t>
            </a:r>
            <a:r>
              <a:rPr sz="1800" i="0">
                <a:solidFill>
                  <a:srgbClr val="E8EDF2"/>
                </a:solidFill>
                <a:latin typeface="Consolas"/>
              </a:rPr>
              <a:t>explained_variance_ratio_</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5</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100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round</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proj</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PCA</a:t>
            </a:r>
            <a:r>
              <a:rPr sz="1800" i="0">
                <a:solidFill>
                  <a:srgbClr val="AEB6BF"/>
                </a:solidFill>
                <a:latin typeface="Consolas"/>
              </a:rPr>
              <a:t>(</a:t>
            </a:r>
            <a:r>
              <a:rPr sz="1800" i="0">
                <a:solidFill>
                  <a:srgbClr val="E8EDF2"/>
                </a:solidFill>
                <a:latin typeface="Consolas"/>
              </a:rPr>
              <a:t>n_components</a:t>
            </a:r>
            <a:r>
              <a:rPr sz="1800" i="0">
                <a:solidFill>
                  <a:srgbClr val="AEB6BF"/>
                </a:solidFill>
                <a:latin typeface="Consolas"/>
              </a:rPr>
              <a:t>=</a:t>
            </a:r>
            <a:r>
              <a:rPr sz="1800" i="0">
                <a:solidFill>
                  <a:srgbClr val="F7DC6F"/>
                </a:solidFill>
                <a:latin typeface="Consolas"/>
              </a:rPr>
              <a:t>2</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fit_transform</a:t>
            </a:r>
            <a:r>
              <a:rPr sz="1800" i="0">
                <a:solidFill>
                  <a:srgbClr val="AEB6BF"/>
                </a:solidFill>
                <a:latin typeface="Consolas"/>
              </a:rPr>
              <a:t>(</a:t>
            </a:r>
            <a:r>
              <a:rPr sz="1800" i="0">
                <a:solidFill>
                  <a:srgbClr val="E8EDF2"/>
                </a:solidFill>
                <a:latin typeface="Consolas"/>
              </a:rPr>
              <a:t>Xs</a:t>
            </a:r>
            <a:r>
              <a:rPr sz="1800" i="0">
                <a:solidFill>
                  <a:srgbClr val="AEB6BF"/>
                </a:solidFill>
                <a:latin typeface="Consolas"/>
              </a:rPr>
              <a:t>)</a:t>
            </a:r>
          </a:p>
        </p:txBody>
      </p:sp>
      <p:sp>
        <p:nvSpPr>
          <p:cNvPr id="15" name="!!code-num"/>
          <p:cNvSpPr txBox="1"/>
          <p:nvPr/>
        </p:nvSpPr>
        <p:spPr>
          <a:xfrm>
            <a:off x="768096" y="2523744"/>
            <a:ext cx="393192" cy="120700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19</a:t>
            </a:r>
          </a:p>
          <a:p>
            <a:pPr algn="r">
              <a:lnSpc>
                <a:spcPct val="100000"/>
              </a:lnSpc>
            </a:pPr>
            <a:r>
              <a:rPr sz="1800">
                <a:solidFill>
                  <a:srgbClr val="4F5D6A"/>
                </a:solidFill>
                <a:latin typeface="Consolas"/>
              </a:rPr>
              <a:t>20</a:t>
            </a:r>
          </a:p>
          <a:p>
            <a:pPr algn="r">
              <a:lnSpc>
                <a:spcPct val="100000"/>
              </a:lnSpc>
            </a:pPr>
            <a:r>
              <a:rPr sz="1800">
                <a:solidFill>
                  <a:srgbClr val="4F5D6A"/>
                </a:solidFill>
                <a:latin typeface="Consolas"/>
              </a:rPr>
              <a:t>21</a:t>
            </a:r>
          </a:p>
          <a:p>
            <a:pPr algn="r">
              <a:lnSpc>
                <a:spcPct val="100000"/>
              </a:lnSpc>
            </a:pPr>
            <a:r>
              <a:rPr sz="1800">
                <a:solidFill>
                  <a:srgbClr val="4F5D6A"/>
                </a:solidFill>
                <a:latin typeface="Consolas"/>
              </a:rPr>
              <a:t>22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07892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Cluster, Reduce, Detect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§16.5  ·  Handout p. 104     </a:t>
            </a:r>
            <a:fld id="{2DF58A9E-8B94-4B74-8165-CDD621AFD921}" type="slidenum">
              <a:rPr lang="en-GB" sz="1000">
                <a:solidFill>
                  <a:srgbClr val="8795A1"/>
                </a:solidFill>
                <a:latin typeface="Segoe UI"/>
              </a:rPr>
              <a:t>36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Anomaly detection with no labels at all</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554223"/>
          </a:xfrm>
          <a:prstGeom prst="roundRect">
            <a:avLst>
              <a:gd name="adj" fmla="val 357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anomaly detection with no labels at all --------------------------- iso = IsolationForest(contamination=0.01, random_state=0).fit(Xs) score = -iso.score_samples(Xs) # higher = more anomalous top = np.argsort(score)[::-1][:20] print(&quot;20 most anomalous rows:&quot;, top) plt.scatter(proj[:,0], proj[:,1], s=6, c=score, cmap=&quot;viridis&quot;) plt.colorbar(label=&quot;anomaly score&quot;); plt.xlabel(&quot;PC1&quot;); plt.ylabel(&quot;PC2&quot;); plt.show()"/>
          <p:cNvSpPr txBox="1"/>
          <p:nvPr/>
        </p:nvSpPr>
        <p:spPr>
          <a:xfrm>
            <a:off x="1362456" y="2523744"/>
            <a:ext cx="9987991" cy="2060447"/>
          </a:xfrm>
          <a:prstGeom prst="rect">
            <a:avLst/>
          </a:prstGeom>
          <a:noFill/>
        </p:spPr>
        <p:txBody>
          <a:bodyPr wrap="none" anchor="t" lIns="0" rIns="0" tIns="0" bIns="0">
            <a:noAutofit/>
          </a:bodyPr>
          <a:lstStyle/>
          <a:p>
            <a:pPr>
              <a:lnSpc>
                <a:spcPct val="100000"/>
              </a:lnSpc>
              <a:spcAft>
                <a:spcPts val="0"/>
              </a:spcAft>
            </a:pPr>
            <a:r>
              <a:rPr sz="1600" i="1">
                <a:solidFill>
                  <a:srgbClr val="8795A1"/>
                </a:solidFill>
                <a:latin typeface="Consolas"/>
              </a:rPr>
              <a:t># --- anomaly detection with no labels at all ---------------------------</a:t>
            </a:r>
          </a:p>
          <a:p>
            <a:pPr>
              <a:lnSpc>
                <a:spcPct val="100000"/>
              </a:lnSpc>
              <a:spcAft>
                <a:spcPts val="0"/>
              </a:spcAft>
            </a:pPr>
            <a:r>
              <a:rPr sz="1600" i="0">
                <a:solidFill>
                  <a:srgbClr val="E8EDF2"/>
                </a:solidFill>
                <a:latin typeface="Consolas"/>
              </a:rPr>
              <a:t>iso</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IsolationForest</a:t>
            </a:r>
            <a:r>
              <a:rPr sz="1600" i="0">
                <a:solidFill>
                  <a:srgbClr val="AEB6BF"/>
                </a:solidFill>
                <a:latin typeface="Consolas"/>
              </a:rPr>
              <a:t>(</a:t>
            </a:r>
            <a:r>
              <a:rPr sz="1600" i="0">
                <a:solidFill>
                  <a:srgbClr val="E8EDF2"/>
                </a:solidFill>
                <a:latin typeface="Consolas"/>
              </a:rPr>
              <a:t>contamination</a:t>
            </a:r>
            <a:r>
              <a:rPr sz="1600" i="0">
                <a:solidFill>
                  <a:srgbClr val="AEB6BF"/>
                </a:solidFill>
                <a:latin typeface="Consolas"/>
              </a:rPr>
              <a:t>=</a:t>
            </a:r>
            <a:r>
              <a:rPr sz="1600" i="0">
                <a:solidFill>
                  <a:srgbClr val="F7DC6F"/>
                </a:solidFill>
                <a:latin typeface="Consolas"/>
              </a:rPr>
              <a:t>0.01</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random_state</a:t>
            </a:r>
            <a:r>
              <a:rPr sz="1600" i="0">
                <a:solidFill>
                  <a:srgbClr val="AEB6BF"/>
                </a:solidFill>
                <a:latin typeface="Consolas"/>
              </a:rPr>
              <a:t>=</a:t>
            </a:r>
            <a:r>
              <a:rPr sz="1600" i="0">
                <a:solidFill>
                  <a:srgbClr val="F7DC6F"/>
                </a:solidFill>
                <a:latin typeface="Consolas"/>
              </a:rPr>
              <a:t>0</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fit</a:t>
            </a:r>
            <a:r>
              <a:rPr sz="1600" i="0">
                <a:solidFill>
                  <a:srgbClr val="AEB6BF"/>
                </a:solidFill>
                <a:latin typeface="Consolas"/>
              </a:rPr>
              <a:t>(</a:t>
            </a:r>
            <a:r>
              <a:rPr sz="1600" i="0">
                <a:solidFill>
                  <a:srgbClr val="E8EDF2"/>
                </a:solidFill>
                <a:latin typeface="Consolas"/>
              </a:rPr>
              <a:t>Xs</a:t>
            </a:r>
            <a:r>
              <a:rPr sz="1600" i="0">
                <a:solidFill>
                  <a:srgbClr val="AEB6BF"/>
                </a:solidFill>
                <a:latin typeface="Consolas"/>
              </a:rPr>
              <a:t>)</a:t>
            </a:r>
          </a:p>
          <a:p>
            <a:pPr>
              <a:lnSpc>
                <a:spcPct val="100000"/>
              </a:lnSpc>
              <a:spcAft>
                <a:spcPts val="0"/>
              </a:spcAft>
            </a:pPr>
            <a:r>
              <a:rPr sz="1600" i="0">
                <a:solidFill>
                  <a:srgbClr val="E8EDF2"/>
                </a:solidFill>
                <a:latin typeface="Consolas"/>
              </a:rPr>
              <a:t>score</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iso</a:t>
            </a:r>
            <a:r>
              <a:rPr sz="1600" i="0">
                <a:solidFill>
                  <a:srgbClr val="AEB6BF"/>
                </a:solidFill>
                <a:latin typeface="Consolas"/>
              </a:rPr>
              <a:t>.</a:t>
            </a:r>
            <a:r>
              <a:rPr sz="1600" i="0">
                <a:solidFill>
                  <a:srgbClr val="E8EDF2"/>
                </a:solidFill>
                <a:latin typeface="Consolas"/>
              </a:rPr>
              <a:t>score_samples</a:t>
            </a:r>
            <a:r>
              <a:rPr sz="1600" i="0">
                <a:solidFill>
                  <a:srgbClr val="AEB6BF"/>
                </a:solidFill>
                <a:latin typeface="Consolas"/>
              </a:rPr>
              <a:t>(</a:t>
            </a:r>
            <a:r>
              <a:rPr sz="1600" i="0">
                <a:solidFill>
                  <a:srgbClr val="E8EDF2"/>
                </a:solidFill>
                <a:latin typeface="Consolas"/>
              </a:rPr>
              <a:t>Xs</a:t>
            </a:r>
            <a:r>
              <a:rPr sz="1600" i="0">
                <a:solidFill>
                  <a:srgbClr val="AEB6BF"/>
                </a:solidFill>
                <a:latin typeface="Consolas"/>
              </a:rPr>
              <a:t>)</a:t>
            </a:r>
            <a:r>
              <a:rPr sz="1600" i="0">
                <a:solidFill>
                  <a:srgbClr val="E8EDF2"/>
                </a:solidFill>
                <a:latin typeface="Consolas"/>
              </a:rPr>
              <a:t>              </a:t>
            </a:r>
            <a:r>
              <a:rPr sz="1600" i="1">
                <a:solidFill>
                  <a:srgbClr val="8795A1"/>
                </a:solidFill>
                <a:latin typeface="Consolas"/>
              </a:rPr>
              <a:t># higher = more anomalous</a:t>
            </a:r>
          </a:p>
          <a:p>
            <a:pPr>
              <a:lnSpc>
                <a:spcPct val="100000"/>
              </a:lnSpc>
              <a:spcAft>
                <a:spcPts val="0"/>
              </a:spcAft>
            </a:pPr>
            <a:r>
              <a:rPr sz="1600" i="0">
                <a:solidFill>
                  <a:srgbClr val="E8EDF2"/>
                </a:solidFill>
                <a:latin typeface="Consolas"/>
              </a:rPr>
              <a:t>top</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np</a:t>
            </a:r>
            <a:r>
              <a:rPr sz="1600" i="0">
                <a:solidFill>
                  <a:srgbClr val="AEB6BF"/>
                </a:solidFill>
                <a:latin typeface="Consolas"/>
              </a:rPr>
              <a:t>.</a:t>
            </a:r>
            <a:r>
              <a:rPr sz="1600" i="0">
                <a:solidFill>
                  <a:srgbClr val="E8EDF2"/>
                </a:solidFill>
                <a:latin typeface="Consolas"/>
              </a:rPr>
              <a:t>argsort</a:t>
            </a:r>
            <a:r>
              <a:rPr sz="1600" i="0">
                <a:solidFill>
                  <a:srgbClr val="AEB6BF"/>
                </a:solidFill>
                <a:latin typeface="Consolas"/>
              </a:rPr>
              <a:t>(</a:t>
            </a:r>
            <a:r>
              <a:rPr sz="1600" i="0">
                <a:solidFill>
                  <a:srgbClr val="E8EDF2"/>
                </a:solidFill>
                <a:latin typeface="Consolas"/>
              </a:rPr>
              <a:t>score</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F7DC6F"/>
                </a:solidFill>
                <a:latin typeface="Consolas"/>
              </a:rPr>
              <a:t>1</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F7DC6F"/>
                </a:solidFill>
                <a:latin typeface="Consolas"/>
              </a:rPr>
              <a:t>20</a:t>
            </a:r>
            <a:r>
              <a:rPr sz="1600" i="0">
                <a:solidFill>
                  <a:srgbClr val="AEB6BF"/>
                </a:solidFill>
                <a:latin typeface="Consolas"/>
              </a:rPr>
              <a:t>]</a:t>
            </a:r>
          </a:p>
          <a:p>
            <a:pPr>
              <a:lnSpc>
                <a:spcPct val="100000"/>
              </a:lnSpc>
              <a:spcAft>
                <a:spcPts val="0"/>
              </a:spcAft>
            </a:pPr>
            <a:r>
              <a:rPr sz="1600" i="0">
                <a:solidFill>
                  <a:srgbClr val="C39BD3"/>
                </a:solidFill>
                <a:latin typeface="Consolas"/>
              </a:rPr>
              <a:t>print</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20 most anomalous rows:</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top</a:t>
            </a:r>
            <a:r>
              <a:rPr sz="1600" i="0">
                <a:solidFill>
                  <a:srgbClr val="AEB6BF"/>
                </a:solidFill>
                <a:latin typeface="Consolas"/>
              </a:rPr>
              <a:t>)</a:t>
            </a:r>
          </a:p>
          <a:p>
            <a:pPr>
              <a:lnSpc>
                <a:spcPct val="100000"/>
              </a:lnSpc>
              <a:spcAft>
                <a:spcPts val="0"/>
              </a:spcAft>
            </a:pPr>
            <a:r>
              <a:rPr sz="1600">
                <a:latin typeface="Consolas"/>
              </a:rPr>
              <a:t> </a:t>
            </a:r>
          </a:p>
          <a:p>
            <a:pPr>
              <a:lnSpc>
                <a:spcPct val="100000"/>
              </a:lnSpc>
              <a:spcAft>
                <a:spcPts val="0"/>
              </a:spcAft>
            </a:pPr>
            <a:r>
              <a:rPr sz="1600" i="0">
                <a:solidFill>
                  <a:srgbClr val="E8EDF2"/>
                </a:solidFill>
                <a:latin typeface="Consolas"/>
              </a:rPr>
              <a:t>plt</a:t>
            </a:r>
            <a:r>
              <a:rPr sz="1600" i="0">
                <a:solidFill>
                  <a:srgbClr val="AEB6BF"/>
                </a:solidFill>
                <a:latin typeface="Consolas"/>
              </a:rPr>
              <a:t>.</a:t>
            </a:r>
            <a:r>
              <a:rPr sz="1600" i="0">
                <a:solidFill>
                  <a:srgbClr val="E8EDF2"/>
                </a:solidFill>
                <a:latin typeface="Consolas"/>
              </a:rPr>
              <a:t>scatter</a:t>
            </a:r>
            <a:r>
              <a:rPr sz="1600" i="0">
                <a:solidFill>
                  <a:srgbClr val="AEB6BF"/>
                </a:solidFill>
                <a:latin typeface="Consolas"/>
              </a:rPr>
              <a:t>(</a:t>
            </a:r>
            <a:r>
              <a:rPr sz="1600" i="0">
                <a:solidFill>
                  <a:srgbClr val="E8EDF2"/>
                </a:solidFill>
                <a:latin typeface="Consolas"/>
              </a:rPr>
              <a:t>proj</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F7DC6F"/>
                </a:solidFill>
                <a:latin typeface="Consolas"/>
              </a:rPr>
              <a:t>0</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proj</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F7DC6F"/>
                </a:solidFill>
                <a:latin typeface="Consolas"/>
              </a:rPr>
              <a:t>1</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s</a:t>
            </a:r>
            <a:r>
              <a:rPr sz="1600" i="0">
                <a:solidFill>
                  <a:srgbClr val="AEB6BF"/>
                </a:solidFill>
                <a:latin typeface="Consolas"/>
              </a:rPr>
              <a:t>=</a:t>
            </a:r>
            <a:r>
              <a:rPr sz="1600" i="0">
                <a:solidFill>
                  <a:srgbClr val="F7DC6F"/>
                </a:solidFill>
                <a:latin typeface="Consolas"/>
              </a:rPr>
              <a:t>6</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c</a:t>
            </a:r>
            <a:r>
              <a:rPr sz="1600" i="0">
                <a:solidFill>
                  <a:srgbClr val="AEB6BF"/>
                </a:solidFill>
                <a:latin typeface="Consolas"/>
              </a:rPr>
              <a:t>=</a:t>
            </a:r>
            <a:r>
              <a:rPr sz="1600" i="0">
                <a:solidFill>
                  <a:srgbClr val="E8EDF2"/>
                </a:solidFill>
                <a:latin typeface="Consolas"/>
              </a:rPr>
              <a:t>score</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cmap</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viridis</a:t>
            </a:r>
            <a:r>
              <a:rPr sz="1600" i="0">
                <a:solidFill>
                  <a:srgbClr val="7DCEA0"/>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plt</a:t>
            </a:r>
            <a:r>
              <a:rPr sz="1600" i="0">
                <a:solidFill>
                  <a:srgbClr val="AEB6BF"/>
                </a:solidFill>
                <a:latin typeface="Consolas"/>
              </a:rPr>
              <a:t>.</a:t>
            </a:r>
            <a:r>
              <a:rPr sz="1600" i="0">
                <a:solidFill>
                  <a:srgbClr val="E8EDF2"/>
                </a:solidFill>
                <a:latin typeface="Consolas"/>
              </a:rPr>
              <a:t>colorbar</a:t>
            </a:r>
            <a:r>
              <a:rPr sz="1600" i="0">
                <a:solidFill>
                  <a:srgbClr val="AEB6BF"/>
                </a:solidFill>
                <a:latin typeface="Consolas"/>
              </a:rPr>
              <a:t>(</a:t>
            </a:r>
            <a:r>
              <a:rPr sz="1600" i="0">
                <a:solidFill>
                  <a:srgbClr val="E8EDF2"/>
                </a:solidFill>
                <a:latin typeface="Consolas"/>
              </a:rPr>
              <a:t>label</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anomaly score</a:t>
            </a:r>
            <a:r>
              <a:rPr sz="1600" i="0">
                <a:solidFill>
                  <a:srgbClr val="7DCEA0"/>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plt</a:t>
            </a:r>
            <a:r>
              <a:rPr sz="1600" i="0">
                <a:solidFill>
                  <a:srgbClr val="AEB6BF"/>
                </a:solidFill>
                <a:latin typeface="Consolas"/>
              </a:rPr>
              <a:t>.</a:t>
            </a:r>
            <a:r>
              <a:rPr sz="1600" i="0">
                <a:solidFill>
                  <a:srgbClr val="E8EDF2"/>
                </a:solidFill>
                <a:latin typeface="Consolas"/>
              </a:rPr>
              <a:t>xlabel</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PC1</a:t>
            </a:r>
            <a:r>
              <a:rPr sz="1600" i="0">
                <a:solidFill>
                  <a:srgbClr val="7DCEA0"/>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plt</a:t>
            </a:r>
            <a:r>
              <a:rPr sz="1600" i="0">
                <a:solidFill>
                  <a:srgbClr val="AEB6BF"/>
                </a:solidFill>
                <a:latin typeface="Consolas"/>
              </a:rPr>
              <a:t>.</a:t>
            </a:r>
            <a:r>
              <a:rPr sz="1600" i="0">
                <a:solidFill>
                  <a:srgbClr val="E8EDF2"/>
                </a:solidFill>
                <a:latin typeface="Consolas"/>
              </a:rPr>
              <a:t>ylabel</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PC2</a:t>
            </a:r>
            <a:r>
              <a:rPr sz="1600" i="0">
                <a:solidFill>
                  <a:srgbClr val="7DCEA0"/>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plt</a:t>
            </a:r>
            <a:r>
              <a:rPr sz="1600" i="0">
                <a:solidFill>
                  <a:srgbClr val="AEB6BF"/>
                </a:solidFill>
                <a:latin typeface="Consolas"/>
              </a:rPr>
              <a:t>.</a:t>
            </a:r>
            <a:r>
              <a:rPr sz="1600" i="0">
                <a:solidFill>
                  <a:srgbClr val="E8EDF2"/>
                </a:solidFill>
                <a:latin typeface="Consolas"/>
              </a:rPr>
              <a:t>show</a:t>
            </a:r>
            <a:r>
              <a:rPr sz="1600" i="0">
                <a:solidFill>
                  <a:srgbClr val="AEB6BF"/>
                </a:solidFill>
                <a:latin typeface="Consolas"/>
              </a:rPr>
              <a:t>(</a:t>
            </a:r>
            <a:r>
              <a:rPr sz="1600" i="0">
                <a:solidFill>
                  <a:srgbClr val="AEB6BF"/>
                </a:solidFill>
                <a:latin typeface="Consolas"/>
              </a:rPr>
              <a:t>)</a:t>
            </a:r>
          </a:p>
        </p:txBody>
      </p:sp>
      <p:sp>
        <p:nvSpPr>
          <p:cNvPr id="15" name="!!code-num"/>
          <p:cNvSpPr txBox="1"/>
          <p:nvPr/>
        </p:nvSpPr>
        <p:spPr>
          <a:xfrm>
            <a:off x="768096" y="2523744"/>
            <a:ext cx="393192" cy="2060447"/>
          </a:xfrm>
          <a:prstGeom prst="rect">
            <a:avLst/>
          </a:prstGeom>
          <a:noFill/>
        </p:spPr>
        <p:txBody>
          <a:bodyPr wrap="none" anchor="t" lIns="0" rIns="0" tIns="0" bIns="0">
            <a:noAutofit/>
          </a:bodyPr>
          <a:lstStyle/>
          <a:p>
            <a:pPr algn="r">
              <a:lnSpc>
                <a:spcPct val="100000"/>
              </a:lnSpc>
            </a:pPr>
            <a:r>
              <a:rPr sz="1600">
                <a:solidFill>
                  <a:srgbClr val="4F5D6A"/>
                </a:solidFill>
                <a:latin typeface="Consolas"/>
              </a:rPr>
              <a:t>23</a:t>
            </a:r>
          </a:p>
          <a:p>
            <a:pPr algn="r">
              <a:lnSpc>
                <a:spcPct val="100000"/>
              </a:lnSpc>
            </a:pPr>
            <a:r>
              <a:rPr sz="1600">
                <a:solidFill>
                  <a:srgbClr val="4F5D6A"/>
                </a:solidFill>
                <a:latin typeface="Consolas"/>
              </a:rPr>
              <a:t>24</a:t>
            </a:r>
          </a:p>
          <a:p>
            <a:pPr algn="r">
              <a:lnSpc>
                <a:spcPct val="100000"/>
              </a:lnSpc>
            </a:pPr>
            <a:r>
              <a:rPr sz="1600">
                <a:solidFill>
                  <a:srgbClr val="4F5D6A"/>
                </a:solidFill>
                <a:latin typeface="Consolas"/>
              </a:rPr>
              <a:t>25</a:t>
            </a:r>
          </a:p>
          <a:p>
            <a:pPr algn="r">
              <a:lnSpc>
                <a:spcPct val="100000"/>
              </a:lnSpc>
            </a:pPr>
            <a:r>
              <a:rPr sz="1600">
                <a:solidFill>
                  <a:srgbClr val="4F5D6A"/>
                </a:solidFill>
                <a:latin typeface="Consolas"/>
              </a:rPr>
              <a:t>26</a:t>
            </a:r>
          </a:p>
          <a:p>
            <a:pPr algn="r">
              <a:lnSpc>
                <a:spcPct val="100000"/>
              </a:lnSpc>
            </a:pPr>
            <a:r>
              <a:rPr sz="1600">
                <a:solidFill>
                  <a:srgbClr val="4F5D6A"/>
                </a:solidFill>
                <a:latin typeface="Consolas"/>
              </a:rPr>
              <a:t>27</a:t>
            </a:r>
          </a:p>
          <a:p>
            <a:pPr algn="r">
              <a:lnSpc>
                <a:spcPct val="100000"/>
              </a:lnSpc>
            </a:pPr>
            <a:r>
              <a:rPr sz="1600">
                <a:solidFill>
                  <a:srgbClr val="4F5D6A"/>
                </a:solidFill>
                <a:latin typeface="Consolas"/>
              </a:rPr>
              <a:t>28</a:t>
            </a:r>
          </a:p>
          <a:p>
            <a:pPr algn="r">
              <a:lnSpc>
                <a:spcPct val="100000"/>
              </a:lnSpc>
            </a:pPr>
            <a:r>
              <a:rPr sz="1600">
                <a:solidFill>
                  <a:srgbClr val="4F5D6A"/>
                </a:solidFill>
                <a:latin typeface="Consolas"/>
              </a:rPr>
              <a:t>29</a:t>
            </a:r>
          </a:p>
          <a:p>
            <a:pPr algn="r">
              <a:lnSpc>
                <a:spcPct val="100000"/>
              </a:lnSpc>
            </a:pPr>
            <a:r>
              <a:rPr sz="1600">
                <a:solidFill>
                  <a:srgbClr val="4F5D6A"/>
                </a:solidFill>
                <a:latin typeface="Consolas"/>
              </a:rPr>
              <a:t>30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33831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does inertia always fall as </a:t>
            </a:r>
            <a:r>
              <a:rPr sz="3400" b="0" i="1">
                <a:solidFill>
                  <a:srgbClr val="FFFFFF"/>
                </a:solidFill>
                <a:latin typeface="Cambria"/>
              </a:rPr>
              <a:t>k</a:t>
            </a:r>
            <a:r>
              <a:rPr sz="3400" b="0" i="0">
                <a:solidFill>
                  <a:srgbClr val="FFFFFF"/>
                </a:solidFill>
                <a:latin typeface="Segoe UI Semibold"/>
              </a:rPr>
              <a:t> increases, and what does that imply about using it alone to choose </a:t>
            </a:r>
            <a:r>
              <a:rPr sz="3400" b="0" i="1">
                <a:solidFill>
                  <a:srgbClr val="FFFFFF"/>
                </a:solidFill>
                <a:latin typeface="Cambria"/>
              </a:rPr>
              <a:t>k</a:t>
            </a:r>
            <a:r>
              <a:rPr sz="3400" b="0" i="0">
                <a:solidFill>
                  <a:srgbClr val="FFFFFF"/>
                </a:solidFill>
                <a:latin typeface="Segoe UI Semibold"/>
              </a:rPr>
              <a: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16  ·  Unsupervised Learning and Anomaly Detection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108  ·  answers in Appendix D     </a:t>
            </a:r>
            <a:fld id="{6CC247DF-5399-4F96-A5A3-3E0C460DA2ED}" type="slidenum">
              <a:rPr lang="en-GB" sz="1000">
                <a:solidFill>
                  <a:srgbClr val="D5DEE5"/>
                </a:solidFill>
                <a:latin typeface="Segoe UI"/>
              </a:rPr>
              <a:t>37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Why does inertia always fall as </a:t>
            </a:r>
            <a:r>
              <a:rPr sz="2400" b="0" i="1">
                <a:solidFill>
                  <a:srgbClr val="1A5276"/>
                </a:solidFill>
                <a:latin typeface="Cambria"/>
              </a:rPr>
              <a:t>k</a:t>
            </a:r>
            <a:r>
              <a:rPr sz="2400" b="0" i="0">
                <a:solidFill>
                  <a:srgbClr val="1A5276"/>
                </a:solidFill>
                <a:latin typeface="Segoe UI Semibold"/>
              </a:rPr>
              <a:t> increases, and what does that imply about using it alone to choose </a:t>
            </a:r>
            <a:r>
              <a:rPr sz="2400" b="0" i="1">
                <a:solidFill>
                  <a:srgbClr val="1A5276"/>
                </a:solidFill>
                <a:latin typeface="Cambria"/>
              </a:rPr>
              <a:t>k</a:t>
            </a:r>
            <a:r>
              <a:rPr sz="2400" b="0" i="0">
                <a:solidFill>
                  <a:srgbClr val="1A5276"/>
                </a:solidFill>
                <a:latin typeface="Segoe UI Semibold"/>
              </a:rPr>
              <a: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more centroids can only reduce the distance from each point to its nearest one; at </a:t>
            </a:r>
            <a:r>
              <a:rPr sz="2200" b="0" i="1">
                <a:solidFill>
                  <a:srgbClr val="1C252B"/>
                </a:solidFill>
                <a:latin typeface="Cambria"/>
              </a:rPr>
              <a:t>k</a:t>
            </a:r>
            <a:r>
              <a:rPr sz="2200" b="0" i="0">
                <a:solidFill>
                  <a:srgbClr val="1C252B"/>
                </a:solidFill>
                <a:latin typeface="Cambria"/>
              </a:rPr>
              <a:t>=</a:t>
            </a:r>
            <a:r>
              <a:rPr sz="2200" b="0" i="1">
                <a:solidFill>
                  <a:srgbClr val="1C252B"/>
                </a:solidFill>
                <a:latin typeface="Cambria"/>
              </a:rPr>
              <a:t>n</a:t>
            </a:r>
            <a:r>
              <a:rPr sz="2200" b="0" i="0">
                <a:solidFill>
                  <a:srgbClr val="1C252B"/>
                </a:solidFill>
                <a:latin typeface="Segoe UI"/>
              </a:rPr>
              <a:t> inertia is zero. Minimising it therefore always chooses the largest </a:t>
            </a:r>
            <a:r>
              <a:rPr sz="2200" b="0" i="1">
                <a:solidFill>
                  <a:srgbClr val="1C252B"/>
                </a:solidFill>
                <a:latin typeface="Cambria"/>
              </a:rPr>
              <a:t>k</a:t>
            </a:r>
            <a:r>
              <a:rPr sz="2200" b="0" i="0">
                <a:solidFill>
                  <a:srgbClr val="1C252B"/>
                </a:solidFill>
                <a:latin typeface="Segoe UI"/>
              </a:rPr>
              <a:t>, so it must be combined with the elbow judgement, the silhouette score, and a domain reason.</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108  ·  answers in Appendix D     </a:t>
            </a:r>
            <a:fld id="{89987F1F-C947-4D9F-B6DE-207E168118C3}" type="slidenum">
              <a:rPr lang="en-GB" sz="1000">
                <a:solidFill>
                  <a:srgbClr val="8795A1"/>
                </a:solidFill>
                <a:latin typeface="Segoe UI"/>
              </a:rPr>
              <a:t>38</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85711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You need clusters of irregular shape and want outliers identified rather than absorbed. Which algorithm, and why not k-means?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16  ·  Unsupervised Learning and Anomaly Detection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108  ·  answers in Appendix D     </a:t>
            </a:r>
            <a:fld id="{4D9C8C57-50A8-4052-8036-F62D0C390052}" type="slidenum">
              <a:rPr lang="en-GB" sz="1000">
                <a:solidFill>
                  <a:srgbClr val="D5DEE5"/>
                </a:solidFill>
                <a:latin typeface="Segoe UI"/>
              </a:rPr>
              <a:t>39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You need clusters of irregular shape and want outliers identified rather than absorbed. Which algorithm, and why not k-means?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DBSCAN. k-means assumes roughly spherical clusters and forces every point into one, so the outliers you want identified would be absorbed into the nearest cluster and hidden.</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108  ·  answers in Appendix D     </a:t>
            </a:r>
            <a:fld id="{EE849735-46A1-478E-BCC6-72889E4EE73C}" type="slidenum">
              <a:rPr lang="en-GB" sz="1000">
                <a:solidFill>
                  <a:srgbClr val="8795A1"/>
                </a:solidFill>
                <a:latin typeface="Segoe UI"/>
              </a:rPr>
              <a:t>40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37591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PCA on unscaled data returns a first component that is almost entirely one feature. What happened?</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16  ·  Unsupervised Learning and Anomaly Detection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108  ·  answers in Appendix D     </a:t>
            </a:r>
            <a:fld id="{CEC02E50-83E0-4B85-978C-D6D736A6D8A6}" type="slidenum">
              <a:rPr lang="en-GB" sz="1000">
                <a:solidFill>
                  <a:srgbClr val="D5DEE5"/>
                </a:solidFill>
                <a:latin typeface="Segoe UI"/>
              </a:rPr>
              <a:t>41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PCA on unscaled data returns a first component that is almost entirely one feature. What happened?</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unscaled feature with the largest variance — typically the one with the biggest units — dominated. PCA maximises variance, which is scale-dependent. Standardise first.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108  ·  answers in Appendix D     </a:t>
            </a:r>
            <a:fld id="{57CDEA72-3AD4-4E60-8E89-EDFD2078BF65}" type="slidenum">
              <a:rPr lang="en-GB" sz="1000">
                <a:solidFill>
                  <a:srgbClr val="8795A1"/>
                </a:solidFill>
                <a:latin typeface="Segoe UI"/>
              </a:rPr>
              <a:t>42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89470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108     </a:t>
            </a:r>
            <a:fld id="{4F2B65E3-B241-46FD-8D00-330CB0752894}" type="slidenum">
              <a:rPr lang="en-GB" sz="1000">
                <a:solidFill>
                  <a:srgbClr val="8795A1"/>
                </a:solidFill>
                <a:latin typeface="Segoe UI"/>
              </a:rPr>
              <a:t>43</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k-means is fast and requires </a:t>
            </a:r>
            <a:r>
              <a:rPr sz="2000" b="0" i="1">
                <a:solidFill>
                  <a:srgbClr val="1C252B"/>
                </a:solidFill>
                <a:latin typeface="Cambria"/>
              </a:rPr>
              <a:t>k</a:t>
            </a:r>
            <a:r>
              <a:rPr sz="2000" b="0" i="0">
                <a:solidFill>
                  <a:srgbClr val="1C252B"/>
                </a:solidFill>
                <a:latin typeface="Segoe UI"/>
              </a:rPr>
              <a:t> in advance; it assumes spherical clusters and forces every point into one.</a:t>
            </a:r>
          </a:p>
        </p:txBody>
      </p:sp>
      <p:sp>
        <p:nvSpPr>
          <p:cNvPr id="10" name="!!sb1">
            <a:extLst>
              <a:ext uri="{C183D7F6-B498-43B3-948B-1728B52AA6E4}">
                <adec:decorative xmlns:adec="http://schemas.microsoft.com/office/drawing/2017/decorative" val="1"/>
              </a:ext>
            </a:extLst>
          </p:cNvPr>
          <p:cNvSpPr/>
          <p:nvPr/>
        </p:nvSpPr>
        <p:spPr>
          <a:xfrm>
            <a:off x="658368" y="256336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618231"/>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54223"/>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Choose </a:t>
            </a:r>
            <a:r>
              <a:rPr sz="2000" b="0" i="1">
                <a:solidFill>
                  <a:srgbClr val="1C252B"/>
                </a:solidFill>
                <a:latin typeface="Cambria"/>
              </a:rPr>
              <a:t>k</a:t>
            </a:r>
            <a:r>
              <a:rPr sz="2000" b="0" i="0">
                <a:solidFill>
                  <a:srgbClr val="1C252B"/>
                </a:solidFill>
                <a:latin typeface="Segoe UI"/>
              </a:rPr>
              <a:t> by silhouette (which has a true maximum) supported by the elbow and by a domain reason.</a:t>
            </a:r>
          </a:p>
        </p:txBody>
      </p:sp>
      <p:sp>
        <p:nvSpPr>
          <p:cNvPr id="13" name="!!sb2">
            <a:extLst>
              <a:ext uri="{C183D7F6-B498-43B3-948B-1728B52AA6E4}">
                <adec:decorative xmlns:adec="http://schemas.microsoft.com/office/drawing/2017/decorative" val="1"/>
              </a:ext>
            </a:extLst>
          </p:cNvPr>
          <p:cNvSpPr/>
          <p:nvPr/>
        </p:nvSpPr>
        <p:spPr>
          <a:xfrm>
            <a:off x="658368" y="3380231"/>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435095"/>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371088"/>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Hierarchical clustering gives a dendrogram you can cut anywhere; DBSCAN finds arbitrary shapes and labels noise explicitly.</a:t>
            </a:r>
          </a:p>
        </p:txBody>
      </p:sp>
      <p:sp>
        <p:nvSpPr>
          <p:cNvPr id="16" name="!!sb3">
            <a:extLst>
              <a:ext uri="{C183D7F6-B498-43B3-948B-1728B52AA6E4}">
                <adec:decorative xmlns:adec="http://schemas.microsoft.com/office/drawing/2017/decorative" val="1"/>
              </a:ext>
            </a:extLst>
          </p:cNvPr>
          <p:cNvSpPr/>
          <p:nvPr/>
        </p:nvSpPr>
        <p:spPr>
          <a:xfrm>
            <a:off x="658368" y="419709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25196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187952"/>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PCA re-expresses data along directions of maximum variance; the scree plot says how many components to keep. Scale first; expect to lose interpretability.</a:t>
            </a:r>
          </a:p>
        </p:txBody>
      </p:sp>
      <p:sp>
        <p:nvSpPr>
          <p:cNvPr id="19" name="!!sb4">
            <a:extLst>
              <a:ext uri="{C183D7F6-B498-43B3-948B-1728B52AA6E4}">
                <adec:decorative xmlns:adec="http://schemas.microsoft.com/office/drawing/2017/decorative" val="1"/>
              </a:ext>
            </a:extLst>
          </p:cNvPr>
          <p:cNvSpPr/>
          <p:nvPr/>
        </p:nvSpPr>
        <p:spPr>
          <a:xfrm>
            <a:off x="658368" y="501396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506882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5004816"/>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t-SNE and UMAP are for looking, not for modelling.</a:t>
            </a:r>
          </a:p>
        </p:txBody>
      </p:sp>
      <p:sp>
        <p:nvSpPr>
          <p:cNvPr id="22" name="!!sb5">
            <a:extLst>
              <a:ext uri="{C183D7F6-B498-43B3-948B-1728B52AA6E4}">
                <adec:decorative xmlns:adec="http://schemas.microsoft.com/office/drawing/2017/decorative" val="1"/>
              </a:ext>
            </a:extLst>
          </p:cNvPr>
          <p:cNvSpPr/>
          <p:nvPr/>
        </p:nvSpPr>
        <p:spPr>
          <a:xfrm>
            <a:off x="658368" y="559917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65404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590032"/>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Isolation forests are the strong default for anomaly detection when no labels exist. Validate clusters by internal score, stability, profiling and an external variable.</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115410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108     </a:t>
            </a:r>
            <a:fld id="{03316928-DDDD-4904-A531-AD556B90DBB9}" type="slidenum">
              <a:rPr lang="en-GB" sz="1000">
                <a:solidFill>
                  <a:srgbClr val="8795A1"/>
                </a:solidFill>
                <a:latin typeface="Segoe UI"/>
              </a:rPr>
              <a:t>44</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Which algorithm explicitly labels points as noise?</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k-means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PCA</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DBSCAN</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hierarchical clustering</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41350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108     </a:t>
            </a:r>
            <a:fld id="{84A15E02-C1B7-40D9-B8C0-6CEBC8BD4E23}" type="slidenum">
              <a:rPr lang="en-GB" sz="1000">
                <a:solidFill>
                  <a:srgbClr val="8795A1"/>
                </a:solidFill>
                <a:latin typeface="Segoe UI"/>
              </a:rPr>
              <a:t>45</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silhouette score of </a:t>
            </a:r>
            <a:r>
              <a:rPr sz="2600" b="0" i="0">
                <a:solidFill>
                  <a:srgbClr val="1C252B"/>
                </a:solidFill>
                <a:latin typeface="Cambria"/>
              </a:rPr>
              <a:t>−0.2</a:t>
            </a:r>
            <a:r>
              <a:rPr sz="2600" b="0" i="0">
                <a:solidFill>
                  <a:srgbClr val="1C252B"/>
                </a:solidFill>
                <a:latin typeface="Segoe UI"/>
              </a:rPr>
              <a:t> for a point means: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it is well clustered</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it is on a boundary</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it is probably in the wrong cluster</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it is an outlier</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7289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16  ·  Unsupervised Learning and Anomaly Detection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108     </a:t>
            </a:r>
            <a:fld id="{AF7D3FF9-F33C-4466-A98C-2B2D1BA0173A}" type="slidenum">
              <a:rPr lang="en-GB" sz="1000">
                <a:solidFill>
                  <a:srgbClr val="8795A1"/>
                </a:solidFill>
                <a:latin typeface="Segoe UI"/>
              </a:rPr>
              <a:t>46</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PCA requires standardised features.</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two reasons not to use a t-SNE plot as evidence in a report.</a:t>
            </a:r>
          </a:p>
        </p:txBody>
      </p:sp>
      <p:sp>
        <p:nvSpPr>
          <p:cNvPr id="13" name="!!rt2">
            <a:extLst>
              <a:ext uri="{C183D7F6-B498-43B3-948B-1728B52AA6E4}">
                <adec:decorative xmlns:adec="http://schemas.microsoft.com/office/drawing/2017/decorative" val="1"/>
              </a:ext>
            </a:extLst>
          </p:cNvPr>
          <p:cNvSpPr/>
          <p:nvPr/>
        </p:nvSpPr>
        <p:spPr>
          <a:xfrm>
            <a:off x="658368" y="2796844"/>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283799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2778556"/>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is unsupervised anomaly detection the right tool for novel attacks, when supervised classification is not?</a:t>
            </a:r>
          </a:p>
        </p:txBody>
      </p:sp>
      <p:sp>
        <p:nvSpPr>
          <p:cNvPr id="16" name="!!rt3">
            <a:extLst>
              <a:ext uri="{C183D7F6-B498-43B3-948B-1728B52AA6E4}">
                <adec:decorative xmlns:adec="http://schemas.microsoft.com/office/drawing/2017/decorative" val="1"/>
              </a:ext>
            </a:extLst>
          </p:cNvPr>
          <p:cNvSpPr/>
          <p:nvPr/>
        </p:nvSpPr>
        <p:spPr>
          <a:xfrm>
            <a:off x="658368" y="3618585"/>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659733"/>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600297"/>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You cluster 8,000 IoT devices and get four clusters with silhouette 0.44. Describe the full validation procedure you would run before presenting the result, including what would make you discard it.</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scree plot shows components explaining 41%, 19%, 14%, 6%, 5%, 4%, … of variance. How many components would you keep and why? What would you check before using the reduced representation in a model that must be explained to auditors?</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3229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D8552"/>
                </a:solidFill>
                <a:latin typeface="Segoe UI Black"/>
              </a:rPr>
              <a:t>16</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16</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17 — Neural Network Foundations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16, pages 101–108</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Engineer, ensemble, interpret; cluster &amp; detect</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Assignment 2 set</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16  ·  Unsupervised Learning and Anomaly Detection</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E516E231-6C25-4C9E-878B-9AFB22F480AC}" type="slidenum">
              <a:rPr lang="en-GB" sz="1000">
                <a:solidFill>
                  <a:srgbClr val="D5DEE5"/>
                </a:solidFill>
                <a:latin typeface="Segoe UI"/>
              </a:rPr>
              <a:t>47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Data Science Fall 2026">
  <a:themeElements>
    <a:clrScheme name="Data Sci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Data Sci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16: Unsupervised Learning and Anomaly Detection</dc:title>
  <dc:subject>Data Science — From Foundations to Intelligent Systems · BSIT · Fall 2026</dc:subject>
  <dc:creator>Dr. Mustafa Hameed</dc:creator>
  <cp:keywords>data science; lecture slides; BSIT;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