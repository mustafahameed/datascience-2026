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3.svg" ContentType="image/svg+xml"/>
  <Override PartName="/ppt/media/image85.svg" ContentType="image/svg+xml"/>
  <Override PartName="/ppt/media/image86.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814E27-0597-4789-9EC6-AF698989944D}">
          <p14:sldIdLst>
            <p14:sldId id="256"/>
            <p14:sldId id="257"/>
            <p14:sldId id="258"/>
            <p14:sldId id="259"/>
            <p14:sldId id="260"/>
          </p14:sldIdLst>
        </p14:section>
        <p14:section name="1.1 A Motivating Scenario" id="{830F8616-67EC-4C04-9E6B-83F53BCC9C11}">
          <p14:sldIdLst>
            <p14:sldId id="261"/>
          </p14:sldIdLst>
        </p14:section>
        <p14:section name="1.2 What Data Science Is" id="{25EC12F9-674B-47DA-84C3-497C05A1008D}">
          <p14:sldIdLst>
            <p14:sldId id="262"/>
            <p14:sldId id="263"/>
            <p14:sldId id="264"/>
            <p14:sldId id="265"/>
          </p14:sldIdLst>
        </p14:section>
        <p14:section name="1.3 The Nested Fields: AI, ML and Deep Learning" id="{7E1405F6-4486-4F4C-8526-7882447E08DA}">
          <p14:sldIdLst>
            <p14:sldId id="266"/>
            <p14:sldId id="267"/>
            <p14:sldId id="268"/>
            <p14:sldId id="269"/>
          </p14:sldIdLst>
        </p14:section>
        <p14:section name="1.4 The Newer Members: Generative and Agentic AI" id="{71E93A80-CD25-42F9-9906-05DA44A4F305}">
          <p14:sldIdLst>
            <p14:sldId id="270"/>
            <p14:sldId id="271"/>
            <p14:sldId id="272"/>
            <p14:sldId id="273"/>
          </p14:sldIdLst>
        </p14:section>
        <p14:section name="1.5 The Four Levels of Analytics" id="{55A3BBAE-CFF3-47E2-BEAD-09AC9C1A0009}">
          <p14:sldIdLst>
            <p14:sldId id="274"/>
            <p14:sldId id="275"/>
            <p14:sldId id="276"/>
          </p14:sldIdLst>
        </p14:section>
        <p14:section name="Pitfalls" id="{7FB7FE65-5FE0-428F-A756-EE055891FF52}">
          <p14:sldIdLst>
            <p14:sldId id="277"/>
          </p14:sldIdLst>
        </p14:section>
        <p14:section name="1.6 Who Does What: Roles on a Data Team" id="{67C06BE1-DE55-47B1-99B7-02160E566B26}">
          <p14:sldIdLst>
            <p14:sldId id="278"/>
            <p14:sldId id="279"/>
            <p14:sldId id="280"/>
          </p14:sldIdLst>
        </p14:section>
        <p14:section name="Four lenses" id="{D850A57C-1E58-43BB-AADB-7A17A7A656D8}">
          <p14:sldIdLst>
            <p14:sldId id="281"/>
            <p14:sldId id="282"/>
            <p14:sldId id="283"/>
            <p14:sldId id="284"/>
            <p14:sldId id="285"/>
            <p14:sldId id="286"/>
          </p14:sldIdLst>
        </p14:section>
        <p14:section name="Lab" id="{EDBC45E3-2177-4301-9DE4-C8E0F6932EDA}">
          <p14:sldIdLst>
            <p14:sldId id="287"/>
            <p14:sldId id="288"/>
            <p14:sldId id="289"/>
          </p14:sldIdLst>
        </p14:section>
        <p14:section name="Checkpoint" id="{C37A534B-C79A-4F51-BFB4-C243C0744EF7}">
          <p14:sldIdLst>
            <p14:sldId id="290"/>
            <p14:sldId id="291"/>
            <p14:sldId id="292"/>
            <p14:sldId id="293"/>
            <p14:sldId id="294"/>
            <p14:sldId id="295"/>
          </p14:sldIdLst>
        </p14:section>
        <p14:section name="Wrap-up" id="{084545E9-F2F2-4D87-A80B-DDFDD6EBB5AC}">
          <p14:sldIdLst>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The Data Science Landscape. Part 1 — Foundations of Data. Week 1: The landscape and the lifecycle. Handout pages 3–10.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None. This is the entry point of the course. If the prerequisite self-check in the front matter gave you trouble, keep Appendix C beside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data science; artificial intelligence; machine learning; deep learning; generative AI; agentic AI; data mining; descriptive, diagnostic, predictive and prescriptive analytics; data product.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university notices that roughly one student in five fails the first-year programming course. The department has years of records: enrolment forms, weekly attendance, submission timestamps from the online judge, forum posts, quiz scores. Nobody has ever looked at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science is the discipline that answers all three, and that knows the difference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is deliberately broad because the work is broad. Notice what it contains besides mathematics: domain knowledge, because a model of student failure built by someone who has never taught will be wrong in ways nobody catches; and communication, because an insight nobody acts on has accomplished nothing.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 (handout p. 4): Data science as the intersection of three capabilities. Each pair produces something useful on its own; only the centre is data science. The most common professional failure is drifting out of the gold circle — solving a problem the domain did not have.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routinely use “AI”, “machine learning” and “deep learning” as synonyms. They are not synonyms; they are nested. Getting this right in the first week saves confusion for the rest of the course.</a:t>
            </a:r>
          </a:p>
          <a:p/>
          <a:p>
            <a:r>
              <a:t>Figure 1.2 (handout p. 5): The nesting of AI, machine learning and deep learning. Every deep learning system is a machine learning system; every machine learning system is an AI system; the reverse is false in both cases. A hand-written rulebook that decides loan applications is AI but not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science is not a fourth ring inside those circles — it overlaps them. Plenty of valuable data science involves no machine learning at all: a well-built dashboard showing a hospital its live bed occupancy changes decisions every day and contains not one model.</a:t>
            </a:r>
          </a:p>
          <a:p/>
          <a:p>
            <a:r>
              <a:t>Figure 1.3 (handout p. 5): Data science and its component practices. Analytics, engineering and statistics are first-class members, not lesser cousins of machine learning — most working days involve more of them than of modelling.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terms have entered everyday use recently and are worth pinning down now, even though the course does not treat them properly until Part IV.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questions in the opening scenario were not arbitrary. They correspond to a standard ladder of analytical maturity, and one of the most useful things you can do at the start of any project is work out which rung you are actually on.</a:t>
            </a:r>
          </a:p>
          <a:p/>
          <a:p>
            <a:r>
              <a:t>Figure 1.4 (handout p. 6): The four levels of analytics. Value rises as you climb, but so does the cost of being wrong: a mistaken description misleads, a mistaken prescription causes harm.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 university wants to reduce first-year attrition. Descriptive: dashboards of attendance and submission rates by cohort. Diagnostic: which combinations of missed activities precede withdrawal. Predictive: a weekly risk score per student. Prescriptive: an allocation of limited tutoring hours to the students it will help most. Only the first rung is reachable without the rest of this book — and only the first is safe to deploy without reading Chapter 28.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A software house delivers projects late about half the time. Descriptive: historical burn-down and estimate-versus-actual charts. Diagnostic: which task types are systematically underestimated. Predictive: a sprint-completion forecast published each Wednesday. Prescriptive: a recommended re-allocation of two developers. The predictive rung is where project management stops being reporting and becomes data science.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A factory runs 400 motors instrumented for vibration and temperature. Descriptive: live telemetry dashboards. Diagnostic: which sensor pattern preceded last quarter’s three failures. Predictive: remaining useful life per motor. Prescriptive: a maintenance schedule minimising downtime cost. Because data arrives continuously and in volume, even the descriptive rung needs the engineering of Chapter 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 bank monitors authentication logs across 12,000 accounts. Descriptive: failed-login counts by region and hour. Diagnostic: which accounts share an unusual user-agent string. Predictive: a per-session compromise likelihood. Prescriptive: automatic step-up authentication for the riskiest 0.1% of sessions. Here an adversary is actively trying to look normal, which is what makes the security lens harder than the other three.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important facts about any new dataset are its shape and its types. Every project in this course starts here.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is AI — it performs a task that would otherwise need human clinical judgement. It is not machine learning, because the rule was written by a person rather than learned from data. This is the distinction Figure 1.2 makes.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descriptive; (b) predictive; (c) diagnostic; (d) prescriptive.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They are doing descriptive analytics. The distinction matters to whoever is paying because descriptive work is cheaper, faster and lower-risk than the predictive system the word “AI” implies — and because expectations set at the wrong rung cause the project to be judged a failure for delivering exactly what was needed.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 — The Data Science Lifecycle. READ: Handout Chapter 1, pages 3–10. THIS WEEK'S LAB: Meet a dataset; write a frame.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5.xml"/><Relationship Id="rId9" Type="http://schemas.openxmlformats.org/officeDocument/2006/relationships/slide" Target="slide19.xml"/><Relationship Id="rId10"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25.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3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 Id="rId9" Type="http://schemas.openxmlformats.org/officeDocument/2006/relationships/image" Target="../media/image41.svg"/><Relationship Id="rId10" Type="http://schemas.openxmlformats.org/officeDocument/2006/relationships/image" Target="../media/image42.png"/><Relationship Id="rId11" Type="http://schemas.openxmlformats.org/officeDocument/2006/relationships/image" Target="../media/image43.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image" Target="../media/image36.png"/><Relationship Id="rId5" Type="http://schemas.openxmlformats.org/officeDocument/2006/relationships/image" Target="../media/image46.svg"/><Relationship Id="rId6" Type="http://schemas.openxmlformats.org/officeDocument/2006/relationships/image" Target="../media/image38.png"/><Relationship Id="rId7" Type="http://schemas.openxmlformats.org/officeDocument/2006/relationships/image" Target="../media/image47.svg"/><Relationship Id="rId8" Type="http://schemas.openxmlformats.org/officeDocument/2006/relationships/image" Target="../media/image40.png"/><Relationship Id="rId9" Type="http://schemas.openxmlformats.org/officeDocument/2006/relationships/image" Target="../media/image48.svg"/><Relationship Id="rId10" Type="http://schemas.openxmlformats.org/officeDocument/2006/relationships/image" Target="../media/image42.png"/><Relationship Id="rId11" Type="http://schemas.openxmlformats.org/officeDocument/2006/relationships/image" Target="../media/image49.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image" Target="../media/image38.png"/><Relationship Id="rId5" Type="http://schemas.openxmlformats.org/officeDocument/2006/relationships/image" Target="../media/image52.svg"/><Relationship Id="rId6" Type="http://schemas.openxmlformats.org/officeDocument/2006/relationships/image" Target="../media/image36.png"/><Relationship Id="rId7" Type="http://schemas.openxmlformats.org/officeDocument/2006/relationships/image" Target="../media/image53.svg"/><Relationship Id="rId8" Type="http://schemas.openxmlformats.org/officeDocument/2006/relationships/image" Target="../media/image40.png"/><Relationship Id="rId9" Type="http://schemas.openxmlformats.org/officeDocument/2006/relationships/image" Target="../media/image54.svg"/><Relationship Id="rId10" Type="http://schemas.openxmlformats.org/officeDocument/2006/relationships/image" Target="../media/image42.png"/><Relationship Id="rId11" Type="http://schemas.openxmlformats.org/officeDocument/2006/relationships/image" Target="../media/image55.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0.png"/><Relationship Id="rId5" Type="http://schemas.openxmlformats.org/officeDocument/2006/relationships/image" Target="../media/image58.svg"/><Relationship Id="rId6" Type="http://schemas.openxmlformats.org/officeDocument/2006/relationships/image" Target="../media/image36.png"/><Relationship Id="rId7" Type="http://schemas.openxmlformats.org/officeDocument/2006/relationships/image" Target="../media/image59.svg"/><Relationship Id="rId8" Type="http://schemas.openxmlformats.org/officeDocument/2006/relationships/image" Target="../media/image38.png"/><Relationship Id="rId9" Type="http://schemas.openxmlformats.org/officeDocument/2006/relationships/image" Target="../media/image60.svg"/><Relationship Id="rId10" Type="http://schemas.openxmlformats.org/officeDocument/2006/relationships/image" Target="../media/image42.png"/><Relationship Id="rId11" Type="http://schemas.openxmlformats.org/officeDocument/2006/relationships/image" Target="../media/image61.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42.png"/><Relationship Id="rId5" Type="http://schemas.openxmlformats.org/officeDocument/2006/relationships/image" Target="../media/image64.svg"/><Relationship Id="rId6" Type="http://schemas.openxmlformats.org/officeDocument/2006/relationships/image" Target="../media/image36.png"/><Relationship Id="rId7" Type="http://schemas.openxmlformats.org/officeDocument/2006/relationships/image" Target="../media/image65.svg"/><Relationship Id="rId8" Type="http://schemas.openxmlformats.org/officeDocument/2006/relationships/image" Target="../media/image38.png"/><Relationship Id="rId9" Type="http://schemas.openxmlformats.org/officeDocument/2006/relationships/image" Target="../media/image66.svg"/><Relationship Id="rId10" Type="http://schemas.openxmlformats.org/officeDocument/2006/relationships/image" Target="../media/image40.png"/><Relationship Id="rId11" Type="http://schemas.openxmlformats.org/officeDocument/2006/relationships/image" Target="../media/image67.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8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Data Science Landscape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DATA</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1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FE65560D-3F20-4824-8DBE-81FF68B485AF}" type="slidenum">
              <a:rPr lang="en-GB" sz="1000">
                <a:solidFill>
                  <a:srgbClr val="8795A1"/>
                </a:solidFill>
                <a:latin typeface="Segoe UI"/>
              </a:rPr>
              <a:t>2</a:t>
            </a:fld>
          </a:p>
        </p:txBody>
      </p:sp>
      <p:sp>
        <p:nvSpPr>
          <p:cNvPr id="7" name="!!rp1"/>
          <p:cNvSpPr txBox="1"/>
          <p:nvPr/>
        </p:nvSpPr>
        <p:spPr>
          <a:xfrm>
            <a:off x="932687"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932687" y="2029967"/>
            <a:ext cx="1789880"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51752"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51752"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62566"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6256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21" name="!!dot2">
            <a:extLst>
              <a:ext uri="{C183D7F6-B498-43B3-948B-1728B52AA6E4}">
                <adec:decorative xmlns:adec="http://schemas.microsoft.com/office/drawing/2017/decorative" val="1"/>
              </a:ext>
            </a:extLst>
          </p:cNvPr>
          <p:cNvSpPr/>
          <p:nvPr/>
        </p:nvSpPr>
        <p:spPr>
          <a:xfrm>
            <a:off x="1345868"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2544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2741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359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0896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1752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19051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0990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47206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3806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02793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9364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5836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Data Science Landscape</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8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7" name="!!chipUS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bUS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tUS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The Data Science Lifecycle</a:t>
            </a:r>
          </a:p>
        </p:txBody>
      </p:sp>
      <p:sp>
        <p:nvSpPr>
          <p:cNvPr id="9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A15453B2-D792-4B02-B8F5-AE0289F325AA}"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data science and distinguish it from artificial intelligence, machine learning, deep learning, generative AI and agentic AI.</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these fields are nested rather than separate, using the containment diagram.</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Classify</a:t>
            </a:r>
            <a:r>
              <a:rPr sz="2100" b="0" i="0">
                <a:solidFill>
                  <a:srgbClr val="1C252B"/>
                </a:solidFill>
                <a:latin typeface="Segoe UI"/>
              </a:rPr>
              <a:t> a problem into the level of analytics it requires — descriptive, diagnostic, predictive or prescriptive.</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Identify</a:t>
            </a:r>
            <a:r>
              <a:rPr sz="2100" b="0" i="0">
                <a:solidFill>
                  <a:srgbClr val="1C252B"/>
                </a:solidFill>
                <a:latin typeface="Segoe UI"/>
              </a:rPr>
              <a:t> the main roles on a data team and what each is accountable for.</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one realistic data science application in each of the four running domains of this course.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3FA188B4-4182-4ABF-A9BF-266E8DC0662D}" type="slidenum">
              <a:rPr lang="en-GB" sz="1000">
                <a:solidFill>
                  <a:srgbClr val="8795A1"/>
                </a:solidFill>
                <a:latin typeface="Segoe UI"/>
              </a:rPr>
              <a:t>4</a:t>
            </a:fld>
          </a:p>
        </p:txBody>
      </p:sp>
      <p:sp>
        <p:nvSpPr>
          <p:cNvPr id="7" name="!!term-data science">
            <a:extLst>
              <a:ext uri="{C183D7F6-B498-43B3-948B-1728B52AA6E4}">
                <adec:decorative xmlns:adec="http://schemas.microsoft.com/office/drawing/2017/decorative" val="1"/>
              </a:ext>
            </a:extLst>
          </p:cNvPr>
          <p:cNvSpPr/>
          <p:nvPr/>
        </p:nvSpPr>
        <p:spPr>
          <a:xfrm>
            <a:off x="658368" y="1847088"/>
            <a:ext cx="16329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ata scienc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ata science"/>
          <p:cNvSpPr txBox="1"/>
          <p:nvPr/>
        </p:nvSpPr>
        <p:spPr>
          <a:xfrm>
            <a:off x="950976" y="1955291"/>
            <a:ext cx="145005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data science</a:t>
            </a:r>
          </a:p>
        </p:txBody>
      </p:sp>
      <p:sp>
        <p:nvSpPr>
          <p:cNvPr id="10" name="!!term-artificial int">
            <a:extLst>
              <a:ext uri="{C183D7F6-B498-43B3-948B-1728B52AA6E4}">
                <adec:decorative xmlns:adec="http://schemas.microsoft.com/office/drawing/2017/decorative" val="1"/>
              </a:ext>
            </a:extLst>
          </p:cNvPr>
          <p:cNvSpPr/>
          <p:nvPr/>
        </p:nvSpPr>
        <p:spPr>
          <a:xfrm>
            <a:off x="2437605" y="1847088"/>
            <a:ext cx="23727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rtificial int">
            <a:extLst>
              <a:ext uri="{C183D7F6-B498-43B3-948B-1728B52AA6E4}">
                <adec:decorative xmlns:adec="http://schemas.microsoft.com/office/drawing/2017/decorative" val="1"/>
              </a:ext>
            </a:extLst>
          </p:cNvPr>
          <p:cNvSpPr/>
          <p:nvPr/>
        </p:nvSpPr>
        <p:spPr>
          <a:xfrm>
            <a:off x="256562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rtificial int"/>
          <p:cNvSpPr txBox="1"/>
          <p:nvPr/>
        </p:nvSpPr>
        <p:spPr>
          <a:xfrm>
            <a:off x="2730213" y="1955291"/>
            <a:ext cx="218983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artificial intelligence</a:t>
            </a:r>
          </a:p>
        </p:txBody>
      </p:sp>
      <p:sp>
        <p:nvSpPr>
          <p:cNvPr id="13" name="!!term-machine learni">
            <a:extLst>
              <a:ext uri="{C183D7F6-B498-43B3-948B-1728B52AA6E4}">
                <adec:decorative xmlns:adec="http://schemas.microsoft.com/office/drawing/2017/decorative" val="1"/>
              </a:ext>
            </a:extLst>
          </p:cNvPr>
          <p:cNvSpPr/>
          <p:nvPr/>
        </p:nvSpPr>
        <p:spPr>
          <a:xfrm>
            <a:off x="4956628" y="1847088"/>
            <a:ext cx="2109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chine learni">
            <a:extLst>
              <a:ext uri="{C183D7F6-B498-43B3-948B-1728B52AA6E4}">
                <adec:decorative xmlns:adec="http://schemas.microsoft.com/office/drawing/2017/decorative" val="1"/>
              </a:ext>
            </a:extLst>
          </p:cNvPr>
          <p:cNvSpPr/>
          <p:nvPr/>
        </p:nvSpPr>
        <p:spPr>
          <a:xfrm>
            <a:off x="508464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chine learni"/>
          <p:cNvSpPr txBox="1"/>
          <p:nvPr/>
        </p:nvSpPr>
        <p:spPr>
          <a:xfrm>
            <a:off x="5249236" y="1955291"/>
            <a:ext cx="192703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machine learning</a:t>
            </a:r>
          </a:p>
        </p:txBody>
      </p:sp>
      <p:sp>
        <p:nvSpPr>
          <p:cNvPr id="16" name="!!term-deep learning">
            <a:extLst>
              <a:ext uri="{C183D7F6-B498-43B3-948B-1728B52AA6E4}">
                <adec:decorative xmlns:adec="http://schemas.microsoft.com/office/drawing/2017/decorative" val="1"/>
              </a:ext>
            </a:extLst>
          </p:cNvPr>
          <p:cNvSpPr/>
          <p:nvPr/>
        </p:nvSpPr>
        <p:spPr>
          <a:xfrm>
            <a:off x="7212851" y="1847088"/>
            <a:ext cx="17782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ep learning">
            <a:extLst>
              <a:ext uri="{C183D7F6-B498-43B3-948B-1728B52AA6E4}">
                <adec:decorative xmlns:adec="http://schemas.microsoft.com/office/drawing/2017/decorative" val="1"/>
              </a:ext>
            </a:extLst>
          </p:cNvPr>
          <p:cNvSpPr/>
          <p:nvPr/>
        </p:nvSpPr>
        <p:spPr>
          <a:xfrm>
            <a:off x="734086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ep learning"/>
          <p:cNvSpPr txBox="1"/>
          <p:nvPr/>
        </p:nvSpPr>
        <p:spPr>
          <a:xfrm>
            <a:off x="7505459" y="1955291"/>
            <a:ext cx="159539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deep learning</a:t>
            </a:r>
          </a:p>
        </p:txBody>
      </p:sp>
      <p:sp>
        <p:nvSpPr>
          <p:cNvPr id="19" name="!!term-generative AI">
            <a:extLst>
              <a:ext uri="{C183D7F6-B498-43B3-948B-1728B52AA6E4}">
                <adec:decorative xmlns:adec="http://schemas.microsoft.com/office/drawing/2017/decorative" val="1"/>
              </a:ext>
            </a:extLst>
          </p:cNvPr>
          <p:cNvSpPr/>
          <p:nvPr/>
        </p:nvSpPr>
        <p:spPr>
          <a:xfrm>
            <a:off x="9137426" y="1847088"/>
            <a:ext cx="17218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generative AI">
            <a:extLst>
              <a:ext uri="{C183D7F6-B498-43B3-948B-1728B52AA6E4}">
                <adec:decorative xmlns:adec="http://schemas.microsoft.com/office/drawing/2017/decorative" val="1"/>
              </a:ext>
            </a:extLst>
          </p:cNvPr>
          <p:cNvSpPr/>
          <p:nvPr/>
        </p:nvSpPr>
        <p:spPr>
          <a:xfrm>
            <a:off x="92654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generative AI"/>
          <p:cNvSpPr txBox="1"/>
          <p:nvPr/>
        </p:nvSpPr>
        <p:spPr>
          <a:xfrm>
            <a:off x="9430034" y="1955291"/>
            <a:ext cx="153900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generative AI</a:t>
            </a:r>
          </a:p>
        </p:txBody>
      </p:sp>
      <p:sp>
        <p:nvSpPr>
          <p:cNvPr id="22" name="!!term-agentic AI">
            <a:extLst>
              <a:ext uri="{C183D7F6-B498-43B3-948B-1728B52AA6E4}">
                <adec:decorative xmlns:adec="http://schemas.microsoft.com/office/drawing/2017/decorative" val="1"/>
              </a:ext>
            </a:extLst>
          </p:cNvPr>
          <p:cNvSpPr/>
          <p:nvPr/>
        </p:nvSpPr>
        <p:spPr>
          <a:xfrm>
            <a:off x="658368" y="2468880"/>
            <a:ext cx="14111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agentic A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agentic AI"/>
          <p:cNvSpPr txBox="1"/>
          <p:nvPr/>
        </p:nvSpPr>
        <p:spPr>
          <a:xfrm>
            <a:off x="950976" y="2577084"/>
            <a:ext cx="122829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agentic AI</a:t>
            </a:r>
          </a:p>
        </p:txBody>
      </p:sp>
      <p:sp>
        <p:nvSpPr>
          <p:cNvPr id="25" name="!!term-data mining">
            <a:extLst>
              <a:ext uri="{C183D7F6-B498-43B3-948B-1728B52AA6E4}">
                <adec:decorative xmlns:adec="http://schemas.microsoft.com/office/drawing/2017/decorative" val="1"/>
              </a:ext>
            </a:extLst>
          </p:cNvPr>
          <p:cNvSpPr/>
          <p:nvPr/>
        </p:nvSpPr>
        <p:spPr>
          <a:xfrm>
            <a:off x="2215846" y="2468880"/>
            <a:ext cx="16029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ata mining">
            <a:extLst>
              <a:ext uri="{C183D7F6-B498-43B3-948B-1728B52AA6E4}">
                <adec:decorative xmlns:adec="http://schemas.microsoft.com/office/drawing/2017/decorative" val="1"/>
              </a:ext>
            </a:extLst>
          </p:cNvPr>
          <p:cNvSpPr/>
          <p:nvPr/>
        </p:nvSpPr>
        <p:spPr>
          <a:xfrm>
            <a:off x="234386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ata mining"/>
          <p:cNvSpPr txBox="1"/>
          <p:nvPr/>
        </p:nvSpPr>
        <p:spPr>
          <a:xfrm>
            <a:off x="2508454" y="2577084"/>
            <a:ext cx="142010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data mining</a:t>
            </a:r>
          </a:p>
        </p:txBody>
      </p:sp>
      <p:sp>
        <p:nvSpPr>
          <p:cNvPr id="28" name="!!term-descriptive, d">
            <a:extLst>
              <a:ext uri="{C183D7F6-B498-43B3-948B-1728B52AA6E4}">
                <adec:decorative xmlns:adec="http://schemas.microsoft.com/office/drawing/2017/decorative" val="1"/>
              </a:ext>
            </a:extLst>
          </p:cNvPr>
          <p:cNvSpPr/>
          <p:nvPr/>
        </p:nvSpPr>
        <p:spPr>
          <a:xfrm>
            <a:off x="3965134" y="2468880"/>
            <a:ext cx="61628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escriptive, d">
            <a:extLst>
              <a:ext uri="{C183D7F6-B498-43B3-948B-1728B52AA6E4}">
                <adec:decorative xmlns:adec="http://schemas.microsoft.com/office/drawing/2017/decorative" val="1"/>
              </a:ext>
            </a:extLst>
          </p:cNvPr>
          <p:cNvSpPr/>
          <p:nvPr/>
        </p:nvSpPr>
        <p:spPr>
          <a:xfrm>
            <a:off x="40931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escriptive, d"/>
          <p:cNvSpPr txBox="1"/>
          <p:nvPr/>
        </p:nvSpPr>
        <p:spPr>
          <a:xfrm>
            <a:off x="4257742" y="2577084"/>
            <a:ext cx="598001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descriptive, diagnostic, predictive and prescriptive analytics</a:t>
            </a:r>
          </a:p>
        </p:txBody>
      </p:sp>
      <p:sp>
        <p:nvSpPr>
          <p:cNvPr id="31" name="!!term-data product">
            <a:extLst>
              <a:ext uri="{C183D7F6-B498-43B3-948B-1728B52AA6E4}">
                <adec:decorative xmlns:adec="http://schemas.microsoft.com/office/drawing/2017/decorative" val="1"/>
              </a:ext>
            </a:extLst>
          </p:cNvPr>
          <p:cNvSpPr/>
          <p:nvPr/>
        </p:nvSpPr>
        <p:spPr>
          <a:xfrm>
            <a:off x="658368" y="3090672"/>
            <a:ext cx="16936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ata produc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ata product"/>
          <p:cNvSpPr txBox="1"/>
          <p:nvPr/>
        </p:nvSpPr>
        <p:spPr>
          <a:xfrm>
            <a:off x="950976" y="3198876"/>
            <a:ext cx="151078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data product</a:t>
            </a:r>
          </a:p>
        </p:txBody>
      </p:sp>
      <p:sp>
        <p:nvSpPr>
          <p:cNvPr id="34"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3–10     </a:t>
            </a:r>
            <a:fld id="{11D8A1D9-3B11-4FF7-A406-364A55F2CE68}" type="slidenum">
              <a:rPr lang="en-GB" sz="1000">
                <a:solidFill>
                  <a:srgbClr val="8795A1"/>
                </a:solidFill>
                <a:latin typeface="Segoe UI"/>
              </a:rPr>
              <a:t>5</a:t>
            </a:fld>
          </a:p>
        </p:txBody>
      </p:sp>
      <p:sp>
        <p:nvSpPr>
          <p:cNvPr id="7" name="!!ag0" descr="Go to section 1.1 A Motivating Scenario">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Motivating Scenario</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  ›</a:t>
            </a:r>
          </a:p>
        </p:txBody>
      </p:sp>
      <p:sp>
        <p:nvSpPr>
          <p:cNvPr id="12" name="!!ag1" descr="Go to section 1.2 What Data Science I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Data Science Is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17" name="!!ag2" descr="Go to section 1.3 The Nested Fields: AI, ML and Deep Learn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Nested Fields: AI, ML and Deep Learning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22" name="!!ag3" descr="Go to section 1.4 The Newer Members: Generative and Agentic AI">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Newer Members: Generative and Agentic AI</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  ›</a:t>
            </a:r>
          </a:p>
        </p:txBody>
      </p:sp>
      <p:sp>
        <p:nvSpPr>
          <p:cNvPr id="27" name="!!ag4" descr="Go to section 1.5 The Four Levels of Analytic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Four Levels of Analytics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  ›</a:t>
            </a:r>
          </a:p>
        </p:txBody>
      </p:sp>
      <p:sp>
        <p:nvSpPr>
          <p:cNvPr id="32" name="!!ag5" descr="Go to section 1.6 Who Does What: Roles on a Data Team">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Who Does What: Roles on a Data Team</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Motivating Scenario</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FF87151B-8222-427C-B3A5-5E79FF0BAFDD}"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3243"/>
          </a:xfrm>
          <a:prstGeom prst="roundRect">
            <a:avLst>
              <a:gd name="adj" fmla="val 234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324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different questions could be asked of that pile of data, and they are not the same question:</a:t>
            </a:r>
          </a:p>
        </p:txBody>
      </p:sp>
      <p:sp>
        <p:nvSpPr>
          <p:cNvPr id="10" name="body-1"/>
          <p:cNvSpPr txBox="1"/>
          <p:nvPr/>
        </p:nvSpPr>
        <p:spPr>
          <a:xfrm>
            <a:off x="1060704" y="2937992"/>
            <a:ext cx="10161727" cy="2437434"/>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How many students failed last year, and in which week did they stop submitting?</a:t>
            </a:r>
            <a:r>
              <a:rPr sz="2300" b="0" i="0">
                <a:solidFill>
                  <a:srgbClr val="1C252B"/>
                </a:solidFill>
                <a:latin typeface="Segoe UI"/>
              </a:rPr>
              <a:t> — a question about what happened.</a:t>
            </a:r>
          </a:p>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Which students currently enrolled are likely to fail?</a:t>
            </a:r>
            <a:r>
              <a:rPr sz="2300" b="0" i="0">
                <a:solidFill>
                  <a:srgbClr val="1C252B"/>
                </a:solidFill>
                <a:latin typeface="Segoe UI"/>
              </a:rPr>
              <a:t> — a question about what will happen.</a:t>
            </a:r>
          </a:p>
          <a:p>
            <a:pPr algn="l" marL="257176" indent="-257176">
              <a:lnSpc>
                <a:spcPct val="104000"/>
              </a:lnSpc>
              <a:spcBef>
                <a:spcPts val="0"/>
              </a:spcBef>
              <a:spcAft>
                <a:spcPts val="0"/>
              </a:spcAft>
            </a:pPr>
            <a:r>
              <a:rPr sz="2300" b="1">
                <a:solidFill>
                  <a:srgbClr val="1A5276"/>
                </a:solidFill>
                <a:latin typeface="Segoe UI"/>
              </a:rPr>
              <a:t>•	</a:t>
            </a:r>
            <a:r>
              <a:rPr sz="2300" b="0" i="1">
                <a:solidFill>
                  <a:srgbClr val="1C252B"/>
                </a:solidFill>
                <a:latin typeface="Segoe UI"/>
              </a:rPr>
              <a:t>Which of these students should get a tutor, given that we can only fund fifteen?</a:t>
            </a:r>
            <a:r>
              <a:rPr sz="2300" b="0" i="0">
                <a:solidFill>
                  <a:srgbClr val="1C252B"/>
                </a:solidFill>
                <a:latin typeface="Segoe UI"/>
              </a:rPr>
              <a:t> — a question about what to do.</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Data Science 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Motivating Scenario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1.2   What Data Science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Nested Fields: AI, ML and Deep Learning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Newer Members: Generative and Agentic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The Four Levels of Analytics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Who Does What: Roles on a Data Team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     </a:t>
            </a:r>
            <a:fld id="{0A132280-10FF-433E-A41E-D7F88F088A69}"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Science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2D13A8CD-8E84-4CCB-9F84-3DCFEA7859C7}"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Data science is the interdisciplinary practice of turning </a:t>
            </a:r>
            <a:r>
              <a:rPr sz="2300" b="1" i="0">
                <a:solidFill>
                  <a:srgbClr val="1C252B"/>
                </a:solidFill>
                <a:latin typeface="Segoe UI"/>
              </a:rPr>
              <a:t>data</a:t>
            </a:r>
            <a:r>
              <a:rPr sz="2300" b="0" i="0">
                <a:solidFill>
                  <a:srgbClr val="1C252B"/>
                </a:solidFill>
                <a:latin typeface="Segoe UI"/>
              </a:rPr>
              <a:t> into </a:t>
            </a:r>
            <a:r>
              <a:rPr sz="2300" b="1" i="0">
                <a:solidFill>
                  <a:srgbClr val="1C252B"/>
                </a:solidFill>
                <a:latin typeface="Segoe UI"/>
              </a:rPr>
              <a:t>understanding</a:t>
            </a:r>
            <a:r>
              <a:rPr sz="2300" b="0" i="0">
                <a:solidFill>
                  <a:srgbClr val="1C252B"/>
                </a:solidFill>
                <a:latin typeface="Segoe UI"/>
              </a:rPr>
              <a:t> and </a:t>
            </a:r>
            <a:r>
              <a:rPr sz="2300" b="1" i="0">
                <a:solidFill>
                  <a:srgbClr val="1C252B"/>
                </a:solidFill>
                <a:latin typeface="Segoe UI"/>
              </a:rPr>
              <a:t>action</a:t>
            </a:r>
            <a:r>
              <a:rPr sz="2300" b="0" i="0">
                <a:solidFill>
                  <a:srgbClr val="1C252B"/>
                </a:solidFill>
                <a:latin typeface="Segoe UI"/>
              </a:rPr>
              <a:t>. It combines statistics, computing, data engineering, machine learning, domain knowledge and communication to extract insight, build predictive systems and support better decisions.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Things Data Science Needs at Once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B1258E94-9CAA-4E04-A408-6D39468D188D}"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Mathematics and statistics</a:t>
            </a:r>
            <a:r>
              <a:rPr sz="2300" b="0" i="0">
                <a:solidFill>
                  <a:srgbClr val="1C252B"/>
                </a:solidFill>
                <a:latin typeface="Segoe UI"/>
              </a:rPr>
              <a:t> without programming leaves you unable to work at scale. </a:t>
            </a:r>
            <a:r>
              <a:rPr sz="2300" b="0" i="1">
                <a:solidFill>
                  <a:srgbClr val="1C252B"/>
                </a:solidFill>
                <a:latin typeface="Segoe UI"/>
              </a:rPr>
              <a:t>Programming</a:t>
            </a:r>
            <a:r>
              <a:rPr sz="2300" b="0" i="0">
                <a:solidFill>
                  <a:srgbClr val="1C252B"/>
                </a:solidFill>
                <a:latin typeface="Segoe UI"/>
              </a:rPr>
              <a:t> without statistics produces confident nonsense. Both without </a:t>
            </a:r>
            <a:r>
              <a:rPr sz="2300" b="0" i="1">
                <a:solidFill>
                  <a:srgbClr val="1C252B"/>
                </a:solidFill>
                <a:latin typeface="Segoe UI"/>
              </a:rPr>
              <a:t>domain knowledge</a:t>
            </a:r>
            <a:r>
              <a:rPr sz="2300" b="0" i="0">
                <a:solidFill>
                  <a:srgbClr val="1C252B"/>
                </a:solidFill>
                <a:latin typeface="Segoe UI"/>
              </a:rPr>
              <a:t> produce technically correct answers to the wrong question. Most failures you will meet in industry are of the third kind.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science as the intersection of three capabilities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01DF5F68-53A5-432D-8A3A-6E21D9B2CDB2}" type="slidenum">
              <a:rPr lang="en-GB" sz="1000">
                <a:solidFill>
                  <a:srgbClr val="8795A1"/>
                </a:solidFill>
                <a:latin typeface="Segoe UI"/>
              </a:rPr>
              <a:t>10</a:t>
            </a:fld>
          </a:p>
        </p:txBody>
      </p:sp>
      <p:pic>
        <p:nvPicPr>
          <p:cNvPr id="6" name="!!figure" descr="Figure 1.1. Data science as the intersection of three capabilities. Each pair produces something useful on its own; only the centre is data science. The most common professional failure is drifting out of the gold circle — solving a problem the domain did not hav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7360"/>
            <a:ext cx="5791883" cy="457200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834299" y="3241548"/>
            <a:ext cx="54864" cy="1563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7053755" y="3214116"/>
            <a:ext cx="4424707" cy="1655064"/>
          </a:xfrm>
          <a:prstGeom prst="rect">
            <a:avLst/>
          </a:prstGeom>
          <a:noFill/>
        </p:spPr>
        <p:txBody>
          <a:bodyPr wrap="square" anchor="t" lIns="0" rIns="0" tIns="0" bIns="0">
            <a:noAutofit/>
          </a:bodyPr>
          <a:lstStyle/>
          <a:p>
            <a:pPr algn="l">
              <a:lnSpc>
                <a:spcPct val="108000"/>
              </a:lnSpc>
              <a:spcBef>
                <a:spcPts val="0"/>
              </a:spcBef>
              <a:spcAft>
                <a:spcPts val="0"/>
              </a:spcAft>
            </a:pPr>
            <a:r>
              <a:rPr sz="1900" b="0" i="0">
                <a:solidFill>
                  <a:srgbClr val="3E4C57"/>
                </a:solidFill>
                <a:latin typeface="Segoe UI"/>
              </a:rPr>
              <a:t>Each pair produces something useful on its own; only the centre is data science. The most common professional failure is drifting out of the gold circle — solving a problem the domain did not have.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Nested Fields: AI, ML and Deep Learning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Motivating Scenario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Data Science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1.3   The Nested Fields: AI, ML and Deep Learning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Newer Members: Generative and Agentic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The Four Levels of Analytics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Who Does What: Roles on a Data Team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     </a:t>
            </a:r>
            <a:fld id="{95DC08B0-C2DD-4178-BA47-B7AFE96907B7}"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nesting of AI, machine learning and deep learning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4     </a:t>
            </a:r>
            <a:fld id="{17874B0B-67C9-428F-BFCD-60D944127DE9}" type="slidenum">
              <a:rPr lang="en-GB" sz="1000">
                <a:solidFill>
                  <a:srgbClr val="8795A1"/>
                </a:solidFill>
                <a:latin typeface="Segoe UI"/>
              </a:rPr>
              <a:t>12</a:t>
            </a:fld>
          </a:p>
        </p:txBody>
      </p:sp>
      <p:pic>
        <p:nvPicPr>
          <p:cNvPr id="6" name="!!figure" descr="Figure 1.2. The nesting of AI, machine learning and deep learning. Every deep learning system is a machine learning system; every machine learning system is an AI system; the reverse is false in both cases. A hand-written rulebook that decides loan applications is AI but not machine learn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7360"/>
            <a:ext cx="4199561" cy="457200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5241977" y="3241548"/>
            <a:ext cx="54864" cy="1563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5461433" y="3214116"/>
            <a:ext cx="6017029" cy="1655064"/>
          </a:xfrm>
          <a:prstGeom prst="rect">
            <a:avLst/>
          </a:prstGeom>
          <a:noFill/>
        </p:spPr>
        <p:txBody>
          <a:bodyPr wrap="square" anchor="t" lIns="0" rIns="0" tIns="0" bIns="0">
            <a:noAutofit/>
          </a:bodyPr>
          <a:lstStyle/>
          <a:p>
            <a:pPr algn="l">
              <a:lnSpc>
                <a:spcPct val="108000"/>
              </a:lnSpc>
              <a:spcBef>
                <a:spcPts val="0"/>
              </a:spcBef>
              <a:spcAft>
                <a:spcPts val="0"/>
              </a:spcAft>
            </a:pPr>
            <a:r>
              <a:rPr sz="1900" b="0" i="0">
                <a:solidFill>
                  <a:srgbClr val="3E4C57"/>
                </a:solidFill>
                <a:latin typeface="Segoe UI"/>
              </a:rPr>
              <a:t>Every deep learning system is a machine learning system; every machine learning system is an AI system; the reverse is false in both cases. A hand-written rulebook that decides loan applications is AI but not machine learning.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Nested Fields: AI, ML and Deep Learning</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4     </a:t>
            </a:r>
            <a:fld id="{405C5240-EE21-4B8A-BF45-40BEA8BB615D}"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7129"/>
          </a:xfrm>
          <a:prstGeom prst="roundRect">
            <a:avLst>
              <a:gd name="adj" fmla="val 2226"/>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712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53105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Artificial Intelligence</a:t>
            </a:r>
            <a:r>
              <a:rPr sz="2300" b="0" i="0">
                <a:solidFill>
                  <a:srgbClr val="1C252B"/>
                </a:solidFill>
                <a:latin typeface="Segoe UI"/>
              </a:rPr>
              <a:t> is the outermost field: any technique that makes a machine behave in a way we would call intelligent. A chess program that searches moves exhaustively is AI and contains no learning at all.</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Machine Learning</a:t>
            </a:r>
            <a:r>
              <a:rPr sz="2300" b="0" i="0">
                <a:solidFill>
                  <a:srgbClr val="1C252B"/>
                </a:solidFill>
                <a:latin typeface="Segoe UI"/>
              </a:rPr>
              <a:t> is the subset of AI in which behaviour is </a:t>
            </a:r>
            <a:r>
              <a:rPr sz="2300" b="0" i="1">
                <a:solidFill>
                  <a:srgbClr val="1C252B"/>
                </a:solidFill>
                <a:latin typeface="Segoe UI"/>
              </a:rPr>
              <a:t>learned from data</a:t>
            </a:r>
            <a:r>
              <a:rPr sz="2300" b="0" i="0">
                <a:solidFill>
                  <a:srgbClr val="1C252B"/>
                </a:solidFill>
                <a:latin typeface="Segoe UI"/>
              </a:rPr>
              <a:t> rather than programmed. Nobody writes the rule “if the email contains the word </a:t>
            </a:r>
            <a:r>
              <a:rPr sz="2300" b="0" i="1">
                <a:solidFill>
                  <a:srgbClr val="1C252B"/>
                </a:solidFill>
                <a:latin typeface="Segoe UI"/>
              </a:rPr>
              <a:t>lottery</a:t>
            </a:r>
            <a:r>
              <a:rPr sz="2300" b="0" i="0">
                <a:solidFill>
                  <a:srgbClr val="1C252B"/>
                </a:solidFill>
                <a:latin typeface="Segoe UI"/>
              </a:rPr>
              <a:t>, mark it spam” — the algorithm discovers it.</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Deep Learning</a:t>
            </a:r>
            <a:r>
              <a:rPr sz="2300" b="0" i="0">
                <a:solidFill>
                  <a:srgbClr val="1C252B"/>
                </a:solidFill>
                <a:latin typeface="Segoe UI"/>
              </a:rPr>
              <a:t> is the subset of ML that uses neural networks with many layers, which lets the system learn its own features instead of being handed them.</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science and its component practices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5     </a:t>
            </a:r>
            <a:fld id="{5D7FA7BD-F9F6-4015-994C-73EBBE032F5B}" type="slidenum">
              <a:rPr lang="en-GB" sz="1000">
                <a:solidFill>
                  <a:srgbClr val="8795A1"/>
                </a:solidFill>
                <a:latin typeface="Segoe UI"/>
              </a:rPr>
              <a:t>14</a:t>
            </a:fld>
          </a:p>
        </p:txBody>
      </p:sp>
      <p:pic>
        <p:nvPicPr>
          <p:cNvPr id="6" name="!!figure" descr="Figure 1.3. Data science and its component practices. Analytics, engineering and statistics are first-class members, not lesser cousins of machine learning — most working days involve more of them than of modell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95989" y="1737360"/>
            <a:ext cx="939971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Analytics, engineering and statistics are first-class members, not lesser cousins of machine learning — most working days involve more of them than of modelling.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Newer Members: Generative and Agentic AI</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Motivating Scenario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Data Science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Nested Fields: AI, ML and Deep Learning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1.4   The Newer Members: Generative and Agentic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The Four Levels of Analytics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Who Does What: Roles on a Data Team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     </a:t>
            </a:r>
            <a:fld id="{FDD67039-95CC-4686-B67A-715A44C5557E}" type="slidenum">
              <a:rPr lang="en-GB" sz="1000">
                <a:solidFill>
                  <a:srgbClr val="8795A1"/>
                </a:solidFill>
                <a:latin typeface="Segoe UI"/>
              </a:rPr>
              <a:t>15</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Generative AI</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5     </a:t>
            </a:r>
            <a:fld id="{25557D37-7A3B-4E4C-AE92-BE01E274553A}"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Systems that </a:t>
            </a:r>
            <a:r>
              <a:rPr sz="2300" b="1" i="0">
                <a:solidFill>
                  <a:srgbClr val="1C252B"/>
                </a:solidFill>
                <a:latin typeface="Segoe UI"/>
              </a:rPr>
              <a:t>create new content</a:t>
            </a:r>
            <a:r>
              <a:rPr sz="2300" b="0" i="0">
                <a:solidFill>
                  <a:srgbClr val="1C252B"/>
                </a:solidFill>
                <a:latin typeface="Segoe UI"/>
              </a:rPr>
              <a:t> — text, images, code, audio — resembling their training data, rather than producing a label or a number. The question they answer is </a:t>
            </a:r>
            <a:r>
              <a:rPr sz="2300" b="0" i="1">
                <a:solidFill>
                  <a:srgbClr val="1C252B"/>
                </a:solidFill>
                <a:latin typeface="Segoe UI"/>
              </a:rPr>
              <a:t>“what would plausibly come next?”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Agentic AI</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5     </a:t>
            </a:r>
            <a:fld id="{7FA02D27-346D-41F7-9FD7-B860519BC1F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Systems that pursue a </a:t>
            </a:r>
            <a:r>
              <a:rPr sz="2300" b="1" i="0">
                <a:solidFill>
                  <a:srgbClr val="1C252B"/>
                </a:solidFill>
                <a:latin typeface="Segoe UI"/>
              </a:rPr>
              <a:t>goal</a:t>
            </a:r>
            <a:r>
              <a:rPr sz="2300" b="0" i="0">
                <a:solidFill>
                  <a:srgbClr val="1C252B"/>
                </a:solidFill>
                <a:latin typeface="Segoe UI"/>
              </a:rPr>
              <a:t> over multiple steps: they plan, call tools, observe results and adapt. The question they answer is </a:t>
            </a:r>
            <a:r>
              <a:rPr sz="2300" b="0" i="1">
                <a:solidFill>
                  <a:srgbClr val="1C252B"/>
                </a:solidFill>
                <a:latin typeface="Segoe UI"/>
              </a:rPr>
              <a:t>“what should I do next to get this done?”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Predictive, Generative, Agentic in One Sentence Each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5     </a:t>
            </a:r>
            <a:fld id="{EAFE437E-F577-4AE0-90F3-C15E3AC10A1A}"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0" i="1">
                <a:solidFill>
                  <a:srgbClr val="1C252B"/>
                </a:solidFill>
                <a:latin typeface="Segoe UI"/>
              </a:rPr>
              <a:t>predictive</a:t>
            </a:r>
            <a:r>
              <a:rPr sz="2300" b="0" i="0">
                <a:solidFill>
                  <a:srgbClr val="1C252B"/>
                </a:solidFill>
                <a:latin typeface="Segoe UI"/>
              </a:rPr>
              <a:t> model tells you a student is likely to fail. A </a:t>
            </a:r>
            <a:r>
              <a:rPr sz="2300" b="0" i="1">
                <a:solidFill>
                  <a:srgbClr val="1C252B"/>
                </a:solidFill>
                <a:latin typeface="Segoe UI"/>
              </a:rPr>
              <a:t>generative</a:t>
            </a:r>
            <a:r>
              <a:rPr sz="2300" b="0" i="0">
                <a:solidFill>
                  <a:srgbClr val="1C252B"/>
                </a:solidFill>
                <a:latin typeface="Segoe UI"/>
              </a:rPr>
              <a:t> model drafts the email you send them. An </a:t>
            </a:r>
            <a:r>
              <a:rPr sz="2300" b="0" i="1">
                <a:solidFill>
                  <a:srgbClr val="1C252B"/>
                </a:solidFill>
                <a:latin typeface="Segoe UI"/>
              </a:rPr>
              <a:t>agentic</a:t>
            </a:r>
            <a:r>
              <a:rPr sz="2300" b="0" i="0">
                <a:solidFill>
                  <a:srgbClr val="1C252B"/>
                </a:solidFill>
                <a:latin typeface="Segoe UI"/>
              </a:rPr>
              <a:t> system checks the timetable, finds a free tutor slot, drafts the email, books the appointment and reports back. Each is strictly more capable — and strictly harder to keep under control.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Four Levels of Analytics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Motivating Scenario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Data Science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Nested Fields: AI, ML and Deep Learning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Newer Members: Generative and Agentic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1.5   The Four Levels of Analytics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Who Does What: Roles on a Data Team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     </a:t>
            </a:r>
            <a:fld id="{9E1627D1-6C02-4281-97EA-669F7A749A0A}" type="slidenum">
              <a:rPr lang="en-GB" sz="1000">
                <a:solidFill>
                  <a:srgbClr val="8795A1"/>
                </a:solidFill>
                <a:latin typeface="Segoe UI"/>
              </a:rPr>
              <a:t>19</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levels of analytics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6CD17E2E-DC2F-4BF2-9267-214437C76125}" type="slidenum">
              <a:rPr lang="en-GB" sz="1000">
                <a:solidFill>
                  <a:srgbClr val="8795A1"/>
                </a:solidFill>
                <a:latin typeface="Segoe UI"/>
              </a:rPr>
              <a:t>20</a:t>
            </a:fld>
          </a:p>
        </p:txBody>
      </p:sp>
      <p:pic>
        <p:nvPicPr>
          <p:cNvPr id="6" name="!!figure" descr="Figure 1.4. The four levels of analytics. Value rises as you climb, but so does the cost of being wrong: a mistaken description misleads, a mistaken prescription causes har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03329" y="1737360"/>
            <a:ext cx="858503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Value rises as you climb, but so does the cost of being wrong: a mistaken description misleads, a mistaken prescription causes harm.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Levels of Analytics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ED189FDD-35DF-4DDC-8D85-5B0C3DEB39EB}"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7" cy="3063240"/>
        </p:xfrm>
        <a:graphic>
          <a:graphicData uri="http://schemas.openxmlformats.org/drawingml/2006/table">
            <a:tbl>
              <a:tblPr firstRow="0" bandRow="0" firstCol="0" lastRow="0" lastCol="0" bandCol="0">
                <a:tableStyleId>{2D5ABB26-0587-4C30-8999-92F81FD0307C}</a:tableStyleId>
              </a:tblPr>
              <a:tblGrid>
                <a:gridCol w="1787664"/>
                <a:gridCol w="2979440"/>
                <a:gridCol w="6107853"/>
              </a:tblGrid>
              <a:tr h="405384">
                <a:tc>
                  <a:txBody>
                    <a:bodyPr wrap="square"/>
                    <a:lstStyle/>
                    <a:p>
                      <a:pPr algn="l"/>
                      <a:r>
                        <a:rPr sz="1700" b="1" i="0">
                          <a:solidFill>
                            <a:srgbClr val="1A5276"/>
                          </a:solidFill>
                          <a:latin typeface="Segoe UI"/>
                        </a:rPr>
                        <a:t>Level</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Typical technique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Example from the opening scenario</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Descriptive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Counts, averages, dashboards, visualisation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21% of students failed; submissions collapse in week 6</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Diagnostic</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Segmentation, correlation, drill-down, root cause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Failures concentrate among students who missed the week 5 lab</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Predictive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Classification, regression, forecasting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This student has an estimated 0.78 probability of failing</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Prescriptive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Optimisation, simulation, decision rules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Assign the fifteen tutor slots so as to maximise expected passes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D18BC52D-E1DC-47E1-A3C3-A8A30E165F25}"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Selling prescriptive, delivering descriptive.</a:t>
            </a:r>
            <a:r>
              <a:rPr sz="2100" b="0" i="0">
                <a:solidFill>
                  <a:srgbClr val="1C252B"/>
                </a:solidFill>
                <a:latin typeface="Segoe UI"/>
              </a:rPr>
              <a:t> The most common failure of student and industry projects alike. Be honest about which rung you reached.</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9985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Skipping straight to prediction.</a:t>
            </a:r>
            <a:r>
              <a:rPr sz="2100" b="0" i="0">
                <a:solidFill>
                  <a:srgbClr val="1C252B"/>
                </a:solidFill>
                <a:latin typeface="Segoe UI"/>
              </a:rPr>
              <a:t> If nobody has described the data yet, your model rests on a misunderstanding. Every hour spent on Chapter 8 saves three in Chapter 14.</a:t>
            </a:r>
          </a:p>
        </p:txBody>
      </p:sp>
      <p:sp>
        <p:nvSpPr>
          <p:cNvPr id="13" name="!!pb2">
            <a:extLst>
              <a:ext uri="{C183D7F6-B498-43B3-948B-1728B52AA6E4}">
                <adec:decorative xmlns:adec="http://schemas.microsoft.com/office/drawing/2017/decorative" val="1"/>
              </a:ext>
            </a:extLst>
          </p:cNvPr>
          <p:cNvSpPr/>
          <p:nvPr/>
        </p:nvSpPr>
        <p:spPr>
          <a:xfrm>
            <a:off x="658368" y="382219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84505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80390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Assuming prescription follows from prediction.</a:t>
            </a:r>
            <a:r>
              <a:rPr sz="2100" b="0" i="0">
                <a:solidFill>
                  <a:srgbClr val="1C252B"/>
                </a:solidFill>
                <a:latin typeface="Segoe UI"/>
              </a:rPr>
              <a:t> Knowing who will fail does not tell you what helps. That needs the causal thinking of Chapter 10.</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Who Does What: Roles on a Data Team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Motivating Scenario</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Data Science 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Nested Fields: AI, ML and Deep Learning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Newer Members: Generative and Agentic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The Four Levels of Analytics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1.6   Who Does What: Roles on a Data Team</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     </a:t>
            </a:r>
            <a:fld id="{37A1FA37-5B20-46D6-AC74-B27128C6D7E0}" type="slidenum">
              <a:rPr lang="en-GB" sz="1000">
                <a:solidFill>
                  <a:srgbClr val="8795A1"/>
                </a:solidFill>
                <a:latin typeface="Segoe UI"/>
              </a:rPr>
              <a:t>23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Who Does What: Roles on a Data Team</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867945EC-544E-47BB-89E6-02F1FB1A3399}" type="slidenum">
              <a:rPr lang="en-GB" sz="1000">
                <a:solidFill>
                  <a:srgbClr val="8795A1"/>
                </a:solidFill>
                <a:latin typeface="Segoe UI"/>
              </a:rPr>
              <a:t>24</a:t>
            </a:fld>
          </a:p>
        </p:txBody>
      </p:sp>
      <p:graphicFrame>
        <p:nvGraphicFramePr>
          <p:cNvPr id="7" name="!!table"/>
          <p:cNvGraphicFramePr>
            <a:graphicFrameLocks noGrp="1"/>
          </p:cNvGraphicFramePr>
          <p:nvPr/>
        </p:nvGraphicFramePr>
        <p:xfrm>
          <a:off x="658368" y="1737360"/>
          <a:ext cx="10874957" cy="4370832"/>
        </p:xfrm>
        <a:graphic>
          <a:graphicData uri="http://schemas.openxmlformats.org/drawingml/2006/table">
            <a:tbl>
              <a:tblPr firstRow="0" bandRow="0" firstCol="0" lastRow="0" lastCol="0" bandCol="0">
                <a:tableStyleId>{2D5ABB26-0587-4C30-8999-92F81FD0307C}</a:tableStyleId>
              </a:tblPr>
              <a:tblGrid>
                <a:gridCol w="2416657"/>
                <a:gridCol w="4078109"/>
                <a:gridCol w="4380191"/>
              </a:tblGrid>
              <a:tr h="359664">
                <a:tc>
                  <a:txBody>
                    <a:bodyPr wrap="square"/>
                    <a:lstStyle/>
                    <a:p>
                      <a:pPr algn="l"/>
                      <a:r>
                        <a:rPr sz="1400" b="1" i="0">
                          <a:solidFill>
                            <a:srgbClr val="1A5276"/>
                          </a:solidFill>
                          <a:latin typeface="Segoe UI"/>
                        </a:rPr>
                        <a:t>Role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Accountable for</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Chapters that matter most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73024">
                <a:tc>
                  <a:txBody>
                    <a:bodyPr wrap="square"/>
                    <a:lstStyle/>
                    <a:p>
                      <a:pPr algn="l"/>
                      <a:r>
                        <a:rPr sz="1400" b="0" i="0">
                          <a:solidFill>
                            <a:srgbClr val="1C252B"/>
                          </a:solidFill>
                          <a:latin typeface="Segoe UI"/>
                        </a:rPr>
                        <a:t>Data Analyst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Describing and diagnosing; dashboards and reports decision-makers actually use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7, 8, 9, 31</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Data Scientist</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Framing problems, building and validating models, quantifying uncertainty</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9–16, 28</a:t>
                      </a:r>
                      <a:endParaRPr sz="1400"/>
                    </a:p>
                  </a:txBody>
                  <a:tcPr marL="109728" marR="109728" marT="64008" marB="45720" anchor="t">
                    <a:lnL w="0" cmpd="sng">
                      <a:noFill/>
                    </a:lnL>
                    <a:lnR w="0" cmpd="sng">
                      <a:noFill/>
                    </a:lnR>
                    <a:lnT w="9525" cmpd="sng">
                      <a:noFill/>
                    </a:lnT>
                    <a:lnB w="9525" cmpd="sng">
                      <a:noFill/>
                    </a:lnB>
                    <a:solidFill>
                      <a:srgbClr val="FEF7F1"/>
                    </a:solidFill>
                  </a:tcPr>
                </a:tc>
              </a:tr>
              <a:tr h="573024">
                <a:tc>
                  <a:txBody>
                    <a:bodyPr wrap="square"/>
                    <a:lstStyle/>
                    <a:p>
                      <a:pPr algn="l"/>
                      <a:r>
                        <a:rPr sz="1400" b="0" i="0">
                          <a:solidFill>
                            <a:srgbClr val="1C252B"/>
                          </a:solidFill>
                          <a:latin typeface="Segoe UI"/>
                        </a:rPr>
                        <a:t>Data Engineer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Reliable pipelines; data arriving complete, on time and in the right shape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3, 7, 23, 24</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ML Engineer</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Getting models into production and keeping them correct there</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17–19, 27</a:t>
                      </a:r>
                      <a:endParaRPr sz="1400"/>
                    </a:p>
                  </a:txBody>
                  <a:tcPr marL="109728" marR="109728" marT="64008" marB="45720" anchor="t">
                    <a:lnL w="0" cmpd="sng">
                      <a:noFill/>
                    </a:lnL>
                    <a:lnR w="0" cmpd="sng">
                      <a:noFill/>
                    </a:lnR>
                    <a:lnT w="9525" cmpd="sng">
                      <a:noFill/>
                    </a:lnT>
                    <a:lnB w="9525" cmpd="sng">
                      <a:noFill/>
                    </a:lnB>
                    <a:solidFill>
                      <a:srgbClr val="FEF7F1"/>
                    </a:solidFill>
                  </a:tcPr>
                </a:tc>
              </a:tr>
              <a:tr h="573024">
                <a:tc>
                  <a:txBody>
                    <a:bodyPr wrap="square"/>
                    <a:lstStyle/>
                    <a:p>
                      <a:pPr algn="l"/>
                      <a:r>
                        <a:rPr sz="1400" b="0" i="0">
                          <a:solidFill>
                            <a:srgbClr val="1C252B"/>
                          </a:solidFill>
                          <a:latin typeface="Segoe UI"/>
                        </a:rPr>
                        <a:t>Security Analyst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Detecting and investigating threats in system and network data</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14, 16, 19, 26</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IoT / Edge Engineer</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Sensor fleets, telemetry pipelines, on-device inference</a:t>
                      </a:r>
                      <a:endParaRPr sz="14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400" b="0" i="0">
                          <a:solidFill>
                            <a:srgbClr val="1C252B"/>
                          </a:solidFill>
                          <a:latin typeface="Segoe UI"/>
                        </a:rPr>
                        <a:t>19, 24, 25</a:t>
                      </a:r>
                      <a:endParaRPr sz="1400"/>
                    </a:p>
                  </a:txBody>
                  <a:tcPr marL="109728" marR="109728" marT="64008" marB="45720" anchor="t">
                    <a:lnL w="0" cmpd="sng">
                      <a:noFill/>
                    </a:lnL>
                    <a:lnR w="0" cmpd="sng">
                      <a:noFill/>
                    </a:lnR>
                    <a:lnT w="9525" cmpd="sng">
                      <a:noFill/>
                    </a:lnT>
                    <a:lnB w="9525" cmpd="sng">
                      <a:noFill/>
                    </a:lnB>
                    <a:solidFill>
                      <a:srgbClr val="FEF7F1"/>
                    </a:solidFill>
                  </a:tcPr>
                </a:tc>
              </a:tr>
              <a:tr h="573024">
                <a:tc>
                  <a:txBody>
                    <a:bodyPr wrap="square"/>
                    <a:lstStyle/>
                    <a:p>
                      <a:pPr algn="l"/>
                      <a:r>
                        <a:rPr sz="1400" b="0" i="0">
                          <a:solidFill>
                            <a:srgbClr val="1C252B"/>
                          </a:solidFill>
                          <a:latin typeface="Segoe UI"/>
                        </a:rPr>
                        <a:t>Product / Project Manager</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Choosing what is worth building, and delivering it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2, 30, 31</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These Are Roles, Not People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197D7986-5BB8-48EF-B041-F87B32364B7A}"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a large organisation these are seven job titles. In a small one they are seven hats worn by two people, and in your final-year project they will all be worn by you. That is precisely why this handout covers all of them.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The Levels of Analytics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6E026AB7-C296-4E72-90F4-F58270C69F85}"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university wants to reduce first-year attrition.</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software house delivers projects late about half the time.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factory runs 400 motors instrumented for vibration and temperature.</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bank monitors authentication logs across 12,000 accounts.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The Levels of Analytics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965D33D8-B5B8-4006-BA7F-8DA0C0796B92}"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university wants to reduce first-year attrition. </a:t>
            </a:r>
            <a:r>
              <a:rPr sz="2200" b="0" i="1">
                <a:solidFill>
                  <a:srgbClr val="1C252B"/>
                </a:solidFill>
                <a:latin typeface="Segoe UI"/>
              </a:rPr>
              <a:t>Descriptive:</a:t>
            </a:r>
            <a:r>
              <a:rPr sz="2200" b="0" i="0">
                <a:solidFill>
                  <a:srgbClr val="1C252B"/>
                </a:solidFill>
                <a:latin typeface="Segoe UI"/>
              </a:rPr>
              <a:t> dashboards of attendance and submission rates by cohort. </a:t>
            </a:r>
            <a:r>
              <a:rPr sz="2200" b="0" i="1">
                <a:solidFill>
                  <a:srgbClr val="1C252B"/>
                </a:solidFill>
                <a:latin typeface="Segoe UI"/>
              </a:rPr>
              <a:t>Diagnostic:</a:t>
            </a:r>
            <a:r>
              <a:rPr sz="2200" b="0" i="0">
                <a:solidFill>
                  <a:srgbClr val="1C252B"/>
                </a:solidFill>
                <a:latin typeface="Segoe UI"/>
              </a:rPr>
              <a:t> which combinations of missed activities precede withdrawal. </a:t>
            </a:r>
            <a:r>
              <a:rPr sz="2200" b="0" i="1">
                <a:solidFill>
                  <a:srgbClr val="1C252B"/>
                </a:solidFill>
                <a:latin typeface="Segoe UI"/>
              </a:rPr>
              <a:t>Predictive:</a:t>
            </a:r>
            <a:r>
              <a:rPr sz="2200" b="0" i="0">
                <a:solidFill>
                  <a:srgbClr val="1C252B"/>
                </a:solidFill>
                <a:latin typeface="Segoe UI"/>
              </a:rPr>
              <a:t> a weekly risk score per student. </a:t>
            </a:r>
            <a:r>
              <a:rPr sz="2200" b="0" i="1">
                <a:solidFill>
                  <a:srgbClr val="1C252B"/>
                </a:solidFill>
                <a:latin typeface="Segoe UI"/>
              </a:rPr>
              <a:t>Prescriptive:</a:t>
            </a:r>
            <a:r>
              <a:rPr sz="2200" b="0" i="0">
                <a:solidFill>
                  <a:srgbClr val="1C252B"/>
                </a:solidFill>
                <a:latin typeface="Segoe UI"/>
              </a:rPr>
              <a:t> an allocation of limited tutoring hours to the students it will help most. Only the first rung is reachable without the rest of this book — and only the first is safe to deploy without reading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The Levels of Analytics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BBD9CC99-07E8-4D9B-8DAB-DD0D28F11387}"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software house delivers projects late about half the time. </a:t>
            </a:r>
            <a:r>
              <a:rPr sz="2200" b="0" i="1">
                <a:solidFill>
                  <a:srgbClr val="1C252B"/>
                </a:solidFill>
                <a:latin typeface="Segoe UI"/>
              </a:rPr>
              <a:t>Descriptive:</a:t>
            </a:r>
            <a:r>
              <a:rPr sz="2200" b="0" i="0">
                <a:solidFill>
                  <a:srgbClr val="1C252B"/>
                </a:solidFill>
                <a:latin typeface="Segoe UI"/>
              </a:rPr>
              <a:t> historical burn-down and estimate-versus-actual charts. </a:t>
            </a:r>
            <a:r>
              <a:rPr sz="2200" b="0" i="1">
                <a:solidFill>
                  <a:srgbClr val="1C252B"/>
                </a:solidFill>
                <a:latin typeface="Segoe UI"/>
              </a:rPr>
              <a:t>Diagnostic:</a:t>
            </a:r>
            <a:r>
              <a:rPr sz="2200" b="0" i="0">
                <a:solidFill>
                  <a:srgbClr val="1C252B"/>
                </a:solidFill>
                <a:latin typeface="Segoe UI"/>
              </a:rPr>
              <a:t> which task types are systematically underestimated. </a:t>
            </a:r>
            <a:r>
              <a:rPr sz="2200" b="0" i="1">
                <a:solidFill>
                  <a:srgbClr val="1C252B"/>
                </a:solidFill>
                <a:latin typeface="Segoe UI"/>
              </a:rPr>
              <a:t>Predictive:</a:t>
            </a:r>
            <a:r>
              <a:rPr sz="2200" b="0" i="0">
                <a:solidFill>
                  <a:srgbClr val="1C252B"/>
                </a:solidFill>
                <a:latin typeface="Segoe UI"/>
              </a:rPr>
              <a:t> a sprint-completion forecast published each Wednesday. </a:t>
            </a:r>
            <a:r>
              <a:rPr sz="2200" b="0" i="1">
                <a:solidFill>
                  <a:srgbClr val="1C252B"/>
                </a:solidFill>
                <a:latin typeface="Segoe UI"/>
              </a:rPr>
              <a:t>Prescriptive:</a:t>
            </a:r>
            <a:r>
              <a:rPr sz="2200" b="0" i="0">
                <a:solidFill>
                  <a:srgbClr val="1C252B"/>
                </a:solidFill>
                <a:latin typeface="Segoe UI"/>
              </a:rPr>
              <a:t> a recommended re-allocation of two developers. The predictive rung is where project management stops being reporting and becomes data science.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The Levels of Analytics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2F9714C6-CC75-4979-B237-04919F31A76C}"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factory runs 400 motors instrumented for vibration and temperature. </a:t>
            </a:r>
            <a:r>
              <a:rPr sz="2200" b="0" i="1">
                <a:solidFill>
                  <a:srgbClr val="1C252B"/>
                </a:solidFill>
                <a:latin typeface="Segoe UI"/>
              </a:rPr>
              <a:t>Descriptive:</a:t>
            </a:r>
            <a:r>
              <a:rPr sz="2200" b="0" i="0">
                <a:solidFill>
                  <a:srgbClr val="1C252B"/>
                </a:solidFill>
                <a:latin typeface="Segoe UI"/>
              </a:rPr>
              <a:t> live telemetry dashboards. </a:t>
            </a:r>
            <a:r>
              <a:rPr sz="2200" b="0" i="1">
                <a:solidFill>
                  <a:srgbClr val="1C252B"/>
                </a:solidFill>
                <a:latin typeface="Segoe UI"/>
              </a:rPr>
              <a:t>Diagnostic:</a:t>
            </a:r>
            <a:r>
              <a:rPr sz="2200" b="0" i="0">
                <a:solidFill>
                  <a:srgbClr val="1C252B"/>
                </a:solidFill>
                <a:latin typeface="Segoe UI"/>
              </a:rPr>
              <a:t> which sensor pattern preceded last quarter’s three failures. </a:t>
            </a:r>
            <a:r>
              <a:rPr sz="2200" b="0" i="1">
                <a:solidFill>
                  <a:srgbClr val="1C252B"/>
                </a:solidFill>
                <a:latin typeface="Segoe UI"/>
              </a:rPr>
              <a:t>Predictive:</a:t>
            </a:r>
            <a:r>
              <a:rPr sz="2200" b="0" i="0">
                <a:solidFill>
                  <a:srgbClr val="1C252B"/>
                </a:solidFill>
                <a:latin typeface="Segoe UI"/>
              </a:rPr>
              <a:t> remaining useful life per motor. </a:t>
            </a:r>
            <a:r>
              <a:rPr sz="2200" b="0" i="1">
                <a:solidFill>
                  <a:srgbClr val="1C252B"/>
                </a:solidFill>
                <a:latin typeface="Segoe UI"/>
              </a:rPr>
              <a:t>Prescriptive:</a:t>
            </a:r>
            <a:r>
              <a:rPr sz="2200" b="0" i="0">
                <a:solidFill>
                  <a:srgbClr val="1C252B"/>
                </a:solidFill>
                <a:latin typeface="Segoe UI"/>
              </a:rPr>
              <a:t> a maintenance schedule minimising downtime cost. Because data arrives continuously and in volume, even the descriptive rung needs the engineering of Chapter 23.</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The Levels of Analytics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AC2E9648-3580-4407-8D2F-61E049546B86}"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bank monitors authentication logs across 12,000 accounts. </a:t>
            </a:r>
            <a:r>
              <a:rPr sz="2200" b="0" i="1">
                <a:solidFill>
                  <a:srgbClr val="1C252B"/>
                </a:solidFill>
                <a:latin typeface="Segoe UI"/>
              </a:rPr>
              <a:t>Descriptive:</a:t>
            </a:r>
            <a:r>
              <a:rPr sz="2200" b="0" i="0">
                <a:solidFill>
                  <a:srgbClr val="1C252B"/>
                </a:solidFill>
                <a:latin typeface="Segoe UI"/>
              </a:rPr>
              <a:t> failed-login counts by region and hour. </a:t>
            </a:r>
            <a:r>
              <a:rPr sz="2200" b="0" i="1">
                <a:solidFill>
                  <a:srgbClr val="1C252B"/>
                </a:solidFill>
                <a:latin typeface="Segoe UI"/>
              </a:rPr>
              <a:t>Diagnostic:</a:t>
            </a:r>
            <a:r>
              <a:rPr sz="2200" b="0" i="0">
                <a:solidFill>
                  <a:srgbClr val="1C252B"/>
                </a:solidFill>
                <a:latin typeface="Segoe UI"/>
              </a:rPr>
              <a:t> which accounts share an unusual user-agent string. </a:t>
            </a:r>
            <a:r>
              <a:rPr sz="2200" b="0" i="1">
                <a:solidFill>
                  <a:srgbClr val="1C252B"/>
                </a:solidFill>
                <a:latin typeface="Segoe UI"/>
              </a:rPr>
              <a:t>Predictive:</a:t>
            </a:r>
            <a:r>
              <a:rPr sz="2200" b="0" i="0">
                <a:solidFill>
                  <a:srgbClr val="1C252B"/>
                </a:solidFill>
                <a:latin typeface="Segoe UI"/>
              </a:rPr>
              <a:t> a per-session compromise likelihood. </a:t>
            </a:r>
            <a:r>
              <a:rPr sz="2200" b="0" i="1">
                <a:solidFill>
                  <a:srgbClr val="1C252B"/>
                </a:solidFill>
                <a:latin typeface="Segoe UI"/>
              </a:rPr>
              <a:t>Prescriptive:</a:t>
            </a:r>
            <a:r>
              <a:rPr sz="2200" b="0" i="0">
                <a:solidFill>
                  <a:srgbClr val="1C252B"/>
                </a:solidFill>
                <a:latin typeface="Segoe UI"/>
              </a:rPr>
              <a:t> automatic step-up authentication for the riskiest 0.1% of sessions. Here an adversary is actively trying to look normal, which is what makes the security lens harder than the other three.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Classifying a Request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D55C2282-F005-4A1A-B44A-8414C8354370}"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5073"/>
          </a:xfrm>
          <a:prstGeom prst="roundRect">
            <a:avLst>
              <a:gd name="adj" fmla="val 204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507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programme director asks: </a:t>
            </a:r>
            <a:r>
              <a:rPr sz="1800" b="0" i="1">
                <a:solidFill>
                  <a:srgbClr val="1C252B"/>
                </a:solidFill>
                <a:latin typeface="Segoe UI"/>
              </a:rPr>
              <a:t>“Can you tell me whether the new lab format is worth keeping?”</a:t>
            </a:r>
            <a:r>
              <a:rPr sz="1800" b="0" i="0">
                <a:solidFill>
                  <a:srgbClr val="1C252B"/>
                </a:solidFill>
                <a:latin typeface="Segoe UI"/>
              </a:rPr>
              <a:t> Which rung is really being requested?</a:t>
            </a:r>
          </a:p>
        </p:txBody>
      </p:sp>
      <p:sp>
        <p:nvSpPr>
          <p:cNvPr id="10" name="body-1"/>
          <p:cNvSpPr txBox="1"/>
          <p:nvPr/>
        </p:nvSpPr>
        <p:spPr>
          <a:xfrm>
            <a:off x="1042416" y="2707995"/>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Step 1 — restate it as something measurable.</a:t>
            </a:r>
            <a:r>
              <a:rPr sz="1800" b="0" i="0">
                <a:solidFill>
                  <a:srgbClr val="1C252B"/>
                </a:solidFill>
                <a:latin typeface="Segoe UI"/>
              </a:rPr>
              <a:t> “Worth keeping” must become countable. Say: </a:t>
            </a:r>
            <a:r>
              <a:rPr sz="1800" b="0" i="1">
                <a:solidFill>
                  <a:srgbClr val="1C252B"/>
                </a:solidFill>
                <a:latin typeface="Segoe UI"/>
              </a:rPr>
              <a:t>does the new lab format raise the end-of-semester pass rate?</a:t>
            </a:r>
          </a:p>
        </p:txBody>
      </p:sp>
      <p:sp>
        <p:nvSpPr>
          <p:cNvPr id="11" name="body-2"/>
          <p:cNvSpPr txBox="1"/>
          <p:nvPr/>
        </p:nvSpPr>
        <p:spPr>
          <a:xfrm>
            <a:off x="1042416" y="3404311"/>
            <a:ext cx="10234879"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Step 2 — identify the rung.</a:t>
            </a:r>
            <a:r>
              <a:rPr sz="1800" b="0" i="0">
                <a:solidFill>
                  <a:srgbClr val="1C252B"/>
                </a:solidFill>
                <a:latin typeface="Segoe UI"/>
              </a:rPr>
              <a:t> It is not descriptive (pass rates alone would not settle it) and not predictive (nobody is asking about a future student). It is </a:t>
            </a:r>
            <a:r>
              <a:rPr sz="1800" b="0" i="1">
                <a:solidFill>
                  <a:srgbClr val="1C252B"/>
                </a:solidFill>
                <a:latin typeface="Segoe UI"/>
              </a:rPr>
              <a:t>diagnostic</a:t>
            </a:r>
            <a:r>
              <a:rPr sz="1800" b="0" i="0">
                <a:solidFill>
                  <a:srgbClr val="1C252B"/>
                </a:solidFill>
                <a:latin typeface="Segoe UI"/>
              </a:rPr>
              <a:t>, and specifically </a:t>
            </a:r>
            <a:r>
              <a:rPr sz="1800" b="0" i="1">
                <a:solidFill>
                  <a:srgbClr val="1C252B"/>
                </a:solidFill>
                <a:latin typeface="Segoe UI"/>
              </a:rPr>
              <a:t>causal</a:t>
            </a:r>
            <a:r>
              <a:rPr sz="1800" b="0" i="0">
                <a:solidFill>
                  <a:srgbClr val="1C252B"/>
                </a:solidFill>
                <a:latin typeface="Segoe UI"/>
              </a:rPr>
              <a:t>: did the format cause the change?</a:t>
            </a:r>
          </a:p>
        </p:txBody>
      </p:sp>
      <p:sp>
        <p:nvSpPr>
          <p:cNvPr id="12" name="body-3"/>
          <p:cNvSpPr txBox="1"/>
          <p:nvPr/>
        </p:nvSpPr>
        <p:spPr>
          <a:xfrm>
            <a:off x="1042416" y="4385919"/>
            <a:ext cx="10234879"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Step 3 — name what that requires.</a:t>
            </a:r>
            <a:r>
              <a:rPr sz="1800" b="0" i="0">
                <a:solidFill>
                  <a:srgbClr val="1C252B"/>
                </a:solidFill>
                <a:latin typeface="Segoe UI"/>
              </a:rPr>
              <a:t> A causal claim needs a comparison group and a design that rules out rival explanations — the machinery of Chapter 10. Comparing this year’s pass rate with last year’s confounds the format with a different cohort, different staff and a different exam paper.</a:t>
            </a:r>
          </a:p>
        </p:txBody>
      </p:sp>
      <p:sp>
        <p:nvSpPr>
          <p:cNvPr id="13" name="body-4"/>
          <p:cNvSpPr txBox="1"/>
          <p:nvPr/>
        </p:nvSpPr>
        <p:spPr>
          <a:xfrm>
            <a:off x="1042416" y="5367528"/>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Answer:</a:t>
            </a:r>
            <a:r>
              <a:rPr sz="1800" b="0" i="0">
                <a:solidFill>
                  <a:srgbClr val="1C252B"/>
                </a:solidFill>
                <a:latin typeface="Segoe UI"/>
              </a:rPr>
              <a:t> the request is a causal question disguised as a descriptive one. Delivering a bar chart of pass rates would answer the wrong question convincingly, which is worse than answering nothing.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Meeting a Dataset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95141434-DCD4-4A8B-856F-67E162EB4356}" type="slidenum">
              <a:rPr lang="en-GB" sz="1000">
                <a:solidFill>
                  <a:srgbClr val="8795A1"/>
                </a:solidFill>
                <a:latin typeface="Segoe UI"/>
              </a:rPr>
              <a:t>32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two most important facts about any new dataset are its </a:t>
            </a:r>
            <a:r>
              <a:rPr sz="2000" b="0" i="1">
                <a:solidFill>
                  <a:srgbClr val="1C252B"/>
                </a:solidFill>
                <a:latin typeface="Segoe UI"/>
              </a:rPr>
              <a:t>shape</a:t>
            </a:r>
            <a:r>
              <a:rPr sz="2000" b="0" i="0">
                <a:solidFill>
                  <a:srgbClr val="1C252B"/>
                </a:solidFill>
                <a:latin typeface="Segoe UI"/>
              </a:rPr>
              <a:t> and its </a:t>
            </a:r>
            <a:r>
              <a:rPr sz="2000" b="0" i="1">
                <a:solidFill>
                  <a:srgbClr val="1C252B"/>
                </a:solidFill>
                <a:latin typeface="Segoe UI"/>
              </a:rPr>
              <a:t>types</a:t>
            </a:r>
            <a:r>
              <a:rPr sz="2000" b="0" i="0">
                <a:solidFill>
                  <a:srgbClr val="1C252B"/>
                </a:solidFill>
                <a:latin typeface="Segoe UI"/>
              </a:rPr>
              <a:t>. Every project in this course starts here.</a:t>
            </a:r>
          </a:p>
        </p:txBody>
      </p:sp>
      <p:sp>
        <p:nvSpPr>
          <p:cNvPr id="8" name="!!lfTHIS">
            <a:extLst>
              <a:ext uri="{C183D7F6-B498-43B3-948B-1728B52AA6E4}">
                <adec:decorative xmlns:adec="http://schemas.microsoft.com/office/drawing/2017/decorative" val="1"/>
              </a:ext>
            </a:extLst>
          </p:cNvPr>
          <p:cNvSpPr/>
          <p:nvPr/>
        </p:nvSpPr>
        <p:spPr>
          <a:xfrm>
            <a:off x="658368"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 Meet a dataset; write a frame</a:t>
            </a:r>
          </a:p>
        </p:txBody>
      </p:sp>
      <p:sp>
        <p:nvSpPr>
          <p:cNvPr id="12" name="!!lfWHAT">
            <a:extLst>
              <a:ext uri="{C183D7F6-B498-43B3-948B-1728B52AA6E4}">
                <adec:decorative xmlns:adec="http://schemas.microsoft.com/office/drawing/2017/decorative" val="1"/>
              </a:ext>
            </a:extLst>
          </p:cNvPr>
          <p:cNvSpPr/>
          <p:nvPr/>
        </p:nvSpPr>
        <p:spPr>
          <a:xfrm>
            <a:off x="6233007"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6507327"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14 lines of Python</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Meeting a Dataset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F53C046F-2FCB-4B3F-A696-70A2E941C42B}"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 A tiny extract of the kind of record a learning analytics project starts from. df = pd.DataFrame({ &quot;student_id&quot;: [101, 102, 103, 104, 105], &quot;attendance_pct&quot;: [92, 45, 78, 30, 88], &quot;quizzes_done&quot;: [8, 3, 6, 2, 8], &quot;forum_posts&quot;: [12, 0, 4, 1, 20], &quot;final_grade&quot;: [&quot;A&quot;, &quot;F&quot;, &quot;C&quot;, &quot;F&quot;, &quot;A&quot;], }) print(df.shape) # (rows, columns) -&gt; 5 observations, 5 features print(df.dtypes) # what type is each column? print(df.describe()) # centre and spread of the numeric columns"/>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pandas</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pd</a:t>
            </a:r>
          </a:p>
          <a:p>
            <a:pPr>
              <a:lnSpc>
                <a:spcPct val="100000"/>
              </a:lnSpc>
              <a:spcAft>
                <a:spcPts val="0"/>
              </a:spcAft>
            </a:pPr>
            <a:r>
              <a:rPr sz="1700">
                <a:latin typeface="Consolas"/>
              </a:rPr>
              <a:t> </a:t>
            </a:r>
          </a:p>
          <a:p>
            <a:pPr>
              <a:lnSpc>
                <a:spcPct val="100000"/>
              </a:lnSpc>
              <a:spcAft>
                <a:spcPts val="0"/>
              </a:spcAft>
            </a:pPr>
            <a:r>
              <a:rPr sz="1700" i="1">
                <a:solidFill>
                  <a:srgbClr val="8795A1"/>
                </a:solidFill>
                <a:latin typeface="Consolas"/>
              </a:rPr>
              <a:t># A tiny extract of the kind of record a learning analytics project starts from.</a:t>
            </a:r>
          </a:p>
          <a:p>
            <a:pPr>
              <a:lnSpc>
                <a:spcPct val="100000"/>
              </a:lnSpc>
              <a:spcAft>
                <a:spcPts val="0"/>
              </a:spcAft>
            </a:pPr>
            <a:r>
              <a:rPr sz="1700" i="0">
                <a:solidFill>
                  <a:srgbClr val="E8EDF2"/>
                </a:solidFill>
                <a:latin typeface="Consolas"/>
              </a:rPr>
              <a:t>df</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pd</a:t>
            </a:r>
            <a:r>
              <a:rPr sz="1700" i="0">
                <a:solidFill>
                  <a:srgbClr val="AEB6BF"/>
                </a:solidFill>
                <a:latin typeface="Consolas"/>
              </a:rPr>
              <a:t>.</a:t>
            </a:r>
            <a:r>
              <a:rPr sz="1700" i="0">
                <a:solidFill>
                  <a:srgbClr val="E8EDF2"/>
                </a:solidFill>
                <a:latin typeface="Consolas"/>
              </a:rPr>
              <a:t>DataFrame</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student_id</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101</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104</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105</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attendance_pct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92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45</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78</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88</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quizzes_done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8</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6</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8</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forum_posts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12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20</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final_grade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C</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A</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shape</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(rows, columns) -&gt; 5 observations, 5 features</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dtypes</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what type is each column?</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describe</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centre and spread of the numeric columns</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a:t>
            </a:r>
          </a:p>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a:p>
            <a:pPr algn="r">
              <a:lnSpc>
                <a:spcPct val="100000"/>
              </a:lnSpc>
            </a:pPr>
            <a:r>
              <a:rPr sz="1700">
                <a:solidFill>
                  <a:srgbClr val="4F5D6A"/>
                </a:solidFill>
                <a:latin typeface="Consolas"/>
              </a:rPr>
              <a:t>12</a:t>
            </a:r>
          </a:p>
          <a:p>
            <a:pPr algn="r">
              <a:lnSpc>
                <a:spcPct val="100000"/>
              </a:lnSpc>
            </a:pPr>
            <a:r>
              <a:rPr sz="1700">
                <a:solidFill>
                  <a:srgbClr val="4F5D6A"/>
                </a:solidFill>
                <a:latin typeface="Consolas"/>
              </a:rPr>
              <a:t>13</a:t>
            </a:r>
          </a:p>
          <a:p>
            <a:pPr algn="r">
              <a:lnSpc>
                <a:spcPct val="100000"/>
              </a:lnSpc>
            </a:pPr>
            <a:r>
              <a:rPr sz="17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731D9049-BD7D-4AB6-A1F8-C5AE0F14169D}"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answer, without fitting anything:</a:t>
            </a:r>
            <a:r>
              <a:rPr sz="2300" b="0" i="0">
                <a:solidFill>
                  <a:srgbClr val="1C252B"/>
                </a:solidFill>
                <a:latin typeface="Segoe UI"/>
              </a:rPr>
              <a:t> which columns look related to </a:t>
            </a:r>
            <a:r>
              <a:rPr sz="2150" b="0" i="0">
                <a:solidFill>
                  <a:srgbClr val="1F4E79"/>
                </a:solidFill>
                <a:latin typeface="Consolas"/>
              </a:rPr>
              <a:t>final_grade</a:t>
            </a:r>
            <a:r>
              <a:rPr sz="2300" b="0" i="0">
                <a:solidFill>
                  <a:srgbClr val="1C252B"/>
                </a:solidFill>
                <a:latin typeface="Segoe UI"/>
              </a:rPr>
              <a:t>? That informal glance is descriptive analytics, and it is where every project should begin.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hospital deploys a hand-written rulebook: “if temperature </a:t>
            </a:r>
            <a:r>
              <a:rPr sz="3400" b="0" i="0">
                <a:solidFill>
                  <a:srgbClr val="FFFFFF"/>
                </a:solidFill>
                <a:latin typeface="Cambria"/>
              </a:rPr>
              <a:t>&gt;39°</a:t>
            </a:r>
            <a:r>
              <a:rPr sz="3400" b="0" i="0">
                <a:solidFill>
                  <a:srgbClr val="FFFFFF"/>
                </a:solidFill>
                <a:latin typeface="Segoe UI Semibold"/>
              </a:rPr>
              <a:t>C and white cell count is high, flag for review.” Is this AI? Is it machine learning? Justify both answers.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  ·  The Data Science Landscape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9EFE57AC-9B58-45A5-A371-5BECE0EDDE05}"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hospital deploys a hand-written rulebook: “if temperature </a:t>
            </a:r>
            <a:r>
              <a:rPr sz="2400" b="0" i="0">
                <a:solidFill>
                  <a:srgbClr val="1A5276"/>
                </a:solidFill>
                <a:latin typeface="Cambria"/>
              </a:rPr>
              <a:t>&gt;39°</a:t>
            </a:r>
            <a:r>
              <a:rPr sz="2400" b="0" i="0">
                <a:solidFill>
                  <a:srgbClr val="1A5276"/>
                </a:solidFill>
                <a:latin typeface="Segoe UI Semibold"/>
              </a:rPr>
              <a:t>C and white cell count is high, flag for review.” Is this AI? Is it machine learning? Justify both answers.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a:t>
            </a:r>
            <a:r>
              <a:rPr sz="2200" b="0" i="1">
                <a:solidFill>
                  <a:srgbClr val="1C252B"/>
                </a:solidFill>
                <a:latin typeface="Segoe UI"/>
              </a:rPr>
              <a:t>is</a:t>
            </a:r>
            <a:r>
              <a:rPr sz="2200" b="0" i="0">
                <a:solidFill>
                  <a:srgbClr val="1C252B"/>
                </a:solidFill>
                <a:latin typeface="Segoe UI"/>
              </a:rPr>
              <a:t> AI — it performs a task that would otherwise need human clinical judgement. It is </a:t>
            </a:r>
            <a:r>
              <a:rPr sz="2200" b="0" i="1">
                <a:solidFill>
                  <a:srgbClr val="1C252B"/>
                </a:solidFill>
                <a:latin typeface="Segoe UI"/>
              </a:rPr>
              <a:t>not</a:t>
            </a:r>
            <a:r>
              <a:rPr sz="2200" b="0" i="0">
                <a:solidFill>
                  <a:srgbClr val="1C252B"/>
                </a:solidFill>
                <a:latin typeface="Segoe UI"/>
              </a:rPr>
              <a:t> machine learning, because the rule was written by a person rather than learned from data. This is the distinction Figure 1.2 makes.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4B1269CB-C330-438A-AA5F-2E99FBAC8D8E}"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Classify each request by analytics level: (a) “How many tickets did we close last month?” (b) “Which server will run out of disk first?” (c) “Why did response times spike on Tuesday?” (d) “What is the cheapest way to meet our uptime target?”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  ·  The Data Science Landscape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3A97B0F0-68EC-4A8B-8AD8-C07CC11910B1}"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11326"/>
          </a:xfrm>
        </p:spPr>
        <p:txBody>
          <a:bodyPr wrap="square" lIns="0" rIns="0" tIns="0" bIns="0" anchor="t">
            <a:noAutofit/>
          </a:bodyPr>
          <a:lstStyle/>
          <a:p>
            <a:pPr algn="l">
              <a:lnSpc>
                <a:spcPct val="96000"/>
              </a:lnSpc>
            </a:pPr>
            <a:r>
              <a:rPr sz="2200" b="0" i="0">
                <a:solidFill>
                  <a:srgbClr val="1A5276"/>
                </a:solidFill>
                <a:latin typeface="Segoe UI Semibold"/>
              </a:rPr>
              <a:t>Classify each request by analytics level: (a) “How many tickets did we close last month?” (b) “Which server will run out of disk first?” (c) “Why did response times spike on Tuesday?” (d) “What is the cheapest way to meet our uptime target?”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026310"/>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026310"/>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descriptive; (b) predictive; (c) diagnostic; (d) prescriptive.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42F4E7E4-D492-414E-AC2A-E4CE01C6E8EA}"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 says “we’re doing AI” about a dashboard of monthly sales totals. What are they actually doing, and why does the distinction matter to whoever is paying for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  ·  The Data Science Landscape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88EE8400-38C3-4906-A9FF-BE3717195DE2}"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colleague says “we’re doing AI” about a dashboard of monthly sales totals. What are they actually doing, and why does the distinction matter to whoever is paying for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are doing descriptive analytics. The distinction matters to whoever is paying because descriptive work is cheaper, faster and lower-risk than the predictive system the word “AI” implies — and because expectations set at the wrong rung cause the project to be judged a failure for delivering exactly what was needed.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74F1F359-08C5-4A3A-924F-028E555E29FD}"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3AD486C5-5C9B-4BF5-B194-7CD544FF8BE9}"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Data science turns data into understanding and action; it needs mathematics, programming and domain knowledge </a:t>
            </a:r>
            <a:r>
              <a:rPr sz="2100" b="0" i="1">
                <a:solidFill>
                  <a:srgbClr val="1C252B"/>
                </a:solidFill>
                <a:latin typeface="Segoe UI"/>
              </a:rPr>
              <a:t>simultaneously</a:t>
            </a:r>
            <a:r>
              <a:rPr sz="2100" b="0" i="0">
                <a:solidFill>
                  <a:srgbClr val="1C252B"/>
                </a:solidFill>
                <a:latin typeface="Segoe UI"/>
              </a:rPr>
              <a:t>.</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AI </a:t>
            </a:r>
            <a:r>
              <a:rPr sz="2100" b="0" i="0">
                <a:solidFill>
                  <a:srgbClr val="1C252B"/>
                </a:solidFill>
                <a:latin typeface="Cambria"/>
              </a:rPr>
              <a:t>⊃</a:t>
            </a:r>
            <a:r>
              <a:rPr sz="2100" b="0" i="0">
                <a:solidFill>
                  <a:srgbClr val="1C252B"/>
                </a:solidFill>
                <a:latin typeface="Segoe UI"/>
              </a:rPr>
              <a:t> machine learning </a:t>
            </a:r>
            <a:r>
              <a:rPr sz="2100" b="0" i="0">
                <a:solidFill>
                  <a:srgbClr val="1C252B"/>
                </a:solidFill>
                <a:latin typeface="Cambria"/>
              </a:rPr>
              <a:t>⊃</a:t>
            </a:r>
            <a:r>
              <a:rPr sz="2100" b="0" i="0">
                <a:solidFill>
                  <a:srgbClr val="1C252B"/>
                </a:solidFill>
                <a:latin typeface="Segoe UI"/>
              </a:rPr>
              <a:t> deep learning. The containment is strict in both directions of the argument: not all AI learns, and not all learning is deep.</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Generative AI creates content; agentic AI pursues goals over multiple steps. Both build on the deep learning of Part IV.</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Analytics has four rungs — descriptive, diagnostic, predictive, prescriptive. Value and risk both increase as you climb.</a:t>
            </a:r>
          </a:p>
        </p:txBody>
      </p:sp>
      <p:sp>
        <p:nvSpPr>
          <p:cNvPr id="19" name="!!sb4">
            <a:extLst>
              <a:ext uri="{C183D7F6-B498-43B3-948B-1728B52AA6E4}">
                <adec:decorative xmlns:adec="http://schemas.microsoft.com/office/drawing/2017/decorative" val="1"/>
              </a:ext>
            </a:extLst>
          </p:cNvPr>
          <p:cNvSpPr/>
          <p:nvPr/>
        </p:nvSpPr>
        <p:spPr>
          <a:xfrm>
            <a:off x="658368" y="514075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19562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13161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Much valuable data science contains no model at all. Do not mistake modelling for the whole discipline.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B4D412FD-893B-4D22-8576-244F9F3151E1}"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statement is true?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machine learning is deep learning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deep learning is machine learning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AI and machine learning are the same field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Data science is a subset of deep learning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1E016F62-084D-4C46-9A4F-09D769E1CFDB}" type="slidenum">
              <a:rPr lang="en-GB" sz="1000">
                <a:solidFill>
                  <a:srgbClr val="8795A1"/>
                </a:solidFill>
                <a:latin typeface="Segoe UI"/>
              </a:rPr>
              <a:t>43</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model estimates the probability that a motor fails within 30 days. This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descriptive</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diagnostic</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predictive</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prescriptive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  ·  The Data Science Landscape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D482E969-BA78-4DD8-A0C1-E39C44899524}"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example of an AI system that contains no machine learning, and explain what makes it AI nonetheless.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 two sentences, the difference between a generative and an agentic system.</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domain knowledge treated in this chapter as a capability equal to statistics and programming rather than as background?</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retailer asks you to “use AI to increase sales.” Rewrite this as one question at each of the four analytics levels, and state which you would deliver first and why.</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each of the four running domains of this course, name one descriptive question and one predictive question that a first-year BSIT student could realistically attempt.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Chapter 2 — The Data Science Lifecycle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 pages 3–10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Meet a dataset; write a frame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  ·  The Data Science Landscape</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EE2DA259-8D8F-4FF9-9085-F7C159561753}"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Data Science Landscape</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