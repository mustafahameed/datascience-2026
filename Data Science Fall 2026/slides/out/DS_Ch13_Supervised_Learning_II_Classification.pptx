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29.svg" ContentType="image/svg+xml"/>
  <Override PartName="/ppt/media/image31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9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4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0.svg" ContentType="image/svg+xml"/>
  <Override PartName="/ppt/media/image91.svg" ContentType="image/svg+xml"/>
  <Override PartName="/ppt/media/image92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8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EBD6922-EA08-413D-A730-24A3E7944E6B}">
          <p14:sldIdLst>
            <p14:sldId id="256"/>
            <p14:sldId id="257"/>
            <p14:sldId id="258"/>
            <p14:sldId id="259"/>
            <p14:sldId id="260"/>
          </p14:sldIdLst>
        </p14:section>
        <p14:section name="13.1 From Regression to Classification" id="{9A559FB4-6947-45DF-805D-F13D120DAC6A}">
          <p14:sldIdLst>
            <p14:sldId id="261"/>
            <p14:sldId id="262"/>
            <p14:sldId id="263"/>
            <p14:sldId id="264"/>
            <p14:sldId id="265"/>
          </p14:sldIdLst>
        </p14:section>
        <p14:section name="13.2 Four More Classifiers" id="{F7B1DE6B-2427-43C9-A372-370FBC45BD84}">
          <p14:sldIdLst>
            <p14:sldId id="266"/>
            <p14:sldId id="267"/>
            <p14:sldId id="268"/>
            <p14:sldId id="269"/>
          </p14:sldIdLst>
        </p14:section>
        <p14:section name="13.3 Decision Boundaries" id="{A53EDD13-5905-4850-8B3D-2355C4DCD18F}">
          <p14:sldIdLst>
            <p14:sldId id="270"/>
          </p14:sldIdLst>
        </p14:section>
        <p14:section name="13.4 The Threshold Is a Decision" id="{8E56B198-0D5D-47EF-8E11-F400A7E8F925}">
          <p14:sldIdLst>
            <p14:sldId id="271"/>
            <p14:sldId id="272"/>
            <p14:sldId id="273"/>
          </p14:sldIdLst>
        </p14:section>
        <p14:section name="Pitfalls" id="{FCD57C69-D17D-435C-B953-D489CFE4B8AB}">
          <p14:sldIdLst>
            <p14:sldId id="274"/>
          </p14:sldIdLst>
        </p14:section>
        <p14:section name="Four lenses" id="{16CD1619-4A92-42FF-9D7E-31D6B2DFF2AE}">
          <p14:sldIdLst>
            <p14:sldId id="275"/>
            <p14:sldId id="276"/>
            <p14:sldId id="277"/>
            <p14:sldId id="278"/>
            <p14:sldId id="279"/>
          </p14:sldIdLst>
        </p14:section>
        <p14:section name="Lab" id="{29F712D6-6718-42A0-879E-0876AD67AC08}">
          <p14:sldIdLst>
            <p14:sldId id="280"/>
            <p14:sldId id="281"/>
            <p14:sldId id="282"/>
            <p14:sldId id="283"/>
            <p14:sldId id="284"/>
          </p14:sldIdLst>
        </p14:section>
        <p14:section name="Checkpoint" id="{598C6C60-5763-4564-8F37-82E3FF4A185F}">
          <p14:sldIdLst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Wrap-up" id="{57593FF8-B5DD-4D17-A1B5-8EC11E787732}">
          <p14:sldIdLst>
            <p14:sldId id="291"/>
            <p14:sldId id="292"/>
            <p14:sldId id="293"/>
            <p14:sldId id="294"/>
            <p14:sldId id="29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13: Supervised Learning II: Classification. Part 3 — Machine Learning Core. Week 8: Classification; evaluation (revision). Handout pages 82–87.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6 (Bayes’ theorem, for naive Bayes), Chapter 4 (distance, for k-NN) and Chapter 12 (the linear score that logistic regression squashes). Revision note: surveys Machine Learning Fall 2026, Chapters 6 (Logistic Regression) and 9–12 (Decision Trees, Naive Bayes, k-NN, SVM).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classification; decision boundary; logistic (sigmoid) function; odds ratio; log loss; k-nearest neighbours; naive Bayes; decision tree; Gini impurity; entropy; support vector machine; margin; kernel; decision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Classification predicts a category, not a number. The natural first attempt — fit a straight line and threshold it — fails, because a line is unbounded and predicts probabilities above 1 and below 0. Logistic regression fixes this with one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13.1 (handout p. 83): Why logistic regression exists. A linear fit to a 0/1 outcome produces impossible probabilities; the sigmoid maps any real score into a valid probability and saturates gracefully at both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13.2 (handout p. 84): The five classical classifiers, with the trade-off that decides between them. There is no best one — Chapter 11’s no-free-lunch result in practical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useful way to understand a classifier is to see the shape of boundary it is capable of drawing.</a:t>
            </a:r>
          </a:p>
          <a:p/>
          <a:p>
            <a:r>
              <a:t>Figure 13.3 (handout p. 84): The same data, four boundary shapes. Logistic regression can only draw a line; a tree can only draw axis-parallel steps; k-NN and kernel SVMs can draw anything — which is powerful and is also how they overfit.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 row by row: pick the row the room is most likely to get wrong and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method, four domains. Each of the next four slides opens one lens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Analytics. Use logistic regression or a shallow tree, even at some cost in accuracy. A model that flags a student for intervention must be explainable to that student and to the appeals process — “you were flagged because attendance below 50% and two missed labs” is defensible; “the SVM said so” is not. This is a requirement from Chapter 28, not a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Management. With 40 sprints of history, naive Bayes or a depth-2 tree is the honest choice. Anything more flexible will fit noise. A two-rule tree that a scrum master can read out in a stand-up will actually change behaviour, which is the point — a marginally better black box that nobody trusts changes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Internet of Things. At the edge, prediction cost is a hard constraint: a device with a microcontroller cannot run k-NN against a million stored points. Logistic regression or a small tree fits in kilobytes and predicts in microseconds. Train something heavy in the cloud, then distil or replace it with something small enough to deploy (Chapter 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Cybersecurity. Naive Bayes remains a strong, fast baseline for phishing and spam because text features are numerous and the speed matters at mail-gateway volumes. For intrusion detection, tree ensembles dominate — but note that an interpretable model has a specific operational value here: an analyst must be able to explain to an incident review why a session was blocked. Also, a k-NN boundary that hugs training data is trivially evaded by an adversary who probes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what the room will have at the end of the lab, then let them start. Circulate rather than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Set-up.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The tree's great advantage: you can read it out loud.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Logistic coefficients as odds ratios.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e1.1 ≈ 3.0. Each one-unit increase in the feature multiplies the odds of the positive class by about three, holding the other features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k-NN computes distances, so the feature with the largest numeric range dominates them. A tree splits on one feature at a time and only compares values within that feature, so its units are irrelevant.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G = 1 − (12 + 02) = 0. The node is pure, so the tree stops splitting it and makes it a leaf.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14 — Model Evaluation and Selection. READ: Handout Chapter 13, pages 82–87. THIS WEEK'S LAB: Five classifiers; evaluate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11.xml"/><Relationship Id="rId7" Type="http://schemas.openxmlformats.org/officeDocument/2006/relationships/slide" Target="slide15.xml"/><Relationship Id="rId8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21.png"/><Relationship Id="rId5" Type="http://schemas.openxmlformats.org/officeDocument/2006/relationships/image" Target="../media/image22.svg"/><Relationship Id="rId6" Type="http://schemas.openxmlformats.org/officeDocument/2006/relationships/image" Target="../media/image23.png"/><Relationship Id="rId7" Type="http://schemas.openxmlformats.org/officeDocument/2006/relationships/image" Target="../media/image24.svg"/><Relationship Id="rId8" Type="http://schemas.openxmlformats.org/officeDocument/2006/relationships/image" Target="../media/image25.png"/><Relationship Id="rId9" Type="http://schemas.openxmlformats.org/officeDocument/2006/relationships/image" Target="../media/image26.svg"/><Relationship Id="rId10" Type="http://schemas.openxmlformats.org/officeDocument/2006/relationships/image" Target="../media/image27.png"/><Relationship Id="rId11" Type="http://schemas.openxmlformats.org/officeDocument/2006/relationships/image" Target="../media/image28.svg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9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32.svg"/><Relationship Id="rId4" Type="http://schemas.openxmlformats.org/officeDocument/2006/relationships/image" Target="../media/image33.png"/><Relationship Id="rId5" Type="http://schemas.openxmlformats.org/officeDocument/2006/relationships/image" Target="../media/image34.sv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35.svg"/><Relationship Id="rId4" Type="http://schemas.openxmlformats.org/officeDocument/2006/relationships/image" Target="../media/image36.png"/><Relationship Id="rId5" Type="http://schemas.openxmlformats.org/officeDocument/2006/relationships/image" Target="../media/image37.sv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3" Type="http://schemas.openxmlformats.org/officeDocument/2006/relationships/image" Target="../media/image41.sv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Relationship Id="rId3" Type="http://schemas.openxmlformats.org/officeDocument/2006/relationships/image" Target="../media/image43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Relationship Id="rId3" Type="http://schemas.openxmlformats.org/officeDocument/2006/relationships/image" Target="../media/image45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3" Type="http://schemas.openxmlformats.org/officeDocument/2006/relationships/image" Target="../media/image47.svg"/><Relationship Id="rId4" Type="http://schemas.openxmlformats.org/officeDocument/2006/relationships/image" Target="../media/image48.png"/><Relationship Id="rId5" Type="http://schemas.openxmlformats.org/officeDocument/2006/relationships/image" Target="../media/image49.svg"/><Relationship Id="rId6" Type="http://schemas.openxmlformats.org/officeDocument/2006/relationships/image" Target="../media/image50.png"/><Relationship Id="rId7" Type="http://schemas.openxmlformats.org/officeDocument/2006/relationships/image" Target="../media/image51.svg"/><Relationship Id="rId8" Type="http://schemas.openxmlformats.org/officeDocument/2006/relationships/image" Target="../media/image52.png"/><Relationship Id="rId9" Type="http://schemas.openxmlformats.org/officeDocument/2006/relationships/image" Target="../media/image53.svg"/><Relationship Id="rId10" Type="http://schemas.openxmlformats.org/officeDocument/2006/relationships/image" Target="../media/image54.png"/><Relationship Id="rId11" Type="http://schemas.openxmlformats.org/officeDocument/2006/relationships/image" Target="../media/image55.svg"/><Relationship Id="rId1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image" Target="../media/image57.svg"/><Relationship Id="rId4" Type="http://schemas.openxmlformats.org/officeDocument/2006/relationships/image" Target="../media/image48.png"/><Relationship Id="rId5" Type="http://schemas.openxmlformats.org/officeDocument/2006/relationships/image" Target="../media/image58.svg"/><Relationship Id="rId6" Type="http://schemas.openxmlformats.org/officeDocument/2006/relationships/image" Target="../media/image50.png"/><Relationship Id="rId7" Type="http://schemas.openxmlformats.org/officeDocument/2006/relationships/image" Target="../media/image59.svg"/><Relationship Id="rId8" Type="http://schemas.openxmlformats.org/officeDocument/2006/relationships/image" Target="../media/image52.png"/><Relationship Id="rId9" Type="http://schemas.openxmlformats.org/officeDocument/2006/relationships/image" Target="../media/image60.svg"/><Relationship Id="rId10" Type="http://schemas.openxmlformats.org/officeDocument/2006/relationships/image" Target="../media/image54.png"/><Relationship Id="rId11" Type="http://schemas.openxmlformats.org/officeDocument/2006/relationships/image" Target="../media/image61.svg"/><Relationship Id="rId1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3.svg"/><Relationship Id="rId4" Type="http://schemas.openxmlformats.org/officeDocument/2006/relationships/image" Target="../media/image50.png"/><Relationship Id="rId5" Type="http://schemas.openxmlformats.org/officeDocument/2006/relationships/image" Target="../media/image64.svg"/><Relationship Id="rId6" Type="http://schemas.openxmlformats.org/officeDocument/2006/relationships/image" Target="../media/image48.png"/><Relationship Id="rId7" Type="http://schemas.openxmlformats.org/officeDocument/2006/relationships/image" Target="../media/image65.svg"/><Relationship Id="rId8" Type="http://schemas.openxmlformats.org/officeDocument/2006/relationships/image" Target="../media/image52.png"/><Relationship Id="rId9" Type="http://schemas.openxmlformats.org/officeDocument/2006/relationships/image" Target="../media/image66.svg"/><Relationship Id="rId10" Type="http://schemas.openxmlformats.org/officeDocument/2006/relationships/image" Target="../media/image54.png"/><Relationship Id="rId11" Type="http://schemas.openxmlformats.org/officeDocument/2006/relationships/image" Target="../media/image67.svg"/><Relationship Id="rId1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png"/><Relationship Id="rId3" Type="http://schemas.openxmlformats.org/officeDocument/2006/relationships/image" Target="../media/image69.svg"/><Relationship Id="rId4" Type="http://schemas.openxmlformats.org/officeDocument/2006/relationships/image" Target="../media/image52.png"/><Relationship Id="rId5" Type="http://schemas.openxmlformats.org/officeDocument/2006/relationships/image" Target="../media/image70.svg"/><Relationship Id="rId6" Type="http://schemas.openxmlformats.org/officeDocument/2006/relationships/image" Target="../media/image48.png"/><Relationship Id="rId7" Type="http://schemas.openxmlformats.org/officeDocument/2006/relationships/image" Target="../media/image71.svg"/><Relationship Id="rId8" Type="http://schemas.openxmlformats.org/officeDocument/2006/relationships/image" Target="../media/image50.png"/><Relationship Id="rId9" Type="http://schemas.openxmlformats.org/officeDocument/2006/relationships/image" Target="../media/image72.svg"/><Relationship Id="rId10" Type="http://schemas.openxmlformats.org/officeDocument/2006/relationships/image" Target="../media/image54.png"/><Relationship Id="rId11" Type="http://schemas.openxmlformats.org/officeDocument/2006/relationships/image" Target="../media/image73.svg"/><Relationship Id="rId1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75.svg"/><Relationship Id="rId4" Type="http://schemas.openxmlformats.org/officeDocument/2006/relationships/image" Target="../media/image54.png"/><Relationship Id="rId5" Type="http://schemas.openxmlformats.org/officeDocument/2006/relationships/image" Target="../media/image76.svg"/><Relationship Id="rId6" Type="http://schemas.openxmlformats.org/officeDocument/2006/relationships/image" Target="../media/image48.png"/><Relationship Id="rId7" Type="http://schemas.openxmlformats.org/officeDocument/2006/relationships/image" Target="../media/image77.svg"/><Relationship Id="rId8" Type="http://schemas.openxmlformats.org/officeDocument/2006/relationships/image" Target="../media/image50.png"/><Relationship Id="rId9" Type="http://schemas.openxmlformats.org/officeDocument/2006/relationships/image" Target="../media/image78.svg"/><Relationship Id="rId10" Type="http://schemas.openxmlformats.org/officeDocument/2006/relationships/image" Target="../media/image52.png"/><Relationship Id="rId11" Type="http://schemas.openxmlformats.org/officeDocument/2006/relationships/image" Target="../media/image79.svg"/><Relationship Id="rId1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png"/><Relationship Id="rId3" Type="http://schemas.openxmlformats.org/officeDocument/2006/relationships/image" Target="../media/image81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png"/><Relationship Id="rId3" Type="http://schemas.openxmlformats.org/officeDocument/2006/relationships/image" Target="../media/image82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png"/><Relationship Id="rId3" Type="http://schemas.openxmlformats.org/officeDocument/2006/relationships/image" Target="../media/image83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png"/><Relationship Id="rId3" Type="http://schemas.openxmlformats.org/officeDocument/2006/relationships/image" Target="../media/image84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png"/><Relationship Id="rId3" Type="http://schemas.openxmlformats.org/officeDocument/2006/relationships/image" Target="../media/image85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3" Type="http://schemas.openxmlformats.org/officeDocument/2006/relationships/image" Target="../media/image87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8.png"/><Relationship Id="rId3" Type="http://schemas.openxmlformats.org/officeDocument/2006/relationships/image" Target="../media/image89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3" Type="http://schemas.openxmlformats.org/officeDocument/2006/relationships/image" Target="../media/image90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8.png"/><Relationship Id="rId3" Type="http://schemas.openxmlformats.org/officeDocument/2006/relationships/image" Target="../media/image91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3" Type="http://schemas.openxmlformats.org/officeDocument/2006/relationships/image" Target="../media/image92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8.png"/><Relationship Id="rId3" Type="http://schemas.openxmlformats.org/officeDocument/2006/relationships/image" Target="../media/image93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4.png"/><Relationship Id="rId3" Type="http://schemas.openxmlformats.org/officeDocument/2006/relationships/image" Target="../media/image95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6.png"/><Relationship Id="rId3" Type="http://schemas.openxmlformats.org/officeDocument/2006/relationships/image" Target="../media/image97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6.png"/><Relationship Id="rId3" Type="http://schemas.openxmlformats.org/officeDocument/2006/relationships/image" Target="../media/image98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6.png"/><Relationship Id="rId3" Type="http://schemas.openxmlformats.org/officeDocument/2006/relationships/image" Target="../media/image99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7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28756"/>
                </a:solidFill>
                <a:latin typeface="Segoe UI Black"/>
              </a:rPr>
              <a:t>13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Supervised Learning II: Classification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DACA"/>
                </a:solidFill>
                <a:latin typeface="Segoe UI"/>
              </a:rPr>
              <a:t>PART III  ·  MACHINE LEARNING CORE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DACA"/>
                </a:solidFill>
                <a:latin typeface="Segoe UI"/>
              </a:rPr>
              <a:t>CHAPTER 13  ·  WEEK 8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E4D9"/>
                </a:solidFill>
                <a:latin typeface="Segoe UI"/>
              </a:rPr>
              <a:t>Data Science — From Foundations to Intelligent Systems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35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5C0B0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DD0C5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C0B0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82     </a:t>
            </a:r>
            <a:fld id="{B8F904A1-46C3-4F50-ABD9-75E212E120B4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634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63443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740856" y="1755648"/>
            <a:ext cx="107133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0856" y="2029967"/>
            <a:ext cx="107133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4141374" y="1755648"/>
            <a:ext cx="194532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B7A43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41374" y="2029967"/>
            <a:ext cx="1945328" cy="4572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6415887" y="1755648"/>
            <a:ext cx="1634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15887" y="2029967"/>
            <a:ext cx="163443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379504" y="1755648"/>
            <a:ext cx="135288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9504" y="2029967"/>
            <a:ext cx="135288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061571" y="1755648"/>
            <a:ext cx="135288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61571" y="2029967"/>
            <a:ext cx="135288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422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66198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4972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94353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1652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22508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80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5066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7962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178818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117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06973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17039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262559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98589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29071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0138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318869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1688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34702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7557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402611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910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430766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9800" y="2112264"/>
            <a:ext cx="566928" cy="566928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4689800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310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518166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465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546321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362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57447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207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630063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361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658217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516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686372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671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714527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1826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742682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9981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770837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68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826424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23</a:t>
            </a:r>
          </a:p>
        </p:txBody>
      </p:sp>
      <p:sp>
        <p:nvSpPr>
          <p:cNvPr id="65" name="!!dot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3723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dotn24"/>
          <p:cNvSpPr txBox="1"/>
          <p:nvPr/>
        </p:nvSpPr>
        <p:spPr>
          <a:xfrm>
            <a:off x="85457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24</a:t>
            </a:r>
          </a:p>
        </p:txBody>
      </p:sp>
      <p:sp>
        <p:nvSpPr>
          <p:cNvPr id="67" name="!!dot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878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dotn25"/>
          <p:cNvSpPr txBox="1"/>
          <p:nvPr/>
        </p:nvSpPr>
        <p:spPr>
          <a:xfrm>
            <a:off x="882734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25</a:t>
            </a:r>
          </a:p>
        </p:txBody>
      </p:sp>
      <p:sp>
        <p:nvSpPr>
          <p:cNvPr id="69" name="!!dot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0033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dotn26"/>
          <p:cNvSpPr txBox="1"/>
          <p:nvPr/>
        </p:nvSpPr>
        <p:spPr>
          <a:xfrm>
            <a:off x="91088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26</a:t>
            </a:r>
          </a:p>
        </p:txBody>
      </p:sp>
      <p:sp>
        <p:nvSpPr>
          <p:cNvPr id="71" name="!!dot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8188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dotn27"/>
          <p:cNvSpPr txBox="1"/>
          <p:nvPr/>
        </p:nvSpPr>
        <p:spPr>
          <a:xfrm>
            <a:off x="939044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27</a:t>
            </a:r>
          </a:p>
        </p:txBody>
      </p:sp>
      <p:sp>
        <p:nvSpPr>
          <p:cNvPr id="73" name="!!dot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77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dotn28"/>
          <p:cNvSpPr txBox="1"/>
          <p:nvPr/>
        </p:nvSpPr>
        <p:spPr>
          <a:xfrm>
            <a:off x="99463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28</a:t>
            </a:r>
          </a:p>
        </p:txBody>
      </p:sp>
      <p:sp>
        <p:nvSpPr>
          <p:cNvPr id="75" name="!!dot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1930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dotn29"/>
          <p:cNvSpPr txBox="1"/>
          <p:nvPr/>
        </p:nvSpPr>
        <p:spPr>
          <a:xfrm>
            <a:off x="1022786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29</a:t>
            </a:r>
          </a:p>
        </p:txBody>
      </p:sp>
      <p:sp>
        <p:nvSpPr>
          <p:cNvPr id="77" name="!!dot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0085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dotn30"/>
          <p:cNvSpPr txBox="1"/>
          <p:nvPr/>
        </p:nvSpPr>
        <p:spPr>
          <a:xfrm>
            <a:off x="1050941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30</a:t>
            </a:r>
          </a:p>
        </p:txBody>
      </p:sp>
      <p:sp>
        <p:nvSpPr>
          <p:cNvPr id="79" name="!!dot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240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!!dotn31"/>
          <p:cNvSpPr txBox="1"/>
          <p:nvPr/>
        </p:nvSpPr>
        <p:spPr>
          <a:xfrm>
            <a:off x="1079096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31</a:t>
            </a:r>
          </a:p>
        </p:txBody>
      </p:sp>
      <p:sp>
        <p:nvSpPr>
          <p:cNvPr id="81" name="!!dot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6395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dotn32"/>
          <p:cNvSpPr txBox="1"/>
          <p:nvPr/>
        </p:nvSpPr>
        <p:spPr>
          <a:xfrm>
            <a:off x="1107251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32</a:t>
            </a:r>
          </a:p>
        </p:txBody>
      </p:sp>
      <p:sp>
        <p:nvSpPr>
          <p:cNvPr id="83" name="!!dotlabel"/>
          <p:cNvSpPr txBox="1"/>
          <p:nvPr/>
        </p:nvSpPr>
        <p:spPr>
          <a:xfrm>
            <a:off x="2687264" y="2798064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7A43"/>
                </a:solidFill>
                <a:latin typeface="Segoe UI"/>
              </a:rPr>
              <a:t>Supervised Learning II: Classification</a:t>
            </a:r>
          </a:p>
        </p:txBody>
      </p:sp>
      <p:sp>
        <p:nvSpPr>
          <p:cNvPr id="8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85" name="!!chip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!!chipbBU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!!chiptBU4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Mathematical Toolkit</a:t>
            </a:r>
          </a:p>
        </p:txBody>
      </p:sp>
      <p:sp>
        <p:nvSpPr>
          <p:cNvPr id="88" name="!!chipBU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!!chipbBU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!!chiptBU6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6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Probability and Uncertainty</a:t>
            </a:r>
          </a:p>
        </p:txBody>
      </p:sp>
      <p:sp>
        <p:nvSpPr>
          <p:cNvPr id="91" name="!!chip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!!chipb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!!chiptBU12"/>
          <p:cNvSpPr txBox="1"/>
          <p:nvPr/>
        </p:nvSpPr>
        <p:spPr>
          <a:xfrm>
            <a:off x="859536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Supervised Learning I: Regression</a:t>
            </a:r>
          </a:p>
        </p:txBody>
      </p:sp>
      <p:sp>
        <p:nvSpPr>
          <p:cNvPr id="94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95" name="!!chipUS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!!chipbUS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!!chiptUS14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Model Evaluation and Selection</a:t>
            </a:r>
          </a:p>
        </p:txBody>
      </p:sp>
      <p:sp>
        <p:nvSpPr>
          <p:cNvPr id="98" name="!!chipUS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!!chipbUS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!!chiptUS15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Feature Engineering and Ensembles</a:t>
            </a:r>
          </a:p>
        </p:txBody>
      </p:sp>
      <p:sp>
        <p:nvSpPr>
          <p:cNvPr id="101" name="!!chip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!!chipbUS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!!chiptUS20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20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Text and Natural Language Processing</a:t>
            </a:r>
          </a:p>
        </p:txBody>
      </p:sp>
      <p:sp>
        <p:nvSpPr>
          <p:cNvPr id="10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58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82     </a:t>
            </a:r>
            <a:fld id="{DEC4F128-1BEA-4F07-99BF-CD78E96EA7B3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how logistic regression converts a linear score into a probability, and interpret its coefficients as odds ratios.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061411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Describe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mechanism, strengths and weaknesses of k-NN, naive Bayes, decision trees and support vector machines.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118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97855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909974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Match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classifier to a problem’s constraints — data size, interpretability, training cost, feature types.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767681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827117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808829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Interpret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decision boundary plot and relate its shape to model bias.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71185"/>
            <a:ext cx="420624" cy="420624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43062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41233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7A43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the default 0.5 threshold is a choice, not a law.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7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82     </a:t>
            </a:r>
            <a:fld id="{7487E326-67A9-488C-9A98-BC147299D53E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classific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59171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classific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classification"/>
          <p:cNvSpPr txBox="1"/>
          <p:nvPr/>
        </p:nvSpPr>
        <p:spPr>
          <a:xfrm>
            <a:off x="950976" y="1962911"/>
            <a:ext cx="140883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classification</a:t>
            </a:r>
          </a:p>
        </p:txBody>
      </p:sp>
      <p:sp>
        <p:nvSpPr>
          <p:cNvPr id="10" name="!!term-decision b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96386" y="1847088"/>
            <a:ext cx="212699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decision b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24402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decision bound"/>
          <p:cNvSpPr txBox="1"/>
          <p:nvPr/>
        </p:nvSpPr>
        <p:spPr>
          <a:xfrm>
            <a:off x="2688994" y="1962911"/>
            <a:ext cx="194411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decision boundary</a:t>
            </a:r>
          </a:p>
        </p:txBody>
      </p:sp>
      <p:sp>
        <p:nvSpPr>
          <p:cNvPr id="13" name="!!term-logistic (sig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9689" y="1847088"/>
            <a:ext cx="281229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logistic (sig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7705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logistic (sigm"/>
          <p:cNvSpPr txBox="1"/>
          <p:nvPr/>
        </p:nvSpPr>
        <p:spPr>
          <a:xfrm>
            <a:off x="4962297" y="1962911"/>
            <a:ext cx="262941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logistic (sigmoid) function</a:t>
            </a:r>
          </a:p>
        </p:txBody>
      </p:sp>
      <p:sp>
        <p:nvSpPr>
          <p:cNvPr id="16" name="!!term-odds rat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8285" y="1847088"/>
            <a:ext cx="136869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odds rat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630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odds ratio"/>
          <p:cNvSpPr txBox="1"/>
          <p:nvPr/>
        </p:nvSpPr>
        <p:spPr>
          <a:xfrm>
            <a:off x="7920893" y="1962911"/>
            <a:ext cx="118581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odds ratio</a:t>
            </a:r>
          </a:p>
        </p:txBody>
      </p:sp>
      <p:sp>
        <p:nvSpPr>
          <p:cNvPr id="19" name="!!term-log lo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3288" y="1847088"/>
            <a:ext cx="113676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log lo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7130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log loss"/>
          <p:cNvSpPr txBox="1"/>
          <p:nvPr/>
        </p:nvSpPr>
        <p:spPr>
          <a:xfrm>
            <a:off x="9435896" y="1962911"/>
            <a:ext cx="95388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log loss</a:t>
            </a:r>
          </a:p>
        </p:txBody>
      </p:sp>
      <p:sp>
        <p:nvSpPr>
          <p:cNvPr id="22" name="!!term-k-nearest nei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238716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k-nearest nei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k-nearest neig"/>
          <p:cNvSpPr txBox="1"/>
          <p:nvPr/>
        </p:nvSpPr>
        <p:spPr>
          <a:xfrm>
            <a:off x="950976" y="2584704"/>
            <a:ext cx="220428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k-nearest neighbours</a:t>
            </a:r>
          </a:p>
        </p:txBody>
      </p:sp>
      <p:sp>
        <p:nvSpPr>
          <p:cNvPr id="25" name="!!term-naive Ba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91833" y="2468880"/>
            <a:ext cx="149716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naive Bay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984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naive Bayes"/>
          <p:cNvSpPr txBox="1"/>
          <p:nvPr/>
        </p:nvSpPr>
        <p:spPr>
          <a:xfrm>
            <a:off x="3484441" y="2584704"/>
            <a:ext cx="131428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naive Bayes</a:t>
            </a:r>
          </a:p>
        </p:txBody>
      </p:sp>
      <p:sp>
        <p:nvSpPr>
          <p:cNvPr id="28" name="!!term-decision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35303" y="2468880"/>
            <a:ext cx="160804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decision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6331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decision tree"/>
          <p:cNvSpPr txBox="1"/>
          <p:nvPr/>
        </p:nvSpPr>
        <p:spPr>
          <a:xfrm>
            <a:off x="5127911" y="2584704"/>
            <a:ext cx="142516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decision tree</a:t>
            </a:r>
          </a:p>
        </p:txBody>
      </p:sp>
      <p:sp>
        <p:nvSpPr>
          <p:cNvPr id="31" name="!!term-Gini impur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9653" y="2468880"/>
            <a:ext cx="161617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Gini impur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766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Gini impurity"/>
          <p:cNvSpPr txBox="1"/>
          <p:nvPr/>
        </p:nvSpPr>
        <p:spPr>
          <a:xfrm>
            <a:off x="6882261" y="2584704"/>
            <a:ext cx="143329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Gini impurity</a:t>
            </a:r>
          </a:p>
        </p:txBody>
      </p:sp>
      <p:sp>
        <p:nvSpPr>
          <p:cNvPr id="34" name="!!term-entrop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2129" y="2468880"/>
            <a:ext cx="115061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entrop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0145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entropy"/>
          <p:cNvSpPr txBox="1"/>
          <p:nvPr/>
        </p:nvSpPr>
        <p:spPr>
          <a:xfrm>
            <a:off x="8644737" y="2584704"/>
            <a:ext cx="96773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entropy</a:t>
            </a:r>
          </a:p>
        </p:txBody>
      </p:sp>
      <p:sp>
        <p:nvSpPr>
          <p:cNvPr id="37" name="!!term-support v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260549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support v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support vector"/>
          <p:cNvSpPr txBox="1"/>
          <p:nvPr/>
        </p:nvSpPr>
        <p:spPr>
          <a:xfrm>
            <a:off x="950976" y="3206496"/>
            <a:ext cx="242261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support vector machine</a:t>
            </a:r>
          </a:p>
        </p:txBody>
      </p:sp>
      <p:sp>
        <p:nvSpPr>
          <p:cNvPr id="40" name="!!term-marg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10163" y="3090672"/>
            <a:ext cx="108449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marg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38179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margin"/>
          <p:cNvSpPr txBox="1"/>
          <p:nvPr/>
        </p:nvSpPr>
        <p:spPr>
          <a:xfrm>
            <a:off x="3702771" y="3206496"/>
            <a:ext cx="90161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margin</a:t>
            </a:r>
          </a:p>
        </p:txBody>
      </p:sp>
      <p:sp>
        <p:nvSpPr>
          <p:cNvPr id="43" name="!!term-ker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0964" y="3090672"/>
            <a:ext cx="99824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termd-ker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8980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termt-kernel"/>
          <p:cNvSpPr txBox="1"/>
          <p:nvPr/>
        </p:nvSpPr>
        <p:spPr>
          <a:xfrm>
            <a:off x="4933572" y="3206496"/>
            <a:ext cx="81536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kernel</a:t>
            </a:r>
          </a:p>
        </p:txBody>
      </p:sp>
      <p:sp>
        <p:nvSpPr>
          <p:cNvPr id="46" name="!!term-decision thr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85514" y="3090672"/>
            <a:ext cx="211584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!!termd-decision thr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13530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termt-decision thres"/>
          <p:cNvSpPr txBox="1"/>
          <p:nvPr/>
        </p:nvSpPr>
        <p:spPr>
          <a:xfrm>
            <a:off x="6078122" y="3206496"/>
            <a:ext cx="193296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decision threshold</a:t>
            </a:r>
          </a:p>
        </p:txBody>
      </p:sp>
      <p:sp>
        <p:nvSpPr>
          <p:cNvPr id="49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5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82–87     </a:t>
            </a:r>
            <a:fld id="{E06BB15C-2976-41B8-BD62-F1E036686C5B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3.1 From Regression to Classification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13.1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From Regression to Classification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82  ›</a:t>
            </a:r>
          </a:p>
        </p:txBody>
      </p:sp>
      <p:sp>
        <p:nvSpPr>
          <p:cNvPr id="12" name="!!ag1" descr="Go to section 13.2 Four More Classifiers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13.2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Four More Classifiers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83  ›</a:t>
            </a:r>
          </a:p>
        </p:txBody>
      </p:sp>
      <p:sp>
        <p:nvSpPr>
          <p:cNvPr id="17" name="!!ag2" descr="Go to section 13.3 Decision Boundaries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13.3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Decision Boundaries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84  ›</a:t>
            </a:r>
          </a:p>
        </p:txBody>
      </p:sp>
      <p:sp>
        <p:nvSpPr>
          <p:cNvPr id="22" name="!!ag3" descr="Go to section 13.4 The Threshold Is a Decision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7A43"/>
                </a:solidFill>
                <a:latin typeface="Segoe UI Semibold"/>
              </a:rPr>
              <a:t>13.4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Threshold Is a Decision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85  ›</a:t>
            </a:r>
          </a:p>
        </p:txBody>
      </p:sp>
      <p:sp>
        <p:nvSpPr>
          <p:cNvPr id="2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52396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From Regression to Classification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SECTION 1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13.1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43"/>
                </a:solidFill>
                <a:latin typeface="Segoe UI"/>
              </a:rPr>
              <a:t>13.1   From Regression to Classification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13.2   Four More Classifiers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13.3   Decision Boundaries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13.4   The Threshold Is a Decision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§13.1     </a:t>
            </a:r>
            <a:fld id="{F2BFA6DA-727F-4606-8672-2BC81533714E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2875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Logistic Regression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§13.1  ·  Handout p. 82     </a:t>
            </a:r>
            <a:fld id="{F95048D3-016F-4C20-B848-9B88627979E7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111083"/>
          </a:xfrm>
          <a:prstGeom prst="roundRect">
            <a:avLst>
              <a:gd name="adj" fmla="val 2939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111083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Compute a linear score z = w0 + Σj wj xj, then squash it into (0,1) with the sigmoid: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048255"/>
            <a:ext cx="10161727" cy="770107"/>
          </a:xfrm>
          <a:prstGeom prst="rect">
            <a:avLst/>
          </a:prstGeom>
        </p:spPr>
      </p:pic>
      <p:pic>
        <p:nvPicPr>
          <p:cNvPr id="10" name="body-1" descr="\hat{p} \;=\; \sigma(z) \;=\; \frac{1}{1 + e^{-z}}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704" y="2979018"/>
            <a:ext cx="10161727" cy="668792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60704" y="380846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Predict the positive class when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p̂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exceeds a chosen threshold. Despite its name it is a classifier, not a regressor.</a:t>
            </a:r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3354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Why logistic regression exists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B7A43"/>
                </a:solidFill>
                <a:latin typeface="Segoe UI"/>
              </a:rPr>
              <a:t>FIGURE 13.1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§13.1  ·  Handout p. 82     </a:t>
            </a:r>
            <a:fld id="{2A34CDC1-D6A1-49B8-81CD-3B9166EB04E9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pic>
        <p:nvPicPr>
          <p:cNvPr id="6" name="!!figure" descr="Figure 13.1. Why logistic regression exists. A linear fit to a 0/1 outcome produces impossible probabilities; the sigmoid maps any real score into a valid probability and saturates gracefully at both ends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321" y="1737360"/>
            <a:ext cx="10119051" cy="374050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A linear fit to a 0/1 outcome produces impossible probabilities; the sigmoid maps any real score into a valid probability and saturates gracefully at both ends.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Interpreting a Logistic Coefficient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§13.1  ·  Handout p. 82     </a:t>
            </a:r>
            <a:fld id="{D74CB46A-C51A-475D-B43B-A5FF39EB7406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09399"/>
          </a:xfrm>
          <a:prstGeom prst="roundRect">
            <a:avLst>
              <a:gd name="adj" fmla="val 2027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0939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model predicting course failure returns</a:t>
            </a:r>
          </a:p>
        </p:txBody>
      </p:sp>
      <p:pic>
        <p:nvPicPr>
          <p:cNvPr id="10" name="body-1" descr="z = -1.2 - 0.045\,(\text{attendance\%}) + 0.62\,(\text{days\_absent}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2445537"/>
            <a:ext cx="10234879" cy="324520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42416" y="2902772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1 — a concrete prediction.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For a student with 60% attendance and 4 days absent: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921060"/>
            <a:ext cx="54864" cy="2828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body-3" descr="z = -1.2 - 0.045(60) + 0.62(4) = -1.2 - 2.7 + 2.48 = -1.4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2416" y="3336630"/>
            <a:ext cx="10234879" cy="324520"/>
          </a:xfrm>
          <a:prstGeom prst="rect">
            <a:avLst/>
          </a:prstGeom>
        </p:spPr>
      </p:pic>
      <p:pic>
        <p:nvPicPr>
          <p:cNvPr id="14" name="body-4" descr="\hat{p} = \frac{1}{1+e^{1.42}} = \frac{1}{1+4.137} = 0.195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2416" y="3793865"/>
            <a:ext cx="10234879" cy="552480"/>
          </a:xfrm>
          <a:prstGeom prst="rect">
            <a:avLst/>
          </a:prstGeom>
        </p:spPr>
      </p:pic>
      <p:sp>
        <p:nvSpPr>
          <p:cNvPr id="15" name="body-5"/>
          <p:cNvSpPr txBox="1"/>
          <p:nvPr/>
        </p:nvSpPr>
        <p:spPr>
          <a:xfrm>
            <a:off x="1042416" y="4479061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About a 19.5% estimated probability of failing.</a:t>
            </a:r>
          </a:p>
        </p:txBody>
      </p:sp>
      <p:sp>
        <p:nvSpPr>
          <p:cNvPr id="16" name="body-6"/>
          <p:cNvSpPr txBox="1"/>
          <p:nvPr/>
        </p:nvSpPr>
        <p:spPr>
          <a:xfrm>
            <a:off x="1042416" y="4912918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2 — the odds ratio.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Exponentiating a coefficient gives the multiplicative effect on the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odds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sp>
        <p:nvSpPr>
          <p:cNvPr id="17" name="body-6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931206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8" name="body-7" descr="e^{0.62} = 1.86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2416" y="5647918"/>
            <a:ext cx="10234879" cy="324520"/>
          </a:xfrm>
          <a:prstGeom prst="rect">
            <a:avLst/>
          </a:prstGeom>
        </p:spPr>
      </p:pic>
      <p:sp>
        <p:nvSpPr>
          <p:cNvPr id="4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4313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Interpreting a Logistic Coefficient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§13.1  ·  Handout p. 82     </a:t>
            </a:r>
            <a:fld id="{1C24A258-44E4-4BE3-B79C-9F2E88A2BBF0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789351"/>
          </a:xfrm>
          <a:prstGeom prst="roundRect">
            <a:avLst>
              <a:gd name="adj" fmla="val 327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78935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12502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Each additional day absent multiplies the odds of failing by 1.86 — an 86% increase in odds, holding attendance constant. This is how logistic models are reported in practice, because “the odds nearly double per day absent” is comprehensible in a way that “the log-odds rise by 0.62” is not.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3348964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3 — the trap.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Odds are not probability. Odds rising 86% moves a probability of 0.05 to 0.089, but a probability of 0.5 to 0.65. The same coefficient has a very different effect depending on where the student started.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367252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04792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Four More Classifiers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SECTION 2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13.2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13.1   From Regression to Classification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43"/>
                </a:solidFill>
                <a:latin typeface="Segoe UI"/>
              </a:rPr>
              <a:t>13.2   Four More Classifiers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13.3   Decision Boundaries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13.4   The Threshold Is a Decision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§13.2     </a:t>
            </a:r>
            <a:fld id="{852F3166-A11F-4B02-950F-CFE1C9D07E66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35271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five classical classifiers, with the trade-off that decides between them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B7A43"/>
                </a:solidFill>
                <a:latin typeface="Segoe UI"/>
              </a:rPr>
              <a:t>FIGURE 13.2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§13.2  ·  Handout p. 83     </a:t>
            </a:r>
            <a:fld id="{D3383DED-6F93-41F8-BDF5-B39E82B47870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pic>
        <p:nvPicPr>
          <p:cNvPr id="6" name="!!figure" descr="Figure 13.2. The five classical classifiers, with the trade-off that decides between them. There is no best one — Chapter 11’s no-free-lunch result in practical form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6579" y="1737360"/>
            <a:ext cx="8338536" cy="4009948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930188"/>
            <a:ext cx="54864" cy="306019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911900"/>
            <a:ext cx="10600639" cy="4888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There is no best one — Chapter 11’s no-free-lunch result in practical form.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5750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Gini Impurity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§13.2.1  ·  Handout p. 83     </a:t>
            </a:r>
            <a:fld id="{96914FB6-F4E6-4229-9AD0-84715536713B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713036"/>
          </a:xfrm>
          <a:prstGeom prst="roundRect">
            <a:avLst>
              <a:gd name="adj" fmla="val 5337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713036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For a node containing class proportions pk, G = 1 − Σk pk2. It is 0 when the node is pure (one class only) and maximal when classes are evenly mixed. A tree chooses the split that reduces weighted impurity the most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048255"/>
            <a:ext cx="10161727" cy="1091244"/>
          </a:xfrm>
          <a:prstGeom prst="rect">
            <a:avLst/>
          </a:prstGeom>
        </p:spPr>
      </p:pic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96230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Choosing a Split by Gini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§13.2.1  ·  Handout p. 83     </a:t>
            </a:r>
            <a:fld id="{3652E231-67AA-4D68-A237-54568E9155CF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64923"/>
          </a:xfrm>
          <a:prstGeom prst="roundRect">
            <a:avLst>
              <a:gd name="adj" fmla="val 2047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64923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100 students, 30 of whom failed. Root impurity:</a:t>
            </a:r>
          </a:p>
        </p:txBody>
      </p:sp>
      <p:pic>
        <p:nvPicPr>
          <p:cNvPr id="10" name="body-1" descr="G_{\text{root}} = 1 - (0.7^2 + 0.3^2) = 1 - (0.49 + 0.09) = 0.4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2377033"/>
            <a:ext cx="10234879" cy="273314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42416" y="2762107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Candidate split: attendance </a:t>
            </a:r>
            <a:r>
              <a:rPr sz="1600" b="1" i="0">
                <a:solidFill>
                  <a:srgbClr val="1C252B"/>
                </a:solidFill>
                <a:latin typeface="Cambria"/>
              </a:rPr>
              <a:t>&lt; 50%</a:t>
            </a:r>
            <a:r>
              <a:rPr sz="1600" b="1" i="0">
                <a:solidFill>
                  <a:srgbClr val="1C252B"/>
                </a:solidFill>
                <a:latin typeface="Segoe UI"/>
              </a:rPr>
              <a:t>?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2780395"/>
            <a:ext cx="54864" cy="23530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3"/>
          <p:cNvSpPr txBox="1"/>
          <p:nvPr/>
        </p:nvSpPr>
        <p:spPr>
          <a:xfrm>
            <a:off x="1042416" y="3127461"/>
            <a:ext cx="10234879" cy="6240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178905" indent="-178905">
              <a:lnSpc>
                <a:spcPct val="104000"/>
              </a:lnSpc>
              <a:spcBef>
                <a:spcPts val="0"/>
              </a:spcBef>
              <a:spcAft>
                <a:spcPts val="560"/>
              </a:spcAft>
            </a:pPr>
            <a:r>
              <a:rPr sz="1600" b="1">
                <a:solidFill>
                  <a:srgbClr val="7D6608"/>
                </a:solidFill>
                <a:latin typeface="Segoe UI"/>
              </a:rPr>
              <a:t>•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Left (attendance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&lt;50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): 25 students, 20 failed.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600" b="0" i="1" baseline="-25000">
                <a:solidFill>
                  <a:srgbClr val="1C252B"/>
                </a:solidFill>
                <a:latin typeface="Cambria"/>
              </a:rPr>
              <a:t>L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= 1 − (0.2</a:t>
            </a:r>
            <a:r>
              <a:rPr sz="16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+ 0.8</a:t>
            </a:r>
            <a:r>
              <a:rPr sz="16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 = 1 − (0.04+0.64) = 0.32</a:t>
            </a:r>
          </a:p>
          <a:p>
            <a:pPr algn="l" marL="178905" indent="-178905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D6608"/>
                </a:solidFill>
                <a:latin typeface="Segoe UI"/>
              </a:rPr>
              <a:t>•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Right: 75 students, 10 failed.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600" b="0" i="1" baseline="-25000">
                <a:solidFill>
                  <a:srgbClr val="1C252B"/>
                </a:solidFill>
                <a:latin typeface="Cambria"/>
              </a:rPr>
              <a:t>R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= 1 − (0.867</a:t>
            </a:r>
            <a:r>
              <a:rPr sz="16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+ 0.133</a:t>
            </a:r>
            <a:r>
              <a:rPr sz="16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 = 1 − (0.751+0.018) = 0.231</a:t>
            </a:r>
          </a:p>
        </p:txBody>
      </p:sp>
      <p:sp>
        <p:nvSpPr>
          <p:cNvPr id="14" name="body-4"/>
          <p:cNvSpPr txBox="1"/>
          <p:nvPr/>
        </p:nvSpPr>
        <p:spPr>
          <a:xfrm>
            <a:off x="1042416" y="3817528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Weighted impurity: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25/100(0.32) + 75/100(0.231) = 0.08 + 0.173 = 0.253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5" name="body-5"/>
          <p:cNvSpPr txBox="1"/>
          <p:nvPr/>
        </p:nvSpPr>
        <p:spPr>
          <a:xfrm>
            <a:off x="1042416" y="4182882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Gain: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0.42 − 0.253 = 0.167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6" name="body-5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01170"/>
            <a:ext cx="54864" cy="23530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body-6"/>
          <p:cNvSpPr txBox="1"/>
          <p:nvPr/>
        </p:nvSpPr>
        <p:spPr>
          <a:xfrm>
            <a:off x="1042416" y="4548235"/>
            <a:ext cx="10234879" cy="806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Candidate split: posted on forum?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Left: 40 students, 14 failed, so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600" b="0" i="1" baseline="-25000">
                <a:solidFill>
                  <a:srgbClr val="1C252B"/>
                </a:solidFill>
                <a:latin typeface="Cambria"/>
              </a:rPr>
              <a:t>L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= 1−(0.35</a:t>
            </a:r>
            <a:r>
              <a:rPr sz="16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+0.65</a:t>
            </a:r>
            <a:r>
              <a:rPr sz="16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 = 0.455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 Right: 60 students, 16 failed, so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600" b="0" i="1" baseline="-25000">
                <a:solidFill>
                  <a:srgbClr val="1C252B"/>
                </a:solidFill>
                <a:latin typeface="Cambria"/>
              </a:rPr>
              <a:t>R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= 1−(0.267</a:t>
            </a:r>
            <a:r>
              <a:rPr sz="16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+0.733</a:t>
            </a:r>
            <a:r>
              <a:rPr sz="16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 = 0.391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 Weighted impurity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40/100(0.455) + 60/100(0.391) = 0.417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a gain of only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0.42 − 0.417 = 0.003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8" name="body-6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566523"/>
            <a:ext cx="54864" cy="74249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body-7"/>
          <p:cNvSpPr txBox="1"/>
          <p:nvPr/>
        </p:nvSpPr>
        <p:spPr>
          <a:xfrm>
            <a:off x="1042416" y="5420776"/>
            <a:ext cx="10234879" cy="5529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The tree picks attendance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because it separates the classes far better. Repeat recursively on each child, and that is the entire algorithm.</a:t>
            </a:r>
          </a:p>
        </p:txBody>
      </p:sp>
      <p:sp>
        <p:nvSpPr>
          <p:cNvPr id="20" name="body-7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439064"/>
            <a:ext cx="54864" cy="48889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26709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same data, four boundary shapes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B7A43"/>
                </a:solidFill>
                <a:latin typeface="Segoe UI"/>
              </a:rPr>
              <a:t>FIGURE 13.3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§13.3  ·  Handout p. 84     </a:t>
            </a:r>
            <a:fld id="{EF9A934A-CE2C-4362-BAE1-6564AA1DE878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pic>
        <p:nvPicPr>
          <p:cNvPr id="6" name="!!figure" descr="Figure 13.3. The same data, four boundary shapes. Logistic regression can only draw a line; a tree can only draw axis-parallel steps; k-NN and kernel SVMs can draw anything — which is powerful and is also how they overfit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922904"/>
            <a:ext cx="10874959" cy="2680250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Logistic regression can only draw a line; a tree can only draw axis-parallel steps; k-NN and kernel SVMs can draw anything — which is powerful and is also how they overfit.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7188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Threshold Is a Decision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BD7C7"/>
                </a:solidFill>
                <a:latin typeface="Segoe UI"/>
              </a:rPr>
              <a:t>SECTION 4 OF 4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13.4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13.1   From Regression to Classification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13.2   Four More Classifiers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13.3   Decision Boundaries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7A43"/>
                </a:solidFill>
                <a:latin typeface="Segoe UI"/>
              </a:rPr>
              <a:t>13.4   The Threshold Is a Decision</a:t>
            </a:r>
          </a:p>
        </p:txBody>
      </p:sp>
      <p:sp>
        <p:nvSpPr>
          <p:cNvPr id="10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</a:t>
            </a:r>
          </a:p>
        </p:txBody>
      </p:sp>
      <p:sp>
        <p:nvSpPr>
          <p:cNvPr id="11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§13.4     </a:t>
            </a:r>
            <a:fld id="{1BCFF962-8640-450E-95CE-4EFF63B4E208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1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0.5 Is Not Sacred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§13.4  ·  Handout p. 85     </a:t>
            </a:r>
            <a:fld id="{042035C0-749F-432B-895C-C21F4F0890CB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444496"/>
          </a:xfrm>
          <a:prstGeom prst="roundRect">
            <a:avLst>
              <a:gd name="adj" fmla="val 3740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444496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Predicting “positive when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p̂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&gt; 0.5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” is a default, not a requirement. Lower the threshold and you catch more true positives at the cost of more false alarms; raise it and the reverse. On imbalanced problems the default is almost always wrong. Chapter 14 shows how to choose the threshold from the cost of each error type — and that is where this chapter’s models actually become usable.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8147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Threshold Is a Decision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AT A GLANCE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§13.4  ·  Handout p. 85     </a:t>
            </a:r>
            <a:fld id="{276A9AD9-5287-4A4F-B68E-6DB76CE2C81B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10874956" cy="372770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97313"/>
                <a:gridCol w="1864278"/>
                <a:gridCol w="1864278"/>
                <a:gridCol w="1941956"/>
                <a:gridCol w="3107131"/>
              </a:tblGrid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Model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Train speed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Predict speed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Explainable?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Reach for it when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Logistic regression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Fast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Very fast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C252B"/>
                          </a:solidFill>
                          <a:latin typeface="Segoe UI"/>
                        </a:rPr>
                        <a:t>Yes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— odds ratios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You must justify decisions to people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k-NN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Instant (none)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C252B"/>
                          </a:solidFill>
                          <a:latin typeface="Segoe UI"/>
                        </a:rPr>
                        <a:t>Slow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Partly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Small data, odd boundary shapes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Naive Bayes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Very fast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Very fast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Partly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Text, tiny data, a strong baseline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Decision tree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Fast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Very fast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C252B"/>
                          </a:solidFill>
                          <a:latin typeface="Segoe UI"/>
                        </a:rPr>
                        <a:t>Yes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— readable rules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Mixed types, rules must be auditable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SVM (RBF)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Slow on big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Moderate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No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Many features, moderate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accuracy over clarity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8626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§13.4  ·  Handout p. 85     </a:t>
            </a:r>
            <a:fld id="{E59985AB-069C-4566-BED0-FBB6F91D4C0E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93226"/>
                </a:solidFill>
                <a:latin typeface="Segoe UI"/>
              </a:rPr>
              <a:t>Using k-NN without scaling.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largest-range feature becomes the only feature (Chapter 4).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622499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64535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604211"/>
            <a:ext cx="10271455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93226"/>
                </a:solidFill>
                <a:latin typeface="Segoe UI"/>
              </a:rPr>
              <a:t>Believing naive Bayes’ probabilities.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Its ranking is often good; its probabilities are usually badly calibrated because the independence assumption is false.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489350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51221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471062"/>
            <a:ext cx="10271455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93226"/>
                </a:solidFill>
                <a:latin typeface="Segoe UI"/>
              </a:rPr>
              <a:t>Deploying a single unpruned tree.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 will memorise the training set. Use depth limits, or the ensembles of Chapter 15.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56201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4379061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4337913"/>
            <a:ext cx="10271455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93226"/>
                </a:solidFill>
                <a:latin typeface="Segoe UI"/>
              </a:rPr>
              <a:t>Reading logistic coefficients as probabilities.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They are log-odds; exponentiate them for odds ratios.</a:t>
            </a:r>
          </a:p>
        </p:txBody>
      </p:sp>
      <p:sp>
        <p:nvSpPr>
          <p:cNvPr id="4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79105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Four lenses: Choosing a Classifier</a:t>
            </a:r>
          </a:p>
        </p:txBody>
      </p:sp>
      <p:pic>
        <p:nvPicPr>
          <p:cNvPr id="3" name="!!kicker-icon" descr="compass-123953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23953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   </a:t>
            </a:r>
            <a:fld id="{C44674F4-D3AE-4519-B4C7-F959C9294FA3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5318607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419498" cy="256032"/>
          </a:xfrm>
          <a:prstGeom prst="rect">
            <a:avLst/>
          </a:prstGeom>
        </p:spPr>
      </p:pic>
      <p:sp>
        <p:nvSpPr>
          <p:cNvPr id="11" name="!!lensn-LA"/>
          <p:cNvSpPr txBox="1"/>
          <p:nvPr/>
        </p:nvSpPr>
        <p:spPr>
          <a:xfrm>
            <a:off x="1425337" y="1837943"/>
            <a:ext cx="4460197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2" name="!!lensb-LA-0"/>
          <p:cNvSpPr txBox="1"/>
          <p:nvPr/>
        </p:nvSpPr>
        <p:spPr>
          <a:xfrm>
            <a:off x="896112" y="2414016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Use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logistic regression or a shallow tree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even at some cost in accuracy.</a:t>
            </a:r>
          </a:p>
        </p:txBody>
      </p:sp>
      <p:sp>
        <p:nvSpPr>
          <p:cNvPr id="13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1737360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1737360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121408"/>
            <a:ext cx="5318607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5887" y="1856231"/>
            <a:ext cx="301783" cy="256032"/>
          </a:xfrm>
          <a:prstGeom prst="rect">
            <a:avLst/>
          </a:prstGeom>
        </p:spPr>
      </p:pic>
      <p:sp>
        <p:nvSpPr>
          <p:cNvPr id="17" name="!!lensn-PM"/>
          <p:cNvSpPr txBox="1"/>
          <p:nvPr/>
        </p:nvSpPr>
        <p:spPr>
          <a:xfrm>
            <a:off x="6863974" y="1837943"/>
            <a:ext cx="4577912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8" name="!!lensb-PM-0"/>
          <p:cNvSpPr txBox="1"/>
          <p:nvPr/>
        </p:nvSpPr>
        <p:spPr>
          <a:xfrm>
            <a:off x="6452463" y="2414016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With 40 sprints of history,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naive Bayes or a depth-2 tree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the honest choice.</a:t>
            </a:r>
          </a:p>
        </p:txBody>
      </p:sp>
      <p:sp>
        <p:nvSpPr>
          <p:cNvPr id="19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33087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33087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17136"/>
            <a:ext cx="5318607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2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536" y="4251959"/>
            <a:ext cx="256032" cy="256032"/>
          </a:xfrm>
          <a:prstGeom prst="rect">
            <a:avLst/>
          </a:prstGeom>
        </p:spPr>
      </p:pic>
      <p:sp>
        <p:nvSpPr>
          <p:cNvPr id="23" name="!!lensn-IOT"/>
          <p:cNvSpPr txBox="1"/>
          <p:nvPr/>
        </p:nvSpPr>
        <p:spPr>
          <a:xfrm>
            <a:off x="1261872" y="4233672"/>
            <a:ext cx="4623663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4" name="!!lensb-IOT-0"/>
          <p:cNvSpPr txBox="1"/>
          <p:nvPr/>
        </p:nvSpPr>
        <p:spPr>
          <a:xfrm>
            <a:off x="896112" y="4809744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At the edge, prediction cost is a hard constraint: a device with a microcontroller cannot run k-NN against a million stored points.</a:t>
            </a:r>
          </a:p>
        </p:txBody>
      </p:sp>
      <p:sp>
        <p:nvSpPr>
          <p:cNvPr id="25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133087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133087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517136"/>
            <a:ext cx="5318607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8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5887" y="4251959"/>
            <a:ext cx="256032" cy="256032"/>
          </a:xfrm>
          <a:prstGeom prst="rect">
            <a:avLst/>
          </a:prstGeom>
        </p:spPr>
      </p:pic>
      <p:sp>
        <p:nvSpPr>
          <p:cNvPr id="29" name="!!lensn-SEC"/>
          <p:cNvSpPr txBox="1"/>
          <p:nvPr/>
        </p:nvSpPr>
        <p:spPr>
          <a:xfrm>
            <a:off x="6818223" y="4233672"/>
            <a:ext cx="4623663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30" name="!!lensb-SEC-0"/>
          <p:cNvSpPr txBox="1"/>
          <p:nvPr/>
        </p:nvSpPr>
        <p:spPr>
          <a:xfrm>
            <a:off x="6452463" y="4809744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C252B"/>
                </a:solidFill>
                <a:latin typeface="Segoe UI"/>
              </a:rPr>
              <a:t>Naive Bayes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remains a strong, fast baseline for phishing and spam because text features are numerous and the speed matters at mail-gateway volumes.</a:t>
            </a:r>
          </a:p>
        </p:txBody>
      </p:sp>
      <p:sp>
        <p:nvSpPr>
          <p:cNvPr id="3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Learning Analytics: Choosing a Classifier</a:t>
            </a:r>
          </a:p>
        </p:txBody>
      </p:sp>
      <p:pic>
        <p:nvPicPr>
          <p:cNvPr id="3" name="!!kicker-icon" descr="compass-6C3483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6C3483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   </a:t>
            </a:r>
            <a:fld id="{09595C48-6388-4636-BC5F-B35E58CA2E33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6F3F8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419498" cy="256032"/>
          </a:xfrm>
          <a:prstGeom prst="rect">
            <a:avLst/>
          </a:prstGeom>
        </p:spPr>
      </p:pic>
      <p:sp>
        <p:nvSpPr>
          <p:cNvPr id="11" name="!!lensn-LA"/>
          <p:cNvSpPr txBox="1"/>
          <p:nvPr/>
        </p:nvSpPr>
        <p:spPr>
          <a:xfrm>
            <a:off x="1425337" y="1837943"/>
            <a:ext cx="7181909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2" name="!!lensb-LA-0"/>
          <p:cNvSpPr txBox="1"/>
          <p:nvPr/>
        </p:nvSpPr>
        <p:spPr>
          <a:xfrm>
            <a:off x="896112" y="2432304"/>
            <a:ext cx="7583119" cy="21378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Use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logistic regression or a shallow tree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even at some cost in accuracy. A model that flags a student for intervention must be explainable to that student and to the appeals process — “you were flagged because attendance below 50% and two missed labs” is defensible; “the SVM said so” is not. This is a requirement from Chapter 28, not a preference.</a:t>
            </a:r>
          </a:p>
        </p:txBody>
      </p:sp>
      <p:sp>
        <p:nvSpPr>
          <p:cNvPr id="13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301783" cy="256032"/>
          </a:xfrm>
          <a:prstGeom prst="rect">
            <a:avLst/>
          </a:prstGeom>
        </p:spPr>
      </p:pic>
      <p:sp>
        <p:nvSpPr>
          <p:cNvPr id="17" name="!!lensn-PM"/>
          <p:cNvSpPr txBox="1"/>
          <p:nvPr/>
        </p:nvSpPr>
        <p:spPr>
          <a:xfrm>
            <a:off x="9585686" y="1837943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8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256032" cy="256032"/>
          </a:xfrm>
          <a:prstGeom prst="rect">
            <a:avLst/>
          </a:prstGeom>
        </p:spPr>
      </p:pic>
      <p:sp>
        <p:nvSpPr>
          <p:cNvPr id="22" name="!!lensn-IOT"/>
          <p:cNvSpPr txBox="1"/>
          <p:nvPr/>
        </p:nvSpPr>
        <p:spPr>
          <a:xfrm>
            <a:off x="9539935" y="2496312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0063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Project Management: Choosing a Classifier</a:t>
            </a:r>
          </a:p>
        </p:txBody>
      </p:sp>
      <p:pic>
        <p:nvPicPr>
          <p:cNvPr id="3" name="!!kicker-icon" descr="compass-1F618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F618D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   </a:t>
            </a:r>
            <a:fld id="{3BDE73F1-B828-446F-84BA-FEC6A4F6560A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2F6F8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301783" cy="256032"/>
          </a:xfrm>
          <a:prstGeom prst="rect">
            <a:avLst/>
          </a:prstGeom>
        </p:spPr>
      </p:pic>
      <p:sp>
        <p:nvSpPr>
          <p:cNvPr id="11" name="!!lensn-PM"/>
          <p:cNvSpPr txBox="1"/>
          <p:nvPr/>
        </p:nvSpPr>
        <p:spPr>
          <a:xfrm>
            <a:off x="1307622" y="1837943"/>
            <a:ext cx="7299624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2" name="!!lensb-PM-0"/>
          <p:cNvSpPr txBox="1"/>
          <p:nvPr/>
        </p:nvSpPr>
        <p:spPr>
          <a:xfrm>
            <a:off x="896112" y="2432304"/>
            <a:ext cx="7583119" cy="21378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With 40 sprints of history,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naive Bayes or a depth-2 tree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 the honest choice. Anything more flexible will fit noise. A two-rule tree that a scrum master can read out in a stand-up will actually change behaviour, which is the point — a marginally better black box that nobody trusts changes nothing.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256032" cy="256032"/>
          </a:xfrm>
          <a:prstGeom prst="rect">
            <a:avLst/>
          </a:prstGeom>
        </p:spPr>
      </p:pic>
      <p:sp>
        <p:nvSpPr>
          <p:cNvPr id="22" name="!!lensn-IOT"/>
          <p:cNvSpPr txBox="1"/>
          <p:nvPr/>
        </p:nvSpPr>
        <p:spPr>
          <a:xfrm>
            <a:off x="9539935" y="2496312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0543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Internet of Things: Choosing a Classifier</a:t>
            </a:r>
          </a:p>
        </p:txBody>
      </p:sp>
      <p:pic>
        <p:nvPicPr>
          <p:cNvPr id="3" name="!!kicker-icon" descr="compass-117864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864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   </a:t>
            </a:r>
            <a:fld id="{6FC95376-8D98-4973-AFBB-95C18768083D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1F7F6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256032" cy="256032"/>
          </a:xfrm>
          <a:prstGeom prst="rect">
            <a:avLst/>
          </a:prstGeom>
        </p:spPr>
      </p:pic>
      <p:sp>
        <p:nvSpPr>
          <p:cNvPr id="11" name="!!lensn-IOT"/>
          <p:cNvSpPr txBox="1"/>
          <p:nvPr/>
        </p:nvSpPr>
        <p:spPr>
          <a:xfrm>
            <a:off x="1261872" y="1837943"/>
            <a:ext cx="734537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12" name="!!lensb-IOT-0"/>
          <p:cNvSpPr txBox="1"/>
          <p:nvPr/>
        </p:nvSpPr>
        <p:spPr>
          <a:xfrm>
            <a:off x="896112" y="2432304"/>
            <a:ext cx="7583119" cy="21378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At the edge, prediction cost is a hard constraint: a device with a microcontroller cannot run k-NN against a million stored points.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Logistic regression or a small tree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fits in kilobytes and predicts in microseconds. Train something heavy in the cloud, then distil or replace it with something small enough to deploy (Chapter 24).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301783" cy="256032"/>
          </a:xfrm>
          <a:prstGeom prst="rect">
            <a:avLst/>
          </a:prstGeom>
        </p:spPr>
      </p:pic>
      <p:sp>
        <p:nvSpPr>
          <p:cNvPr id="22" name="!!lensn-PM"/>
          <p:cNvSpPr txBox="1"/>
          <p:nvPr/>
        </p:nvSpPr>
        <p:spPr>
          <a:xfrm>
            <a:off x="9585686" y="2496312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1022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Cybersecurity: Choosing a Classifier</a:t>
            </a:r>
          </a:p>
        </p:txBody>
      </p:sp>
      <p:pic>
        <p:nvPicPr>
          <p:cNvPr id="3" name="!!kicker-icon" descr="compass-922B2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922B21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   </a:t>
            </a:r>
            <a:fld id="{8FACF66E-FDB1-4699-A74F-B635015975AC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8F2F2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256032" cy="256032"/>
          </a:xfrm>
          <a:prstGeom prst="rect">
            <a:avLst/>
          </a:prstGeom>
        </p:spPr>
      </p:pic>
      <p:sp>
        <p:nvSpPr>
          <p:cNvPr id="11" name="!!lensn-SEC"/>
          <p:cNvSpPr txBox="1"/>
          <p:nvPr/>
        </p:nvSpPr>
        <p:spPr>
          <a:xfrm>
            <a:off x="1261872" y="1837943"/>
            <a:ext cx="734537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12" name="!!lensb-SEC-0"/>
          <p:cNvSpPr txBox="1"/>
          <p:nvPr/>
        </p:nvSpPr>
        <p:spPr>
          <a:xfrm>
            <a:off x="896112" y="2432304"/>
            <a:ext cx="7583119" cy="283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Segoe UI"/>
              </a:rPr>
              <a:t>Naive Bayes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remains a strong, fast baseline for phishing and spam because text features are numerous and the speed matters at mail-gateway volumes. For intrusion detection, tree ensembles dominate — but note that an interpretable model has a specific operational value here: an analyst must be able to explain to an incident review why a session was blocked. Also, a k-NN boundary that hugs training data is trivially evaded by an adversary who probes it.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301783" cy="256032"/>
          </a:xfrm>
          <a:prstGeom prst="rect">
            <a:avLst/>
          </a:prstGeom>
        </p:spPr>
      </p:pic>
      <p:sp>
        <p:nvSpPr>
          <p:cNvPr id="22" name="!!lensn-PM"/>
          <p:cNvSpPr txBox="1"/>
          <p:nvPr/>
        </p:nvSpPr>
        <p:spPr>
          <a:xfrm>
            <a:off x="9585686" y="2496312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23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IOT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15017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Five Classifiers, One Comparison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§13.4  ·  Handout p. 85     </a:t>
            </a:r>
            <a:fld id="{A1416A6F-A1AA-4499-903F-D0FF1E72F698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labsteps-h"/>
          <p:cNvSpPr txBox="1"/>
          <p:nvPr/>
        </p:nvSpPr>
        <p:spPr>
          <a:xfrm>
            <a:off x="658368" y="17373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8" name="!!labsteps"/>
          <p:cNvSpPr txBox="1"/>
          <p:nvPr/>
        </p:nvSpPr>
        <p:spPr>
          <a:xfrm>
            <a:off x="658368" y="2121408"/>
            <a:ext cx="10874959" cy="7429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57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1.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The tree's great advantage: you can read it out loud</a:t>
            </a:r>
          </a:p>
          <a:p>
            <a:pPr algn="l" marL="459473" indent="-4594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17A65"/>
                </a:solidFill>
                <a:latin typeface="Segoe UI"/>
              </a:rPr>
              <a:t>2.	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Logistic coefficients as odds ratios</a:t>
            </a:r>
          </a:p>
        </p:txBody>
      </p:sp>
      <p:sp>
        <p:nvSpPr>
          <p:cNvPr id="14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5300319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lflTHIS"/>
          <p:cNvSpPr txBox="1"/>
          <p:nvPr/>
        </p:nvSpPr>
        <p:spPr>
          <a:xfrm>
            <a:off x="932688" y="5376672"/>
            <a:ext cx="488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17" name="!!lfvTHIS"/>
          <p:cNvSpPr txBox="1"/>
          <p:nvPr/>
        </p:nvSpPr>
        <p:spPr>
          <a:xfrm>
            <a:off x="932688" y="5669280"/>
            <a:ext cx="4888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8: Five classifiers; evaluate honestly</a:t>
            </a:r>
          </a:p>
        </p:txBody>
      </p:sp>
      <p:sp>
        <p:nvSpPr>
          <p:cNvPr id="18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5212080"/>
            <a:ext cx="5300319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flWHAT"/>
          <p:cNvSpPr txBox="1"/>
          <p:nvPr/>
        </p:nvSpPr>
        <p:spPr>
          <a:xfrm>
            <a:off x="6507327" y="5376672"/>
            <a:ext cx="488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21" name="!!lfvWHAT"/>
          <p:cNvSpPr txBox="1"/>
          <p:nvPr/>
        </p:nvSpPr>
        <p:spPr>
          <a:xfrm>
            <a:off x="6507327" y="5669280"/>
            <a:ext cx="4888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31 lines of Python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61980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Five Classifiers, One Comparison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4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§13.4  ·  Handout p. 85     </a:t>
            </a:r>
            <a:fld id="{C4006655-28F7-4549-B83F-662336CEF85D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224528"/>
          </a:xfrm>
          <a:prstGeom prst="roundRect">
            <a:avLst>
              <a:gd name="adj" fmla="val 2164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import numpy as np from sklearn.linear_model import LogisticRegression from sklearn.neighbors import KNeighborsClassifier from sklearn.naive_bayes import GaussianNB from sklearn.tree import DecisionTreeClassifier, export_text from sklearn.svm import SVC from sklearn.pipeline import make_pipeline from sklearn.preprocessing import StandardScaler from sklearn.model_selection import cross_val_score models = { # scaling matters for the distance/margin-based models &quot;logistic&quot;: make_pipeline(StandardScaler(), LogisticRegression(max_iter=1000)), &quot;k-NN (k=5)&quot;: make_pipeline(StandardScaler(), KNeighborsClassifier(5)), &quot;naive Bayes&quot;: GaussianNB(), &quot;tree (d=3)&quot;: DecisionTreeClassifier(max_depth=3, random_state=0), &quot;SVM (RBF)&quot;: make_pipeline(StandardScaler(), SVC()), }"/>
          <p:cNvSpPr txBox="1"/>
          <p:nvPr/>
        </p:nvSpPr>
        <p:spPr>
          <a:xfrm>
            <a:off x="1362456" y="2523744"/>
            <a:ext cx="9987991" cy="373075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numpy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as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np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from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1400" i="0">
                <a:solidFill>
                  <a:srgbClr val="76D7C4"/>
                </a:solidFill>
                <a:latin typeface="Consolas"/>
              </a:rPr>
              <a:t>.</a:t>
            </a:r>
            <a:r>
              <a:rPr sz="1400" i="0">
                <a:solidFill>
                  <a:srgbClr val="76D7C4"/>
                </a:solidFill>
                <a:latin typeface="Consolas"/>
              </a:rPr>
              <a:t>linear_model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LogisticRegression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from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1400" i="0">
                <a:solidFill>
                  <a:srgbClr val="76D7C4"/>
                </a:solidFill>
                <a:latin typeface="Consolas"/>
              </a:rPr>
              <a:t>.</a:t>
            </a:r>
            <a:r>
              <a:rPr sz="1400" i="0">
                <a:solidFill>
                  <a:srgbClr val="76D7C4"/>
                </a:solidFill>
                <a:latin typeface="Consolas"/>
              </a:rPr>
              <a:t>neighbors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KNeighborsClassifier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from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1400" i="0">
                <a:solidFill>
                  <a:srgbClr val="76D7C4"/>
                </a:solidFill>
                <a:latin typeface="Consolas"/>
              </a:rPr>
              <a:t>.</a:t>
            </a:r>
            <a:r>
              <a:rPr sz="1400" i="0">
                <a:solidFill>
                  <a:srgbClr val="76D7C4"/>
                </a:solidFill>
                <a:latin typeface="Consolas"/>
              </a:rPr>
              <a:t>naive_bayes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GaussianNB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from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1400" i="0">
                <a:solidFill>
                  <a:srgbClr val="76D7C4"/>
                </a:solidFill>
                <a:latin typeface="Consolas"/>
              </a:rPr>
              <a:t>.</a:t>
            </a:r>
            <a:r>
              <a:rPr sz="1400" i="0">
                <a:solidFill>
                  <a:srgbClr val="76D7C4"/>
                </a:solidFill>
                <a:latin typeface="Consolas"/>
              </a:rPr>
              <a:t>tree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DecisionTreeClassifier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export_text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from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1400" i="0">
                <a:solidFill>
                  <a:srgbClr val="76D7C4"/>
                </a:solidFill>
                <a:latin typeface="Consolas"/>
              </a:rPr>
              <a:t>.</a:t>
            </a:r>
            <a:r>
              <a:rPr sz="1400" i="0">
                <a:solidFill>
                  <a:srgbClr val="76D7C4"/>
                </a:solidFill>
                <a:latin typeface="Consolas"/>
              </a:rPr>
              <a:t>svm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SVC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from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1400" i="0">
                <a:solidFill>
                  <a:srgbClr val="76D7C4"/>
                </a:solidFill>
                <a:latin typeface="Consolas"/>
              </a:rPr>
              <a:t>.</a:t>
            </a:r>
            <a:r>
              <a:rPr sz="1400" i="0">
                <a:solidFill>
                  <a:srgbClr val="76D7C4"/>
                </a:solidFill>
                <a:latin typeface="Consolas"/>
              </a:rPr>
              <a:t>pipeline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make_pipeline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from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1400" i="0">
                <a:solidFill>
                  <a:srgbClr val="76D7C4"/>
                </a:solidFill>
                <a:latin typeface="Consolas"/>
              </a:rPr>
              <a:t>.</a:t>
            </a:r>
            <a:r>
              <a:rPr sz="1400" i="0">
                <a:solidFill>
                  <a:srgbClr val="76D7C4"/>
                </a:solidFill>
                <a:latin typeface="Consolas"/>
              </a:rPr>
              <a:t>preprocessing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StandardScaler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5DADE2"/>
                </a:solidFill>
                <a:latin typeface="Consolas"/>
              </a:rPr>
              <a:t>from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76D7C4"/>
                </a:solidFill>
                <a:latin typeface="Consolas"/>
              </a:rPr>
              <a:t>sklearn</a:t>
            </a:r>
            <a:r>
              <a:rPr sz="1400" i="0">
                <a:solidFill>
                  <a:srgbClr val="76D7C4"/>
                </a:solidFill>
                <a:latin typeface="Consolas"/>
              </a:rPr>
              <a:t>.</a:t>
            </a:r>
            <a:r>
              <a:rPr sz="1400" i="0">
                <a:solidFill>
                  <a:srgbClr val="76D7C4"/>
                </a:solidFill>
                <a:latin typeface="Consolas"/>
              </a:rPr>
              <a:t>model_selection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cross_val_score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models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1">
                <a:solidFill>
                  <a:srgbClr val="8795A1"/>
                </a:solidFill>
                <a:latin typeface="Consolas"/>
              </a:rPr>
              <a:t># scaling matters for the distance/margin-based models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7DCEA0"/>
                </a:solidFill>
                <a:latin typeface="Consolas"/>
              </a:rPr>
              <a:t>logistic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   </a:t>
            </a:r>
            <a:r>
              <a:rPr sz="1400" i="0">
                <a:solidFill>
                  <a:srgbClr val="E8EDF2"/>
                </a:solidFill>
                <a:latin typeface="Consolas"/>
              </a:rPr>
              <a:t>make_pipeline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StandardScaler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LogisticRegression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max_iter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F7DC6F"/>
                </a:solidFill>
                <a:latin typeface="Consolas"/>
              </a:rPr>
              <a:t>1000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7DCEA0"/>
                </a:solidFill>
                <a:latin typeface="Consolas"/>
              </a:rPr>
              <a:t>k-NN (k=5)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make_pipeline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StandardScaler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KNeighborsClassifier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F7DC6F"/>
                </a:solidFill>
                <a:latin typeface="Consolas"/>
              </a:rPr>
              <a:t>5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7DCEA0"/>
                </a:solidFill>
                <a:latin typeface="Consolas"/>
              </a:rPr>
              <a:t>naive Bayes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GaussianNB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7DCEA0"/>
                </a:solidFill>
                <a:latin typeface="Consolas"/>
              </a:rPr>
              <a:t>tree (d=3)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DecisionTreeClassifier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max_depth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F7DC6F"/>
                </a:solidFill>
                <a:latin typeface="Consolas"/>
              </a:rPr>
              <a:t>3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random_state</a:t>
            </a:r>
            <a:r>
              <a:rPr sz="1400" i="0">
                <a:solidFill>
                  <a:srgbClr val="AEB6BF"/>
                </a:solidFill>
                <a:latin typeface="Consolas"/>
              </a:rPr>
              <a:t>=</a:t>
            </a:r>
            <a:r>
              <a:rPr sz="1400" i="0">
                <a:solidFill>
                  <a:srgbClr val="F7DC6F"/>
                </a:solidFill>
                <a:latin typeface="Consolas"/>
              </a:rPr>
              <a:t>0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E8EDF2"/>
                </a:solidFill>
                <a:latin typeface="Consolas"/>
              </a:rPr>
              <a:t>    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7DCEA0"/>
                </a:solidFill>
                <a:latin typeface="Consolas"/>
              </a:rPr>
              <a:t>SVM (RBF)</a:t>
            </a:r>
            <a:r>
              <a:rPr sz="1400" i="0">
                <a:solidFill>
                  <a:srgbClr val="7DCEA0"/>
                </a:solidFill>
                <a:latin typeface="Consolas"/>
              </a:rPr>
              <a:t>"</a:t>
            </a:r>
            <a:r>
              <a:rPr sz="1400" i="0">
                <a:solidFill>
                  <a:srgbClr val="AEB6BF"/>
                </a:solidFill>
                <a:latin typeface="Consolas"/>
              </a:rPr>
              <a:t>:</a:t>
            </a:r>
            <a:r>
              <a:rPr sz="1400" i="0">
                <a:solidFill>
                  <a:srgbClr val="E8EDF2"/>
                </a:solidFill>
                <a:latin typeface="Consolas"/>
              </a:rPr>
              <a:t>  </a:t>
            </a:r>
            <a:r>
              <a:rPr sz="1400" i="0">
                <a:solidFill>
                  <a:srgbClr val="E8EDF2"/>
                </a:solidFill>
                <a:latin typeface="Consolas"/>
              </a:rPr>
              <a:t>make_pipeline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E8EDF2"/>
                </a:solidFill>
                <a:latin typeface="Consolas"/>
              </a:rPr>
              <a:t>StandardScaler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  <a:r>
              <a:rPr sz="1400" i="0">
                <a:solidFill>
                  <a:srgbClr val="E8EDF2"/>
                </a:solidFill>
                <a:latin typeface="Consolas"/>
              </a:rPr>
              <a:t> </a:t>
            </a:r>
            <a:r>
              <a:rPr sz="1400" i="0">
                <a:solidFill>
                  <a:srgbClr val="E8EDF2"/>
                </a:solidFill>
                <a:latin typeface="Consolas"/>
              </a:rPr>
              <a:t>SVC</a:t>
            </a:r>
            <a:r>
              <a:rPr sz="1400" i="0">
                <a:solidFill>
                  <a:srgbClr val="AEB6BF"/>
                </a:solidFill>
                <a:latin typeface="Consolas"/>
              </a:rPr>
              <a:t>(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)</a:t>
            </a:r>
            <a:r>
              <a:rPr sz="14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73075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400">
                <a:solidFill>
                  <a:srgbClr val="4F5D6A"/>
                </a:solidFill>
                <a:latin typeface="Consolas"/>
              </a:rPr>
              <a:t>18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924601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Five Classifiers, One Comparison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4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§13.4  ·  Handout p. 85     </a:t>
            </a:r>
            <a:fld id="{F54B83C6-18E7-4477-9B63-A6B8C6479F0E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627631"/>
            <a:ext cx="10874959" cy="1517904"/>
          </a:xfrm>
          <a:prstGeom prst="roundRect">
            <a:avLst>
              <a:gd name="adj" fmla="val 6024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19476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1741931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1741931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1741931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label"/>
          <p:cNvSpPr txBox="1"/>
          <p:nvPr/>
        </p:nvSpPr>
        <p:spPr>
          <a:xfrm>
            <a:off x="1527048" y="16916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3" name="!!code-text" descr="for name, m in models.items(): s = cross_val_score(m, X_tr, y_tr, cv=5, scoring=&quot;roc_auc&quot;) print(f&quot;{name:12s} AUC {s.mean():.3f} +/- {s.std():.3f}&quot;)"/>
          <p:cNvSpPr txBox="1"/>
          <p:nvPr/>
        </p:nvSpPr>
        <p:spPr>
          <a:xfrm>
            <a:off x="1362456" y="2066543"/>
            <a:ext cx="9987991" cy="10241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5DADE2"/>
                </a:solidFill>
                <a:latin typeface="Consolas"/>
              </a:rPr>
              <a:t>for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name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m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in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models</a:t>
            </a:r>
            <a:r>
              <a:rPr sz="2000" i="0">
                <a:solidFill>
                  <a:srgbClr val="AEB6BF"/>
                </a:solidFill>
                <a:latin typeface="Consolas"/>
              </a:rPr>
              <a:t>.</a:t>
            </a:r>
            <a:r>
              <a:rPr sz="2000" i="0">
                <a:solidFill>
                  <a:srgbClr val="E8EDF2"/>
                </a:solidFill>
                <a:latin typeface="Consolas"/>
              </a:rPr>
              <a:t>items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E8EDF2"/>
                </a:solidFill>
                <a:latin typeface="Consolas"/>
              </a:rPr>
              <a:t>s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cross_val_score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E8EDF2"/>
                </a:solidFill>
                <a:latin typeface="Consolas"/>
              </a:rPr>
              <a:t>m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X_tr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y_tr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cv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F7DC6F"/>
                </a:solidFill>
                <a:latin typeface="Consolas"/>
              </a:rPr>
              <a:t>5</a:t>
            </a:r>
            <a:r>
              <a:rPr sz="2000" i="0">
                <a:solidFill>
                  <a:srgbClr val="AEB6BF"/>
                </a:solidFill>
                <a:latin typeface="Consolas"/>
              </a:rPr>
              <a:t>,</a:t>
            </a:r>
            <a:r>
              <a:rPr sz="2000" i="0">
                <a:solidFill>
                  <a:srgbClr val="E8EDF2"/>
                </a:solidFill>
                <a:latin typeface="Consolas"/>
              </a:rPr>
              <a:t> </a:t>
            </a:r>
            <a:r>
              <a:rPr sz="2000" i="0">
                <a:solidFill>
                  <a:srgbClr val="E8EDF2"/>
                </a:solidFill>
                <a:latin typeface="Consolas"/>
              </a:rPr>
              <a:t>scoring</a:t>
            </a:r>
            <a:r>
              <a:rPr sz="2000" i="0">
                <a:solidFill>
                  <a:srgbClr val="AEB6BF"/>
                </a:solidFill>
                <a:latin typeface="Consolas"/>
              </a:rPr>
              <a:t>=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roc_auc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    </a:t>
            </a:r>
            <a:r>
              <a:rPr sz="2000" i="0">
                <a:solidFill>
                  <a:srgbClr val="C39BD3"/>
                </a:solidFill>
                <a:latin typeface="Consolas"/>
              </a:rPr>
              <a:t>print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f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{</a:t>
            </a:r>
            <a:r>
              <a:rPr sz="2000" i="0">
                <a:solidFill>
                  <a:srgbClr val="E8EDF2"/>
                </a:solidFill>
                <a:latin typeface="Consolas"/>
              </a:rPr>
              <a:t>name</a:t>
            </a:r>
            <a:r>
              <a:rPr sz="2000" i="0">
                <a:solidFill>
                  <a:srgbClr val="7DCEA0"/>
                </a:solidFill>
                <a:latin typeface="Consolas"/>
              </a:rPr>
              <a:t>:</a:t>
            </a:r>
            <a:r>
              <a:rPr sz="2000" i="0">
                <a:solidFill>
                  <a:srgbClr val="7DCEA0"/>
                </a:solidFill>
                <a:latin typeface="Consolas"/>
              </a:rPr>
              <a:t>12s</a:t>
            </a:r>
            <a:r>
              <a:rPr sz="2000" i="0">
                <a:solidFill>
                  <a:srgbClr val="7DCEA0"/>
                </a:solidFill>
                <a:latin typeface="Consolas"/>
              </a:rPr>
              <a:t>}</a:t>
            </a:r>
            <a:r>
              <a:rPr sz="2000" i="0">
                <a:solidFill>
                  <a:srgbClr val="7DCEA0"/>
                </a:solidFill>
                <a:latin typeface="Consolas"/>
              </a:rPr>
              <a:t> AUC </a:t>
            </a:r>
            <a:r>
              <a:rPr sz="2000" i="0">
                <a:solidFill>
                  <a:srgbClr val="7DCEA0"/>
                </a:solidFill>
                <a:latin typeface="Consolas"/>
              </a:rPr>
              <a:t>{</a:t>
            </a:r>
            <a:r>
              <a:rPr sz="2000" i="0">
                <a:solidFill>
                  <a:srgbClr val="E8EDF2"/>
                </a:solidFill>
                <a:latin typeface="Consolas"/>
              </a:rPr>
              <a:t>s</a:t>
            </a:r>
            <a:r>
              <a:rPr sz="2000" i="0">
                <a:solidFill>
                  <a:srgbClr val="AEB6BF"/>
                </a:solidFill>
                <a:latin typeface="Consolas"/>
              </a:rPr>
              <a:t>.</a:t>
            </a:r>
            <a:r>
              <a:rPr sz="2000" i="0">
                <a:solidFill>
                  <a:srgbClr val="E8EDF2"/>
                </a:solidFill>
                <a:latin typeface="Consolas"/>
              </a:rPr>
              <a:t>mean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7DCEA0"/>
                </a:solidFill>
                <a:latin typeface="Consolas"/>
              </a:rPr>
              <a:t>:</a:t>
            </a:r>
            <a:r>
              <a:rPr sz="2000" i="0">
                <a:solidFill>
                  <a:srgbClr val="7DCEA0"/>
                </a:solidFill>
                <a:latin typeface="Consolas"/>
              </a:rPr>
              <a:t>.3f</a:t>
            </a:r>
            <a:r>
              <a:rPr sz="2000" i="0">
                <a:solidFill>
                  <a:srgbClr val="7DCEA0"/>
                </a:solidFill>
                <a:latin typeface="Consolas"/>
              </a:rPr>
              <a:t>}</a:t>
            </a:r>
            <a:r>
              <a:rPr sz="2000" i="0">
                <a:solidFill>
                  <a:srgbClr val="7DCEA0"/>
                </a:solidFill>
                <a:latin typeface="Consolas"/>
              </a:rPr>
              <a:t> +/- </a:t>
            </a:r>
            <a:r>
              <a:rPr sz="2000" i="0">
                <a:solidFill>
                  <a:srgbClr val="7DCEA0"/>
                </a:solidFill>
                <a:latin typeface="Consolas"/>
              </a:rPr>
              <a:t>{</a:t>
            </a:r>
            <a:r>
              <a:rPr sz="2000" i="0">
                <a:solidFill>
                  <a:srgbClr val="E8EDF2"/>
                </a:solidFill>
                <a:latin typeface="Consolas"/>
              </a:rPr>
              <a:t>s</a:t>
            </a:r>
            <a:r>
              <a:rPr sz="2000" i="0">
                <a:solidFill>
                  <a:srgbClr val="AEB6BF"/>
                </a:solidFill>
                <a:latin typeface="Consolas"/>
              </a:rPr>
              <a:t>.</a:t>
            </a:r>
            <a:r>
              <a:rPr sz="2000" i="0">
                <a:solidFill>
                  <a:srgbClr val="E8EDF2"/>
                </a:solidFill>
                <a:latin typeface="Consolas"/>
              </a:rPr>
              <a:t>std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7DCEA0"/>
                </a:solidFill>
                <a:latin typeface="Consolas"/>
              </a:rPr>
              <a:t>:</a:t>
            </a:r>
            <a:r>
              <a:rPr sz="2000" i="0">
                <a:solidFill>
                  <a:srgbClr val="7DCEA0"/>
                </a:solidFill>
                <a:latin typeface="Consolas"/>
              </a:rPr>
              <a:t>.3f</a:t>
            </a:r>
            <a:r>
              <a:rPr sz="2000" i="0">
                <a:solidFill>
                  <a:srgbClr val="7DCEA0"/>
                </a:solidFill>
                <a:latin typeface="Consolas"/>
              </a:rPr>
              <a:t>}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4" name="!!code-num"/>
          <p:cNvSpPr txBox="1"/>
          <p:nvPr/>
        </p:nvSpPr>
        <p:spPr>
          <a:xfrm>
            <a:off x="768096" y="2066543"/>
            <a:ext cx="393192" cy="10241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19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20</a:t>
            </a:r>
          </a:p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21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229394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Five Classifiers, One Comparison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4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§13.4  ·  Handout p. 85     </a:t>
            </a:r>
            <a:fld id="{82CDE949-74A7-4D9E-9CBC-4C40F6D96372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tree's great advantage: you can read it out loud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# --- the tree's great advantage: you can read it out loud ------------- tree = DecisionTreeClassifier(max_depth=3).fit(X_tr, y_tr) print(export_text(tree, feature_names=list(feature_names)))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# --- the tree's great advantage: you can read it out loud 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tree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DecisionTreeClassifier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max_depth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F7DC6F"/>
                </a:solidFill>
                <a:latin typeface="Consolas"/>
              </a:rPr>
              <a:t>3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.</a:t>
            </a:r>
            <a:r>
              <a:rPr sz="1900" i="0">
                <a:solidFill>
                  <a:srgbClr val="E8EDF2"/>
                </a:solidFill>
                <a:latin typeface="Consolas"/>
              </a:rPr>
              <a:t>fit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X_tr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y_tr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export_text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tree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feature_names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C39BD3"/>
                </a:solidFill>
                <a:latin typeface="Consolas"/>
              </a:rPr>
              <a:t>list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feature_names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534186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Five Classifiers, One Comparison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4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§13.4  ·  Handout p. 85     </a:t>
            </a:r>
            <a:fld id="{56316238-DEEA-4C87-AB77-13542D2D4B10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Logistic coefficients as odds ratios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517904"/>
          </a:xfrm>
          <a:prstGeom prst="roundRect">
            <a:avLst>
              <a:gd name="adj" fmla="val 6024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# --- logistic coefficients as odds ratios ----------------------------- lr = make_pipeline(StandardScaler(), LogisticRegression(max_iter=1000)).fit(X_tr, y_tr) for f, c in zip(feature_names, lr[-1].coef_[0]): print(f&quot; {f:22s} log-odds {c:+.3f} odds ratio {np.exp(c):.2f}&quot;)"/>
          <p:cNvSpPr txBox="1"/>
          <p:nvPr/>
        </p:nvSpPr>
        <p:spPr>
          <a:xfrm>
            <a:off x="1362456" y="2523744"/>
            <a:ext cx="9987991" cy="10241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1">
                <a:solidFill>
                  <a:srgbClr val="8795A1"/>
                </a:solidFill>
                <a:latin typeface="Consolas"/>
              </a:rPr>
              <a:t># --- logistic coefficients as odds ratios 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lr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make_pipeline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StandardScaler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LogisticRegression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max_iter</a:t>
            </a:r>
            <a:r>
              <a:rPr sz="1500" i="0">
                <a:solidFill>
                  <a:srgbClr val="AEB6BF"/>
                </a:solidFill>
                <a:latin typeface="Consolas"/>
              </a:rPr>
              <a:t>=</a:t>
            </a:r>
            <a:r>
              <a:rPr sz="1500" i="0">
                <a:solidFill>
                  <a:srgbClr val="F7DC6F"/>
                </a:solidFill>
                <a:latin typeface="Consolas"/>
              </a:rPr>
              <a:t>1000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fit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X_tr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y_tr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5DADE2"/>
                </a:solidFill>
                <a:latin typeface="Consolas"/>
              </a:rPr>
              <a:t>for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f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c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AEB6BF"/>
                </a:solidFill>
                <a:latin typeface="Consolas"/>
              </a:rPr>
              <a:t>in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C39BD3"/>
                </a:solidFill>
                <a:latin typeface="Consolas"/>
              </a:rPr>
              <a:t>zip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feature_names</a:t>
            </a:r>
            <a:r>
              <a:rPr sz="1500" i="0">
                <a:solidFill>
                  <a:srgbClr val="AEB6BF"/>
                </a:solidFill>
                <a:latin typeface="Consolas"/>
              </a:rPr>
              <a:t>,</a:t>
            </a:r>
            <a:r>
              <a:rPr sz="1500" i="0">
                <a:solidFill>
                  <a:srgbClr val="E8EDF2"/>
                </a:solidFill>
                <a:latin typeface="Consolas"/>
              </a:rPr>
              <a:t> </a:t>
            </a:r>
            <a:r>
              <a:rPr sz="1500" i="0">
                <a:solidFill>
                  <a:srgbClr val="E8EDF2"/>
                </a:solidFill>
                <a:latin typeface="Consolas"/>
              </a:rPr>
              <a:t>lr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AEB6BF"/>
                </a:solidFill>
                <a:latin typeface="Consolas"/>
              </a:rPr>
              <a:t>-</a:t>
            </a:r>
            <a:r>
              <a:rPr sz="1500" i="0">
                <a:solidFill>
                  <a:srgbClr val="F7DC6F"/>
                </a:solidFill>
                <a:latin typeface="Consolas"/>
              </a:rPr>
              <a:t>1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coef_</a:t>
            </a:r>
            <a:r>
              <a:rPr sz="1500" i="0">
                <a:solidFill>
                  <a:srgbClr val="AEB6BF"/>
                </a:solidFill>
                <a:latin typeface="Consolas"/>
              </a:rPr>
              <a:t>[</a:t>
            </a:r>
            <a:r>
              <a:rPr sz="1500" i="0">
                <a:solidFill>
                  <a:srgbClr val="F7DC6F"/>
                </a:solidFill>
                <a:latin typeface="Consolas"/>
              </a:rPr>
              <a:t>0</a:t>
            </a:r>
            <a:r>
              <a:rPr sz="1500" i="0">
                <a:solidFill>
                  <a:srgbClr val="AEB6BF"/>
                </a:solidFill>
                <a:latin typeface="Consolas"/>
              </a:rPr>
              <a:t>]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500" i="0">
                <a:solidFill>
                  <a:srgbClr val="E8EDF2"/>
                </a:solidFill>
                <a:latin typeface="Consolas"/>
              </a:rPr>
              <a:t>    </a:t>
            </a:r>
            <a:r>
              <a:rPr sz="15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7DCEA0"/>
                </a:solidFill>
                <a:latin typeface="Consolas"/>
              </a:rPr>
              <a:t>f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7DCEA0"/>
                </a:solidFill>
                <a:latin typeface="Consolas"/>
              </a:rPr>
              <a:t>  </a:t>
            </a:r>
            <a:r>
              <a:rPr sz="1500" i="0">
                <a:solidFill>
                  <a:srgbClr val="7DCEA0"/>
                </a:solidFill>
                <a:latin typeface="Consolas"/>
              </a:rPr>
              <a:t>{</a:t>
            </a:r>
            <a:r>
              <a:rPr sz="1500" i="0">
                <a:solidFill>
                  <a:srgbClr val="E8EDF2"/>
                </a:solidFill>
                <a:latin typeface="Consolas"/>
              </a:rPr>
              <a:t>f</a:t>
            </a:r>
            <a:r>
              <a:rPr sz="1500" i="0">
                <a:solidFill>
                  <a:srgbClr val="7DCEA0"/>
                </a:solidFill>
                <a:latin typeface="Consolas"/>
              </a:rPr>
              <a:t>:</a:t>
            </a:r>
            <a:r>
              <a:rPr sz="1500" i="0">
                <a:solidFill>
                  <a:srgbClr val="7DCEA0"/>
                </a:solidFill>
                <a:latin typeface="Consolas"/>
              </a:rPr>
              <a:t>22s</a:t>
            </a:r>
            <a:r>
              <a:rPr sz="1500" i="0">
                <a:solidFill>
                  <a:srgbClr val="7DCEA0"/>
                </a:solidFill>
                <a:latin typeface="Consolas"/>
              </a:rPr>
              <a:t>}</a:t>
            </a:r>
            <a:r>
              <a:rPr sz="1500" i="0">
                <a:solidFill>
                  <a:srgbClr val="7DCEA0"/>
                </a:solidFill>
                <a:latin typeface="Consolas"/>
              </a:rPr>
              <a:t> log-odds </a:t>
            </a:r>
            <a:r>
              <a:rPr sz="1500" i="0">
                <a:solidFill>
                  <a:srgbClr val="7DCEA0"/>
                </a:solidFill>
                <a:latin typeface="Consolas"/>
              </a:rPr>
              <a:t>{</a:t>
            </a:r>
            <a:r>
              <a:rPr sz="1500" i="0">
                <a:solidFill>
                  <a:srgbClr val="E8EDF2"/>
                </a:solidFill>
                <a:latin typeface="Consolas"/>
              </a:rPr>
              <a:t>c</a:t>
            </a:r>
            <a:r>
              <a:rPr sz="1500" i="0">
                <a:solidFill>
                  <a:srgbClr val="7DCEA0"/>
                </a:solidFill>
                <a:latin typeface="Consolas"/>
              </a:rPr>
              <a:t>:</a:t>
            </a:r>
            <a:r>
              <a:rPr sz="1500" i="0">
                <a:solidFill>
                  <a:srgbClr val="7DCEA0"/>
                </a:solidFill>
                <a:latin typeface="Consolas"/>
              </a:rPr>
              <a:t>+.3f</a:t>
            </a:r>
            <a:r>
              <a:rPr sz="1500" i="0">
                <a:solidFill>
                  <a:srgbClr val="7DCEA0"/>
                </a:solidFill>
                <a:latin typeface="Consolas"/>
              </a:rPr>
              <a:t>}</a:t>
            </a:r>
            <a:r>
              <a:rPr sz="1500" i="0">
                <a:solidFill>
                  <a:srgbClr val="7DCEA0"/>
                </a:solidFill>
                <a:latin typeface="Consolas"/>
              </a:rPr>
              <a:t>   odds ratio </a:t>
            </a:r>
            <a:r>
              <a:rPr sz="1500" i="0">
                <a:solidFill>
                  <a:srgbClr val="7DCEA0"/>
                </a:solidFill>
                <a:latin typeface="Consolas"/>
              </a:rPr>
              <a:t>{</a:t>
            </a:r>
            <a:r>
              <a:rPr sz="1500" i="0">
                <a:solidFill>
                  <a:srgbClr val="E8EDF2"/>
                </a:solidFill>
                <a:latin typeface="Consolas"/>
              </a:rPr>
              <a:t>np</a:t>
            </a:r>
            <a:r>
              <a:rPr sz="1500" i="0">
                <a:solidFill>
                  <a:srgbClr val="AEB6BF"/>
                </a:solidFill>
                <a:latin typeface="Consolas"/>
              </a:rPr>
              <a:t>.</a:t>
            </a:r>
            <a:r>
              <a:rPr sz="1500" i="0">
                <a:solidFill>
                  <a:srgbClr val="E8EDF2"/>
                </a:solidFill>
                <a:latin typeface="Consolas"/>
              </a:rPr>
              <a:t>exp</a:t>
            </a:r>
            <a:r>
              <a:rPr sz="1500" i="0">
                <a:solidFill>
                  <a:srgbClr val="AEB6BF"/>
                </a:solidFill>
                <a:latin typeface="Consolas"/>
              </a:rPr>
              <a:t>(</a:t>
            </a:r>
            <a:r>
              <a:rPr sz="1500" i="0">
                <a:solidFill>
                  <a:srgbClr val="E8EDF2"/>
                </a:solidFill>
                <a:latin typeface="Consolas"/>
              </a:rPr>
              <a:t>c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  <a:r>
              <a:rPr sz="1500" i="0">
                <a:solidFill>
                  <a:srgbClr val="7DCEA0"/>
                </a:solidFill>
                <a:latin typeface="Consolas"/>
              </a:rPr>
              <a:t>:</a:t>
            </a:r>
            <a:r>
              <a:rPr sz="1500" i="0">
                <a:solidFill>
                  <a:srgbClr val="7DCEA0"/>
                </a:solidFill>
                <a:latin typeface="Consolas"/>
              </a:rPr>
              <a:t>.2f</a:t>
            </a:r>
            <a:r>
              <a:rPr sz="1500" i="0">
                <a:solidFill>
                  <a:srgbClr val="7DCEA0"/>
                </a:solidFill>
                <a:latin typeface="Consolas"/>
              </a:rPr>
              <a:t>}</a:t>
            </a:r>
            <a:r>
              <a:rPr sz="1500" i="0">
                <a:solidFill>
                  <a:srgbClr val="7DCEA0"/>
                </a:solidFill>
                <a:latin typeface="Consolas"/>
              </a:rPr>
              <a:t>"</a:t>
            </a:r>
            <a:r>
              <a:rPr sz="15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0241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27</a:t>
            </a:r>
          </a:p>
          <a:p>
            <a:pPr algn="r">
              <a:lnSpc>
                <a:spcPct val="100000"/>
              </a:lnSpc>
            </a:pPr>
            <a:r>
              <a:rPr sz="1500">
                <a:solidFill>
                  <a:srgbClr val="4F5D6A"/>
                </a:solidFill>
                <a:latin typeface="Consolas"/>
              </a:rPr>
              <a:t>28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838979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 logistic model has coefficient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+1.1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on a feature. What is the odds ratio, and what does it mean in words?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87  ·  answers in Appendix D     </a:t>
            </a:r>
            <a:fld id="{A9D159F3-EE44-47F6-BD2D-89369762B900}" type="slidenum">
              <a:rPr lang="en-GB" sz="1000">
                <a:solidFill>
                  <a:srgbClr val="D5DEE5"/>
                </a:solidFill>
                <a:latin typeface="Segoe UI"/>
              </a:rPr>
              <a:t>30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 logistic model has coefficient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+1.1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on a feature. What is the odds ratio, and what does it mean in words?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69738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7431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2200" b="0" i="0" baseline="30000">
                <a:solidFill>
                  <a:srgbClr val="1C252B"/>
                </a:solidFill>
                <a:latin typeface="Cambria"/>
              </a:rPr>
              <a:t>1.1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≈ 3.0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Each one-unit increase in the feature multiplies the odds of the positive class by about three, holding the other features constant.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·  answers in Appendix D     </a:t>
            </a:r>
            <a:fld id="{E34246E5-175B-45D7-8DB9-EF884FAA9E90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44856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Why does k-NN require feature scaling while a decision tree does not?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87  ·  answers in Appendix D     </a:t>
            </a:r>
            <a:fld id="{19BC5D30-EA09-4219-A29A-3AF14C6F7841}" type="slidenum">
              <a:rPr lang="en-GB" sz="1000">
                <a:solidFill>
                  <a:srgbClr val="D5DEE5"/>
                </a:solidFill>
                <a:latin typeface="Segoe UI"/>
              </a:rPr>
              <a:t>32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Why does k-NN require feature scaling while a decision tree does not?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k-NN computes distances, so the feature with the largest numeric range dominates them. A tree splits on one feature at a time and only compares values within that feature, so its units are irrelevant.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·  answers in Appendix D     </a:t>
            </a:r>
            <a:fld id="{178C6C26-338A-407C-BCD5-3E75BFCA31A9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05814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 node contains 40 samples: 40 positive, 0 negative. What is its Gini impurity, and what will the tree do next?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87  ·  answers in Appendix D     </a:t>
            </a:r>
            <a:fld id="{F6634138-A625-4B39-BBF1-2E0072574BE0}" type="slidenum">
              <a:rPr lang="en-GB" sz="1000">
                <a:solidFill>
                  <a:srgbClr val="D5DEE5"/>
                </a:solidFill>
                <a:latin typeface="Segoe UI"/>
              </a:rPr>
              <a:t>34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 node contains 40 samples: 40 positive, 0 negative. What is its Gini impurity, and what will the tree do next?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69738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7431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1 − (1</a:t>
            </a:r>
            <a:r>
              <a:rPr sz="22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+ 0</a:t>
            </a:r>
            <a:r>
              <a:rPr sz="22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= 0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The node is pure, so the tree stops splitting it and makes it a leaf.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·  answers in Appendix D     </a:t>
            </a:r>
            <a:fld id="{B7D05372-9695-4F5D-8C06-F9EA0A6F5D29}" type="slidenum">
              <a:rPr lang="en-GB" sz="1000">
                <a:solidFill>
                  <a:srgbClr val="8795A1"/>
                </a:solidFill>
                <a:latin typeface="Segoe UI"/>
              </a:rPr>
              <a:t>35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667733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   </a:t>
            </a:r>
            <a:fld id="{842C04D5-FCC1-4032-8913-5683DE49D930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Logistic regression squashes a linear score through a sigmoid to produce a probability;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e</a:t>
            </a:r>
            <a:r>
              <a:rPr sz="1800" b="0" i="1" baseline="30000">
                <a:solidFill>
                  <a:srgbClr val="1C252B"/>
                </a:solidFill>
                <a:latin typeface="Cambria"/>
              </a:rPr>
              <a:t>w</a:t>
            </a:r>
            <a:r>
              <a:rPr sz="1800" b="0" i="1" baseline="-25000">
                <a:solidFill>
                  <a:srgbClr val="1C252B"/>
                </a:solidFill>
                <a:latin typeface="Cambria"/>
              </a:rPr>
              <a:t>j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is the odds ratio for feature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j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9996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5483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90825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k-NN needs no training but is slow, scale-sensitive and degrades in high dimensions.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8518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140049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076041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Naive Bayes assumes feature independence — usually false, yet often effective, especially on text.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040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725265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661257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Trees split to reduce Gini impurity, are readable, need no scaling, and overfit badly if unconstrained.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55617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310481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246473"/>
            <a:ext cx="10234879" cy="5705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SVMs maximise the margin and can draw curved boundaries via kernels, at the cost of interpretability and training speed.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00908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06394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4999939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Boundary shape is the key intuition: linear, axis-parallel, or arbitrary.</a:t>
            </a:r>
          </a:p>
        </p:txBody>
      </p:sp>
      <p:sp>
        <p:nvSpPr>
          <p:cNvPr id="25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59429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sbn6"/>
          <p:cNvSpPr txBox="1"/>
          <p:nvPr/>
        </p:nvSpPr>
        <p:spPr>
          <a:xfrm>
            <a:off x="658368" y="5649163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27" name="!!st6"/>
          <p:cNvSpPr txBox="1"/>
          <p:nvPr/>
        </p:nvSpPr>
        <p:spPr>
          <a:xfrm>
            <a:off x="1298448" y="5585155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0.5 threshold is a default to be revisited in Chapter 14.</a:t>
            </a:r>
          </a:p>
        </p:txBody>
      </p:sp>
      <p:sp>
        <p:nvSpPr>
          <p:cNvPr id="8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525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74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   </a:t>
            </a:r>
            <a:fld id="{346D6C3B-528F-4F54-9F3D-06394C4F45DB}" type="slidenum">
              <a:rPr lang="en-GB" sz="1000">
                <a:solidFill>
                  <a:srgbClr val="8795A1"/>
                </a:solidFill>
                <a:latin typeface="Segoe UI"/>
              </a:rPr>
              <a:t>37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The sigmoid function maps a real number into: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[−1,1]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(0,1)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[0,∞)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Cambria"/>
              </a:rPr>
              <a:t>{0,1}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277318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   </a:t>
            </a:r>
            <a:fld id="{4BD318D0-842B-4860-A4A2-C8535655F7E6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8698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Which classifier produces a boundary made only of axis-parallel segments?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2729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20161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328391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327781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Logistic regression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92729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20161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328391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327781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k-NN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1601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43903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47263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46653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Decision tree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11601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439033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47263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46653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RBF SVM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58211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87     </a:t>
            </a:r>
            <a:fld id="{9632FF34-8148-4A97-8970-B436EBB85C28}" type="slidenum">
              <a:rPr lang="en-GB" sz="1000">
                <a:solidFill>
                  <a:srgbClr val="8795A1"/>
                </a:solidFill>
                <a:latin typeface="Segoe UI"/>
              </a:rPr>
              <a:t>39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what “naive” refers to in naive Bayes and give an example where the assumption clearly fails.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773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6185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5910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logistic coefficient is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−0.35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Compute the odds ratio and interpret it.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798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13913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079699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Why is a single deep decision tree a poor production model, and what does Chapter 15 do about it?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72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39608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3901440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Compute the Gini impurity of a node with 60 samples, 45 of class A and 15 of class B. Then compute the weighted impurity of a split producing children of (30: 28A/2B) and (30: 17A/13B), and state the gain.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04261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5083759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5024323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For each of the four running domains, choose a classifier and defend the choice in two sentences, referring to at least one constraint that is not accuracy.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886902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7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D8552"/>
                </a:solidFill>
                <a:latin typeface="Segoe UI Black"/>
              </a:rPr>
              <a:t>13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13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14 — Model Evaluation and Selection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13, pages 82–87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55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CCB8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Five classifiers; evaluate honestly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13  ·  Supervised Learning II: Classification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FE4476EA-8CB9-4D76-BF47-647AA5FFAFC4}" type="slidenum">
              <a:rPr lang="en-GB" sz="1000">
                <a:solidFill>
                  <a:srgbClr val="D5DEE5"/>
                </a:solidFill>
                <a:latin typeface="Segoe UI"/>
              </a:rPr>
              <a:t>40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ta Science Fall 2026">
  <a:themeElements>
    <a:clrScheme name="Data Sci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Data Sci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13: Supervised Learning II: Classification</dc:title>
  <dc:subject>Data Science — From Foundations to Intelligent Systems · BSIT · Fall 2026</dc:subject>
  <dc:creator>Dr. Mustafa Hameed</dc:creator>
  <cp:keywords>data science; lecture slides; BSIT;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