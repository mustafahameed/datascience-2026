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1.svg" ContentType="image/svg+xml"/>
  <Override PartName="/ppt/media/image23.svg" ContentType="image/svg+xml"/>
  <Override PartName="/ppt/media/image24.svg" ContentType="image/svg+xml"/>
  <Override PartName="/ppt/media/image26.svg" ContentType="image/svg+xml"/>
  <Override PartName="/ppt/media/image28.svg" ContentType="image/svg+xml"/>
  <Override PartName="/ppt/media/image29.svg" ContentType="image/svg+xml"/>
  <Override PartName="/ppt/media/image31.svg" ContentType="image/svg+xml"/>
  <Override PartName="/ppt/media/image32.svg" ContentType="image/svg+xml"/>
  <Override PartName="/ppt/media/image34.svg" ContentType="image/svg+xml"/>
  <Override PartName="/ppt/media/image35.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3.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svg" ContentType="image/svg+xml"/>
  <Override PartName="/ppt/media/image81.svg" ContentType="image/svg+xml"/>
  <Override PartName="/ppt/media/image82.svg" ContentType="image/svg+xml"/>
  <Override PartName="/ppt/media/image83.svg" ContentType="image/svg+xml"/>
  <Override PartName="/ppt/media/image85.svg" ContentType="image/svg+xml"/>
  <Override PartName="/ppt/media/image87.svg" ContentType="image/svg+xml"/>
  <Override PartName="/ppt/media/image88.svg" ContentType="image/svg+xml"/>
  <Override PartName="/ppt/media/image89.svg" ContentType="image/svg+xml"/>
  <Override PartName="/ppt/media/image90.svg" ContentType="image/svg+xml"/>
  <Override PartName="/ppt/media/image91.svg" ContentType="image/svg+xml"/>
  <Override PartName="/ppt/media/image93.svg" ContentType="image/svg+xml"/>
  <Override PartName="/ppt/media/image95.svg" ContentType="image/svg+xml"/>
  <Override PartName="/ppt/media/image96.svg" ContentType="image/svg+xml"/>
  <Override PartName="/ppt/media/image9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4321EEC-6C42-4EF3-9991-39EFD4C4A3AF}">
          <p14:sldIdLst>
            <p14:sldId id="256"/>
            <p14:sldId id="257"/>
            <p14:sldId id="258"/>
            <p14:sldId id="259"/>
            <p14:sldId id="260"/>
          </p14:sldIdLst>
        </p14:section>
        <p14:section name="6.1 Why Probability Is the Language of This Course" id="{98C5757E-72F3-42C9-8E93-90EF38A082D7}">
          <p14:sldIdLst>
            <p14:sldId id="261"/>
          </p14:sldIdLst>
        </p14:section>
        <p14:section name="6.2 The Rules" id="{811417B6-BBDA-41C8-B6E8-5AD43C65C982}">
          <p14:sldIdLst>
            <p14:sldId id="262"/>
            <p14:sldId id="263"/>
            <p14:sldId id="264"/>
            <p14:sldId id="265"/>
          </p14:sldIdLst>
        </p14:section>
        <p14:section name="6.3 Conditional Probability" id="{B90603A4-A361-4736-BA34-A7E159CD4B3E}">
          <p14:sldIdLst>
            <p14:sldId id="266"/>
            <p14:sldId id="267"/>
            <p14:sldId id="268"/>
          </p14:sldIdLst>
        </p14:section>
        <p14:section name="6.4 Bayes’ Theorem" id="{CC2BA9D0-F553-4D23-8DF9-6E51721D79A7}">
          <p14:sldIdLst>
            <p14:sldId id="269"/>
            <p14:sldId id="270"/>
            <p14:sldId id="271"/>
            <p14:sldId id="272"/>
            <p14:sldId id="273"/>
            <p14:sldId id="274"/>
          </p14:sldIdLst>
        </p14:section>
        <p14:section name="6.5 Random Variables and Expected Value" id="{3CB5A068-A1E7-4C6A-B742-FB52E74DA9AA}">
          <p14:sldIdLst>
            <p14:sldId id="275"/>
            <p14:sldId id="276"/>
            <p14:sldId id="277"/>
          </p14:sldIdLst>
        </p14:section>
        <p14:section name="6.6 The Central Limit Theorem" id="{23BD78BE-690E-4C3E-839B-97713002A3D2}">
          <p14:sldIdLst>
            <p14:sldId id="278"/>
            <p14:sldId id="279"/>
            <p14:sldId id="280"/>
            <p14:sldId id="281"/>
          </p14:sldIdLst>
        </p14:section>
        <p14:section name="Pitfalls" id="{97CD1DEF-C768-41EA-863E-C24ACB747432}">
          <p14:sldIdLst>
            <p14:sldId id="282"/>
          </p14:sldIdLst>
        </p14:section>
        <p14:section name="Four lenses" id="{FA5621E5-DEAC-4204-8C1C-4CFF2C081051}">
          <p14:sldIdLst>
            <p14:sldId id="283"/>
            <p14:sldId id="284"/>
            <p14:sldId id="285"/>
            <p14:sldId id="286"/>
            <p14:sldId id="287"/>
          </p14:sldIdLst>
        </p14:section>
        <p14:section name="Lab" id="{E2C55F18-A1F9-470C-99DB-2B50416CB9F1}">
          <p14:sldIdLst>
            <p14:sldId id="288"/>
            <p14:sldId id="289"/>
            <p14:sldId id="290"/>
          </p14:sldIdLst>
        </p14:section>
        <p14:section name="Checkpoint" id="{E47624B2-34A0-4DA0-9B81-D0D0A3E2E89C}">
          <p14:sldIdLst>
            <p14:sldId id="291"/>
            <p14:sldId id="292"/>
            <p14:sldId id="293"/>
            <p14:sldId id="294"/>
            <p14:sldId id="295"/>
            <p14:sldId id="296"/>
          </p14:sldIdLst>
        </p14:section>
        <p14:section name="Wrap-up" id="{8C0EC78D-70BD-412A-B10C-EC0F372ED787}">
          <p14:sldIdLst>
            <p14:sldId id="297"/>
            <p14:sldId id="298"/>
            <p14:sldId id="299"/>
            <p14:sldId id="300"/>
            <p14:sldId id="30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6: Probability and Uncertainty. Part 1 — Foundations of Data. Week 3: Describing data; probability. Handout pages 35–42.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5 — distributions, mean and standard deviation. Bayes’ theorem here is the direct foundation of naive Bayes in Chapter 13 and of the false-alarm arithmetic in Chapter 14 and Chapter 26.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experiment; outcome; event; sample space; independence; mutually exclusive; conditional probability; Bayes’ theorem; prior, likelihood, posterior; base rate; random variable; expected value; Central Limit Theorem.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6.1 (handout p. 36): Conditioning shrinks the universe. P(A) divides the overlap by everything; P(A ∣ B) divides the same overlap by B alone. Because the denominators differ, P(A ∣ B) and P(B ∣ A) are different numbers — confusing them is the base-rate fallacy.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6.2 (handout p. 37): Why rare-event detection is hard. Detection rate is held at 99% throughout; only the false alarm rate changes. At a base rate of 1 in 10,000 even a 0.1% false alarm rate leaves most alerts wrong. This single figure explains the design of every alerting system in Chapter 26.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6.3 (handout p. 38): The Central Limit Theorem at work. The population (left) is heavily skewed, yet the distribution of sample means becomes normal and progressively narrower as n grows. The spread shrinks as σ/√n — quadrupling the sample halves the uncertainty.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Only 8% of students eventually fail. A model that flags at-risk students with a 10% false-positive rate will produce a flagged list that is mostly students who would have passed anyway. Before any outreach programme is designed, compute P(fails ∣ flagged) — because a list that is 70% wrong will destroy staff confidence in the system within a term, and may harm the students wrongly labelled (Chapter 28).</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The prior probability that a randomly chosen project overruns is about 50% in many organisations — which is a high base rate, and therefore the opposite situation to security. Here even a moderately accurate predictor produces alerts that are usually right, so the practical difficulty is not false alarms but persuading people to act on a warning they already half-expected.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P(failure within 30 days) ≈ 0.002 for a given motor. This is a rare-event problem, so the base-rate arithmetic of Figure 6.2 applies directly: an 80%-detection, 2%-false-alarm model yields P(fail ∣ alert) ≈ 7%. Whether that is acceptable is an expected-value question — compare the cost of 13 unnecessary inspections against one unplanned line stoppage.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The worked example is this lens. Add to it: an adversary who knows your detector exists will deliberately operate just below its threshold, which changes P(alert ∣ attack) over time in a way no other domain in this course experiences. Base-rate arithmetic tells you today’s precision; Chapter 26 deals with the fact that tomorrow’s is being actively degraded.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take the arithmetic on trust — generate a million sessions and count.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About 2%. Of 100,000 people, 100 have the condition and 95 test positive; 99,900 do not and about 4,995 test positive falsely. So 95/5090 ≈ 1.9%. This is the base-rate fallacy (Figure 6.2).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No. Mutually exclusive means P(A∩ B)=0, but independence would require P(A)P(B)=0.09. Since 0 ≠ 0.09, they are strongly dependent.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No. It concerns the distribution of sample means. Individual observations keep whatever distribution the population has, however large n becomes.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7 — Acquisition, Wrangling and Cleaning. READ: Handout Chapter 6, pages 35–42. THIS WEEK'S LAB: Centre, spread, shape; base-rate simulation. ASSESSMENT: Quiz 1 (Ch 1–4).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1.xml"/><Relationship Id="rId8" Type="http://schemas.openxmlformats.org/officeDocument/2006/relationships/slide" Target="slide14.xml"/><Relationship Id="rId9" Type="http://schemas.openxmlformats.org/officeDocument/2006/relationships/slide" Target="slide20.xml"/><Relationship Id="rId10" Type="http://schemas.openxmlformats.org/officeDocument/2006/relationships/slide" Target="slide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9.svg"/><Relationship Id="rId4" Type="http://schemas.openxmlformats.org/officeDocument/2006/relationships/image" Target="../media/image20.png"/><Relationship Id="rId5" Type="http://schemas.openxmlformats.org/officeDocument/2006/relationships/image" Target="../media/image21.sv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4.svg"/><Relationship Id="rId4" Type="http://schemas.openxmlformats.org/officeDocument/2006/relationships/image" Target="../media/image25.png"/><Relationship Id="rId5" Type="http://schemas.openxmlformats.org/officeDocument/2006/relationships/image" Target="../media/image26.sv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9.svg"/><Relationship Id="rId4" Type="http://schemas.openxmlformats.org/officeDocument/2006/relationships/image" Target="../media/image30.png"/><Relationship Id="rId5" Type="http://schemas.openxmlformats.org/officeDocument/2006/relationships/image" Target="../media/image31.sv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32.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5.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38.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9.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5.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7.svg"/><Relationship Id="rId4" Type="http://schemas.openxmlformats.org/officeDocument/2006/relationships/image" Target="../media/image48.png"/><Relationship Id="rId5" Type="http://schemas.openxmlformats.org/officeDocument/2006/relationships/image" Target="../media/image49.svg"/><Relationship Id="rId6" Type="http://schemas.openxmlformats.org/officeDocument/2006/relationships/image" Target="../media/image50.png"/><Relationship Id="rId7" Type="http://schemas.openxmlformats.org/officeDocument/2006/relationships/image" Target="../media/image51.svg"/><Relationship Id="rId8" Type="http://schemas.openxmlformats.org/officeDocument/2006/relationships/image" Target="../media/image52.png"/><Relationship Id="rId9" Type="http://schemas.openxmlformats.org/officeDocument/2006/relationships/image" Target="../media/image53.svg"/><Relationship Id="rId10" Type="http://schemas.openxmlformats.org/officeDocument/2006/relationships/image" Target="../media/image54.png"/><Relationship Id="rId11" Type="http://schemas.openxmlformats.org/officeDocument/2006/relationships/image" Target="../media/image55.sv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image" Target="../media/image48.png"/><Relationship Id="rId5" Type="http://schemas.openxmlformats.org/officeDocument/2006/relationships/image" Target="../media/image58.svg"/><Relationship Id="rId6" Type="http://schemas.openxmlformats.org/officeDocument/2006/relationships/image" Target="../media/image50.png"/><Relationship Id="rId7" Type="http://schemas.openxmlformats.org/officeDocument/2006/relationships/image" Target="../media/image59.svg"/><Relationship Id="rId8" Type="http://schemas.openxmlformats.org/officeDocument/2006/relationships/image" Target="../media/image52.png"/><Relationship Id="rId9" Type="http://schemas.openxmlformats.org/officeDocument/2006/relationships/image" Target="../media/image60.svg"/><Relationship Id="rId10" Type="http://schemas.openxmlformats.org/officeDocument/2006/relationships/image" Target="../media/image54.png"/><Relationship Id="rId11" Type="http://schemas.openxmlformats.org/officeDocument/2006/relationships/image" Target="../media/image61.svg"/><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50.png"/><Relationship Id="rId5" Type="http://schemas.openxmlformats.org/officeDocument/2006/relationships/image" Target="../media/image64.svg"/><Relationship Id="rId6" Type="http://schemas.openxmlformats.org/officeDocument/2006/relationships/image" Target="../media/image48.png"/><Relationship Id="rId7" Type="http://schemas.openxmlformats.org/officeDocument/2006/relationships/image" Target="../media/image65.svg"/><Relationship Id="rId8" Type="http://schemas.openxmlformats.org/officeDocument/2006/relationships/image" Target="../media/image52.png"/><Relationship Id="rId9" Type="http://schemas.openxmlformats.org/officeDocument/2006/relationships/image" Target="../media/image66.svg"/><Relationship Id="rId10" Type="http://schemas.openxmlformats.org/officeDocument/2006/relationships/image" Target="../media/image54.png"/><Relationship Id="rId11" Type="http://schemas.openxmlformats.org/officeDocument/2006/relationships/image" Target="../media/image67.svg"/><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69.svg"/><Relationship Id="rId4" Type="http://schemas.openxmlformats.org/officeDocument/2006/relationships/image" Target="../media/image52.png"/><Relationship Id="rId5" Type="http://schemas.openxmlformats.org/officeDocument/2006/relationships/image" Target="../media/image70.svg"/><Relationship Id="rId6" Type="http://schemas.openxmlformats.org/officeDocument/2006/relationships/image" Target="../media/image48.png"/><Relationship Id="rId7" Type="http://schemas.openxmlformats.org/officeDocument/2006/relationships/image" Target="../media/image71.svg"/><Relationship Id="rId8" Type="http://schemas.openxmlformats.org/officeDocument/2006/relationships/image" Target="../media/image50.png"/><Relationship Id="rId9" Type="http://schemas.openxmlformats.org/officeDocument/2006/relationships/image" Target="../media/image72.svg"/><Relationship Id="rId10" Type="http://schemas.openxmlformats.org/officeDocument/2006/relationships/image" Target="../media/image54.png"/><Relationship Id="rId11" Type="http://schemas.openxmlformats.org/officeDocument/2006/relationships/image" Target="../media/image73.svg"/><Relationship Id="rId1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75.svg"/><Relationship Id="rId4" Type="http://schemas.openxmlformats.org/officeDocument/2006/relationships/image" Target="../media/image54.png"/><Relationship Id="rId5" Type="http://schemas.openxmlformats.org/officeDocument/2006/relationships/image" Target="../media/image76.svg"/><Relationship Id="rId6" Type="http://schemas.openxmlformats.org/officeDocument/2006/relationships/image" Target="../media/image48.png"/><Relationship Id="rId7" Type="http://schemas.openxmlformats.org/officeDocument/2006/relationships/image" Target="../media/image77.svg"/><Relationship Id="rId8" Type="http://schemas.openxmlformats.org/officeDocument/2006/relationships/image" Target="../media/image50.png"/><Relationship Id="rId9" Type="http://schemas.openxmlformats.org/officeDocument/2006/relationships/image" Target="../media/image78.svg"/><Relationship Id="rId10" Type="http://schemas.openxmlformats.org/officeDocument/2006/relationships/image" Target="../media/image52.png"/><Relationship Id="rId11" Type="http://schemas.openxmlformats.org/officeDocument/2006/relationships/image" Target="../media/image79.svg"/><Relationship Id="rId1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1.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2.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3.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5.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87.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8.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89.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90.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91.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4.png"/><Relationship Id="rId3" Type="http://schemas.openxmlformats.org/officeDocument/2006/relationships/image" Target="../media/image95.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4.png"/><Relationship Id="rId3" Type="http://schemas.openxmlformats.org/officeDocument/2006/relationships/image" Target="../media/image96.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4.png"/><Relationship Id="rId3" Type="http://schemas.openxmlformats.org/officeDocument/2006/relationships/image" Target="../media/image97.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06</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Probability and Uncertainty</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PART I  ·  FOUNDATIONS OF DATA</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CHAPTER 6  ·  WEEK 3</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DCE4"/>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35     </a:t>
            </a:r>
            <a:fld id="{DF418158-002C-439B-9AC8-4265343263D7}" type="slidenum">
              <a:rPr lang="en-GB" sz="1000">
                <a:solidFill>
                  <a:srgbClr val="8795A1"/>
                </a:solidFill>
                <a:latin typeface="Segoe UI"/>
              </a:rPr>
              <a:t>2</a:t>
            </a:fld>
          </a:p>
        </p:txBody>
      </p:sp>
      <p:sp>
        <p:nvSpPr>
          <p:cNvPr id="7" name="!!rp1"/>
          <p:cNvSpPr txBox="1"/>
          <p:nvPr/>
        </p:nvSpPr>
        <p:spPr>
          <a:xfrm>
            <a:off x="777240" y="1755648"/>
            <a:ext cx="178988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A5276"/>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789880" cy="457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3051752"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3051752"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45227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45227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415887"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415887"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379504"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379504"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70314" y="2112264"/>
            <a:ext cx="566928" cy="566928"/>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170314"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31" name="!!dot7">
            <a:extLst>
              <a:ext uri="{C183D7F6-B498-43B3-948B-1728B52AA6E4}">
                <adec:decorative xmlns:adec="http://schemas.microsoft.com/office/drawing/2017/decorative" val="1"/>
              </a:ext>
            </a:extLst>
          </p:cNvPr>
          <p:cNvSpPr/>
          <p:nvPr/>
        </p:nvSpPr>
        <p:spPr>
          <a:xfrm>
            <a:off x="3027935"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9364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309485"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2180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591034"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49959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872584"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7811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42845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3370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71000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6185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99155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9001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527310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518166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55465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46321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836200"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7447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39207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63006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67361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58217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95516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8637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723671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714527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51826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426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79981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7083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35568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2642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658368"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A5276"/>
                </a:solidFill>
                <a:latin typeface="Segoe UI"/>
              </a:rPr>
              <a:t>Probability and Uncertainty</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5">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5">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5"/>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5  </a:t>
            </a:r>
            <a:r>
              <a:rPr sz="1400" b="0" i="0">
                <a:solidFill>
                  <a:srgbClr val="1C252B"/>
                </a:solidFill>
                <a:latin typeface="Segoe UI"/>
              </a:rPr>
              <a:t>Describing Data: Centre, Spread and Shape</a:t>
            </a:r>
          </a:p>
        </p:txBody>
      </p:sp>
      <p:sp>
        <p:nvSpPr>
          <p:cNvPr id="88"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89" name="!!chipUS9">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bUS9">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1" name="!!chiptUS9"/>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9  </a:t>
            </a:r>
            <a:r>
              <a:rPr sz="1400" b="0" i="0">
                <a:solidFill>
                  <a:srgbClr val="1C252B"/>
                </a:solidFill>
                <a:latin typeface="Segoe UI"/>
              </a:rPr>
              <a:t>Inferential Statistics</a:t>
            </a:r>
          </a:p>
        </p:txBody>
      </p:sp>
      <p:sp>
        <p:nvSpPr>
          <p:cNvPr id="92" name="!!chipUS13">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bUS13">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4" name="!!chiptUS13"/>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13  </a:t>
            </a:r>
            <a:r>
              <a:rPr sz="1400" b="0" i="0">
                <a:solidFill>
                  <a:srgbClr val="1C252B"/>
                </a:solidFill>
                <a:latin typeface="Segoe UI"/>
              </a:rPr>
              <a:t>Supervised Learning II: Classification</a:t>
            </a:r>
          </a:p>
        </p:txBody>
      </p:sp>
      <p:sp>
        <p:nvSpPr>
          <p:cNvPr id="95" name="!!chipUS14">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bUS14">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chiptUS14"/>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14  </a:t>
            </a:r>
            <a:r>
              <a:rPr sz="1400" b="0" i="0">
                <a:solidFill>
                  <a:srgbClr val="1C252B"/>
                </a:solidFill>
                <a:latin typeface="Segoe UI"/>
              </a:rPr>
              <a:t>Model Evaluation and Selection</a:t>
            </a:r>
          </a:p>
        </p:txBody>
      </p:sp>
      <p:sp>
        <p:nvSpPr>
          <p:cNvPr id="98" name="!!chipUS26">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chipbUS26">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0" name="!!chiptUS26"/>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26  </a:t>
            </a:r>
            <a:r>
              <a:rPr sz="1400" b="0" i="0">
                <a:solidFill>
                  <a:srgbClr val="1C252B"/>
                </a:solidFill>
                <a:latin typeface="Segoe UI"/>
              </a:rPr>
              <a:t>Data Science for Cybersecurity</a:t>
            </a:r>
          </a:p>
        </p:txBody>
      </p:sp>
      <p:sp>
        <p:nvSpPr>
          <p:cNvPr id="10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2" name="!!pfill">
            <a:extLst>
              <a:ext uri="{C183D7F6-B498-43B3-948B-1728B52AA6E4}">
                <adec:decorative xmlns:adec="http://schemas.microsoft.com/office/drawing/2017/decorative" val="1"/>
              </a:ext>
            </a:extLst>
          </p:cNvPr>
          <p:cNvSpPr/>
          <p:nvPr/>
        </p:nvSpPr>
        <p:spPr>
          <a:xfrm>
            <a:off x="0" y="0"/>
            <a:ext cx="53007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35     </a:t>
            </a:r>
            <a:fld id="{44F5F9B9-E32F-4D88-9FB7-E97487A086D8}"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Apply</a:t>
            </a:r>
            <a:r>
              <a:rPr sz="2100" b="0" i="0">
                <a:solidFill>
                  <a:srgbClr val="1C252B"/>
                </a:solidFill>
                <a:latin typeface="Segoe UI"/>
              </a:rPr>
              <a:t> the addition and multiplication rules of probability, and test whether two events are independent.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11170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Compute</a:t>
            </a:r>
            <a:r>
              <a:rPr sz="2100" b="0" i="0">
                <a:solidFill>
                  <a:srgbClr val="1C252B"/>
                </a:solidFill>
                <a:latin typeface="Segoe UI"/>
              </a:rPr>
              <a:t> a conditional probability and explain why </a:t>
            </a:r>
            <a:r>
              <a:rPr sz="2100" b="0" i="1">
                <a:solidFill>
                  <a:srgbClr val="1C252B"/>
                </a:solidFill>
                <a:latin typeface="Cambria"/>
              </a:rPr>
              <a:t>P</a:t>
            </a:r>
            <a:r>
              <a:rPr sz="2100" b="0" i="0">
                <a:solidFill>
                  <a:srgbClr val="1C252B"/>
                </a:solidFill>
                <a:latin typeface="Cambria"/>
              </a:rPr>
              <a:t>(</a:t>
            </a:r>
            <a:r>
              <a:rPr sz="2100" b="0" i="1">
                <a:solidFill>
                  <a:srgbClr val="1C252B"/>
                </a:solidFill>
                <a:latin typeface="Cambria"/>
              </a:rPr>
              <a:t>A</a:t>
            </a:r>
            <a:r>
              <a:rPr sz="2100" b="0" i="0">
                <a:solidFill>
                  <a:srgbClr val="1C252B"/>
                </a:solidFill>
                <a:latin typeface="Cambria"/>
              </a:rPr>
              <a:t> ∣ </a:t>
            </a:r>
            <a:r>
              <a:rPr sz="2100" b="0" i="1">
                <a:solidFill>
                  <a:srgbClr val="1C252B"/>
                </a:solidFill>
                <a:latin typeface="Cambria"/>
              </a:rPr>
              <a:t>B</a:t>
            </a:r>
            <a:r>
              <a:rPr sz="2100" b="0" i="0">
                <a:solidFill>
                  <a:srgbClr val="1C252B"/>
                </a:solidFill>
                <a:latin typeface="Cambria"/>
              </a:rPr>
              <a:t>) ≠ </a:t>
            </a:r>
            <a:r>
              <a:rPr sz="2100" b="0" i="1">
                <a:solidFill>
                  <a:srgbClr val="1C252B"/>
                </a:solidFill>
                <a:latin typeface="Cambria"/>
              </a:rPr>
              <a:t>P</a:t>
            </a:r>
            <a:r>
              <a:rPr sz="2100" b="0" i="0">
                <a:solidFill>
                  <a:srgbClr val="1C252B"/>
                </a:solidFill>
                <a:latin typeface="Cambria"/>
              </a:rPr>
              <a:t>(</a:t>
            </a:r>
            <a:r>
              <a:rPr sz="2100" b="0" i="1">
                <a:solidFill>
                  <a:srgbClr val="1C252B"/>
                </a:solidFill>
                <a:latin typeface="Cambria"/>
              </a:rPr>
              <a:t>B</a:t>
            </a:r>
            <a:r>
              <a:rPr sz="2100" b="0" i="0">
                <a:solidFill>
                  <a:srgbClr val="1C252B"/>
                </a:solidFill>
                <a:latin typeface="Cambria"/>
              </a:rPr>
              <a:t> ∣ </a:t>
            </a:r>
            <a:r>
              <a:rPr sz="2100" b="0" i="1">
                <a:solidFill>
                  <a:srgbClr val="1C252B"/>
                </a:solidFill>
                <a:latin typeface="Cambria"/>
              </a:rPr>
              <a:t>A</a:t>
            </a:r>
            <a:r>
              <a:rPr sz="2100" b="0" i="0">
                <a:solidFill>
                  <a:srgbClr val="1C252B"/>
                </a:solidFill>
                <a:latin typeface="Cambria"/>
              </a:rPr>
              <a:t>)</a:t>
            </a:r>
            <a:r>
              <a:rPr sz="2100" b="0" i="0">
                <a:solidFill>
                  <a:srgbClr val="1C252B"/>
                </a:solidFill>
                <a:latin typeface="Segoe UI"/>
              </a:rPr>
              <a:t>.</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Use</a:t>
            </a:r>
            <a:r>
              <a:rPr sz="2100" b="0" i="0">
                <a:solidFill>
                  <a:srgbClr val="1C252B"/>
                </a:solidFill>
                <a:latin typeface="Segoe UI"/>
              </a:rPr>
              <a:t> Bayes’ theorem to update a belief in the light of evidence.</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268419"/>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Explain</a:t>
            </a:r>
            <a:r>
              <a:rPr sz="2100" b="0" i="0">
                <a:solidFill>
                  <a:srgbClr val="1C252B"/>
                </a:solidFill>
                <a:latin typeface="Segoe UI"/>
              </a:rPr>
              <a:t> the base-rate fallacy and demonstrate it numerically for a rare-event detector.</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6727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State</a:t>
            </a:r>
            <a:r>
              <a:rPr sz="2100" b="0" i="0">
                <a:solidFill>
                  <a:srgbClr val="1C252B"/>
                </a:solidFill>
                <a:latin typeface="Segoe UI"/>
              </a:rPr>
              <a:t> the Central Limit Theorem and say why it makes inference possible.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9511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35     </a:t>
            </a:r>
            <a:fld id="{54DA5BD1-2DC4-43C4-8E97-025E6242874E}" type="slidenum">
              <a:rPr lang="en-GB" sz="1000">
                <a:solidFill>
                  <a:srgbClr val="8795A1"/>
                </a:solidFill>
                <a:latin typeface="Segoe UI"/>
              </a:rPr>
              <a:t>4</a:t>
            </a:fld>
          </a:p>
        </p:txBody>
      </p:sp>
      <p:sp>
        <p:nvSpPr>
          <p:cNvPr id="7" name="!!term-experiment">
            <a:extLst>
              <a:ext uri="{C183D7F6-B498-43B3-948B-1728B52AA6E4}">
                <adec:decorative xmlns:adec="http://schemas.microsoft.com/office/drawing/2017/decorative" val="1"/>
              </a:ext>
            </a:extLst>
          </p:cNvPr>
          <p:cNvSpPr/>
          <p:nvPr/>
        </p:nvSpPr>
        <p:spPr>
          <a:xfrm>
            <a:off x="658368" y="1847088"/>
            <a:ext cx="146942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experiment">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experiment"/>
          <p:cNvSpPr txBox="1"/>
          <p:nvPr/>
        </p:nvSpPr>
        <p:spPr>
          <a:xfrm>
            <a:off x="950976" y="1962911"/>
            <a:ext cx="128654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experiment</a:t>
            </a:r>
          </a:p>
        </p:txBody>
      </p:sp>
      <p:sp>
        <p:nvSpPr>
          <p:cNvPr id="10" name="!!term-outcome">
            <a:extLst>
              <a:ext uri="{C183D7F6-B498-43B3-948B-1728B52AA6E4}">
                <adec:decorative xmlns:adec="http://schemas.microsoft.com/office/drawing/2017/decorative" val="1"/>
              </a:ext>
            </a:extLst>
          </p:cNvPr>
          <p:cNvSpPr/>
          <p:nvPr/>
        </p:nvSpPr>
        <p:spPr>
          <a:xfrm>
            <a:off x="2274100" y="1847088"/>
            <a:ext cx="12519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outcome">
            <a:extLst>
              <a:ext uri="{C183D7F6-B498-43B3-948B-1728B52AA6E4}">
                <adec:decorative xmlns:adec="http://schemas.microsoft.com/office/drawing/2017/decorative" val="1"/>
              </a:ext>
            </a:extLst>
          </p:cNvPr>
          <p:cNvSpPr/>
          <p:nvPr/>
        </p:nvSpPr>
        <p:spPr>
          <a:xfrm>
            <a:off x="240211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outcome"/>
          <p:cNvSpPr txBox="1"/>
          <p:nvPr/>
        </p:nvSpPr>
        <p:spPr>
          <a:xfrm>
            <a:off x="2566708" y="1962911"/>
            <a:ext cx="106908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outcome</a:t>
            </a:r>
          </a:p>
        </p:txBody>
      </p:sp>
      <p:sp>
        <p:nvSpPr>
          <p:cNvPr id="13" name="!!term-event">
            <a:extLst>
              <a:ext uri="{C183D7F6-B498-43B3-948B-1728B52AA6E4}">
                <adec:decorative xmlns:adec="http://schemas.microsoft.com/office/drawing/2017/decorative" val="1"/>
              </a:ext>
            </a:extLst>
          </p:cNvPr>
          <p:cNvSpPr/>
          <p:nvPr/>
        </p:nvSpPr>
        <p:spPr>
          <a:xfrm>
            <a:off x="3672371" y="1847088"/>
            <a:ext cx="9425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event">
            <a:extLst>
              <a:ext uri="{C183D7F6-B498-43B3-948B-1728B52AA6E4}">
                <adec:decorative xmlns:adec="http://schemas.microsoft.com/office/drawing/2017/decorative" val="1"/>
              </a:ext>
            </a:extLst>
          </p:cNvPr>
          <p:cNvSpPr/>
          <p:nvPr/>
        </p:nvSpPr>
        <p:spPr>
          <a:xfrm>
            <a:off x="380038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event"/>
          <p:cNvSpPr txBox="1"/>
          <p:nvPr/>
        </p:nvSpPr>
        <p:spPr>
          <a:xfrm>
            <a:off x="3964979" y="1962911"/>
            <a:ext cx="75966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event</a:t>
            </a:r>
          </a:p>
        </p:txBody>
      </p:sp>
      <p:sp>
        <p:nvSpPr>
          <p:cNvPr id="16" name="!!term-sample space">
            <a:extLst>
              <a:ext uri="{C183D7F6-B498-43B3-948B-1728B52AA6E4}">
                <adec:decorative xmlns:adec="http://schemas.microsoft.com/office/drawing/2017/decorative" val="1"/>
              </a:ext>
            </a:extLst>
          </p:cNvPr>
          <p:cNvSpPr/>
          <p:nvPr/>
        </p:nvSpPr>
        <p:spPr>
          <a:xfrm>
            <a:off x="4761219" y="1847088"/>
            <a:ext cx="166732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sample space">
            <a:extLst>
              <a:ext uri="{C183D7F6-B498-43B3-948B-1728B52AA6E4}">
                <adec:decorative xmlns:adec="http://schemas.microsoft.com/office/drawing/2017/decorative" val="1"/>
              </a:ext>
            </a:extLst>
          </p:cNvPr>
          <p:cNvSpPr/>
          <p:nvPr/>
        </p:nvSpPr>
        <p:spPr>
          <a:xfrm>
            <a:off x="488923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sample space"/>
          <p:cNvSpPr txBox="1"/>
          <p:nvPr/>
        </p:nvSpPr>
        <p:spPr>
          <a:xfrm>
            <a:off x="5053827" y="1962911"/>
            <a:ext cx="148444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sample space</a:t>
            </a:r>
          </a:p>
        </p:txBody>
      </p:sp>
      <p:sp>
        <p:nvSpPr>
          <p:cNvPr id="19" name="!!term-independence">
            <a:extLst>
              <a:ext uri="{C183D7F6-B498-43B3-948B-1728B52AA6E4}">
                <adec:decorative xmlns:adec="http://schemas.microsoft.com/office/drawing/2017/decorative" val="1"/>
              </a:ext>
            </a:extLst>
          </p:cNvPr>
          <p:cNvSpPr/>
          <p:nvPr/>
        </p:nvSpPr>
        <p:spPr>
          <a:xfrm>
            <a:off x="6574846" y="1847088"/>
            <a:ext cx="17363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independence">
            <a:extLst>
              <a:ext uri="{C183D7F6-B498-43B3-948B-1728B52AA6E4}">
                <adec:decorative xmlns:adec="http://schemas.microsoft.com/office/drawing/2017/decorative" val="1"/>
              </a:ext>
            </a:extLst>
          </p:cNvPr>
          <p:cNvSpPr/>
          <p:nvPr/>
        </p:nvSpPr>
        <p:spPr>
          <a:xfrm>
            <a:off x="670286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independence"/>
          <p:cNvSpPr txBox="1"/>
          <p:nvPr/>
        </p:nvSpPr>
        <p:spPr>
          <a:xfrm>
            <a:off x="6867454" y="1962911"/>
            <a:ext cx="155350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independence</a:t>
            </a:r>
          </a:p>
        </p:txBody>
      </p:sp>
      <p:sp>
        <p:nvSpPr>
          <p:cNvPr id="22" name="!!term-mutually exclu">
            <a:extLst>
              <a:ext uri="{C183D7F6-B498-43B3-948B-1728B52AA6E4}">
                <adec:decorative xmlns:adec="http://schemas.microsoft.com/office/drawing/2017/decorative" val="1"/>
              </a:ext>
            </a:extLst>
          </p:cNvPr>
          <p:cNvSpPr/>
          <p:nvPr/>
        </p:nvSpPr>
        <p:spPr>
          <a:xfrm>
            <a:off x="8457535" y="1847088"/>
            <a:ext cx="209760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mutually exclu">
            <a:extLst>
              <a:ext uri="{C183D7F6-B498-43B3-948B-1728B52AA6E4}">
                <adec:decorative xmlns:adec="http://schemas.microsoft.com/office/drawing/2017/decorative" val="1"/>
              </a:ext>
            </a:extLst>
          </p:cNvPr>
          <p:cNvSpPr/>
          <p:nvPr/>
        </p:nvSpPr>
        <p:spPr>
          <a:xfrm>
            <a:off x="858555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mutually exclu"/>
          <p:cNvSpPr txBox="1"/>
          <p:nvPr/>
        </p:nvSpPr>
        <p:spPr>
          <a:xfrm>
            <a:off x="8750143" y="1962911"/>
            <a:ext cx="191472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mutually exclusive</a:t>
            </a:r>
          </a:p>
        </p:txBody>
      </p:sp>
      <p:sp>
        <p:nvSpPr>
          <p:cNvPr id="25" name="!!term-conditional pr">
            <a:extLst>
              <a:ext uri="{C183D7F6-B498-43B3-948B-1728B52AA6E4}">
                <adec:decorative xmlns:adec="http://schemas.microsoft.com/office/drawing/2017/decorative" val="1"/>
              </a:ext>
            </a:extLst>
          </p:cNvPr>
          <p:cNvSpPr/>
          <p:nvPr/>
        </p:nvSpPr>
        <p:spPr>
          <a:xfrm>
            <a:off x="658368" y="2468880"/>
            <a:ext cx="250296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conditional pr">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conditional pr"/>
          <p:cNvSpPr txBox="1"/>
          <p:nvPr/>
        </p:nvSpPr>
        <p:spPr>
          <a:xfrm>
            <a:off x="950976" y="2584704"/>
            <a:ext cx="232008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conditional probability</a:t>
            </a:r>
          </a:p>
        </p:txBody>
      </p:sp>
      <p:sp>
        <p:nvSpPr>
          <p:cNvPr id="28" name="!!term-Bayes’ theorem">
            <a:extLst>
              <a:ext uri="{C183D7F6-B498-43B3-948B-1728B52AA6E4}">
                <adec:decorative xmlns:adec="http://schemas.microsoft.com/office/drawing/2017/decorative" val="1"/>
              </a:ext>
            </a:extLst>
          </p:cNvPr>
          <p:cNvSpPr/>
          <p:nvPr/>
        </p:nvSpPr>
        <p:spPr>
          <a:xfrm>
            <a:off x="3307641" y="2468880"/>
            <a:ext cx="184037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Bayes’ theorem">
            <a:extLst>
              <a:ext uri="{C183D7F6-B498-43B3-948B-1728B52AA6E4}">
                <adec:decorative xmlns:adec="http://schemas.microsoft.com/office/drawing/2017/decorative" val="1"/>
              </a:ext>
            </a:extLst>
          </p:cNvPr>
          <p:cNvSpPr/>
          <p:nvPr/>
        </p:nvSpPr>
        <p:spPr>
          <a:xfrm>
            <a:off x="343565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Bayes’ theorem"/>
          <p:cNvSpPr txBox="1"/>
          <p:nvPr/>
        </p:nvSpPr>
        <p:spPr>
          <a:xfrm>
            <a:off x="3600249" y="2584704"/>
            <a:ext cx="165749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Bayes’ theorem</a:t>
            </a:r>
          </a:p>
        </p:txBody>
      </p:sp>
      <p:sp>
        <p:nvSpPr>
          <p:cNvPr id="31" name="!!term-prior, likelih">
            <a:extLst>
              <a:ext uri="{C183D7F6-B498-43B3-948B-1728B52AA6E4}">
                <adec:decorative xmlns:adec="http://schemas.microsoft.com/office/drawing/2017/decorative" val="1"/>
              </a:ext>
            </a:extLst>
          </p:cNvPr>
          <p:cNvSpPr/>
          <p:nvPr/>
        </p:nvSpPr>
        <p:spPr>
          <a:xfrm>
            <a:off x="5294318" y="2468880"/>
            <a:ext cx="279993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prior, likelih">
            <a:extLst>
              <a:ext uri="{C183D7F6-B498-43B3-948B-1728B52AA6E4}">
                <adec:decorative xmlns:adec="http://schemas.microsoft.com/office/drawing/2017/decorative" val="1"/>
              </a:ext>
            </a:extLst>
          </p:cNvPr>
          <p:cNvSpPr/>
          <p:nvPr/>
        </p:nvSpPr>
        <p:spPr>
          <a:xfrm>
            <a:off x="542233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prior, likelih"/>
          <p:cNvSpPr txBox="1"/>
          <p:nvPr/>
        </p:nvSpPr>
        <p:spPr>
          <a:xfrm>
            <a:off x="5586926" y="2584704"/>
            <a:ext cx="261705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prior, likelihood, posterior</a:t>
            </a:r>
          </a:p>
        </p:txBody>
      </p:sp>
      <p:sp>
        <p:nvSpPr>
          <p:cNvPr id="34" name="!!term-base rate">
            <a:extLst>
              <a:ext uri="{C183D7F6-B498-43B3-948B-1728B52AA6E4}">
                <adec:decorative xmlns:adec="http://schemas.microsoft.com/office/drawing/2017/decorative" val="1"/>
              </a:ext>
            </a:extLst>
          </p:cNvPr>
          <p:cNvSpPr/>
          <p:nvPr/>
        </p:nvSpPr>
        <p:spPr>
          <a:xfrm>
            <a:off x="8240553" y="2468880"/>
            <a:ext cx="127556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base rate">
            <a:extLst>
              <a:ext uri="{C183D7F6-B498-43B3-948B-1728B52AA6E4}">
                <adec:decorative xmlns:adec="http://schemas.microsoft.com/office/drawing/2017/decorative" val="1"/>
              </a:ext>
            </a:extLst>
          </p:cNvPr>
          <p:cNvSpPr/>
          <p:nvPr/>
        </p:nvSpPr>
        <p:spPr>
          <a:xfrm>
            <a:off x="836856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base rate"/>
          <p:cNvSpPr txBox="1"/>
          <p:nvPr/>
        </p:nvSpPr>
        <p:spPr>
          <a:xfrm>
            <a:off x="8533161" y="2584704"/>
            <a:ext cx="109268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base rate</a:t>
            </a:r>
          </a:p>
        </p:txBody>
      </p:sp>
      <p:sp>
        <p:nvSpPr>
          <p:cNvPr id="37" name="!!term-random variabl">
            <a:extLst>
              <a:ext uri="{C183D7F6-B498-43B3-948B-1728B52AA6E4}">
                <adec:decorative xmlns:adec="http://schemas.microsoft.com/office/drawing/2017/decorative" val="1"/>
              </a:ext>
            </a:extLst>
          </p:cNvPr>
          <p:cNvSpPr/>
          <p:nvPr/>
        </p:nvSpPr>
        <p:spPr>
          <a:xfrm>
            <a:off x="658368" y="3090672"/>
            <a:ext cx="192555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random variabl">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random variabl"/>
          <p:cNvSpPr txBox="1"/>
          <p:nvPr/>
        </p:nvSpPr>
        <p:spPr>
          <a:xfrm>
            <a:off x="950976" y="3206496"/>
            <a:ext cx="174267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random variable</a:t>
            </a:r>
          </a:p>
        </p:txBody>
      </p:sp>
      <p:sp>
        <p:nvSpPr>
          <p:cNvPr id="40" name="!!term-expected value">
            <a:extLst>
              <a:ext uri="{C183D7F6-B498-43B3-948B-1728B52AA6E4}">
                <adec:decorative xmlns:adec="http://schemas.microsoft.com/office/drawing/2017/decorative" val="1"/>
              </a:ext>
            </a:extLst>
          </p:cNvPr>
          <p:cNvSpPr/>
          <p:nvPr/>
        </p:nvSpPr>
        <p:spPr>
          <a:xfrm>
            <a:off x="2730230" y="3090672"/>
            <a:ext cx="180656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expected value">
            <a:extLst>
              <a:ext uri="{C183D7F6-B498-43B3-948B-1728B52AA6E4}">
                <adec:decorative xmlns:adec="http://schemas.microsoft.com/office/drawing/2017/decorative" val="1"/>
              </a:ext>
            </a:extLst>
          </p:cNvPr>
          <p:cNvSpPr/>
          <p:nvPr/>
        </p:nvSpPr>
        <p:spPr>
          <a:xfrm>
            <a:off x="285824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expected value"/>
          <p:cNvSpPr txBox="1"/>
          <p:nvPr/>
        </p:nvSpPr>
        <p:spPr>
          <a:xfrm>
            <a:off x="3022838" y="3206496"/>
            <a:ext cx="162368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expected value</a:t>
            </a:r>
          </a:p>
        </p:txBody>
      </p:sp>
      <p:sp>
        <p:nvSpPr>
          <p:cNvPr id="43" name="!!term-Central Limit ">
            <a:extLst>
              <a:ext uri="{C183D7F6-B498-43B3-948B-1728B52AA6E4}">
                <adec:decorative xmlns:adec="http://schemas.microsoft.com/office/drawing/2017/decorative" val="1"/>
              </a:ext>
            </a:extLst>
          </p:cNvPr>
          <p:cNvSpPr/>
          <p:nvPr/>
        </p:nvSpPr>
        <p:spPr>
          <a:xfrm>
            <a:off x="4683097" y="3090672"/>
            <a:ext cx="246591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Central Limit ">
            <a:extLst>
              <a:ext uri="{C183D7F6-B498-43B3-948B-1728B52AA6E4}">
                <adec:decorative xmlns:adec="http://schemas.microsoft.com/office/drawing/2017/decorative" val="1"/>
              </a:ext>
            </a:extLst>
          </p:cNvPr>
          <p:cNvSpPr/>
          <p:nvPr/>
        </p:nvSpPr>
        <p:spPr>
          <a:xfrm>
            <a:off x="481111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Central Limit "/>
          <p:cNvSpPr txBox="1"/>
          <p:nvPr/>
        </p:nvSpPr>
        <p:spPr>
          <a:xfrm>
            <a:off x="4975705" y="3206496"/>
            <a:ext cx="228303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Central Limit Theorem</a:t>
            </a:r>
          </a:p>
        </p:txBody>
      </p:sp>
      <p:sp>
        <p:nvSpPr>
          <p:cNvPr id="46"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106014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35–42     </a:t>
            </a:r>
            <a:fld id="{46DD1CCE-8A45-40B9-87F2-B0074D9A462C}" type="slidenum">
              <a:rPr lang="en-GB" sz="1000">
                <a:solidFill>
                  <a:srgbClr val="8795A1"/>
                </a:solidFill>
                <a:latin typeface="Segoe UI"/>
              </a:rPr>
              <a:t>5</a:t>
            </a:fld>
          </a:p>
        </p:txBody>
      </p:sp>
      <p:sp>
        <p:nvSpPr>
          <p:cNvPr id="7" name="!!ag0" descr="Go to section 6.1 Why Probability Is the Language of This Course">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6.1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Probability Is the Language of This Course</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35  ›</a:t>
            </a:r>
          </a:p>
        </p:txBody>
      </p:sp>
      <p:sp>
        <p:nvSpPr>
          <p:cNvPr id="12" name="!!ag1" descr="Go to section 6.2 The Rule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6.2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Rules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35  ›</a:t>
            </a:r>
          </a:p>
        </p:txBody>
      </p:sp>
      <p:sp>
        <p:nvSpPr>
          <p:cNvPr id="17" name="!!ag2" descr="Go to section 6.3 Conditional Probability">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6.3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Conditional Probability</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36  ›</a:t>
            </a:r>
          </a:p>
        </p:txBody>
      </p:sp>
      <p:sp>
        <p:nvSpPr>
          <p:cNvPr id="22" name="!!ag3" descr="Go to section 6.4 Bayes’ Theorem">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6.4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Bayes’ Theorem</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36  ›</a:t>
            </a:r>
          </a:p>
        </p:txBody>
      </p:sp>
      <p:sp>
        <p:nvSpPr>
          <p:cNvPr id="27" name="!!ag4" descr="Go to section 6.5 Random Variables and Expected Value">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6.5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Random Variables and Expected Value</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37  ›</a:t>
            </a:r>
          </a:p>
        </p:txBody>
      </p:sp>
      <p:sp>
        <p:nvSpPr>
          <p:cNvPr id="32" name="!!ag5" descr="Go to section 6.6 The Central Limit Theorem">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6.6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Central Limit Theorem</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38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32518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Probability Is the Language of This Course</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§6.1  ·  Handout p. 35     </a:t>
            </a:r>
            <a:fld id="{4DC117E7-783A-490E-86A9-C74885C47858}" type="slidenum">
              <a:rPr lang="en-GB" sz="1000">
                <a:solidFill>
                  <a:srgbClr val="8795A1"/>
                </a:solidFill>
                <a:latin typeface="Segoe UI"/>
              </a:rPr>
              <a:t>6</a:t>
            </a:fld>
          </a:p>
        </p:txBody>
      </p:sp>
      <p:sp>
        <p:nvSpPr>
          <p:cNvPr id="7" name="!!stbar">
            <a:extLst>
              <a:ext uri="{C183D7F6-B498-43B3-948B-1728B52AA6E4}">
                <adec:decorative xmlns:adec="http://schemas.microsoft.com/office/drawing/2017/decorative" val="1"/>
              </a:ext>
            </a:extLst>
          </p:cNvPr>
          <p:cNvSpPr/>
          <p:nvPr/>
        </p:nvSpPr>
        <p:spPr>
          <a:xfrm>
            <a:off x="658368" y="1810512"/>
            <a:ext cx="73152" cy="2435961"/>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2518257"/>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Every prediction you make is uncertain, and pretending otherwise is the fastest way to lose the trust of the people who use your work. Probability is how uncertainty is written down, compared, and combined. It is also, quite directly, what a classifier outputs: “0.78 probability of failing” is a probability statement, and you cannot interpret it without this chapter.</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59022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Rules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2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6.2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6.1   Why Probability Is the Language of This Course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6.2   The Rules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6.3   Conditional Probability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6.4   Bayes’ Theorem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6.5   Random Variables and Expected Value</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6.6   The Central Limit Theorem</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§6.2     </a:t>
            </a:r>
            <a:fld id="{1D1AD369-0ED3-4020-AADD-EA6378F28E89}" type="slidenum">
              <a:rPr lang="en-GB" sz="1000">
                <a:solidFill>
                  <a:srgbClr val="8795A1"/>
                </a:solidFill>
                <a:latin typeface="Segoe UI"/>
              </a:rPr>
              <a:t>7</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85525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Probability</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§6.2  ·  Handout p. 35     </a:t>
            </a:r>
            <a:fld id="{595F06B1-91B2-4D68-BCED-9915CFB0C15F}"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For an event </a:t>
            </a:r>
            <a:r>
              <a:rPr sz="2300" b="0" i="1">
                <a:solidFill>
                  <a:srgbClr val="1C252B"/>
                </a:solidFill>
                <a:latin typeface="Cambria"/>
              </a:rPr>
              <a:t>A</a:t>
            </a:r>
            <a:r>
              <a:rPr sz="2300" b="0" i="0">
                <a:solidFill>
                  <a:srgbClr val="1C252B"/>
                </a:solidFill>
                <a:latin typeface="Segoe UI"/>
              </a:rPr>
              <a:t>,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a:t>
            </a:r>
            <a:r>
              <a:rPr sz="2300" b="0" i="0">
                <a:solidFill>
                  <a:srgbClr val="1C252B"/>
                </a:solidFill>
                <a:latin typeface="Segoe UI"/>
              </a:rPr>
              <a:t> is a number in </a:t>
            </a:r>
            <a:r>
              <a:rPr sz="2300" b="0" i="0">
                <a:solidFill>
                  <a:srgbClr val="1C252B"/>
                </a:solidFill>
                <a:latin typeface="Cambria"/>
              </a:rPr>
              <a:t>[0,1]</a:t>
            </a:r>
            <a:r>
              <a:rPr sz="2300" b="0" i="0">
                <a:solidFill>
                  <a:srgbClr val="1C252B"/>
                </a:solidFill>
                <a:latin typeface="Segoe UI"/>
              </a:rPr>
              <a:t> giving the long-run proportion of occasions on which </a:t>
            </a:r>
            <a:r>
              <a:rPr sz="2300" b="0" i="1">
                <a:solidFill>
                  <a:srgbClr val="1C252B"/>
                </a:solidFill>
                <a:latin typeface="Cambria"/>
              </a:rPr>
              <a:t>A</a:t>
            </a:r>
            <a:r>
              <a:rPr sz="2300" b="0" i="0">
                <a:solidFill>
                  <a:srgbClr val="1C252B"/>
                </a:solidFill>
                <a:latin typeface="Segoe UI"/>
              </a:rPr>
              <a:t> happens.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)=0</a:t>
            </a:r>
            <a:r>
              <a:rPr sz="2300" b="0" i="0">
                <a:solidFill>
                  <a:srgbClr val="1C252B"/>
                </a:solidFill>
                <a:latin typeface="Segoe UI"/>
              </a:rPr>
              <a:t> means impossible,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)=1</a:t>
            </a:r>
            <a:r>
              <a:rPr sz="2300" b="0" i="0">
                <a:solidFill>
                  <a:srgbClr val="1C252B"/>
                </a:solidFill>
                <a:latin typeface="Segoe UI"/>
              </a:rPr>
              <a:t> means certain, and </a:t>
            </a:r>
            <a:r>
              <a:rPr sz="2300" b="0" i="1">
                <a:solidFill>
                  <a:srgbClr val="1C252B"/>
                </a:solidFill>
                <a:latin typeface="Cambria"/>
              </a:rPr>
              <a:t>P</a:t>
            </a:r>
            <a:r>
              <a:rPr sz="2300" b="0" i="0">
                <a:solidFill>
                  <a:srgbClr val="1C252B"/>
                </a:solidFill>
                <a:latin typeface="Cambria"/>
              </a:rPr>
              <a:t>(</a:t>
            </a:r>
            <a:r>
              <a:rPr sz="2300" b="0" i="0">
                <a:solidFill>
                  <a:srgbClr val="1C252B"/>
                </a:solidFill>
                <a:latin typeface="Segoe UI"/>
              </a:rPr>
              <a:t>not</a:t>
            </a:r>
            <a:r>
              <a:rPr sz="2300" b="0" i="1">
                <a:solidFill>
                  <a:srgbClr val="1C252B"/>
                </a:solidFill>
                <a:latin typeface="Cambria"/>
              </a:rPr>
              <a:t>A</a:t>
            </a:r>
            <a:r>
              <a:rPr sz="2300" b="0" i="0">
                <a:solidFill>
                  <a:srgbClr val="1C252B"/>
                </a:solidFill>
                <a:latin typeface="Cambria"/>
              </a:rPr>
              <a:t>) = 1 −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a:t>
            </a:r>
            <a:r>
              <a:rPr sz="23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12029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Rules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§6.2  ·  Handout p. 35     </a:t>
            </a:r>
            <a:fld id="{572D9CC7-6A4E-4F15-B588-5F96EF48A4A7}" type="slidenum">
              <a:rPr lang="en-GB" sz="1000">
                <a:solidFill>
                  <a:srgbClr val="8795A1"/>
                </a:solidFill>
                <a:latin typeface="Segoe UI"/>
              </a:rPr>
              <a:t>9</a:t>
            </a:fld>
          </a:p>
        </p:txBody>
      </p:sp>
      <p:graphicFrame>
        <p:nvGraphicFramePr>
          <p:cNvPr id="7" name="!!table"/>
          <p:cNvGraphicFramePr>
            <a:graphicFrameLocks noGrp="1"/>
          </p:cNvGraphicFramePr>
          <p:nvPr/>
        </p:nvGraphicFramePr>
        <p:xfrm>
          <a:off x="658368" y="1737360"/>
          <a:ext cx="10874958" cy="3209544"/>
        </p:xfrm>
        <a:graphic>
          <a:graphicData uri="http://schemas.openxmlformats.org/drawingml/2006/table">
            <a:tbl>
              <a:tblPr firstRow="0" bandRow="0" firstCol="0" lastRow="0" lastCol="0" bandCol="0">
                <a:tableStyleId>{2D5ABB26-0587-4C30-8999-92F81FD0307C}</a:tableStyleId>
              </a:tblPr>
              <a:tblGrid>
                <a:gridCol w="2458038"/>
                <a:gridCol w="3724301"/>
                <a:gridCol w="4692619"/>
              </a:tblGrid>
              <a:tr h="405384">
                <a:tc>
                  <a:txBody>
                    <a:bodyPr wrap="square"/>
                    <a:lstStyle/>
                    <a:p>
                      <a:pPr algn="l"/>
                      <a:r>
                        <a:rPr sz="1700" b="1" i="0">
                          <a:solidFill>
                            <a:srgbClr val="1A5276"/>
                          </a:solidFill>
                          <a:latin typeface="Segoe UI"/>
                        </a:rPr>
                        <a:t>Rule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Formula</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In words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0" i="0">
                          <a:solidFill>
                            <a:srgbClr val="1C252B"/>
                          </a:solidFill>
                          <a:latin typeface="Segoe UI"/>
                        </a:rPr>
                        <a:t>Complement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1">
                          <a:solidFill>
                            <a:srgbClr val="1C252B"/>
                          </a:solidFill>
                          <a:latin typeface="Cambria"/>
                        </a:rPr>
                        <a:t>P</a:t>
                      </a:r>
                      <a:r>
                        <a:rPr sz="1700" b="0" i="0">
                          <a:solidFill>
                            <a:srgbClr val="1C252B"/>
                          </a:solidFill>
                          <a:latin typeface="Cambria"/>
                        </a:rPr>
                        <a:t>(</a:t>
                      </a:r>
                      <a:r>
                        <a:rPr sz="1700" b="0" i="1">
                          <a:solidFill>
                            <a:srgbClr val="1C252B"/>
                          </a:solidFill>
                          <a:latin typeface="Cambria"/>
                        </a:rPr>
                        <a:t>Ā</a:t>
                      </a:r>
                      <a:r>
                        <a:rPr sz="1700" b="0" i="0">
                          <a:solidFill>
                            <a:srgbClr val="1C252B"/>
                          </a:solidFill>
                          <a:latin typeface="Cambria"/>
                        </a:rPr>
                        <a:t>) = 1 − </a:t>
                      </a:r>
                      <a:r>
                        <a:rPr sz="1700" b="0" i="1">
                          <a:solidFill>
                            <a:srgbClr val="1C252B"/>
                          </a:solidFill>
                          <a:latin typeface="Cambria"/>
                        </a:rPr>
                        <a:t>P</a:t>
                      </a:r>
                      <a:r>
                        <a:rPr sz="1700" b="0" i="0">
                          <a:solidFill>
                            <a:srgbClr val="1C252B"/>
                          </a:solidFill>
                          <a:latin typeface="Cambria"/>
                        </a:rPr>
                        <a:t>(</a:t>
                      </a:r>
                      <a:r>
                        <a:rPr sz="1700" b="0" i="1">
                          <a:solidFill>
                            <a:srgbClr val="1C252B"/>
                          </a:solidFill>
                          <a:latin typeface="Cambria"/>
                        </a:rPr>
                        <a:t>A</a:t>
                      </a:r>
                      <a:r>
                        <a:rPr sz="1700" b="0" i="0">
                          <a:solidFill>
                            <a:srgbClr val="1C252B"/>
                          </a:solidFill>
                          <a:latin typeface="Cambria"/>
                        </a:rPr>
                        <a: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Either it happens or it does not</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Addition (general)</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1">
                          <a:solidFill>
                            <a:srgbClr val="1C252B"/>
                          </a:solidFill>
                          <a:latin typeface="Cambria"/>
                        </a:rPr>
                        <a:t>P</a:t>
                      </a:r>
                      <a:r>
                        <a:rPr sz="1700" b="0" i="0">
                          <a:solidFill>
                            <a:srgbClr val="1C252B"/>
                          </a:solidFill>
                          <a:latin typeface="Cambria"/>
                        </a:rPr>
                        <a:t>(</a:t>
                      </a:r>
                      <a:r>
                        <a:rPr sz="1700" b="0" i="1">
                          <a:solidFill>
                            <a:srgbClr val="1C252B"/>
                          </a:solidFill>
                          <a:latin typeface="Cambria"/>
                        </a:rPr>
                        <a:t>A</a:t>
                      </a:r>
                      <a:r>
                        <a:rPr sz="1700" b="0" i="0">
                          <a:solidFill>
                            <a:srgbClr val="1C252B"/>
                          </a:solidFill>
                          <a:latin typeface="Cambria"/>
                        </a:rPr>
                        <a:t> ∪ </a:t>
                      </a:r>
                      <a:r>
                        <a:rPr sz="1700" b="0" i="1">
                          <a:solidFill>
                            <a:srgbClr val="1C252B"/>
                          </a:solidFill>
                          <a:latin typeface="Cambria"/>
                        </a:rPr>
                        <a:t>B</a:t>
                      </a:r>
                      <a:r>
                        <a:rPr sz="1700" b="0" i="0">
                          <a:solidFill>
                            <a:srgbClr val="1C252B"/>
                          </a:solidFill>
                          <a:latin typeface="Cambria"/>
                        </a:rPr>
                        <a:t>) = </a:t>
                      </a:r>
                      <a:r>
                        <a:rPr sz="1700" b="0" i="1">
                          <a:solidFill>
                            <a:srgbClr val="1C252B"/>
                          </a:solidFill>
                          <a:latin typeface="Cambria"/>
                        </a:rPr>
                        <a:t>P</a:t>
                      </a:r>
                      <a:r>
                        <a:rPr sz="1700" b="0" i="0">
                          <a:solidFill>
                            <a:srgbClr val="1C252B"/>
                          </a:solidFill>
                          <a:latin typeface="Cambria"/>
                        </a:rPr>
                        <a:t>(</a:t>
                      </a:r>
                      <a:r>
                        <a:rPr sz="1700" b="0" i="1">
                          <a:solidFill>
                            <a:srgbClr val="1C252B"/>
                          </a:solidFill>
                          <a:latin typeface="Cambria"/>
                        </a:rPr>
                        <a:t>A</a:t>
                      </a:r>
                      <a:r>
                        <a:rPr sz="1700" b="0" i="0">
                          <a:solidFill>
                            <a:srgbClr val="1C252B"/>
                          </a:solidFill>
                          <a:latin typeface="Cambria"/>
                        </a:rPr>
                        <a:t>) + </a:t>
                      </a:r>
                      <a:r>
                        <a:rPr sz="1700" b="0" i="1">
                          <a:solidFill>
                            <a:srgbClr val="1C252B"/>
                          </a:solidFill>
                          <a:latin typeface="Cambria"/>
                        </a:rPr>
                        <a:t>P</a:t>
                      </a:r>
                      <a:r>
                        <a:rPr sz="1700" b="0" i="0">
                          <a:solidFill>
                            <a:srgbClr val="1C252B"/>
                          </a:solidFill>
                          <a:latin typeface="Cambria"/>
                        </a:rPr>
                        <a:t>(</a:t>
                      </a:r>
                      <a:r>
                        <a:rPr sz="1700" b="0" i="1">
                          <a:solidFill>
                            <a:srgbClr val="1C252B"/>
                          </a:solidFill>
                          <a:latin typeface="Cambria"/>
                        </a:rPr>
                        <a:t>B</a:t>
                      </a:r>
                      <a:r>
                        <a:rPr sz="1700" b="0" i="0">
                          <a:solidFill>
                            <a:srgbClr val="1C252B"/>
                          </a:solidFill>
                          <a:latin typeface="Cambria"/>
                        </a:rPr>
                        <a:t>) − </a:t>
                      </a:r>
                      <a:r>
                        <a:rPr sz="1700" b="0" i="1">
                          <a:solidFill>
                            <a:srgbClr val="1C252B"/>
                          </a:solidFill>
                          <a:latin typeface="Cambria"/>
                        </a:rPr>
                        <a:t>P</a:t>
                      </a:r>
                      <a:r>
                        <a:rPr sz="1700" b="0" i="0">
                          <a:solidFill>
                            <a:srgbClr val="1C252B"/>
                          </a:solidFill>
                          <a:latin typeface="Cambria"/>
                        </a:rPr>
                        <a:t>(</a:t>
                      </a:r>
                      <a:r>
                        <a:rPr sz="1700" b="0" i="1">
                          <a:solidFill>
                            <a:srgbClr val="1C252B"/>
                          </a:solidFill>
                          <a:latin typeface="Cambria"/>
                        </a:rPr>
                        <a:t>A</a:t>
                      </a:r>
                      <a:r>
                        <a:rPr sz="1700" b="0" i="0">
                          <a:solidFill>
                            <a:srgbClr val="1C252B"/>
                          </a:solidFill>
                          <a:latin typeface="Cambria"/>
                        </a:rPr>
                        <a:t> ∩ </a:t>
                      </a:r>
                      <a:r>
                        <a:rPr sz="1700" b="0" i="1">
                          <a:solidFill>
                            <a:srgbClr val="1C252B"/>
                          </a:solidFill>
                          <a:latin typeface="Cambria"/>
                        </a:rPr>
                        <a:t>B</a:t>
                      </a:r>
                      <a:r>
                        <a:rPr sz="1700" b="0" i="0">
                          <a:solidFill>
                            <a:srgbClr val="1C252B"/>
                          </a:solidFill>
                          <a:latin typeface="Cambria"/>
                        </a:rPr>
                        <a:t>)</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Add, then subtract the double-counted overlap</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Addition (exclusive)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1">
                          <a:solidFill>
                            <a:srgbClr val="1C252B"/>
                          </a:solidFill>
                          <a:latin typeface="Cambria"/>
                        </a:rPr>
                        <a:t>P</a:t>
                      </a:r>
                      <a:r>
                        <a:rPr sz="1700" b="0" i="0">
                          <a:solidFill>
                            <a:srgbClr val="1C252B"/>
                          </a:solidFill>
                          <a:latin typeface="Cambria"/>
                        </a:rPr>
                        <a:t>(</a:t>
                      </a:r>
                      <a:r>
                        <a:rPr sz="1700" b="0" i="1">
                          <a:solidFill>
                            <a:srgbClr val="1C252B"/>
                          </a:solidFill>
                          <a:latin typeface="Cambria"/>
                        </a:rPr>
                        <a:t>A</a:t>
                      </a:r>
                      <a:r>
                        <a:rPr sz="1700" b="0" i="0">
                          <a:solidFill>
                            <a:srgbClr val="1C252B"/>
                          </a:solidFill>
                          <a:latin typeface="Cambria"/>
                        </a:rPr>
                        <a:t> ∪ </a:t>
                      </a:r>
                      <a:r>
                        <a:rPr sz="1700" b="0" i="1">
                          <a:solidFill>
                            <a:srgbClr val="1C252B"/>
                          </a:solidFill>
                          <a:latin typeface="Cambria"/>
                        </a:rPr>
                        <a:t>B</a:t>
                      </a:r>
                      <a:r>
                        <a:rPr sz="1700" b="0" i="0">
                          <a:solidFill>
                            <a:srgbClr val="1C252B"/>
                          </a:solidFill>
                          <a:latin typeface="Cambria"/>
                        </a:rPr>
                        <a:t>) = </a:t>
                      </a:r>
                      <a:r>
                        <a:rPr sz="1700" b="0" i="1">
                          <a:solidFill>
                            <a:srgbClr val="1C252B"/>
                          </a:solidFill>
                          <a:latin typeface="Cambria"/>
                        </a:rPr>
                        <a:t>P</a:t>
                      </a:r>
                      <a:r>
                        <a:rPr sz="1700" b="0" i="0">
                          <a:solidFill>
                            <a:srgbClr val="1C252B"/>
                          </a:solidFill>
                          <a:latin typeface="Cambria"/>
                        </a:rPr>
                        <a:t>(</a:t>
                      </a:r>
                      <a:r>
                        <a:rPr sz="1700" b="0" i="1">
                          <a:solidFill>
                            <a:srgbClr val="1C252B"/>
                          </a:solidFill>
                          <a:latin typeface="Cambria"/>
                        </a:rPr>
                        <a:t>A</a:t>
                      </a:r>
                      <a:r>
                        <a:rPr sz="1700" b="0" i="0">
                          <a:solidFill>
                            <a:srgbClr val="1C252B"/>
                          </a:solidFill>
                          <a:latin typeface="Cambria"/>
                        </a:rPr>
                        <a:t>) + </a:t>
                      </a:r>
                      <a:r>
                        <a:rPr sz="1700" b="0" i="1">
                          <a:solidFill>
                            <a:srgbClr val="1C252B"/>
                          </a:solidFill>
                          <a:latin typeface="Cambria"/>
                        </a:rPr>
                        <a:t>P</a:t>
                      </a:r>
                      <a:r>
                        <a:rPr sz="1700" b="0" i="0">
                          <a:solidFill>
                            <a:srgbClr val="1C252B"/>
                          </a:solidFill>
                          <a:latin typeface="Cambria"/>
                        </a:rPr>
                        <a:t>(</a:t>
                      </a:r>
                      <a:r>
                        <a:rPr sz="1700" b="0" i="1">
                          <a:solidFill>
                            <a:srgbClr val="1C252B"/>
                          </a:solidFill>
                          <a:latin typeface="Cambria"/>
                        </a:rPr>
                        <a:t>B</a:t>
                      </a:r>
                      <a:r>
                        <a:rPr sz="1700" b="0" i="0">
                          <a:solidFill>
                            <a:srgbClr val="1C252B"/>
                          </a:solidFill>
                          <a:latin typeface="Cambria"/>
                        </a:rPr>
                        <a: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Valid </a:t>
                      </a:r>
                      <a:r>
                        <a:rPr sz="1700" b="0" i="1">
                          <a:solidFill>
                            <a:srgbClr val="1C252B"/>
                          </a:solidFill>
                          <a:latin typeface="Segoe UI"/>
                        </a:rPr>
                        <a:t>only</a:t>
                      </a:r>
                      <a:r>
                        <a:rPr sz="1700" b="0" i="0">
                          <a:solidFill>
                            <a:srgbClr val="1C252B"/>
                          </a:solidFill>
                          <a:latin typeface="Segoe UI"/>
                        </a:rPr>
                        <a:t> when </a:t>
                      </a:r>
                      <a:r>
                        <a:rPr sz="1700" b="0" i="1">
                          <a:solidFill>
                            <a:srgbClr val="1C252B"/>
                          </a:solidFill>
                          <a:latin typeface="Cambria"/>
                        </a:rPr>
                        <a:t>A</a:t>
                      </a:r>
                      <a:r>
                        <a:rPr sz="1700" b="0" i="0">
                          <a:solidFill>
                            <a:srgbClr val="1C252B"/>
                          </a:solidFill>
                          <a:latin typeface="Segoe UI"/>
                        </a:rPr>
                        <a:t> and </a:t>
                      </a:r>
                      <a:r>
                        <a:rPr sz="1700" b="0" i="1">
                          <a:solidFill>
                            <a:srgbClr val="1C252B"/>
                          </a:solidFill>
                          <a:latin typeface="Cambria"/>
                        </a:rPr>
                        <a:t>B</a:t>
                      </a:r>
                      <a:r>
                        <a:rPr sz="1700" b="0" i="0">
                          <a:solidFill>
                            <a:srgbClr val="1C252B"/>
                          </a:solidFill>
                          <a:latin typeface="Segoe UI"/>
                        </a:rPr>
                        <a:t> cannot both occur</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Multiplication (general)</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1">
                          <a:solidFill>
                            <a:srgbClr val="1C252B"/>
                          </a:solidFill>
                          <a:latin typeface="Cambria"/>
                        </a:rPr>
                        <a:t>P</a:t>
                      </a:r>
                      <a:r>
                        <a:rPr sz="1700" b="0" i="0">
                          <a:solidFill>
                            <a:srgbClr val="1C252B"/>
                          </a:solidFill>
                          <a:latin typeface="Cambria"/>
                        </a:rPr>
                        <a:t>(</a:t>
                      </a:r>
                      <a:r>
                        <a:rPr sz="1700" b="0" i="1">
                          <a:solidFill>
                            <a:srgbClr val="1C252B"/>
                          </a:solidFill>
                          <a:latin typeface="Cambria"/>
                        </a:rPr>
                        <a:t>A</a:t>
                      </a:r>
                      <a:r>
                        <a:rPr sz="1700" b="0" i="0">
                          <a:solidFill>
                            <a:srgbClr val="1C252B"/>
                          </a:solidFill>
                          <a:latin typeface="Cambria"/>
                        </a:rPr>
                        <a:t> ∩ </a:t>
                      </a:r>
                      <a:r>
                        <a:rPr sz="1700" b="0" i="1">
                          <a:solidFill>
                            <a:srgbClr val="1C252B"/>
                          </a:solidFill>
                          <a:latin typeface="Cambria"/>
                        </a:rPr>
                        <a:t>B</a:t>
                      </a:r>
                      <a:r>
                        <a:rPr sz="1700" b="0" i="0">
                          <a:solidFill>
                            <a:srgbClr val="1C252B"/>
                          </a:solidFill>
                          <a:latin typeface="Cambria"/>
                        </a:rPr>
                        <a:t>) = </a:t>
                      </a:r>
                      <a:r>
                        <a:rPr sz="1700" b="0" i="1">
                          <a:solidFill>
                            <a:srgbClr val="1C252B"/>
                          </a:solidFill>
                          <a:latin typeface="Cambria"/>
                        </a:rPr>
                        <a:t>P</a:t>
                      </a:r>
                      <a:r>
                        <a:rPr sz="1700" b="0" i="0">
                          <a:solidFill>
                            <a:srgbClr val="1C252B"/>
                          </a:solidFill>
                          <a:latin typeface="Cambria"/>
                        </a:rPr>
                        <a:t>(</a:t>
                      </a:r>
                      <a:r>
                        <a:rPr sz="1700" b="0" i="1">
                          <a:solidFill>
                            <a:srgbClr val="1C252B"/>
                          </a:solidFill>
                          <a:latin typeface="Cambria"/>
                        </a:rPr>
                        <a:t>A</a:t>
                      </a:r>
                      <a:r>
                        <a:rPr sz="1700" b="0" i="0">
                          <a:solidFill>
                            <a:srgbClr val="1C252B"/>
                          </a:solidFill>
                          <a:latin typeface="Cambria"/>
                        </a:rPr>
                        <a:t>) </a:t>
                      </a:r>
                      <a:r>
                        <a:rPr sz="1700" b="0" i="1">
                          <a:solidFill>
                            <a:srgbClr val="1C252B"/>
                          </a:solidFill>
                          <a:latin typeface="Cambria"/>
                        </a:rPr>
                        <a:t>P</a:t>
                      </a:r>
                      <a:r>
                        <a:rPr sz="1700" b="0" i="0">
                          <a:solidFill>
                            <a:srgbClr val="1C252B"/>
                          </a:solidFill>
                          <a:latin typeface="Cambria"/>
                        </a:rPr>
                        <a:t>(</a:t>
                      </a:r>
                      <a:r>
                        <a:rPr sz="1700" b="0" i="1">
                          <a:solidFill>
                            <a:srgbClr val="1C252B"/>
                          </a:solidFill>
                          <a:latin typeface="Cambria"/>
                        </a:rPr>
                        <a:t>B</a:t>
                      </a:r>
                      <a:r>
                        <a:rPr sz="1700" b="0" i="0">
                          <a:solidFill>
                            <a:srgbClr val="1C252B"/>
                          </a:solidFill>
                          <a:latin typeface="Cambria"/>
                        </a:rPr>
                        <a:t> ∣ </a:t>
                      </a:r>
                      <a:r>
                        <a:rPr sz="1700" b="0" i="1">
                          <a:solidFill>
                            <a:srgbClr val="1C252B"/>
                          </a:solidFill>
                          <a:latin typeface="Cambria"/>
                        </a:rPr>
                        <a:t>A</a:t>
                      </a:r>
                      <a:r>
                        <a:rPr sz="1700" b="0" i="0">
                          <a:solidFill>
                            <a:srgbClr val="1C252B"/>
                          </a:solidFill>
                          <a:latin typeface="Cambria"/>
                        </a:rPr>
                        <a:t>)</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Chance of </a:t>
                      </a:r>
                      <a:r>
                        <a:rPr sz="1700" b="0" i="1">
                          <a:solidFill>
                            <a:srgbClr val="1C252B"/>
                          </a:solidFill>
                          <a:latin typeface="Cambria"/>
                        </a:rPr>
                        <a:t>A</a:t>
                      </a:r>
                      <a:r>
                        <a:rPr sz="1700" b="0" i="0">
                          <a:solidFill>
                            <a:srgbClr val="1C252B"/>
                          </a:solidFill>
                          <a:latin typeface="Segoe UI"/>
                        </a:rPr>
                        <a:t>, then chance of </a:t>
                      </a:r>
                      <a:r>
                        <a:rPr sz="1700" b="0" i="1">
                          <a:solidFill>
                            <a:srgbClr val="1C252B"/>
                          </a:solidFill>
                          <a:latin typeface="Cambria"/>
                        </a:rPr>
                        <a:t>B</a:t>
                      </a:r>
                      <a:r>
                        <a:rPr sz="1700" b="0" i="0">
                          <a:solidFill>
                            <a:srgbClr val="1C252B"/>
                          </a:solidFill>
                          <a:latin typeface="Segoe UI"/>
                        </a:rPr>
                        <a:t> given </a:t>
                      </a:r>
                      <a:r>
                        <a:rPr sz="1700" b="0" i="1">
                          <a:solidFill>
                            <a:srgbClr val="1C252B"/>
                          </a:solidFill>
                          <a:latin typeface="Cambria"/>
                        </a:rPr>
                        <a:t>A</a:t>
                      </a:r>
                      <a:r>
                        <a:rPr sz="1700" b="0" i="0">
                          <a:solidFill>
                            <a:srgbClr val="1C252B"/>
                          </a:solidFill>
                          <a:latin typeface="Segoe UI"/>
                        </a:rPr>
                        <a:t> happened</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Multiplication (independent)</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1">
                          <a:solidFill>
                            <a:srgbClr val="1C252B"/>
                          </a:solidFill>
                          <a:latin typeface="Cambria"/>
                        </a:rPr>
                        <a:t>P</a:t>
                      </a:r>
                      <a:r>
                        <a:rPr sz="1700" b="0" i="0">
                          <a:solidFill>
                            <a:srgbClr val="1C252B"/>
                          </a:solidFill>
                          <a:latin typeface="Cambria"/>
                        </a:rPr>
                        <a:t>(</a:t>
                      </a:r>
                      <a:r>
                        <a:rPr sz="1700" b="0" i="1">
                          <a:solidFill>
                            <a:srgbClr val="1C252B"/>
                          </a:solidFill>
                          <a:latin typeface="Cambria"/>
                        </a:rPr>
                        <a:t>A</a:t>
                      </a:r>
                      <a:r>
                        <a:rPr sz="1700" b="0" i="0">
                          <a:solidFill>
                            <a:srgbClr val="1C252B"/>
                          </a:solidFill>
                          <a:latin typeface="Cambria"/>
                        </a:rPr>
                        <a:t> ∩ </a:t>
                      </a:r>
                      <a:r>
                        <a:rPr sz="1700" b="0" i="1">
                          <a:solidFill>
                            <a:srgbClr val="1C252B"/>
                          </a:solidFill>
                          <a:latin typeface="Cambria"/>
                        </a:rPr>
                        <a:t>B</a:t>
                      </a:r>
                      <a:r>
                        <a:rPr sz="1700" b="0" i="0">
                          <a:solidFill>
                            <a:srgbClr val="1C252B"/>
                          </a:solidFill>
                          <a:latin typeface="Cambria"/>
                        </a:rPr>
                        <a:t>) = </a:t>
                      </a:r>
                      <a:r>
                        <a:rPr sz="1700" b="0" i="1">
                          <a:solidFill>
                            <a:srgbClr val="1C252B"/>
                          </a:solidFill>
                          <a:latin typeface="Cambria"/>
                        </a:rPr>
                        <a:t>P</a:t>
                      </a:r>
                      <a:r>
                        <a:rPr sz="1700" b="0" i="0">
                          <a:solidFill>
                            <a:srgbClr val="1C252B"/>
                          </a:solidFill>
                          <a:latin typeface="Cambria"/>
                        </a:rPr>
                        <a:t>(</a:t>
                      </a:r>
                      <a:r>
                        <a:rPr sz="1700" b="0" i="1">
                          <a:solidFill>
                            <a:srgbClr val="1C252B"/>
                          </a:solidFill>
                          <a:latin typeface="Cambria"/>
                        </a:rPr>
                        <a:t>A</a:t>
                      </a:r>
                      <a:r>
                        <a:rPr sz="1700" b="0" i="0">
                          <a:solidFill>
                            <a:srgbClr val="1C252B"/>
                          </a:solidFill>
                          <a:latin typeface="Cambria"/>
                        </a:rPr>
                        <a:t>) </a:t>
                      </a:r>
                      <a:r>
                        <a:rPr sz="1700" b="0" i="1">
                          <a:solidFill>
                            <a:srgbClr val="1C252B"/>
                          </a:solidFill>
                          <a:latin typeface="Cambria"/>
                        </a:rPr>
                        <a:t>P</a:t>
                      </a:r>
                      <a:r>
                        <a:rPr sz="1700" b="0" i="0">
                          <a:solidFill>
                            <a:srgbClr val="1C252B"/>
                          </a:solidFill>
                          <a:latin typeface="Cambria"/>
                        </a:rPr>
                        <a:t>(</a:t>
                      </a:r>
                      <a:r>
                        <a:rPr sz="1700" b="0" i="1">
                          <a:solidFill>
                            <a:srgbClr val="1C252B"/>
                          </a:solidFill>
                          <a:latin typeface="Cambria"/>
                        </a:rPr>
                        <a:t>B</a:t>
                      </a:r>
                      <a:r>
                        <a:rPr sz="1700" b="0" i="0">
                          <a:solidFill>
                            <a:srgbClr val="1C252B"/>
                          </a:solidFill>
                          <a:latin typeface="Cambria"/>
                        </a:rPr>
                        <a:t>)</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Valid </a:t>
                      </a:r>
                      <a:r>
                        <a:rPr sz="1700" b="0" i="1">
                          <a:solidFill>
                            <a:srgbClr val="1C252B"/>
                          </a:solidFill>
                          <a:latin typeface="Segoe UI"/>
                        </a:rPr>
                        <a:t>only</a:t>
                      </a:r>
                      <a:r>
                        <a:rPr sz="1700" b="0" i="0">
                          <a:solidFill>
                            <a:srgbClr val="1C252B"/>
                          </a:solidFill>
                          <a:latin typeface="Segoe UI"/>
                        </a:rPr>
                        <a:t> when </a:t>
                      </a:r>
                      <a:r>
                        <a:rPr sz="1700" b="0" i="1">
                          <a:solidFill>
                            <a:srgbClr val="1C252B"/>
                          </a:solidFill>
                          <a:latin typeface="Cambria"/>
                        </a:rPr>
                        <a:t>A</a:t>
                      </a:r>
                      <a:r>
                        <a:rPr sz="1700" b="0" i="0">
                          <a:solidFill>
                            <a:srgbClr val="1C252B"/>
                          </a:solidFill>
                          <a:latin typeface="Segoe UI"/>
                        </a:rPr>
                        <a:t> tells you nothing about </a:t>
                      </a:r>
                      <a:r>
                        <a:rPr sz="1700" b="0" i="1">
                          <a:solidFill>
                            <a:srgbClr val="1C252B"/>
                          </a:solidFill>
                          <a:latin typeface="Cambria"/>
                        </a:rPr>
                        <a:t>B</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38533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Two Words That Cause Most Errors</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§6.2  ·  Handout p. 35     </a:t>
            </a:r>
            <a:fld id="{D0967AB0-446D-4154-9899-2A12601CD77B}"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Mutually exclusive</a:t>
            </a:r>
            <a:r>
              <a:rPr sz="2300" b="0" i="0">
                <a:solidFill>
                  <a:srgbClr val="1C252B"/>
                </a:solidFill>
                <a:latin typeface="Segoe UI"/>
              </a:rPr>
              <a:t> and </a:t>
            </a:r>
            <a:r>
              <a:rPr sz="2300" b="0" i="1">
                <a:solidFill>
                  <a:srgbClr val="1C252B"/>
                </a:solidFill>
                <a:latin typeface="Segoe UI"/>
              </a:rPr>
              <a:t>independent</a:t>
            </a:r>
            <a:r>
              <a:rPr sz="2300" b="0" i="0">
                <a:solidFill>
                  <a:srgbClr val="1C252B"/>
                </a:solidFill>
                <a:latin typeface="Segoe UI"/>
              </a:rPr>
              <a:t> are not the same thing and are almost opposites. Mutually exclusive events </a:t>
            </a:r>
            <a:r>
              <a:rPr sz="2300" b="0" i="1">
                <a:solidFill>
                  <a:srgbClr val="1C252B"/>
                </a:solidFill>
                <a:latin typeface="Segoe UI"/>
              </a:rPr>
              <a:t>cannot</a:t>
            </a:r>
            <a:r>
              <a:rPr sz="2300" b="0" i="0">
                <a:solidFill>
                  <a:srgbClr val="1C252B"/>
                </a:solidFill>
                <a:latin typeface="Segoe UI"/>
              </a:rPr>
              <a:t> co-occur, so knowing one happened tells you the other definitely did not — which is the strongest possible </a:t>
            </a:r>
            <a:r>
              <a:rPr sz="2300" b="0" i="1">
                <a:solidFill>
                  <a:srgbClr val="1C252B"/>
                </a:solidFill>
                <a:latin typeface="Segoe UI"/>
              </a:rPr>
              <a:t>dependence</a:t>
            </a:r>
            <a:r>
              <a:rPr sz="2300" b="0" i="0">
                <a:solidFill>
                  <a:srgbClr val="1C252B"/>
                </a:solidFill>
                <a:latin typeface="Segoe UI"/>
              </a:rPr>
              <a:t>. Two mutually exclusive events with non-zero probability are never independent.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65036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Conditional Probability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3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6.3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6.1   Why Probability Is the Language of This Course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6.2   The Rules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6.3   Conditional Probability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6.4   Bayes’ Theorem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6.5   Random Variables and Expected Value</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6.6   The Central Limit Theorem</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§6.3     </a:t>
            </a:r>
            <a:fld id="{416ED9C0-45B1-4587-852E-092EEE093CF6}" type="slidenum">
              <a:rPr lang="en-GB" sz="1000">
                <a:solidFill>
                  <a:srgbClr val="8795A1"/>
                </a:solidFill>
                <a:latin typeface="Segoe UI"/>
              </a:rPr>
              <a:t>11</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91540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Conditional Probability</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§6.3  ·  Handout p. 36     </a:t>
            </a:r>
            <a:fld id="{8F3BAFC5-A9D3-43DD-ABEE-1CF09BFCDE39}"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250729"/>
          </a:xfrm>
          <a:prstGeom prst="roundRect">
            <a:avLst>
              <a:gd name="adj" fmla="val 406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250729"/>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P(A \mid B) \;=\; \frac{P(A \cap B)}{P(B)}, \qquad P(B) &gt; 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739200"/>
          </a:xfrm>
          <a:prstGeom prst="rect">
            <a:avLst/>
          </a:prstGeom>
        </p:spPr>
      </p:pic>
      <p:sp>
        <p:nvSpPr>
          <p:cNvPr id="10" name="body-1"/>
          <p:cNvSpPr txBox="1"/>
          <p:nvPr/>
        </p:nvSpPr>
        <p:spPr>
          <a:xfrm>
            <a:off x="1060704" y="2948111"/>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Read as “the probability of </a:t>
            </a:r>
            <a:r>
              <a:rPr sz="2300" b="0" i="1">
                <a:solidFill>
                  <a:srgbClr val="1C252B"/>
                </a:solidFill>
                <a:latin typeface="Cambria"/>
              </a:rPr>
              <a:t>A</a:t>
            </a:r>
            <a:r>
              <a:rPr sz="2300" b="0" i="0">
                <a:solidFill>
                  <a:srgbClr val="1C252B"/>
                </a:solidFill>
                <a:latin typeface="Segoe UI"/>
              </a:rPr>
              <a:t> </a:t>
            </a:r>
            <a:r>
              <a:rPr sz="2300" b="0" i="1">
                <a:solidFill>
                  <a:srgbClr val="1C252B"/>
                </a:solidFill>
                <a:latin typeface="Segoe UI"/>
              </a:rPr>
              <a:t>given that</a:t>
            </a:r>
            <a:r>
              <a:rPr sz="2300" b="0" i="0">
                <a:solidFill>
                  <a:srgbClr val="1C252B"/>
                </a:solidFill>
                <a:latin typeface="Segoe UI"/>
              </a:rPr>
              <a:t> </a:t>
            </a:r>
            <a:r>
              <a:rPr sz="2300" b="0" i="1">
                <a:solidFill>
                  <a:srgbClr val="1C252B"/>
                </a:solidFill>
                <a:latin typeface="Cambria"/>
              </a:rPr>
              <a:t>B</a:t>
            </a:r>
            <a:r>
              <a:rPr sz="2300" b="0" i="0">
                <a:solidFill>
                  <a:srgbClr val="1C252B"/>
                </a:solidFill>
                <a:latin typeface="Segoe UI"/>
              </a:rPr>
              <a:t> has occurred”. It is the probability of </a:t>
            </a:r>
            <a:r>
              <a:rPr sz="2300" b="0" i="1">
                <a:solidFill>
                  <a:srgbClr val="1C252B"/>
                </a:solidFill>
                <a:latin typeface="Cambria"/>
              </a:rPr>
              <a:t>A</a:t>
            </a:r>
            <a:r>
              <a:rPr sz="2300" b="0" i="0">
                <a:solidFill>
                  <a:srgbClr val="1C252B"/>
                </a:solidFill>
                <a:latin typeface="Segoe UI"/>
              </a:rPr>
              <a:t> within the reduced world in which </a:t>
            </a:r>
            <a:r>
              <a:rPr sz="2300" b="0" i="1">
                <a:solidFill>
                  <a:srgbClr val="1C252B"/>
                </a:solidFill>
                <a:latin typeface="Cambria"/>
              </a:rPr>
              <a:t>B</a:t>
            </a:r>
            <a:r>
              <a:rPr sz="2300" b="0" i="0">
                <a:solidFill>
                  <a:srgbClr val="1C252B"/>
                </a:solidFill>
                <a:latin typeface="Segoe UI"/>
              </a:rPr>
              <a:t> is true.</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18044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Conditioning shrinks the universe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6.1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§6.3  ·  Handout p. 36     </a:t>
            </a:r>
            <a:fld id="{B186E4BD-40FE-4E4D-BB0A-5E3C09222B9D}" type="slidenum">
              <a:rPr lang="en-GB" sz="1000">
                <a:solidFill>
                  <a:srgbClr val="8795A1"/>
                </a:solidFill>
                <a:latin typeface="Segoe UI"/>
              </a:rPr>
              <a:t>13</a:t>
            </a:fld>
          </a:p>
        </p:txBody>
      </p:sp>
      <p:pic>
        <p:nvPicPr>
          <p:cNvPr id="6" name="!!figure" descr="Figure 6.1. Conditioning shrinks the universe. P(A) divides the overlap by everything; P(A ∣ B) divides the same overlap by B alone. Because the denominators differ, P(A ∣ B) and P(B ∣ A) are different numbers — confusing them is the base-rate fallacy."/>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2493" y="1737360"/>
            <a:ext cx="10706708"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P(A) divides the overlap by everything; P(A ∣ B) divides the same overlap by B alone. Because the denominators differ, P(A ∣ B) and P(B ∣ A) are different numbers — confusing them is the base-rate fallacy.</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44547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Bayes’ Theorem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4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6.4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6.1   Why Probability Is the Language of This Course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6.2   The Rules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6.3   Conditional Probability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6.4   Bayes’ Theorem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6.5   Random Variables and Expected Value</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6.6   The Central Limit Theorem</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§6.4     </a:t>
            </a:r>
            <a:fld id="{8833501F-9134-430A-9635-65631F6DA5E6}" type="slidenum">
              <a:rPr lang="en-GB" sz="1000">
                <a:solidFill>
                  <a:srgbClr val="8795A1"/>
                </a:solidFill>
                <a:latin typeface="Segoe UI"/>
              </a:rPr>
              <a:t>14</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71051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Bayes’ Theorem</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36     </a:t>
            </a:r>
            <a:fld id="{74205643-27D8-460E-AAEC-FF3AFB53EEC0}"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947228"/>
          </a:xfrm>
          <a:prstGeom prst="roundRect">
            <a:avLst>
              <a:gd name="adj" fmla="val 310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947228"/>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underbrace{P(A \mid B)}_{\text{posterior}} \;=\; \frac{\overbrace{P(B \mid A)}^{\text{likelihood}} \; \overbrace{P(A)}^{\text{prior}}} {\underbrace{P(B)}_{\text{evidenc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1435699"/>
          </a:xfrm>
          <a:prstGeom prst="rect">
            <a:avLst/>
          </a:prstGeom>
        </p:spPr>
      </p:pic>
      <p:sp>
        <p:nvSpPr>
          <p:cNvPr id="10" name="body-1"/>
          <p:cNvSpPr txBox="1"/>
          <p:nvPr/>
        </p:nvSpPr>
        <p:spPr>
          <a:xfrm>
            <a:off x="1060704" y="3644610"/>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It converts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B</a:t>
            </a:r>
            <a:r>
              <a:rPr sz="2300" b="0" i="0">
                <a:solidFill>
                  <a:srgbClr val="1C252B"/>
                </a:solidFill>
                <a:latin typeface="Cambria"/>
              </a:rPr>
              <a:t> ∣ </a:t>
            </a:r>
            <a:r>
              <a:rPr sz="2300" b="0" i="1">
                <a:solidFill>
                  <a:srgbClr val="1C252B"/>
                </a:solidFill>
                <a:latin typeface="Cambria"/>
              </a:rPr>
              <a:t>A</a:t>
            </a:r>
            <a:r>
              <a:rPr sz="2300" b="0" i="0">
                <a:solidFill>
                  <a:srgbClr val="1C252B"/>
                </a:solidFill>
                <a:latin typeface="Cambria"/>
              </a:rPr>
              <a:t>)</a:t>
            </a:r>
            <a:r>
              <a:rPr sz="2300" b="0" i="0">
                <a:solidFill>
                  <a:srgbClr val="1C252B"/>
                </a:solidFill>
                <a:latin typeface="Segoe UI"/>
              </a:rPr>
              <a:t> — which you can usually measure — into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 ∣ </a:t>
            </a:r>
            <a:r>
              <a:rPr sz="2300" b="0" i="1">
                <a:solidFill>
                  <a:srgbClr val="1C252B"/>
                </a:solidFill>
                <a:latin typeface="Cambria"/>
              </a:rPr>
              <a:t>B</a:t>
            </a:r>
            <a:r>
              <a:rPr sz="2300" b="0" i="0">
                <a:solidFill>
                  <a:srgbClr val="1C252B"/>
                </a:solidFill>
                <a:latin typeface="Cambria"/>
              </a:rPr>
              <a:t>)</a:t>
            </a:r>
            <a:r>
              <a:rPr sz="2300" b="0" i="0">
                <a:solidFill>
                  <a:srgbClr val="1C252B"/>
                </a:solidFill>
                <a:latin typeface="Segoe UI"/>
              </a:rPr>
              <a:t> — which is usually what you actually want to know.</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97555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Base-Rate Fallacy: An Intrusion Detector</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36     </a:t>
            </a:r>
            <a:fld id="{CBF1627D-AA27-4E45-B932-AF55E53CCB31}"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24121"/>
          </a:xfrm>
          <a:prstGeom prst="roundRect">
            <a:avLst>
              <a:gd name="adj" fmla="val 216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2412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 intrusion detection system is tested and found to be excellent:</a:t>
            </a:r>
          </a:p>
        </p:txBody>
      </p:sp>
      <p:sp>
        <p:nvSpPr>
          <p:cNvPr id="10" name="body-1"/>
          <p:cNvSpPr txBox="1"/>
          <p:nvPr/>
        </p:nvSpPr>
        <p:spPr>
          <a:xfrm>
            <a:off x="1042416" y="2445537"/>
            <a:ext cx="10234879" cy="73245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It flags 99% of genuine attacks: </a:t>
            </a:r>
            <a:r>
              <a:rPr sz="1900" b="0" i="1">
                <a:solidFill>
                  <a:srgbClr val="1C252B"/>
                </a:solidFill>
                <a:latin typeface="Cambria"/>
              </a:rPr>
              <a:t>P</a:t>
            </a:r>
            <a:r>
              <a:rPr sz="1900" b="0" i="0">
                <a:solidFill>
                  <a:srgbClr val="1C252B"/>
                </a:solidFill>
                <a:latin typeface="Cambria"/>
              </a:rPr>
              <a:t>(</a:t>
            </a:r>
            <a:r>
              <a:rPr sz="1900" b="0" i="0">
                <a:solidFill>
                  <a:srgbClr val="1C252B"/>
                </a:solidFill>
                <a:latin typeface="Segoe UI"/>
              </a:rPr>
              <a:t>alert</a:t>
            </a:r>
            <a:r>
              <a:rPr sz="1900" b="0" i="0">
                <a:solidFill>
                  <a:srgbClr val="1C252B"/>
                </a:solidFill>
                <a:latin typeface="Cambria"/>
              </a:rPr>
              <a:t> ∣ </a:t>
            </a:r>
            <a:r>
              <a:rPr sz="1900" b="0" i="0">
                <a:solidFill>
                  <a:srgbClr val="1C252B"/>
                </a:solidFill>
                <a:latin typeface="Segoe UI"/>
              </a:rPr>
              <a:t>attack</a:t>
            </a:r>
            <a:r>
              <a:rPr sz="1900" b="0" i="0">
                <a:solidFill>
                  <a:srgbClr val="1C252B"/>
                </a:solidFill>
                <a:latin typeface="Cambria"/>
              </a:rPr>
              <a:t>) = 0.99</a:t>
            </a:r>
            <a:r>
              <a:rPr sz="1900" b="0" i="0">
                <a:solidFill>
                  <a:srgbClr val="1C252B"/>
                </a:solidFill>
                <a:latin typeface="Segoe UI"/>
              </a:rPr>
              <a:t>.</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It has a 1% false alarm rate: </a:t>
            </a:r>
            <a:r>
              <a:rPr sz="1900" b="0" i="1">
                <a:solidFill>
                  <a:srgbClr val="1C252B"/>
                </a:solidFill>
                <a:latin typeface="Cambria"/>
              </a:rPr>
              <a:t>P</a:t>
            </a:r>
            <a:r>
              <a:rPr sz="1900" b="0" i="0">
                <a:solidFill>
                  <a:srgbClr val="1C252B"/>
                </a:solidFill>
                <a:latin typeface="Cambria"/>
              </a:rPr>
              <a:t>(</a:t>
            </a:r>
            <a:r>
              <a:rPr sz="1900" b="0" i="0">
                <a:solidFill>
                  <a:srgbClr val="1C252B"/>
                </a:solidFill>
                <a:latin typeface="Segoe UI"/>
              </a:rPr>
              <a:t>alert</a:t>
            </a:r>
            <a:r>
              <a:rPr sz="1900" b="0" i="0">
                <a:solidFill>
                  <a:srgbClr val="1C252B"/>
                </a:solidFill>
                <a:latin typeface="Cambria"/>
              </a:rPr>
              <a:t> ∣ </a:t>
            </a:r>
            <a:r>
              <a:rPr sz="1900" b="0" i="0">
                <a:solidFill>
                  <a:srgbClr val="1C252B"/>
                </a:solidFill>
                <a:latin typeface="Segoe UI"/>
              </a:rPr>
              <a:t>normal</a:t>
            </a:r>
            <a:r>
              <a:rPr sz="1900" b="0" i="0">
                <a:solidFill>
                  <a:srgbClr val="1C252B"/>
                </a:solidFill>
                <a:latin typeface="Cambria"/>
              </a:rPr>
              <a:t>) = 0.01</a:t>
            </a:r>
            <a:r>
              <a:rPr sz="1900" b="0" i="0">
                <a:solidFill>
                  <a:srgbClr val="1C252B"/>
                </a:solidFill>
                <a:latin typeface="Segoe UI"/>
              </a:rPr>
              <a:t>.</a:t>
            </a:r>
          </a:p>
        </p:txBody>
      </p:sp>
      <p:sp>
        <p:nvSpPr>
          <p:cNvPr id="11" name="body-2"/>
          <p:cNvSpPr txBox="1"/>
          <p:nvPr/>
        </p:nvSpPr>
        <p:spPr>
          <a:xfrm>
            <a:off x="1042416" y="326499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Attacks are rare: 1 session in 10,000 is an attack, so </a:t>
            </a:r>
            <a:r>
              <a:rPr sz="1900" b="0" i="1">
                <a:solidFill>
                  <a:srgbClr val="1C252B"/>
                </a:solidFill>
                <a:latin typeface="Cambria"/>
              </a:rPr>
              <a:t>P</a:t>
            </a:r>
            <a:r>
              <a:rPr sz="1900" b="0" i="0">
                <a:solidFill>
                  <a:srgbClr val="1C252B"/>
                </a:solidFill>
                <a:latin typeface="Cambria"/>
              </a:rPr>
              <a:t>(</a:t>
            </a:r>
            <a:r>
              <a:rPr sz="1900" b="0" i="0">
                <a:solidFill>
                  <a:srgbClr val="1C252B"/>
                </a:solidFill>
                <a:latin typeface="Segoe UI"/>
              </a:rPr>
              <a:t>attack</a:t>
            </a:r>
            <a:r>
              <a:rPr sz="1900" b="0" i="0">
                <a:solidFill>
                  <a:srgbClr val="1C252B"/>
                </a:solidFill>
                <a:latin typeface="Cambria"/>
              </a:rPr>
              <a:t>) = 0.0001</a:t>
            </a:r>
            <a:r>
              <a:rPr sz="1900" b="0" i="0">
                <a:solidFill>
                  <a:srgbClr val="1C252B"/>
                </a:solidFill>
                <a:latin typeface="Segoe UI"/>
              </a:rPr>
              <a:t>.</a:t>
            </a:r>
          </a:p>
        </p:txBody>
      </p:sp>
      <p:sp>
        <p:nvSpPr>
          <p:cNvPr id="12" name="body-3"/>
          <p:cNvSpPr txBox="1"/>
          <p:nvPr/>
        </p:nvSpPr>
        <p:spPr>
          <a:xfrm>
            <a:off x="1042416" y="369884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alert fires. What is the probability this is a real attack?</a:t>
            </a:r>
          </a:p>
        </p:txBody>
      </p:sp>
      <p:sp>
        <p:nvSpPr>
          <p:cNvPr id="13" name="body-3bar">
            <a:extLst>
              <a:ext uri="{C183D7F6-B498-43B3-948B-1728B52AA6E4}">
                <adec:decorative xmlns:adec="http://schemas.microsoft.com/office/drawing/2017/decorative" val="1"/>
              </a:ext>
            </a:extLst>
          </p:cNvPr>
          <p:cNvSpPr/>
          <p:nvPr/>
        </p:nvSpPr>
        <p:spPr>
          <a:xfrm>
            <a:off x="841248" y="371713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body-4"/>
          <p:cNvSpPr txBox="1"/>
          <p:nvPr/>
        </p:nvSpPr>
        <p:spPr>
          <a:xfrm>
            <a:off x="1042416" y="413270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Work with a concrete population of 1,000,000 sessions.</a:t>
            </a:r>
          </a:p>
        </p:txBody>
      </p:sp>
      <p:sp>
        <p:nvSpPr>
          <p:cNvPr id="15" name="body-5"/>
          <p:cNvSpPr txBox="1"/>
          <p:nvPr/>
        </p:nvSpPr>
        <p:spPr>
          <a:xfrm>
            <a:off x="1042416" y="4566564"/>
            <a:ext cx="10234879" cy="73245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Genuine attacks: </a:t>
            </a:r>
            <a:r>
              <a:rPr sz="1900" b="0" i="0">
                <a:solidFill>
                  <a:srgbClr val="1C252B"/>
                </a:solidFill>
                <a:latin typeface="Cambria"/>
              </a:rPr>
              <a:t>1,000,000 × 0.0001 = 100</a:t>
            </a:r>
            <a:r>
              <a:rPr sz="1900" b="0" i="0">
                <a:solidFill>
                  <a:srgbClr val="1C252B"/>
                </a:solidFill>
                <a:latin typeface="Segoe UI"/>
              </a:rPr>
              <a:t>. Of these, </a:t>
            </a:r>
            <a:r>
              <a:rPr sz="1900" b="0" i="0">
                <a:solidFill>
                  <a:srgbClr val="1C252B"/>
                </a:solidFill>
                <a:latin typeface="Cambria"/>
              </a:rPr>
              <a:t>100 × 0.99 = </a:t>
            </a:r>
            <a:r>
              <a:rPr sz="1900" b="1" i="0">
                <a:solidFill>
                  <a:srgbClr val="1C252B"/>
                </a:solidFill>
                <a:latin typeface="Cambria"/>
              </a:rPr>
              <a:t>99</a:t>
            </a:r>
            <a:r>
              <a:rPr sz="1900" b="0" i="0">
                <a:solidFill>
                  <a:srgbClr val="1C252B"/>
                </a:solidFill>
                <a:latin typeface="Segoe UI"/>
              </a:rPr>
              <a:t> are flagged.</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Normal sessions: </a:t>
            </a:r>
            <a:r>
              <a:rPr sz="1900" b="0" i="0">
                <a:solidFill>
                  <a:srgbClr val="1C252B"/>
                </a:solidFill>
                <a:latin typeface="Cambria"/>
              </a:rPr>
              <a:t>999,900</a:t>
            </a:r>
            <a:r>
              <a:rPr sz="1900" b="0" i="0">
                <a:solidFill>
                  <a:srgbClr val="1C252B"/>
                </a:solidFill>
                <a:latin typeface="Segoe UI"/>
              </a:rPr>
              <a:t>. Of these, </a:t>
            </a:r>
            <a:r>
              <a:rPr sz="1900" b="0" i="0">
                <a:solidFill>
                  <a:srgbClr val="1C252B"/>
                </a:solidFill>
                <a:latin typeface="Cambria"/>
              </a:rPr>
              <a:t>999,900 × 0.01 = </a:t>
            </a:r>
            <a:r>
              <a:rPr sz="1900" b="1" i="0">
                <a:solidFill>
                  <a:srgbClr val="1C252B"/>
                </a:solidFill>
                <a:latin typeface="Cambria"/>
              </a:rPr>
              <a:t>9,999</a:t>
            </a:r>
            <a:r>
              <a:rPr sz="1900" b="0" i="0">
                <a:solidFill>
                  <a:srgbClr val="1C252B"/>
                </a:solidFill>
                <a:latin typeface="Segoe UI"/>
              </a:rPr>
              <a:t> are flagged.</a:t>
            </a:r>
          </a:p>
        </p:txBody>
      </p:sp>
      <p:sp>
        <p:nvSpPr>
          <p:cNvPr id="16" name="body-6"/>
          <p:cNvSpPr txBox="1"/>
          <p:nvPr/>
        </p:nvSpPr>
        <p:spPr>
          <a:xfrm>
            <a:off x="1042416" y="538601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Total alerts:</a:t>
            </a:r>
            <a:r>
              <a:rPr sz="1900" b="0" i="0">
                <a:solidFill>
                  <a:srgbClr val="1C252B"/>
                </a:solidFill>
                <a:latin typeface="Segoe UI"/>
              </a:rPr>
              <a:t> </a:t>
            </a:r>
            <a:r>
              <a:rPr sz="1900" b="0" i="0">
                <a:solidFill>
                  <a:srgbClr val="1C252B"/>
                </a:solidFill>
                <a:latin typeface="Cambria"/>
              </a:rPr>
              <a:t>99 + 9,999 = 10,098</a:t>
            </a:r>
            <a:r>
              <a:rPr sz="1900" b="0" i="0">
                <a:solidFill>
                  <a:srgbClr val="1C252B"/>
                </a:solidFill>
                <a:latin typeface="Segoe UI"/>
              </a:rPr>
              <a:t>.</a:t>
            </a:r>
          </a:p>
        </p:txBody>
      </p:sp>
      <p:sp>
        <p:nvSpPr>
          <p:cNvPr id="17" name="body-6bar">
            <a:extLst>
              <a:ext uri="{C183D7F6-B498-43B3-948B-1728B52AA6E4}">
                <adec:decorative xmlns:adec="http://schemas.microsoft.com/office/drawing/2017/decorative" val="1"/>
              </a:ext>
            </a:extLst>
          </p:cNvPr>
          <p:cNvSpPr/>
          <p:nvPr/>
        </p:nvSpPr>
        <p:spPr>
          <a:xfrm>
            <a:off x="841248" y="540430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pfill">
            <a:extLst>
              <a:ext uri="{C183D7F6-B498-43B3-948B-1728B52AA6E4}">
                <adec:decorative xmlns:adec="http://schemas.microsoft.com/office/drawing/2017/decorative" val="1"/>
              </a:ext>
            </a:extLst>
          </p:cNvPr>
          <p:cNvSpPr/>
          <p:nvPr/>
        </p:nvSpPr>
        <p:spPr>
          <a:xfrm>
            <a:off x="0" y="0"/>
            <a:ext cx="424058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ipe(right)">
                                      <p:cBhvr>
                                        <p:cTn id="8" dur="42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right)">
                                      <p:cBhvr>
                                        <p:cTn id="13" dur="42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2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right)">
                                      <p:cBhvr>
                                        <p:cTn id="21" dur="42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5">
                                            <p:txEl>
                                              <p:pRg st="0" end="0"/>
                                            </p:txEl>
                                          </p:spTgt>
                                        </p:tgtEl>
                                        <p:attrNameLst>
                                          <p:attrName>style.visibility</p:attrName>
                                        </p:attrNameLst>
                                      </p:cBhvr>
                                      <p:to>
                                        <p:strVal val="visible"/>
                                      </p:to>
                                    </p:set>
                                    <p:animEffect transition="in" filter="fade">
                                      <p:cBhvr>
                                        <p:cTn id="26" dur="350"/>
                                        <p:tgtEl>
                                          <p:spTgt spid="15">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xEl>
                                              <p:pRg st="1" end="1"/>
                                            </p:txEl>
                                          </p:spTgt>
                                        </p:tgtEl>
                                        <p:attrNameLst>
                                          <p:attrName>style.visibility</p:attrName>
                                        </p:attrNameLst>
                                      </p:cBhvr>
                                      <p:to>
                                        <p:strVal val="visible"/>
                                      </p:to>
                                    </p:set>
                                    <p:animEffect transition="in" filter="fade">
                                      <p:cBhvr>
                                        <p:cTn id="31" dur="350"/>
                                        <p:tgtEl>
                                          <p:spTgt spid="15">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right)">
                                      <p:cBhvr>
                                        <p:cTn id="36" dur="42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Base-Rate Fallacy: An Intrusion Detector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36     </a:t>
            </a:r>
            <a:fld id="{5388CECC-BA16-43FA-9181-723055AB73B2}"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20657"/>
          </a:xfrm>
          <a:prstGeom prst="roundRect">
            <a:avLst>
              <a:gd name="adj" fmla="val 227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2065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P(\text{attack} \mid \text{alert}) \;=\; \frac{99}{10{,}098} \;\approx\; 0.009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580278"/>
          </a:xfrm>
          <a:prstGeom prst="rect">
            <a:avLst/>
          </a:prstGeom>
        </p:spPr>
      </p:pic>
      <p:sp>
        <p:nvSpPr>
          <p:cNvPr id="10" name="body-1"/>
          <p:cNvSpPr txBox="1"/>
          <p:nvPr/>
        </p:nvSpPr>
        <p:spPr>
          <a:xfrm>
            <a:off x="1042416" y="2724673"/>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Under 1%.</a:t>
            </a:r>
            <a:r>
              <a:rPr sz="1900" b="0" i="0">
                <a:solidFill>
                  <a:srgbClr val="1C252B"/>
                </a:solidFill>
                <a:latin typeface="Segoe UI"/>
              </a:rPr>
              <a:t> A detector that catches 99% of attacks produces alerts that are wrong 99% of the time. Nothing is broken — the arithmetic is simply dominated by the </a:t>
            </a:r>
            <a:r>
              <a:rPr sz="1900" b="1" i="0">
                <a:solidFill>
                  <a:srgbClr val="1A5276"/>
                </a:solidFill>
                <a:latin typeface="Segoe UI"/>
              </a:rPr>
              <a:t>base rate</a:t>
            </a:r>
            <a:r>
              <a:rPr sz="1900" b="0" i="0">
                <a:solidFill>
                  <a:srgbClr val="1C252B"/>
                </a:solidFill>
                <a:latin typeface="Segoe UI"/>
              </a:rPr>
              <a:t>. There are so many more normal sessions that even a 1% error on them swamps the true positives.</a:t>
            </a:r>
          </a:p>
        </p:txBody>
      </p:sp>
      <p:sp>
        <p:nvSpPr>
          <p:cNvPr id="11" name="body-1bar">
            <a:extLst>
              <a:ext uri="{C183D7F6-B498-43B3-948B-1728B52AA6E4}">
                <adec:decorative xmlns:adec="http://schemas.microsoft.com/office/drawing/2017/decorative" val="1"/>
              </a:ext>
            </a:extLst>
          </p:cNvPr>
          <p:cNvSpPr/>
          <p:nvPr/>
        </p:nvSpPr>
        <p:spPr>
          <a:xfrm>
            <a:off x="841248" y="2742961"/>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3760815"/>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Consequences you must remember:</a:t>
            </a:r>
          </a:p>
        </p:txBody>
      </p:sp>
      <p:sp>
        <p:nvSpPr>
          <p:cNvPr id="13" name="body-2bar">
            <a:extLst>
              <a:ext uri="{C183D7F6-B498-43B3-948B-1728B52AA6E4}">
                <adec:decorative xmlns:adec="http://schemas.microsoft.com/office/drawing/2017/decorative" val="1"/>
              </a:ext>
            </a:extLst>
          </p:cNvPr>
          <p:cNvSpPr/>
          <p:nvPr/>
        </p:nvSpPr>
        <p:spPr>
          <a:xfrm>
            <a:off x="841248" y="3779103"/>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body-3"/>
          <p:cNvSpPr txBox="1"/>
          <p:nvPr/>
        </p:nvSpPr>
        <p:spPr>
          <a:xfrm>
            <a:off x="1042416" y="4194672"/>
            <a:ext cx="10234879" cy="1334744"/>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This is why security teams suffer alert fatigue, and why reducing the false-positive rate matters far more than raising the detection rate.</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To reach </a:t>
            </a:r>
            <a:r>
              <a:rPr sz="1900" b="0" i="1">
                <a:solidFill>
                  <a:srgbClr val="1C252B"/>
                </a:solidFill>
                <a:latin typeface="Cambria"/>
              </a:rPr>
              <a:t>P</a:t>
            </a:r>
            <a:r>
              <a:rPr sz="1900" b="0" i="0">
                <a:solidFill>
                  <a:srgbClr val="1C252B"/>
                </a:solidFill>
                <a:latin typeface="Cambria"/>
              </a:rPr>
              <a:t>(</a:t>
            </a:r>
            <a:r>
              <a:rPr sz="1900" b="0" i="0">
                <a:solidFill>
                  <a:srgbClr val="1C252B"/>
                </a:solidFill>
                <a:latin typeface="Segoe UI"/>
              </a:rPr>
              <a:t>attack</a:t>
            </a:r>
            <a:r>
              <a:rPr sz="1900" b="0" i="0">
                <a:solidFill>
                  <a:srgbClr val="1C252B"/>
                </a:solidFill>
                <a:latin typeface="Cambria"/>
              </a:rPr>
              <a:t> ∣ </a:t>
            </a:r>
            <a:r>
              <a:rPr sz="1900" b="0" i="0">
                <a:solidFill>
                  <a:srgbClr val="1C252B"/>
                </a:solidFill>
                <a:latin typeface="Segoe UI"/>
              </a:rPr>
              <a:t>alert</a:t>
            </a:r>
            <a:r>
              <a:rPr sz="1900" b="0" i="0">
                <a:solidFill>
                  <a:srgbClr val="1C252B"/>
                </a:solidFill>
                <a:latin typeface="Cambria"/>
              </a:rPr>
              <a:t>) &gt; 0.5</a:t>
            </a:r>
            <a:r>
              <a:rPr sz="1900" b="0" i="0">
                <a:solidFill>
                  <a:srgbClr val="1C252B"/>
                </a:solidFill>
                <a:latin typeface="Segoe UI"/>
              </a:rPr>
              <a:t> here, the false alarm rate must fall to about </a:t>
            </a:r>
            <a:r>
              <a:rPr sz="1900" b="0" i="0">
                <a:solidFill>
                  <a:srgbClr val="1C252B"/>
                </a:solidFill>
                <a:latin typeface="Cambria"/>
              </a:rPr>
              <a:t>0.0001</a:t>
            </a:r>
            <a:r>
              <a:rPr sz="1900" b="0" i="0">
                <a:solidFill>
                  <a:srgbClr val="1C252B"/>
                </a:solidFill>
                <a:latin typeface="Segoe UI"/>
              </a:rPr>
              <a:t> — a hundredfold improvement.</a:t>
            </a:r>
          </a:p>
        </p:txBody>
      </p:sp>
      <p:sp>
        <p:nvSpPr>
          <p:cNvPr id="3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pfill">
            <a:extLst>
              <a:ext uri="{C183D7F6-B498-43B3-948B-1728B52AA6E4}">
                <adec:decorative xmlns:adec="http://schemas.microsoft.com/office/drawing/2017/decorative" val="1"/>
              </a:ext>
            </a:extLst>
          </p:cNvPr>
          <p:cNvSpPr/>
          <p:nvPr/>
        </p:nvSpPr>
        <p:spPr>
          <a:xfrm>
            <a:off x="0" y="0"/>
            <a:ext cx="450562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right)">
                                      <p:cBhvr>
                                        <p:cTn id="21" dur="42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2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xEl>
                                              <p:pRg st="0" end="0"/>
                                            </p:txEl>
                                          </p:spTgt>
                                        </p:tgtEl>
                                        <p:attrNameLst>
                                          <p:attrName>style.visibility</p:attrName>
                                        </p:attrNameLst>
                                      </p:cBhvr>
                                      <p:to>
                                        <p:strVal val="visible"/>
                                      </p:to>
                                    </p:set>
                                    <p:animEffect transition="in" filter="fade">
                                      <p:cBhvr>
                                        <p:cTn id="29" dur="350"/>
                                        <p:tgtEl>
                                          <p:spTgt spid="14">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4">
                                            <p:txEl>
                                              <p:pRg st="1" end="1"/>
                                            </p:txEl>
                                          </p:spTgt>
                                        </p:tgtEl>
                                        <p:attrNameLst>
                                          <p:attrName>style.visibility</p:attrName>
                                        </p:attrNameLst>
                                      </p:cBhvr>
                                      <p:to>
                                        <p:strVal val="visible"/>
                                      </p:to>
                                    </p:set>
                                    <p:animEffect transition="in" filter="fade">
                                      <p:cBhvr>
                                        <p:cTn id="34" dur="35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Base-Rate Fallacy: An Intrusion Detector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36     </a:t>
            </a:r>
            <a:fld id="{045C7914-FEEC-4575-A7C3-BE93E4382946}"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150924"/>
          </a:xfrm>
          <a:prstGeom prst="roundRect">
            <a:avLst>
              <a:gd name="adj" fmla="val 794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1509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The same arithmetic governs medical screening, plagiarism detection and every rare-event problem you will meet. Chapter 14 formalises it as </a:t>
            </a:r>
            <a:r>
              <a:rPr sz="1900" b="0" i="1">
                <a:solidFill>
                  <a:srgbClr val="1C252B"/>
                </a:solidFill>
                <a:latin typeface="Segoe UI"/>
              </a:rPr>
              <a:t>precision</a:t>
            </a:r>
            <a:r>
              <a:rPr sz="19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77066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rare-event detection is hard</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6.2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36     </a:t>
            </a:r>
            <a:fld id="{1412BC89-BB57-4FA3-8532-CE17FD0FDCB4}" type="slidenum">
              <a:rPr lang="en-GB" sz="1000">
                <a:solidFill>
                  <a:srgbClr val="8795A1"/>
                </a:solidFill>
                <a:latin typeface="Segoe UI"/>
              </a:rPr>
              <a:t>19</a:t>
            </a:fld>
          </a:p>
        </p:txBody>
      </p:sp>
      <p:pic>
        <p:nvPicPr>
          <p:cNvPr id="6" name="!!figure" descr="Figure 6.2. Why rare-event detection is hard. Detection rate is held at 99% throughout; only the false alarm rate changes. At a base rate of 1 in 10,000 even a 0.1% false alarm rate leaves most alerts wrong. This single figure explains the design of every alerting system in Chapter 2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86942" y="1737360"/>
            <a:ext cx="7617810" cy="347106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91302"/>
            <a:ext cx="54864" cy="844905"/>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373014"/>
            <a:ext cx="10600639" cy="102778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Detection rate is held at 99% throughout; only the false alarm rate changes. At a base rate of 1 in 10,000 even a 0.1% false alarm rate leaves most alerts wrong. This single figure explains the design of every alerting system in Chapter 26.</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03570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Random Variables and Expected Value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5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6.5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6.1   Why Probability Is the Language of This Course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6.2   The Rules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6.3   Conditional Probability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6.4   Bayes’ Theorem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6.5   Random Variables and Expected Value</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6.6   The Central Limit Theorem</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§6.5     </a:t>
            </a:r>
            <a:fld id="{3414A993-116B-4C4A-BBF6-F2631B86B23A}" type="slidenum">
              <a:rPr lang="en-GB" sz="1000">
                <a:solidFill>
                  <a:srgbClr val="8795A1"/>
                </a:solidFill>
                <a:latin typeface="Segoe UI"/>
              </a:rPr>
              <a:t>20</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30073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Random Variable and Expected Value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§6.5  ·  Handout p. 37     </a:t>
            </a:r>
            <a:fld id="{B9505F66-2BE1-4A00-8C2F-1506EAECEFC0}"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28777"/>
          </a:xfrm>
          <a:prstGeom prst="roundRect">
            <a:avLst>
              <a:gd name="adj" fmla="val 323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28777"/>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random variable</a:t>
            </a:r>
            <a:r>
              <a:rPr sz="2300" b="0" i="0">
                <a:solidFill>
                  <a:srgbClr val="1C252B"/>
                </a:solidFill>
                <a:latin typeface="Segoe UI"/>
              </a:rPr>
              <a:t> </a:t>
            </a:r>
            <a:r>
              <a:rPr sz="2300" b="0" i="1">
                <a:solidFill>
                  <a:srgbClr val="1C252B"/>
                </a:solidFill>
                <a:latin typeface="Cambria"/>
              </a:rPr>
              <a:t>X</a:t>
            </a:r>
            <a:r>
              <a:rPr sz="2300" b="0" i="0">
                <a:solidFill>
                  <a:srgbClr val="1C252B"/>
                </a:solidFill>
                <a:latin typeface="Segoe UI"/>
              </a:rPr>
              <a:t> assigns a number to each outcome. Its </a:t>
            </a:r>
            <a:r>
              <a:rPr sz="2300" b="1" i="0">
                <a:solidFill>
                  <a:srgbClr val="1A5276"/>
                </a:solidFill>
                <a:latin typeface="Segoe UI"/>
              </a:rPr>
              <a:t>expected value</a:t>
            </a:r>
            <a:r>
              <a:rPr sz="2300" b="0" i="0">
                <a:solidFill>
                  <a:srgbClr val="1C252B"/>
                </a:solidFill>
                <a:latin typeface="Segoe UI"/>
              </a:rPr>
              <a:t> is the long-run average,</a:t>
            </a:r>
          </a:p>
        </p:txBody>
      </p:sp>
      <p:pic>
        <p:nvPicPr>
          <p:cNvPr id="10" name="body-1" descr="E[X] \;=\; \sum_{k} k \cdot P(X = k)"/>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792053"/>
          </a:xfrm>
          <a:prstGeom prst="rect">
            <a:avLst/>
          </a:prstGeom>
        </p:spPr>
      </p:pic>
      <p:sp>
        <p:nvSpPr>
          <p:cNvPr id="11" name="body-2"/>
          <p:cNvSpPr txBox="1"/>
          <p:nvPr/>
        </p:nvSpPr>
        <p:spPr>
          <a:xfrm>
            <a:off x="1060704" y="3890700"/>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 each possible value weighted by how often it occurs.</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56577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Is the Alert Worth Investigating?</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§6.5  ·  Handout p. 37     </a:t>
            </a:r>
            <a:fld id="{A75E34A0-0733-4DD5-A516-AF9DCC0C2D3F}"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17111"/>
          </a:xfrm>
          <a:prstGeom prst="roundRect">
            <a:avLst>
              <a:gd name="adj" fmla="val 211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1711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Each investigation costs 20 minutes of analyst time. A missed attack costs an estimated 40 hours of incident response. Using the numbers above, </a:t>
            </a:r>
            <a:r>
              <a:rPr sz="2100" b="0" i="1">
                <a:solidFill>
                  <a:srgbClr val="1C252B"/>
                </a:solidFill>
                <a:latin typeface="Cambria"/>
              </a:rPr>
              <a:t>P</a:t>
            </a:r>
            <a:r>
              <a:rPr sz="2100" b="0" i="0">
                <a:solidFill>
                  <a:srgbClr val="1C252B"/>
                </a:solidFill>
                <a:latin typeface="Cambria"/>
              </a:rPr>
              <a:t>(</a:t>
            </a:r>
            <a:r>
              <a:rPr sz="2100" b="0" i="0">
                <a:solidFill>
                  <a:srgbClr val="1C252B"/>
                </a:solidFill>
                <a:latin typeface="Segoe UI"/>
              </a:rPr>
              <a:t>attack</a:t>
            </a:r>
            <a:r>
              <a:rPr sz="2100" b="0" i="0">
                <a:solidFill>
                  <a:srgbClr val="1C252B"/>
                </a:solidFill>
                <a:latin typeface="Cambria"/>
              </a:rPr>
              <a:t> ∣ </a:t>
            </a:r>
            <a:r>
              <a:rPr sz="2100" b="0" i="0">
                <a:solidFill>
                  <a:srgbClr val="1C252B"/>
                </a:solidFill>
                <a:latin typeface="Segoe UI"/>
              </a:rPr>
              <a:t>alert</a:t>
            </a:r>
            <a:r>
              <a:rPr sz="2100" b="0" i="0">
                <a:solidFill>
                  <a:srgbClr val="1C252B"/>
                </a:solidFill>
                <a:latin typeface="Cambria"/>
              </a:rPr>
              <a:t>) = 0.0098</a:t>
            </a:r>
            <a:r>
              <a:rPr sz="2100" b="0" i="0">
                <a:solidFill>
                  <a:srgbClr val="1C252B"/>
                </a:solidFill>
                <a:latin typeface="Segoe UI"/>
              </a:rPr>
              <a:t>.</a:t>
            </a:r>
          </a:p>
        </p:txBody>
      </p:sp>
      <p:sp>
        <p:nvSpPr>
          <p:cNvPr id="10" name="body-1"/>
          <p:cNvSpPr txBox="1"/>
          <p:nvPr/>
        </p:nvSpPr>
        <p:spPr>
          <a:xfrm>
            <a:off x="1042416" y="3156889"/>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Expected cost of investigating:</a:t>
            </a:r>
            <a:r>
              <a:rPr sz="2100" b="0" i="0">
                <a:solidFill>
                  <a:srgbClr val="1C252B"/>
                </a:solidFill>
                <a:latin typeface="Segoe UI"/>
              </a:rPr>
              <a:t> 20 minutes, always.</a:t>
            </a:r>
          </a:p>
        </p:txBody>
      </p:sp>
      <p:sp>
        <p:nvSpPr>
          <p:cNvPr id="11" name="body-2"/>
          <p:cNvSpPr txBox="1"/>
          <p:nvPr/>
        </p:nvSpPr>
        <p:spPr>
          <a:xfrm>
            <a:off x="1042416" y="3636416"/>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Expected cost of ignoring:</a:t>
            </a:r>
            <a:r>
              <a:rPr sz="2100" b="0" i="0">
                <a:solidFill>
                  <a:srgbClr val="1C252B"/>
                </a:solidFill>
                <a:latin typeface="Segoe UI"/>
              </a:rPr>
              <a:t> </a:t>
            </a:r>
            <a:r>
              <a:rPr sz="2100" b="0" i="0">
                <a:solidFill>
                  <a:srgbClr val="1C252B"/>
                </a:solidFill>
                <a:latin typeface="Cambria"/>
              </a:rPr>
              <a:t>0.0098 × 2400 </a:t>
            </a:r>
            <a:r>
              <a:rPr sz="2100" b="0" i="0">
                <a:solidFill>
                  <a:srgbClr val="1C252B"/>
                </a:solidFill>
                <a:latin typeface="Segoe UI"/>
              </a:rPr>
              <a:t>min</a:t>
            </a:r>
            <a:r>
              <a:rPr sz="2100" b="0" i="0">
                <a:solidFill>
                  <a:srgbClr val="1C252B"/>
                </a:solidFill>
                <a:latin typeface="Cambria"/>
              </a:rPr>
              <a:t> + 0.9902 × 0 = 23.5</a:t>
            </a:r>
            <a:r>
              <a:rPr sz="2100" b="0" i="0">
                <a:solidFill>
                  <a:srgbClr val="1C252B"/>
                </a:solidFill>
                <a:latin typeface="Segoe UI"/>
              </a:rPr>
              <a:t> minutes.</a:t>
            </a:r>
          </a:p>
        </p:txBody>
      </p:sp>
      <p:sp>
        <p:nvSpPr>
          <p:cNvPr id="12" name="body-3"/>
          <p:cNvSpPr txBox="1"/>
          <p:nvPr/>
        </p:nvSpPr>
        <p:spPr>
          <a:xfrm>
            <a:off x="1042416" y="4115943"/>
            <a:ext cx="10234879" cy="1709928"/>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Conclusion:</a:t>
            </a:r>
            <a:r>
              <a:rPr sz="2100" b="0" i="0">
                <a:solidFill>
                  <a:srgbClr val="1C252B"/>
                </a:solidFill>
                <a:latin typeface="Segoe UI"/>
              </a:rPr>
              <a:t> investigate — but only just. The margin is 3.5 minutes per alert, so a modest rise in the false alarm rate would flip the decision and make the detector actively harmful to deploy. Expected value turns “is this model good enough?” from an opinion into an arithmetic question, which is exactly how it should be presented to the people funding the work.</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583081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Central Limit Theorem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6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6.6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6.1   Why Probability Is the Language of This Course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6.2   The Rules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6.3   Conditional Probability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6.4   Bayes’ Theorem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6.5   Random Variables and Expected Value</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6.6   The Central Limit Theorem</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§6.6     </a:t>
            </a:r>
            <a:fld id="{AE77CC79-6730-482F-922A-9661E186528F}" type="slidenum">
              <a:rPr lang="en-GB" sz="1000">
                <a:solidFill>
                  <a:srgbClr val="8795A1"/>
                </a:solidFill>
                <a:latin typeface="Segoe UI"/>
              </a:rPr>
              <a:t>23</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Central Limit Theorem (CLT)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  ·  Handout p. 38     </a:t>
            </a:r>
            <a:fld id="{2DEBCFE0-4876-478E-A20F-4085B4611491}"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Take samples of size </a:t>
            </a:r>
            <a:r>
              <a:rPr sz="2300" b="0" i="1">
                <a:solidFill>
                  <a:srgbClr val="1C252B"/>
                </a:solidFill>
                <a:latin typeface="Cambria"/>
              </a:rPr>
              <a:t>n</a:t>
            </a:r>
            <a:r>
              <a:rPr sz="2300" b="0" i="0">
                <a:solidFill>
                  <a:srgbClr val="1C252B"/>
                </a:solidFill>
                <a:latin typeface="Segoe UI"/>
              </a:rPr>
              <a:t> from </a:t>
            </a:r>
            <a:r>
              <a:rPr sz="2300" b="0" i="1">
                <a:solidFill>
                  <a:srgbClr val="1C252B"/>
                </a:solidFill>
                <a:latin typeface="Segoe UI"/>
              </a:rPr>
              <a:t>any</a:t>
            </a:r>
            <a:r>
              <a:rPr sz="2300" b="0" i="0">
                <a:solidFill>
                  <a:srgbClr val="1C252B"/>
                </a:solidFill>
                <a:latin typeface="Segoe UI"/>
              </a:rPr>
              <a:t> distribution with a finite mean </a:t>
            </a:r>
            <a:r>
              <a:rPr sz="2300" b="0" i="0">
                <a:solidFill>
                  <a:srgbClr val="1C252B"/>
                </a:solidFill>
                <a:latin typeface="Cambria"/>
              </a:rPr>
              <a:t>μ</a:t>
            </a:r>
            <a:r>
              <a:rPr sz="2300" b="0" i="0">
                <a:solidFill>
                  <a:srgbClr val="1C252B"/>
                </a:solidFill>
                <a:latin typeface="Segoe UI"/>
              </a:rPr>
              <a:t> and standard deviation </a:t>
            </a:r>
            <a:r>
              <a:rPr sz="2300" b="0" i="0">
                <a:solidFill>
                  <a:srgbClr val="1C252B"/>
                </a:solidFill>
                <a:latin typeface="Cambria"/>
              </a:rPr>
              <a:t>σ</a:t>
            </a:r>
            <a:r>
              <a:rPr sz="2300" b="0" i="0">
                <a:solidFill>
                  <a:srgbClr val="1C252B"/>
                </a:solidFill>
                <a:latin typeface="Segoe UI"/>
              </a:rPr>
              <a:t>. As </a:t>
            </a:r>
            <a:r>
              <a:rPr sz="2300" b="0" i="1">
                <a:solidFill>
                  <a:srgbClr val="1C252B"/>
                </a:solidFill>
                <a:latin typeface="Cambria"/>
              </a:rPr>
              <a:t>n</a:t>
            </a:r>
            <a:r>
              <a:rPr sz="2300" b="0" i="0">
                <a:solidFill>
                  <a:srgbClr val="1C252B"/>
                </a:solidFill>
                <a:latin typeface="Segoe UI"/>
              </a:rPr>
              <a:t> grows, the distribution of the </a:t>
            </a:r>
            <a:r>
              <a:rPr sz="2300" b="0" i="1">
                <a:solidFill>
                  <a:srgbClr val="1C252B"/>
                </a:solidFill>
                <a:latin typeface="Segoe UI"/>
              </a:rPr>
              <a:t>sample mean</a:t>
            </a:r>
            <a:r>
              <a:rPr sz="2300" b="0" i="0">
                <a:solidFill>
                  <a:srgbClr val="1C252B"/>
                </a:solidFill>
                <a:latin typeface="Segoe UI"/>
              </a:rPr>
              <a:t> approaches a normal distribution with mean </a:t>
            </a:r>
            <a:r>
              <a:rPr sz="2300" b="0" i="0">
                <a:solidFill>
                  <a:srgbClr val="1C252B"/>
                </a:solidFill>
                <a:latin typeface="Cambria"/>
              </a:rPr>
              <a:t>μ</a:t>
            </a:r>
            <a:r>
              <a:rPr sz="2300" b="0" i="0">
                <a:solidFill>
                  <a:srgbClr val="1C252B"/>
                </a:solidFill>
                <a:latin typeface="Segoe UI"/>
              </a:rPr>
              <a:t> and standard deviation </a:t>
            </a:r>
            <a:r>
              <a:rPr sz="2300" b="0" i="0">
                <a:solidFill>
                  <a:srgbClr val="1C252B"/>
                </a:solidFill>
                <a:latin typeface="Cambria"/>
              </a:rPr>
              <a:t>σ/√</a:t>
            </a:r>
            <a:r>
              <a:rPr sz="2300" b="0" i="1">
                <a:solidFill>
                  <a:srgbClr val="1C252B"/>
                </a:solidFill>
                <a:latin typeface="Cambria"/>
              </a:rPr>
              <a:t>n</a:t>
            </a:r>
            <a:r>
              <a:rPr sz="2300" b="0" i="0">
                <a:solidFill>
                  <a:srgbClr val="1C252B"/>
                </a:solidFill>
                <a:latin typeface="Segoe UI"/>
              </a:rPr>
              <a:t> — regardless of the shape of the original distribution.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36088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Central Limit Theorem at work</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6.3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  ·  Handout p. 38     </a:t>
            </a:r>
            <a:fld id="{A6DBC32D-6FA3-4294-9670-3180CC063091}" type="slidenum">
              <a:rPr lang="en-GB" sz="1000">
                <a:solidFill>
                  <a:srgbClr val="8795A1"/>
                </a:solidFill>
                <a:latin typeface="Segoe UI"/>
              </a:rPr>
              <a:t>25</a:t>
            </a:fld>
          </a:p>
        </p:txBody>
      </p:sp>
      <p:pic>
        <p:nvPicPr>
          <p:cNvPr id="6" name="!!figure" descr="Figure 6.3. The Central Limit Theorem at work. The population (left) is heavily skewed, yet the distribution of sample means becomes normal and progressively narrower as n grows. The spread shrinks as σ/√n — quadrupling the sample halves the uncertainty."/>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00019"/>
            <a:ext cx="10874959" cy="254157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91302"/>
            <a:ext cx="54864" cy="844905"/>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373014"/>
            <a:ext cx="10600639" cy="102778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population (left) is heavily skewed, yet the distribution of sample means becomes normal and progressively narrower as n grows. The spread shrinks as σ/√n — quadrupling the sample halves the uncertainty.</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662592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the CLT Is the Most Useful Theorem in the Course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  ·  Handout p. 38     </a:t>
            </a:r>
            <a:fld id="{1520BB24-5A3A-4386-8882-AC902212918B}" type="slidenum">
              <a:rPr lang="en-GB" sz="1000">
                <a:solidFill>
                  <a:srgbClr val="8795A1"/>
                </a:solidFill>
                <a:latin typeface="Segoe UI"/>
              </a:rPr>
              <a:t>26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8773"/>
          </a:xfrm>
          <a:prstGeom prst="roundRect">
            <a:avLst>
              <a:gd name="adj" fmla="val 247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877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It means you can put a confidence interval around an average, and run a hypothesis test, </a:t>
            </a:r>
            <a:r>
              <a:rPr sz="2300" b="0" i="1">
                <a:solidFill>
                  <a:srgbClr val="1C252B"/>
                </a:solidFill>
                <a:latin typeface="Segoe UI"/>
              </a:rPr>
              <a:t>without knowing the shape of the underlying data</a:t>
            </a:r>
            <a:r>
              <a:rPr sz="2300" b="0" i="0">
                <a:solidFill>
                  <a:srgbClr val="1C252B"/>
                </a:solidFill>
                <a:latin typeface="Segoe UI"/>
              </a:rPr>
              <a:t>. Response times are wildly skewed; the average of 200 response times is nevertheless approximately normal, so the standard tools apply. That is the entire licence on which Chapter 9 operates.</a:t>
            </a:r>
          </a:p>
        </p:txBody>
      </p:sp>
      <p:sp>
        <p:nvSpPr>
          <p:cNvPr id="10" name="body-1"/>
          <p:cNvSpPr txBox="1"/>
          <p:nvPr/>
        </p:nvSpPr>
        <p:spPr>
          <a:xfrm>
            <a:off x="1060704" y="403161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Note also the </a:t>
            </a:r>
            <a:r>
              <a:rPr sz="2300" b="0" i="0">
                <a:solidFill>
                  <a:srgbClr val="1C252B"/>
                </a:solidFill>
                <a:latin typeface="Cambria"/>
              </a:rPr>
              <a:t>√</a:t>
            </a:r>
            <a:r>
              <a:rPr sz="2300" b="0" i="1">
                <a:solidFill>
                  <a:srgbClr val="1C252B"/>
                </a:solidFill>
                <a:latin typeface="Cambria"/>
              </a:rPr>
              <a:t>n</a:t>
            </a:r>
            <a:r>
              <a:rPr sz="2300" b="0" i="0">
                <a:solidFill>
                  <a:srgbClr val="1C252B"/>
                </a:solidFill>
                <a:latin typeface="Segoe UI"/>
              </a:rPr>
              <a:t>: to halve your uncertainty you need </a:t>
            </a:r>
            <a:r>
              <a:rPr sz="2300" b="0" i="1">
                <a:solidFill>
                  <a:srgbClr val="1C252B"/>
                </a:solidFill>
                <a:latin typeface="Segoe UI"/>
              </a:rPr>
              <a:t>four times</a:t>
            </a:r>
            <a:r>
              <a:rPr sz="2300" b="0" i="0">
                <a:solidFill>
                  <a:srgbClr val="1C252B"/>
                </a:solidFill>
                <a:latin typeface="Segoe UI"/>
              </a:rPr>
              <a:t> the data. This is why “just collect more data” has sharply diminishing returns, and why it is worth knowing before you promise a stakeholder anything.</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689095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  ·  Handout p. 38     </a:t>
            </a:r>
            <a:fld id="{BA12432E-18A3-44FF-B6DE-0351706805D7}" type="slidenum">
              <a:rPr lang="en-GB" sz="1000">
                <a:solidFill>
                  <a:srgbClr val="8795A1"/>
                </a:solidFill>
                <a:latin typeface="Segoe UI"/>
              </a:rPr>
              <a:t>27</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Confusing </a:t>
            </a:r>
            <a:r>
              <a:rPr sz="2100" b="1" i="1">
                <a:solidFill>
                  <a:srgbClr val="1C252B"/>
                </a:solidFill>
                <a:latin typeface="Cambria"/>
              </a:rPr>
              <a:t>P</a:t>
            </a:r>
            <a:r>
              <a:rPr sz="2100" b="1" i="0">
                <a:solidFill>
                  <a:srgbClr val="1C252B"/>
                </a:solidFill>
                <a:latin typeface="Cambria"/>
              </a:rPr>
              <a:t>(</a:t>
            </a:r>
            <a:r>
              <a:rPr sz="2100" b="1" i="1">
                <a:solidFill>
                  <a:srgbClr val="1C252B"/>
                </a:solidFill>
                <a:latin typeface="Cambria"/>
              </a:rPr>
              <a:t>A</a:t>
            </a:r>
            <a:r>
              <a:rPr sz="2100" b="1" i="0">
                <a:solidFill>
                  <a:srgbClr val="1C252B"/>
                </a:solidFill>
                <a:latin typeface="Cambria"/>
              </a:rPr>
              <a:t> ∣ </a:t>
            </a:r>
            <a:r>
              <a:rPr sz="2100" b="1" i="1">
                <a:solidFill>
                  <a:srgbClr val="1C252B"/>
                </a:solidFill>
                <a:latin typeface="Cambria"/>
              </a:rPr>
              <a:t>B</a:t>
            </a:r>
            <a:r>
              <a:rPr sz="2100" b="1" i="0">
                <a:solidFill>
                  <a:srgbClr val="1C252B"/>
                </a:solidFill>
                <a:latin typeface="Cambria"/>
              </a:rPr>
              <a:t>)</a:t>
            </a:r>
            <a:r>
              <a:rPr sz="2100" b="1" i="0">
                <a:solidFill>
                  <a:srgbClr val="1C252B"/>
                </a:solidFill>
                <a:latin typeface="Segoe UI"/>
              </a:rPr>
              <a:t> with </a:t>
            </a:r>
            <a:r>
              <a:rPr sz="2100" b="1" i="1">
                <a:solidFill>
                  <a:srgbClr val="1C252B"/>
                </a:solidFill>
                <a:latin typeface="Cambria"/>
              </a:rPr>
              <a:t>P</a:t>
            </a:r>
            <a:r>
              <a:rPr sz="2100" b="1" i="0">
                <a:solidFill>
                  <a:srgbClr val="1C252B"/>
                </a:solidFill>
                <a:latin typeface="Cambria"/>
              </a:rPr>
              <a:t>(</a:t>
            </a:r>
            <a:r>
              <a:rPr sz="2100" b="1" i="1">
                <a:solidFill>
                  <a:srgbClr val="1C252B"/>
                </a:solidFill>
                <a:latin typeface="Cambria"/>
              </a:rPr>
              <a:t>B</a:t>
            </a:r>
            <a:r>
              <a:rPr sz="2100" b="1" i="0">
                <a:solidFill>
                  <a:srgbClr val="1C252B"/>
                </a:solidFill>
                <a:latin typeface="Cambria"/>
              </a:rPr>
              <a:t> ∣ </a:t>
            </a:r>
            <a:r>
              <a:rPr sz="2100" b="1" i="1">
                <a:solidFill>
                  <a:srgbClr val="1C252B"/>
                </a:solidFill>
                <a:latin typeface="Cambria"/>
              </a:rPr>
              <a:t>A</a:t>
            </a:r>
            <a:r>
              <a:rPr sz="2100" b="1" i="0">
                <a:solidFill>
                  <a:srgbClr val="1C252B"/>
                </a:solidFill>
                <a:latin typeface="Cambria"/>
              </a:rPr>
              <a:t>)</a:t>
            </a:r>
            <a:r>
              <a:rPr sz="2100" b="1" i="0">
                <a:solidFill>
                  <a:srgbClr val="1C252B"/>
                </a:solidFill>
                <a:latin typeface="Segoe UI"/>
              </a:rPr>
              <a:t>.</a:t>
            </a:r>
            <a:r>
              <a:rPr sz="2100" b="0" i="0">
                <a:solidFill>
                  <a:srgbClr val="1C252B"/>
                </a:solidFill>
                <a:latin typeface="Segoe UI"/>
              </a:rPr>
              <a:t> “99% of attacks trigger an alert” is not “99% of alerts are attacks”. See Figure 6.2.</a:t>
            </a:r>
          </a:p>
        </p:txBody>
      </p:sp>
      <p:sp>
        <p:nvSpPr>
          <p:cNvPr id="10" name="!!pb1">
            <a:extLst>
              <a:ext uri="{C183D7F6-B498-43B3-948B-1728B52AA6E4}">
                <adec:decorative xmlns:adec="http://schemas.microsoft.com/office/drawing/2017/decorative" val="1"/>
              </a:ext>
            </a:extLst>
          </p:cNvPr>
          <p:cNvSpPr/>
          <p:nvPr/>
        </p:nvSpPr>
        <p:spPr>
          <a:xfrm>
            <a:off x="658368" y="26224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453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604211"/>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Multiplying probabilities that are not independent.</a:t>
            </a:r>
            <a:r>
              <a:rPr sz="2100" b="0" i="0">
                <a:solidFill>
                  <a:srgbClr val="1C252B"/>
                </a:solidFill>
                <a:latin typeface="Segoe UI"/>
              </a:rPr>
              <a:t> Two sensors on the same power supply do not fail independently, so </a:t>
            </a:r>
            <a:r>
              <a:rPr sz="2100" b="0" i="1">
                <a:solidFill>
                  <a:srgbClr val="1C252B"/>
                </a:solidFill>
                <a:latin typeface="Cambria"/>
              </a:rPr>
              <a:t>P</a:t>
            </a:r>
            <a:r>
              <a:rPr sz="2100" b="0" i="0">
                <a:solidFill>
                  <a:srgbClr val="1C252B"/>
                </a:solidFill>
                <a:latin typeface="Cambria"/>
              </a:rPr>
              <a:t>(</a:t>
            </a:r>
            <a:r>
              <a:rPr sz="2100" b="0" i="0">
                <a:solidFill>
                  <a:srgbClr val="1C252B"/>
                </a:solidFill>
                <a:latin typeface="Segoe UI"/>
              </a:rPr>
              <a:t>both fail</a:t>
            </a:r>
            <a:r>
              <a:rPr sz="2100" b="0" i="0">
                <a:solidFill>
                  <a:srgbClr val="1C252B"/>
                </a:solidFill>
                <a:latin typeface="Cambria"/>
              </a:rPr>
              <a:t>) ≫ </a:t>
            </a:r>
            <a:r>
              <a:rPr sz="2100" b="0" i="1">
                <a:solidFill>
                  <a:srgbClr val="1C252B"/>
                </a:solidFill>
                <a:latin typeface="Cambria"/>
              </a:rPr>
              <a:t>P</a:t>
            </a:r>
            <a:r>
              <a:rPr sz="2100" b="0" i="0">
                <a:solidFill>
                  <a:srgbClr val="1C252B"/>
                </a:solidFill>
                <a:latin typeface="Cambria"/>
              </a:rPr>
              <a:t>(</a:t>
            </a:r>
            <a:r>
              <a:rPr sz="2100" b="0" i="1">
                <a:solidFill>
                  <a:srgbClr val="1C252B"/>
                </a:solidFill>
                <a:latin typeface="Cambria"/>
              </a:rPr>
              <a:t>A</a:t>
            </a:r>
            <a:r>
              <a:rPr sz="2100" b="0" i="0">
                <a:solidFill>
                  <a:srgbClr val="1C252B"/>
                </a:solidFill>
                <a:latin typeface="Cambria"/>
              </a:rPr>
              <a:t>)</a:t>
            </a:r>
            <a:r>
              <a:rPr sz="2100" b="0" i="1">
                <a:solidFill>
                  <a:srgbClr val="1C252B"/>
                </a:solidFill>
                <a:latin typeface="Cambria"/>
              </a:rPr>
              <a:t>P</a:t>
            </a:r>
            <a:r>
              <a:rPr sz="2100" b="0" i="0">
                <a:solidFill>
                  <a:srgbClr val="1C252B"/>
                </a:solidFill>
                <a:latin typeface="Cambria"/>
              </a:rPr>
              <a:t>(</a:t>
            </a:r>
            <a:r>
              <a:rPr sz="2100" b="0" i="1">
                <a:solidFill>
                  <a:srgbClr val="1C252B"/>
                </a:solidFill>
                <a:latin typeface="Cambria"/>
              </a:rPr>
              <a:t>B</a:t>
            </a:r>
            <a:r>
              <a:rPr sz="2100" b="0" i="0">
                <a:solidFill>
                  <a:srgbClr val="1C252B"/>
                </a:solidFill>
                <a:latin typeface="Cambria"/>
              </a:rPr>
              <a:t>)</a:t>
            </a:r>
            <a:r>
              <a:rPr sz="2100" b="0" i="0">
                <a:solidFill>
                  <a:srgbClr val="1C252B"/>
                </a:solidFill>
                <a:latin typeface="Segoe UI"/>
              </a:rPr>
              <a:t>.</a:t>
            </a:r>
          </a:p>
        </p:txBody>
      </p:sp>
      <p:sp>
        <p:nvSpPr>
          <p:cNvPr id="13" name="!!pb2">
            <a:extLst>
              <a:ext uri="{C183D7F6-B498-43B3-948B-1728B52AA6E4}">
                <adec:decorative xmlns:adec="http://schemas.microsoft.com/office/drawing/2017/decorative" val="1"/>
              </a:ext>
            </a:extLst>
          </p:cNvPr>
          <p:cNvSpPr/>
          <p:nvPr/>
        </p:nvSpPr>
        <p:spPr>
          <a:xfrm>
            <a:off x="658368" y="348935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51221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471062"/>
            <a:ext cx="10271455" cy="9985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Applying the CLT to a single observation.</a:t>
            </a:r>
            <a:r>
              <a:rPr sz="2100" b="0" i="0">
                <a:solidFill>
                  <a:srgbClr val="1C252B"/>
                </a:solidFill>
                <a:latin typeface="Segoe UI"/>
              </a:rPr>
              <a:t> The theorem is about the distribution of </a:t>
            </a:r>
            <a:r>
              <a:rPr sz="2100" b="0" i="1">
                <a:solidFill>
                  <a:srgbClr val="1C252B"/>
                </a:solidFill>
                <a:latin typeface="Segoe UI"/>
              </a:rPr>
              <a:t>means</a:t>
            </a:r>
            <a:r>
              <a:rPr sz="2100" b="0" i="0">
                <a:solidFill>
                  <a:srgbClr val="1C252B"/>
                </a:solidFill>
                <a:latin typeface="Segoe UI"/>
              </a:rPr>
              <a:t>, not of raw values. Individual response times stay skewed no matter how much data you collect.</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715599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Conditional Probability and Base Rates</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a:t>
            </a:r>
            <a:fld id="{66DD2ED1-E822-4B46-8BD9-44CC03B44ED5}" type="slidenum">
              <a:rPr lang="en-GB" sz="1000">
                <a:solidFill>
                  <a:srgbClr val="8795A1"/>
                </a:solidFill>
                <a:latin typeface="Segoe UI"/>
              </a:rPr>
              <a:t>28</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Only 8% of students eventually fail.</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The prior probability that a randomly chosen project overruns is about 50% in many organisations — which is a </a:t>
            </a:r>
            <a:r>
              <a:rPr sz="1800" b="0" i="1">
                <a:solidFill>
                  <a:srgbClr val="1C252B"/>
                </a:solidFill>
                <a:latin typeface="Segoe UI"/>
              </a:rPr>
              <a:t>high</a:t>
            </a:r>
            <a:r>
              <a:rPr sz="1800" b="0" i="0">
                <a:solidFill>
                  <a:srgbClr val="1C252B"/>
                </a:solidFill>
                <a:latin typeface="Segoe UI"/>
              </a:rPr>
              <a:t> base rate, and therefore the opposite situation to security.</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Cambria"/>
              </a:rPr>
              <a:t>P</a:t>
            </a:r>
            <a:r>
              <a:rPr sz="2300" b="0" i="0">
                <a:solidFill>
                  <a:srgbClr val="1C252B"/>
                </a:solidFill>
                <a:latin typeface="Cambria"/>
              </a:rPr>
              <a:t>(</a:t>
            </a:r>
            <a:r>
              <a:rPr sz="2300" b="0" i="0">
                <a:solidFill>
                  <a:srgbClr val="1C252B"/>
                </a:solidFill>
                <a:latin typeface="Segoe UI"/>
              </a:rPr>
              <a:t>failure within 30 days</a:t>
            </a:r>
            <a:r>
              <a:rPr sz="2300" b="0" i="0">
                <a:solidFill>
                  <a:srgbClr val="1C252B"/>
                </a:solidFill>
                <a:latin typeface="Cambria"/>
              </a:rPr>
              <a:t>) ≈ 0.002</a:t>
            </a:r>
            <a:r>
              <a:rPr sz="2300" b="0" i="0">
                <a:solidFill>
                  <a:srgbClr val="1C252B"/>
                </a:solidFill>
                <a:latin typeface="Segoe UI"/>
              </a:rPr>
              <a:t> for a given motor.</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worked example is this lens.</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742103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Conditional Probability and Base Rates</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a:t>
            </a:r>
            <a:fld id="{BC624D91-C185-4855-8C4F-36FE9EEE4E59}" type="slidenum">
              <a:rPr lang="en-GB" sz="1000">
                <a:solidFill>
                  <a:srgbClr val="8795A1"/>
                </a:solidFill>
                <a:latin typeface="Segoe UI"/>
              </a:rPr>
              <a:t>29</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Only 8% of students eventually fail. A model that flags at-risk students with a 10% false-positive rate will produce a flagged list that is mostly students who would have passed anyway. Before any outreach programme is designed, compute </a:t>
            </a:r>
            <a:r>
              <a:rPr sz="2200" b="0" i="1">
                <a:solidFill>
                  <a:srgbClr val="1C252B"/>
                </a:solidFill>
                <a:latin typeface="Cambria"/>
              </a:rPr>
              <a:t>P</a:t>
            </a:r>
            <a:r>
              <a:rPr sz="2200" b="0" i="0">
                <a:solidFill>
                  <a:srgbClr val="1C252B"/>
                </a:solidFill>
                <a:latin typeface="Cambria"/>
              </a:rPr>
              <a:t>(</a:t>
            </a:r>
            <a:r>
              <a:rPr sz="2200" b="0" i="0">
                <a:solidFill>
                  <a:srgbClr val="1C252B"/>
                </a:solidFill>
                <a:latin typeface="Segoe UI"/>
              </a:rPr>
              <a:t>fails</a:t>
            </a:r>
            <a:r>
              <a:rPr sz="2200" b="0" i="0">
                <a:solidFill>
                  <a:srgbClr val="1C252B"/>
                </a:solidFill>
                <a:latin typeface="Cambria"/>
              </a:rPr>
              <a:t> ∣ </a:t>
            </a:r>
            <a:r>
              <a:rPr sz="2200" b="0" i="0">
                <a:solidFill>
                  <a:srgbClr val="1C252B"/>
                </a:solidFill>
                <a:latin typeface="Segoe UI"/>
              </a:rPr>
              <a:t>flagged</a:t>
            </a:r>
            <a:r>
              <a:rPr sz="2200" b="0" i="0">
                <a:solidFill>
                  <a:srgbClr val="1C252B"/>
                </a:solidFill>
                <a:latin typeface="Cambria"/>
              </a:rPr>
              <a:t>)</a:t>
            </a:r>
            <a:r>
              <a:rPr sz="2200" b="0" i="0">
                <a:solidFill>
                  <a:srgbClr val="1C252B"/>
                </a:solidFill>
                <a:latin typeface="Segoe UI"/>
              </a:rPr>
              <a:t> — because a list that is 70% wrong will destroy staff confidence in the system within a term, and may harm the students wrongly labelled (Chapter 28).</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68606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Conditional Probability and Base Rates</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a:t>
            </a:r>
            <a:fld id="{BD9FCDDC-486A-475E-8D9F-AB5D0FE06A67}" type="slidenum">
              <a:rPr lang="en-GB" sz="1000">
                <a:solidFill>
                  <a:srgbClr val="8795A1"/>
                </a:solidFill>
                <a:latin typeface="Segoe UI"/>
              </a:rPr>
              <a:t>30</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prior probability that a randomly chosen project overruns is about 50% in many organisations — which is a </a:t>
            </a:r>
            <a:r>
              <a:rPr sz="2200" b="0" i="1">
                <a:solidFill>
                  <a:srgbClr val="1C252B"/>
                </a:solidFill>
                <a:latin typeface="Segoe UI"/>
              </a:rPr>
              <a:t>high</a:t>
            </a:r>
            <a:r>
              <a:rPr sz="2200" b="0" i="0">
                <a:solidFill>
                  <a:srgbClr val="1C252B"/>
                </a:solidFill>
                <a:latin typeface="Segoe UI"/>
              </a:rPr>
              <a:t> base rate, and therefore the opposite situation to security. Here even a moderately accurate predictor produces alerts that are usually right, so the practical difficulty is not false alarms but persuading people to act on a warning they already half-expected.</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95110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Conditional Probability and Base Rates</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a:t>
            </a:r>
            <a:fld id="{9C52173B-CC0A-4B31-A147-492CAC958D1E}" type="slidenum">
              <a:rPr lang="en-GB" sz="1000">
                <a:solidFill>
                  <a:srgbClr val="8795A1"/>
                </a:solidFill>
                <a:latin typeface="Segoe UI"/>
              </a:rPr>
              <a:t>31</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Cambria"/>
              </a:rPr>
              <a:t>P</a:t>
            </a:r>
            <a:r>
              <a:rPr sz="2200" b="0" i="0">
                <a:solidFill>
                  <a:srgbClr val="1C252B"/>
                </a:solidFill>
                <a:latin typeface="Cambria"/>
              </a:rPr>
              <a:t>(</a:t>
            </a:r>
            <a:r>
              <a:rPr sz="2200" b="0" i="0">
                <a:solidFill>
                  <a:srgbClr val="1C252B"/>
                </a:solidFill>
                <a:latin typeface="Segoe UI"/>
              </a:rPr>
              <a:t>failure within 30 days</a:t>
            </a:r>
            <a:r>
              <a:rPr sz="2200" b="0" i="0">
                <a:solidFill>
                  <a:srgbClr val="1C252B"/>
                </a:solidFill>
                <a:latin typeface="Cambria"/>
              </a:rPr>
              <a:t>) ≈ 0.002</a:t>
            </a:r>
            <a:r>
              <a:rPr sz="2200" b="0" i="0">
                <a:solidFill>
                  <a:srgbClr val="1C252B"/>
                </a:solidFill>
                <a:latin typeface="Segoe UI"/>
              </a:rPr>
              <a:t> for a given motor. This is a rare-event problem, so the base-rate arithmetic of Figure 6.2 applies directly: an 80%-detection, 2%-false-alarm model yields </a:t>
            </a:r>
            <a:r>
              <a:rPr sz="2200" b="0" i="1">
                <a:solidFill>
                  <a:srgbClr val="1C252B"/>
                </a:solidFill>
                <a:latin typeface="Cambria"/>
              </a:rPr>
              <a:t>P</a:t>
            </a:r>
            <a:r>
              <a:rPr sz="2200" b="0" i="0">
                <a:solidFill>
                  <a:srgbClr val="1C252B"/>
                </a:solidFill>
                <a:latin typeface="Cambria"/>
              </a:rPr>
              <a:t>(</a:t>
            </a:r>
            <a:r>
              <a:rPr sz="2200" b="0" i="0">
                <a:solidFill>
                  <a:srgbClr val="1C252B"/>
                </a:solidFill>
                <a:latin typeface="Segoe UI"/>
              </a:rPr>
              <a:t>fail</a:t>
            </a:r>
            <a:r>
              <a:rPr sz="2200" b="0" i="0">
                <a:solidFill>
                  <a:srgbClr val="1C252B"/>
                </a:solidFill>
                <a:latin typeface="Cambria"/>
              </a:rPr>
              <a:t> ∣ </a:t>
            </a:r>
            <a:r>
              <a:rPr sz="2200" b="0" i="0">
                <a:solidFill>
                  <a:srgbClr val="1C252B"/>
                </a:solidFill>
                <a:latin typeface="Segoe UI"/>
              </a:rPr>
              <a:t>alert</a:t>
            </a:r>
            <a:r>
              <a:rPr sz="2200" b="0" i="0">
                <a:solidFill>
                  <a:srgbClr val="1C252B"/>
                </a:solidFill>
                <a:latin typeface="Cambria"/>
              </a:rPr>
              <a:t>) ≈ 7%</a:t>
            </a:r>
            <a:r>
              <a:rPr sz="2200" b="0" i="0">
                <a:solidFill>
                  <a:srgbClr val="1C252B"/>
                </a:solidFill>
                <a:latin typeface="Segoe UI"/>
              </a:rPr>
              <a:t>. Whether that is acceptable is an expected-value question — compare the cost of 13 unnecessary inspections against one unplanned line stoppage.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821614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Conditional Probability and Base Rates</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a:t>
            </a:r>
            <a:fld id="{A9F14A1F-9982-4EE8-A79B-54D73CEC6C81}" type="slidenum">
              <a:rPr lang="en-GB" sz="1000">
                <a:solidFill>
                  <a:srgbClr val="8795A1"/>
                </a:solidFill>
                <a:latin typeface="Segoe UI"/>
              </a:rPr>
              <a:t>32</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worked example is this lens. Add to it: an adversary who knows your detector exists will deliberately operate just below its threshold, which changes </a:t>
            </a:r>
            <a:r>
              <a:rPr sz="2200" b="0" i="1">
                <a:solidFill>
                  <a:srgbClr val="1C252B"/>
                </a:solidFill>
                <a:latin typeface="Cambria"/>
              </a:rPr>
              <a:t>P</a:t>
            </a:r>
            <a:r>
              <a:rPr sz="2200" b="0" i="0">
                <a:solidFill>
                  <a:srgbClr val="1C252B"/>
                </a:solidFill>
                <a:latin typeface="Cambria"/>
              </a:rPr>
              <a:t>(</a:t>
            </a:r>
            <a:r>
              <a:rPr sz="2200" b="0" i="0">
                <a:solidFill>
                  <a:srgbClr val="1C252B"/>
                </a:solidFill>
                <a:latin typeface="Segoe UI"/>
              </a:rPr>
              <a:t>alert</a:t>
            </a:r>
            <a:r>
              <a:rPr sz="2200" b="0" i="0">
                <a:solidFill>
                  <a:srgbClr val="1C252B"/>
                </a:solidFill>
                <a:latin typeface="Cambria"/>
              </a:rPr>
              <a:t> ∣ </a:t>
            </a:r>
            <a:r>
              <a:rPr sz="2200" b="0" i="0">
                <a:solidFill>
                  <a:srgbClr val="1C252B"/>
                </a:solidFill>
                <a:latin typeface="Segoe UI"/>
              </a:rPr>
              <a:t>attack</a:t>
            </a:r>
            <a:r>
              <a:rPr sz="2200" b="0" i="0">
                <a:solidFill>
                  <a:srgbClr val="1C252B"/>
                </a:solidFill>
                <a:latin typeface="Cambria"/>
              </a:rPr>
              <a:t>)</a:t>
            </a:r>
            <a:r>
              <a:rPr sz="2200" b="0" i="0">
                <a:solidFill>
                  <a:srgbClr val="1C252B"/>
                </a:solidFill>
                <a:latin typeface="Segoe UI"/>
              </a:rPr>
              <a:t> over time in a way no other domain in this course experiences. Base-rate arithmetic tells you today’s precision; Chapter 26 deals with the fact that tomorrow’s is being actively degraded.</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848117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Simulating the Base-Rate Fallacy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  ·  Handout p. 38     </a:t>
            </a:r>
            <a:fld id="{2BC7FE60-F758-46A3-B008-8A9850ACD6EB}" type="slidenum">
              <a:rPr lang="en-GB" sz="1000">
                <a:solidFill>
                  <a:srgbClr val="8795A1"/>
                </a:solidFill>
                <a:latin typeface="Segoe UI"/>
              </a:rPr>
              <a:t>33</a:t>
            </a:fld>
          </a:p>
        </p:txBody>
      </p:sp>
      <p:sp>
        <p:nvSpPr>
          <p:cNvPr id="7" name="body-0"/>
          <p:cNvSpPr txBox="1"/>
          <p:nvPr/>
        </p:nvSpPr>
        <p:spPr>
          <a:xfrm>
            <a:off x="658368" y="1737360"/>
            <a:ext cx="10874959"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Do not take the arithmetic on trust — generate a million sessions and count.</a:t>
            </a:r>
          </a:p>
        </p:txBody>
      </p:sp>
      <p:sp>
        <p:nvSpPr>
          <p:cNvPr id="8" name="!!lfTHIS">
            <a:extLst>
              <a:ext uri="{C183D7F6-B498-43B3-948B-1728B52AA6E4}">
                <adec:decorative xmlns:adec="http://schemas.microsoft.com/office/drawing/2017/decorative" val="1"/>
              </a:ext>
            </a:extLst>
          </p:cNvPr>
          <p:cNvSpPr/>
          <p:nvPr/>
        </p:nvSpPr>
        <p:spPr>
          <a:xfrm>
            <a:off x="658368" y="2365248"/>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bTHIS">
            <a:extLst>
              <a:ext uri="{C183D7F6-B498-43B3-948B-1728B52AA6E4}">
                <adec:decorative xmlns:adec="http://schemas.microsoft.com/office/drawing/2017/decorative" val="1"/>
              </a:ext>
            </a:extLst>
          </p:cNvPr>
          <p:cNvSpPr/>
          <p:nvPr/>
        </p:nvSpPr>
        <p:spPr>
          <a:xfrm>
            <a:off x="658368" y="236524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lflTHIS"/>
          <p:cNvSpPr txBox="1"/>
          <p:nvPr/>
        </p:nvSpPr>
        <p:spPr>
          <a:xfrm>
            <a:off x="932688" y="2529840"/>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1" name="!!lfvTHIS"/>
          <p:cNvSpPr txBox="1"/>
          <p:nvPr/>
        </p:nvSpPr>
        <p:spPr>
          <a:xfrm>
            <a:off x="932688" y="2822448"/>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3: Centre, spread, shape; base-rate simulation</a:t>
            </a:r>
          </a:p>
        </p:txBody>
      </p:sp>
      <p:sp>
        <p:nvSpPr>
          <p:cNvPr id="12" name="!!lfWHAT">
            <a:extLst>
              <a:ext uri="{C183D7F6-B498-43B3-948B-1728B52AA6E4}">
                <adec:decorative xmlns:adec="http://schemas.microsoft.com/office/drawing/2017/decorative" val="1"/>
              </a:ext>
            </a:extLst>
          </p:cNvPr>
          <p:cNvSpPr/>
          <p:nvPr/>
        </p:nvSpPr>
        <p:spPr>
          <a:xfrm>
            <a:off x="4374794" y="2365248"/>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bWHAT">
            <a:extLst>
              <a:ext uri="{C183D7F6-B498-43B3-948B-1728B52AA6E4}">
                <adec:decorative xmlns:adec="http://schemas.microsoft.com/office/drawing/2017/decorative" val="1"/>
              </a:ext>
            </a:extLst>
          </p:cNvPr>
          <p:cNvSpPr/>
          <p:nvPr/>
        </p:nvSpPr>
        <p:spPr>
          <a:xfrm>
            <a:off x="4374794" y="236524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flWHAT"/>
          <p:cNvSpPr txBox="1"/>
          <p:nvPr/>
        </p:nvSpPr>
        <p:spPr>
          <a:xfrm>
            <a:off x="4649114" y="2529840"/>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15" name="!!lfvWHAT"/>
          <p:cNvSpPr txBox="1"/>
          <p:nvPr/>
        </p:nvSpPr>
        <p:spPr>
          <a:xfrm>
            <a:off x="4649114" y="2822448"/>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20 lines of Python</a:t>
            </a:r>
          </a:p>
        </p:txBody>
      </p:sp>
      <p:sp>
        <p:nvSpPr>
          <p:cNvPr id="16" name="!!lfRUNN">
            <a:extLst>
              <a:ext uri="{C183D7F6-B498-43B3-948B-1728B52AA6E4}">
                <adec:decorative xmlns:adec="http://schemas.microsoft.com/office/drawing/2017/decorative" val="1"/>
              </a:ext>
            </a:extLst>
          </p:cNvPr>
          <p:cNvSpPr/>
          <p:nvPr/>
        </p:nvSpPr>
        <p:spPr>
          <a:xfrm>
            <a:off x="8091220" y="2365248"/>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lfbRUNN">
            <a:extLst>
              <a:ext uri="{C183D7F6-B498-43B3-948B-1728B52AA6E4}">
                <adec:decorative xmlns:adec="http://schemas.microsoft.com/office/drawing/2017/decorative" val="1"/>
              </a:ext>
            </a:extLst>
          </p:cNvPr>
          <p:cNvSpPr/>
          <p:nvPr/>
        </p:nvSpPr>
        <p:spPr>
          <a:xfrm>
            <a:off x="8091220" y="236524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lflRUNN"/>
          <p:cNvSpPr txBox="1"/>
          <p:nvPr/>
        </p:nvSpPr>
        <p:spPr>
          <a:xfrm>
            <a:off x="8365540" y="2529840"/>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19" name="!!lfvRUNN"/>
          <p:cNvSpPr txBox="1"/>
          <p:nvPr/>
        </p:nvSpPr>
        <p:spPr>
          <a:xfrm>
            <a:off x="8365540" y="2822448"/>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code/ch06_base_rate.py</a:t>
            </a: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874621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Simulating the Base-Rate Fallacy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  ·  Handout p. 38     </a:t>
            </a:r>
            <a:fld id="{32D31B78-E8BD-4CE1-A16B-A613FEB0E278}"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224528"/>
          </a:xfrm>
          <a:prstGeom prst="roundRect">
            <a:avLst>
              <a:gd name="adj" fmla="val 2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code/ch06_base_rate.py</a:t>
            </a:r>
          </a:p>
        </p:txBody>
      </p:sp>
      <p:sp>
        <p:nvSpPr>
          <p:cNvPr id="14" name="!!code-text" descr="import numpy as np rng = np.random.default_rng(42) N = 1_000_000 base_rate = 0.0001 # 1 in 10,000 sessions is an attack detection = 0.99 # P(alert | attack) false_alarm= 0.01 # P(alert | normal) is_attack = rng.random(N) &lt; base_rate p_alert = np.where(is_attack, detection, false_alarm) alert = rng.random(N) &lt; p_alert print(&quot;attacks :&quot;, is_attack.sum()) print(&quot;alerts raised :&quot;, alert.sum()) print(&quot;alerts that were real:&quot;, (alert &amp; is_attack).sum()) print(&quot;P(attack | alert) :&quot;, (alert &amp; is_attack).sum() / alert.sum()) # ~0.0098 -- matches the hand calculation # Now set false_alarm = 0.0001 and re-run. Precision jumps to ~50%. # Changing detection from 0.99 to 0.999 barely moves it at all."/>
          <p:cNvSpPr txBox="1"/>
          <p:nvPr/>
        </p:nvSpPr>
        <p:spPr>
          <a:xfrm>
            <a:off x="1362456" y="2523744"/>
            <a:ext cx="9987991" cy="3730752"/>
          </a:xfrm>
          <a:prstGeom prst="rect">
            <a:avLst/>
          </a:prstGeom>
          <a:noFill/>
        </p:spPr>
        <p:txBody>
          <a:bodyPr wrap="none" anchor="t" lIns="0" rIns="0" tIns="0" bIns="0">
            <a:noAutofit/>
          </a:bodyPr>
          <a:lstStyle/>
          <a:p>
            <a:pPr>
              <a:lnSpc>
                <a:spcPct val="100000"/>
              </a:lnSpc>
              <a:spcAft>
                <a:spcPts val="0"/>
              </a:spcAft>
            </a:pPr>
            <a:r>
              <a:rPr sz="1200" i="0">
                <a:solidFill>
                  <a:srgbClr val="5DADE2"/>
                </a:solidFill>
                <a:latin typeface="Consolas"/>
              </a:rPr>
              <a:t>import</a:t>
            </a:r>
            <a:r>
              <a:rPr sz="1200" i="0">
                <a:solidFill>
                  <a:srgbClr val="E8EDF2"/>
                </a:solidFill>
                <a:latin typeface="Consolas"/>
              </a:rPr>
              <a:t> </a:t>
            </a:r>
            <a:r>
              <a:rPr sz="1200" i="0">
                <a:solidFill>
                  <a:srgbClr val="76D7C4"/>
                </a:solidFill>
                <a:latin typeface="Consolas"/>
              </a:rPr>
              <a:t>numpy</a:t>
            </a:r>
            <a:r>
              <a:rPr sz="1200" i="0">
                <a:solidFill>
                  <a:srgbClr val="E8EDF2"/>
                </a:solidFill>
                <a:latin typeface="Consolas"/>
              </a:rPr>
              <a:t> </a:t>
            </a:r>
            <a:r>
              <a:rPr sz="1200" i="0">
                <a:solidFill>
                  <a:srgbClr val="5DADE2"/>
                </a:solidFill>
                <a:latin typeface="Consolas"/>
              </a:rPr>
              <a:t>as</a:t>
            </a:r>
            <a:r>
              <a:rPr sz="1200" i="0">
                <a:solidFill>
                  <a:srgbClr val="E8EDF2"/>
                </a:solidFill>
                <a:latin typeface="Consolas"/>
              </a:rPr>
              <a:t> </a:t>
            </a:r>
            <a:r>
              <a:rPr sz="1200" i="0">
                <a:solidFill>
                  <a:srgbClr val="76D7C4"/>
                </a:solidFill>
                <a:latin typeface="Consolas"/>
              </a:rPr>
              <a:t>np</a:t>
            </a:r>
          </a:p>
          <a:p>
            <a:pPr>
              <a:lnSpc>
                <a:spcPct val="100000"/>
              </a:lnSpc>
              <a:spcAft>
                <a:spcPts val="0"/>
              </a:spcAft>
            </a:pPr>
            <a:r>
              <a:rPr sz="1200" i="0">
                <a:solidFill>
                  <a:srgbClr val="E8EDF2"/>
                </a:solidFill>
                <a:latin typeface="Consolas"/>
              </a:rPr>
              <a:t>rng</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np</a:t>
            </a:r>
            <a:r>
              <a:rPr sz="1200" i="0">
                <a:solidFill>
                  <a:srgbClr val="AEB6BF"/>
                </a:solidFill>
                <a:latin typeface="Consolas"/>
              </a:rPr>
              <a:t>.</a:t>
            </a:r>
            <a:r>
              <a:rPr sz="1200" i="0">
                <a:solidFill>
                  <a:srgbClr val="E8EDF2"/>
                </a:solidFill>
                <a:latin typeface="Consolas"/>
              </a:rPr>
              <a:t>random</a:t>
            </a:r>
            <a:r>
              <a:rPr sz="1200" i="0">
                <a:solidFill>
                  <a:srgbClr val="AEB6BF"/>
                </a:solidFill>
                <a:latin typeface="Consolas"/>
              </a:rPr>
              <a:t>.</a:t>
            </a:r>
            <a:r>
              <a:rPr sz="1200" i="0">
                <a:solidFill>
                  <a:srgbClr val="E8EDF2"/>
                </a:solidFill>
                <a:latin typeface="Consolas"/>
              </a:rPr>
              <a:t>default_rng</a:t>
            </a:r>
            <a:r>
              <a:rPr sz="1200" i="0">
                <a:solidFill>
                  <a:srgbClr val="AEB6BF"/>
                </a:solidFill>
                <a:latin typeface="Consolas"/>
              </a:rPr>
              <a:t>(</a:t>
            </a:r>
            <a:r>
              <a:rPr sz="1200" i="0">
                <a:solidFill>
                  <a:srgbClr val="F7DC6F"/>
                </a:solidFill>
                <a:latin typeface="Consolas"/>
              </a:rPr>
              <a:t>42</a:t>
            </a:r>
            <a:r>
              <a:rPr sz="1200" i="0">
                <a:solidFill>
                  <a:srgbClr val="AEB6BF"/>
                </a:solidFill>
                <a:latin typeface="Consolas"/>
              </a:rPr>
              <a:t>)</a:t>
            </a:r>
          </a:p>
          <a:p>
            <a:pPr>
              <a:lnSpc>
                <a:spcPct val="100000"/>
              </a:lnSpc>
              <a:spcAft>
                <a:spcPts val="0"/>
              </a:spcAft>
            </a:pPr>
            <a:r>
              <a:rPr sz="1200">
                <a:latin typeface="Consolas"/>
              </a:rPr>
              <a:t> </a:t>
            </a:r>
          </a:p>
          <a:p>
            <a:pPr>
              <a:lnSpc>
                <a:spcPct val="100000"/>
              </a:lnSpc>
              <a:spcAft>
                <a:spcPts val="0"/>
              </a:spcAft>
            </a:pPr>
            <a:r>
              <a:rPr sz="1200" i="0">
                <a:solidFill>
                  <a:srgbClr val="E8EDF2"/>
                </a:solidFill>
                <a:latin typeface="Consolas"/>
              </a:rPr>
              <a:t>N</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1_000_000</a:t>
            </a:r>
          </a:p>
          <a:p>
            <a:pPr>
              <a:lnSpc>
                <a:spcPct val="100000"/>
              </a:lnSpc>
              <a:spcAft>
                <a:spcPts val="0"/>
              </a:spcAft>
            </a:pPr>
            <a:r>
              <a:rPr sz="1200" i="0">
                <a:solidFill>
                  <a:srgbClr val="E8EDF2"/>
                </a:solidFill>
                <a:latin typeface="Consolas"/>
              </a:rPr>
              <a:t>base_rate</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0.0001</a:t>
            </a:r>
            <a:r>
              <a:rPr sz="1200" i="0">
                <a:solidFill>
                  <a:srgbClr val="E8EDF2"/>
                </a:solidFill>
                <a:latin typeface="Consolas"/>
              </a:rPr>
              <a:t>     </a:t>
            </a:r>
            <a:r>
              <a:rPr sz="1200" i="1">
                <a:solidFill>
                  <a:srgbClr val="8795A1"/>
                </a:solidFill>
                <a:latin typeface="Consolas"/>
              </a:rPr>
              <a:t># 1 in 10,000 sessions is an attack</a:t>
            </a:r>
          </a:p>
          <a:p>
            <a:pPr>
              <a:lnSpc>
                <a:spcPct val="100000"/>
              </a:lnSpc>
              <a:spcAft>
                <a:spcPts val="0"/>
              </a:spcAft>
            </a:pPr>
            <a:r>
              <a:rPr sz="1200" i="0">
                <a:solidFill>
                  <a:srgbClr val="E8EDF2"/>
                </a:solidFill>
                <a:latin typeface="Consolas"/>
              </a:rPr>
              <a:t>detection</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0.99</a:t>
            </a:r>
            <a:r>
              <a:rPr sz="1200" i="0">
                <a:solidFill>
                  <a:srgbClr val="E8EDF2"/>
                </a:solidFill>
                <a:latin typeface="Consolas"/>
              </a:rPr>
              <a:t>       </a:t>
            </a:r>
            <a:r>
              <a:rPr sz="1200" i="1">
                <a:solidFill>
                  <a:srgbClr val="8795A1"/>
                </a:solidFill>
                <a:latin typeface="Consolas"/>
              </a:rPr>
              <a:t># P(alert | attack)</a:t>
            </a:r>
          </a:p>
          <a:p>
            <a:pPr>
              <a:lnSpc>
                <a:spcPct val="100000"/>
              </a:lnSpc>
              <a:spcAft>
                <a:spcPts val="0"/>
              </a:spcAft>
            </a:pPr>
            <a:r>
              <a:rPr sz="1200" i="0">
                <a:solidFill>
                  <a:srgbClr val="E8EDF2"/>
                </a:solidFill>
                <a:latin typeface="Consolas"/>
              </a:rPr>
              <a:t>false_alarm</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0.01</a:t>
            </a:r>
            <a:r>
              <a:rPr sz="1200" i="0">
                <a:solidFill>
                  <a:srgbClr val="E8EDF2"/>
                </a:solidFill>
                <a:latin typeface="Consolas"/>
              </a:rPr>
              <a:t>       </a:t>
            </a:r>
            <a:r>
              <a:rPr sz="1200" i="1">
                <a:solidFill>
                  <a:srgbClr val="8795A1"/>
                </a:solidFill>
                <a:latin typeface="Consolas"/>
              </a:rPr>
              <a:t># P(alert | normal)</a:t>
            </a:r>
          </a:p>
          <a:p>
            <a:pPr>
              <a:lnSpc>
                <a:spcPct val="100000"/>
              </a:lnSpc>
              <a:spcAft>
                <a:spcPts val="0"/>
              </a:spcAft>
            </a:pPr>
            <a:r>
              <a:rPr sz="1200">
                <a:latin typeface="Consolas"/>
              </a:rPr>
              <a:t> </a:t>
            </a:r>
          </a:p>
          <a:p>
            <a:pPr>
              <a:lnSpc>
                <a:spcPct val="100000"/>
              </a:lnSpc>
              <a:spcAft>
                <a:spcPts val="0"/>
              </a:spcAft>
            </a:pPr>
            <a:r>
              <a:rPr sz="1200" i="0">
                <a:solidFill>
                  <a:srgbClr val="E8EDF2"/>
                </a:solidFill>
                <a:latin typeface="Consolas"/>
              </a:rPr>
              <a:t>is_attack</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rng</a:t>
            </a:r>
            <a:r>
              <a:rPr sz="1200" i="0">
                <a:solidFill>
                  <a:srgbClr val="AEB6BF"/>
                </a:solidFill>
                <a:latin typeface="Consolas"/>
              </a:rPr>
              <a:t>.</a:t>
            </a:r>
            <a:r>
              <a:rPr sz="1200" i="0">
                <a:solidFill>
                  <a:srgbClr val="E8EDF2"/>
                </a:solidFill>
                <a:latin typeface="Consolas"/>
              </a:rPr>
              <a:t>random</a:t>
            </a:r>
            <a:r>
              <a:rPr sz="1200" i="0">
                <a:solidFill>
                  <a:srgbClr val="AEB6BF"/>
                </a:solidFill>
                <a:latin typeface="Consolas"/>
              </a:rPr>
              <a:t>(</a:t>
            </a:r>
            <a:r>
              <a:rPr sz="1200" i="0">
                <a:solidFill>
                  <a:srgbClr val="E8EDF2"/>
                </a:solidFill>
                <a:latin typeface="Consolas"/>
              </a:rPr>
              <a:t>N</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&lt;</a:t>
            </a:r>
            <a:r>
              <a:rPr sz="1200" i="0">
                <a:solidFill>
                  <a:srgbClr val="E8EDF2"/>
                </a:solidFill>
                <a:latin typeface="Consolas"/>
              </a:rPr>
              <a:t> </a:t>
            </a:r>
            <a:r>
              <a:rPr sz="1200" i="0">
                <a:solidFill>
                  <a:srgbClr val="E8EDF2"/>
                </a:solidFill>
                <a:latin typeface="Consolas"/>
              </a:rPr>
              <a:t>base_rate</a:t>
            </a:r>
          </a:p>
          <a:p>
            <a:pPr>
              <a:lnSpc>
                <a:spcPct val="100000"/>
              </a:lnSpc>
              <a:spcAft>
                <a:spcPts val="0"/>
              </a:spcAft>
            </a:pPr>
            <a:r>
              <a:rPr sz="1200" i="0">
                <a:solidFill>
                  <a:srgbClr val="E8EDF2"/>
                </a:solidFill>
                <a:latin typeface="Consolas"/>
              </a:rPr>
              <a:t>p_alert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np</a:t>
            </a:r>
            <a:r>
              <a:rPr sz="1200" i="0">
                <a:solidFill>
                  <a:srgbClr val="AEB6BF"/>
                </a:solidFill>
                <a:latin typeface="Consolas"/>
              </a:rPr>
              <a:t>.</a:t>
            </a:r>
            <a:r>
              <a:rPr sz="1200" i="0">
                <a:solidFill>
                  <a:srgbClr val="E8EDF2"/>
                </a:solidFill>
                <a:latin typeface="Consolas"/>
              </a:rPr>
              <a:t>where</a:t>
            </a:r>
            <a:r>
              <a:rPr sz="1200" i="0">
                <a:solidFill>
                  <a:srgbClr val="AEB6BF"/>
                </a:solidFill>
                <a:latin typeface="Consolas"/>
              </a:rPr>
              <a:t>(</a:t>
            </a:r>
            <a:r>
              <a:rPr sz="1200" i="0">
                <a:solidFill>
                  <a:srgbClr val="E8EDF2"/>
                </a:solidFill>
                <a:latin typeface="Consolas"/>
              </a:rPr>
              <a:t>is_attack</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detection</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false_alarm</a:t>
            </a:r>
            <a:r>
              <a:rPr sz="1200" i="0">
                <a:solidFill>
                  <a:srgbClr val="AEB6BF"/>
                </a:solidFill>
                <a:latin typeface="Consolas"/>
              </a:rPr>
              <a:t>)</a:t>
            </a:r>
          </a:p>
          <a:p>
            <a:pPr>
              <a:lnSpc>
                <a:spcPct val="100000"/>
              </a:lnSpc>
              <a:spcAft>
                <a:spcPts val="0"/>
              </a:spcAft>
            </a:pPr>
            <a:r>
              <a:rPr sz="1200" i="0">
                <a:solidFill>
                  <a:srgbClr val="E8EDF2"/>
                </a:solidFill>
                <a:latin typeface="Consolas"/>
              </a:rPr>
              <a:t>alert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rng</a:t>
            </a:r>
            <a:r>
              <a:rPr sz="1200" i="0">
                <a:solidFill>
                  <a:srgbClr val="AEB6BF"/>
                </a:solidFill>
                <a:latin typeface="Consolas"/>
              </a:rPr>
              <a:t>.</a:t>
            </a:r>
            <a:r>
              <a:rPr sz="1200" i="0">
                <a:solidFill>
                  <a:srgbClr val="E8EDF2"/>
                </a:solidFill>
                <a:latin typeface="Consolas"/>
              </a:rPr>
              <a:t>random</a:t>
            </a:r>
            <a:r>
              <a:rPr sz="1200" i="0">
                <a:solidFill>
                  <a:srgbClr val="AEB6BF"/>
                </a:solidFill>
                <a:latin typeface="Consolas"/>
              </a:rPr>
              <a:t>(</a:t>
            </a:r>
            <a:r>
              <a:rPr sz="1200" i="0">
                <a:solidFill>
                  <a:srgbClr val="E8EDF2"/>
                </a:solidFill>
                <a:latin typeface="Consolas"/>
              </a:rPr>
              <a:t>N</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&lt;</a:t>
            </a:r>
            <a:r>
              <a:rPr sz="1200" i="0">
                <a:solidFill>
                  <a:srgbClr val="E8EDF2"/>
                </a:solidFill>
                <a:latin typeface="Consolas"/>
              </a:rPr>
              <a:t> </a:t>
            </a:r>
            <a:r>
              <a:rPr sz="1200" i="0">
                <a:solidFill>
                  <a:srgbClr val="E8EDF2"/>
                </a:solidFill>
                <a:latin typeface="Consolas"/>
              </a:rPr>
              <a:t>p_alert</a:t>
            </a:r>
          </a:p>
          <a:p>
            <a:pPr>
              <a:lnSpc>
                <a:spcPct val="100000"/>
              </a:lnSpc>
              <a:spcAft>
                <a:spcPts val="0"/>
              </a:spcAft>
            </a:pPr>
            <a:r>
              <a:rPr sz="1200">
                <a:latin typeface="Consolas"/>
              </a:rPr>
              <a:t> </a:t>
            </a:r>
          </a:p>
          <a:p>
            <a:pPr>
              <a:lnSpc>
                <a:spcPct val="100000"/>
              </a:lnSpc>
              <a:spcAft>
                <a:spcPts val="0"/>
              </a:spcAft>
            </a:pPr>
            <a:r>
              <a:rPr sz="1200" i="0">
                <a:solidFill>
                  <a:srgbClr val="C39BD3"/>
                </a:solidFill>
                <a:latin typeface="Consolas"/>
              </a:rPr>
              <a:t>print</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attacks           :</a:t>
            </a:r>
            <a:r>
              <a:rPr sz="1200" i="0">
                <a:solidFill>
                  <a:srgbClr val="7DCEA0"/>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is_attack</a:t>
            </a:r>
            <a:r>
              <a:rPr sz="1200" i="0">
                <a:solidFill>
                  <a:srgbClr val="AEB6BF"/>
                </a:solidFill>
                <a:latin typeface="Consolas"/>
              </a:rPr>
              <a:t>.</a:t>
            </a:r>
            <a:r>
              <a:rPr sz="1200" i="0">
                <a:solidFill>
                  <a:srgbClr val="E8EDF2"/>
                </a:solidFill>
                <a:latin typeface="Consolas"/>
              </a:rPr>
              <a:t>sum</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C39BD3"/>
                </a:solidFill>
                <a:latin typeface="Consolas"/>
              </a:rPr>
              <a:t>print</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alerts raised     :</a:t>
            </a:r>
            <a:r>
              <a:rPr sz="1200" i="0">
                <a:solidFill>
                  <a:srgbClr val="7DCEA0"/>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alert</a:t>
            </a:r>
            <a:r>
              <a:rPr sz="1200" i="0">
                <a:solidFill>
                  <a:srgbClr val="AEB6BF"/>
                </a:solidFill>
                <a:latin typeface="Consolas"/>
              </a:rPr>
              <a:t>.</a:t>
            </a:r>
            <a:r>
              <a:rPr sz="1200" i="0">
                <a:solidFill>
                  <a:srgbClr val="E8EDF2"/>
                </a:solidFill>
                <a:latin typeface="Consolas"/>
              </a:rPr>
              <a:t>sum</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C39BD3"/>
                </a:solidFill>
                <a:latin typeface="Consolas"/>
              </a:rPr>
              <a:t>print</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alerts that were real:</a:t>
            </a:r>
            <a:r>
              <a:rPr sz="1200" i="0">
                <a:solidFill>
                  <a:srgbClr val="7DCEA0"/>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alert</a:t>
            </a:r>
            <a:r>
              <a:rPr sz="1200" i="0">
                <a:solidFill>
                  <a:srgbClr val="E8EDF2"/>
                </a:solidFill>
                <a:latin typeface="Consolas"/>
              </a:rPr>
              <a:t> </a:t>
            </a:r>
            <a:r>
              <a:rPr sz="1200" i="0">
                <a:solidFill>
                  <a:srgbClr val="AEB6BF"/>
                </a:solidFill>
                <a:latin typeface="Consolas"/>
              </a:rPr>
              <a:t>&amp;</a:t>
            </a:r>
            <a:r>
              <a:rPr sz="1200" i="0">
                <a:solidFill>
                  <a:srgbClr val="E8EDF2"/>
                </a:solidFill>
                <a:latin typeface="Consolas"/>
              </a:rPr>
              <a:t> </a:t>
            </a:r>
            <a:r>
              <a:rPr sz="1200" i="0">
                <a:solidFill>
                  <a:srgbClr val="E8EDF2"/>
                </a:solidFill>
                <a:latin typeface="Consolas"/>
              </a:rPr>
              <a:t>is_attack</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sum</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C39BD3"/>
                </a:solidFill>
                <a:latin typeface="Consolas"/>
              </a:rPr>
              <a:t>print</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P(attack | alert) :</a:t>
            </a:r>
            <a:r>
              <a:rPr sz="1200" i="0">
                <a:solidFill>
                  <a:srgbClr val="7DCEA0"/>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alert</a:t>
            </a:r>
            <a:r>
              <a:rPr sz="1200" i="0">
                <a:solidFill>
                  <a:srgbClr val="E8EDF2"/>
                </a:solidFill>
                <a:latin typeface="Consolas"/>
              </a:rPr>
              <a:t> </a:t>
            </a:r>
            <a:r>
              <a:rPr sz="1200" i="0">
                <a:solidFill>
                  <a:srgbClr val="AEB6BF"/>
                </a:solidFill>
                <a:latin typeface="Consolas"/>
              </a:rPr>
              <a:t>&amp;</a:t>
            </a:r>
            <a:r>
              <a:rPr sz="1200" i="0">
                <a:solidFill>
                  <a:srgbClr val="E8EDF2"/>
                </a:solidFill>
                <a:latin typeface="Consolas"/>
              </a:rPr>
              <a:t> </a:t>
            </a:r>
            <a:r>
              <a:rPr sz="1200" i="0">
                <a:solidFill>
                  <a:srgbClr val="E8EDF2"/>
                </a:solidFill>
                <a:latin typeface="Consolas"/>
              </a:rPr>
              <a:t>is_attack</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sum</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alert</a:t>
            </a:r>
            <a:r>
              <a:rPr sz="1200" i="0">
                <a:solidFill>
                  <a:srgbClr val="AEB6BF"/>
                </a:solidFill>
                <a:latin typeface="Consolas"/>
              </a:rPr>
              <a:t>.</a:t>
            </a:r>
            <a:r>
              <a:rPr sz="1200" i="0">
                <a:solidFill>
                  <a:srgbClr val="E8EDF2"/>
                </a:solidFill>
                <a:latin typeface="Consolas"/>
              </a:rPr>
              <a:t>sum</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1">
                <a:solidFill>
                  <a:srgbClr val="8795A1"/>
                </a:solidFill>
                <a:latin typeface="Consolas"/>
              </a:rPr>
              <a:t># ~0.0098 -- matches the hand calculation</a:t>
            </a:r>
          </a:p>
          <a:p>
            <a:pPr>
              <a:lnSpc>
                <a:spcPct val="100000"/>
              </a:lnSpc>
              <a:spcAft>
                <a:spcPts val="0"/>
              </a:spcAft>
            </a:pPr>
            <a:r>
              <a:rPr sz="1200">
                <a:latin typeface="Consolas"/>
              </a:rPr>
              <a:t> </a:t>
            </a:r>
          </a:p>
          <a:p>
            <a:pPr>
              <a:lnSpc>
                <a:spcPct val="100000"/>
              </a:lnSpc>
              <a:spcAft>
                <a:spcPts val="0"/>
              </a:spcAft>
            </a:pPr>
            <a:r>
              <a:rPr sz="1200" i="1">
                <a:solidFill>
                  <a:srgbClr val="8795A1"/>
                </a:solidFill>
                <a:latin typeface="Consolas"/>
              </a:rPr>
              <a:t># Now set false_alarm = 0.0001 and re-run. Precision jumps to ~50%.</a:t>
            </a:r>
          </a:p>
          <a:p>
            <a:pPr>
              <a:lnSpc>
                <a:spcPct val="100000"/>
              </a:lnSpc>
              <a:spcAft>
                <a:spcPts val="0"/>
              </a:spcAft>
            </a:pPr>
            <a:r>
              <a:rPr sz="1200" i="1">
                <a:solidFill>
                  <a:srgbClr val="8795A1"/>
                </a:solidFill>
                <a:latin typeface="Consolas"/>
              </a:rPr>
              <a:t># Changing detection from 0.99 to 0.999 barely moves it at all.</a:t>
            </a:r>
          </a:p>
        </p:txBody>
      </p:sp>
      <p:sp>
        <p:nvSpPr>
          <p:cNvPr id="15" name="!!code-num"/>
          <p:cNvSpPr txBox="1"/>
          <p:nvPr/>
        </p:nvSpPr>
        <p:spPr>
          <a:xfrm>
            <a:off x="768096" y="2523744"/>
            <a:ext cx="393192" cy="3730752"/>
          </a:xfrm>
          <a:prstGeom prst="rect">
            <a:avLst/>
          </a:prstGeom>
          <a:noFill/>
        </p:spPr>
        <p:txBody>
          <a:bodyPr wrap="none" anchor="t" lIns="0" rIns="0" tIns="0" bIns="0">
            <a:noAutofit/>
          </a:bodyPr>
          <a:lstStyle/>
          <a:p>
            <a:pPr algn="r">
              <a:lnSpc>
                <a:spcPct val="100000"/>
              </a:lnSpc>
            </a:pPr>
            <a:r>
              <a:rPr sz="1200">
                <a:solidFill>
                  <a:srgbClr val="4F5D6A"/>
                </a:solidFill>
                <a:latin typeface="Consolas"/>
              </a:rPr>
              <a:t>1</a:t>
            </a:r>
          </a:p>
          <a:p>
            <a:pPr algn="r">
              <a:lnSpc>
                <a:spcPct val="100000"/>
              </a:lnSpc>
            </a:pPr>
            <a:r>
              <a:rPr sz="1200">
                <a:solidFill>
                  <a:srgbClr val="4F5D6A"/>
                </a:solidFill>
                <a:latin typeface="Consolas"/>
              </a:rPr>
              <a:t>2</a:t>
            </a:r>
          </a:p>
          <a:p>
            <a:pPr algn="r">
              <a:lnSpc>
                <a:spcPct val="100000"/>
              </a:lnSpc>
            </a:pPr>
            <a:r>
              <a:rPr sz="1200">
                <a:solidFill>
                  <a:srgbClr val="4F5D6A"/>
                </a:solidFill>
                <a:latin typeface="Consolas"/>
              </a:rPr>
              <a:t>3</a:t>
            </a:r>
          </a:p>
          <a:p>
            <a:pPr algn="r">
              <a:lnSpc>
                <a:spcPct val="100000"/>
              </a:lnSpc>
            </a:pPr>
            <a:r>
              <a:rPr sz="1200">
                <a:solidFill>
                  <a:srgbClr val="4F5D6A"/>
                </a:solidFill>
                <a:latin typeface="Consolas"/>
              </a:rPr>
              <a:t>4</a:t>
            </a:r>
          </a:p>
          <a:p>
            <a:pPr algn="r">
              <a:lnSpc>
                <a:spcPct val="100000"/>
              </a:lnSpc>
            </a:pPr>
            <a:r>
              <a:rPr sz="1200">
                <a:solidFill>
                  <a:srgbClr val="4F5D6A"/>
                </a:solidFill>
                <a:latin typeface="Consolas"/>
              </a:rPr>
              <a:t>5</a:t>
            </a:r>
          </a:p>
          <a:p>
            <a:pPr algn="r">
              <a:lnSpc>
                <a:spcPct val="100000"/>
              </a:lnSpc>
            </a:pPr>
            <a:r>
              <a:rPr sz="1200">
                <a:solidFill>
                  <a:srgbClr val="4F5D6A"/>
                </a:solidFill>
                <a:latin typeface="Consolas"/>
              </a:rPr>
              <a:t>6</a:t>
            </a:r>
          </a:p>
          <a:p>
            <a:pPr algn="r">
              <a:lnSpc>
                <a:spcPct val="100000"/>
              </a:lnSpc>
            </a:pPr>
            <a:r>
              <a:rPr sz="1200">
                <a:solidFill>
                  <a:srgbClr val="4F5D6A"/>
                </a:solidFill>
                <a:latin typeface="Consolas"/>
              </a:rPr>
              <a:t>7</a:t>
            </a:r>
          </a:p>
          <a:p>
            <a:pPr algn="r">
              <a:lnSpc>
                <a:spcPct val="100000"/>
              </a:lnSpc>
            </a:pPr>
            <a:r>
              <a:rPr sz="1200">
                <a:solidFill>
                  <a:srgbClr val="4F5D6A"/>
                </a:solidFill>
                <a:latin typeface="Consolas"/>
              </a:rPr>
              <a:t>8</a:t>
            </a:r>
          </a:p>
          <a:p>
            <a:pPr algn="r">
              <a:lnSpc>
                <a:spcPct val="100000"/>
              </a:lnSpc>
            </a:pPr>
            <a:r>
              <a:rPr sz="1200">
                <a:solidFill>
                  <a:srgbClr val="4F5D6A"/>
                </a:solidFill>
                <a:latin typeface="Consolas"/>
              </a:rPr>
              <a:t>9</a:t>
            </a:r>
          </a:p>
          <a:p>
            <a:pPr algn="r">
              <a:lnSpc>
                <a:spcPct val="100000"/>
              </a:lnSpc>
            </a:pPr>
            <a:r>
              <a:rPr sz="1200">
                <a:solidFill>
                  <a:srgbClr val="4F5D6A"/>
                </a:solidFill>
                <a:latin typeface="Consolas"/>
              </a:rPr>
              <a:t>10</a:t>
            </a:r>
          </a:p>
          <a:p>
            <a:pPr algn="r">
              <a:lnSpc>
                <a:spcPct val="100000"/>
              </a:lnSpc>
            </a:pPr>
            <a:r>
              <a:rPr sz="1200">
                <a:solidFill>
                  <a:srgbClr val="4F5D6A"/>
                </a:solidFill>
                <a:latin typeface="Consolas"/>
              </a:rPr>
              <a:t>11</a:t>
            </a:r>
          </a:p>
          <a:p>
            <a:pPr algn="r">
              <a:lnSpc>
                <a:spcPct val="100000"/>
              </a:lnSpc>
            </a:pPr>
            <a:r>
              <a:rPr sz="1200">
                <a:solidFill>
                  <a:srgbClr val="4F5D6A"/>
                </a:solidFill>
                <a:latin typeface="Consolas"/>
              </a:rPr>
              <a:t>12</a:t>
            </a:r>
          </a:p>
          <a:p>
            <a:pPr algn="r">
              <a:lnSpc>
                <a:spcPct val="100000"/>
              </a:lnSpc>
            </a:pPr>
            <a:r>
              <a:rPr sz="1200">
                <a:solidFill>
                  <a:srgbClr val="4F5D6A"/>
                </a:solidFill>
                <a:latin typeface="Consolas"/>
              </a:rPr>
              <a:t>13</a:t>
            </a:r>
          </a:p>
          <a:p>
            <a:pPr algn="r">
              <a:lnSpc>
                <a:spcPct val="100000"/>
              </a:lnSpc>
            </a:pPr>
            <a:r>
              <a:rPr sz="1200">
                <a:solidFill>
                  <a:srgbClr val="4F5D6A"/>
                </a:solidFill>
                <a:latin typeface="Consolas"/>
              </a:rPr>
              <a:t>14</a:t>
            </a:r>
          </a:p>
          <a:p>
            <a:pPr algn="r">
              <a:lnSpc>
                <a:spcPct val="100000"/>
              </a:lnSpc>
            </a:pPr>
            <a:r>
              <a:rPr sz="1200">
                <a:solidFill>
                  <a:srgbClr val="4F5D6A"/>
                </a:solidFill>
                <a:latin typeface="Consolas"/>
              </a:rPr>
              <a:t>15</a:t>
            </a:r>
          </a:p>
          <a:p>
            <a:pPr algn="r">
              <a:lnSpc>
                <a:spcPct val="100000"/>
              </a:lnSpc>
            </a:pPr>
            <a:r>
              <a:rPr sz="1200">
                <a:solidFill>
                  <a:srgbClr val="4F5D6A"/>
                </a:solidFill>
                <a:latin typeface="Consolas"/>
              </a:rPr>
              <a:t>16</a:t>
            </a:r>
          </a:p>
          <a:p>
            <a:pPr algn="r">
              <a:lnSpc>
                <a:spcPct val="100000"/>
              </a:lnSpc>
            </a:pPr>
            <a:r>
              <a:rPr sz="1200">
                <a:solidFill>
                  <a:srgbClr val="4F5D6A"/>
                </a:solidFill>
                <a:latin typeface="Consolas"/>
              </a:rPr>
              <a:t>17</a:t>
            </a:r>
          </a:p>
          <a:p>
            <a:pPr algn="r">
              <a:lnSpc>
                <a:spcPct val="100000"/>
              </a:lnSpc>
            </a:pPr>
            <a:r>
              <a:rPr sz="1200">
                <a:solidFill>
                  <a:srgbClr val="4F5D6A"/>
                </a:solidFill>
                <a:latin typeface="Consolas"/>
              </a:rPr>
              <a:t>18</a:t>
            </a:r>
          </a:p>
          <a:p>
            <a:pPr algn="r">
              <a:lnSpc>
                <a:spcPct val="100000"/>
              </a:lnSpc>
            </a:pPr>
            <a:r>
              <a:rPr sz="1200">
                <a:solidFill>
                  <a:srgbClr val="4F5D6A"/>
                </a:solidFill>
                <a:latin typeface="Consolas"/>
              </a:rPr>
              <a:t>19</a:t>
            </a:r>
          </a:p>
          <a:p>
            <a:pPr algn="r">
              <a:lnSpc>
                <a:spcPct val="100000"/>
              </a:lnSpc>
            </a:pPr>
            <a:r>
              <a:rPr sz="1200">
                <a:solidFill>
                  <a:srgbClr val="4F5D6A"/>
                </a:solidFill>
                <a:latin typeface="Consolas"/>
              </a:rPr>
              <a:t>20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1125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  ·  Handout p. 38     </a:t>
            </a:r>
            <a:fld id="{BB05BF8A-939B-4494-AB23-E0C4A8341273}" type="slidenum">
              <a:rPr lang="en-GB" sz="1000">
                <a:solidFill>
                  <a:srgbClr val="8795A1"/>
                </a:solidFill>
                <a:latin typeface="Segoe UI"/>
              </a:rPr>
              <a:t>35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The point of the last two lines:</a:t>
            </a:r>
            <a:r>
              <a:rPr sz="2300" b="0" i="0">
                <a:solidFill>
                  <a:srgbClr val="1C252B"/>
                </a:solidFill>
                <a:latin typeface="Segoe UI"/>
              </a:rPr>
              <a:t> in rare-event detection, effort spent reducing false alarms is worth vastly more than effort spent raising the detection rate. That is a counter-intuitive engineering priority, and it falls straight out of Bayes’ theorem.</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27628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test is 95% accurate for a condition affecting 1 in 1,000 people. Roughly what fraction of positive tests are correct — about 95%, about 50%, or about 2%? Justify without a calculator.</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6  ·  Probability and Uncertainty</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42  ·  answers in Appendix D     </a:t>
            </a:r>
            <a:fld id="{A3A965A3-1559-4038-8858-B5B4234A3F09}"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test is 95% accurate for a condition affecting 1 in 1,000 people. Roughly what fraction of positive tests are correct — about 95%, about 50%, or about 2%? Justify without a calculator.</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About 2%. Of 100,000 people, 100 have the condition and 95 test positive; 99,900 do not and about 4,995 test positive falsely. So </a:t>
            </a:r>
            <a:r>
              <a:rPr sz="2200" b="0" i="0">
                <a:solidFill>
                  <a:srgbClr val="1C252B"/>
                </a:solidFill>
                <a:latin typeface="Cambria"/>
              </a:rPr>
              <a:t>95/5090 ≈ 1.9%</a:t>
            </a:r>
            <a:r>
              <a:rPr sz="2200" b="0" i="0">
                <a:solidFill>
                  <a:srgbClr val="1C252B"/>
                </a:solidFill>
                <a:latin typeface="Segoe UI"/>
              </a:rPr>
              <a:t>. This is the base-rate fallacy (Figure 6.2).</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  answers in Appendix D     </a:t>
            </a:r>
            <a:fld id="{D68F6774-CB12-4DA4-922E-E904F4FFE2DC}"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80636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Events </a:t>
            </a:r>
            <a:r>
              <a:rPr sz="3400" b="0" i="1">
                <a:solidFill>
                  <a:srgbClr val="FFFFFF"/>
                </a:solidFill>
                <a:latin typeface="Cambria"/>
              </a:rPr>
              <a:t>A</a:t>
            </a:r>
            <a:r>
              <a:rPr sz="3400" b="0" i="0">
                <a:solidFill>
                  <a:srgbClr val="FFFFFF"/>
                </a:solidFill>
                <a:latin typeface="Segoe UI Semibold"/>
              </a:rPr>
              <a:t> and </a:t>
            </a:r>
            <a:r>
              <a:rPr sz="3400" b="0" i="1">
                <a:solidFill>
                  <a:srgbClr val="FFFFFF"/>
                </a:solidFill>
                <a:latin typeface="Cambria"/>
              </a:rPr>
              <a:t>B</a:t>
            </a:r>
            <a:r>
              <a:rPr sz="3400" b="0" i="0">
                <a:solidFill>
                  <a:srgbClr val="FFFFFF"/>
                </a:solidFill>
                <a:latin typeface="Segoe UI Semibold"/>
              </a:rPr>
              <a:t> are mutually exclusive and both have probability 0.3. Are they independent? Show why.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6  ·  Probability and Uncertainty</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42  ·  answers in Appendix D     </a:t>
            </a:r>
            <a:fld id="{18C2337E-EEFB-4B06-BA62-C9B6238F0105}" type="slidenum">
              <a:rPr lang="en-GB" sz="1000">
                <a:solidFill>
                  <a:srgbClr val="D5DEE5"/>
                </a:solidFill>
                <a:latin typeface="Segoe UI"/>
              </a:rPr>
              <a:t>38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Events </a:t>
            </a:r>
            <a:r>
              <a:rPr sz="2400" b="0" i="1">
                <a:solidFill>
                  <a:srgbClr val="1A5276"/>
                </a:solidFill>
                <a:latin typeface="Cambria"/>
              </a:rPr>
              <a:t>A</a:t>
            </a:r>
            <a:r>
              <a:rPr sz="2400" b="0" i="0">
                <a:solidFill>
                  <a:srgbClr val="1A5276"/>
                </a:solidFill>
                <a:latin typeface="Segoe UI Semibold"/>
              </a:rPr>
              <a:t> and </a:t>
            </a:r>
            <a:r>
              <a:rPr sz="2400" b="0" i="1">
                <a:solidFill>
                  <a:srgbClr val="1A5276"/>
                </a:solidFill>
                <a:latin typeface="Cambria"/>
              </a:rPr>
              <a:t>B</a:t>
            </a:r>
            <a:r>
              <a:rPr sz="2400" b="0" i="0">
                <a:solidFill>
                  <a:srgbClr val="1A5276"/>
                </a:solidFill>
                <a:latin typeface="Segoe UI Semibold"/>
              </a:rPr>
              <a:t> are mutually exclusive and both have probability 0.3. Are they independent? Show why.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No. Mutually exclusive means </a:t>
            </a:r>
            <a:r>
              <a:rPr sz="2200" b="0" i="1">
                <a:solidFill>
                  <a:srgbClr val="1C252B"/>
                </a:solidFill>
                <a:latin typeface="Cambria"/>
              </a:rPr>
              <a:t>P</a:t>
            </a:r>
            <a:r>
              <a:rPr sz="2200" b="0" i="0">
                <a:solidFill>
                  <a:srgbClr val="1C252B"/>
                </a:solidFill>
                <a:latin typeface="Cambria"/>
              </a:rPr>
              <a:t>(</a:t>
            </a:r>
            <a:r>
              <a:rPr sz="2200" b="0" i="1">
                <a:solidFill>
                  <a:srgbClr val="1C252B"/>
                </a:solidFill>
                <a:latin typeface="Cambria"/>
              </a:rPr>
              <a:t>A</a:t>
            </a:r>
            <a:r>
              <a:rPr sz="2200" b="0" i="0">
                <a:solidFill>
                  <a:srgbClr val="1C252B"/>
                </a:solidFill>
                <a:latin typeface="Cambria"/>
              </a:rPr>
              <a:t>∩ </a:t>
            </a:r>
            <a:r>
              <a:rPr sz="2200" b="0" i="1">
                <a:solidFill>
                  <a:srgbClr val="1C252B"/>
                </a:solidFill>
                <a:latin typeface="Cambria"/>
              </a:rPr>
              <a:t>B</a:t>
            </a:r>
            <a:r>
              <a:rPr sz="2200" b="0" i="0">
                <a:solidFill>
                  <a:srgbClr val="1C252B"/>
                </a:solidFill>
                <a:latin typeface="Cambria"/>
              </a:rPr>
              <a:t>)=0</a:t>
            </a:r>
            <a:r>
              <a:rPr sz="2200" b="0" i="0">
                <a:solidFill>
                  <a:srgbClr val="1C252B"/>
                </a:solidFill>
                <a:latin typeface="Segoe UI"/>
              </a:rPr>
              <a:t>, but independence would require </a:t>
            </a:r>
            <a:r>
              <a:rPr sz="2200" b="0" i="1">
                <a:solidFill>
                  <a:srgbClr val="1C252B"/>
                </a:solidFill>
                <a:latin typeface="Cambria"/>
              </a:rPr>
              <a:t>P</a:t>
            </a:r>
            <a:r>
              <a:rPr sz="2200" b="0" i="0">
                <a:solidFill>
                  <a:srgbClr val="1C252B"/>
                </a:solidFill>
                <a:latin typeface="Cambria"/>
              </a:rPr>
              <a:t>(</a:t>
            </a:r>
            <a:r>
              <a:rPr sz="2200" b="0" i="1">
                <a:solidFill>
                  <a:srgbClr val="1C252B"/>
                </a:solidFill>
                <a:latin typeface="Cambria"/>
              </a:rPr>
              <a:t>A</a:t>
            </a:r>
            <a:r>
              <a:rPr sz="2200" b="0" i="0">
                <a:solidFill>
                  <a:srgbClr val="1C252B"/>
                </a:solidFill>
                <a:latin typeface="Cambria"/>
              </a:rPr>
              <a:t>)</a:t>
            </a:r>
            <a:r>
              <a:rPr sz="2200" b="0" i="1">
                <a:solidFill>
                  <a:srgbClr val="1C252B"/>
                </a:solidFill>
                <a:latin typeface="Cambria"/>
              </a:rPr>
              <a:t>P</a:t>
            </a:r>
            <a:r>
              <a:rPr sz="2200" b="0" i="0">
                <a:solidFill>
                  <a:srgbClr val="1C252B"/>
                </a:solidFill>
                <a:latin typeface="Cambria"/>
              </a:rPr>
              <a:t>(</a:t>
            </a:r>
            <a:r>
              <a:rPr sz="2200" b="0" i="1">
                <a:solidFill>
                  <a:srgbClr val="1C252B"/>
                </a:solidFill>
                <a:latin typeface="Cambria"/>
              </a:rPr>
              <a:t>B</a:t>
            </a:r>
            <a:r>
              <a:rPr sz="2200" b="0" i="0">
                <a:solidFill>
                  <a:srgbClr val="1C252B"/>
                </a:solidFill>
                <a:latin typeface="Cambria"/>
              </a:rPr>
              <a:t>)=0.09</a:t>
            </a:r>
            <a:r>
              <a:rPr sz="2200" b="0" i="0">
                <a:solidFill>
                  <a:srgbClr val="1C252B"/>
                </a:solidFill>
                <a:latin typeface="Segoe UI"/>
              </a:rPr>
              <a:t>. Since </a:t>
            </a:r>
            <a:r>
              <a:rPr sz="2200" b="0" i="0">
                <a:solidFill>
                  <a:srgbClr val="1C252B"/>
                </a:solidFill>
                <a:latin typeface="Cambria"/>
              </a:rPr>
              <a:t>0 ≠ 0.09</a:t>
            </a:r>
            <a:r>
              <a:rPr sz="2200" b="0" i="0">
                <a:solidFill>
                  <a:srgbClr val="1C252B"/>
                </a:solidFill>
                <a:latin typeface="Segoe UI"/>
              </a:rPr>
              <a:t>, they are strongly </a:t>
            </a:r>
            <a:r>
              <a:rPr sz="2200" b="0" i="1">
                <a:solidFill>
                  <a:srgbClr val="1C252B"/>
                </a:solidFill>
                <a:latin typeface="Segoe UI"/>
              </a:rPr>
              <a:t>dependent</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  answers in Appendix D     </a:t>
            </a:r>
            <a:fld id="{59F3A77B-F6C1-452C-A888-8061888B5A76}" type="slidenum">
              <a:rPr lang="en-GB" sz="1000">
                <a:solidFill>
                  <a:srgbClr val="8795A1"/>
                </a:solidFill>
                <a:latin typeface="Segoe UI"/>
              </a:rPr>
              <a:t>39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3643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The CLT says the sample mean becomes normal as </a:t>
            </a:r>
            <a:r>
              <a:rPr sz="3400" b="0" i="1">
                <a:solidFill>
                  <a:srgbClr val="FFFFFF"/>
                </a:solidFill>
                <a:latin typeface="Cambria"/>
              </a:rPr>
              <a:t>n</a:t>
            </a:r>
            <a:r>
              <a:rPr sz="3400" b="0" i="0">
                <a:solidFill>
                  <a:srgbClr val="FFFFFF"/>
                </a:solidFill>
                <a:latin typeface="Segoe UI Semibold"/>
              </a:rPr>
              <a:t> grows. Does it say individual observations become normal?</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6  ·  Probability and Uncertainty</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42  ·  answers in Appendix D     </a:t>
            </a:r>
            <a:fld id="{00CD6DD5-89D7-4C6D-B593-5052302D38F3}"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The CLT says the sample mean becomes normal as </a:t>
            </a:r>
            <a:r>
              <a:rPr sz="2400" b="0" i="1">
                <a:solidFill>
                  <a:srgbClr val="1A5276"/>
                </a:solidFill>
                <a:latin typeface="Cambria"/>
              </a:rPr>
              <a:t>n</a:t>
            </a:r>
            <a:r>
              <a:rPr sz="2400" b="0" i="0">
                <a:solidFill>
                  <a:srgbClr val="1A5276"/>
                </a:solidFill>
                <a:latin typeface="Segoe UI Semibold"/>
              </a:rPr>
              <a:t> grows. Does it say individual observations become normal?</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No. It concerns the distribution of </a:t>
            </a:r>
            <a:r>
              <a:rPr sz="2200" b="0" i="1">
                <a:solidFill>
                  <a:srgbClr val="1C252B"/>
                </a:solidFill>
                <a:latin typeface="Segoe UI"/>
              </a:rPr>
              <a:t>sample means</a:t>
            </a:r>
            <a:r>
              <a:rPr sz="2200" b="0" i="0">
                <a:solidFill>
                  <a:srgbClr val="1C252B"/>
                </a:solidFill>
                <a:latin typeface="Segoe UI"/>
              </a:rPr>
              <a:t>. Individual observations keep whatever distribution the population has, however large </a:t>
            </a:r>
            <a:r>
              <a:rPr sz="2200" b="0" i="1">
                <a:solidFill>
                  <a:srgbClr val="1C252B"/>
                </a:solidFill>
                <a:latin typeface="Cambria"/>
              </a:rPr>
              <a:t>n</a:t>
            </a:r>
            <a:r>
              <a:rPr sz="2200" b="0" i="0">
                <a:solidFill>
                  <a:srgbClr val="1C252B"/>
                </a:solidFill>
                <a:latin typeface="Segoe UI"/>
              </a:rPr>
              <a:t> becomes.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  answers in Appendix D     </a:t>
            </a:r>
            <a:fld id="{00E52587-8239-421C-A551-A2A26F5D7052}" type="slidenum">
              <a:rPr lang="en-GB" sz="1000">
                <a:solidFill>
                  <a:srgbClr val="8795A1"/>
                </a:solidFill>
                <a:latin typeface="Segoe UI"/>
              </a:rPr>
              <a:t>41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6651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a:t>
            </a:r>
            <a:fld id="{A0F53A72-34FB-4513-B901-5319DDCB5290}" type="slidenum">
              <a:rPr lang="en-GB" sz="1000">
                <a:solidFill>
                  <a:srgbClr val="8795A1"/>
                </a:solidFill>
                <a:latin typeface="Segoe UI"/>
              </a:rPr>
              <a:t>42</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Probability is how uncertainty is written down; every classifier output is a probability statement.</a:t>
            </a:r>
          </a:p>
        </p:txBody>
      </p:sp>
      <p:sp>
        <p:nvSpPr>
          <p:cNvPr id="10" name="!!sb1">
            <a:extLst>
              <a:ext uri="{C183D7F6-B498-43B3-948B-1728B52AA6E4}">
                <adec:decorative xmlns:adec="http://schemas.microsoft.com/office/drawing/2017/decorative" val="1"/>
              </a:ext>
            </a:extLst>
          </p:cNvPr>
          <p:cNvSpPr/>
          <p:nvPr/>
        </p:nvSpPr>
        <p:spPr>
          <a:xfrm>
            <a:off x="658368" y="25950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499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85923"/>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1">
                <a:solidFill>
                  <a:srgbClr val="1C252B"/>
                </a:solidFill>
                <a:latin typeface="Cambria"/>
              </a:rPr>
              <a:t>P</a:t>
            </a:r>
            <a:r>
              <a:rPr sz="2100" b="0" i="0">
                <a:solidFill>
                  <a:srgbClr val="1C252B"/>
                </a:solidFill>
                <a:latin typeface="Cambria"/>
              </a:rPr>
              <a:t>(</a:t>
            </a:r>
            <a:r>
              <a:rPr sz="2100" b="0" i="1">
                <a:solidFill>
                  <a:srgbClr val="1C252B"/>
                </a:solidFill>
                <a:latin typeface="Cambria"/>
              </a:rPr>
              <a:t>A</a:t>
            </a:r>
            <a:r>
              <a:rPr sz="2100" b="0" i="0">
                <a:solidFill>
                  <a:srgbClr val="1C252B"/>
                </a:solidFill>
                <a:latin typeface="Cambria"/>
              </a:rPr>
              <a:t> ∩ </a:t>
            </a:r>
            <a:r>
              <a:rPr sz="2100" b="0" i="1">
                <a:solidFill>
                  <a:srgbClr val="1C252B"/>
                </a:solidFill>
                <a:latin typeface="Cambria"/>
              </a:rPr>
              <a:t>B</a:t>
            </a:r>
            <a:r>
              <a:rPr sz="2100" b="0" i="0">
                <a:solidFill>
                  <a:srgbClr val="1C252B"/>
                </a:solidFill>
                <a:latin typeface="Cambria"/>
              </a:rPr>
              <a:t>) = </a:t>
            </a:r>
            <a:r>
              <a:rPr sz="2100" b="0" i="1">
                <a:solidFill>
                  <a:srgbClr val="1C252B"/>
                </a:solidFill>
                <a:latin typeface="Cambria"/>
              </a:rPr>
              <a:t>P</a:t>
            </a:r>
            <a:r>
              <a:rPr sz="2100" b="0" i="0">
                <a:solidFill>
                  <a:srgbClr val="1C252B"/>
                </a:solidFill>
                <a:latin typeface="Cambria"/>
              </a:rPr>
              <a:t>(</a:t>
            </a:r>
            <a:r>
              <a:rPr sz="2100" b="0" i="1">
                <a:solidFill>
                  <a:srgbClr val="1C252B"/>
                </a:solidFill>
                <a:latin typeface="Cambria"/>
              </a:rPr>
              <a:t>A</a:t>
            </a:r>
            <a:r>
              <a:rPr sz="2100" b="0" i="0">
                <a:solidFill>
                  <a:srgbClr val="1C252B"/>
                </a:solidFill>
                <a:latin typeface="Cambria"/>
              </a:rPr>
              <a:t>)</a:t>
            </a:r>
            <a:r>
              <a:rPr sz="2100" b="0" i="1">
                <a:solidFill>
                  <a:srgbClr val="1C252B"/>
                </a:solidFill>
                <a:latin typeface="Cambria"/>
              </a:rPr>
              <a:t>P</a:t>
            </a:r>
            <a:r>
              <a:rPr sz="2100" b="0" i="0">
                <a:solidFill>
                  <a:srgbClr val="1C252B"/>
                </a:solidFill>
                <a:latin typeface="Cambria"/>
              </a:rPr>
              <a:t>(</a:t>
            </a:r>
            <a:r>
              <a:rPr sz="2100" b="0" i="1">
                <a:solidFill>
                  <a:srgbClr val="1C252B"/>
                </a:solidFill>
                <a:latin typeface="Cambria"/>
              </a:rPr>
              <a:t>B</a:t>
            </a:r>
            <a:r>
              <a:rPr sz="2100" b="0" i="0">
                <a:solidFill>
                  <a:srgbClr val="1C252B"/>
                </a:solidFill>
                <a:latin typeface="Cambria"/>
              </a:rPr>
              <a:t>)</a:t>
            </a:r>
            <a:r>
              <a:rPr sz="2100" b="0" i="0">
                <a:solidFill>
                  <a:srgbClr val="1C252B"/>
                </a:solidFill>
                <a:latin typeface="Segoe UI"/>
              </a:rPr>
              <a:t> only under independence; the addition rule needs the overlap subtracted unless events are mutually exclusive.</a:t>
            </a:r>
          </a:p>
        </p:txBody>
      </p:sp>
      <p:sp>
        <p:nvSpPr>
          <p:cNvPr id="13" name="!!sb2">
            <a:extLst>
              <a:ext uri="{C183D7F6-B498-43B3-948B-1728B52AA6E4}">
                <adec:decorative xmlns:adec="http://schemas.microsoft.com/office/drawing/2017/decorative" val="1"/>
              </a:ext>
            </a:extLst>
          </p:cNvPr>
          <p:cNvSpPr/>
          <p:nvPr/>
        </p:nvSpPr>
        <p:spPr>
          <a:xfrm>
            <a:off x="658368" y="344363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9849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34486"/>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Conditioning shrinks the sample space, which is why </a:t>
            </a:r>
            <a:r>
              <a:rPr sz="2100" b="0" i="1">
                <a:solidFill>
                  <a:srgbClr val="1C252B"/>
                </a:solidFill>
                <a:latin typeface="Cambria"/>
              </a:rPr>
              <a:t>P</a:t>
            </a:r>
            <a:r>
              <a:rPr sz="2100" b="0" i="0">
                <a:solidFill>
                  <a:srgbClr val="1C252B"/>
                </a:solidFill>
                <a:latin typeface="Cambria"/>
              </a:rPr>
              <a:t>(</a:t>
            </a:r>
            <a:r>
              <a:rPr sz="2100" b="0" i="1">
                <a:solidFill>
                  <a:srgbClr val="1C252B"/>
                </a:solidFill>
                <a:latin typeface="Cambria"/>
              </a:rPr>
              <a:t>A</a:t>
            </a:r>
            <a:r>
              <a:rPr sz="2100" b="0" i="0">
                <a:solidFill>
                  <a:srgbClr val="1C252B"/>
                </a:solidFill>
                <a:latin typeface="Cambria"/>
              </a:rPr>
              <a:t> ∣ </a:t>
            </a:r>
            <a:r>
              <a:rPr sz="2100" b="0" i="1">
                <a:solidFill>
                  <a:srgbClr val="1C252B"/>
                </a:solidFill>
                <a:latin typeface="Cambria"/>
              </a:rPr>
              <a:t>B</a:t>
            </a:r>
            <a:r>
              <a:rPr sz="2100" b="0" i="0">
                <a:solidFill>
                  <a:srgbClr val="1C252B"/>
                </a:solidFill>
                <a:latin typeface="Cambria"/>
              </a:rPr>
              <a:t>)</a:t>
            </a:r>
            <a:r>
              <a:rPr sz="2100" b="0" i="0">
                <a:solidFill>
                  <a:srgbClr val="1C252B"/>
                </a:solidFill>
                <a:latin typeface="Segoe UI"/>
              </a:rPr>
              <a:t> and </a:t>
            </a:r>
            <a:r>
              <a:rPr sz="2100" b="0" i="1">
                <a:solidFill>
                  <a:srgbClr val="1C252B"/>
                </a:solidFill>
                <a:latin typeface="Cambria"/>
              </a:rPr>
              <a:t>P</a:t>
            </a:r>
            <a:r>
              <a:rPr sz="2100" b="0" i="0">
                <a:solidFill>
                  <a:srgbClr val="1C252B"/>
                </a:solidFill>
                <a:latin typeface="Cambria"/>
              </a:rPr>
              <a:t>(</a:t>
            </a:r>
            <a:r>
              <a:rPr sz="2100" b="0" i="1">
                <a:solidFill>
                  <a:srgbClr val="1C252B"/>
                </a:solidFill>
                <a:latin typeface="Cambria"/>
              </a:rPr>
              <a:t>B</a:t>
            </a:r>
            <a:r>
              <a:rPr sz="2100" b="0" i="0">
                <a:solidFill>
                  <a:srgbClr val="1C252B"/>
                </a:solidFill>
                <a:latin typeface="Cambria"/>
              </a:rPr>
              <a:t> ∣ </a:t>
            </a:r>
            <a:r>
              <a:rPr sz="2100" b="0" i="1">
                <a:solidFill>
                  <a:srgbClr val="1C252B"/>
                </a:solidFill>
                <a:latin typeface="Cambria"/>
              </a:rPr>
              <a:t>A</a:t>
            </a:r>
            <a:r>
              <a:rPr sz="2100" b="0" i="0">
                <a:solidFill>
                  <a:srgbClr val="1C252B"/>
                </a:solidFill>
                <a:latin typeface="Cambria"/>
              </a:rPr>
              <a:t>)</a:t>
            </a:r>
            <a:r>
              <a:rPr sz="2100" b="0" i="0">
                <a:solidFill>
                  <a:srgbClr val="1C252B"/>
                </a:solidFill>
                <a:latin typeface="Segoe UI"/>
              </a:rPr>
              <a:t> differ.</a:t>
            </a:r>
          </a:p>
        </p:txBody>
      </p:sp>
      <p:sp>
        <p:nvSpPr>
          <p:cNvPr id="16" name="!!sb3">
            <a:extLst>
              <a:ext uri="{C183D7F6-B498-43B3-948B-1728B52AA6E4}">
                <adec:decorative xmlns:adec="http://schemas.microsoft.com/office/drawing/2017/decorative" val="1"/>
              </a:ext>
            </a:extLst>
          </p:cNvPr>
          <p:cNvSpPr/>
          <p:nvPr/>
        </p:nvSpPr>
        <p:spPr>
          <a:xfrm>
            <a:off x="658368" y="402884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8371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19702"/>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Bayes’ theorem converts measurable likelihoods into the posterior you actually want. Under a low base rate, an excellent detector still produces mostly-wrong alerts.</a:t>
            </a:r>
          </a:p>
        </p:txBody>
      </p:sp>
      <p:sp>
        <p:nvSpPr>
          <p:cNvPr id="19" name="!!sb4">
            <a:extLst>
              <a:ext uri="{C183D7F6-B498-43B3-948B-1728B52AA6E4}">
                <adec:decorative xmlns:adec="http://schemas.microsoft.com/office/drawing/2017/decorative" val="1"/>
              </a:ext>
            </a:extLst>
          </p:cNvPr>
          <p:cNvSpPr/>
          <p:nvPr/>
        </p:nvSpPr>
        <p:spPr>
          <a:xfrm>
            <a:off x="658368" y="487740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3227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68265"/>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Expected value turns model quality into a cost comparison a stakeholder can act on.</a:t>
            </a:r>
          </a:p>
        </p:txBody>
      </p:sp>
      <p:sp>
        <p:nvSpPr>
          <p:cNvPr id="22" name="!!sb5">
            <a:extLst>
              <a:ext uri="{C183D7F6-B498-43B3-948B-1728B52AA6E4}">
                <adec:decorative xmlns:adec="http://schemas.microsoft.com/office/drawing/2017/decorative" val="1"/>
              </a:ext>
            </a:extLst>
          </p:cNvPr>
          <p:cNvSpPr/>
          <p:nvPr/>
        </p:nvSpPr>
        <p:spPr>
          <a:xfrm>
            <a:off x="658368" y="546262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51748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453481"/>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CLT makes sample means normal regardless of the population’s shape, and uncertainty falls only as </a:t>
            </a:r>
            <a:r>
              <a:rPr sz="2100" b="0" i="0">
                <a:solidFill>
                  <a:srgbClr val="1C252B"/>
                </a:solidFill>
                <a:latin typeface="Cambria"/>
              </a:rPr>
              <a:t>√</a:t>
            </a:r>
            <a:r>
              <a:rPr sz="2100" b="0" i="1">
                <a:solidFill>
                  <a:srgbClr val="1C252B"/>
                </a:solidFill>
                <a:latin typeface="Cambria"/>
              </a:rPr>
              <a:t>n</a:t>
            </a:r>
            <a:r>
              <a:rPr sz="2100" b="0" i="0">
                <a:solidFill>
                  <a:srgbClr val="1C252B"/>
                </a:solidFill>
                <a:latin typeface="Segoe UI"/>
              </a:rPr>
              <a:t>.</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13154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a:t>
            </a:r>
            <a:fld id="{1CCE808C-8E8E-4F3A-9D7A-37049D2757BB}" type="slidenum">
              <a:rPr lang="en-GB" sz="1000">
                <a:solidFill>
                  <a:srgbClr val="8795A1"/>
                </a:solidFill>
                <a:latin typeface="Segoe UI"/>
              </a:rPr>
              <a:t>43</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1">
                <a:solidFill>
                  <a:srgbClr val="1C252B"/>
                </a:solidFill>
                <a:latin typeface="Cambria"/>
              </a:rPr>
              <a:t>P</a:t>
            </a:r>
            <a:r>
              <a:rPr sz="2600" b="0" i="0">
                <a:solidFill>
                  <a:srgbClr val="1C252B"/>
                </a:solidFill>
                <a:latin typeface="Cambria"/>
              </a:rPr>
              <a:t>(</a:t>
            </a:r>
            <a:r>
              <a:rPr sz="2600" b="0" i="1">
                <a:solidFill>
                  <a:srgbClr val="1C252B"/>
                </a:solidFill>
                <a:latin typeface="Cambria"/>
              </a:rPr>
              <a:t>A</a:t>
            </a:r>
            <a:r>
              <a:rPr sz="2600" b="0" i="0">
                <a:solidFill>
                  <a:srgbClr val="1C252B"/>
                </a:solidFill>
                <a:latin typeface="Cambria"/>
              </a:rPr>
              <a:t> ∩ </a:t>
            </a:r>
            <a:r>
              <a:rPr sz="2600" b="0" i="1">
                <a:solidFill>
                  <a:srgbClr val="1C252B"/>
                </a:solidFill>
                <a:latin typeface="Cambria"/>
              </a:rPr>
              <a:t>B</a:t>
            </a:r>
            <a:r>
              <a:rPr sz="2600" b="0" i="0">
                <a:solidFill>
                  <a:srgbClr val="1C252B"/>
                </a:solidFill>
                <a:latin typeface="Cambria"/>
              </a:rPr>
              <a:t>) = </a:t>
            </a:r>
            <a:r>
              <a:rPr sz="2600" b="0" i="1">
                <a:solidFill>
                  <a:srgbClr val="1C252B"/>
                </a:solidFill>
                <a:latin typeface="Cambria"/>
              </a:rPr>
              <a:t>P</a:t>
            </a:r>
            <a:r>
              <a:rPr sz="2600" b="0" i="0">
                <a:solidFill>
                  <a:srgbClr val="1C252B"/>
                </a:solidFill>
                <a:latin typeface="Cambria"/>
              </a:rPr>
              <a:t>(</a:t>
            </a:r>
            <a:r>
              <a:rPr sz="2600" b="0" i="1">
                <a:solidFill>
                  <a:srgbClr val="1C252B"/>
                </a:solidFill>
                <a:latin typeface="Cambria"/>
              </a:rPr>
              <a:t>A</a:t>
            </a:r>
            <a:r>
              <a:rPr sz="2600" b="0" i="0">
                <a:solidFill>
                  <a:srgbClr val="1C252B"/>
                </a:solidFill>
                <a:latin typeface="Cambria"/>
              </a:rPr>
              <a:t>) × </a:t>
            </a:r>
            <a:r>
              <a:rPr sz="2600" b="0" i="1">
                <a:solidFill>
                  <a:srgbClr val="1C252B"/>
                </a:solidFill>
                <a:latin typeface="Cambria"/>
              </a:rPr>
              <a:t>P</a:t>
            </a:r>
            <a:r>
              <a:rPr sz="2600" b="0" i="0">
                <a:solidFill>
                  <a:srgbClr val="1C252B"/>
                </a:solidFill>
                <a:latin typeface="Cambria"/>
              </a:rPr>
              <a:t>(</a:t>
            </a:r>
            <a:r>
              <a:rPr sz="2600" b="0" i="1">
                <a:solidFill>
                  <a:srgbClr val="1C252B"/>
                </a:solidFill>
                <a:latin typeface="Cambria"/>
              </a:rPr>
              <a:t>B</a:t>
            </a:r>
            <a:r>
              <a:rPr sz="2600" b="0" i="0">
                <a:solidFill>
                  <a:srgbClr val="1C252B"/>
                </a:solidFill>
                <a:latin typeface="Cambria"/>
              </a:rPr>
              <a:t>)</a:t>
            </a:r>
            <a:r>
              <a:rPr sz="2600" b="0" i="0">
                <a:solidFill>
                  <a:srgbClr val="1C252B"/>
                </a:solidFill>
                <a:latin typeface="Segoe UI"/>
              </a:rPr>
              <a:t> holds when </a:t>
            </a:r>
            <a:r>
              <a:rPr sz="2600" b="0" i="1">
                <a:solidFill>
                  <a:srgbClr val="1C252B"/>
                </a:solidFill>
                <a:latin typeface="Cambria"/>
              </a:rPr>
              <a:t>A</a:t>
            </a:r>
            <a:r>
              <a:rPr sz="2600" b="0" i="0">
                <a:solidFill>
                  <a:srgbClr val="1C252B"/>
                </a:solidFill>
                <a:latin typeface="Segoe UI"/>
              </a:rPr>
              <a:t> and </a:t>
            </a:r>
            <a:r>
              <a:rPr sz="2600" b="0" i="1">
                <a:solidFill>
                  <a:srgbClr val="1C252B"/>
                </a:solidFill>
                <a:latin typeface="Cambria"/>
              </a:rPr>
              <a:t>B</a:t>
            </a:r>
            <a:r>
              <a:rPr sz="2600" b="0" i="0">
                <a:solidFill>
                  <a:srgbClr val="1C252B"/>
                </a:solidFill>
                <a:latin typeface="Segoe UI"/>
              </a:rPr>
              <a:t> are: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mutually exclusive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independent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equally likely</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always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9658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a:t>
            </a:r>
            <a:fld id="{6F566B7C-7343-4B20-AEE2-2CD657EFC957}" type="slidenum">
              <a:rPr lang="en-GB" sz="1000">
                <a:solidFill>
                  <a:srgbClr val="8795A1"/>
                </a:solidFill>
                <a:latin typeface="Segoe UI"/>
              </a:rPr>
              <a:t>44</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As sample size quadruples, the standard deviation of the sample mean: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quadruples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doubles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halves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is unchanged</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6162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6  ·  Probability and Uncertainty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a:t>
            </a:r>
            <a:fld id="{B87053C1-4E96-42E5-A4C8-4C142A978EED}" type="slidenum">
              <a:rPr lang="en-GB" sz="1000">
                <a:solidFill>
                  <a:srgbClr val="8795A1"/>
                </a:solidFill>
                <a:latin typeface="Segoe UI"/>
              </a:rPr>
              <a:t>45</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28529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State Bayes’ theorem and name each of its four parts.</a:t>
            </a:r>
          </a:p>
        </p:txBody>
      </p:sp>
      <p:sp>
        <p:nvSpPr>
          <p:cNvPr id="10" name="!!rt1">
            <a:extLst>
              <a:ext uri="{C183D7F6-B498-43B3-948B-1728B52AA6E4}">
                <adec:decorative xmlns:adec="http://schemas.microsoft.com/office/drawing/2017/decorative" val="1"/>
              </a:ext>
            </a:extLst>
          </p:cNvPr>
          <p:cNvSpPr/>
          <p:nvPr/>
        </p:nvSpPr>
        <p:spPr>
          <a:xfrm>
            <a:off x="658368" y="226039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0154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42108"/>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Explain the base-rate fallacy to a non-technical manager in three sentences, without using a formula.</a:t>
            </a:r>
          </a:p>
        </p:txBody>
      </p:sp>
      <p:sp>
        <p:nvSpPr>
          <p:cNvPr id="13" name="!!rt2">
            <a:extLst>
              <a:ext uri="{C183D7F6-B498-43B3-948B-1728B52AA6E4}">
                <adec:decorative xmlns:adec="http://schemas.microsoft.com/office/drawing/2017/decorative" val="1"/>
              </a:ext>
            </a:extLst>
          </p:cNvPr>
          <p:cNvSpPr/>
          <p:nvPr/>
        </p:nvSpPr>
        <p:spPr>
          <a:xfrm>
            <a:off x="658368" y="305043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09158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32150"/>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Why are two sensors sharing a power supply not independent, and what does that do to your estimate of </a:t>
            </a:r>
            <a:r>
              <a:rPr sz="1800" b="0" i="1">
                <a:solidFill>
                  <a:srgbClr val="1C252B"/>
                </a:solidFill>
                <a:latin typeface="Cambria"/>
              </a:rPr>
              <a:t>P</a:t>
            </a:r>
            <a:r>
              <a:rPr sz="1800" b="0" i="0">
                <a:solidFill>
                  <a:srgbClr val="1C252B"/>
                </a:solidFill>
                <a:latin typeface="Cambria"/>
              </a:rPr>
              <a:t>(</a:t>
            </a:r>
            <a:r>
              <a:rPr sz="1800" b="0" i="0">
                <a:solidFill>
                  <a:srgbClr val="1C252B"/>
                </a:solidFill>
                <a:latin typeface="Segoe UI"/>
              </a:rPr>
              <a:t>both fail</a:t>
            </a:r>
            <a:r>
              <a:rPr sz="1800" b="0" i="0">
                <a:solidFill>
                  <a:srgbClr val="1C252B"/>
                </a:solidFill>
                <a:latin typeface="Cambria"/>
              </a:rPr>
              <a:t>)</a:t>
            </a:r>
            <a:r>
              <a:rPr sz="1800" b="0" i="0">
                <a:solidFill>
                  <a:srgbClr val="1C252B"/>
                </a:solidFill>
                <a:latin typeface="Segoe UI"/>
              </a:rPr>
              <a:t>?</a:t>
            </a:r>
          </a:p>
        </p:txBody>
      </p:sp>
      <p:sp>
        <p:nvSpPr>
          <p:cNvPr id="16" name="!!rt3">
            <a:extLst>
              <a:ext uri="{C183D7F6-B498-43B3-948B-1728B52AA6E4}">
                <adec:decorative xmlns:adec="http://schemas.microsoft.com/office/drawing/2017/decorative" val="1"/>
              </a:ext>
            </a:extLst>
          </p:cNvPr>
          <p:cNvSpPr/>
          <p:nvPr/>
        </p:nvSpPr>
        <p:spPr>
          <a:xfrm>
            <a:off x="658368" y="3840479"/>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88162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822191"/>
            <a:ext cx="9549079" cy="1141171"/>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plagiarism detector flags 90% of copied assignments and falsely flags 5% of honest ones. 2% of assignments are copied. For 10,000 submissions, build the full table of counts and compute </a:t>
            </a:r>
            <a:r>
              <a:rPr sz="1800" b="0" i="1">
                <a:solidFill>
                  <a:srgbClr val="1C252B"/>
                </a:solidFill>
                <a:latin typeface="Cambria"/>
              </a:rPr>
              <a:t>P</a:t>
            </a:r>
            <a:r>
              <a:rPr sz="1800" b="0" i="0">
                <a:solidFill>
                  <a:srgbClr val="1C252B"/>
                </a:solidFill>
                <a:latin typeface="Cambria"/>
              </a:rPr>
              <a:t>(</a:t>
            </a:r>
            <a:r>
              <a:rPr sz="1800" b="0" i="0">
                <a:solidFill>
                  <a:srgbClr val="1C252B"/>
                </a:solidFill>
                <a:latin typeface="Segoe UI"/>
              </a:rPr>
              <a:t>copied</a:t>
            </a:r>
            <a:r>
              <a:rPr sz="1800" b="0" i="0">
                <a:solidFill>
                  <a:srgbClr val="1C252B"/>
                </a:solidFill>
                <a:latin typeface="Cambria"/>
              </a:rPr>
              <a:t> ∣ </a:t>
            </a:r>
            <a:r>
              <a:rPr sz="1800" b="0" i="0">
                <a:solidFill>
                  <a:srgbClr val="1C252B"/>
                </a:solidFill>
                <a:latin typeface="Segoe UI"/>
              </a:rPr>
              <a:t>flagged</a:t>
            </a:r>
            <a:r>
              <a:rPr sz="1800" b="0" i="0">
                <a:solidFill>
                  <a:srgbClr val="1C252B"/>
                </a:solidFill>
                <a:latin typeface="Cambria"/>
              </a:rPr>
              <a:t>)</a:t>
            </a:r>
            <a:r>
              <a:rPr sz="1800" b="0" i="0">
                <a:solidFill>
                  <a:srgbClr val="1C252B"/>
                </a:solidFill>
                <a:latin typeface="Segoe UI"/>
              </a:rPr>
              <a:t>. Comment on whether this detector should be used to open disciplinary proceedings automatically.</a:t>
            </a:r>
          </a:p>
        </p:txBody>
      </p:sp>
      <p:sp>
        <p:nvSpPr>
          <p:cNvPr id="19" name="!!rt4">
            <a:extLst>
              <a:ext uri="{C183D7F6-B498-43B3-948B-1728B52AA6E4}">
                <adec:decorative xmlns:adec="http://schemas.microsoft.com/office/drawing/2017/decorative" val="1"/>
              </a:ext>
            </a:extLst>
          </p:cNvPr>
          <p:cNvSpPr/>
          <p:nvPr/>
        </p:nvSpPr>
        <p:spPr>
          <a:xfrm>
            <a:off x="658368" y="520110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24225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182819"/>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Using expected value, decide whether to investigate alerts from a detector with </a:t>
            </a:r>
            <a:r>
              <a:rPr sz="1800" b="0" i="1">
                <a:solidFill>
                  <a:srgbClr val="1C252B"/>
                </a:solidFill>
                <a:latin typeface="Cambria"/>
              </a:rPr>
              <a:t>P</a:t>
            </a:r>
            <a:r>
              <a:rPr sz="1800" b="0" i="0">
                <a:solidFill>
                  <a:srgbClr val="1C252B"/>
                </a:solidFill>
                <a:latin typeface="Cambria"/>
              </a:rPr>
              <a:t>(</a:t>
            </a:r>
            <a:r>
              <a:rPr sz="1800" b="0" i="0">
                <a:solidFill>
                  <a:srgbClr val="1C252B"/>
                </a:solidFill>
                <a:latin typeface="Segoe UI"/>
              </a:rPr>
              <a:t>attack</a:t>
            </a:r>
            <a:r>
              <a:rPr sz="1800" b="0" i="0">
                <a:solidFill>
                  <a:srgbClr val="1C252B"/>
                </a:solidFill>
                <a:latin typeface="Cambria"/>
              </a:rPr>
              <a:t> ∣ </a:t>
            </a:r>
            <a:r>
              <a:rPr sz="1800" b="0" i="0">
                <a:solidFill>
                  <a:srgbClr val="1C252B"/>
                </a:solidFill>
                <a:latin typeface="Segoe UI"/>
              </a:rPr>
              <a:t>alert</a:t>
            </a:r>
            <a:r>
              <a:rPr sz="1800" b="0" i="0">
                <a:solidFill>
                  <a:srgbClr val="1C252B"/>
                </a:solidFill>
                <a:latin typeface="Cambria"/>
              </a:rPr>
              <a:t>) = 0.004</a:t>
            </a:r>
            <a:r>
              <a:rPr sz="1800" b="0" i="0">
                <a:solidFill>
                  <a:srgbClr val="1C252B"/>
                </a:solidFill>
                <a:latin typeface="Segoe UI"/>
              </a:rPr>
              <a:t>, where investigation costs 30 minutes and a missed attack costs 60 hours. Show the calculation and state the break-even precision.</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2665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06</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6</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7 — Acquisition, Wrangling and Cleaning</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6, pages 35–42</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Centre, spread, shape; base-rate simulation</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Quiz 1 (Ch 1–4)</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6  ·  Probability and Uncertainty</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82E59F88-FA42-4CB8-B2AF-AD54F75A8DA1}" type="slidenum">
              <a:rPr lang="en-GB" sz="1000">
                <a:solidFill>
                  <a:srgbClr val="D5DEE5"/>
                </a:solidFill>
                <a:latin typeface="Segoe UI"/>
              </a:rPr>
              <a:t>46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Probability and Uncertainty</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