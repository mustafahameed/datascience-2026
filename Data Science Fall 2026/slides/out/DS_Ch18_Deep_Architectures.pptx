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7.svg" ContentType="image/svg+xml"/>
  <Override PartName="/ppt/media/image89.svg" ContentType="image/svg+xml"/>
  <Override PartName="/ppt/media/image90.svg" ContentType="image/svg+xml"/>
  <Override PartName="/ppt/media/image9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B17591-B372-404D-835B-6648EB2330AD}">
          <p14:sldIdLst>
            <p14:sldId id="256"/>
            <p14:sldId id="257"/>
            <p14:sldId id="258"/>
            <p14:sldId id="259"/>
            <p14:sldId id="260"/>
          </p14:sldIdLst>
        </p14:section>
        <p14:section name="18.1 Architecture Is Inductive Bias" id="{C5A760E0-EE88-40B3-A5AE-B4197441C7AC}">
          <p14:sldIdLst>
            <p14:sldId id="261"/>
          </p14:sldIdLst>
        </p14:section>
        <p14:section name="18.2 Convolutional Networks" id="{13D70380-B25B-41C7-AF3F-B30362E8F7C1}">
          <p14:sldIdLst>
            <p14:sldId id="262"/>
            <p14:sldId id="263"/>
            <p14:sldId id="264"/>
            <p14:sldId id="265"/>
            <p14:sldId id="266"/>
          </p14:sldIdLst>
        </p14:section>
        <p14:section name="18.3 Recurrent Networks" id="{8E48037A-2837-4EA4-9338-D01388151497}">
          <p14:sldIdLst>
            <p14:sldId id="267"/>
            <p14:sldId id="268"/>
            <p14:sldId id="269"/>
            <p14:sldId id="270"/>
          </p14:sldIdLst>
        </p14:section>
        <p14:section name="18.4 Attention and Transformers" id="{AC06678E-3AD7-42AA-8ED7-9218EE3E58AD}">
          <p14:sldIdLst>
            <p14:sldId id="271"/>
            <p14:sldId id="272"/>
            <p14:sldId id="273"/>
            <p14:sldId id="274"/>
          </p14:sldIdLst>
        </p14:section>
        <p14:section name="18.5 Autoencoders" id="{7BACA5A6-2699-4275-AF5B-79D6DA75465C}">
          <p14:sldIdLst>
            <p14:sldId id="275"/>
            <p14:sldId id="276"/>
            <p14:sldId id="277"/>
          </p14:sldIdLst>
        </p14:section>
        <p14:section name="18.6 Transfer Learning" id="{D0BBF56D-B290-4873-9973-2453EAAC0964}">
          <p14:sldIdLst>
            <p14:sldId id="278"/>
            <p14:sldId id="279"/>
            <p14:sldId id="280"/>
            <p14:sldId id="281"/>
          </p14:sldIdLst>
        </p14:section>
        <p14:section name="Four lenses" id="{4789CBC8-A515-4BA4-BE49-A5312280BCA5}">
          <p14:sldIdLst>
            <p14:sldId id="282"/>
            <p14:sldId id="283"/>
            <p14:sldId id="284"/>
            <p14:sldId id="285"/>
            <p14:sldId id="286"/>
          </p14:sldIdLst>
        </p14:section>
        <p14:section name="Lab" id="{0B258981-EFA9-4758-AE01-21E9DC033829}">
          <p14:sldIdLst>
            <p14:sldId id="287"/>
            <p14:sldId id="288"/>
            <p14:sldId id="289"/>
            <p14:sldId id="290"/>
          </p14:sldIdLst>
        </p14:section>
        <p14:section name="Checkpoint" id="{B10D3BE8-CB33-46DF-8E25-7D9A4743D8C5}">
          <p14:sldIdLst>
            <p14:sldId id="291"/>
            <p14:sldId id="292"/>
            <p14:sldId id="293"/>
            <p14:sldId id="294"/>
            <p14:sldId id="295"/>
            <p14:sldId id="296"/>
          </p14:sldIdLst>
        </p14:section>
        <p14:section name="Wrap-up" id="{2D9AFA1B-E400-4C55-BA31-FB135BC870D8}">
          <p14:sldIdLst>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Deep Architectures. Part 4 — Deep Learning and Modern AI. Week 11: Neural networks and architectures. Handout pages 115–121.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17 — neurons, layers, activations, backpropagation. Everything here is that machinery with the connections arranged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convolution; kernel / filter; feature map; pooling; CNN; recurrent network; hidden state; LSTM; GRU; attention; self-attention; transformer; embedding; autoencoder; latent space; transfer learning; fine-tuning.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18.1 (handout p. 116): Convolution. One small kernel slides over the whole input, so the network learns what to look for rather than where — a massive reduction in parameters compared with a fully connected layer.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18.2 (handout p. 116): A typical CNN pipeline. The left-hand layers learn generic visual features that transfer to almost any image task — which is precisely what makes transfer learning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18.3 (handout p. 117): Top: an RNN unrolled, carrying state forward. Bottom: an LSTM cell, whose gated cell state provides an uninterrupted path for gradients and solves the forgetting problem.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18.4 (handout p. 117): Self-attention. Each token’s representation is rebuilt as a weighted blend of all tokens, with the weights learned from content. This mechanism is the basis of every model in Chapters 20–22.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18.5 (handout p. 118): An autoencoder. The bottleneck forces a compressed representation; the reconstruction error that trains it also serves, at inference time, as an unsupervised anomaly score — which is why this architecture recurs in Chapters 25 and 26.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An LSTM or small transformer over the weekly clickstream sequence captures trajectory — “engaged then collapsed” versus “steadily low” — which aggregate features flatten away. Worth the complexity only if you have several cohorts of history; with one cohort, the engineered trend features of Chapter 15 are both better and defensible.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No deep architecture is appropriate at this data scale. The one legitimate use is a pre-trained language model applied to unstructured text — clustering requirement documents, or classifying retrospective notes by theme. That is transfer learning doing the work, not your 40 sprints.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CNNs on spectrograms are the standard for vibration and acoustic monitoring: convert the waveform to a time–frequency image and the problem becomes a vision problem, with all of transfer learning available. Autoencoders handle the harder case where no failures have ever been recorded — train on normal operation and score reconstruction error. Both must then be shrunk to fit an edge device (Chapter 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Autoencoders and sequence models over session logs detect behaviour that no signature covers. CNNs applied to raw malware bytes treated as an image are a real and effective technique. But note the adversarial exposure: an attacker who can query your model can craft inputs that sit just inside the normal region, and deep models are more susceptible to this than simple ones — Chapter 26 covers the defences.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Transfer learning: 800 images is enough.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Transfer learning: 800 images is enough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Autoencoder for unsupervised anomaly detection.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kernel has 3×3 = 9 weights (plus one bias). A fully connected layer mapping 32×32 = 1024 inputs to a similar number of outputs would need on the order of a million weights. This is the parameter saving that makes CNNs trainable.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Attention connects any two positions in a single step, so the gradient path between them has length 1. An LSTM must propagate information through 99 intermediate steps, and the gradient degrades along the way.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model trained from scratch on 600 images will memorise them. A pre-trained network already detects edges, textures and shapes — most of what any visual task needs — so only the final layers must be fitted, which 600 images can support. It also trains in minutes rather than days.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19 — Sequences, Time Series and Streaming Analytics. READ: Handout Chapter 18, pages 115–121. THIS WEEK'S LAB: Network from scratch; transfer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6.xml"/><Relationship Id="rId9" Type="http://schemas.openxmlformats.org/officeDocument/2006/relationships/slide" Target="slide20.xml"/><Relationship Id="rId10"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image" Target="../media/image43.png"/><Relationship Id="rId7" Type="http://schemas.openxmlformats.org/officeDocument/2006/relationships/image" Target="../media/image44.svg"/><Relationship Id="rId8" Type="http://schemas.openxmlformats.org/officeDocument/2006/relationships/image" Target="../media/image45.png"/><Relationship Id="rId9" Type="http://schemas.openxmlformats.org/officeDocument/2006/relationships/image" Target="../media/image46.svg"/><Relationship Id="rId10" Type="http://schemas.openxmlformats.org/officeDocument/2006/relationships/image" Target="../media/image47.png"/><Relationship Id="rId11" Type="http://schemas.openxmlformats.org/officeDocument/2006/relationships/image" Target="../media/image48.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41.png"/><Relationship Id="rId5" Type="http://schemas.openxmlformats.org/officeDocument/2006/relationships/image" Target="../media/image51.svg"/><Relationship Id="rId6" Type="http://schemas.openxmlformats.org/officeDocument/2006/relationships/image" Target="../media/image43.png"/><Relationship Id="rId7" Type="http://schemas.openxmlformats.org/officeDocument/2006/relationships/image" Target="../media/image52.svg"/><Relationship Id="rId8" Type="http://schemas.openxmlformats.org/officeDocument/2006/relationships/image" Target="../media/image45.png"/><Relationship Id="rId9" Type="http://schemas.openxmlformats.org/officeDocument/2006/relationships/image" Target="../media/image53.svg"/><Relationship Id="rId10" Type="http://schemas.openxmlformats.org/officeDocument/2006/relationships/image" Target="../media/image47.png"/><Relationship Id="rId11" Type="http://schemas.openxmlformats.org/officeDocument/2006/relationships/image" Target="../media/image54.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43.png"/><Relationship Id="rId5" Type="http://schemas.openxmlformats.org/officeDocument/2006/relationships/image" Target="../media/image57.svg"/><Relationship Id="rId6" Type="http://schemas.openxmlformats.org/officeDocument/2006/relationships/image" Target="../media/image41.png"/><Relationship Id="rId7" Type="http://schemas.openxmlformats.org/officeDocument/2006/relationships/image" Target="../media/image58.svg"/><Relationship Id="rId8" Type="http://schemas.openxmlformats.org/officeDocument/2006/relationships/image" Target="../media/image45.png"/><Relationship Id="rId9" Type="http://schemas.openxmlformats.org/officeDocument/2006/relationships/image" Target="../media/image59.svg"/><Relationship Id="rId10" Type="http://schemas.openxmlformats.org/officeDocument/2006/relationships/image" Target="../media/image47.png"/><Relationship Id="rId11" Type="http://schemas.openxmlformats.org/officeDocument/2006/relationships/image" Target="../media/image60.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image" Target="../media/image45.png"/><Relationship Id="rId5" Type="http://schemas.openxmlformats.org/officeDocument/2006/relationships/image" Target="../media/image63.svg"/><Relationship Id="rId6" Type="http://schemas.openxmlformats.org/officeDocument/2006/relationships/image" Target="../media/image41.png"/><Relationship Id="rId7" Type="http://schemas.openxmlformats.org/officeDocument/2006/relationships/image" Target="../media/image64.svg"/><Relationship Id="rId8" Type="http://schemas.openxmlformats.org/officeDocument/2006/relationships/image" Target="../media/image43.png"/><Relationship Id="rId9" Type="http://schemas.openxmlformats.org/officeDocument/2006/relationships/image" Target="../media/image65.svg"/><Relationship Id="rId10" Type="http://schemas.openxmlformats.org/officeDocument/2006/relationships/image" Target="../media/image47.png"/><Relationship Id="rId11" Type="http://schemas.openxmlformats.org/officeDocument/2006/relationships/image" Target="../media/image66.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image" Target="../media/image47.png"/><Relationship Id="rId5" Type="http://schemas.openxmlformats.org/officeDocument/2006/relationships/image" Target="../media/image69.svg"/><Relationship Id="rId6" Type="http://schemas.openxmlformats.org/officeDocument/2006/relationships/image" Target="../media/image41.png"/><Relationship Id="rId7" Type="http://schemas.openxmlformats.org/officeDocument/2006/relationships/image" Target="../media/image70.svg"/><Relationship Id="rId8" Type="http://schemas.openxmlformats.org/officeDocument/2006/relationships/image" Target="../media/image43.png"/><Relationship Id="rId9" Type="http://schemas.openxmlformats.org/officeDocument/2006/relationships/image" Target="../media/image71.svg"/><Relationship Id="rId10" Type="http://schemas.openxmlformats.org/officeDocument/2006/relationships/image" Target="../media/image45.png"/><Relationship Id="rId11" Type="http://schemas.openxmlformats.org/officeDocument/2006/relationships/image" Target="../media/image72.svg"/><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0.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1.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Deep Architectures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DEEP LEARNING AND MODERN AI</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18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3D87E93B-0AB2-4BC4-8918-B611A21F1FCA}"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94532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71867"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37186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4369331"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Deep Architectures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7">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7">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7"/>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Neural Network Foundations</a:t>
            </a:r>
          </a:p>
        </p:txBody>
      </p:sp>
      <p:sp>
        <p:nvSpPr>
          <p:cNvPr id="8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9" name="!!chipUS2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bUS2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chiptUS2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20  </a:t>
            </a:r>
            <a:r>
              <a:rPr sz="1400" b="0" i="0">
                <a:solidFill>
                  <a:srgbClr val="1C252B"/>
                </a:solidFill>
                <a:latin typeface="Segoe UI"/>
              </a:rPr>
              <a:t>Text and Natural Language Processing</a:t>
            </a:r>
          </a:p>
        </p:txBody>
      </p:sp>
      <p:sp>
        <p:nvSpPr>
          <p:cNvPr id="92" name="!!chipUS2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2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2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21  </a:t>
            </a:r>
            <a:r>
              <a:rPr sz="1400" b="0" i="0">
                <a:solidFill>
                  <a:srgbClr val="1C252B"/>
                </a:solidFill>
                <a:latin typeface="Segoe UI"/>
              </a:rPr>
              <a:t>Generative AI and Large Language Models</a:t>
            </a:r>
          </a:p>
        </p:txBody>
      </p:sp>
      <p:sp>
        <p:nvSpPr>
          <p:cNvPr id="9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EC998B67-FB73-4576-89C3-F20BB2B8D867}"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what convolution does and why it suits grid-structured data.</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how recurrent networks carry state across a sequence, and why LSTMs were needed.</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State</a:t>
            </a:r>
            <a:r>
              <a:rPr sz="2100" b="0" i="0">
                <a:solidFill>
                  <a:srgbClr val="1C252B"/>
                </a:solidFill>
                <a:latin typeface="Segoe UI"/>
              </a:rPr>
              <a:t> the core idea of attention and why it displaced recurrence.</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Use</a:t>
            </a:r>
            <a:r>
              <a:rPr sz="2100" b="0" i="0">
                <a:solidFill>
                  <a:srgbClr val="1C252B"/>
                </a:solidFill>
                <a:latin typeface="Segoe UI"/>
              </a:rPr>
              <a:t> an autoencoder for compression and anomaly detection.</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Apply</a:t>
            </a:r>
            <a:r>
              <a:rPr sz="2100" b="0" i="0">
                <a:solidFill>
                  <a:srgbClr val="1C252B"/>
                </a:solidFill>
                <a:latin typeface="Segoe UI"/>
              </a:rPr>
              <a:t> transfer learning and justify it on a small dataset.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115     </a:t>
            </a:r>
            <a:fld id="{DBDF2967-5D17-46B3-A428-78CEE8FD6377}" type="slidenum">
              <a:rPr lang="en-GB" sz="1000">
                <a:solidFill>
                  <a:srgbClr val="8795A1"/>
                </a:solidFill>
                <a:latin typeface="Segoe UI"/>
              </a:rPr>
              <a:t>4</a:t>
            </a:fld>
          </a:p>
        </p:txBody>
      </p:sp>
      <p:sp>
        <p:nvSpPr>
          <p:cNvPr id="7" name="!!term-convolution">
            <a:extLst>
              <a:ext uri="{C183D7F6-B498-43B3-948B-1728B52AA6E4}">
                <adec:decorative xmlns:adec="http://schemas.microsoft.com/office/drawing/2017/decorative" val="1"/>
              </a:ext>
            </a:extLst>
          </p:cNvPr>
          <p:cNvSpPr/>
          <p:nvPr/>
        </p:nvSpPr>
        <p:spPr>
          <a:xfrm>
            <a:off x="658368" y="1847088"/>
            <a:ext cx="14531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volu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volution"/>
          <p:cNvSpPr txBox="1"/>
          <p:nvPr/>
        </p:nvSpPr>
        <p:spPr>
          <a:xfrm>
            <a:off x="950976" y="1970532"/>
            <a:ext cx="12703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convolution</a:t>
            </a:r>
          </a:p>
        </p:txBody>
      </p:sp>
      <p:sp>
        <p:nvSpPr>
          <p:cNvPr id="10" name="!!term-kernel / filte">
            <a:extLst>
              <a:ext uri="{C183D7F6-B498-43B3-948B-1728B52AA6E4}">
                <adec:decorative xmlns:adec="http://schemas.microsoft.com/office/drawing/2017/decorative" val="1"/>
              </a:ext>
            </a:extLst>
          </p:cNvPr>
          <p:cNvSpPr/>
          <p:nvPr/>
        </p:nvSpPr>
        <p:spPr>
          <a:xfrm>
            <a:off x="2257863" y="1847088"/>
            <a:ext cx="15355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kernel / filte">
            <a:extLst>
              <a:ext uri="{C183D7F6-B498-43B3-948B-1728B52AA6E4}">
                <adec:decorative xmlns:adec="http://schemas.microsoft.com/office/drawing/2017/decorative" val="1"/>
              </a:ext>
            </a:extLst>
          </p:cNvPr>
          <p:cNvSpPr/>
          <p:nvPr/>
        </p:nvSpPr>
        <p:spPr>
          <a:xfrm>
            <a:off x="238587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kernel / filte"/>
          <p:cNvSpPr txBox="1"/>
          <p:nvPr/>
        </p:nvSpPr>
        <p:spPr>
          <a:xfrm>
            <a:off x="2550471" y="1970532"/>
            <a:ext cx="13526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kernel / filter</a:t>
            </a:r>
          </a:p>
        </p:txBody>
      </p:sp>
      <p:sp>
        <p:nvSpPr>
          <p:cNvPr id="13" name="!!term-feature map">
            <a:extLst>
              <a:ext uri="{C183D7F6-B498-43B3-948B-1728B52AA6E4}">
                <adec:decorative xmlns:adec="http://schemas.microsoft.com/office/drawing/2017/decorative" val="1"/>
              </a:ext>
            </a:extLst>
          </p:cNvPr>
          <p:cNvSpPr/>
          <p:nvPr/>
        </p:nvSpPr>
        <p:spPr>
          <a:xfrm>
            <a:off x="3939674" y="1847088"/>
            <a:ext cx="14790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feature map">
            <a:extLst>
              <a:ext uri="{C183D7F6-B498-43B3-948B-1728B52AA6E4}">
                <adec:decorative xmlns:adec="http://schemas.microsoft.com/office/drawing/2017/decorative" val="1"/>
              </a:ext>
            </a:extLst>
          </p:cNvPr>
          <p:cNvSpPr/>
          <p:nvPr/>
        </p:nvSpPr>
        <p:spPr>
          <a:xfrm>
            <a:off x="406769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feature map"/>
          <p:cNvSpPr txBox="1"/>
          <p:nvPr/>
        </p:nvSpPr>
        <p:spPr>
          <a:xfrm>
            <a:off x="4232282" y="1970532"/>
            <a:ext cx="129613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feature map</a:t>
            </a:r>
          </a:p>
        </p:txBody>
      </p:sp>
      <p:sp>
        <p:nvSpPr>
          <p:cNvPr id="16" name="!!term-pooling">
            <a:extLst>
              <a:ext uri="{C183D7F6-B498-43B3-948B-1728B52AA6E4}">
                <adec:decorative xmlns:adec="http://schemas.microsoft.com/office/drawing/2017/decorative" val="1"/>
              </a:ext>
            </a:extLst>
          </p:cNvPr>
          <p:cNvSpPr/>
          <p:nvPr/>
        </p:nvSpPr>
        <p:spPr>
          <a:xfrm>
            <a:off x="5564992" y="1847088"/>
            <a:ext cx="10993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ooling">
            <a:extLst>
              <a:ext uri="{C183D7F6-B498-43B3-948B-1728B52AA6E4}">
                <adec:decorative xmlns:adec="http://schemas.microsoft.com/office/drawing/2017/decorative" val="1"/>
              </a:ext>
            </a:extLst>
          </p:cNvPr>
          <p:cNvSpPr/>
          <p:nvPr/>
        </p:nvSpPr>
        <p:spPr>
          <a:xfrm>
            <a:off x="56930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ooling"/>
          <p:cNvSpPr txBox="1"/>
          <p:nvPr/>
        </p:nvSpPr>
        <p:spPr>
          <a:xfrm>
            <a:off x="5857600" y="1970532"/>
            <a:ext cx="9164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pooling</a:t>
            </a:r>
          </a:p>
        </p:txBody>
      </p:sp>
      <p:sp>
        <p:nvSpPr>
          <p:cNvPr id="19" name="!!term-CNN">
            <a:extLst>
              <a:ext uri="{C183D7F6-B498-43B3-948B-1728B52AA6E4}">
                <adec:decorative xmlns:adec="http://schemas.microsoft.com/office/drawing/2017/decorative" val="1"/>
              </a:ext>
            </a:extLst>
          </p:cNvPr>
          <p:cNvSpPr/>
          <p:nvPr/>
        </p:nvSpPr>
        <p:spPr>
          <a:xfrm>
            <a:off x="6810668" y="1847088"/>
            <a:ext cx="8498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CNN">
            <a:extLst>
              <a:ext uri="{C183D7F6-B498-43B3-948B-1728B52AA6E4}">
                <adec:decorative xmlns:adec="http://schemas.microsoft.com/office/drawing/2017/decorative" val="1"/>
              </a:ext>
            </a:extLst>
          </p:cNvPr>
          <p:cNvSpPr/>
          <p:nvPr/>
        </p:nvSpPr>
        <p:spPr>
          <a:xfrm>
            <a:off x="69386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CNN"/>
          <p:cNvSpPr txBox="1"/>
          <p:nvPr/>
        </p:nvSpPr>
        <p:spPr>
          <a:xfrm>
            <a:off x="7103276" y="1970532"/>
            <a:ext cx="6669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CNN</a:t>
            </a:r>
          </a:p>
        </p:txBody>
      </p:sp>
      <p:sp>
        <p:nvSpPr>
          <p:cNvPr id="22" name="!!term-recurrent netw">
            <a:extLst>
              <a:ext uri="{C183D7F6-B498-43B3-948B-1728B52AA6E4}">
                <adec:decorative xmlns:adec="http://schemas.microsoft.com/office/drawing/2017/decorative" val="1"/>
              </a:ext>
            </a:extLst>
          </p:cNvPr>
          <p:cNvSpPr/>
          <p:nvPr/>
        </p:nvSpPr>
        <p:spPr>
          <a:xfrm>
            <a:off x="7806849" y="1847088"/>
            <a:ext cx="19697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recurrent netw">
            <a:extLst>
              <a:ext uri="{C183D7F6-B498-43B3-948B-1728B52AA6E4}">
                <adec:decorative xmlns:adec="http://schemas.microsoft.com/office/drawing/2017/decorative" val="1"/>
              </a:ext>
            </a:extLst>
          </p:cNvPr>
          <p:cNvSpPr/>
          <p:nvPr/>
        </p:nvSpPr>
        <p:spPr>
          <a:xfrm>
            <a:off x="793486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recurrent netw"/>
          <p:cNvSpPr txBox="1"/>
          <p:nvPr/>
        </p:nvSpPr>
        <p:spPr>
          <a:xfrm>
            <a:off x="8099457" y="1970532"/>
            <a:ext cx="17869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recurrent network</a:t>
            </a:r>
          </a:p>
        </p:txBody>
      </p:sp>
      <p:sp>
        <p:nvSpPr>
          <p:cNvPr id="25" name="!!term-hidden state">
            <a:extLst>
              <a:ext uri="{C183D7F6-B498-43B3-948B-1728B52AA6E4}">
                <adec:decorative xmlns:adec="http://schemas.microsoft.com/office/drawing/2017/decorative" val="1"/>
              </a:ext>
            </a:extLst>
          </p:cNvPr>
          <p:cNvSpPr/>
          <p:nvPr/>
        </p:nvSpPr>
        <p:spPr>
          <a:xfrm>
            <a:off x="9922946" y="1847088"/>
            <a:ext cx="15042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hidden state">
            <a:extLst>
              <a:ext uri="{C183D7F6-B498-43B3-948B-1728B52AA6E4}">
                <adec:decorative xmlns:adec="http://schemas.microsoft.com/office/drawing/2017/decorative" val="1"/>
              </a:ext>
            </a:extLst>
          </p:cNvPr>
          <p:cNvSpPr/>
          <p:nvPr/>
        </p:nvSpPr>
        <p:spPr>
          <a:xfrm>
            <a:off x="1005096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hidden state"/>
          <p:cNvSpPr txBox="1"/>
          <p:nvPr/>
        </p:nvSpPr>
        <p:spPr>
          <a:xfrm>
            <a:off x="10215554" y="1970532"/>
            <a:ext cx="132140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hidden state</a:t>
            </a:r>
          </a:p>
        </p:txBody>
      </p:sp>
      <p:sp>
        <p:nvSpPr>
          <p:cNvPr id="28" name="!!term-LSTM">
            <a:extLst>
              <a:ext uri="{C183D7F6-B498-43B3-948B-1728B52AA6E4}">
                <adec:decorative xmlns:adec="http://schemas.microsoft.com/office/drawing/2017/decorative" val="1"/>
              </a:ext>
            </a:extLst>
          </p:cNvPr>
          <p:cNvSpPr/>
          <p:nvPr/>
        </p:nvSpPr>
        <p:spPr>
          <a:xfrm>
            <a:off x="658368" y="2468880"/>
            <a:ext cx="9099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LSTM">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LSTM"/>
          <p:cNvSpPr txBox="1"/>
          <p:nvPr/>
        </p:nvSpPr>
        <p:spPr>
          <a:xfrm>
            <a:off x="950976" y="2592324"/>
            <a:ext cx="7270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LSTM</a:t>
            </a:r>
          </a:p>
        </p:txBody>
      </p:sp>
      <p:sp>
        <p:nvSpPr>
          <p:cNvPr id="31" name="!!term-GRU">
            <a:extLst>
              <a:ext uri="{C183D7F6-B498-43B3-948B-1728B52AA6E4}">
                <adec:decorative xmlns:adec="http://schemas.microsoft.com/office/drawing/2017/decorative" val="1"/>
              </a:ext>
            </a:extLst>
          </p:cNvPr>
          <p:cNvSpPr/>
          <p:nvPr/>
        </p:nvSpPr>
        <p:spPr>
          <a:xfrm>
            <a:off x="1714591" y="2468880"/>
            <a:ext cx="8218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GRU">
            <a:extLst>
              <a:ext uri="{C183D7F6-B498-43B3-948B-1728B52AA6E4}">
                <adec:decorative xmlns:adec="http://schemas.microsoft.com/office/drawing/2017/decorative" val="1"/>
              </a:ext>
            </a:extLst>
          </p:cNvPr>
          <p:cNvSpPr/>
          <p:nvPr/>
        </p:nvSpPr>
        <p:spPr>
          <a:xfrm>
            <a:off x="184260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GRU"/>
          <p:cNvSpPr txBox="1"/>
          <p:nvPr/>
        </p:nvSpPr>
        <p:spPr>
          <a:xfrm>
            <a:off x="2007199" y="2592324"/>
            <a:ext cx="63901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GRU</a:t>
            </a:r>
          </a:p>
        </p:txBody>
      </p:sp>
      <p:sp>
        <p:nvSpPr>
          <p:cNvPr id="34" name="!!term-attention">
            <a:extLst>
              <a:ext uri="{C183D7F6-B498-43B3-948B-1728B52AA6E4}">
                <adec:decorative xmlns:adec="http://schemas.microsoft.com/office/drawing/2017/decorative" val="1"/>
              </a:ext>
            </a:extLst>
          </p:cNvPr>
          <p:cNvSpPr/>
          <p:nvPr/>
        </p:nvSpPr>
        <p:spPr>
          <a:xfrm>
            <a:off x="2682792" y="2468880"/>
            <a:ext cx="12178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attention">
            <a:extLst>
              <a:ext uri="{C183D7F6-B498-43B3-948B-1728B52AA6E4}">
                <adec:decorative xmlns:adec="http://schemas.microsoft.com/office/drawing/2017/decorative" val="1"/>
              </a:ext>
            </a:extLst>
          </p:cNvPr>
          <p:cNvSpPr/>
          <p:nvPr/>
        </p:nvSpPr>
        <p:spPr>
          <a:xfrm>
            <a:off x="281080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attention"/>
          <p:cNvSpPr txBox="1"/>
          <p:nvPr/>
        </p:nvSpPr>
        <p:spPr>
          <a:xfrm>
            <a:off x="2975400" y="2592324"/>
            <a:ext cx="10349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attention</a:t>
            </a:r>
          </a:p>
        </p:txBody>
      </p:sp>
      <p:sp>
        <p:nvSpPr>
          <p:cNvPr id="37" name="!!term-self-attention">
            <a:extLst>
              <a:ext uri="{C183D7F6-B498-43B3-948B-1728B52AA6E4}">
                <adec:decorative xmlns:adec="http://schemas.microsoft.com/office/drawing/2017/decorative" val="1"/>
              </a:ext>
            </a:extLst>
          </p:cNvPr>
          <p:cNvSpPr/>
          <p:nvPr/>
        </p:nvSpPr>
        <p:spPr>
          <a:xfrm>
            <a:off x="4046972" y="2468880"/>
            <a:ext cx="15873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elf-attention">
            <a:extLst>
              <a:ext uri="{C183D7F6-B498-43B3-948B-1728B52AA6E4}">
                <adec:decorative xmlns:adec="http://schemas.microsoft.com/office/drawing/2017/decorative" val="1"/>
              </a:ext>
            </a:extLst>
          </p:cNvPr>
          <p:cNvSpPr/>
          <p:nvPr/>
        </p:nvSpPr>
        <p:spPr>
          <a:xfrm>
            <a:off x="417498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elf-attention"/>
          <p:cNvSpPr txBox="1"/>
          <p:nvPr/>
        </p:nvSpPr>
        <p:spPr>
          <a:xfrm>
            <a:off x="4339580" y="2592324"/>
            <a:ext cx="14044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self-attention</a:t>
            </a:r>
          </a:p>
        </p:txBody>
      </p:sp>
      <p:sp>
        <p:nvSpPr>
          <p:cNvPr id="40" name="!!term-transformer">
            <a:extLst>
              <a:ext uri="{C183D7F6-B498-43B3-948B-1728B52AA6E4}">
                <adec:decorative xmlns:adec="http://schemas.microsoft.com/office/drawing/2017/decorative" val="1"/>
              </a:ext>
            </a:extLst>
          </p:cNvPr>
          <p:cNvSpPr/>
          <p:nvPr/>
        </p:nvSpPr>
        <p:spPr>
          <a:xfrm>
            <a:off x="5780579" y="2468880"/>
            <a:ext cx="14425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transformer">
            <a:extLst>
              <a:ext uri="{C183D7F6-B498-43B3-948B-1728B52AA6E4}">
                <adec:decorative xmlns:adec="http://schemas.microsoft.com/office/drawing/2017/decorative" val="1"/>
              </a:ext>
            </a:extLst>
          </p:cNvPr>
          <p:cNvSpPr/>
          <p:nvPr/>
        </p:nvSpPr>
        <p:spPr>
          <a:xfrm>
            <a:off x="59085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transformer"/>
          <p:cNvSpPr txBox="1"/>
          <p:nvPr/>
        </p:nvSpPr>
        <p:spPr>
          <a:xfrm>
            <a:off x="6073187" y="2592324"/>
            <a:ext cx="125963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transformer</a:t>
            </a:r>
          </a:p>
        </p:txBody>
      </p:sp>
      <p:sp>
        <p:nvSpPr>
          <p:cNvPr id="43" name="!!term-embedding">
            <a:extLst>
              <a:ext uri="{C183D7F6-B498-43B3-948B-1728B52AA6E4}">
                <adec:decorative xmlns:adec="http://schemas.microsoft.com/office/drawing/2017/decorative" val="1"/>
              </a:ext>
            </a:extLst>
          </p:cNvPr>
          <p:cNvSpPr/>
          <p:nvPr/>
        </p:nvSpPr>
        <p:spPr>
          <a:xfrm>
            <a:off x="7369400" y="2468880"/>
            <a:ext cx="14240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embedding">
            <a:extLst>
              <a:ext uri="{C183D7F6-B498-43B3-948B-1728B52AA6E4}">
                <adec:decorative xmlns:adec="http://schemas.microsoft.com/office/drawing/2017/decorative" val="1"/>
              </a:ext>
            </a:extLst>
          </p:cNvPr>
          <p:cNvSpPr/>
          <p:nvPr/>
        </p:nvSpPr>
        <p:spPr>
          <a:xfrm>
            <a:off x="749741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embedding"/>
          <p:cNvSpPr txBox="1"/>
          <p:nvPr/>
        </p:nvSpPr>
        <p:spPr>
          <a:xfrm>
            <a:off x="7662008" y="2592324"/>
            <a:ext cx="12411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embedding</a:t>
            </a:r>
          </a:p>
        </p:txBody>
      </p:sp>
      <p:sp>
        <p:nvSpPr>
          <p:cNvPr id="46" name="!!term-autoencoder">
            <a:extLst>
              <a:ext uri="{C183D7F6-B498-43B3-948B-1728B52AA6E4}">
                <adec:decorative xmlns:adec="http://schemas.microsoft.com/office/drawing/2017/decorative" val="1"/>
              </a:ext>
            </a:extLst>
          </p:cNvPr>
          <p:cNvSpPr/>
          <p:nvPr/>
        </p:nvSpPr>
        <p:spPr>
          <a:xfrm>
            <a:off x="8939768" y="2468880"/>
            <a:ext cx="15264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utoencoder">
            <a:extLst>
              <a:ext uri="{C183D7F6-B498-43B3-948B-1728B52AA6E4}">
                <adec:decorative xmlns:adec="http://schemas.microsoft.com/office/drawing/2017/decorative" val="1"/>
              </a:ext>
            </a:extLst>
          </p:cNvPr>
          <p:cNvSpPr/>
          <p:nvPr/>
        </p:nvSpPr>
        <p:spPr>
          <a:xfrm>
            <a:off x="90677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utoencoder"/>
          <p:cNvSpPr txBox="1"/>
          <p:nvPr/>
        </p:nvSpPr>
        <p:spPr>
          <a:xfrm>
            <a:off x="9232376" y="2592324"/>
            <a:ext cx="13435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autoencoder</a:t>
            </a:r>
          </a:p>
        </p:txBody>
      </p:sp>
      <p:sp>
        <p:nvSpPr>
          <p:cNvPr id="49" name="!!term-latent space">
            <a:extLst>
              <a:ext uri="{C183D7F6-B498-43B3-948B-1728B52AA6E4}">
                <adec:decorative xmlns:adec="http://schemas.microsoft.com/office/drawing/2017/decorative" val="1"/>
              </a:ext>
            </a:extLst>
          </p:cNvPr>
          <p:cNvSpPr/>
          <p:nvPr/>
        </p:nvSpPr>
        <p:spPr>
          <a:xfrm>
            <a:off x="658368" y="3090672"/>
            <a:ext cx="14683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latent spac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latent space"/>
          <p:cNvSpPr txBox="1"/>
          <p:nvPr/>
        </p:nvSpPr>
        <p:spPr>
          <a:xfrm>
            <a:off x="950976" y="3214116"/>
            <a:ext cx="12854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latent space</a:t>
            </a:r>
          </a:p>
        </p:txBody>
      </p:sp>
      <p:sp>
        <p:nvSpPr>
          <p:cNvPr id="52" name="!!term-transfer learn">
            <a:extLst>
              <a:ext uri="{C183D7F6-B498-43B3-948B-1728B52AA6E4}">
                <adec:decorative xmlns:adec="http://schemas.microsoft.com/office/drawing/2017/decorative" val="1"/>
              </a:ext>
            </a:extLst>
          </p:cNvPr>
          <p:cNvSpPr/>
          <p:nvPr/>
        </p:nvSpPr>
        <p:spPr>
          <a:xfrm>
            <a:off x="2272974" y="3090672"/>
            <a:ext cx="18435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transfer learn">
            <a:extLst>
              <a:ext uri="{C183D7F6-B498-43B3-948B-1728B52AA6E4}">
                <adec:decorative xmlns:adec="http://schemas.microsoft.com/office/drawing/2017/decorative" val="1"/>
              </a:ext>
            </a:extLst>
          </p:cNvPr>
          <p:cNvSpPr/>
          <p:nvPr/>
        </p:nvSpPr>
        <p:spPr>
          <a:xfrm>
            <a:off x="240099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transfer learn"/>
          <p:cNvSpPr txBox="1"/>
          <p:nvPr/>
        </p:nvSpPr>
        <p:spPr>
          <a:xfrm>
            <a:off x="2565582" y="3214116"/>
            <a:ext cx="166069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transfer learning</a:t>
            </a:r>
          </a:p>
        </p:txBody>
      </p:sp>
      <p:sp>
        <p:nvSpPr>
          <p:cNvPr id="55" name="!!term-fine-tuning">
            <a:extLst>
              <a:ext uri="{C183D7F6-B498-43B3-948B-1728B52AA6E4}">
                <adec:decorative xmlns:adec="http://schemas.microsoft.com/office/drawing/2017/decorative" val="1"/>
              </a:ext>
            </a:extLst>
          </p:cNvPr>
          <p:cNvSpPr/>
          <p:nvPr/>
        </p:nvSpPr>
        <p:spPr>
          <a:xfrm>
            <a:off x="4262851" y="3090672"/>
            <a:ext cx="13933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fine-tuning">
            <a:extLst>
              <a:ext uri="{C183D7F6-B498-43B3-948B-1728B52AA6E4}">
                <adec:decorative xmlns:adec="http://schemas.microsoft.com/office/drawing/2017/decorative" val="1"/>
              </a:ext>
            </a:extLst>
          </p:cNvPr>
          <p:cNvSpPr/>
          <p:nvPr/>
        </p:nvSpPr>
        <p:spPr>
          <a:xfrm>
            <a:off x="439086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fine-tuning"/>
          <p:cNvSpPr txBox="1"/>
          <p:nvPr/>
        </p:nvSpPr>
        <p:spPr>
          <a:xfrm>
            <a:off x="4555459" y="3214116"/>
            <a:ext cx="12104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fine-tuning</a:t>
            </a:r>
          </a:p>
        </p:txBody>
      </p:sp>
      <p:sp>
        <p:nvSpPr>
          <p:cNvPr id="58"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115–121     </a:t>
            </a:r>
            <a:fld id="{3779C006-8683-49BC-880D-D080CBEBCF18}" type="slidenum">
              <a:rPr lang="en-GB" sz="1000">
                <a:solidFill>
                  <a:srgbClr val="8795A1"/>
                </a:solidFill>
                <a:latin typeface="Segoe UI"/>
              </a:rPr>
              <a:t>5</a:t>
            </a:fld>
          </a:p>
        </p:txBody>
      </p:sp>
      <p:sp>
        <p:nvSpPr>
          <p:cNvPr id="7" name="!!ag0" descr="Go to section 18.1 Architecture Is Inductive Bia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Architecture Is Inductive Bias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115  ›</a:t>
            </a:r>
          </a:p>
        </p:txBody>
      </p:sp>
      <p:sp>
        <p:nvSpPr>
          <p:cNvPr id="12" name="!!ag1" descr="Go to section 18.2 Convolutional Network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Convolutional Networks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115  ›</a:t>
            </a:r>
          </a:p>
        </p:txBody>
      </p:sp>
      <p:sp>
        <p:nvSpPr>
          <p:cNvPr id="17" name="!!ag2" descr="Go to section 18.3 Recurrent Network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Recurrent Networks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116  ›</a:t>
            </a:r>
          </a:p>
        </p:txBody>
      </p:sp>
      <p:sp>
        <p:nvSpPr>
          <p:cNvPr id="22" name="!!ag3" descr="Go to section 18.4 Attention and Transformer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Attention and Transformers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117  ›</a:t>
            </a:r>
          </a:p>
        </p:txBody>
      </p:sp>
      <p:sp>
        <p:nvSpPr>
          <p:cNvPr id="27" name="!!ag4" descr="Go to section 18.5 Autoencoder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18.5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Autoencoders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118  ›</a:t>
            </a:r>
          </a:p>
        </p:txBody>
      </p:sp>
      <p:sp>
        <p:nvSpPr>
          <p:cNvPr id="32" name="!!ag5" descr="Go to section 18.6 Transfer Learning">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18.6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Transfer Learning</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118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Idea Behind This Chapter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§18.1  ·  Handout p. 115     </a:t>
            </a:r>
            <a:fld id="{47E063F8-0236-42F4-B859-1FB4B55D6812}"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fully connected network treats every input the same way and must learn all structure from data. An </a:t>
            </a:r>
            <a:r>
              <a:rPr sz="2300" b="0" i="1">
                <a:solidFill>
                  <a:srgbClr val="1C252B"/>
                </a:solidFill>
                <a:latin typeface="Segoe UI"/>
              </a:rPr>
              <a:t>architecture</a:t>
            </a:r>
            <a:r>
              <a:rPr sz="2300" b="0" i="0">
                <a:solidFill>
                  <a:srgbClr val="1C252B"/>
                </a:solidFill>
                <a:latin typeface="Segoe UI"/>
              </a:rPr>
              <a:t> builds a structural assumption into the wiring: convolution assumes nearby pixels are related; recurrence assumes order matters; attention assumes any element may relate to any other. Choosing an architecture is choosing which assumption to give the model for free — which is why the right one needs far less data.</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Convolutional Networks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Architecture Is Inductive Bias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18.2   Convolutional Networks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Recurrent Networks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Attention and Transformers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Autoencoders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Transfer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§18.2     </a:t>
            </a:r>
            <a:fld id="{6078C465-E0EB-4327-91BF-56561D831C07}"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Convolution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115     </a:t>
            </a:r>
            <a:fld id="{13EBC913-C0EA-4837-A84E-EF8471455642}"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Slide a small matrix of weights — a </a:t>
            </a:r>
            <a:r>
              <a:rPr sz="2300" b="1" i="0">
                <a:solidFill>
                  <a:srgbClr val="1A5276"/>
                </a:solidFill>
                <a:latin typeface="Segoe UI"/>
              </a:rPr>
              <a:t>kernel</a:t>
            </a:r>
            <a:r>
              <a:rPr sz="2300" b="0" i="0">
                <a:solidFill>
                  <a:srgbClr val="1C252B"/>
                </a:solidFill>
                <a:latin typeface="Segoe UI"/>
              </a:rPr>
              <a:t> or </a:t>
            </a:r>
            <a:r>
              <a:rPr sz="2300" b="1" i="0">
                <a:solidFill>
                  <a:srgbClr val="1A5276"/>
                </a:solidFill>
                <a:latin typeface="Segoe UI"/>
              </a:rPr>
              <a:t>filter</a:t>
            </a:r>
            <a:r>
              <a:rPr sz="2300" b="0" i="0">
                <a:solidFill>
                  <a:srgbClr val="1C252B"/>
                </a:solidFill>
                <a:latin typeface="Segoe UI"/>
              </a:rPr>
              <a:t> — across the input, computing a dot product at each position. The output is a </a:t>
            </a:r>
            <a:r>
              <a:rPr sz="2300" b="1" i="0">
                <a:solidFill>
                  <a:srgbClr val="1A5276"/>
                </a:solidFill>
                <a:latin typeface="Segoe UI"/>
              </a:rPr>
              <a:t>feature map</a:t>
            </a:r>
            <a:r>
              <a:rPr sz="2300" b="0" i="0">
                <a:solidFill>
                  <a:srgbClr val="1C252B"/>
                </a:solidFill>
                <a:latin typeface="Segoe UI"/>
              </a:rPr>
              <a:t> showing where in the input that pattern occurs. The same weights are reused at every position, which is called </a:t>
            </a:r>
            <a:r>
              <a:rPr sz="2300" b="1" i="0">
                <a:solidFill>
                  <a:srgbClr val="1A5276"/>
                </a:solidFill>
                <a:latin typeface="Segoe UI"/>
              </a:rPr>
              <a:t>weight sharing</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Convolutional Networks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115     </a:t>
            </a:r>
            <a:fld id="{C6706C4E-6C05-48E8-8516-42B67357D0B9}" type="slidenum">
              <a:rPr lang="en-GB" sz="1000">
                <a:solidFill>
                  <a:srgbClr val="8795A1"/>
                </a:solidFill>
                <a:latin typeface="Segoe UI"/>
              </a:rPr>
              <a:t>9</a:t>
            </a:fld>
          </a:p>
        </p:txBody>
      </p:sp>
      <p:pic>
        <p:nvPicPr>
          <p:cNvPr id="6" name="!!figure" descr="Figure 18.1. Convolution. One small kernel slides over the whole input, so the network learns what to look for rather than where — a massive reduction in parameters compared with a fully connected lay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69391"/>
            <a:ext cx="10874959" cy="241460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Convolution. One small kernel slides over the whole input, so the network learns what to look for rather than where — a massive reduction in parameters compared with a fully connected layer.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Pooling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115     </a:t>
            </a:r>
            <a:fld id="{30F66CE1-4FFC-444D-A1FF-1F28AC075C5A}"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Downsample a feature map by taking the maximum (or mean) over small windows. This shrinks the representation, reduces computation and grants a little tolerance to small shifts in position.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typical CNN pipeline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§18.2  ·  Handout p. 115     </a:t>
            </a:r>
            <a:fld id="{46D7E8A8-B14D-4D6A-B95E-95FA0D55005E}" type="slidenum">
              <a:rPr lang="en-GB" sz="1000">
                <a:solidFill>
                  <a:srgbClr val="8795A1"/>
                </a:solidFill>
                <a:latin typeface="Segoe UI"/>
              </a:rPr>
              <a:t>11</a:t>
            </a:fld>
          </a:p>
        </p:txBody>
      </p:sp>
      <p:pic>
        <p:nvPicPr>
          <p:cNvPr id="6" name="!!figure" descr="Figure 18.2. A typical CNN pipeline. The left-hand layers learn generic visual features that transfer to almost any image task — which is precisely what makes transfer learning wor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70949"/>
            <a:ext cx="10874959" cy="240570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left-hand layers learn generic visual features that transfer to almost any image task — which is precisely what makes transfer learning work.</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Recurrent Networks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Architecture Is Inductive Bias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Convolutional Networks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18.3   Recurrent Networks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Attention and Transformers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Autoencoders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Transfer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§18.3     </a:t>
            </a:r>
            <a:fld id="{D92317A2-8D21-4E2C-9784-E9477CF311BE}" type="slidenum">
              <a:rPr lang="en-GB" sz="1000">
                <a:solidFill>
                  <a:srgbClr val="8795A1"/>
                </a:solidFill>
                <a:latin typeface="Segoe UI"/>
              </a:rPr>
              <a:t>12</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Recurrent Neural Network</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116     </a:t>
            </a:r>
            <a:fld id="{C9E50E00-5E76-4C70-ABDA-6C5206728D53}"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94091"/>
          </a:xfrm>
          <a:prstGeom prst="roundRect">
            <a:avLst>
              <a:gd name="adj" fmla="val 327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9409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RNN processes a sequence one element at a time, maintaining a </a:t>
            </a:r>
            <a:r>
              <a:rPr sz="2300" b="1" i="0">
                <a:solidFill>
                  <a:srgbClr val="1A5276"/>
                </a:solidFill>
                <a:latin typeface="Segoe UI"/>
              </a:rPr>
              <a:t>hidden state</a:t>
            </a:r>
            <a:r>
              <a:rPr sz="2300" b="0" i="0">
                <a:solidFill>
                  <a:srgbClr val="1C252B"/>
                </a:solidFill>
                <a:latin typeface="Segoe UI"/>
              </a:rPr>
              <a:t> </a:t>
            </a:r>
            <a:r>
              <a:rPr sz="2300" b="0" i="1">
                <a:solidFill>
                  <a:srgbClr val="1C252B"/>
                </a:solidFill>
                <a:latin typeface="Cambria"/>
              </a:rPr>
              <a:t>h</a:t>
            </a:r>
            <a:r>
              <a:rPr sz="2300" b="0" i="1" baseline="-25000">
                <a:solidFill>
                  <a:srgbClr val="1C252B"/>
                </a:solidFill>
                <a:latin typeface="Cambria"/>
              </a:rPr>
              <a:t>t</a:t>
            </a:r>
            <a:r>
              <a:rPr sz="2300" b="0" i="0">
                <a:solidFill>
                  <a:srgbClr val="1C252B"/>
                </a:solidFill>
                <a:latin typeface="Segoe UI"/>
              </a:rPr>
              <a:t> that summarises everything seen so far:</a:t>
            </a:r>
          </a:p>
        </p:txBody>
      </p:sp>
      <p:pic>
        <p:nvPicPr>
          <p:cNvPr id="10" name="body-1" descr="h_t = f(W_x x_t + W_h h_{t-1} + 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body-2"/>
          <p:cNvSpPr txBox="1"/>
          <p:nvPr/>
        </p:nvSpPr>
        <p:spPr>
          <a:xfrm>
            <a:off x="1060704" y="349147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same weights are applied at every timestep — weight sharing across </a:t>
            </a:r>
            <a:r>
              <a:rPr sz="2300" b="0" i="1">
                <a:solidFill>
                  <a:srgbClr val="1C252B"/>
                </a:solidFill>
                <a:latin typeface="Segoe UI"/>
              </a:rPr>
              <a:t>time</a:t>
            </a:r>
            <a:r>
              <a:rPr sz="2300" b="0" i="0">
                <a:solidFill>
                  <a:srgbClr val="1C252B"/>
                </a:solidFill>
                <a:latin typeface="Segoe UI"/>
              </a:rPr>
              <a:t> rather than across space.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Plain RNNs Fail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116     </a:t>
            </a:r>
            <a:fld id="{CF8480E4-67D4-4816-A1FF-9BC3EE6661F0}"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Backpropagating through 100 timesteps multiplies 100 gradients together. If they are slightly below 1, the product vanishes and the network cannot learn long-range dependencies; slightly above 1 and it explodes. In practice a plain RNN forgets anything more than roughly ten steps back — which is useless for a sentence, a session or a day of telemetry.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Recurrent Networks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18.3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§18.3  ·  Handout p. 116     </a:t>
            </a:r>
            <a:fld id="{44A3D4EB-B45C-46A9-BA68-C0F70F0D5266}" type="slidenum">
              <a:rPr lang="en-GB" sz="1000">
                <a:solidFill>
                  <a:srgbClr val="8795A1"/>
                </a:solidFill>
                <a:latin typeface="Segoe UI"/>
              </a:rPr>
              <a:t>15</a:t>
            </a:fld>
          </a:p>
        </p:txBody>
      </p:sp>
      <p:pic>
        <p:nvPicPr>
          <p:cNvPr id="6" name="!!figure" descr="Figure 18.3. Top: an RNN unrolled, carrying state forward. Bottom: an LSTM cell, whose gated cell state provides an uninterrupted path for gradients and solves the forgetting proble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13161" y="1737360"/>
            <a:ext cx="7365371"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Top: an RNN unrolled, carrying state forward. Bottom: an LSTM cell, whose gated cell state provides an uninterrupted path for gradients and solves the forgetting problem.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Attention and Transformers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Architecture Is Inductive Bias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Convolutional Networks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Recurrent Networks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18.4   Attention and Transformers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Autoencoders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Transfer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§18.4     </a:t>
            </a:r>
            <a:fld id="{BF4363F0-F80C-4426-84CE-4EC79521C970}"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Attention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117     </a:t>
            </a:r>
            <a:fld id="{122F58F1-30D2-48BD-866C-85571A325892}"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Instead of compressing a sequence into one hidden state, attention lets every position look directly at every other position and decide how much each one matters. Each output is a weighted average of all inputs, where the model </a:t>
            </a:r>
            <a:r>
              <a:rPr sz="2300" b="0" i="1">
                <a:solidFill>
                  <a:srgbClr val="1C252B"/>
                </a:solidFill>
                <a:latin typeface="Segoe UI"/>
              </a:rPr>
              <a:t>learns</a:t>
            </a:r>
            <a:r>
              <a:rPr sz="2300" b="0" i="0">
                <a:solidFill>
                  <a:srgbClr val="1C252B"/>
                </a:solidFill>
                <a:latin typeface="Segoe UI"/>
              </a:rPr>
              <a:t> the weights from the content.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Self-attention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18.4</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117     </a:t>
            </a:r>
            <a:fld id="{EACCDA22-CEF5-4B12-933A-49FE74243B87}" type="slidenum">
              <a:rPr lang="en-GB" sz="1000">
                <a:solidFill>
                  <a:srgbClr val="8795A1"/>
                </a:solidFill>
                <a:latin typeface="Segoe UI"/>
              </a:rPr>
              <a:t>18</a:t>
            </a:fld>
          </a:p>
        </p:txBody>
      </p:sp>
      <p:pic>
        <p:nvPicPr>
          <p:cNvPr id="6" name="!!figure" descr="Figure 18.4. Self-attention. Each token’s representation is rebuilt as a weighted blend of all tokens, with the weights learned from content. This mechanism is the basis of every model in Chapters 20–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101" y="1737360"/>
            <a:ext cx="989349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token’s representation is rebuilt as a weighted blend of all tokens, with the weights learned from content. This mechanism is the basis of every model in Chapters 20–22.</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Transformer, in Three Sentences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§18.4  ·  Handout p. 117     </a:t>
            </a:r>
            <a:fld id="{DC567D62-334F-48C4-8950-A9410E74550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transformer is a stack of blocks, each containing self-attention followed by a small feed-forward network, with residual connections and normalisation to keep training stable. Because the mechanism has no inherent notion of order, position information is added explicitly to each token’s embedding. Everything in Chapter 21 and Chapter 22 is built on this one design.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Autoencoders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Architecture Is Inductive Bias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Convolutional Networks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Recurrent Networks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Attention and Transformers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18.5   Autoencoders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18.6   Transfer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§18.5     </a:t>
            </a:r>
            <a:fld id="{ED8C9A21-8955-42AA-B1E2-794E458A4C2A}" type="slidenum">
              <a:rPr lang="en-GB" sz="1000">
                <a:solidFill>
                  <a:srgbClr val="8795A1"/>
                </a:solidFill>
                <a:latin typeface="Segoe UI"/>
              </a:rPr>
              <a:t>20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Autoencoder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118     </a:t>
            </a:r>
            <a:fld id="{494CBFDE-5EB4-4EB8-9571-00768BC06647}"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network trained to reproduce its own input through a narrow </a:t>
            </a:r>
            <a:r>
              <a:rPr sz="2300" b="1" i="0">
                <a:solidFill>
                  <a:srgbClr val="1A5276"/>
                </a:solidFill>
                <a:latin typeface="Segoe UI"/>
              </a:rPr>
              <a:t>bottleneck</a:t>
            </a:r>
            <a:r>
              <a:rPr sz="2300" b="0" i="0">
                <a:solidFill>
                  <a:srgbClr val="1C252B"/>
                </a:solidFill>
                <a:latin typeface="Segoe UI"/>
              </a:rPr>
              <a:t>. It must therefore learn a compressed </a:t>
            </a:r>
            <a:r>
              <a:rPr sz="2300" b="1" i="0">
                <a:solidFill>
                  <a:srgbClr val="1A5276"/>
                </a:solidFill>
                <a:latin typeface="Segoe UI"/>
              </a:rPr>
              <a:t>latent</a:t>
            </a:r>
            <a:r>
              <a:rPr sz="2300" b="0" i="0">
                <a:solidFill>
                  <a:srgbClr val="1C252B"/>
                </a:solidFill>
                <a:latin typeface="Segoe UI"/>
              </a:rPr>
              <a:t> representation that keeps only what matters. Trained only on normal data, it reconstructs normal inputs well and anomalous inputs badly — so reconstruction error becomes an anomaly score.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 autoencoder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18.5</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§18.5  ·  Handout p. 118     </a:t>
            </a:r>
            <a:fld id="{00EF2342-1BEE-4B1E-A6C1-09672C21198F}" type="slidenum">
              <a:rPr lang="en-GB" sz="1000">
                <a:solidFill>
                  <a:srgbClr val="8795A1"/>
                </a:solidFill>
                <a:latin typeface="Segoe UI"/>
              </a:rPr>
              <a:t>22</a:t>
            </a:fld>
          </a:p>
        </p:txBody>
      </p:sp>
      <p:pic>
        <p:nvPicPr>
          <p:cNvPr id="6" name="!!figure" descr="Figure 18.5. An autoencoder. The bottleneck forces a compressed representation; the reconstruction error that trains it also serves, at inference time, as an unsupervised anomaly score — which is why this architecture recurs in Chapters 25 and 2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8614" y="1737360"/>
            <a:ext cx="10734465"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bottleneck forces a compressed representation; the reconstruction error that trains it also serves, at inference time, as an unsupervised anomaly score — which is why this architecture recurs in Chapters 25 and 26.</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Transfer Learning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18.6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18.1   Architecture Is Inductive Bias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18.2   Convolutional Networks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18.3   Recurrent Networks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18.4   Attention and Transformers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18.5   Autoencoders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18.6   Transfer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§18.6     </a:t>
            </a:r>
            <a:fld id="{F26012AD-0B8A-46D5-9F41-36B218A73454}" type="slidenum">
              <a:rPr lang="en-GB" sz="1000">
                <a:solidFill>
                  <a:srgbClr val="8795A1"/>
                </a:solidFill>
                <a:latin typeface="Segoe UI"/>
              </a:rPr>
              <a:t>23</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Transfer Learning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F0146985-D448-47DD-BE78-A25611EA62C5}"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Take a model already trained on a large general dataset, keep its learned feature extractor, and re-train only the final layers on your small specific dataset. Because early layers learn generic structure (Figure 18.2), they transfer.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Transfer Learning Changes What Is Possible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03A890A1-4A78-4D7B-8E9D-A394BCC980FC}"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56938"/>
          </a:xfrm>
          <a:prstGeom prst="roundRect">
            <a:avLst>
              <a:gd name="adj" fmla="val 21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5693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You must classify 800 photographs of industrial components as defective or sound.</a:t>
            </a:r>
          </a:p>
        </p:txBody>
      </p:sp>
      <p:sp>
        <p:nvSpPr>
          <p:cNvPr id="10" name="body-1"/>
          <p:cNvSpPr txBox="1"/>
          <p:nvPr/>
        </p:nvSpPr>
        <p:spPr>
          <a:xfrm>
            <a:off x="1042416" y="2399868"/>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From scratch:</a:t>
            </a:r>
            <a:r>
              <a:rPr sz="1700" b="0" i="0">
                <a:solidFill>
                  <a:srgbClr val="1C252B"/>
                </a:solidFill>
                <a:latin typeface="Segoe UI"/>
              </a:rPr>
              <a:t> a usable CNN has millions of parameters. With 800 images it will memorise them within a few epochs. Realistic accuracy: poor, and unstable between runs.</a:t>
            </a:r>
          </a:p>
        </p:txBody>
      </p:sp>
      <p:sp>
        <p:nvSpPr>
          <p:cNvPr id="11" name="body-2"/>
          <p:cNvSpPr txBox="1"/>
          <p:nvPr/>
        </p:nvSpPr>
        <p:spPr>
          <a:xfrm>
            <a:off x="1042416" y="3057499"/>
            <a:ext cx="10234879"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With transfer learning:</a:t>
            </a:r>
            <a:r>
              <a:rPr sz="1700" b="0" i="0">
                <a:solidFill>
                  <a:srgbClr val="1C252B"/>
                </a:solidFill>
                <a:latin typeface="Segoe UI"/>
              </a:rPr>
              <a:t> take a network pre-trained on ImageNet (1.2 million images, 1,000 categories). Freeze everything but the last block. Replace the 1,000-way output with a 2-way one. Now you are fitting a few thousand parameters, not a few million — and the frozen layers already detect edges, textures, corners and surface irregularities, which is most of what “defective” means visually.</a:t>
            </a:r>
          </a:p>
        </p:txBody>
      </p:sp>
      <p:sp>
        <p:nvSpPr>
          <p:cNvPr id="12" name="body-3"/>
          <p:cNvSpPr txBox="1"/>
          <p:nvPr/>
        </p:nvSpPr>
        <p:spPr>
          <a:xfrm>
            <a:off x="1042416" y="4254017"/>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Typical outcome:</a:t>
            </a:r>
            <a:r>
              <a:rPr sz="1700" b="0" i="0">
                <a:solidFill>
                  <a:srgbClr val="1C252B"/>
                </a:solidFill>
                <a:latin typeface="Segoe UI"/>
              </a:rPr>
              <a:t> 800 images is comfortably enough, training takes minutes on a laptop rather than days on a GPU cluster, and the result is far more stable.</a:t>
            </a:r>
          </a:p>
        </p:txBody>
      </p:sp>
      <p:sp>
        <p:nvSpPr>
          <p:cNvPr id="13" name="body-4"/>
          <p:cNvSpPr txBox="1"/>
          <p:nvPr/>
        </p:nvSpPr>
        <p:spPr>
          <a:xfrm>
            <a:off x="1042416" y="4911648"/>
            <a:ext cx="10234879"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The general rule:</a:t>
            </a:r>
            <a:r>
              <a:rPr sz="1700" b="0" i="0">
                <a:solidFill>
                  <a:srgbClr val="1C252B"/>
                </a:solidFill>
                <a:latin typeface="Segoe UI"/>
              </a:rPr>
              <a:t> unless you have hundreds of thousands of labelled examples, do not train a deep vision or language model from scratch. Fine-tune. This is the single most practical technique in this chapter.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Transfer Learning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BF9B3DF9-04CD-4A63-A7A5-30EB46DE19F7}" type="slidenum">
              <a:rPr lang="en-GB" sz="1000">
                <a:solidFill>
                  <a:srgbClr val="8795A1"/>
                </a:solidFill>
                <a:latin typeface="Segoe UI"/>
              </a:rPr>
              <a:t>26</a:t>
            </a:fld>
          </a:p>
        </p:txBody>
      </p:sp>
      <p:graphicFrame>
        <p:nvGraphicFramePr>
          <p:cNvPr id="7" name="!!table"/>
          <p:cNvGraphicFramePr>
            <a:graphicFrameLocks noGrp="1"/>
          </p:cNvGraphicFramePr>
          <p:nvPr/>
        </p:nvGraphicFramePr>
        <p:xfrm>
          <a:off x="658368" y="1737360"/>
          <a:ext cx="10874957" cy="3727704"/>
        </p:xfrm>
        <a:graphic>
          <a:graphicData uri="http://schemas.openxmlformats.org/drawingml/2006/table">
            <a:tbl>
              <a:tblPr firstRow="0" bandRow="0" firstCol="0" lastRow="0" lastCol="0" bandCol="0">
                <a:tableStyleId>{2D5ABB26-0587-4C30-8999-92F81FD0307C}</a:tableStyleId>
              </a:tblPr>
              <a:tblGrid>
                <a:gridCol w="2205411"/>
                <a:gridCol w="3041946"/>
                <a:gridCol w="2585654"/>
                <a:gridCol w="3041946"/>
              </a:tblGrid>
              <a:tr h="405384">
                <a:tc>
                  <a:txBody>
                    <a:bodyPr wrap="square"/>
                    <a:lstStyle/>
                    <a:p>
                      <a:pPr algn="l"/>
                      <a:r>
                        <a:rPr sz="1700" b="1" i="0">
                          <a:solidFill>
                            <a:srgbClr val="1A5276"/>
                          </a:solidFill>
                          <a:latin typeface="Segoe UI"/>
                        </a:rPr>
                        <a:t>Architecture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Assumes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Input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Use for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Feed-forward (MLP)</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Nothing about structure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Fixed-length vectors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Tabular data (but see Chapter 15)</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CNN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Nearby values are related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Images, spectrograms, sensor grids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Vision, audio, some time series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RNN / LSTM / GRU</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Order matters; recent past matters most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Sequences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Older sequence work; still fine for short series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Transformer</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Any element may relate to any other</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Sequences, text, images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Language, and increasingly everything else</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Autoencoder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Normal data lies on a low-dimensional manifold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Anything</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Compression, denoising, </a:t>
                      </a:r>
                      <a:r>
                        <a:rPr sz="1700" b="1" i="0">
                          <a:solidFill>
                            <a:srgbClr val="1C252B"/>
                          </a:solidFill>
                          <a:latin typeface="Segoe UI"/>
                        </a:rPr>
                        <a:t>anomaly detection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Choosing an Architecture</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F7224BEF-5C45-4EBF-9796-B9101E08B86F}"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 </a:t>
            </a:r>
            <a:r>
              <a:rPr sz="1800" b="1" i="0">
                <a:solidFill>
                  <a:srgbClr val="1C252B"/>
                </a:solidFill>
                <a:latin typeface="Segoe UI"/>
              </a:rPr>
              <a:t>LSTM or small transformer</a:t>
            </a:r>
            <a:r>
              <a:rPr sz="1800" b="0" i="0">
                <a:solidFill>
                  <a:srgbClr val="1C252B"/>
                </a:solidFill>
                <a:latin typeface="Segoe UI"/>
              </a:rPr>
              <a:t> over the weekly clickstream </a:t>
            </a:r>
            <a:r>
              <a:rPr sz="1800" b="0" i="1">
                <a:solidFill>
                  <a:srgbClr val="1C252B"/>
                </a:solidFill>
                <a:latin typeface="Segoe UI"/>
              </a:rPr>
              <a:t>sequence</a:t>
            </a:r>
            <a:r>
              <a:rPr sz="1800" b="0" i="0">
                <a:solidFill>
                  <a:srgbClr val="1C252B"/>
                </a:solidFill>
                <a:latin typeface="Segoe UI"/>
              </a:rPr>
              <a:t> captures trajectory — “engaged then collapsed” versus “steadily low” — which aggregate features flatten away.</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 deep architecture is appropriate at this data scale.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17864"/>
                </a:solidFill>
                <a:latin typeface="Segoe UI"/>
              </a:rPr>
              <a:t>CNNs on spectrograms</a:t>
            </a:r>
            <a:r>
              <a:rPr sz="1800" b="0" i="0">
                <a:solidFill>
                  <a:srgbClr val="1C252B"/>
                </a:solidFill>
                <a:latin typeface="Segoe UI"/>
              </a:rPr>
              <a:t> are the standard for vibration and acoustic monitoring: convert the waveform to a time–frequency image and the problem becomes a vision problem, with all of transfer learning available.</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922B21"/>
                </a:solidFill>
                <a:latin typeface="Segoe UI"/>
              </a:rPr>
              <a:t>Autoencoders and sequence models</a:t>
            </a:r>
            <a:r>
              <a:rPr sz="2300" b="0" i="0">
                <a:solidFill>
                  <a:srgbClr val="1C252B"/>
                </a:solidFill>
                <a:latin typeface="Segoe UI"/>
              </a:rPr>
              <a:t> over session logs detect behaviour that no signature covers.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Choosing an Architecture</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8A045CF3-83EB-48D9-9A56-601DF4DEC726}" type="slidenum">
              <a:rPr lang="en-GB" sz="1000">
                <a:solidFill>
                  <a:srgbClr val="8795A1"/>
                </a:solidFill>
                <a:latin typeface="Segoe UI"/>
              </a:rPr>
              <a:t>28</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 </a:t>
            </a:r>
            <a:r>
              <a:rPr sz="2200" b="1" i="0">
                <a:solidFill>
                  <a:srgbClr val="1C252B"/>
                </a:solidFill>
                <a:latin typeface="Segoe UI"/>
              </a:rPr>
              <a:t>LSTM or small transformer</a:t>
            </a:r>
            <a:r>
              <a:rPr sz="2200" b="0" i="0">
                <a:solidFill>
                  <a:srgbClr val="1C252B"/>
                </a:solidFill>
                <a:latin typeface="Segoe UI"/>
              </a:rPr>
              <a:t> over the weekly clickstream </a:t>
            </a:r>
            <a:r>
              <a:rPr sz="2200" b="0" i="1">
                <a:solidFill>
                  <a:srgbClr val="1C252B"/>
                </a:solidFill>
                <a:latin typeface="Segoe UI"/>
              </a:rPr>
              <a:t>sequence</a:t>
            </a:r>
            <a:r>
              <a:rPr sz="2200" b="0" i="0">
                <a:solidFill>
                  <a:srgbClr val="1C252B"/>
                </a:solidFill>
                <a:latin typeface="Segoe UI"/>
              </a:rPr>
              <a:t> captures trajectory — “engaged then collapsed” versus “steadily low” — which aggregate features flatten away. Worth the complexity only if you have several cohorts of history; with one cohort, the engineered trend features of Chapter 15 are both better and defensible.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Choosing an Architecture</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43D28B19-8CA3-47EF-A29C-7EEE1DC25E5E}" type="slidenum">
              <a:rPr lang="en-GB" sz="1000">
                <a:solidFill>
                  <a:srgbClr val="8795A1"/>
                </a:solidFill>
                <a:latin typeface="Segoe UI"/>
              </a:rPr>
              <a:t>29</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deep architecture is appropriate at this data scale. The one legitimate use is a </a:t>
            </a:r>
            <a:r>
              <a:rPr sz="2200" b="1" i="0">
                <a:solidFill>
                  <a:srgbClr val="1C252B"/>
                </a:solidFill>
                <a:latin typeface="Segoe UI"/>
              </a:rPr>
              <a:t>pre-trained language model</a:t>
            </a:r>
            <a:r>
              <a:rPr sz="2200" b="0" i="0">
                <a:solidFill>
                  <a:srgbClr val="1C252B"/>
                </a:solidFill>
                <a:latin typeface="Segoe UI"/>
              </a:rPr>
              <a:t> applied to unstructured text — clustering requirement documents, or classifying retrospective notes by theme. That is transfer learning doing the work, not your 40 sprints.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Choosing an Architecture</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72CC1B67-74B0-4B2E-8D40-E785DF957E52}" type="slidenum">
              <a:rPr lang="en-GB" sz="1000">
                <a:solidFill>
                  <a:srgbClr val="8795A1"/>
                </a:solidFill>
                <a:latin typeface="Segoe UI"/>
              </a:rPr>
              <a:t>30</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17864"/>
                </a:solidFill>
                <a:latin typeface="Segoe UI"/>
              </a:rPr>
              <a:t>CNNs on spectrograms</a:t>
            </a:r>
            <a:r>
              <a:rPr sz="2200" b="0" i="0">
                <a:solidFill>
                  <a:srgbClr val="1C252B"/>
                </a:solidFill>
                <a:latin typeface="Segoe UI"/>
              </a:rPr>
              <a:t> are the standard for vibration and acoustic monitoring: convert the waveform to a time–frequency image and the problem becomes a vision problem, with all of transfer learning available. </a:t>
            </a:r>
            <a:r>
              <a:rPr sz="2200" b="1" i="0">
                <a:solidFill>
                  <a:srgbClr val="1C252B"/>
                </a:solidFill>
                <a:latin typeface="Segoe UI"/>
              </a:rPr>
              <a:t>Autoencoders</a:t>
            </a:r>
            <a:r>
              <a:rPr sz="2200" b="0" i="0">
                <a:solidFill>
                  <a:srgbClr val="1C252B"/>
                </a:solidFill>
                <a:latin typeface="Segoe UI"/>
              </a:rPr>
              <a:t> handle the harder case where no failures have ever been recorded — train on normal operation and score reconstruction error. Both must then be shrunk to fit an edge device (Chapter 24).</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Choosing an Architecture</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61E169BD-775A-4E5D-B5C7-67FE002F0E67}" type="slidenum">
              <a:rPr lang="en-GB" sz="1000">
                <a:solidFill>
                  <a:srgbClr val="8795A1"/>
                </a:solidFill>
                <a:latin typeface="Segoe UI"/>
              </a:rPr>
              <a:t>31</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922B21"/>
                </a:solidFill>
                <a:latin typeface="Segoe UI"/>
              </a:rPr>
              <a:t>Autoencoders and sequence models</a:t>
            </a:r>
            <a:r>
              <a:rPr sz="2200" b="0" i="0">
                <a:solidFill>
                  <a:srgbClr val="1C252B"/>
                </a:solidFill>
                <a:latin typeface="Segoe UI"/>
              </a:rPr>
              <a:t> over session logs detect behaviour that no signature covers. CNNs applied to raw malware bytes treated as an image are a real and effective technique. But note the adversarial exposure: an attacker who can query your model can craft inputs that sit just inside the normal region, and deep models are more susceptible to this than simple ones — Chapter 26 covers the defences.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Transfer Learning and an Autoencoder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BF234A13-18E1-4A74-A434-DA37F16F6C4E}" type="slidenum">
              <a:rPr lang="en-GB" sz="1000">
                <a:solidFill>
                  <a:srgbClr val="8795A1"/>
                </a:solidFill>
                <a:latin typeface="Segoe UI"/>
              </a:rPr>
              <a:t>32</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7429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Transfer learning: 800 images is enough</a:t>
            </a:r>
          </a:p>
          <a:p>
            <a:pPr algn="l" marL="459473" indent="-459473">
              <a:lnSpc>
                <a:spcPct val="100000"/>
              </a:lnSpc>
              <a:spcBef>
                <a:spcPts val="0"/>
              </a:spcBef>
              <a:spcAft>
                <a:spcPts val="0"/>
              </a:spcAft>
            </a:pPr>
            <a:r>
              <a:rPr sz="1900" b="1">
                <a:solidFill>
                  <a:srgbClr val="117A65"/>
                </a:solidFill>
                <a:latin typeface="Segoe UI"/>
              </a:rPr>
              <a:t>2.	</a:t>
            </a:r>
            <a:r>
              <a:rPr sz="1900" b="0" i="0">
                <a:solidFill>
                  <a:srgbClr val="1C252B"/>
                </a:solidFill>
                <a:latin typeface="Segoe UI"/>
              </a:rPr>
              <a:t>Autoencoder for unsupervised anomaly detection</a:t>
            </a:r>
          </a:p>
        </p:txBody>
      </p:sp>
      <p:sp>
        <p:nvSpPr>
          <p:cNvPr id="1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11: Network from scratch; transfer learning</a:t>
            </a:r>
          </a:p>
        </p:txBody>
      </p:sp>
      <p:sp>
        <p:nvSpPr>
          <p:cNvPr id="1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38 lines of Python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Transfer Learning and an Autoencoder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91692BFD-8FE7-469C-976C-479EA578438F}"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Transfer learning: 800 images is enough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Transfer learning: 800 images is enough ------------------ from tensorflow import keras base = keras.applications.MobileNetV2( input_shape=(224, 224, 3), include_top=False, weights=&quot;imagenet&quot;) base.trainable = False # freeze the learned features model = keras.Sequential([ base, keras.layers.GlobalAveragePooling2D(), keras.layers.Dropout(0.3), keras.layers.Dense(1, activation=&quot;sigmoid&quot;), ]) model.compile(optimizer=keras.optimizers.Adam(1e-3), loss=&quot;binary_crossentropy&quot;, metrics=[&quot;AUC&quot;]) # model.fit(train_ds, validation_data=val_ds, epochs=15)"/>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---------- 1. Transfer learning: 800 images is enough ------------------</a:t>
            </a:r>
          </a:p>
          <a:p>
            <a:pPr>
              <a:lnSpc>
                <a:spcPct val="100000"/>
              </a:lnSpc>
              <a:spcAft>
                <a:spcPts val="0"/>
              </a:spcAft>
            </a:pPr>
            <a:r>
              <a:rPr sz="1500" i="0">
                <a:solidFill>
                  <a:srgbClr val="5DADE2"/>
                </a:solidFill>
                <a:latin typeface="Consolas"/>
              </a:rPr>
              <a:t>from</a:t>
            </a:r>
            <a:r>
              <a:rPr sz="1500" i="0">
                <a:solidFill>
                  <a:srgbClr val="E8EDF2"/>
                </a:solidFill>
                <a:latin typeface="Consolas"/>
              </a:rPr>
              <a:t> </a:t>
            </a:r>
            <a:r>
              <a:rPr sz="1500" i="0">
                <a:solidFill>
                  <a:srgbClr val="76D7C4"/>
                </a:solidFill>
                <a:latin typeface="Consolas"/>
              </a:rPr>
              <a:t>tensorflow</a:t>
            </a:r>
            <a:r>
              <a:rPr sz="1500" i="0">
                <a:solidFill>
                  <a:srgbClr val="E8EDF2"/>
                </a:solidFill>
                <a:latin typeface="Consolas"/>
              </a:rPr>
              <a:t> </a:t>
            </a:r>
            <a:r>
              <a:rPr sz="1500" i="0">
                <a:solidFill>
                  <a:srgbClr val="5DADE2"/>
                </a:solidFill>
                <a:latin typeface="Consolas"/>
              </a:rPr>
              <a:t>import</a:t>
            </a:r>
            <a:r>
              <a:rPr sz="1500" i="0">
                <a:solidFill>
                  <a:srgbClr val="E8EDF2"/>
                </a:solidFill>
                <a:latin typeface="Consolas"/>
              </a:rPr>
              <a:t> </a:t>
            </a:r>
            <a:r>
              <a:rPr sz="1500" i="0">
                <a:solidFill>
                  <a:srgbClr val="E8EDF2"/>
                </a:solidFill>
                <a:latin typeface="Consolas"/>
              </a:rPr>
              <a:t>keras</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base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applications</a:t>
            </a:r>
            <a:r>
              <a:rPr sz="1500" i="0">
                <a:solidFill>
                  <a:srgbClr val="AEB6BF"/>
                </a:solidFill>
                <a:latin typeface="Consolas"/>
              </a:rPr>
              <a:t>.</a:t>
            </a:r>
            <a:r>
              <a:rPr sz="1500" i="0">
                <a:solidFill>
                  <a:srgbClr val="E8EDF2"/>
                </a:solidFill>
                <a:latin typeface="Consolas"/>
              </a:rPr>
              <a:t>MobileNetV2</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input_shape</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224</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224</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3</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include_top</a:t>
            </a:r>
            <a:r>
              <a:rPr sz="1500" i="0">
                <a:solidFill>
                  <a:srgbClr val="AEB6BF"/>
                </a:solidFill>
                <a:latin typeface="Consolas"/>
              </a:rPr>
              <a:t>=</a:t>
            </a:r>
            <a:r>
              <a:rPr sz="1500" i="0">
                <a:solidFill>
                  <a:srgbClr val="5DADE2"/>
                </a:solidFill>
                <a:latin typeface="Consolas"/>
              </a:rPr>
              <a:t>False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weights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imagenet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base</a:t>
            </a:r>
            <a:r>
              <a:rPr sz="1500" i="0">
                <a:solidFill>
                  <a:srgbClr val="AEB6BF"/>
                </a:solidFill>
                <a:latin typeface="Consolas"/>
              </a:rPr>
              <a:t>.</a:t>
            </a:r>
            <a:r>
              <a:rPr sz="1500" i="0">
                <a:solidFill>
                  <a:srgbClr val="E8EDF2"/>
                </a:solidFill>
                <a:latin typeface="Consolas"/>
              </a:rPr>
              <a:t>trainable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False</a:t>
            </a:r>
            <a:r>
              <a:rPr sz="1500" i="0">
                <a:solidFill>
                  <a:srgbClr val="E8EDF2"/>
                </a:solidFill>
                <a:latin typeface="Consolas"/>
              </a:rPr>
              <a:t>                       </a:t>
            </a:r>
            <a:r>
              <a:rPr sz="1500" i="1">
                <a:solidFill>
                  <a:srgbClr val="8795A1"/>
                </a:solidFill>
                <a:latin typeface="Consolas"/>
              </a:rPr>
              <a:t># freeze the learned features</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model</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Sequential</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base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GlobalAveragePooling2D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Dropout</a:t>
            </a:r>
            <a:r>
              <a:rPr sz="1500" i="0">
                <a:solidFill>
                  <a:srgbClr val="AEB6BF"/>
                </a:solidFill>
                <a:latin typeface="Consolas"/>
              </a:rPr>
              <a:t>(</a:t>
            </a:r>
            <a:r>
              <a:rPr sz="1500" i="0">
                <a:solidFill>
                  <a:srgbClr val="F7DC6F"/>
                </a:solidFill>
                <a:latin typeface="Consolas"/>
              </a:rPr>
              <a:t>0.3</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Dense</a:t>
            </a:r>
            <a:r>
              <a:rPr sz="1500" i="0">
                <a:solidFill>
                  <a:srgbClr val="AEB6BF"/>
                </a:solidFill>
                <a:latin typeface="Consolas"/>
              </a:rPr>
              <a:t>(</a:t>
            </a:r>
            <a:r>
              <a:rPr sz="1500" i="0">
                <a:solidFill>
                  <a:srgbClr val="F7DC6F"/>
                </a:solidFill>
                <a:latin typeface="Consolas"/>
              </a:rPr>
              <a:t>1</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activation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sigmoid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model</a:t>
            </a:r>
            <a:r>
              <a:rPr sz="1500" i="0">
                <a:solidFill>
                  <a:srgbClr val="AEB6BF"/>
                </a:solidFill>
                <a:latin typeface="Consolas"/>
              </a:rPr>
              <a:t>.</a:t>
            </a:r>
            <a:r>
              <a:rPr sz="1500" i="0">
                <a:solidFill>
                  <a:srgbClr val="E8EDF2"/>
                </a:solidFill>
                <a:latin typeface="Consolas"/>
              </a:rPr>
              <a:t>compile</a:t>
            </a:r>
            <a:r>
              <a:rPr sz="1500" i="0">
                <a:solidFill>
                  <a:srgbClr val="AEB6BF"/>
                </a:solidFill>
                <a:latin typeface="Consolas"/>
              </a:rPr>
              <a:t>(</a:t>
            </a:r>
            <a:r>
              <a:rPr sz="1500" i="0">
                <a:solidFill>
                  <a:srgbClr val="E8EDF2"/>
                </a:solidFill>
                <a:latin typeface="Consolas"/>
              </a:rPr>
              <a:t>optimizer</a:t>
            </a:r>
            <a:r>
              <a:rPr sz="1500" i="0">
                <a:solidFill>
                  <a:srgbClr val="AEB6BF"/>
                </a:solidFill>
                <a:latin typeface="Consolas"/>
              </a:rPr>
              <a:t>=</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optimizers</a:t>
            </a:r>
            <a:r>
              <a:rPr sz="1500" i="0">
                <a:solidFill>
                  <a:srgbClr val="AEB6BF"/>
                </a:solidFill>
                <a:latin typeface="Consolas"/>
              </a:rPr>
              <a:t>.</a:t>
            </a:r>
            <a:r>
              <a:rPr sz="1500" i="0">
                <a:solidFill>
                  <a:srgbClr val="E8EDF2"/>
                </a:solidFill>
                <a:latin typeface="Consolas"/>
              </a:rPr>
              <a:t>Adam</a:t>
            </a:r>
            <a:r>
              <a:rPr sz="1500" i="0">
                <a:solidFill>
                  <a:srgbClr val="AEB6BF"/>
                </a:solidFill>
                <a:latin typeface="Consolas"/>
              </a:rPr>
              <a:t>(</a:t>
            </a:r>
            <a:r>
              <a:rPr sz="1500" i="0">
                <a:solidFill>
                  <a:srgbClr val="F7DC6F"/>
                </a:solidFill>
                <a:latin typeface="Consolas"/>
              </a:rPr>
              <a:t>1e-3</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loss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binary_crossentropy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metrics</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AUC</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1">
                <a:solidFill>
                  <a:srgbClr val="8795A1"/>
                </a:solidFill>
                <a:latin typeface="Consolas"/>
              </a:rPr>
              <a:t># model.fit(train_ds, validation_data=val_ds, epochs=15)</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a:t>
            </a:r>
          </a:p>
          <a:p>
            <a:pPr algn="r">
              <a:lnSpc>
                <a:spcPct val="100000"/>
              </a:lnSpc>
            </a:pPr>
            <a:r>
              <a:rPr sz="1500">
                <a:solidFill>
                  <a:srgbClr val="4F5D6A"/>
                </a:solidFill>
                <a:latin typeface="Consolas"/>
              </a:rPr>
              <a:t>2</a:t>
            </a:r>
          </a:p>
          <a:p>
            <a:pPr algn="r">
              <a:lnSpc>
                <a:spcPct val="100000"/>
              </a:lnSpc>
            </a:pPr>
            <a:r>
              <a:rPr sz="1500">
                <a:solidFill>
                  <a:srgbClr val="4F5D6A"/>
                </a:solidFill>
                <a:latin typeface="Consolas"/>
              </a:rPr>
              <a:t>3</a:t>
            </a:r>
          </a:p>
          <a:p>
            <a:pPr algn="r">
              <a:lnSpc>
                <a:spcPct val="100000"/>
              </a:lnSpc>
            </a:pPr>
            <a:r>
              <a:rPr sz="1500">
                <a:solidFill>
                  <a:srgbClr val="4F5D6A"/>
                </a:solidFill>
                <a:latin typeface="Consolas"/>
              </a:rPr>
              <a:t>4</a:t>
            </a:r>
          </a:p>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Transfer Learning and an Autoencoder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4E75601D-5CE1-4F56-BC85-E79B4482810E}"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Transfer learning: 800 images is enough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639824"/>
          </a:xfrm>
          <a:prstGeom prst="roundRect">
            <a:avLst>
              <a:gd name="adj" fmla="val 55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Then unfreeze the top block and fine-tune at a LOW learning rate: # base.trainable = True # for layer in base.layers[:-20]: layer.trainable = False # model.compile(optimizer=keras.optimizers.Adam(1e-5), ...) # 1e-5, not 1e-3"/>
          <p:cNvSpPr txBox="1"/>
          <p:nvPr/>
        </p:nvSpPr>
        <p:spPr>
          <a:xfrm>
            <a:off x="1362456" y="2523744"/>
            <a:ext cx="9987991" cy="114604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Then unfreeze the top block and fine-tune at a LOW learning rate:</a:t>
            </a:r>
          </a:p>
          <a:p>
            <a:pPr>
              <a:lnSpc>
                <a:spcPct val="100000"/>
              </a:lnSpc>
              <a:spcAft>
                <a:spcPts val="0"/>
              </a:spcAft>
            </a:pPr>
            <a:r>
              <a:rPr sz="1700" i="1">
                <a:solidFill>
                  <a:srgbClr val="8795A1"/>
                </a:solidFill>
                <a:latin typeface="Consolas"/>
              </a:rPr>
              <a:t># base.trainable = True</a:t>
            </a:r>
          </a:p>
          <a:p>
            <a:pPr>
              <a:lnSpc>
                <a:spcPct val="100000"/>
              </a:lnSpc>
              <a:spcAft>
                <a:spcPts val="0"/>
              </a:spcAft>
            </a:pPr>
            <a:r>
              <a:rPr sz="1700" i="1">
                <a:solidFill>
                  <a:srgbClr val="8795A1"/>
                </a:solidFill>
                <a:latin typeface="Consolas"/>
              </a:rPr>
              <a:t># for layer in base.layers[:-20]: layer.trainable = False</a:t>
            </a:r>
          </a:p>
          <a:p>
            <a:pPr>
              <a:lnSpc>
                <a:spcPct val="100000"/>
              </a:lnSpc>
              <a:spcAft>
                <a:spcPts val="0"/>
              </a:spcAft>
            </a:pPr>
            <a:r>
              <a:rPr sz="1700" i="1">
                <a:solidFill>
                  <a:srgbClr val="8795A1"/>
                </a:solidFill>
                <a:latin typeface="Consolas"/>
              </a:rPr>
              <a:t># model.compile(optimizer=keras.optimizers.Adam(1e-5), ...)   # 1e-5, not 1e-3</a:t>
            </a:r>
          </a:p>
        </p:txBody>
      </p:sp>
      <p:sp>
        <p:nvSpPr>
          <p:cNvPr id="15" name="!!code-num"/>
          <p:cNvSpPr txBox="1"/>
          <p:nvPr/>
        </p:nvSpPr>
        <p:spPr>
          <a:xfrm>
            <a:off x="768096" y="2523744"/>
            <a:ext cx="393192" cy="114604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17</a:t>
            </a:r>
          </a:p>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a:p>
            <a:pPr algn="r">
              <a:lnSpc>
                <a:spcPct val="100000"/>
              </a:lnSpc>
            </a:pPr>
            <a:r>
              <a:rPr sz="17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Transfer Learning and an Autoencoder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§18.6  ·  Handout p. 118     </a:t>
            </a:r>
            <a:fld id="{32A3860C-397E-41C0-88A4-5A18FEB3A371}"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Autoencoder for unsupervised anomaly detection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Autoencoder for unsupervised anomaly detection ---------- import numpy as np n_feat = X_normal.shape[1] ae = keras.Sequential([ keras.layers.Dense(32, activation=&quot;relu&quot;, input_shape=(n_feat,)), keras.layers.Dense(8, activation=&quot;relu&quot;), # bottleneck keras.layers.Dense(32, activation=&quot;relu&quot;), keras.layers.Dense(n_feat), # reconstruct ]) ae.compile(optimizer=&quot;adam&quot;, loss=&quot;mse&quot;) ae.fit(X_normal, X_normal, epochs=50, validation_split=0.1, verbose=0) # ^^^^^^^^^ input and target are the same, and only NORMAL data is used err = np.mean((X_all - ae.predict(X_all, verbose=0))**2, axis=1) threshold = np.percentile(err[is_normal], 99) # set on normal data only print(&quot;flagged:&quot;, (err &gt; threshold).sum())"/>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---------- 2. Autoencoder for unsupervised anomaly detection ----------</a:t>
            </a:r>
          </a:p>
          <a:p>
            <a:pPr>
              <a:lnSpc>
                <a:spcPct val="100000"/>
              </a:lnSpc>
              <a:spcAft>
                <a:spcPts val="0"/>
              </a:spcAft>
            </a:pPr>
            <a:r>
              <a:rPr sz="1500" i="0">
                <a:solidFill>
                  <a:srgbClr val="5DADE2"/>
                </a:solidFill>
                <a:latin typeface="Consolas"/>
              </a:rPr>
              <a:t>import</a:t>
            </a:r>
            <a:r>
              <a:rPr sz="1500" i="0">
                <a:solidFill>
                  <a:srgbClr val="E8EDF2"/>
                </a:solidFill>
                <a:latin typeface="Consolas"/>
              </a:rPr>
              <a:t> </a:t>
            </a:r>
            <a:r>
              <a:rPr sz="1500" i="0">
                <a:solidFill>
                  <a:srgbClr val="76D7C4"/>
                </a:solidFill>
                <a:latin typeface="Consolas"/>
              </a:rPr>
              <a:t>numpy</a:t>
            </a:r>
            <a:r>
              <a:rPr sz="1500" i="0">
                <a:solidFill>
                  <a:srgbClr val="E8EDF2"/>
                </a:solidFill>
                <a:latin typeface="Consolas"/>
              </a:rPr>
              <a:t> </a:t>
            </a:r>
            <a:r>
              <a:rPr sz="1500" i="0">
                <a:solidFill>
                  <a:srgbClr val="5DADE2"/>
                </a:solidFill>
                <a:latin typeface="Consolas"/>
              </a:rPr>
              <a:t>as</a:t>
            </a:r>
            <a:r>
              <a:rPr sz="1500" i="0">
                <a:solidFill>
                  <a:srgbClr val="E8EDF2"/>
                </a:solidFill>
                <a:latin typeface="Consolas"/>
              </a:rPr>
              <a:t> </a:t>
            </a:r>
            <a:r>
              <a:rPr sz="1500" i="0">
                <a:solidFill>
                  <a:srgbClr val="76D7C4"/>
                </a:solidFill>
                <a:latin typeface="Consolas"/>
              </a:rPr>
              <a:t>np</a:t>
            </a:r>
          </a:p>
          <a:p>
            <a:pPr>
              <a:lnSpc>
                <a:spcPct val="100000"/>
              </a:lnSpc>
              <a:spcAft>
                <a:spcPts val="0"/>
              </a:spcAft>
            </a:pPr>
            <a:r>
              <a:rPr sz="1500" i="0">
                <a:solidFill>
                  <a:srgbClr val="E8EDF2"/>
                </a:solidFill>
                <a:latin typeface="Consolas"/>
              </a:rPr>
              <a:t>n_feat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X_normal</a:t>
            </a:r>
            <a:r>
              <a:rPr sz="1500" i="0">
                <a:solidFill>
                  <a:srgbClr val="AEB6BF"/>
                </a:solidFill>
                <a:latin typeface="Consolas"/>
              </a:rPr>
              <a:t>.</a:t>
            </a:r>
            <a:r>
              <a:rPr sz="1500" i="0">
                <a:solidFill>
                  <a:srgbClr val="E8EDF2"/>
                </a:solidFill>
                <a:latin typeface="Consolas"/>
              </a:rPr>
              <a:t>shape</a:t>
            </a:r>
            <a:r>
              <a:rPr sz="1500" i="0">
                <a:solidFill>
                  <a:srgbClr val="AEB6BF"/>
                </a:solidFill>
                <a:latin typeface="Consolas"/>
              </a:rPr>
              <a:t>[</a:t>
            </a:r>
            <a:r>
              <a:rPr sz="1500" i="0">
                <a:solidFill>
                  <a:srgbClr val="F7DC6F"/>
                </a:solidFill>
                <a:latin typeface="Consolas"/>
              </a:rPr>
              <a:t>1</a:t>
            </a:r>
            <a:r>
              <a:rPr sz="1500" i="0">
                <a:solidFill>
                  <a:srgbClr val="AEB6BF"/>
                </a:solidFill>
                <a:latin typeface="Consolas"/>
              </a:rPr>
              <a:t>]</a:t>
            </a:r>
          </a:p>
          <a:p>
            <a:pPr>
              <a:lnSpc>
                <a:spcPct val="100000"/>
              </a:lnSpc>
              <a:spcAft>
                <a:spcPts val="0"/>
              </a:spcAft>
            </a:pPr>
            <a:r>
              <a:rPr sz="1500" i="0">
                <a:solidFill>
                  <a:srgbClr val="E8EDF2"/>
                </a:solidFill>
                <a:latin typeface="Consolas"/>
              </a:rPr>
              <a:t>ae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Sequential</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Dense</a:t>
            </a:r>
            <a:r>
              <a:rPr sz="1500" i="0">
                <a:solidFill>
                  <a:srgbClr val="AEB6BF"/>
                </a:solidFill>
                <a:latin typeface="Consolas"/>
              </a:rPr>
              <a:t>(</a:t>
            </a:r>
            <a:r>
              <a:rPr sz="1500" i="0">
                <a:solidFill>
                  <a:srgbClr val="F7DC6F"/>
                </a:solidFill>
                <a:latin typeface="Consolas"/>
              </a:rPr>
              <a:t>32</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activation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relu</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input_shape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n_feat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Dense</a:t>
            </a:r>
            <a:r>
              <a:rPr sz="1500" i="0">
                <a:solidFill>
                  <a:srgbClr val="AEB6BF"/>
                </a:solidFill>
                <a:latin typeface="Consolas"/>
              </a:rPr>
              <a:t>(</a:t>
            </a:r>
            <a:r>
              <a:rPr sz="1500" i="0">
                <a:solidFill>
                  <a:srgbClr val="F7DC6F"/>
                </a:solidFill>
                <a:latin typeface="Consolas"/>
              </a:rPr>
              <a:t>8</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activation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relu</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bottleneck</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Dense</a:t>
            </a:r>
            <a:r>
              <a:rPr sz="1500" i="0">
                <a:solidFill>
                  <a:srgbClr val="AEB6BF"/>
                </a:solidFill>
                <a:latin typeface="Consolas"/>
              </a:rPr>
              <a:t>(</a:t>
            </a:r>
            <a:r>
              <a:rPr sz="1500" i="0">
                <a:solidFill>
                  <a:srgbClr val="F7DC6F"/>
                </a:solidFill>
                <a:latin typeface="Consolas"/>
              </a:rPr>
              <a:t>32</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activation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relu</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keras</a:t>
            </a:r>
            <a:r>
              <a:rPr sz="1500" i="0">
                <a:solidFill>
                  <a:srgbClr val="AEB6BF"/>
                </a:solidFill>
                <a:latin typeface="Consolas"/>
              </a:rPr>
              <a:t>.</a:t>
            </a:r>
            <a:r>
              <a:rPr sz="1500" i="0">
                <a:solidFill>
                  <a:srgbClr val="E8EDF2"/>
                </a:solidFill>
                <a:latin typeface="Consolas"/>
              </a:rPr>
              <a:t>layers</a:t>
            </a:r>
            <a:r>
              <a:rPr sz="1500" i="0">
                <a:solidFill>
                  <a:srgbClr val="AEB6BF"/>
                </a:solidFill>
                <a:latin typeface="Consolas"/>
              </a:rPr>
              <a:t>.</a:t>
            </a:r>
            <a:r>
              <a:rPr sz="1500" i="0">
                <a:solidFill>
                  <a:srgbClr val="E8EDF2"/>
                </a:solidFill>
                <a:latin typeface="Consolas"/>
              </a:rPr>
              <a:t>Dense</a:t>
            </a:r>
            <a:r>
              <a:rPr sz="1500" i="0">
                <a:solidFill>
                  <a:srgbClr val="AEB6BF"/>
                </a:solidFill>
                <a:latin typeface="Consolas"/>
              </a:rPr>
              <a:t>(</a:t>
            </a:r>
            <a:r>
              <a:rPr sz="1500" i="0">
                <a:solidFill>
                  <a:srgbClr val="E8EDF2"/>
                </a:solidFill>
                <a:latin typeface="Consolas"/>
              </a:rPr>
              <a:t>n_feat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reconstruct</a:t>
            </a:r>
          </a:p>
          <a:p>
            <a:pPr>
              <a:lnSpc>
                <a:spcPct val="100000"/>
              </a:lnSpc>
              <a:spcAft>
                <a:spcPts val="0"/>
              </a:spcAft>
            </a:pP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ae</a:t>
            </a:r>
            <a:r>
              <a:rPr sz="1500" i="0">
                <a:solidFill>
                  <a:srgbClr val="AEB6BF"/>
                </a:solidFill>
                <a:latin typeface="Consolas"/>
              </a:rPr>
              <a:t>.</a:t>
            </a:r>
            <a:r>
              <a:rPr sz="1500" i="0">
                <a:solidFill>
                  <a:srgbClr val="E8EDF2"/>
                </a:solidFill>
                <a:latin typeface="Consolas"/>
              </a:rPr>
              <a:t>compile</a:t>
            </a:r>
            <a:r>
              <a:rPr sz="1500" i="0">
                <a:solidFill>
                  <a:srgbClr val="AEB6BF"/>
                </a:solidFill>
                <a:latin typeface="Consolas"/>
              </a:rPr>
              <a:t>(</a:t>
            </a:r>
            <a:r>
              <a:rPr sz="1500" i="0">
                <a:solidFill>
                  <a:srgbClr val="E8EDF2"/>
                </a:solidFill>
                <a:latin typeface="Consolas"/>
              </a:rPr>
              <a:t>optimizer</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adam</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loss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mse</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ae</a:t>
            </a:r>
            <a:r>
              <a:rPr sz="1500" i="0">
                <a:solidFill>
                  <a:srgbClr val="AEB6BF"/>
                </a:solidFill>
                <a:latin typeface="Consolas"/>
              </a:rPr>
              <a:t>.</a:t>
            </a:r>
            <a:r>
              <a:rPr sz="1500" i="0">
                <a:solidFill>
                  <a:srgbClr val="E8EDF2"/>
                </a:solidFill>
                <a:latin typeface="Consolas"/>
              </a:rPr>
              <a:t>fit</a:t>
            </a:r>
            <a:r>
              <a:rPr sz="1500" i="0">
                <a:solidFill>
                  <a:srgbClr val="AEB6BF"/>
                </a:solidFill>
                <a:latin typeface="Consolas"/>
              </a:rPr>
              <a:t>(</a:t>
            </a:r>
            <a:r>
              <a:rPr sz="1500" i="0">
                <a:solidFill>
                  <a:srgbClr val="E8EDF2"/>
                </a:solidFill>
                <a:latin typeface="Consolas"/>
              </a:rPr>
              <a:t>X_normal</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X_normal</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epochs</a:t>
            </a:r>
            <a:r>
              <a:rPr sz="1500" i="0">
                <a:solidFill>
                  <a:srgbClr val="AEB6BF"/>
                </a:solidFill>
                <a:latin typeface="Consolas"/>
              </a:rPr>
              <a:t>=</a:t>
            </a:r>
            <a:r>
              <a:rPr sz="1500" i="0">
                <a:solidFill>
                  <a:srgbClr val="F7DC6F"/>
                </a:solidFill>
                <a:latin typeface="Consolas"/>
              </a:rPr>
              <a:t>50</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validation_split</a:t>
            </a:r>
            <a:r>
              <a:rPr sz="1500" i="0">
                <a:solidFill>
                  <a:srgbClr val="AEB6BF"/>
                </a:solidFill>
                <a:latin typeface="Consolas"/>
              </a:rPr>
              <a:t>=</a:t>
            </a:r>
            <a:r>
              <a:rPr sz="1500" i="0">
                <a:solidFill>
                  <a:srgbClr val="F7DC6F"/>
                </a:solidFill>
                <a:latin typeface="Consolas"/>
              </a:rPr>
              <a:t>0.1</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verbose</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1">
                <a:solidFill>
                  <a:srgbClr val="8795A1"/>
                </a:solidFill>
                <a:latin typeface="Consolas"/>
              </a:rPr>
              <a:t>#      ^^^^^^^^^ input and target are the same, and only NORMAL data is used</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err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X_all</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ae</a:t>
            </a:r>
            <a:r>
              <a:rPr sz="1500" i="0">
                <a:solidFill>
                  <a:srgbClr val="AEB6BF"/>
                </a:solidFill>
                <a:latin typeface="Consolas"/>
              </a:rPr>
              <a:t>.</a:t>
            </a:r>
            <a:r>
              <a:rPr sz="1500" i="0">
                <a:solidFill>
                  <a:srgbClr val="E8EDF2"/>
                </a:solidFill>
                <a:latin typeface="Consolas"/>
              </a:rPr>
              <a:t>predict</a:t>
            </a:r>
            <a:r>
              <a:rPr sz="1500" i="0">
                <a:solidFill>
                  <a:srgbClr val="AEB6BF"/>
                </a:solidFill>
                <a:latin typeface="Consolas"/>
              </a:rPr>
              <a:t>(</a:t>
            </a:r>
            <a:r>
              <a:rPr sz="1500" i="0">
                <a:solidFill>
                  <a:srgbClr val="E8EDF2"/>
                </a:solidFill>
                <a:latin typeface="Consolas"/>
              </a:rPr>
              <a:t>X_all</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verbose</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2</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axis</a:t>
            </a:r>
            <a:r>
              <a:rPr sz="1500" i="0">
                <a:solidFill>
                  <a:srgbClr val="AEB6BF"/>
                </a:solidFill>
                <a:latin typeface="Consolas"/>
              </a:rPr>
              <a:t>=</a:t>
            </a:r>
            <a:r>
              <a:rPr sz="1500" i="0">
                <a:solidFill>
                  <a:srgbClr val="F7DC6F"/>
                </a:solidFill>
                <a:latin typeface="Consolas"/>
              </a:rPr>
              <a:t>1</a:t>
            </a:r>
            <a:r>
              <a:rPr sz="1500" i="0">
                <a:solidFill>
                  <a:srgbClr val="AEB6BF"/>
                </a:solidFill>
                <a:latin typeface="Consolas"/>
              </a:rPr>
              <a:t>)</a:t>
            </a:r>
          </a:p>
          <a:p>
            <a:pPr>
              <a:lnSpc>
                <a:spcPct val="100000"/>
              </a:lnSpc>
              <a:spcAft>
                <a:spcPts val="0"/>
              </a:spcAft>
            </a:pPr>
            <a:r>
              <a:rPr sz="1500" i="0">
                <a:solidFill>
                  <a:srgbClr val="E8EDF2"/>
                </a:solidFill>
                <a:latin typeface="Consolas"/>
              </a:rPr>
              <a:t>threshold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percentile</a:t>
            </a:r>
            <a:r>
              <a:rPr sz="1500" i="0">
                <a:solidFill>
                  <a:srgbClr val="AEB6BF"/>
                </a:solidFill>
                <a:latin typeface="Consolas"/>
              </a:rPr>
              <a:t>(</a:t>
            </a:r>
            <a:r>
              <a:rPr sz="1500" i="0">
                <a:solidFill>
                  <a:srgbClr val="E8EDF2"/>
                </a:solidFill>
                <a:latin typeface="Consolas"/>
              </a:rPr>
              <a:t>err</a:t>
            </a:r>
            <a:r>
              <a:rPr sz="1500" i="0">
                <a:solidFill>
                  <a:srgbClr val="AEB6BF"/>
                </a:solidFill>
                <a:latin typeface="Consolas"/>
              </a:rPr>
              <a:t>[</a:t>
            </a:r>
            <a:r>
              <a:rPr sz="1500" i="0">
                <a:solidFill>
                  <a:srgbClr val="E8EDF2"/>
                </a:solidFill>
                <a:latin typeface="Consolas"/>
              </a:rPr>
              <a:t>is_normal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99</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set on normal data only</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flagged: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err</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threshold</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sum</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21</a:t>
            </a:r>
          </a:p>
          <a:p>
            <a:pPr algn="r">
              <a:lnSpc>
                <a:spcPct val="100000"/>
              </a:lnSpc>
            </a:pPr>
            <a:r>
              <a:rPr sz="1500">
                <a:solidFill>
                  <a:srgbClr val="4F5D6A"/>
                </a:solidFill>
                <a:latin typeface="Consolas"/>
              </a:rPr>
              <a:t>22</a:t>
            </a:r>
          </a:p>
          <a:p>
            <a:pPr algn="r">
              <a:lnSpc>
                <a:spcPct val="100000"/>
              </a:lnSpc>
            </a:pPr>
            <a:r>
              <a:rPr sz="1500">
                <a:solidFill>
                  <a:srgbClr val="4F5D6A"/>
                </a:solidFill>
                <a:latin typeface="Consolas"/>
              </a:rPr>
              <a:t>23</a:t>
            </a:r>
          </a:p>
          <a:p>
            <a:pPr algn="r">
              <a:lnSpc>
                <a:spcPct val="100000"/>
              </a:lnSpc>
            </a:pPr>
            <a:r>
              <a:rPr sz="1500">
                <a:solidFill>
                  <a:srgbClr val="4F5D6A"/>
                </a:solidFill>
                <a:latin typeface="Consolas"/>
              </a:rPr>
              <a:t>24</a:t>
            </a:r>
          </a:p>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a:p>
            <a:pPr algn="r">
              <a:lnSpc>
                <a:spcPct val="100000"/>
              </a:lnSpc>
            </a:pPr>
            <a:r>
              <a:rPr sz="1500">
                <a:solidFill>
                  <a:srgbClr val="4F5D6A"/>
                </a:solidFill>
                <a:latin typeface="Consolas"/>
              </a:rPr>
              <a:t>27</a:t>
            </a:r>
          </a:p>
          <a:p>
            <a:pPr algn="r">
              <a:lnSpc>
                <a:spcPct val="100000"/>
              </a:lnSpc>
            </a:pPr>
            <a:r>
              <a:rPr sz="1500">
                <a:solidFill>
                  <a:srgbClr val="4F5D6A"/>
                </a:solidFill>
                <a:latin typeface="Consolas"/>
              </a:rPr>
              <a:t>28</a:t>
            </a:r>
          </a:p>
          <a:p>
            <a:pPr algn="r">
              <a:lnSpc>
                <a:spcPct val="100000"/>
              </a:lnSpc>
            </a:pPr>
            <a:r>
              <a:rPr sz="1500">
                <a:solidFill>
                  <a:srgbClr val="4F5D6A"/>
                </a:solidFill>
                <a:latin typeface="Consolas"/>
              </a:rPr>
              <a:t>29</a:t>
            </a:r>
          </a:p>
          <a:p>
            <a:pPr algn="r">
              <a:lnSpc>
                <a:spcPct val="100000"/>
              </a:lnSpc>
            </a:pPr>
            <a:r>
              <a:rPr sz="1500">
                <a:solidFill>
                  <a:srgbClr val="4F5D6A"/>
                </a:solidFill>
                <a:latin typeface="Consolas"/>
              </a:rPr>
              <a:t>30</a:t>
            </a:r>
          </a:p>
          <a:p>
            <a:pPr algn="r">
              <a:lnSpc>
                <a:spcPct val="100000"/>
              </a:lnSpc>
            </a:pPr>
            <a:r>
              <a:rPr sz="1500">
                <a:solidFill>
                  <a:srgbClr val="4F5D6A"/>
                </a:solidFill>
                <a:latin typeface="Consolas"/>
              </a:rPr>
              <a:t>31</a:t>
            </a:r>
          </a:p>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a:p>
            <a:pPr algn="r">
              <a:lnSpc>
                <a:spcPct val="100000"/>
              </a:lnSpc>
            </a:pPr>
            <a:r>
              <a:rPr sz="1500">
                <a:solidFill>
                  <a:srgbClr val="4F5D6A"/>
                </a:solidFill>
                <a:latin typeface="Consolas"/>
              </a:rPr>
              <a:t>34</a:t>
            </a:r>
          </a:p>
          <a:p>
            <a:pPr algn="r">
              <a:lnSpc>
                <a:spcPct val="100000"/>
              </a:lnSpc>
            </a:pPr>
            <a:r>
              <a:rPr sz="1500">
                <a:solidFill>
                  <a:srgbClr val="4F5D6A"/>
                </a:solidFill>
                <a:latin typeface="Consolas"/>
              </a:rPr>
              <a:t>35</a:t>
            </a:r>
          </a:p>
          <a:p>
            <a:pPr algn="r">
              <a:lnSpc>
                <a:spcPct val="100000"/>
              </a:lnSpc>
            </a:pPr>
            <a:r>
              <a:rPr sz="15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762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a:t>
            </a:r>
            <a:r>
              <a:rPr sz="3400" b="0" i="0">
                <a:solidFill>
                  <a:srgbClr val="FFFFFF"/>
                </a:solidFill>
                <a:latin typeface="Cambria"/>
              </a:rPr>
              <a:t>3×3</a:t>
            </a:r>
            <a:r>
              <a:rPr sz="3400" b="0" i="0">
                <a:solidFill>
                  <a:srgbClr val="FFFFFF"/>
                </a:solidFill>
                <a:latin typeface="Segoe UI Semibold"/>
              </a:rPr>
              <a:t> convolution kernel is applied to a </a:t>
            </a:r>
            <a:r>
              <a:rPr sz="3400" b="0" i="0">
                <a:solidFill>
                  <a:srgbClr val="FFFFFF"/>
                </a:solidFill>
                <a:latin typeface="Cambria"/>
              </a:rPr>
              <a:t>32×32</a:t>
            </a:r>
            <a:r>
              <a:rPr sz="3400" b="0" i="0">
                <a:solidFill>
                  <a:srgbClr val="FFFFFF"/>
                </a:solidFill>
                <a:latin typeface="Segoe UI Semibold"/>
              </a:rPr>
              <a:t> image. How many weights does the kernel have, and how many would a fully connected layer producing the same number of outputs need (roughly)?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18  ·  Deep Architectures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121  ·  answers in Appendix D     </a:t>
            </a:r>
            <a:fld id="{52ED0ED6-9805-4A24-B3B4-A8750459D83D}"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a:t>
            </a:r>
            <a:r>
              <a:rPr sz="2400" b="0" i="0">
                <a:solidFill>
                  <a:srgbClr val="1A5276"/>
                </a:solidFill>
                <a:latin typeface="Cambria"/>
              </a:rPr>
              <a:t>3×3</a:t>
            </a:r>
            <a:r>
              <a:rPr sz="2400" b="0" i="0">
                <a:solidFill>
                  <a:srgbClr val="1A5276"/>
                </a:solidFill>
                <a:latin typeface="Segoe UI Semibold"/>
              </a:rPr>
              <a:t> convolution kernel is applied to a </a:t>
            </a:r>
            <a:r>
              <a:rPr sz="2400" b="0" i="0">
                <a:solidFill>
                  <a:srgbClr val="1A5276"/>
                </a:solidFill>
                <a:latin typeface="Cambria"/>
              </a:rPr>
              <a:t>32×32</a:t>
            </a:r>
            <a:r>
              <a:rPr sz="2400" b="0" i="0">
                <a:solidFill>
                  <a:srgbClr val="1A5276"/>
                </a:solidFill>
                <a:latin typeface="Segoe UI Semibold"/>
              </a:rPr>
              <a:t> image. How many weights does the kernel have, and how many would a fully connected layer producing the same number of outputs need (roughly)?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kernel has </a:t>
            </a:r>
            <a:r>
              <a:rPr sz="2200" b="0" i="0">
                <a:solidFill>
                  <a:srgbClr val="1C252B"/>
                </a:solidFill>
                <a:latin typeface="Cambria"/>
              </a:rPr>
              <a:t>3×3 = 9</a:t>
            </a:r>
            <a:r>
              <a:rPr sz="2200" b="0" i="0">
                <a:solidFill>
                  <a:srgbClr val="1C252B"/>
                </a:solidFill>
                <a:latin typeface="Segoe UI"/>
              </a:rPr>
              <a:t> weights (plus one bias). A fully connected layer mapping </a:t>
            </a:r>
            <a:r>
              <a:rPr sz="2200" b="0" i="0">
                <a:solidFill>
                  <a:srgbClr val="1C252B"/>
                </a:solidFill>
                <a:latin typeface="Cambria"/>
              </a:rPr>
              <a:t>32×32 = 1024</a:t>
            </a:r>
            <a:r>
              <a:rPr sz="2200" b="0" i="0">
                <a:solidFill>
                  <a:srgbClr val="1C252B"/>
                </a:solidFill>
                <a:latin typeface="Segoe UI"/>
              </a:rPr>
              <a:t> inputs to a similar number of outputs would need on the order of a million weights. This is the parameter saving that makes CNNs trainable.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  answers in Appendix D     </a:t>
            </a:r>
            <a:fld id="{FEDAC6D6-D0E5-4BB6-82C3-C288F7390499}"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063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attention relate the first and hundredth word of a sentence more easily than an LSTM can?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18  ·  Deep Architectures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121  ·  answers in Appendix D     </a:t>
            </a:r>
            <a:fld id="{C4834FB3-AA23-444C-B673-80FA1A205988}"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attention relate the first and hundredth word of a sentence more easily than an LSTM can?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Attention connects any two positions in a single step, so the gradient path between them has length 1. An LSTM must propagate information through 99 intermediate steps, and the gradient degrades along the way.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  answers in Appendix D     </a:t>
            </a:r>
            <a:fld id="{4300A988-FBAA-4B3F-A04C-C529CC510AE2}"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364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have 600 labelled images. Argue for transfer learning over training from scratch in three sentences.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18  ·  Deep Architectures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121  ·  answers in Appendix D     </a:t>
            </a:r>
            <a:fld id="{9A517033-DC98-4224-A80A-6266073C0C56}"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have 600 labelled images. Argue for transfer learning over training from scratch in three sentences.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model trained from scratch on 600 images will memorise them. A pre-trained network already detects edges, textures and shapes — most of what any visual task needs — so only the final layers must be fitted, which 600 images can support. It also trains in minutes rather than days.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  answers in Appendix D     </a:t>
            </a:r>
            <a:fld id="{2E2CC8D0-2514-4767-89A3-0730EECB6AEE}"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0C5585C9-3EE9-4409-8306-F1CFA3FE6E11}"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architecture encodes a structural assumption, which is why the right one needs far less data.</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Convolution shares one small kernel across all positions, giving locality, translation invariance and a huge parameter saving.</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RNNs carry a hidden state through time but forget; LSTMs add gates and an additive cell state so gradients survive.</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Attention lets every position consult every other in one step and computes in parallel — the two reasons transformers displaced recurrence.</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Autoencoders compress through a bottleneck; their reconstruction error is a ready-made unsupervised anomaly score.</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Transfer learning makes deep models viable on small datasets, and should be your default for images and text.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768AB010-5AEB-4B7B-B8BF-5D6A403F295F}"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Weight sharing in a CNN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layers share a learning rate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same kernel is applied at every position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neurons share biases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model is smaller after pooling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22E484B2-DECC-4DF3-B770-04A03E448650}"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main practical advantage of transformers over LSTMs in training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fewer parameters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parallel computation across positions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need for data</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guaranteed convergence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18  ·  Deep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121     </a:t>
            </a:r>
            <a:fld id="{8209BB90-5899-428B-A480-77B04D53089C}"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vanishing gradient problem in RNNs and how the LSTM cell state addresses it.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how an autoencoder detects anomalies without ever seeing an anomaly during training.</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fine-tuning use a much lower learning rate than the initial training of the added layers?</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must detect bearing faults from vibration waveforms sampled at 20 kHz, with 3,000 labelled recordings. Propose an architecture and a preprocessing step, and justify both.</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each of CNN, LSTM, transformer and autoencoder, name one of the four course domains where it is the natural choice, and state the structural assumption that makes it so.</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19 — Sequences, Time Series and Streaming Analytics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18, pages 115–121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Network from scratch; transfer learning</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18  ·  Deep Architectures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4C4EB78D-FD99-460F-A205-F2C5E2C3E298}"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18: Deep Architectures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