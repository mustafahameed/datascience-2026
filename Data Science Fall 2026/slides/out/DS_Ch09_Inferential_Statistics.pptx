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8.svg" ContentType="image/svg+xml"/>
  <Override PartName="/ppt/media/image29.svg" ContentType="image/svg+xml"/>
  <Override PartName="/ppt/media/image31.svg" ContentType="image/svg+xml"/>
  <Override PartName="/ppt/media/image33.svg" ContentType="image/svg+xml"/>
  <Override PartName="/ppt/media/image34.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7.svg" ContentType="image/svg+xml"/>
  <Override PartName="/ppt/media/image68.svg" ContentType="image/svg+xml"/>
  <Override PartName="/ppt/media/image69.svg" ContentType="image/svg+xml"/>
  <Override PartName="/ppt/media/image70.svg" ContentType="image/svg+xml"/>
  <Override PartName="/ppt/media/image71.svg" ContentType="image/svg+xml"/>
  <Override PartName="/ppt/media/image73.svg" ContentType="image/svg+xml"/>
  <Override PartName="/ppt/media/image74.svg" ContentType="image/svg+xml"/>
  <Override PartName="/ppt/media/image75.svg" ContentType="image/svg+xml"/>
  <Override PartName="/ppt/media/image76.svg" ContentType="image/svg+xml"/>
  <Override PartName="/ppt/media/image77.svg" ContentType="image/svg+xml"/>
  <Override PartName="/ppt/media/image79.svg" ContentType="image/svg+xml"/>
  <Override PartName="/ppt/media/image8.svg" ContentType="image/svg+xml"/>
  <Override PartName="/ppt/media/image80.svg" ContentType="image/svg+xml"/>
  <Override PartName="/ppt/media/image81.svg" ContentType="image/svg+xml"/>
  <Override PartName="/ppt/media/image82.svg" ContentType="image/svg+xml"/>
  <Override PartName="/ppt/media/image83.svg" ContentType="image/svg+xml"/>
  <Override PartName="/ppt/media/image84.svg" ContentType="image/svg+xml"/>
  <Override PartName="/ppt/media/image85.svg" ContentType="image/svg+xml"/>
  <Override PartName="/ppt/media/image87.svg" ContentType="image/svg+xml"/>
  <Override PartName="/ppt/media/image89.svg" ContentType="image/svg+xml"/>
  <Override PartName="/ppt/media/image90.svg" ContentType="image/svg+xml"/>
  <Override PartName="/ppt/media/image91.svg" ContentType="image/svg+xml"/>
  <Override PartName="/ppt/media/image92.svg" ContentType="image/svg+xml"/>
  <Override PartName="/ppt/media/image93.svg" ContentType="image/svg+xml"/>
  <Override PartName="/ppt/media/image95.svg" ContentType="image/svg+xml"/>
  <Override PartName="/ppt/media/image97.svg" ContentType="image/svg+xml"/>
  <Override PartName="/ppt/media/image98.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7663787-9521-4A7A-83B5-6B4FC89F01E4}">
          <p14:sldIdLst>
            <p14:sldId id="256"/>
            <p14:sldId id="257"/>
            <p14:sldId id="258"/>
            <p14:sldId id="259"/>
            <p14:sldId id="260"/>
          </p14:sldIdLst>
        </p14:section>
        <p14:section name="9.1 From Sample to Population" id="{BC403E40-486C-455F-A2C9-5156D5BBDE9A}">
          <p14:sldIdLst>
            <p14:sldId id="261"/>
            <p14:sldId id="262"/>
            <p14:sldId id="263"/>
            <p14:sldId id="264"/>
          </p14:sldIdLst>
        </p14:section>
        <p14:section name="9.2 Confidence Intervals" id="{F8CCD03D-87D2-479C-B938-2F5F95DF4DC7}">
          <p14:sldIdLst>
            <p14:sldId id="265"/>
            <p14:sldId id="266"/>
            <p14:sldId id="267"/>
            <p14:sldId id="268"/>
          </p14:sldIdLst>
        </p14:section>
        <p14:section name="9.3 Hypothesis Testing" id="{A9460E16-33C1-4CC4-9500-3965019BB893}">
          <p14:sldIdLst>
            <p14:sldId id="269"/>
            <p14:sldId id="270"/>
            <p14:sldId id="271"/>
            <p14:sldId id="272"/>
            <p14:sldId id="273"/>
            <p14:sldId id="274"/>
            <p14:sldId id="275"/>
          </p14:sldIdLst>
        </p14:section>
        <p14:section name="9.4 Effect Size and Power" id="{CC9E97E2-B8A5-4671-B695-78A8CEB26B62}">
          <p14:sldIdLst>
            <p14:sldId id="276"/>
            <p14:sldId id="277"/>
            <p14:sldId id="278"/>
          </p14:sldIdLst>
        </p14:section>
        <p14:section name="9.5 Multiple Comparisons" id="{AD711035-F6B9-45AF-9641-1C3A6B7AC9E5}">
          <p14:sldIdLst>
            <p14:sldId id="279"/>
            <p14:sldId id="280"/>
            <p14:sldId id="281"/>
          </p14:sldIdLst>
        </p14:section>
        <p14:section name="Pitfalls" id="{DF04BE82-CAAA-41B4-AC0B-747B3854EE94}">
          <p14:sldIdLst>
            <p14:sldId id="282"/>
          </p14:sldIdLst>
        </p14:section>
        <p14:section name="Four lenses" id="{9BB86732-BE20-4FFF-8FD6-3F7BCF780442}">
          <p14:sldIdLst>
            <p14:sldId id="283"/>
            <p14:sldId id="284"/>
            <p14:sldId id="285"/>
            <p14:sldId id="286"/>
            <p14:sldId id="287"/>
          </p14:sldIdLst>
        </p14:section>
        <p14:section name="Lab" id="{FAB152E7-38C5-41B1-B4C1-60331A54EA63}">
          <p14:sldIdLst>
            <p14:sldId id="288"/>
            <p14:sldId id="289"/>
            <p14:sldId id="290"/>
            <p14:sldId id="291"/>
            <p14:sldId id="292"/>
            <p14:sldId id="293"/>
            <p14:sldId id="294"/>
          </p14:sldIdLst>
        </p14:section>
        <p14:section name="Checkpoint" id="{7B172CE2-494A-45C1-9625-91369BCAC931}">
          <p14:sldIdLst>
            <p14:sldId id="295"/>
            <p14:sldId id="296"/>
            <p14:sldId id="297"/>
            <p14:sldId id="298"/>
            <p14:sldId id="299"/>
            <p14:sldId id="300"/>
          </p14:sldIdLst>
        </p14:section>
        <p14:section name="Wrap-up" id="{8442F1D9-5009-4691-995F-85A618E9B106}">
          <p14:sldIdLst>
            <p14:sldId id="301"/>
            <p14:sldId id="302"/>
            <p14:sldId id="303"/>
            <p14:sldId id="304"/>
            <p14:sldId id="30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9: Inferential Statistics. Part 2 — From Data to Insight. Week 6: Inference and causality. Handout pages 55–61.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6 — especially the Central Limit Theorem, which is what licenses everything in this chapter — and Chapter 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population; sample; sampling bias; standard error; confidence interval; null and alternative hypothesis; p-value; significance level; Type I and Type II error; statistical power; effect size; multiple comparisons; p-hacking.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9.1 (handout p. 57): Margin of error against sample size. The curve is 1.96s/√n. The flat right-hand region is why collecting ten times more data rarely improves a study ten-fold — and why reducing bias usually beats increasing 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9.2 (handout p. 57): The two errors. Which one is worse is a domain question, never a statistical one: a Type I error wastes an analyst’s afternoon, a Type II error lets an intrusion through.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Comparing pass rates between two teaching formats is a two-proportion test — but students are not independent: they share tutors, timetables and study groups, which is cluster sampling in disguise, so the effective sample is smaller than the headcount. Always report the effect size in percentage points alongside p, because a statistically significant 0.5-point rise will not justify redesigning a module.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Sprint samples are small (n ≈ 10–20), so power is low and non-significant results are near-guaranteed. Confidence intervals on velocity are far more useful to a team than tests: “we complete 28–41 points per sprint with 95% confidence” supports planning in a way that “p = 0.31” never will.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With millions of readings, everything is statistically significant — a 0.02°C difference between two sensor batches will have p &lt; 10−9 and mean nothing. In this domain the p-value is almost useless and the effect size is almost everything. Beware also that consecutive readings are autocorrelated, so the effective sample size is far below the row count.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Type I and Type II errors have wildly asymmetric costs here, so α = 0.05 is an arbitrary import from another field. Set the threshold from the cost ratio instead (Chapter 6’s expected-value calculation). Multiple comparisons are acute: a SIEM testing thousands of rules per hour will generate false positives continuously by construction unless corrected.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Confidence interval for the new format's pass rate.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Hypothesis test.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Effect size: report this WITH the p-value, never instead of it.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The multiple-comparisons demonstration.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Not correct. The true mean is a fixed number, not a random one. The correct statement: if the sampling procedure were repeated many times, about 95% of the intervals so constructed would contain the true mean.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No. With n=500,000 almost any difference is statistically significant. A 0.03% effect is almost certainly not worth acting on. Significance answers “is it detectable?”; effect size answers “is it worth anything?”</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1 − 0.9515 ≈ 54%. More than half the time you would find at least one “significant” result even if nothing were associated.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10 — Relationships and Causality. READ: Handout Chapter 9, pages 55–61. THIS WEEK'S LAB: Intervals, tests, confounder simulation.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4.xml"/><Relationship Id="rId8" Type="http://schemas.openxmlformats.org/officeDocument/2006/relationships/slide" Target="slide21.xml"/><Relationship Id="rId9" Type="http://schemas.openxmlformats.org/officeDocument/2006/relationships/slide" Target="slide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7.svg"/><Relationship Id="rId4" Type="http://schemas.openxmlformats.org/officeDocument/2006/relationships/image" Target="../media/image18.png"/><Relationship Id="rId5" Type="http://schemas.openxmlformats.org/officeDocument/2006/relationships/image" Target="../media/image19.sv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4.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5.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26.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9.svg"/><Relationship Id="rId4" Type="http://schemas.openxmlformats.org/officeDocument/2006/relationships/image" Target="../media/image30.png"/><Relationship Id="rId5" Type="http://schemas.openxmlformats.org/officeDocument/2006/relationships/image" Target="../media/image31.svg"/><Relationship Id="rId6" Type="http://schemas.openxmlformats.org/officeDocument/2006/relationships/image" Target="../media/image32.png"/><Relationship Id="rId7" Type="http://schemas.openxmlformats.org/officeDocument/2006/relationships/image" Target="../media/image33.svg"/><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34.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35.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39.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40.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41.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5.svg"/><Relationship Id="rId4" Type="http://schemas.openxmlformats.org/officeDocument/2006/relationships/image" Target="../media/image46.png"/><Relationship Id="rId5" Type="http://schemas.openxmlformats.org/officeDocument/2006/relationships/image" Target="../media/image47.svg"/><Relationship Id="rId6" Type="http://schemas.openxmlformats.org/officeDocument/2006/relationships/image" Target="../media/image48.png"/><Relationship Id="rId7" Type="http://schemas.openxmlformats.org/officeDocument/2006/relationships/image" Target="../media/image49.svg"/><Relationship Id="rId8" Type="http://schemas.openxmlformats.org/officeDocument/2006/relationships/image" Target="../media/image50.png"/><Relationship Id="rId9" Type="http://schemas.openxmlformats.org/officeDocument/2006/relationships/image" Target="../media/image51.svg"/><Relationship Id="rId10" Type="http://schemas.openxmlformats.org/officeDocument/2006/relationships/image" Target="../media/image52.png"/><Relationship Id="rId11" Type="http://schemas.openxmlformats.org/officeDocument/2006/relationships/image" Target="../media/image53.svg"/><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5.svg"/><Relationship Id="rId4" Type="http://schemas.openxmlformats.org/officeDocument/2006/relationships/image" Target="../media/image46.png"/><Relationship Id="rId5" Type="http://schemas.openxmlformats.org/officeDocument/2006/relationships/image" Target="../media/image56.svg"/><Relationship Id="rId6" Type="http://schemas.openxmlformats.org/officeDocument/2006/relationships/image" Target="../media/image48.png"/><Relationship Id="rId7" Type="http://schemas.openxmlformats.org/officeDocument/2006/relationships/image" Target="../media/image57.svg"/><Relationship Id="rId8" Type="http://schemas.openxmlformats.org/officeDocument/2006/relationships/image" Target="../media/image50.png"/><Relationship Id="rId9" Type="http://schemas.openxmlformats.org/officeDocument/2006/relationships/image" Target="../media/image58.svg"/><Relationship Id="rId10" Type="http://schemas.openxmlformats.org/officeDocument/2006/relationships/image" Target="../media/image52.png"/><Relationship Id="rId11" Type="http://schemas.openxmlformats.org/officeDocument/2006/relationships/image" Target="../media/image59.svg"/><Relationship Id="rId1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1.svg"/><Relationship Id="rId4" Type="http://schemas.openxmlformats.org/officeDocument/2006/relationships/image" Target="../media/image48.png"/><Relationship Id="rId5" Type="http://schemas.openxmlformats.org/officeDocument/2006/relationships/image" Target="../media/image62.svg"/><Relationship Id="rId6" Type="http://schemas.openxmlformats.org/officeDocument/2006/relationships/image" Target="../media/image46.png"/><Relationship Id="rId7" Type="http://schemas.openxmlformats.org/officeDocument/2006/relationships/image" Target="../media/image63.svg"/><Relationship Id="rId8" Type="http://schemas.openxmlformats.org/officeDocument/2006/relationships/image" Target="../media/image50.png"/><Relationship Id="rId9" Type="http://schemas.openxmlformats.org/officeDocument/2006/relationships/image" Target="../media/image64.svg"/><Relationship Id="rId10" Type="http://schemas.openxmlformats.org/officeDocument/2006/relationships/image" Target="../media/image52.png"/><Relationship Id="rId11" Type="http://schemas.openxmlformats.org/officeDocument/2006/relationships/image" Target="../media/image65.svg"/><Relationship Id="rId1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7.svg"/><Relationship Id="rId4" Type="http://schemas.openxmlformats.org/officeDocument/2006/relationships/image" Target="../media/image50.png"/><Relationship Id="rId5" Type="http://schemas.openxmlformats.org/officeDocument/2006/relationships/image" Target="../media/image68.svg"/><Relationship Id="rId6" Type="http://schemas.openxmlformats.org/officeDocument/2006/relationships/image" Target="../media/image46.png"/><Relationship Id="rId7" Type="http://schemas.openxmlformats.org/officeDocument/2006/relationships/image" Target="../media/image69.svg"/><Relationship Id="rId8" Type="http://schemas.openxmlformats.org/officeDocument/2006/relationships/image" Target="../media/image48.png"/><Relationship Id="rId9" Type="http://schemas.openxmlformats.org/officeDocument/2006/relationships/image" Target="../media/image70.svg"/><Relationship Id="rId10" Type="http://schemas.openxmlformats.org/officeDocument/2006/relationships/image" Target="../media/image52.png"/><Relationship Id="rId11" Type="http://schemas.openxmlformats.org/officeDocument/2006/relationships/image" Target="../media/image71.svg"/><Relationship Id="rId1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52.png"/><Relationship Id="rId5" Type="http://schemas.openxmlformats.org/officeDocument/2006/relationships/image" Target="../media/image74.svg"/><Relationship Id="rId6" Type="http://schemas.openxmlformats.org/officeDocument/2006/relationships/image" Target="../media/image46.png"/><Relationship Id="rId7" Type="http://schemas.openxmlformats.org/officeDocument/2006/relationships/image" Target="../media/image75.svg"/><Relationship Id="rId8" Type="http://schemas.openxmlformats.org/officeDocument/2006/relationships/image" Target="../media/image48.png"/><Relationship Id="rId9" Type="http://schemas.openxmlformats.org/officeDocument/2006/relationships/image" Target="../media/image76.svg"/><Relationship Id="rId10" Type="http://schemas.openxmlformats.org/officeDocument/2006/relationships/image" Target="../media/image50.png"/><Relationship Id="rId11" Type="http://schemas.openxmlformats.org/officeDocument/2006/relationships/image" Target="../media/image77.svg"/><Relationship Id="rId1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79.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80.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81.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82.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83.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84.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85.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image" Target="../media/image87.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 Id="rId3" Type="http://schemas.openxmlformats.org/officeDocument/2006/relationships/image" Target="../media/image89.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image" Target="../media/image90.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 Id="rId3" Type="http://schemas.openxmlformats.org/officeDocument/2006/relationships/image" Target="../media/image91.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image" Target="../media/image92.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 Id="rId3" Type="http://schemas.openxmlformats.org/officeDocument/2006/relationships/image" Target="../media/image93.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4.png"/><Relationship Id="rId3" Type="http://schemas.openxmlformats.org/officeDocument/2006/relationships/image" Target="../media/image95.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6.png"/><Relationship Id="rId3" Type="http://schemas.openxmlformats.org/officeDocument/2006/relationships/image" Target="../media/image97.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6.png"/><Relationship Id="rId3" Type="http://schemas.openxmlformats.org/officeDocument/2006/relationships/image" Target="../media/image98.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6.png"/><Relationship Id="rId3" Type="http://schemas.openxmlformats.org/officeDocument/2006/relationships/image" Target="../media/image99.sv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9769F"/>
                </a:solidFill>
                <a:latin typeface="Segoe UI Black"/>
              </a:rPr>
              <a:t>09</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Inferential Statistics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PART II  ·  FROM DATA TO INSIGHT</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CHAPTER 9  ·  WEEK 6</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3E1EA"/>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94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8BA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FCC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8BA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55     </a:t>
            </a:r>
            <a:fld id="{3169250F-4872-4CCD-B29B-AD5D2AD22EF5}" type="slidenum">
              <a:rPr lang="en-GB" sz="1000">
                <a:solidFill>
                  <a:srgbClr val="8795A1"/>
                </a:solidFill>
                <a:latin typeface="Segoe UI"/>
              </a:rPr>
              <a:t>2</a:t>
            </a:fld>
          </a:p>
        </p:txBody>
      </p:sp>
      <p:sp>
        <p:nvSpPr>
          <p:cNvPr id="7" name="!!rp1"/>
          <p:cNvSpPr txBox="1"/>
          <p:nvPr/>
        </p:nvSpPr>
        <p:spPr>
          <a:xfrm>
            <a:off x="77724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740856" y="1755648"/>
            <a:ext cx="138222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740856" y="2029967"/>
            <a:ext cx="1382229" cy="4572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45227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45227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415887"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415887"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379504"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379504"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061571"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061571"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5980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5066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187962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17881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16117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0697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271703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6255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299858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29071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289282" y="2112264"/>
            <a:ext cx="566928" cy="566928"/>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289282"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9</a:t>
            </a:r>
          </a:p>
        </p:txBody>
      </p:sp>
      <p:sp>
        <p:nvSpPr>
          <p:cNvPr id="37" name="!!dot10">
            <a:extLst>
              <a:ext uri="{C183D7F6-B498-43B3-948B-1728B52AA6E4}">
                <adec:decorative xmlns:adec="http://schemas.microsoft.com/office/drawing/2017/decorative" val="1"/>
              </a:ext>
            </a:extLst>
          </p:cNvPr>
          <p:cNvSpPr/>
          <p:nvPr/>
        </p:nvSpPr>
        <p:spPr>
          <a:xfrm>
            <a:off x="3872584"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7811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428453"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3370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71000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6185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99155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9001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527310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518166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55465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46321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836200"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7447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392070"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63006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67361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58217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95516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86372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723671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714527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51826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4268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79981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70837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35568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826424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63723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5457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91878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827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920033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91088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48188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3904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1003775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9463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31930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10227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60085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5094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1286746"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236794"/>
                </a:solidFill>
                <a:latin typeface="Segoe UI"/>
              </a:rPr>
              <a:t>Inferential Statistics</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5">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5">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5"/>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5  </a:t>
            </a:r>
            <a:r>
              <a:rPr sz="1400" b="0" i="0">
                <a:solidFill>
                  <a:srgbClr val="1C252B"/>
                </a:solidFill>
                <a:latin typeface="Segoe UI"/>
              </a:rPr>
              <a:t>Describing Data: Centre, Spread and Shape</a:t>
            </a:r>
          </a:p>
        </p:txBody>
      </p:sp>
      <p:sp>
        <p:nvSpPr>
          <p:cNvPr id="88" name="!!chipBU6">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chipbBU6">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tBU6"/>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6  </a:t>
            </a:r>
            <a:r>
              <a:rPr sz="1400" b="0" i="0">
                <a:solidFill>
                  <a:srgbClr val="1C252B"/>
                </a:solidFill>
                <a:latin typeface="Segoe UI"/>
              </a:rPr>
              <a:t>Probability and Uncertainty</a:t>
            </a:r>
          </a:p>
        </p:txBody>
      </p:sp>
      <p:sp>
        <p:nvSpPr>
          <p:cNvPr id="91"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92" name="!!chipUS10">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chipbUS10">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4" name="!!chiptUS10"/>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10  </a:t>
            </a:r>
            <a:r>
              <a:rPr sz="1400" b="0" i="0">
                <a:solidFill>
                  <a:srgbClr val="1C252B"/>
                </a:solidFill>
                <a:latin typeface="Segoe UI"/>
              </a:rPr>
              <a:t>Relationships and Causality</a:t>
            </a:r>
          </a:p>
        </p:txBody>
      </p:sp>
      <p:sp>
        <p:nvSpPr>
          <p:cNvPr id="95" name="!!chipUS29">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6" name="!!chipbUS29">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7" name="!!chiptUS29"/>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29  </a:t>
            </a:r>
            <a:r>
              <a:rPr sz="1400" b="0" i="0">
                <a:solidFill>
                  <a:srgbClr val="1C252B"/>
                </a:solidFill>
                <a:latin typeface="Segoe UI"/>
              </a:rPr>
              <a:t>Research Methods and Experimental Design</a:t>
            </a:r>
          </a:p>
        </p:txBody>
      </p:sp>
      <p:sp>
        <p:nvSpPr>
          <p:cNvPr id="98" name="!!chipUS31">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9" name="!!chipbUS31">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0" name="!!chiptUS31"/>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31  </a:t>
            </a:r>
            <a:r>
              <a:rPr sz="1400" b="0" i="0">
                <a:solidFill>
                  <a:srgbClr val="1C252B"/>
                </a:solidFill>
                <a:latin typeface="Segoe UI"/>
              </a:rPr>
              <a:t>Communicating Data Science</a:t>
            </a:r>
          </a:p>
        </p:txBody>
      </p:sp>
      <p:sp>
        <p:nvSpPr>
          <p:cNvPr id="10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2" name="!!pfill">
            <a:extLst>
              <a:ext uri="{C183D7F6-B498-43B3-948B-1728B52AA6E4}">
                <adec:decorative xmlns:adec="http://schemas.microsoft.com/office/drawing/2017/decorative" val="1"/>
              </a:ext>
            </a:extLst>
          </p:cNvPr>
          <p:cNvSpPr/>
          <p:nvPr/>
        </p:nvSpPr>
        <p:spPr>
          <a:xfrm>
            <a:off x="0" y="0"/>
            <a:ext cx="48766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55     </a:t>
            </a:r>
            <a:fld id="{8D3C6849-5373-43EB-903D-C489CF81E264}"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Distinguish</a:t>
            </a:r>
            <a:r>
              <a:rPr sz="2100" b="0" i="0">
                <a:solidFill>
                  <a:srgbClr val="1C252B"/>
                </a:solidFill>
                <a:latin typeface="Segoe UI"/>
              </a:rPr>
              <a:t> a population from a sample and identify the sampling method used in a study.</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Construct</a:t>
            </a:r>
            <a:r>
              <a:rPr sz="2100" b="0" i="0">
                <a:solidFill>
                  <a:srgbClr val="1C252B"/>
                </a:solidFill>
                <a:latin typeface="Segoe UI"/>
              </a:rPr>
              <a:t> and </a:t>
            </a:r>
            <a:r>
              <a:rPr sz="2100" b="1" i="0">
                <a:solidFill>
                  <a:srgbClr val="1C252B"/>
                </a:solidFill>
                <a:latin typeface="Segoe UI"/>
              </a:rPr>
              <a:t>interpret</a:t>
            </a:r>
            <a:r>
              <a:rPr sz="2100" b="0" i="0">
                <a:solidFill>
                  <a:srgbClr val="1C252B"/>
                </a:solidFill>
                <a:latin typeface="Segoe UI"/>
              </a:rPr>
              <a:t> a confidence interval, and state precisely what it does </a:t>
            </a:r>
            <a:r>
              <a:rPr sz="2100" b="0" i="1">
                <a:solidFill>
                  <a:srgbClr val="1C252B"/>
                </a:solidFill>
                <a:latin typeface="Segoe UI"/>
              </a:rPr>
              <a:t>not</a:t>
            </a:r>
            <a:r>
              <a:rPr sz="2100" b="0" i="0">
                <a:solidFill>
                  <a:srgbClr val="1C252B"/>
                </a:solidFill>
                <a:latin typeface="Segoe UI"/>
              </a:rPr>
              <a:t> mean.</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60266"/>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Conduct</a:t>
            </a:r>
            <a:r>
              <a:rPr sz="2100" b="0" i="0">
                <a:solidFill>
                  <a:srgbClr val="1C252B"/>
                </a:solidFill>
                <a:latin typeface="Segoe UI"/>
              </a:rPr>
              <a:t> a hypothesis test and interpret a </a:t>
            </a:r>
            <a:r>
              <a:rPr sz="2100" b="0" i="1">
                <a:solidFill>
                  <a:srgbClr val="1C252B"/>
                </a:solidFill>
                <a:latin typeface="Cambria"/>
              </a:rPr>
              <a:t>p</a:t>
            </a:r>
            <a:r>
              <a:rPr sz="2100" b="0" i="0">
                <a:solidFill>
                  <a:srgbClr val="1C252B"/>
                </a:solidFill>
                <a:latin typeface="Segoe UI"/>
              </a:rPr>
              <a:t>-value correctly.</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1347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Explain</a:t>
            </a:r>
            <a:r>
              <a:rPr sz="2100" b="0" i="0">
                <a:solidFill>
                  <a:srgbClr val="1C252B"/>
                </a:solidFill>
                <a:latin typeface="Segoe UI"/>
              </a:rPr>
              <a:t> why statistical significance and practical importance are different things, using effect size.</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41233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Recognise</a:t>
            </a:r>
            <a:r>
              <a:rPr sz="2100" b="0" i="0">
                <a:solidFill>
                  <a:srgbClr val="1C252B"/>
                </a:solidFill>
                <a:latin typeface="Segoe UI"/>
              </a:rPr>
              <a:t> the multiple-comparisons problem and apply a correction.</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3150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55     </a:t>
            </a:r>
            <a:fld id="{AF602BAF-5050-4EBF-8E89-7303B04C6C73}" type="slidenum">
              <a:rPr lang="en-GB" sz="1000">
                <a:solidFill>
                  <a:srgbClr val="8795A1"/>
                </a:solidFill>
                <a:latin typeface="Segoe UI"/>
              </a:rPr>
              <a:t>4</a:t>
            </a:fld>
          </a:p>
        </p:txBody>
      </p:sp>
      <p:sp>
        <p:nvSpPr>
          <p:cNvPr id="7" name="!!term-population">
            <a:extLst>
              <a:ext uri="{C183D7F6-B498-43B3-948B-1728B52AA6E4}">
                <adec:decorative xmlns:adec="http://schemas.microsoft.com/office/drawing/2017/decorative" val="1"/>
              </a:ext>
            </a:extLst>
          </p:cNvPr>
          <p:cNvSpPr/>
          <p:nvPr/>
        </p:nvSpPr>
        <p:spPr>
          <a:xfrm>
            <a:off x="658368" y="1847088"/>
            <a:ext cx="143626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population">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population"/>
          <p:cNvSpPr txBox="1"/>
          <p:nvPr/>
        </p:nvSpPr>
        <p:spPr>
          <a:xfrm>
            <a:off x="950976" y="1962911"/>
            <a:ext cx="125338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population</a:t>
            </a:r>
          </a:p>
        </p:txBody>
      </p:sp>
      <p:sp>
        <p:nvSpPr>
          <p:cNvPr id="10" name="!!term-sample">
            <a:extLst>
              <a:ext uri="{C183D7F6-B498-43B3-948B-1728B52AA6E4}">
                <adec:decorative xmlns:adec="http://schemas.microsoft.com/office/drawing/2017/decorative" val="1"/>
              </a:ext>
            </a:extLst>
          </p:cNvPr>
          <p:cNvSpPr/>
          <p:nvPr/>
        </p:nvSpPr>
        <p:spPr>
          <a:xfrm>
            <a:off x="2240938" y="1847088"/>
            <a:ext cx="10911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sample">
            <a:extLst>
              <a:ext uri="{C183D7F6-B498-43B3-948B-1728B52AA6E4}">
                <adec:decorative xmlns:adec="http://schemas.microsoft.com/office/drawing/2017/decorative" val="1"/>
              </a:ext>
            </a:extLst>
          </p:cNvPr>
          <p:cNvSpPr/>
          <p:nvPr/>
        </p:nvSpPr>
        <p:spPr>
          <a:xfrm>
            <a:off x="236895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sample"/>
          <p:cNvSpPr txBox="1"/>
          <p:nvPr/>
        </p:nvSpPr>
        <p:spPr>
          <a:xfrm>
            <a:off x="2533546" y="1962911"/>
            <a:ext cx="90829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sample</a:t>
            </a:r>
          </a:p>
        </p:txBody>
      </p:sp>
      <p:sp>
        <p:nvSpPr>
          <p:cNvPr id="13" name="!!term-sampling bias">
            <a:extLst>
              <a:ext uri="{C183D7F6-B498-43B3-948B-1728B52AA6E4}">
                <adec:decorative xmlns:adec="http://schemas.microsoft.com/office/drawing/2017/decorative" val="1"/>
              </a:ext>
            </a:extLst>
          </p:cNvPr>
          <p:cNvSpPr/>
          <p:nvPr/>
        </p:nvSpPr>
        <p:spPr>
          <a:xfrm>
            <a:off x="3478414" y="1847088"/>
            <a:ext cx="169451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sampling bias">
            <a:extLst>
              <a:ext uri="{C183D7F6-B498-43B3-948B-1728B52AA6E4}">
                <adec:decorative xmlns:adec="http://schemas.microsoft.com/office/drawing/2017/decorative" val="1"/>
              </a:ext>
            </a:extLst>
          </p:cNvPr>
          <p:cNvSpPr/>
          <p:nvPr/>
        </p:nvSpPr>
        <p:spPr>
          <a:xfrm>
            <a:off x="360643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sampling bias"/>
          <p:cNvSpPr txBox="1"/>
          <p:nvPr/>
        </p:nvSpPr>
        <p:spPr>
          <a:xfrm>
            <a:off x="3771022" y="1962911"/>
            <a:ext cx="151163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sampling bias</a:t>
            </a:r>
          </a:p>
        </p:txBody>
      </p:sp>
      <p:sp>
        <p:nvSpPr>
          <p:cNvPr id="16" name="!!term-standard error">
            <a:extLst>
              <a:ext uri="{C183D7F6-B498-43B3-948B-1728B52AA6E4}">
                <adec:decorative xmlns:adec="http://schemas.microsoft.com/office/drawing/2017/decorative" val="1"/>
              </a:ext>
            </a:extLst>
          </p:cNvPr>
          <p:cNvSpPr/>
          <p:nvPr/>
        </p:nvSpPr>
        <p:spPr>
          <a:xfrm>
            <a:off x="5319235" y="1847088"/>
            <a:ext cx="174459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standard error">
            <a:extLst>
              <a:ext uri="{C183D7F6-B498-43B3-948B-1728B52AA6E4}">
                <adec:decorative xmlns:adec="http://schemas.microsoft.com/office/drawing/2017/decorative" val="1"/>
              </a:ext>
            </a:extLst>
          </p:cNvPr>
          <p:cNvSpPr/>
          <p:nvPr/>
        </p:nvSpPr>
        <p:spPr>
          <a:xfrm>
            <a:off x="544725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standard error"/>
          <p:cNvSpPr txBox="1"/>
          <p:nvPr/>
        </p:nvSpPr>
        <p:spPr>
          <a:xfrm>
            <a:off x="5611843" y="1962911"/>
            <a:ext cx="156171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standard error</a:t>
            </a:r>
          </a:p>
        </p:txBody>
      </p:sp>
      <p:sp>
        <p:nvSpPr>
          <p:cNvPr id="19" name="!!term-confidence int">
            <a:extLst>
              <a:ext uri="{C183D7F6-B498-43B3-948B-1728B52AA6E4}">
                <adec:decorative xmlns:adec="http://schemas.microsoft.com/office/drawing/2017/decorative" val="1"/>
              </a:ext>
            </a:extLst>
          </p:cNvPr>
          <p:cNvSpPr/>
          <p:nvPr/>
        </p:nvSpPr>
        <p:spPr>
          <a:xfrm>
            <a:off x="7210130" y="1847088"/>
            <a:ext cx="217044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confidence int">
            <a:extLst>
              <a:ext uri="{C183D7F6-B498-43B3-948B-1728B52AA6E4}">
                <adec:decorative xmlns:adec="http://schemas.microsoft.com/office/drawing/2017/decorative" val="1"/>
              </a:ext>
            </a:extLst>
          </p:cNvPr>
          <p:cNvSpPr/>
          <p:nvPr/>
        </p:nvSpPr>
        <p:spPr>
          <a:xfrm>
            <a:off x="733814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confidence int"/>
          <p:cNvSpPr txBox="1"/>
          <p:nvPr/>
        </p:nvSpPr>
        <p:spPr>
          <a:xfrm>
            <a:off x="7502738" y="1962911"/>
            <a:ext cx="198756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confidence interval</a:t>
            </a:r>
          </a:p>
        </p:txBody>
      </p:sp>
      <p:sp>
        <p:nvSpPr>
          <p:cNvPr id="22" name="!!term-null and alter">
            <a:extLst>
              <a:ext uri="{C183D7F6-B498-43B3-948B-1728B52AA6E4}">
                <adec:decorative xmlns:adec="http://schemas.microsoft.com/office/drawing/2017/decorative" val="1"/>
              </a:ext>
            </a:extLst>
          </p:cNvPr>
          <p:cNvSpPr/>
          <p:nvPr/>
        </p:nvSpPr>
        <p:spPr>
          <a:xfrm>
            <a:off x="658368" y="2468880"/>
            <a:ext cx="322925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null and alter">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null and alter"/>
          <p:cNvSpPr txBox="1"/>
          <p:nvPr/>
        </p:nvSpPr>
        <p:spPr>
          <a:xfrm>
            <a:off x="950976" y="2584704"/>
            <a:ext cx="304637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null and alternative hypothesis</a:t>
            </a:r>
          </a:p>
        </p:txBody>
      </p:sp>
      <p:sp>
        <p:nvSpPr>
          <p:cNvPr id="25" name="!!term-p-value">
            <a:extLst>
              <a:ext uri="{C183D7F6-B498-43B3-948B-1728B52AA6E4}">
                <adec:decorative xmlns:adec="http://schemas.microsoft.com/office/drawing/2017/decorative" val="1"/>
              </a:ext>
            </a:extLst>
          </p:cNvPr>
          <p:cNvSpPr/>
          <p:nvPr/>
        </p:nvSpPr>
        <p:spPr>
          <a:xfrm>
            <a:off x="4033927" y="2468880"/>
            <a:ext cx="112427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p-value">
            <a:extLst>
              <a:ext uri="{C183D7F6-B498-43B3-948B-1728B52AA6E4}">
                <adec:decorative xmlns:adec="http://schemas.microsoft.com/office/drawing/2017/decorative" val="1"/>
              </a:ext>
            </a:extLst>
          </p:cNvPr>
          <p:cNvSpPr/>
          <p:nvPr/>
        </p:nvSpPr>
        <p:spPr>
          <a:xfrm>
            <a:off x="416194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p-value"/>
          <p:cNvSpPr txBox="1"/>
          <p:nvPr/>
        </p:nvSpPr>
        <p:spPr>
          <a:xfrm>
            <a:off x="4326535" y="2584704"/>
            <a:ext cx="94139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p-value</a:t>
            </a:r>
          </a:p>
        </p:txBody>
      </p:sp>
      <p:sp>
        <p:nvSpPr>
          <p:cNvPr id="28" name="!!term-significance l">
            <a:extLst>
              <a:ext uri="{C183D7F6-B498-43B3-948B-1728B52AA6E4}">
                <adec:decorative xmlns:adec="http://schemas.microsoft.com/office/drawing/2017/decorative" val="1"/>
              </a:ext>
            </a:extLst>
          </p:cNvPr>
          <p:cNvSpPr/>
          <p:nvPr/>
        </p:nvSpPr>
        <p:spPr>
          <a:xfrm>
            <a:off x="5304507" y="2468880"/>
            <a:ext cx="197741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significance l">
            <a:extLst>
              <a:ext uri="{C183D7F6-B498-43B3-948B-1728B52AA6E4}">
                <adec:decorative xmlns:adec="http://schemas.microsoft.com/office/drawing/2017/decorative" val="1"/>
              </a:ext>
            </a:extLst>
          </p:cNvPr>
          <p:cNvSpPr/>
          <p:nvPr/>
        </p:nvSpPr>
        <p:spPr>
          <a:xfrm>
            <a:off x="543252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significance l"/>
          <p:cNvSpPr txBox="1"/>
          <p:nvPr/>
        </p:nvSpPr>
        <p:spPr>
          <a:xfrm>
            <a:off x="5597115" y="2584704"/>
            <a:ext cx="179453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significance level</a:t>
            </a:r>
          </a:p>
        </p:txBody>
      </p:sp>
      <p:sp>
        <p:nvSpPr>
          <p:cNvPr id="31" name="!!term-Type I and Typ">
            <a:extLst>
              <a:ext uri="{C183D7F6-B498-43B3-948B-1728B52AA6E4}">
                <adec:decorative xmlns:adec="http://schemas.microsoft.com/office/drawing/2017/decorative" val="1"/>
              </a:ext>
            </a:extLst>
          </p:cNvPr>
          <p:cNvSpPr/>
          <p:nvPr/>
        </p:nvSpPr>
        <p:spPr>
          <a:xfrm>
            <a:off x="7428224" y="2468880"/>
            <a:ext cx="255737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Type I and Typ">
            <a:extLst>
              <a:ext uri="{C183D7F6-B498-43B3-948B-1728B52AA6E4}">
                <adec:decorative xmlns:adec="http://schemas.microsoft.com/office/drawing/2017/decorative" val="1"/>
              </a:ext>
            </a:extLst>
          </p:cNvPr>
          <p:cNvSpPr/>
          <p:nvPr/>
        </p:nvSpPr>
        <p:spPr>
          <a:xfrm>
            <a:off x="755624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Type I and Typ"/>
          <p:cNvSpPr txBox="1"/>
          <p:nvPr/>
        </p:nvSpPr>
        <p:spPr>
          <a:xfrm>
            <a:off x="7720832" y="2584704"/>
            <a:ext cx="237449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Type I and Type II error</a:t>
            </a:r>
          </a:p>
        </p:txBody>
      </p:sp>
      <p:sp>
        <p:nvSpPr>
          <p:cNvPr id="34" name="!!term-statistical po">
            <a:extLst>
              <a:ext uri="{C183D7F6-B498-43B3-948B-1728B52AA6E4}">
                <adec:decorative xmlns:adec="http://schemas.microsoft.com/office/drawing/2017/decorative" val="1"/>
              </a:ext>
            </a:extLst>
          </p:cNvPr>
          <p:cNvSpPr/>
          <p:nvPr/>
        </p:nvSpPr>
        <p:spPr>
          <a:xfrm>
            <a:off x="658368" y="3090672"/>
            <a:ext cx="191316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statistical po">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statistical po"/>
          <p:cNvSpPr txBox="1"/>
          <p:nvPr/>
        </p:nvSpPr>
        <p:spPr>
          <a:xfrm>
            <a:off x="950976" y="3206496"/>
            <a:ext cx="173028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statistical power</a:t>
            </a:r>
          </a:p>
        </p:txBody>
      </p:sp>
      <p:sp>
        <p:nvSpPr>
          <p:cNvPr id="37" name="!!term-effect size">
            <a:extLst>
              <a:ext uri="{C183D7F6-B498-43B3-948B-1728B52AA6E4}">
                <adec:decorative xmlns:adec="http://schemas.microsoft.com/office/drawing/2017/decorative" val="1"/>
              </a:ext>
            </a:extLst>
          </p:cNvPr>
          <p:cNvSpPr/>
          <p:nvPr/>
        </p:nvSpPr>
        <p:spPr>
          <a:xfrm>
            <a:off x="2717836" y="3090672"/>
            <a:ext cx="134838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effect size">
            <a:extLst>
              <a:ext uri="{C183D7F6-B498-43B3-948B-1728B52AA6E4}">
                <adec:decorative xmlns:adec="http://schemas.microsoft.com/office/drawing/2017/decorative" val="1"/>
              </a:ext>
            </a:extLst>
          </p:cNvPr>
          <p:cNvSpPr/>
          <p:nvPr/>
        </p:nvSpPr>
        <p:spPr>
          <a:xfrm>
            <a:off x="2845852"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effect size"/>
          <p:cNvSpPr txBox="1"/>
          <p:nvPr/>
        </p:nvSpPr>
        <p:spPr>
          <a:xfrm>
            <a:off x="3010444" y="3206496"/>
            <a:ext cx="116550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effect size</a:t>
            </a:r>
          </a:p>
        </p:txBody>
      </p:sp>
      <p:sp>
        <p:nvSpPr>
          <p:cNvPr id="40" name="!!term-multiple compa">
            <a:extLst>
              <a:ext uri="{C183D7F6-B498-43B3-948B-1728B52AA6E4}">
                <adec:decorative xmlns:adec="http://schemas.microsoft.com/office/drawing/2017/decorative" val="1"/>
              </a:ext>
            </a:extLst>
          </p:cNvPr>
          <p:cNvSpPr/>
          <p:nvPr/>
        </p:nvSpPr>
        <p:spPr>
          <a:xfrm>
            <a:off x="4212527" y="3090672"/>
            <a:ext cx="240228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multiple compa">
            <a:extLst>
              <a:ext uri="{C183D7F6-B498-43B3-948B-1728B52AA6E4}">
                <adec:decorative xmlns:adec="http://schemas.microsoft.com/office/drawing/2017/decorative" val="1"/>
              </a:ext>
            </a:extLst>
          </p:cNvPr>
          <p:cNvSpPr/>
          <p:nvPr/>
        </p:nvSpPr>
        <p:spPr>
          <a:xfrm>
            <a:off x="434054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multiple compa"/>
          <p:cNvSpPr txBox="1"/>
          <p:nvPr/>
        </p:nvSpPr>
        <p:spPr>
          <a:xfrm>
            <a:off x="4505135" y="3206496"/>
            <a:ext cx="221940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multiple comparisons</a:t>
            </a:r>
          </a:p>
        </p:txBody>
      </p:sp>
      <p:sp>
        <p:nvSpPr>
          <p:cNvPr id="43" name="!!term-p-hacking">
            <a:extLst>
              <a:ext uri="{C183D7F6-B498-43B3-948B-1728B52AA6E4}">
                <adec:decorative xmlns:adec="http://schemas.microsoft.com/office/drawing/2017/decorative" val="1"/>
              </a:ext>
            </a:extLst>
          </p:cNvPr>
          <p:cNvSpPr/>
          <p:nvPr/>
        </p:nvSpPr>
        <p:spPr>
          <a:xfrm>
            <a:off x="6761112" y="3090672"/>
            <a:ext cx="135481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p-hacking">
            <a:extLst>
              <a:ext uri="{C183D7F6-B498-43B3-948B-1728B52AA6E4}">
                <adec:decorative xmlns:adec="http://schemas.microsoft.com/office/drawing/2017/decorative" val="1"/>
              </a:ext>
            </a:extLst>
          </p:cNvPr>
          <p:cNvSpPr/>
          <p:nvPr/>
        </p:nvSpPr>
        <p:spPr>
          <a:xfrm>
            <a:off x="688912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p-hacking"/>
          <p:cNvSpPr txBox="1"/>
          <p:nvPr/>
        </p:nvSpPr>
        <p:spPr>
          <a:xfrm>
            <a:off x="7053720" y="3206496"/>
            <a:ext cx="117193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p-hacking</a:t>
            </a:r>
          </a:p>
        </p:txBody>
      </p:sp>
      <p:sp>
        <p:nvSpPr>
          <p:cNvPr id="46"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4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fill">
            <a:extLst>
              <a:ext uri="{C183D7F6-B498-43B3-948B-1728B52AA6E4}">
                <adec:decorative xmlns:adec="http://schemas.microsoft.com/office/drawing/2017/decorative" val="1"/>
              </a:ext>
            </a:extLst>
          </p:cNvPr>
          <p:cNvSpPr/>
          <p:nvPr/>
        </p:nvSpPr>
        <p:spPr>
          <a:xfrm>
            <a:off x="0" y="0"/>
            <a:ext cx="97533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55–61     </a:t>
            </a:r>
            <a:fld id="{C1674D5C-7C1F-4167-AB1B-02D43C6F3216}" type="slidenum">
              <a:rPr lang="en-GB" sz="1000">
                <a:solidFill>
                  <a:srgbClr val="8795A1"/>
                </a:solidFill>
                <a:latin typeface="Segoe UI"/>
              </a:rPr>
              <a:t>5</a:t>
            </a:fld>
          </a:p>
        </p:txBody>
      </p:sp>
      <p:sp>
        <p:nvSpPr>
          <p:cNvPr id="7" name="!!ag0" descr="Go to section 9.1 From Sample to Population">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9.1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From Sample to Population</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55  ›</a:t>
            </a:r>
          </a:p>
        </p:txBody>
      </p:sp>
      <p:sp>
        <p:nvSpPr>
          <p:cNvPr id="12" name="!!ag1" descr="Go to section 9.2 Confidence Interval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9.2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Confidence Intervals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56  ›</a:t>
            </a:r>
          </a:p>
        </p:txBody>
      </p:sp>
      <p:sp>
        <p:nvSpPr>
          <p:cNvPr id="17" name="!!ag2" descr="Go to section 9.3 Hypothesis Testing">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9.3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Hypothesis Testing</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57  ›</a:t>
            </a:r>
          </a:p>
        </p:txBody>
      </p:sp>
      <p:sp>
        <p:nvSpPr>
          <p:cNvPr id="22" name="!!ag3" descr="Go to section 9.4 Effect Size and Power">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9.4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Effect Size and Power</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58  ›</a:t>
            </a:r>
          </a:p>
        </p:txBody>
      </p:sp>
      <p:sp>
        <p:nvSpPr>
          <p:cNvPr id="27" name="!!ag4" descr="Go to section 9.5 Multiple Comparisons">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9.5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Multiple Comparisons</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58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21916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From Sample to Population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1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9.1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9.1   From Sample to Population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9.2   Confidence Intervals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9.3   Hypothesis Testing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9.4   Effect Size and Power</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9.5   Multiple Comparisons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§9.1     </a:t>
            </a:r>
            <a:fld id="{C15650E3-AE93-4799-8C16-C5B347FAE774}" type="slidenum">
              <a:rPr lang="en-GB" sz="1000">
                <a:solidFill>
                  <a:srgbClr val="8795A1"/>
                </a:solidFill>
                <a:latin typeface="Segoe UI"/>
              </a:rPr>
              <a:t>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46300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Population and Sample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§9.1  ·  Handout p. 55     </a:t>
            </a:r>
            <a:fld id="{E165D6C2-2A70-4C8A-86D1-3EAAD98271EE}"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population</a:t>
            </a:r>
            <a:r>
              <a:rPr sz="2300" b="0" i="0">
                <a:solidFill>
                  <a:srgbClr val="1C252B"/>
                </a:solidFill>
                <a:latin typeface="Segoe UI"/>
              </a:rPr>
              <a:t> is every unit you want to make a claim about. The </a:t>
            </a:r>
            <a:r>
              <a:rPr sz="2300" b="1" i="0">
                <a:solidFill>
                  <a:srgbClr val="1A5276"/>
                </a:solidFill>
                <a:latin typeface="Segoe UI"/>
              </a:rPr>
              <a:t>sample</a:t>
            </a:r>
            <a:r>
              <a:rPr sz="2300" b="0" i="0">
                <a:solidFill>
                  <a:srgbClr val="1C252B"/>
                </a:solidFill>
                <a:latin typeface="Segoe UI"/>
              </a:rPr>
              <a:t> is the subset you actually measured. Inference is the discipline of saying what the sample entitles you to claim about the population — and, equally, what it does not.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170683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From Sample to Population</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§9.1  ·  Handout p. 55     </a:t>
            </a:r>
            <a:fld id="{76ECDAF1-5B16-456D-9E2A-AAF2EE1E6ACC}" type="slidenum">
              <a:rPr lang="en-GB" sz="1000">
                <a:solidFill>
                  <a:srgbClr val="8795A1"/>
                </a:solidFill>
                <a:latin typeface="Segoe UI"/>
              </a:rPr>
              <a:t>8</a:t>
            </a:fld>
          </a:p>
        </p:txBody>
      </p:sp>
      <p:graphicFrame>
        <p:nvGraphicFramePr>
          <p:cNvPr id="7" name="!!table"/>
          <p:cNvGraphicFramePr>
            <a:graphicFrameLocks noGrp="1"/>
          </p:cNvGraphicFramePr>
          <p:nvPr/>
        </p:nvGraphicFramePr>
        <p:xfrm>
          <a:off x="658368" y="1737360"/>
          <a:ext cx="10874958" cy="3614928"/>
        </p:xfrm>
        <a:graphic>
          <a:graphicData uri="http://schemas.openxmlformats.org/drawingml/2006/table">
            <a:tbl>
              <a:tblPr firstRow="0" bandRow="0" firstCol="0" lastRow="0" lastCol="0" bandCol="0">
                <a:tableStyleId>{2D5ABB26-0587-4C30-8999-92F81FD0307C}</a:tableStyleId>
              </a:tblPr>
              <a:tblGrid>
                <a:gridCol w="2249991"/>
                <a:gridCol w="3899985"/>
                <a:gridCol w="4724982"/>
              </a:tblGrid>
              <a:tr h="405384">
                <a:tc>
                  <a:txBody>
                    <a:bodyPr wrap="square"/>
                    <a:lstStyle/>
                    <a:p>
                      <a:pPr algn="l"/>
                      <a:r>
                        <a:rPr sz="1700" b="1" i="0">
                          <a:solidFill>
                            <a:srgbClr val="1A5276"/>
                          </a:solidFill>
                          <a:latin typeface="Segoe UI"/>
                        </a:rPr>
                        <a:t>Sampling method</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How</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Bias risk</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05384">
                <a:tc>
                  <a:txBody>
                    <a:bodyPr wrap="square"/>
                    <a:lstStyle/>
                    <a:p>
                      <a:pPr algn="l"/>
                      <a:r>
                        <a:rPr sz="1700" b="0" i="0">
                          <a:solidFill>
                            <a:srgbClr val="1C252B"/>
                          </a:solidFill>
                          <a:latin typeface="Segoe UI"/>
                        </a:rPr>
                        <a:t>Simple random</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Every unit equally likely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Low, but often impractical</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Stratified</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Sample within each subgroup</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Low; </a:t>
                      </a:r>
                      <a:r>
                        <a:rPr sz="1700" b="0" i="1">
                          <a:solidFill>
                            <a:srgbClr val="1C252B"/>
                          </a:solidFill>
                          <a:latin typeface="Segoe UI"/>
                        </a:rPr>
                        <a:t>improves</a:t>
                      </a:r>
                      <a:r>
                        <a:rPr sz="1700" b="0" i="0">
                          <a:solidFill>
                            <a:srgbClr val="1C252B"/>
                          </a:solidFill>
                          <a:latin typeface="Segoe UI"/>
                        </a:rPr>
                        <a:t> precision when groups differ</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Cluster</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Sample whole groups (e.g. 5 classes)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Moderate; units within a cluster are similar, so effective </a:t>
                      </a:r>
                      <a:r>
                        <a:rPr sz="1700" b="0" i="1">
                          <a:solidFill>
                            <a:srgbClr val="1C252B"/>
                          </a:solidFill>
                          <a:latin typeface="Cambria"/>
                        </a:rPr>
                        <a:t>n</a:t>
                      </a:r>
                      <a:r>
                        <a:rPr sz="1700" b="0" i="0">
                          <a:solidFill>
                            <a:srgbClr val="1C252B"/>
                          </a:solidFill>
                          <a:latin typeface="Segoe UI"/>
                        </a:rPr>
                        <a:t> is smaller than it looks</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Systematic</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Every </a:t>
                      </a:r>
                      <a:r>
                        <a:rPr sz="1700" b="0" i="1">
                          <a:solidFill>
                            <a:srgbClr val="1C252B"/>
                          </a:solidFill>
                          <a:latin typeface="Cambria"/>
                        </a:rPr>
                        <a:t>k</a:t>
                      </a:r>
                      <a:r>
                        <a:rPr sz="1700" b="0" i="0">
                          <a:solidFill>
                            <a:srgbClr val="1C252B"/>
                          </a:solidFill>
                          <a:latin typeface="Segoe UI"/>
                        </a:rPr>
                        <a:t>-th unit</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Low unless the data has a matching period</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Convenience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Whoever is available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1" i="0">
                          <a:solidFill>
                            <a:srgbClr val="1C252B"/>
                          </a:solidFill>
                          <a:latin typeface="Segoe UI"/>
                        </a:rPr>
                        <a:t>High</a:t>
                      </a:r>
                      <a:r>
                        <a:rPr sz="1700" b="0" i="0">
                          <a:solidFill>
                            <a:srgbClr val="1C252B"/>
                          </a:solidFill>
                          <a:latin typeface="Segoe UI"/>
                        </a:rPr>
                        <a:t> — the commonest and most damaging method in student projects</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Voluntary response</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Whoever chooses to reply</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1" i="0">
                          <a:solidFill>
                            <a:srgbClr val="1C252B"/>
                          </a:solidFill>
                          <a:latin typeface="Segoe UI"/>
                        </a:rPr>
                        <a:t>High</a:t>
                      </a:r>
                      <a:r>
                        <a:rPr sz="1700" b="0" i="0">
                          <a:solidFill>
                            <a:srgbClr val="1C252B"/>
                          </a:solidFill>
                          <a:latin typeface="Segoe UI"/>
                        </a:rPr>
                        <a:t> — respondents differ systematically from non-respondents</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195067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No Sample Size Fixes a Biased Sample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§9.1  ·  Handout p. 55     </a:t>
            </a:r>
            <a:fld id="{17C7383F-A2A3-4F11-A86A-6E8F94468D0C}"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If your survey reaches only students who log in to the VLE, no increase in </a:t>
            </a:r>
            <a:r>
              <a:rPr sz="2300" b="0" i="1">
                <a:solidFill>
                  <a:srgbClr val="1C252B"/>
                </a:solidFill>
                <a:latin typeface="Cambria"/>
              </a:rPr>
              <a:t>n</a:t>
            </a:r>
            <a:r>
              <a:rPr sz="2300" b="0" i="0">
                <a:solidFill>
                  <a:srgbClr val="1C252B"/>
                </a:solidFill>
                <a:latin typeface="Segoe UI"/>
              </a:rPr>
              <a:t> will tell you anything about students who have stopped logging in — and in a dropout study, those are the population of interest. A large biased sample is </a:t>
            </a:r>
            <a:r>
              <a:rPr sz="2300" b="0" i="1">
                <a:solidFill>
                  <a:srgbClr val="1C252B"/>
                </a:solidFill>
                <a:latin typeface="Segoe UI"/>
              </a:rPr>
              <a:t>more</a:t>
            </a:r>
            <a:r>
              <a:rPr sz="2300" b="0" i="0">
                <a:solidFill>
                  <a:srgbClr val="1C252B"/>
                </a:solidFill>
                <a:latin typeface="Segoe UI"/>
              </a:rPr>
              <a:t> dangerous than a small one, because its narrow confidence interval projects false authority.</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19450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Confidence Intervals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9.2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9.1   From Sample to Population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9.2   Confidence Intervals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9.3   Hypothesis Testing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9.4   Effect Size and Power</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9.5   Multiple Comparisons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§9.2     </a:t>
            </a:r>
            <a:fld id="{3CCC2A95-F1FC-4392-A868-FBC4E6C62BD7}" type="slidenum">
              <a:rPr lang="en-GB" sz="1000">
                <a:solidFill>
                  <a:srgbClr val="8795A1"/>
                </a:solidFill>
                <a:latin typeface="Segoe UI"/>
              </a:rPr>
              <a:t>10</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43833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Standard Error and Confidence Interval</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§9.2  ·  Handout p. 56     </a:t>
            </a:r>
            <a:fld id="{5B51B6AC-0BA3-4FC5-8F13-D888ADD61DB1}"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546324"/>
          </a:xfrm>
          <a:prstGeom prst="roundRect">
            <a:avLst>
              <a:gd name="adj" fmla="val 3591"/>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54632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standard error</a:t>
            </a:r>
            <a:r>
              <a:rPr sz="2300" b="0" i="0">
                <a:solidFill>
                  <a:srgbClr val="1C252B"/>
                </a:solidFill>
                <a:latin typeface="Segoe UI"/>
              </a:rPr>
              <a:t> of the mean is SE</a:t>
            </a:r>
            <a:r>
              <a:rPr sz="2300" b="0" i="0">
                <a:solidFill>
                  <a:srgbClr val="1C252B"/>
                </a:solidFill>
                <a:latin typeface="Cambria"/>
              </a:rPr>
              <a:t> = </a:t>
            </a:r>
            <a:r>
              <a:rPr sz="2300" b="0" i="1">
                <a:solidFill>
                  <a:srgbClr val="1C252B"/>
                </a:solidFill>
                <a:latin typeface="Cambria"/>
              </a:rPr>
              <a:t>s</a:t>
            </a:r>
            <a:r>
              <a:rPr sz="2300" b="0" i="0">
                <a:solidFill>
                  <a:srgbClr val="1C252B"/>
                </a:solidFill>
                <a:latin typeface="Cambria"/>
              </a:rPr>
              <a:t>/√</a:t>
            </a:r>
            <a:r>
              <a:rPr sz="2300" b="0" i="1">
                <a:solidFill>
                  <a:srgbClr val="1C252B"/>
                </a:solidFill>
                <a:latin typeface="Cambria"/>
              </a:rPr>
              <a:t>n</a:t>
            </a:r>
            <a:r>
              <a:rPr sz="2300" b="0" i="0">
                <a:solidFill>
                  <a:srgbClr val="1C252B"/>
                </a:solidFill>
                <a:latin typeface="Segoe UI"/>
              </a:rPr>
              <a:t> — the typical distance between a sample mean and the true mean. An approximate 95% </a:t>
            </a:r>
            <a:r>
              <a:rPr sz="2300" b="1" i="0">
                <a:solidFill>
                  <a:srgbClr val="1A5276"/>
                </a:solidFill>
                <a:latin typeface="Segoe UI"/>
              </a:rPr>
              <a:t>confidence interval</a:t>
            </a:r>
            <a:r>
              <a:rPr sz="2300" b="0" i="0">
                <a:solidFill>
                  <a:srgbClr val="1C252B"/>
                </a:solidFill>
                <a:latin typeface="Segoe UI"/>
              </a:rPr>
              <a:t> is</a:t>
            </a:r>
          </a:p>
        </p:txBody>
      </p:sp>
      <p:pic>
        <p:nvPicPr>
          <p:cNvPr id="10" name="body-1" descr="\bar{x} \;\pm\; 1.96 \times \frac{s}{\sqrt{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302533"/>
            <a:ext cx="10161727" cy="670255"/>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68217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Confidence Interval, and What It Means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§9.2  ·  Handout p. 56     </a:t>
            </a:r>
            <a:fld id="{E9FAECA6-F632-418C-87A9-3163048445F2}"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24985"/>
          </a:xfrm>
          <a:prstGeom prst="roundRect">
            <a:avLst>
              <a:gd name="adj" fmla="val 216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2498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15163"/>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sample of </a:t>
            </a:r>
            <a:r>
              <a:rPr sz="1700" b="0" i="1">
                <a:solidFill>
                  <a:srgbClr val="1C252B"/>
                </a:solidFill>
                <a:latin typeface="Cambria"/>
              </a:rPr>
              <a:t>n</a:t>
            </a:r>
            <a:r>
              <a:rPr sz="1700" b="0" i="0">
                <a:solidFill>
                  <a:srgbClr val="1C252B"/>
                </a:solidFill>
                <a:latin typeface="Cambria"/>
              </a:rPr>
              <a:t> = 100</a:t>
            </a:r>
            <a:r>
              <a:rPr sz="1700" b="0" i="0">
                <a:solidFill>
                  <a:srgbClr val="1C252B"/>
                </a:solidFill>
                <a:latin typeface="Segoe UI"/>
              </a:rPr>
              <a:t> support tickets has mean resolution time </a:t>
            </a:r>
            <a:r>
              <a:rPr sz="1700" b="0" i="1">
                <a:solidFill>
                  <a:srgbClr val="1C252B"/>
                </a:solidFill>
                <a:latin typeface="Cambria"/>
              </a:rPr>
              <a:t>x̄</a:t>
            </a:r>
            <a:r>
              <a:rPr sz="1700" b="0" i="0">
                <a:solidFill>
                  <a:srgbClr val="1C252B"/>
                </a:solidFill>
                <a:latin typeface="Cambria"/>
              </a:rPr>
              <a:t> = 42</a:t>
            </a:r>
            <a:r>
              <a:rPr sz="1700" b="0" i="0">
                <a:solidFill>
                  <a:srgbClr val="1C252B"/>
                </a:solidFill>
                <a:latin typeface="Segoe UI"/>
              </a:rPr>
              <a:t> minutes with </a:t>
            </a:r>
            <a:r>
              <a:rPr sz="1700" b="0" i="1">
                <a:solidFill>
                  <a:srgbClr val="1C252B"/>
                </a:solidFill>
                <a:latin typeface="Cambria"/>
              </a:rPr>
              <a:t>s</a:t>
            </a:r>
            <a:r>
              <a:rPr sz="1700" b="0" i="0">
                <a:solidFill>
                  <a:srgbClr val="1C252B"/>
                </a:solidFill>
                <a:latin typeface="Cambria"/>
              </a:rPr>
              <a:t> = 15</a:t>
            </a:r>
            <a:r>
              <a:rPr sz="1700" b="0" i="0">
                <a:solidFill>
                  <a:srgbClr val="1C252B"/>
                </a:solidFill>
                <a:latin typeface="Segoe UI"/>
              </a:rPr>
              <a:t> minutes.</a:t>
            </a:r>
          </a:p>
        </p:txBody>
      </p:sp>
      <p:sp>
        <p:nvSpPr>
          <p:cNvPr id="10" name="body-1"/>
          <p:cNvSpPr txBox="1"/>
          <p:nvPr/>
        </p:nvSpPr>
        <p:spPr>
          <a:xfrm>
            <a:off x="1042416" y="2399868"/>
            <a:ext cx="10234879" cy="315163"/>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Standard error:</a:t>
            </a:r>
            <a:r>
              <a:rPr sz="1700" b="0" i="0">
                <a:solidFill>
                  <a:srgbClr val="1C252B"/>
                </a:solidFill>
                <a:latin typeface="Segoe UI"/>
              </a:rPr>
              <a:t> SE</a:t>
            </a:r>
            <a:r>
              <a:rPr sz="1700" b="0" i="0">
                <a:solidFill>
                  <a:srgbClr val="1C252B"/>
                </a:solidFill>
                <a:latin typeface="Cambria"/>
              </a:rPr>
              <a:t> = 15/√(100) = 15/10 = 1.5</a:t>
            </a:r>
            <a:r>
              <a:rPr sz="1700" b="0" i="0">
                <a:solidFill>
                  <a:srgbClr val="1C252B"/>
                </a:solidFill>
                <a:latin typeface="Segoe UI"/>
              </a:rPr>
              <a:t> minutes.</a:t>
            </a:r>
          </a:p>
        </p:txBody>
      </p:sp>
      <p:sp>
        <p:nvSpPr>
          <p:cNvPr id="11" name="body-2"/>
          <p:cNvSpPr txBox="1"/>
          <p:nvPr/>
        </p:nvSpPr>
        <p:spPr>
          <a:xfrm>
            <a:off x="1042416" y="2788056"/>
            <a:ext cx="10234879" cy="315163"/>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Margin of error:</a:t>
            </a:r>
            <a:r>
              <a:rPr sz="1700" b="0" i="0">
                <a:solidFill>
                  <a:srgbClr val="1C252B"/>
                </a:solidFill>
                <a:latin typeface="Segoe UI"/>
              </a:rPr>
              <a:t> </a:t>
            </a:r>
            <a:r>
              <a:rPr sz="1700" b="0" i="0">
                <a:solidFill>
                  <a:srgbClr val="1C252B"/>
                </a:solidFill>
                <a:latin typeface="Cambria"/>
              </a:rPr>
              <a:t>1.96 × 1.5 = 2.94</a:t>
            </a:r>
            <a:r>
              <a:rPr sz="1700" b="0" i="0">
                <a:solidFill>
                  <a:srgbClr val="1C252B"/>
                </a:solidFill>
                <a:latin typeface="Segoe UI"/>
              </a:rPr>
              <a:t> minutes.</a:t>
            </a:r>
          </a:p>
        </p:txBody>
      </p:sp>
      <p:sp>
        <p:nvSpPr>
          <p:cNvPr id="12" name="body-3"/>
          <p:cNvSpPr txBox="1"/>
          <p:nvPr/>
        </p:nvSpPr>
        <p:spPr>
          <a:xfrm>
            <a:off x="1042416" y="3176244"/>
            <a:ext cx="10234879" cy="315163"/>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95% CI:</a:t>
            </a:r>
            <a:r>
              <a:rPr sz="1700" b="0" i="0">
                <a:solidFill>
                  <a:srgbClr val="1C252B"/>
                </a:solidFill>
                <a:latin typeface="Segoe UI"/>
              </a:rPr>
              <a:t> </a:t>
            </a:r>
            <a:r>
              <a:rPr sz="1700" b="0" i="0">
                <a:solidFill>
                  <a:srgbClr val="1C252B"/>
                </a:solidFill>
                <a:latin typeface="Cambria"/>
              </a:rPr>
              <a:t>42 ± 2.94 = [39.1, 44.9]</a:t>
            </a:r>
            <a:r>
              <a:rPr sz="1700" b="0" i="0">
                <a:solidFill>
                  <a:srgbClr val="1C252B"/>
                </a:solidFill>
                <a:latin typeface="Segoe UI"/>
              </a:rPr>
              <a:t> minutes.</a:t>
            </a:r>
          </a:p>
        </p:txBody>
      </p:sp>
      <p:sp>
        <p:nvSpPr>
          <p:cNvPr id="13" name="body-4"/>
          <p:cNvSpPr txBox="1"/>
          <p:nvPr/>
        </p:nvSpPr>
        <p:spPr>
          <a:xfrm>
            <a:off x="1042416" y="3564432"/>
            <a:ext cx="10234879" cy="58460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What this means:</a:t>
            </a:r>
            <a:r>
              <a:rPr sz="1700" b="0" i="0">
                <a:solidFill>
                  <a:srgbClr val="1C252B"/>
                </a:solidFill>
                <a:latin typeface="Segoe UI"/>
              </a:rPr>
              <a:t> if you repeated this sampling procedure many times, about 95% of the intervals so constructed would contain the true population mean.</a:t>
            </a:r>
          </a:p>
        </p:txBody>
      </p:sp>
      <p:sp>
        <p:nvSpPr>
          <p:cNvPr id="14" name="body-5"/>
          <p:cNvSpPr txBox="1"/>
          <p:nvPr/>
        </p:nvSpPr>
        <p:spPr>
          <a:xfrm>
            <a:off x="1042416" y="4222064"/>
            <a:ext cx="10234879" cy="85404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What it does </a:t>
            </a:r>
            <a:r>
              <a:rPr sz="1700" b="1" i="1">
                <a:solidFill>
                  <a:srgbClr val="1C252B"/>
                </a:solidFill>
                <a:latin typeface="Segoe UI"/>
              </a:rPr>
              <a:t>not</a:t>
            </a:r>
            <a:r>
              <a:rPr sz="1700" b="1" i="0">
                <a:solidFill>
                  <a:srgbClr val="1C252B"/>
                </a:solidFill>
                <a:latin typeface="Segoe UI"/>
              </a:rPr>
              <a:t> mean:</a:t>
            </a:r>
            <a:r>
              <a:rPr sz="1700" b="0" i="0">
                <a:solidFill>
                  <a:srgbClr val="1C252B"/>
                </a:solidFill>
                <a:latin typeface="Segoe UI"/>
              </a:rPr>
              <a:t> that there is a 95% probability the true mean lies in </a:t>
            </a:r>
            <a:r>
              <a:rPr sz="1700" b="0" i="1">
                <a:solidFill>
                  <a:srgbClr val="1C252B"/>
                </a:solidFill>
                <a:latin typeface="Segoe UI"/>
              </a:rPr>
              <a:t>this</a:t>
            </a:r>
            <a:r>
              <a:rPr sz="1700" b="0" i="0">
                <a:solidFill>
                  <a:srgbClr val="1C252B"/>
                </a:solidFill>
                <a:latin typeface="Segoe UI"/>
              </a:rPr>
              <a:t> interval. The true mean is a fixed number; it either is or is not in </a:t>
            </a:r>
            <a:r>
              <a:rPr sz="1700" b="0" i="0">
                <a:solidFill>
                  <a:srgbClr val="1C252B"/>
                </a:solidFill>
                <a:latin typeface="Cambria"/>
              </a:rPr>
              <a:t>[39.1, 44.9]</a:t>
            </a:r>
            <a:r>
              <a:rPr sz="1700" b="0" i="0">
                <a:solidFill>
                  <a:srgbClr val="1C252B"/>
                </a:solidFill>
                <a:latin typeface="Segoe UI"/>
              </a:rPr>
              <a:t>. The 95% describes the reliability of the </a:t>
            </a:r>
            <a:r>
              <a:rPr sz="1700" b="0" i="1">
                <a:solidFill>
                  <a:srgbClr val="1C252B"/>
                </a:solidFill>
                <a:latin typeface="Segoe UI"/>
              </a:rPr>
              <a:t>procedure</a:t>
            </a:r>
            <a:r>
              <a:rPr sz="1700" b="0" i="0">
                <a:solidFill>
                  <a:srgbClr val="1C252B"/>
                </a:solidFill>
                <a:latin typeface="Segoe UI"/>
              </a:rPr>
              <a:t>, not this one result.</a:t>
            </a:r>
          </a:p>
        </p:txBody>
      </p:sp>
      <p:sp>
        <p:nvSpPr>
          <p:cNvPr id="15" name="body-6"/>
          <p:cNvSpPr txBox="1"/>
          <p:nvPr/>
        </p:nvSpPr>
        <p:spPr>
          <a:xfrm>
            <a:off x="1042416" y="5149138"/>
            <a:ext cx="10234879" cy="58460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Now quadruple the sample.</a:t>
            </a:r>
            <a:r>
              <a:rPr sz="1700" b="0" i="0">
                <a:solidFill>
                  <a:srgbClr val="1C252B"/>
                </a:solidFill>
                <a:latin typeface="Segoe UI"/>
              </a:rPr>
              <a:t> With </a:t>
            </a:r>
            <a:r>
              <a:rPr sz="1700" b="0" i="1">
                <a:solidFill>
                  <a:srgbClr val="1C252B"/>
                </a:solidFill>
                <a:latin typeface="Cambria"/>
              </a:rPr>
              <a:t>n</a:t>
            </a:r>
            <a:r>
              <a:rPr sz="1700" b="0" i="0">
                <a:solidFill>
                  <a:srgbClr val="1C252B"/>
                </a:solidFill>
                <a:latin typeface="Cambria"/>
              </a:rPr>
              <a:t> = 400</a:t>
            </a:r>
            <a:r>
              <a:rPr sz="1700" b="0" i="0">
                <a:solidFill>
                  <a:srgbClr val="1C252B"/>
                </a:solidFill>
                <a:latin typeface="Segoe UI"/>
              </a:rPr>
              <a:t>, SE</a:t>
            </a:r>
            <a:r>
              <a:rPr sz="1700" b="0" i="0">
                <a:solidFill>
                  <a:srgbClr val="1C252B"/>
                </a:solidFill>
                <a:latin typeface="Cambria"/>
              </a:rPr>
              <a:t> = 15/20 = 0.75</a:t>
            </a:r>
            <a:r>
              <a:rPr sz="1700" b="0" i="0">
                <a:solidFill>
                  <a:srgbClr val="1C252B"/>
                </a:solidFill>
                <a:latin typeface="Segoe UI"/>
              </a:rPr>
              <a:t> and the interval halves to </a:t>
            </a:r>
            <a:r>
              <a:rPr sz="1700" b="0" i="0">
                <a:solidFill>
                  <a:srgbClr val="1C252B"/>
                </a:solidFill>
                <a:latin typeface="Cambria"/>
              </a:rPr>
              <a:t>[40.5, 43.5]</a:t>
            </a:r>
            <a:r>
              <a:rPr sz="1700" b="0" i="0">
                <a:solidFill>
                  <a:srgbClr val="1C252B"/>
                </a:solidFill>
                <a:latin typeface="Segoe UI"/>
              </a:rPr>
              <a:t>. Four times the data for twice the precision — the </a:t>
            </a:r>
            <a:r>
              <a:rPr sz="1700" b="0" i="0">
                <a:solidFill>
                  <a:srgbClr val="1C252B"/>
                </a:solidFill>
                <a:latin typeface="Cambria"/>
              </a:rPr>
              <a:t>√</a:t>
            </a:r>
            <a:r>
              <a:rPr sz="1700" b="0" i="1">
                <a:solidFill>
                  <a:srgbClr val="1C252B"/>
                </a:solidFill>
                <a:latin typeface="Cambria"/>
              </a:rPr>
              <a:t>n</a:t>
            </a:r>
            <a:r>
              <a:rPr sz="1700" b="0" i="0">
                <a:solidFill>
                  <a:srgbClr val="1C252B"/>
                </a:solidFill>
                <a:latin typeface="Segoe UI"/>
              </a:rPr>
              <a:t> from Chapter 6, in its practical form. Budget accordingly.</a:t>
            </a:r>
          </a:p>
        </p:txBody>
      </p:sp>
      <p:sp>
        <p:nvSpPr>
          <p:cNvPr id="3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pfill">
            <a:extLst>
              <a:ext uri="{C183D7F6-B498-43B3-948B-1728B52AA6E4}">
                <adec:decorative xmlns:adec="http://schemas.microsoft.com/office/drawing/2017/decorative" val="1"/>
              </a:ext>
            </a:extLst>
          </p:cNvPr>
          <p:cNvSpPr/>
          <p:nvPr/>
        </p:nvSpPr>
        <p:spPr>
          <a:xfrm>
            <a:off x="0" y="0"/>
            <a:ext cx="292600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right)">
                                      <p:cBhvr>
                                        <p:cTn id="33"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Margin of error against sample size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9.1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§9.2  ·  Handout p. 56     </a:t>
            </a:r>
            <a:fld id="{D0A81476-D867-42CE-94BF-CB5831EF6605}" type="slidenum">
              <a:rPr lang="en-GB" sz="1000">
                <a:solidFill>
                  <a:srgbClr val="8795A1"/>
                </a:solidFill>
                <a:latin typeface="Segoe UI"/>
              </a:rPr>
              <a:t>13</a:t>
            </a:fld>
          </a:p>
        </p:txBody>
      </p:sp>
      <p:pic>
        <p:nvPicPr>
          <p:cNvPr id="6" name="!!figure" descr="Figure 9.1. Margin of error against sample size. The curve is 1.96s/√n. The flat right-hand region is why collecting ten times more data rarely improves a study ten-fold — and why reducing bias usually beats increasing 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10410" y="1737360"/>
            <a:ext cx="8970873"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curve is 1.96s/√n. The flat right-hand region is why collecting ten times more data rarely improves a study ten-fold — and why reducing bias usually beats increasing n.</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16984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Hypothesis Testing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9.3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9.1   From Sample to Population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9.2   Confidence Intervals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9.3   Hypothesis Testing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9.4   Effect Size and Power</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9.5   Multiple Comparisons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§9.3     </a:t>
            </a:r>
            <a:fld id="{9EAC59C5-A175-443E-989F-9D5CF36812E5}" type="slidenum">
              <a:rPr lang="en-GB" sz="1000">
                <a:solidFill>
                  <a:srgbClr val="8795A1"/>
                </a:solidFill>
                <a:latin typeface="Segoe UI"/>
              </a:rPr>
              <a:t>14</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41367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Null and Alternative Hypotheses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§9.3  ·  Handout p. 57     </a:t>
            </a:r>
            <a:fld id="{B7764413-86C2-4E19-B77E-0A45A7BEA36E}"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null hypothesis</a:t>
            </a:r>
            <a:r>
              <a:rPr sz="2300" b="0" i="0">
                <a:solidFill>
                  <a:srgbClr val="1C252B"/>
                </a:solidFill>
                <a:latin typeface="Segoe UI"/>
              </a:rPr>
              <a:t> </a:t>
            </a:r>
            <a:r>
              <a:rPr sz="2300" b="0" i="1">
                <a:solidFill>
                  <a:srgbClr val="1C252B"/>
                </a:solidFill>
                <a:latin typeface="Cambria"/>
              </a:rPr>
              <a:t>H</a:t>
            </a:r>
            <a:r>
              <a:rPr sz="2300" b="0" i="0" baseline="-25000">
                <a:solidFill>
                  <a:srgbClr val="1C252B"/>
                </a:solidFill>
                <a:latin typeface="Cambria"/>
              </a:rPr>
              <a:t>0</a:t>
            </a:r>
            <a:r>
              <a:rPr sz="2300" b="0" i="0">
                <a:solidFill>
                  <a:srgbClr val="1C252B"/>
                </a:solidFill>
                <a:latin typeface="Segoe UI"/>
              </a:rPr>
              <a:t> states there is no effect — no difference, no relationship. The </a:t>
            </a:r>
            <a:r>
              <a:rPr sz="2300" b="1" i="0">
                <a:solidFill>
                  <a:srgbClr val="1A5276"/>
                </a:solidFill>
                <a:latin typeface="Segoe UI"/>
              </a:rPr>
              <a:t>alternative</a:t>
            </a:r>
            <a:r>
              <a:rPr sz="2300" b="0" i="0">
                <a:solidFill>
                  <a:srgbClr val="1C252B"/>
                </a:solidFill>
                <a:latin typeface="Segoe UI"/>
              </a:rPr>
              <a:t> </a:t>
            </a:r>
            <a:r>
              <a:rPr sz="2300" b="0" i="1">
                <a:solidFill>
                  <a:srgbClr val="1C252B"/>
                </a:solidFill>
                <a:latin typeface="Cambria"/>
              </a:rPr>
              <a:t>H</a:t>
            </a:r>
            <a:r>
              <a:rPr sz="2300" b="0" i="0" baseline="-25000">
                <a:solidFill>
                  <a:srgbClr val="1C252B"/>
                </a:solidFill>
                <a:latin typeface="Cambria"/>
              </a:rPr>
              <a:t>1</a:t>
            </a:r>
            <a:r>
              <a:rPr sz="2300" b="0" i="0">
                <a:solidFill>
                  <a:srgbClr val="1C252B"/>
                </a:solidFill>
                <a:latin typeface="Segoe UI"/>
              </a:rPr>
              <a:t> states there is one. A test asks: if </a:t>
            </a:r>
            <a:r>
              <a:rPr sz="2300" b="0" i="1">
                <a:solidFill>
                  <a:srgbClr val="1C252B"/>
                </a:solidFill>
                <a:latin typeface="Cambria"/>
              </a:rPr>
              <a:t>H</a:t>
            </a:r>
            <a:r>
              <a:rPr sz="2300" b="0" i="0" baseline="-25000">
                <a:solidFill>
                  <a:srgbClr val="1C252B"/>
                </a:solidFill>
                <a:latin typeface="Cambria"/>
              </a:rPr>
              <a:t>0</a:t>
            </a:r>
            <a:r>
              <a:rPr sz="2300" b="0" i="0">
                <a:solidFill>
                  <a:srgbClr val="1C252B"/>
                </a:solidFill>
                <a:latin typeface="Segoe UI"/>
              </a:rPr>
              <a:t> were true, how surprising would data like mine be?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65750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p-value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§9.3  ·  Handout p. 57     </a:t>
            </a:r>
            <a:fld id="{4B67FFC1-F5DD-4D6A-8CDD-2E25E12D42B2}"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0" i="1">
                <a:solidFill>
                  <a:srgbClr val="1C252B"/>
                </a:solidFill>
                <a:latin typeface="Cambria"/>
              </a:rPr>
              <a:t>p</a:t>
            </a:r>
            <a:r>
              <a:rPr sz="2300" b="0" i="0">
                <a:solidFill>
                  <a:srgbClr val="1C252B"/>
                </a:solidFill>
                <a:latin typeface="Segoe UI"/>
              </a:rPr>
              <a:t>-value is the probability of observing data </a:t>
            </a:r>
            <a:r>
              <a:rPr sz="2300" b="0" i="1">
                <a:solidFill>
                  <a:srgbClr val="1C252B"/>
                </a:solidFill>
                <a:latin typeface="Segoe UI"/>
              </a:rPr>
              <a:t>at least as extreme as yours</a:t>
            </a:r>
            <a:r>
              <a:rPr sz="2300" b="0" i="0">
                <a:solidFill>
                  <a:srgbClr val="1C252B"/>
                </a:solidFill>
                <a:latin typeface="Segoe UI"/>
              </a:rPr>
              <a:t>, assuming the null hypothesis is true. Small </a:t>
            </a:r>
            <a:r>
              <a:rPr sz="2300" b="0" i="1">
                <a:solidFill>
                  <a:srgbClr val="1C252B"/>
                </a:solidFill>
                <a:latin typeface="Cambria"/>
              </a:rPr>
              <a:t>p</a:t>
            </a:r>
            <a:r>
              <a:rPr sz="2300" b="0" i="0">
                <a:solidFill>
                  <a:srgbClr val="1C252B"/>
                </a:solidFill>
                <a:latin typeface="Segoe UI"/>
              </a:rPr>
              <a:t> means your data would be unusual if there were no effect.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90134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a p-value Is Not</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§9.3  ·  Handout p. 57     </a:t>
            </a:r>
            <a:fld id="{76366A47-E2AC-47E5-BA9C-DC64324F2318}"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561920"/>
          </a:xfrm>
          <a:prstGeom prst="roundRect">
            <a:avLst>
              <a:gd name="adj" fmla="val 3569"/>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56192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It is </a:t>
            </a:r>
            <a:r>
              <a:rPr sz="2300" b="1" i="0">
                <a:solidFill>
                  <a:srgbClr val="1C252B"/>
                </a:solidFill>
                <a:latin typeface="Segoe UI"/>
              </a:rPr>
              <a:t>not</a:t>
            </a:r>
            <a:r>
              <a:rPr sz="2300" b="0" i="0">
                <a:solidFill>
                  <a:srgbClr val="1C252B"/>
                </a:solidFill>
                <a:latin typeface="Segoe UI"/>
              </a:rPr>
              <a:t> the probability that </a:t>
            </a:r>
            <a:r>
              <a:rPr sz="2300" b="0" i="1">
                <a:solidFill>
                  <a:srgbClr val="1C252B"/>
                </a:solidFill>
                <a:latin typeface="Cambria"/>
              </a:rPr>
              <a:t>H</a:t>
            </a:r>
            <a:r>
              <a:rPr sz="2300" b="0" i="0" baseline="-25000">
                <a:solidFill>
                  <a:srgbClr val="1C252B"/>
                </a:solidFill>
                <a:latin typeface="Cambria"/>
              </a:rPr>
              <a:t>0</a:t>
            </a:r>
            <a:r>
              <a:rPr sz="2300" b="0" i="0">
                <a:solidFill>
                  <a:srgbClr val="1C252B"/>
                </a:solidFill>
                <a:latin typeface="Segoe UI"/>
              </a:rPr>
              <a:t> is true.</a:t>
            </a:r>
          </a:p>
        </p:txBody>
      </p:sp>
      <p:sp>
        <p:nvSpPr>
          <p:cNvPr id="10" name="body-1"/>
          <p:cNvSpPr txBox="1"/>
          <p:nvPr/>
        </p:nvSpPr>
        <p:spPr>
          <a:xfrm>
            <a:off x="1060704" y="2573451"/>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It is </a:t>
            </a:r>
            <a:r>
              <a:rPr sz="2300" b="1" i="0">
                <a:solidFill>
                  <a:srgbClr val="1C252B"/>
                </a:solidFill>
                <a:latin typeface="Segoe UI"/>
              </a:rPr>
              <a:t>not</a:t>
            </a:r>
            <a:r>
              <a:rPr sz="2300" b="0" i="0">
                <a:solidFill>
                  <a:srgbClr val="1C252B"/>
                </a:solidFill>
                <a:latin typeface="Segoe UI"/>
              </a:rPr>
              <a:t> the probability your result was due to chance.</a:t>
            </a:r>
          </a:p>
        </p:txBody>
      </p:sp>
      <p:sp>
        <p:nvSpPr>
          <p:cNvPr id="11" name="body-2"/>
          <p:cNvSpPr txBox="1"/>
          <p:nvPr/>
        </p:nvSpPr>
        <p:spPr>
          <a:xfrm>
            <a:off x="1060704" y="3098647"/>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It is </a:t>
            </a:r>
            <a:r>
              <a:rPr sz="2300" b="1" i="0">
                <a:solidFill>
                  <a:srgbClr val="1C252B"/>
                </a:solidFill>
                <a:latin typeface="Segoe UI"/>
              </a:rPr>
              <a:t>not</a:t>
            </a:r>
            <a:r>
              <a:rPr sz="2300" b="0" i="0">
                <a:solidFill>
                  <a:srgbClr val="1C252B"/>
                </a:solidFill>
                <a:latin typeface="Segoe UI"/>
              </a:rPr>
              <a:t> a measure of how large or important the effect is.</a:t>
            </a:r>
          </a:p>
        </p:txBody>
      </p:sp>
      <p:sp>
        <p:nvSpPr>
          <p:cNvPr id="12" name="body-3"/>
          <p:cNvSpPr txBox="1"/>
          <p:nvPr/>
        </p:nvSpPr>
        <p:spPr>
          <a:xfrm>
            <a:off x="1060704" y="3623843"/>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Cambria"/>
              </a:rPr>
              <a:t>p</a:t>
            </a:r>
            <a:r>
              <a:rPr sz="2300" b="0" i="0">
                <a:solidFill>
                  <a:srgbClr val="1C252B"/>
                </a:solidFill>
                <a:latin typeface="Cambria"/>
              </a:rPr>
              <a:t> = 0.04</a:t>
            </a:r>
            <a:r>
              <a:rPr sz="2300" b="0" i="0">
                <a:solidFill>
                  <a:srgbClr val="1C252B"/>
                </a:solidFill>
                <a:latin typeface="Segoe UI"/>
              </a:rPr>
              <a:t> and </a:t>
            </a:r>
            <a:r>
              <a:rPr sz="2300" b="0" i="1">
                <a:solidFill>
                  <a:srgbClr val="1C252B"/>
                </a:solidFill>
                <a:latin typeface="Cambria"/>
              </a:rPr>
              <a:t>p</a:t>
            </a:r>
            <a:r>
              <a:rPr sz="2300" b="0" i="0">
                <a:solidFill>
                  <a:srgbClr val="1C252B"/>
                </a:solidFill>
                <a:latin typeface="Cambria"/>
              </a:rPr>
              <a:t> = 0.0001</a:t>
            </a:r>
            <a:r>
              <a:rPr sz="2300" b="0" i="0">
                <a:solidFill>
                  <a:srgbClr val="1C252B"/>
                </a:solidFill>
                <a:latin typeface="Segoe UI"/>
              </a:rPr>
              <a:t> do not mean “true” and “very true”.</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414517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two errors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9.2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§9.3  ·  Handout p. 57     </a:t>
            </a:r>
            <a:fld id="{9E277B65-76A1-4031-9BB4-DE4D8EB22F82}" type="slidenum">
              <a:rPr lang="en-GB" sz="1000">
                <a:solidFill>
                  <a:srgbClr val="8795A1"/>
                </a:solidFill>
                <a:latin typeface="Segoe UI"/>
              </a:rPr>
              <a:t>18</a:t>
            </a:fld>
          </a:p>
        </p:txBody>
      </p:sp>
      <p:pic>
        <p:nvPicPr>
          <p:cNvPr id="6" name="!!figure" descr="Figure 9.2. The two errors. Which one is worse is a domain question, never a statistical one: a Type I error wastes an analyst’s afternoon, a Type II error lets an intrusion through."/>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82663" y="1737360"/>
            <a:ext cx="8226368"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Which one is worse is a domain question, never a statistical one: a Type I error wastes an analyst’s afternoon, a Type II error lets an intrusion through.</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38901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Did the New Lab Format Help?</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§9.3  ·  Handout p. 57     </a:t>
            </a:r>
            <a:fld id="{47CDEB58-74A4-4118-9FEF-2326915F2E70}"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93824"/>
          </a:xfrm>
          <a:prstGeom prst="roundRect">
            <a:avLst>
              <a:gd name="adj" fmla="val 2289"/>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938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Pass rates: old format 68 of 100 students; new format 79 of 100.</a:t>
            </a:r>
          </a:p>
        </p:txBody>
      </p:sp>
      <p:sp>
        <p:nvSpPr>
          <p:cNvPr id="10" name="body-1"/>
          <p:cNvSpPr txBox="1"/>
          <p:nvPr/>
        </p:nvSpPr>
        <p:spPr>
          <a:xfrm>
            <a:off x="1042416" y="244553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1">
                <a:solidFill>
                  <a:srgbClr val="7D6608"/>
                </a:solidFill>
                <a:latin typeface="Cambria"/>
              </a:rPr>
              <a:t>H</a:t>
            </a:r>
            <a:r>
              <a:rPr sz="1900" b="1" i="0" baseline="-25000">
                <a:solidFill>
                  <a:srgbClr val="1C252B"/>
                </a:solidFill>
                <a:latin typeface="Cambria"/>
              </a:rPr>
              <a:t>0</a:t>
            </a:r>
            <a:r>
              <a:rPr sz="1900" b="1" i="0">
                <a:solidFill>
                  <a:srgbClr val="1C252B"/>
                </a:solidFill>
                <a:latin typeface="Segoe UI"/>
              </a:rPr>
              <a:t>:</a:t>
            </a:r>
            <a:r>
              <a:rPr sz="1900" b="0" i="0">
                <a:solidFill>
                  <a:srgbClr val="1C252B"/>
                </a:solidFill>
                <a:latin typeface="Segoe UI"/>
              </a:rPr>
              <a:t> the true pass rates are equal. </a:t>
            </a:r>
            <a:r>
              <a:rPr sz="1900" b="1" i="1">
                <a:solidFill>
                  <a:srgbClr val="1C252B"/>
                </a:solidFill>
                <a:latin typeface="Cambria"/>
              </a:rPr>
              <a:t>H</a:t>
            </a:r>
            <a:r>
              <a:rPr sz="1900" b="1" i="0" baseline="-25000">
                <a:solidFill>
                  <a:srgbClr val="1C252B"/>
                </a:solidFill>
                <a:latin typeface="Cambria"/>
              </a:rPr>
              <a:t>1</a:t>
            </a:r>
            <a:r>
              <a:rPr sz="1900" b="1" i="0">
                <a:solidFill>
                  <a:srgbClr val="1C252B"/>
                </a:solidFill>
                <a:latin typeface="Segoe UI"/>
              </a:rPr>
              <a:t>:</a:t>
            </a:r>
            <a:r>
              <a:rPr sz="1900" b="0" i="0">
                <a:solidFill>
                  <a:srgbClr val="1C252B"/>
                </a:solidFill>
                <a:latin typeface="Segoe UI"/>
              </a:rPr>
              <a:t> they differ.</a:t>
            </a:r>
          </a:p>
        </p:txBody>
      </p:sp>
      <p:sp>
        <p:nvSpPr>
          <p:cNvPr id="11" name="body-2"/>
          <p:cNvSpPr txBox="1"/>
          <p:nvPr/>
        </p:nvSpPr>
        <p:spPr>
          <a:xfrm>
            <a:off x="1042416" y="287939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Test:</a:t>
            </a:r>
            <a:r>
              <a:rPr sz="1900" b="0" i="0">
                <a:solidFill>
                  <a:srgbClr val="1C252B"/>
                </a:solidFill>
                <a:latin typeface="Segoe UI"/>
              </a:rPr>
              <a:t> two-proportion z-test. Pooled proportion </a:t>
            </a:r>
            <a:r>
              <a:rPr sz="1900" b="0" i="1">
                <a:solidFill>
                  <a:srgbClr val="1C252B"/>
                </a:solidFill>
                <a:latin typeface="Cambria"/>
              </a:rPr>
              <a:t>p̂</a:t>
            </a:r>
            <a:r>
              <a:rPr sz="1900" b="0" i="0">
                <a:solidFill>
                  <a:srgbClr val="1C252B"/>
                </a:solidFill>
                <a:latin typeface="Cambria"/>
              </a:rPr>
              <a:t> = (68+79)/200 = 0.735</a:t>
            </a:r>
            <a:r>
              <a:rPr sz="1900" b="0" i="0">
                <a:solidFill>
                  <a:srgbClr val="1C252B"/>
                </a:solidFill>
                <a:latin typeface="Segoe UI"/>
              </a:rPr>
              <a:t>.</a:t>
            </a:r>
          </a:p>
        </p:txBody>
      </p:sp>
      <p:pic>
        <p:nvPicPr>
          <p:cNvPr id="12" name="body-3" descr="\text{SE} = \sqrt{0.735 \times 0.265 \times \left(\tfrac{1}{100}+\tfrac{1}{100}\right)} = \sqrt{0.1948 \times 0.02} = 0.0624"/>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313252"/>
            <a:ext cx="10234879" cy="595914"/>
          </a:xfrm>
          <a:prstGeom prst="rect">
            <a:avLst/>
          </a:prstGeom>
        </p:spPr>
      </p:pic>
      <p:pic>
        <p:nvPicPr>
          <p:cNvPr id="13" name="body-4" descr="z = \frac{0.79 - 0.68}{0.0624} = \frac{0.11}{0.0624} = 1.76"/>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4041881"/>
            <a:ext cx="10234879" cy="547268"/>
          </a:xfrm>
          <a:prstGeom prst="rect">
            <a:avLst/>
          </a:prstGeom>
        </p:spPr>
      </p:pic>
      <p:sp>
        <p:nvSpPr>
          <p:cNvPr id="14" name="body-5"/>
          <p:cNvSpPr txBox="1"/>
          <p:nvPr/>
        </p:nvSpPr>
        <p:spPr>
          <a:xfrm>
            <a:off x="1042416" y="4721865"/>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1">
                <a:solidFill>
                  <a:srgbClr val="7D6608"/>
                </a:solidFill>
                <a:latin typeface="Cambria"/>
              </a:rPr>
              <a:t>p</a:t>
            </a:r>
            <a:r>
              <a:rPr sz="1900" b="1" i="0">
                <a:solidFill>
                  <a:srgbClr val="1C252B"/>
                </a:solidFill>
                <a:latin typeface="Segoe UI"/>
              </a:rPr>
              <a:t>-value:</a:t>
            </a:r>
            <a:r>
              <a:rPr sz="1900" b="0" i="0">
                <a:solidFill>
                  <a:srgbClr val="1C252B"/>
                </a:solidFill>
                <a:latin typeface="Segoe UI"/>
              </a:rPr>
              <a:t> for a two-sided test, </a:t>
            </a:r>
            <a:r>
              <a:rPr sz="1900" b="0" i="1">
                <a:solidFill>
                  <a:srgbClr val="1C252B"/>
                </a:solidFill>
                <a:latin typeface="Cambria"/>
              </a:rPr>
              <a:t>p</a:t>
            </a:r>
            <a:r>
              <a:rPr sz="1900" b="0" i="0">
                <a:solidFill>
                  <a:srgbClr val="1C252B"/>
                </a:solidFill>
                <a:latin typeface="Cambria"/>
              </a:rPr>
              <a:t> ≈ 0.078</a:t>
            </a:r>
            <a:r>
              <a:rPr sz="1900" b="0" i="0">
                <a:solidFill>
                  <a:srgbClr val="1C252B"/>
                </a:solidFill>
                <a:latin typeface="Segoe UI"/>
              </a:rPr>
              <a:t>.</a:t>
            </a:r>
          </a:p>
        </p:txBody>
      </p:sp>
      <p:sp>
        <p:nvSpPr>
          <p:cNvPr id="15" name="body-5bar">
            <a:extLst>
              <a:ext uri="{C183D7F6-B498-43B3-948B-1728B52AA6E4}">
                <adec:decorative xmlns:adec="http://schemas.microsoft.com/office/drawing/2017/decorative" val="1"/>
              </a:ext>
            </a:extLst>
          </p:cNvPr>
          <p:cNvSpPr/>
          <p:nvPr/>
        </p:nvSpPr>
        <p:spPr>
          <a:xfrm>
            <a:off x="841248" y="4740153"/>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body-6"/>
          <p:cNvSpPr txBox="1"/>
          <p:nvPr/>
        </p:nvSpPr>
        <p:spPr>
          <a:xfrm>
            <a:off x="1042416" y="515572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Decision at </a:t>
            </a:r>
            <a:r>
              <a:rPr sz="1900" b="1" i="0">
                <a:solidFill>
                  <a:srgbClr val="1C252B"/>
                </a:solidFill>
                <a:latin typeface="Cambria"/>
              </a:rPr>
              <a:t>α = 0.05</a:t>
            </a:r>
            <a:r>
              <a:rPr sz="1900" b="1" i="0">
                <a:solidFill>
                  <a:srgbClr val="1C252B"/>
                </a:solidFill>
                <a:latin typeface="Segoe UI"/>
              </a:rPr>
              <a:t>:</a:t>
            </a:r>
            <a:r>
              <a:rPr sz="1900" b="0" i="0">
                <a:solidFill>
                  <a:srgbClr val="1C252B"/>
                </a:solidFill>
                <a:latin typeface="Segoe UI"/>
              </a:rPr>
              <a:t> do not reject </a:t>
            </a:r>
            <a:r>
              <a:rPr sz="1900" b="0" i="1">
                <a:solidFill>
                  <a:srgbClr val="1C252B"/>
                </a:solidFill>
                <a:latin typeface="Cambria"/>
              </a:rPr>
              <a:t>H</a:t>
            </a:r>
            <a:r>
              <a:rPr sz="1900" b="0" i="0" baseline="-25000">
                <a:solidFill>
                  <a:srgbClr val="1C252B"/>
                </a:solidFill>
                <a:latin typeface="Cambria"/>
              </a:rPr>
              <a:t>0</a:t>
            </a:r>
            <a:r>
              <a:rPr sz="1900" b="0" i="0">
                <a:solidFill>
                  <a:srgbClr val="1C252B"/>
                </a:solidFill>
                <a:latin typeface="Segoe UI"/>
              </a:rPr>
              <a:t>. The evidence is suggestive but not conclusive.</a:t>
            </a:r>
          </a:p>
        </p:txBody>
      </p:sp>
      <p:sp>
        <p:nvSpPr>
          <p:cNvPr id="17" name="body-6bar">
            <a:extLst>
              <a:ext uri="{C183D7F6-B498-43B3-948B-1728B52AA6E4}">
                <adec:decorative xmlns:adec="http://schemas.microsoft.com/office/drawing/2017/decorative" val="1"/>
              </a:ext>
            </a:extLst>
          </p:cNvPr>
          <p:cNvSpPr/>
          <p:nvPr/>
        </p:nvSpPr>
        <p:spPr>
          <a:xfrm>
            <a:off x="841248" y="5174010"/>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pfill">
            <a:extLst>
              <a:ext uri="{C183D7F6-B498-43B3-948B-1728B52AA6E4}">
                <adec:decorative xmlns:adec="http://schemas.microsoft.com/office/drawing/2017/decorative" val="1"/>
              </a:ext>
            </a:extLst>
          </p:cNvPr>
          <p:cNvSpPr/>
          <p:nvPr/>
        </p:nvSpPr>
        <p:spPr>
          <a:xfrm>
            <a:off x="0" y="0"/>
            <a:ext cx="463284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right)">
                                      <p:cBhvr>
                                        <p:cTn id="28" dur="42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2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right)">
                                      <p:cBhvr>
                                        <p:cTn id="36" dur="42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2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Did the New Lab Format Help?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§9.3  ·  Handout p. 57     </a:t>
            </a:r>
            <a:fld id="{9A6C0F50-610D-4074-8A84-CE8393A9B32E}"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789351"/>
          </a:xfrm>
          <a:prstGeom prst="roundRect">
            <a:avLst>
              <a:gd name="adj" fmla="val 327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78935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honest report:</a:t>
            </a:r>
            <a:r>
              <a:rPr sz="1900" b="0" i="0">
                <a:solidFill>
                  <a:srgbClr val="1C252B"/>
                </a:solidFill>
                <a:latin typeface="Segoe UI"/>
              </a:rPr>
              <a:t> “Pass rates rose by 11 percentage points (68% to 79%). This did not reach significance at the 5% level (</a:t>
            </a:r>
            <a:r>
              <a:rPr sz="1900" b="0" i="1">
                <a:solidFill>
                  <a:srgbClr val="1C252B"/>
                </a:solidFill>
                <a:latin typeface="Cambria"/>
              </a:rPr>
              <a:t>p</a:t>
            </a:r>
            <a:r>
              <a:rPr sz="1900" b="0" i="0">
                <a:solidFill>
                  <a:srgbClr val="1C252B"/>
                </a:solidFill>
                <a:latin typeface="Cambria"/>
              </a:rPr>
              <a:t> = 0.078</a:t>
            </a:r>
            <a:r>
              <a:rPr sz="1900" b="0" i="0">
                <a:solidFill>
                  <a:srgbClr val="1C252B"/>
                </a:solidFill>
                <a:latin typeface="Segoe UI"/>
              </a:rPr>
              <a:t>), which with 100 students per group is unsurprising — the study had roughly 40% power to detect an effect of this size. The observed difference is educationally meaningful and warrants a larger trial, not dismissal.”</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348964"/>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dishonest report:</a:t>
            </a:r>
            <a:r>
              <a:rPr sz="1900" b="0" i="0">
                <a:solidFill>
                  <a:srgbClr val="1C252B"/>
                </a:solidFill>
                <a:latin typeface="Segoe UI"/>
              </a:rPr>
              <a:t> “No significant difference; the new format does not work.” Absence of evidence is not evidence of absence, and with this sample size the test was never capable of settling the question.</a:t>
            </a:r>
          </a:p>
        </p:txBody>
      </p:sp>
      <p:sp>
        <p:nvSpPr>
          <p:cNvPr id="12" name="body-1bar">
            <a:extLst>
              <a:ext uri="{C183D7F6-B498-43B3-948B-1728B52AA6E4}">
                <adec:decorative xmlns:adec="http://schemas.microsoft.com/office/drawing/2017/decorative" val="1"/>
              </a:ext>
            </a:extLst>
          </p:cNvPr>
          <p:cNvSpPr/>
          <p:nvPr/>
        </p:nvSpPr>
        <p:spPr>
          <a:xfrm>
            <a:off x="841248" y="3367252"/>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487667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Effect Size and Power</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9.4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9.1   From Sample to Population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9.2   Confidence Intervals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9.3   Hypothesis Testing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9.4   Effect Size and Power</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9.5   Multiple Comparisons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§9.4     </a:t>
            </a:r>
            <a:fld id="{C6B89557-F68B-4FA1-A1CA-D5E4A3BA6DF2}" type="slidenum">
              <a:rPr lang="en-GB" sz="1000">
                <a:solidFill>
                  <a:srgbClr val="8795A1"/>
                </a:solidFill>
                <a:latin typeface="Segoe UI"/>
              </a:rPr>
              <a:t>21</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12051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Effect Size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§9.4  ·  Handout p. 58     </a:t>
            </a:r>
            <a:fld id="{82C3CDB4-C9DF-4DDC-BD33-EEB83B347C76}"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82363"/>
          </a:xfrm>
          <a:prstGeom prst="roundRect">
            <a:avLst>
              <a:gd name="adj" fmla="val 4391"/>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82363"/>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A measure of how big a difference is, independent of sample size. For two means, Cohen’s d = (x̄1 − x̄2)/spooled, conventionally read as small (≈ 0.2), medium (≈ 0.5), large (≈ 0.8)."/>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048255"/>
            <a:ext cx="10161727" cy="1460571"/>
          </a:xfrm>
          <a:prstGeom prst="rect">
            <a:avLst/>
          </a:prstGeom>
        </p:spPr>
      </p:pic>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36434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Every Result Needs Both Numbers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§9.4  ·  Handout p. 58     </a:t>
            </a:r>
            <a:fld id="{71FFA146-F72F-453A-88DC-ACD2FDA4CE9A}"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With </a:t>
            </a:r>
            <a:r>
              <a:rPr sz="2300" b="0" i="1">
                <a:solidFill>
                  <a:srgbClr val="1C252B"/>
                </a:solidFill>
                <a:latin typeface="Cambria"/>
              </a:rPr>
              <a:t>n</a:t>
            </a:r>
            <a:r>
              <a:rPr sz="2300" b="0" i="0">
                <a:solidFill>
                  <a:srgbClr val="1C252B"/>
                </a:solidFill>
                <a:latin typeface="Cambria"/>
              </a:rPr>
              <a:t> = 10</a:t>
            </a:r>
            <a:r>
              <a:rPr sz="2300" b="0" i="0">
                <a:solidFill>
                  <a:srgbClr val="1C252B"/>
                </a:solidFill>
                <a:latin typeface="Segoe UI"/>
              </a:rPr>
              <a:t> million, a difference of 0.01% in click rate will be highly significant and completely worthless. With </a:t>
            </a:r>
            <a:r>
              <a:rPr sz="2300" b="0" i="1">
                <a:solidFill>
                  <a:srgbClr val="1C252B"/>
                </a:solidFill>
                <a:latin typeface="Cambria"/>
              </a:rPr>
              <a:t>n</a:t>
            </a:r>
            <a:r>
              <a:rPr sz="2300" b="0" i="0">
                <a:solidFill>
                  <a:srgbClr val="1C252B"/>
                </a:solidFill>
                <a:latin typeface="Cambria"/>
              </a:rPr>
              <a:t> = 20</a:t>
            </a:r>
            <a:r>
              <a:rPr sz="2300" b="0" i="0">
                <a:solidFill>
                  <a:srgbClr val="1C252B"/>
                </a:solidFill>
                <a:latin typeface="Segoe UI"/>
              </a:rPr>
              <a:t>, a difference that would transform the department may not reach significance at all. The </a:t>
            </a:r>
            <a:r>
              <a:rPr sz="2300" b="0" i="1">
                <a:solidFill>
                  <a:srgbClr val="1C252B"/>
                </a:solidFill>
                <a:latin typeface="Cambria"/>
              </a:rPr>
              <a:t>p</a:t>
            </a:r>
            <a:r>
              <a:rPr sz="2300" b="0" i="0">
                <a:solidFill>
                  <a:srgbClr val="1C252B"/>
                </a:solidFill>
                <a:latin typeface="Segoe UI"/>
              </a:rPr>
              <a:t>-value tells you whether the effect is </a:t>
            </a:r>
            <a:r>
              <a:rPr sz="2300" b="0" i="1">
                <a:solidFill>
                  <a:srgbClr val="1C252B"/>
                </a:solidFill>
                <a:latin typeface="Segoe UI"/>
              </a:rPr>
              <a:t>detectable</a:t>
            </a:r>
            <a:r>
              <a:rPr sz="2300" b="0" i="0">
                <a:solidFill>
                  <a:srgbClr val="1C252B"/>
                </a:solidFill>
                <a:latin typeface="Segoe UI"/>
              </a:rPr>
              <a:t>; the effect size tells you whether it is </a:t>
            </a:r>
            <a:r>
              <a:rPr sz="2300" b="0" i="1">
                <a:solidFill>
                  <a:srgbClr val="1C252B"/>
                </a:solidFill>
                <a:latin typeface="Segoe UI"/>
              </a:rPr>
              <a:t>worth acting on</a:t>
            </a:r>
            <a:r>
              <a:rPr sz="2300" b="0" i="0">
                <a:solidFill>
                  <a:srgbClr val="1C252B"/>
                </a:solidFill>
                <a:latin typeface="Segoe UI"/>
              </a:rPr>
              <a:t>. Report both, always.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60817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Multiple Comparisons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5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9.5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9.1   From Sample to Population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9.2   Confidence Intervals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9.3   Hypothesis Testing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9.4   Effect Size and Power</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9.5   Multiple Comparisons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§9.5     </a:t>
            </a:r>
            <a:fld id="{212A3F77-0A0B-4DF0-A324-2CECDDEEA7B2}" type="slidenum">
              <a:rPr lang="en-GB" sz="1000">
                <a:solidFill>
                  <a:srgbClr val="8795A1"/>
                </a:solidFill>
                <a:latin typeface="Segoe UI"/>
              </a:rPr>
              <a:t>24</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85201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Problem</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58     </a:t>
            </a:r>
            <a:fld id="{4C21C310-FE40-42FF-B467-0A0EA72D075B}" type="slidenum">
              <a:rPr lang="en-GB" sz="1000">
                <a:solidFill>
                  <a:srgbClr val="8795A1"/>
                </a:solidFill>
                <a:latin typeface="Segoe UI"/>
              </a:rPr>
              <a:t>25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605151"/>
          </a:xfrm>
          <a:prstGeom prst="roundRect">
            <a:avLst>
              <a:gd name="adj" fmla="val 3509"/>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605151"/>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At </a:t>
            </a:r>
            <a:r>
              <a:rPr sz="2300" b="0" i="0">
                <a:solidFill>
                  <a:srgbClr val="1C252B"/>
                </a:solidFill>
                <a:latin typeface="Cambria"/>
              </a:rPr>
              <a:t>α = 0.05</a:t>
            </a:r>
            <a:r>
              <a:rPr sz="2300" b="0" i="0">
                <a:solidFill>
                  <a:srgbClr val="1C252B"/>
                </a:solidFill>
                <a:latin typeface="Segoe UI"/>
              </a:rPr>
              <a:t>, each test has a 1-in-20 chance of a false positive. Run 20 independent tests on data with no real effects and the probability of at least one “significant” result is </a:t>
            </a:r>
            <a:r>
              <a:rPr sz="2300" b="0" i="0">
                <a:solidFill>
                  <a:srgbClr val="1C252B"/>
                </a:solidFill>
                <a:latin typeface="Cambria"/>
              </a:rPr>
              <a:t>1 − 0.95</a:t>
            </a:r>
            <a:r>
              <a:rPr sz="2300" b="0" i="0" baseline="30000">
                <a:solidFill>
                  <a:srgbClr val="1C252B"/>
                </a:solidFill>
                <a:latin typeface="Cambria"/>
              </a:rPr>
              <a:t>20</a:t>
            </a:r>
            <a:r>
              <a:rPr sz="2300" b="0" i="0">
                <a:solidFill>
                  <a:srgbClr val="1C252B"/>
                </a:solidFill>
                <a:latin typeface="Cambria"/>
              </a:rPr>
              <a:t> = 64%</a:t>
            </a:r>
            <a:r>
              <a:rPr sz="2300" b="0" i="0">
                <a:solidFill>
                  <a:srgbClr val="1C252B"/>
                </a:solidFill>
                <a:latin typeface="Segoe UI"/>
              </a:rPr>
              <a:t>. Run 100 and it is 99.4%.</a:t>
            </a:r>
          </a:p>
        </p:txBody>
      </p:sp>
      <p:sp>
        <p:nvSpPr>
          <p:cNvPr id="10" name="body-1"/>
          <p:cNvSpPr txBox="1"/>
          <p:nvPr/>
        </p:nvSpPr>
        <p:spPr>
          <a:xfrm>
            <a:off x="1060704" y="3302533"/>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This is how a team “discovers” that students born in March do better: they tested enough hypotheses that something had to come up.</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Bonferroni Correction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58     </a:t>
            </a:r>
            <a:fld id="{59D65731-B8F3-408C-BEE7-73D3F6109660}" type="slidenum">
              <a:rPr lang="en-GB" sz="1000">
                <a:solidFill>
                  <a:srgbClr val="8795A1"/>
                </a:solidFill>
                <a:latin typeface="Segoe UI"/>
              </a:rPr>
              <a:t>26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When running </a:t>
            </a:r>
            <a:r>
              <a:rPr sz="2300" b="0" i="1">
                <a:solidFill>
                  <a:srgbClr val="1C252B"/>
                </a:solidFill>
                <a:latin typeface="Cambria"/>
              </a:rPr>
              <a:t>m</a:t>
            </a:r>
            <a:r>
              <a:rPr sz="2300" b="0" i="0">
                <a:solidFill>
                  <a:srgbClr val="1C252B"/>
                </a:solidFill>
                <a:latin typeface="Segoe UI"/>
              </a:rPr>
              <a:t> tests, use </a:t>
            </a:r>
            <a:r>
              <a:rPr sz="2300" b="0" i="0">
                <a:solidFill>
                  <a:srgbClr val="1C252B"/>
                </a:solidFill>
                <a:latin typeface="Cambria"/>
              </a:rPr>
              <a:t>α′ = α / </a:t>
            </a:r>
            <a:r>
              <a:rPr sz="2300" b="0" i="1">
                <a:solidFill>
                  <a:srgbClr val="1C252B"/>
                </a:solidFill>
                <a:latin typeface="Cambria"/>
              </a:rPr>
              <a:t>m</a:t>
            </a:r>
            <a:r>
              <a:rPr sz="2300" b="0" i="0">
                <a:solidFill>
                  <a:srgbClr val="1C252B"/>
                </a:solidFill>
                <a:latin typeface="Segoe UI"/>
              </a:rPr>
              <a:t> for each. With 20 tests at an overall 5% level, require </a:t>
            </a:r>
            <a:r>
              <a:rPr sz="2300" b="0" i="1">
                <a:solidFill>
                  <a:srgbClr val="1C252B"/>
                </a:solidFill>
                <a:latin typeface="Cambria"/>
              </a:rPr>
              <a:t>p</a:t>
            </a:r>
            <a:r>
              <a:rPr sz="2300" b="0" i="0">
                <a:solidFill>
                  <a:srgbClr val="1C252B"/>
                </a:solidFill>
                <a:latin typeface="Cambria"/>
              </a:rPr>
              <a:t> &lt; 0.0025</a:t>
            </a:r>
            <a:r>
              <a:rPr sz="2300" b="0" i="0">
                <a:solidFill>
                  <a:srgbClr val="1C252B"/>
                </a:solidFill>
                <a:latin typeface="Segoe UI"/>
              </a:rPr>
              <a:t> individually. It is conservative — it raises Type II errors — but it is simple and defensible.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633968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p-hacking</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58     </a:t>
            </a:r>
            <a:fld id="{5E790BCA-E542-4BCB-8557-5E27A1E286C5}" type="slidenum">
              <a:rPr lang="en-GB" sz="1000">
                <a:solidFill>
                  <a:srgbClr val="8795A1"/>
                </a:solidFill>
                <a:latin typeface="Segoe UI"/>
              </a:rPr>
              <a:t>27</a:t>
            </a:fld>
          </a:p>
        </p:txBody>
      </p:sp>
      <p:sp>
        <p:nvSpPr>
          <p:cNvPr id="7" name="!!plead"/>
          <p:cNvSpPr txBox="1"/>
          <p:nvPr/>
        </p:nvSpPr>
        <p:spPr>
          <a:xfrm>
            <a:off x="658368" y="1737360"/>
            <a:ext cx="10874959" cy="653491"/>
          </a:xfrm>
          <a:prstGeom prst="rect">
            <a:avLst/>
          </a:prstGeom>
          <a:noFill/>
        </p:spPr>
        <p:txBody>
          <a:bodyPr wrap="square" anchor="t" lIns="0" rIns="0" tIns="0" bIns="0">
            <a:noAutofit/>
          </a:bodyPr>
          <a:lstStyle/>
          <a:p>
            <a:pPr algn="l">
              <a:lnSpc>
                <a:spcPct val="100000"/>
              </a:lnSpc>
              <a:spcBef>
                <a:spcPts val="0"/>
              </a:spcBef>
              <a:spcAft>
                <a:spcPts val="0"/>
              </a:spcAft>
            </a:pPr>
            <a:r>
              <a:rPr sz="1600" b="1" i="0">
                <a:solidFill>
                  <a:srgbClr val="5F6F7B"/>
                </a:solidFill>
                <a:latin typeface="Segoe UI"/>
              </a:rPr>
              <a:t>The defence:</a:t>
            </a:r>
            <a:r>
              <a:rPr sz="1600" b="0" i="0">
                <a:solidFill>
                  <a:srgbClr val="5F6F7B"/>
                </a:solidFill>
                <a:latin typeface="Segoe UI"/>
              </a:rPr>
              <a:t> write the hypothesis, the test and the success criterion down </a:t>
            </a:r>
            <a:r>
              <a:rPr sz="1600" b="0" i="1">
                <a:solidFill>
                  <a:srgbClr val="5F6F7B"/>
                </a:solidFill>
                <a:latin typeface="Segoe UI"/>
              </a:rPr>
              <a:t>before</a:t>
            </a:r>
            <a:r>
              <a:rPr sz="1600" b="0" i="0">
                <a:solidFill>
                  <a:srgbClr val="5F6F7B"/>
                </a:solidFill>
                <a:latin typeface="Segoe UI"/>
              </a:rPr>
              <a:t> you look at the data — exactly the discipline Chapter 2 demanded in framing, and which Chapter 29 formalises as pre-registration.</a:t>
            </a:r>
          </a:p>
        </p:txBody>
      </p:sp>
      <p:sp>
        <p:nvSpPr>
          <p:cNvPr id="8" name="!!pb0">
            <a:extLst>
              <a:ext uri="{C183D7F6-B498-43B3-948B-1728B52AA6E4}">
                <adec:decorative xmlns:adec="http://schemas.microsoft.com/office/drawing/2017/decorative" val="1"/>
              </a:ext>
            </a:extLst>
          </p:cNvPr>
          <p:cNvSpPr/>
          <p:nvPr/>
        </p:nvSpPr>
        <p:spPr>
          <a:xfrm>
            <a:off x="658368" y="240913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x0"/>
          <p:cNvSpPr txBox="1"/>
          <p:nvPr/>
        </p:nvSpPr>
        <p:spPr>
          <a:xfrm>
            <a:off x="658368" y="243199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0" name="!!pt0"/>
          <p:cNvSpPr txBox="1"/>
          <p:nvPr/>
        </p:nvSpPr>
        <p:spPr>
          <a:xfrm>
            <a:off x="1261872" y="2390851"/>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Testing many outcomes and reporting only the significant ones.</a:t>
            </a:r>
          </a:p>
        </p:txBody>
      </p:sp>
      <p:sp>
        <p:nvSpPr>
          <p:cNvPr id="11" name="!!pb1">
            <a:extLst>
              <a:ext uri="{C183D7F6-B498-43B3-948B-1728B52AA6E4}">
                <adec:decorative xmlns:adec="http://schemas.microsoft.com/office/drawing/2017/decorative" val="1"/>
              </a:ext>
            </a:extLst>
          </p:cNvPr>
          <p:cNvSpPr/>
          <p:nvPr/>
        </p:nvSpPr>
        <p:spPr>
          <a:xfrm>
            <a:off x="658368" y="2976067"/>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x1"/>
          <p:cNvSpPr txBox="1"/>
          <p:nvPr/>
        </p:nvSpPr>
        <p:spPr>
          <a:xfrm>
            <a:off x="658368" y="299892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3" name="!!pt1"/>
          <p:cNvSpPr txBox="1"/>
          <p:nvPr/>
        </p:nvSpPr>
        <p:spPr>
          <a:xfrm>
            <a:off x="1261872" y="2957779"/>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Adding data until </a:t>
            </a:r>
            <a:r>
              <a:rPr sz="2100" b="0" i="1">
                <a:solidFill>
                  <a:srgbClr val="1C252B"/>
                </a:solidFill>
                <a:latin typeface="Cambria"/>
              </a:rPr>
              <a:t>p</a:t>
            </a:r>
            <a:r>
              <a:rPr sz="2100" b="0" i="0">
                <a:solidFill>
                  <a:srgbClr val="1C252B"/>
                </a:solidFill>
                <a:latin typeface="Segoe UI"/>
              </a:rPr>
              <a:t> drops below 0.05, then stopping.</a:t>
            </a:r>
          </a:p>
        </p:txBody>
      </p:sp>
      <p:sp>
        <p:nvSpPr>
          <p:cNvPr id="14" name="!!pb2">
            <a:extLst>
              <a:ext uri="{C183D7F6-B498-43B3-948B-1728B52AA6E4}">
                <adec:decorative xmlns:adec="http://schemas.microsoft.com/office/drawing/2017/decorative" val="1"/>
              </a:ext>
            </a:extLst>
          </p:cNvPr>
          <p:cNvSpPr/>
          <p:nvPr/>
        </p:nvSpPr>
        <p:spPr>
          <a:xfrm>
            <a:off x="658368" y="354299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x2"/>
          <p:cNvSpPr txBox="1"/>
          <p:nvPr/>
        </p:nvSpPr>
        <p:spPr>
          <a:xfrm>
            <a:off x="658368" y="356585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6" name="!!pt2"/>
          <p:cNvSpPr txBox="1"/>
          <p:nvPr/>
        </p:nvSpPr>
        <p:spPr>
          <a:xfrm>
            <a:off x="1261872" y="3524707"/>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Trying several subgroups and reporting the one that worked.</a:t>
            </a:r>
          </a:p>
        </p:txBody>
      </p:sp>
      <p:sp>
        <p:nvSpPr>
          <p:cNvPr id="17" name="!!pb3">
            <a:extLst>
              <a:ext uri="{C183D7F6-B498-43B3-948B-1728B52AA6E4}">
                <adec:decorative xmlns:adec="http://schemas.microsoft.com/office/drawing/2017/decorative" val="1"/>
              </a:ext>
            </a:extLst>
          </p:cNvPr>
          <p:cNvSpPr/>
          <p:nvPr/>
        </p:nvSpPr>
        <p:spPr>
          <a:xfrm>
            <a:off x="658368" y="4109923"/>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x3"/>
          <p:cNvSpPr txBox="1"/>
          <p:nvPr/>
        </p:nvSpPr>
        <p:spPr>
          <a:xfrm>
            <a:off x="658368" y="4132783"/>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9" name="!!pt3"/>
          <p:cNvSpPr txBox="1"/>
          <p:nvPr/>
        </p:nvSpPr>
        <p:spPr>
          <a:xfrm>
            <a:off x="1261872" y="4091635"/>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Deciding the hypothesis after seeing the result.</a:t>
            </a:r>
          </a:p>
        </p:txBody>
      </p:sp>
      <p:sp>
        <p:nvSpPr>
          <p:cNvPr id="4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pfill">
            <a:extLst>
              <a:ext uri="{C183D7F6-B498-43B3-948B-1728B52AA6E4}">
                <adec:decorative xmlns:adec="http://schemas.microsoft.com/office/drawing/2017/decorative" val="1"/>
              </a:ext>
            </a:extLst>
          </p:cNvPr>
          <p:cNvSpPr/>
          <p:nvPr/>
        </p:nvSpPr>
        <p:spPr>
          <a:xfrm>
            <a:off x="0" y="0"/>
            <a:ext cx="658351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26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26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26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6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26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26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26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26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Inference in Practice</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61     </a:t>
            </a:r>
            <a:fld id="{3F872D3A-D8B2-4C26-8F7A-C3A77F9C02FF}" type="slidenum">
              <a:rPr lang="en-GB" sz="1000">
                <a:solidFill>
                  <a:srgbClr val="8795A1"/>
                </a:solidFill>
                <a:latin typeface="Segoe UI"/>
              </a:rPr>
              <a:t>28</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Comparing pass rates between two teaching formats is a two-proportion test — but students are not independent: they share tutors, timetables and study groups, which is cluster sampling in disguise, so the effective sample is smaller than the headcount.</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Sprint samples are small (</a:t>
            </a:r>
            <a:r>
              <a:rPr sz="2300" b="0" i="1">
                <a:solidFill>
                  <a:srgbClr val="1C252B"/>
                </a:solidFill>
                <a:latin typeface="Cambria"/>
              </a:rPr>
              <a:t>n</a:t>
            </a:r>
            <a:r>
              <a:rPr sz="2300" b="0" i="0">
                <a:solidFill>
                  <a:srgbClr val="1C252B"/>
                </a:solidFill>
                <a:latin typeface="Cambria"/>
              </a:rPr>
              <a:t> ≈ 10</a:t>
            </a:r>
            <a:r>
              <a:rPr sz="2300" b="0" i="0">
                <a:solidFill>
                  <a:srgbClr val="1C252B"/>
                </a:solidFill>
                <a:latin typeface="Segoe UI"/>
              </a:rPr>
              <a:t>–20), so power is low and non-significant results are near-guaranteed.</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With millions of readings, </a:t>
            </a:r>
            <a:r>
              <a:rPr sz="2100" b="0" i="1">
                <a:solidFill>
                  <a:srgbClr val="1C252B"/>
                </a:solidFill>
                <a:latin typeface="Segoe UI"/>
              </a:rPr>
              <a:t>everything</a:t>
            </a:r>
            <a:r>
              <a:rPr sz="2100" b="0" i="0">
                <a:solidFill>
                  <a:srgbClr val="1C252B"/>
                </a:solidFill>
                <a:latin typeface="Segoe UI"/>
              </a:rPr>
              <a:t> is statistically significant — a </a:t>
            </a:r>
            <a:r>
              <a:rPr sz="2100" b="0" i="0">
                <a:solidFill>
                  <a:srgbClr val="1C252B"/>
                </a:solidFill>
                <a:latin typeface="Cambria"/>
              </a:rPr>
              <a:t>0.02°</a:t>
            </a:r>
            <a:r>
              <a:rPr sz="2100" b="0" i="0">
                <a:solidFill>
                  <a:srgbClr val="1C252B"/>
                </a:solidFill>
                <a:latin typeface="Segoe UI"/>
              </a:rPr>
              <a:t>C difference between two sensor batches will have </a:t>
            </a:r>
            <a:r>
              <a:rPr sz="2100" b="0" i="1">
                <a:solidFill>
                  <a:srgbClr val="1C252B"/>
                </a:solidFill>
                <a:latin typeface="Cambria"/>
              </a:rPr>
              <a:t>p</a:t>
            </a:r>
            <a:r>
              <a:rPr sz="2100" b="0" i="0">
                <a:solidFill>
                  <a:srgbClr val="1C252B"/>
                </a:solidFill>
                <a:latin typeface="Cambria"/>
              </a:rPr>
              <a:t> &lt; 10</a:t>
            </a:r>
            <a:r>
              <a:rPr sz="2100" b="0" i="0" baseline="30000">
                <a:solidFill>
                  <a:srgbClr val="1C252B"/>
                </a:solidFill>
                <a:latin typeface="Cambria"/>
              </a:rPr>
              <a:t>−9</a:t>
            </a:r>
            <a:r>
              <a:rPr sz="2100" b="0" i="0">
                <a:solidFill>
                  <a:srgbClr val="1C252B"/>
                </a:solidFill>
                <a:latin typeface="Segoe UI"/>
              </a:rPr>
              <a:t> and mean nothing.</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Type I and Type II errors have wildly asymmetric costs here, so </a:t>
            </a:r>
            <a:r>
              <a:rPr sz="2200" b="0" i="0">
                <a:solidFill>
                  <a:srgbClr val="1C252B"/>
                </a:solidFill>
                <a:latin typeface="Cambria"/>
              </a:rPr>
              <a:t>α = 0.05</a:t>
            </a:r>
            <a:r>
              <a:rPr sz="2200" b="0" i="0">
                <a:solidFill>
                  <a:srgbClr val="1C252B"/>
                </a:solidFill>
                <a:latin typeface="Segoe UI"/>
              </a:rPr>
              <a:t> is an arbitrary import from another field.</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82734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Inference in Practice</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61     </a:t>
            </a:r>
            <a:fld id="{682C87DB-A5CE-4571-9806-0E1A8079C69D}" type="slidenum">
              <a:rPr lang="en-GB" sz="1000">
                <a:solidFill>
                  <a:srgbClr val="8795A1"/>
                </a:solidFill>
                <a:latin typeface="Segoe UI"/>
              </a:rPr>
              <a:t>29</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Comparing pass rates between two teaching formats is a two-proportion test — but students are not independent: they share tutors, timetables and study groups, which is cluster sampling in disguise, so the effective sample is smaller than the headcount. Always report the effect size in percentage points alongside </a:t>
            </a:r>
            <a:r>
              <a:rPr sz="2200" b="0" i="1">
                <a:solidFill>
                  <a:srgbClr val="1C252B"/>
                </a:solidFill>
                <a:latin typeface="Cambria"/>
              </a:rPr>
              <a:t>p</a:t>
            </a:r>
            <a:r>
              <a:rPr sz="2200" b="0" i="0">
                <a:solidFill>
                  <a:srgbClr val="1C252B"/>
                </a:solidFill>
                <a:latin typeface="Segoe UI"/>
              </a:rPr>
              <a:t>, because a statistically significant 0.5-point rise will not justify redesigning a module.</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07118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Inference in Practice</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61     </a:t>
            </a:r>
            <a:fld id="{2B8E48C6-0A84-4D3C-AA87-B562E1819EF5}" type="slidenum">
              <a:rPr lang="en-GB" sz="1000">
                <a:solidFill>
                  <a:srgbClr val="8795A1"/>
                </a:solidFill>
                <a:latin typeface="Segoe UI"/>
              </a:rPr>
              <a:t>30</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Sprint samples are small (</a:t>
            </a:r>
            <a:r>
              <a:rPr sz="2200" b="0" i="1">
                <a:solidFill>
                  <a:srgbClr val="1C252B"/>
                </a:solidFill>
                <a:latin typeface="Cambria"/>
              </a:rPr>
              <a:t>n</a:t>
            </a:r>
            <a:r>
              <a:rPr sz="2200" b="0" i="0">
                <a:solidFill>
                  <a:srgbClr val="1C252B"/>
                </a:solidFill>
                <a:latin typeface="Cambria"/>
              </a:rPr>
              <a:t> ≈ 10</a:t>
            </a:r>
            <a:r>
              <a:rPr sz="2200" b="0" i="0">
                <a:solidFill>
                  <a:srgbClr val="1C252B"/>
                </a:solidFill>
                <a:latin typeface="Segoe UI"/>
              </a:rPr>
              <a:t>–20), so power is low and non-significant results are near-guaranteed. Confidence intervals on velocity are far more useful to a team than tests: “we complete 28–41 points per sprint with 95% confidence” supports planning in a way that “</a:t>
            </a:r>
            <a:r>
              <a:rPr sz="2200" b="0" i="1">
                <a:solidFill>
                  <a:srgbClr val="1C252B"/>
                </a:solidFill>
                <a:latin typeface="Cambria"/>
              </a:rPr>
              <a:t>p</a:t>
            </a:r>
            <a:r>
              <a:rPr sz="2200" b="0" i="0">
                <a:solidFill>
                  <a:srgbClr val="1C252B"/>
                </a:solidFill>
                <a:latin typeface="Cambria"/>
              </a:rPr>
              <a:t> = 0.31</a:t>
            </a:r>
            <a:r>
              <a:rPr sz="2200" b="0" i="0">
                <a:solidFill>
                  <a:srgbClr val="1C252B"/>
                </a:solidFill>
                <a:latin typeface="Segoe UI"/>
              </a:rPr>
              <a:t>” never will.</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31501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Inference in Practice</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61     </a:t>
            </a:r>
            <a:fld id="{0A04C41B-AC18-49E1-97C6-7EAD8F34B1D1}" type="slidenum">
              <a:rPr lang="en-GB" sz="1000">
                <a:solidFill>
                  <a:srgbClr val="8795A1"/>
                </a:solidFill>
                <a:latin typeface="Segoe UI"/>
              </a:rPr>
              <a:t>31</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With millions of readings, </a:t>
            </a:r>
            <a:r>
              <a:rPr sz="2200" b="0" i="1">
                <a:solidFill>
                  <a:srgbClr val="1C252B"/>
                </a:solidFill>
                <a:latin typeface="Segoe UI"/>
              </a:rPr>
              <a:t>everything</a:t>
            </a:r>
            <a:r>
              <a:rPr sz="2200" b="0" i="0">
                <a:solidFill>
                  <a:srgbClr val="1C252B"/>
                </a:solidFill>
                <a:latin typeface="Segoe UI"/>
              </a:rPr>
              <a:t> is statistically significant — a </a:t>
            </a:r>
            <a:r>
              <a:rPr sz="2200" b="0" i="0">
                <a:solidFill>
                  <a:srgbClr val="1C252B"/>
                </a:solidFill>
                <a:latin typeface="Cambria"/>
              </a:rPr>
              <a:t>0.02°</a:t>
            </a:r>
            <a:r>
              <a:rPr sz="2200" b="0" i="0">
                <a:solidFill>
                  <a:srgbClr val="1C252B"/>
                </a:solidFill>
                <a:latin typeface="Segoe UI"/>
              </a:rPr>
              <a:t>C difference between two sensor batches will have </a:t>
            </a:r>
            <a:r>
              <a:rPr sz="2200" b="0" i="1">
                <a:solidFill>
                  <a:srgbClr val="1C252B"/>
                </a:solidFill>
                <a:latin typeface="Cambria"/>
              </a:rPr>
              <a:t>p</a:t>
            </a:r>
            <a:r>
              <a:rPr sz="2200" b="0" i="0">
                <a:solidFill>
                  <a:srgbClr val="1C252B"/>
                </a:solidFill>
                <a:latin typeface="Cambria"/>
              </a:rPr>
              <a:t> &lt; 10</a:t>
            </a:r>
            <a:r>
              <a:rPr sz="2200" b="0" i="0" baseline="30000">
                <a:solidFill>
                  <a:srgbClr val="1C252B"/>
                </a:solidFill>
                <a:latin typeface="Cambria"/>
              </a:rPr>
              <a:t>−9</a:t>
            </a:r>
            <a:r>
              <a:rPr sz="2200" b="0" i="0">
                <a:solidFill>
                  <a:srgbClr val="1C252B"/>
                </a:solidFill>
                <a:latin typeface="Segoe UI"/>
              </a:rPr>
              <a:t> and mean nothing. In this domain the </a:t>
            </a:r>
            <a:r>
              <a:rPr sz="2200" b="0" i="1">
                <a:solidFill>
                  <a:srgbClr val="1C252B"/>
                </a:solidFill>
                <a:latin typeface="Cambria"/>
              </a:rPr>
              <a:t>p</a:t>
            </a:r>
            <a:r>
              <a:rPr sz="2200" b="0" i="0">
                <a:solidFill>
                  <a:srgbClr val="1C252B"/>
                </a:solidFill>
                <a:latin typeface="Segoe UI"/>
              </a:rPr>
              <a:t>-value is almost useless and the effect size is almost everything. Beware also that consecutive readings are autocorrelated, so the effective sample size is far below the row count.</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55885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Inference in Practice</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61     </a:t>
            </a:r>
            <a:fld id="{A43C91C6-D744-44BE-9135-8CA04145B57C}" type="slidenum">
              <a:rPr lang="en-GB" sz="1000">
                <a:solidFill>
                  <a:srgbClr val="8795A1"/>
                </a:solidFill>
                <a:latin typeface="Segoe UI"/>
              </a:rPr>
              <a:t>32</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Type I and Type II errors have wildly asymmetric costs here, so </a:t>
            </a:r>
            <a:r>
              <a:rPr sz="2200" b="0" i="0">
                <a:solidFill>
                  <a:srgbClr val="1C252B"/>
                </a:solidFill>
                <a:latin typeface="Cambria"/>
              </a:rPr>
              <a:t>α = 0.05</a:t>
            </a:r>
            <a:r>
              <a:rPr sz="2200" b="0" i="0">
                <a:solidFill>
                  <a:srgbClr val="1C252B"/>
                </a:solidFill>
                <a:latin typeface="Segoe UI"/>
              </a:rPr>
              <a:t> is an arbitrary import from another field. Set the threshold from the cost ratio instead (Chapter 6’s expected-value calculation). Multiple comparisons are acute: a SIEM testing thousands of rules per hour will generate false positives continuously by construction unless corrected.</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80268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Interval, Test and Effect Size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58     </a:t>
            </a:r>
            <a:fld id="{38C5C8C8-A770-428C-A824-953DFDC7B55C}" type="slidenum">
              <a:rPr lang="en-GB" sz="1000">
                <a:solidFill>
                  <a:srgbClr val="8795A1"/>
                </a:solidFill>
                <a:latin typeface="Segoe UI"/>
              </a:rPr>
              <a:t>33</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146684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Confidence interval for the new format's pass rate</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Hypothesis test</a:t>
            </a:r>
          </a:p>
          <a:p>
            <a:pPr algn="l" marL="459473" indent="-459473">
              <a:lnSpc>
                <a:spcPct val="100000"/>
              </a:lnSpc>
              <a:spcBef>
                <a:spcPts val="0"/>
              </a:spcBef>
              <a:spcAft>
                <a:spcPts val="570"/>
              </a:spcAft>
            </a:pPr>
            <a:r>
              <a:rPr sz="1900" b="1">
                <a:solidFill>
                  <a:srgbClr val="117A65"/>
                </a:solidFill>
                <a:latin typeface="Segoe UI"/>
              </a:rPr>
              <a:t>3.	</a:t>
            </a:r>
            <a:r>
              <a:rPr sz="1900" b="0" i="0">
                <a:solidFill>
                  <a:srgbClr val="1C252B"/>
                </a:solidFill>
                <a:latin typeface="Segoe UI"/>
              </a:rPr>
              <a:t>Effect size: report this WITH the p-value, never instead of it</a:t>
            </a:r>
          </a:p>
          <a:p>
            <a:pPr algn="l" marL="459473" indent="-459473">
              <a:lnSpc>
                <a:spcPct val="100000"/>
              </a:lnSpc>
              <a:spcBef>
                <a:spcPts val="0"/>
              </a:spcBef>
              <a:spcAft>
                <a:spcPts val="0"/>
              </a:spcAft>
            </a:pPr>
            <a:r>
              <a:rPr sz="1900" b="1">
                <a:solidFill>
                  <a:srgbClr val="117A65"/>
                </a:solidFill>
                <a:latin typeface="Segoe UI"/>
              </a:rPr>
              <a:t>4.	</a:t>
            </a:r>
            <a:r>
              <a:rPr sz="1900" b="0" i="0">
                <a:solidFill>
                  <a:srgbClr val="1C252B"/>
                </a:solidFill>
                <a:latin typeface="Segoe UI"/>
              </a:rPr>
              <a:t>The multiple-comparisons demonstration</a:t>
            </a:r>
          </a:p>
        </p:txBody>
      </p:sp>
      <p:sp>
        <p:nvSpPr>
          <p:cNvPr id="24" name="!!lfTHIS">
            <a:extLst>
              <a:ext uri="{C183D7F6-B498-43B3-948B-1728B52AA6E4}">
                <adec:decorative xmlns:adec="http://schemas.microsoft.com/office/drawing/2017/decorative" val="1"/>
              </a:ext>
            </a:extLst>
          </p:cNvPr>
          <p:cNvSpPr/>
          <p:nvPr/>
        </p:nvSpPr>
        <p:spPr>
          <a:xfrm>
            <a:off x="658368"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flTHIS"/>
          <p:cNvSpPr txBox="1"/>
          <p:nvPr/>
        </p:nvSpPr>
        <p:spPr>
          <a:xfrm>
            <a:off x="932688"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7" name="!!lfvTHIS"/>
          <p:cNvSpPr txBox="1"/>
          <p:nvPr/>
        </p:nvSpPr>
        <p:spPr>
          <a:xfrm>
            <a:off x="932688"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6: Intervals, tests, confounder simulation</a:t>
            </a:r>
          </a:p>
        </p:txBody>
      </p:sp>
      <p:sp>
        <p:nvSpPr>
          <p:cNvPr id="28" name="!!lfWHAT">
            <a:extLst>
              <a:ext uri="{C183D7F6-B498-43B3-948B-1728B52AA6E4}">
                <adec:decorative xmlns:adec="http://schemas.microsoft.com/office/drawing/2017/decorative" val="1"/>
              </a:ext>
            </a:extLst>
          </p:cNvPr>
          <p:cNvSpPr/>
          <p:nvPr/>
        </p:nvSpPr>
        <p:spPr>
          <a:xfrm>
            <a:off x="6233007"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bWHAT">
            <a:extLst>
              <a:ext uri="{C183D7F6-B498-43B3-948B-1728B52AA6E4}">
                <adec:decorative xmlns:adec="http://schemas.microsoft.com/office/drawing/2017/decorative" val="1"/>
              </a:ext>
            </a:extLst>
          </p:cNvPr>
          <p:cNvSpPr/>
          <p:nvPr/>
        </p:nvSpPr>
        <p:spPr>
          <a:xfrm>
            <a:off x="6233007"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lflWHAT"/>
          <p:cNvSpPr txBox="1"/>
          <p:nvPr/>
        </p:nvSpPr>
        <p:spPr>
          <a:xfrm>
            <a:off x="6507327"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31" name="!!lfvWHAT"/>
          <p:cNvSpPr txBox="1"/>
          <p:nvPr/>
        </p:nvSpPr>
        <p:spPr>
          <a:xfrm>
            <a:off x="6507327"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24 lines of Python</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804651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300"/>
                                        <p:tgtEl>
                                          <p:spTgt spid="8">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animEffect transition="in" filter="fade">
                                      <p:cBhvr>
                                        <p:cTn id="23" dur="3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Interval, Test and Effect Size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58     </a:t>
            </a:r>
            <a:fld id="{285342AF-C7D8-4D43-BDAB-CDCA934AF621}"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127504"/>
          </a:xfrm>
          <a:prstGeom prst="roundRect">
            <a:avLst>
              <a:gd name="adj" fmla="val 429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import numpy as np from scipy import stats old = np.array([0]*32 + [1]*68) # 68 of 100 passed new = np.array([0]*21 + [1]*79) # 79 of 100 passed"/>
          <p:cNvSpPr txBox="1"/>
          <p:nvPr/>
        </p:nvSpPr>
        <p:spPr>
          <a:xfrm>
            <a:off x="1362456" y="2523744"/>
            <a:ext cx="9987991" cy="1633728"/>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numpy</a:t>
            </a:r>
            <a:r>
              <a:rPr sz="2000" i="0">
                <a:solidFill>
                  <a:srgbClr val="E8EDF2"/>
                </a:solidFill>
                <a:latin typeface="Consolas"/>
              </a:rPr>
              <a:t> </a:t>
            </a:r>
            <a:r>
              <a:rPr sz="2000" i="0">
                <a:solidFill>
                  <a:srgbClr val="5DADE2"/>
                </a:solidFill>
                <a:latin typeface="Consolas"/>
              </a:rPr>
              <a:t>as</a:t>
            </a:r>
            <a:r>
              <a:rPr sz="2000" i="0">
                <a:solidFill>
                  <a:srgbClr val="E8EDF2"/>
                </a:solidFill>
                <a:latin typeface="Consolas"/>
              </a:rPr>
              <a:t> </a:t>
            </a:r>
            <a:r>
              <a:rPr sz="2000" i="0">
                <a:solidFill>
                  <a:srgbClr val="76D7C4"/>
                </a:solidFill>
                <a:latin typeface="Consolas"/>
              </a:rPr>
              <a:t>np</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scipy</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stats</a:t>
            </a:r>
          </a:p>
          <a:p>
            <a:pPr>
              <a:lnSpc>
                <a:spcPct val="100000"/>
              </a:lnSpc>
              <a:spcAft>
                <a:spcPts val="0"/>
              </a:spcAft>
            </a:pPr>
            <a:r>
              <a:rPr sz="2000">
                <a:latin typeface="Consolas"/>
              </a:rPr>
              <a:t> </a:t>
            </a:r>
          </a:p>
          <a:p>
            <a:pPr>
              <a:lnSpc>
                <a:spcPct val="100000"/>
              </a:lnSpc>
              <a:spcAft>
                <a:spcPts val="0"/>
              </a:spcAft>
            </a:pPr>
            <a:r>
              <a:rPr sz="2000" i="0">
                <a:solidFill>
                  <a:srgbClr val="E8EDF2"/>
                </a:solidFill>
                <a:latin typeface="Consolas"/>
              </a:rPr>
              <a:t>old</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np</a:t>
            </a:r>
            <a:r>
              <a:rPr sz="2000" i="0">
                <a:solidFill>
                  <a:srgbClr val="AEB6BF"/>
                </a:solidFill>
                <a:latin typeface="Consolas"/>
              </a:rPr>
              <a:t>.</a:t>
            </a:r>
            <a:r>
              <a:rPr sz="2000" i="0">
                <a:solidFill>
                  <a:srgbClr val="E8EDF2"/>
                </a:solidFill>
                <a:latin typeface="Consolas"/>
              </a:rPr>
              <a:t>array</a:t>
            </a:r>
            <a:r>
              <a:rPr sz="2000" i="0">
                <a:solidFill>
                  <a:srgbClr val="AEB6BF"/>
                </a:solidFill>
                <a:latin typeface="Consolas"/>
              </a:rPr>
              <a:t>(</a:t>
            </a:r>
            <a:r>
              <a:rPr sz="2000" i="0">
                <a:solidFill>
                  <a:srgbClr val="AEB6BF"/>
                </a:solidFill>
                <a:latin typeface="Consolas"/>
              </a:rPr>
              <a:t>[</a:t>
            </a:r>
            <a:r>
              <a:rPr sz="2000" i="0">
                <a:solidFill>
                  <a:srgbClr val="F7DC6F"/>
                </a:solidFill>
                <a:latin typeface="Consolas"/>
              </a:rPr>
              <a:t>0</a:t>
            </a:r>
            <a:r>
              <a:rPr sz="2000" i="0">
                <a:solidFill>
                  <a:srgbClr val="AEB6BF"/>
                </a:solidFill>
                <a:latin typeface="Consolas"/>
              </a:rPr>
              <a:t>]</a:t>
            </a:r>
            <a:r>
              <a:rPr sz="2000" i="0">
                <a:solidFill>
                  <a:srgbClr val="AEB6BF"/>
                </a:solidFill>
                <a:latin typeface="Consolas"/>
              </a:rPr>
              <a:t>*</a:t>
            </a:r>
            <a:r>
              <a:rPr sz="2000" i="0">
                <a:solidFill>
                  <a:srgbClr val="F7DC6F"/>
                </a:solidFill>
                <a:latin typeface="Consolas"/>
              </a:rPr>
              <a:t>32</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F7DC6F"/>
                </a:solidFill>
                <a:latin typeface="Consolas"/>
              </a:rPr>
              <a:t>1</a:t>
            </a:r>
            <a:r>
              <a:rPr sz="2000" i="0">
                <a:solidFill>
                  <a:srgbClr val="AEB6BF"/>
                </a:solidFill>
                <a:latin typeface="Consolas"/>
              </a:rPr>
              <a:t>]</a:t>
            </a:r>
            <a:r>
              <a:rPr sz="2000" i="0">
                <a:solidFill>
                  <a:srgbClr val="AEB6BF"/>
                </a:solidFill>
                <a:latin typeface="Consolas"/>
              </a:rPr>
              <a:t>*</a:t>
            </a:r>
            <a:r>
              <a:rPr sz="2000" i="0">
                <a:solidFill>
                  <a:srgbClr val="F7DC6F"/>
                </a:solidFill>
                <a:latin typeface="Consolas"/>
              </a:rPr>
              <a:t>68</a:t>
            </a:r>
            <a:r>
              <a:rPr sz="2000" i="0">
                <a:solidFill>
                  <a:srgbClr val="AEB6BF"/>
                </a:solidFill>
                <a:latin typeface="Consolas"/>
              </a:rPr>
              <a:t>)</a:t>
            </a:r>
            <a:r>
              <a:rPr sz="2000" i="0">
                <a:solidFill>
                  <a:srgbClr val="E8EDF2"/>
                </a:solidFill>
                <a:latin typeface="Consolas"/>
              </a:rPr>
              <a:t>      </a:t>
            </a:r>
            <a:r>
              <a:rPr sz="2000" i="1">
                <a:solidFill>
                  <a:srgbClr val="8795A1"/>
                </a:solidFill>
                <a:latin typeface="Consolas"/>
              </a:rPr>
              <a:t># 68 of 100 passed</a:t>
            </a:r>
          </a:p>
          <a:p>
            <a:pPr>
              <a:lnSpc>
                <a:spcPct val="100000"/>
              </a:lnSpc>
              <a:spcAft>
                <a:spcPts val="0"/>
              </a:spcAft>
            </a:pPr>
            <a:r>
              <a:rPr sz="2000" i="0">
                <a:solidFill>
                  <a:srgbClr val="E8EDF2"/>
                </a:solidFill>
                <a:latin typeface="Consolas"/>
              </a:rPr>
              <a:t>new</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np</a:t>
            </a:r>
            <a:r>
              <a:rPr sz="2000" i="0">
                <a:solidFill>
                  <a:srgbClr val="AEB6BF"/>
                </a:solidFill>
                <a:latin typeface="Consolas"/>
              </a:rPr>
              <a:t>.</a:t>
            </a:r>
            <a:r>
              <a:rPr sz="2000" i="0">
                <a:solidFill>
                  <a:srgbClr val="E8EDF2"/>
                </a:solidFill>
                <a:latin typeface="Consolas"/>
              </a:rPr>
              <a:t>array</a:t>
            </a:r>
            <a:r>
              <a:rPr sz="2000" i="0">
                <a:solidFill>
                  <a:srgbClr val="AEB6BF"/>
                </a:solidFill>
                <a:latin typeface="Consolas"/>
              </a:rPr>
              <a:t>(</a:t>
            </a:r>
            <a:r>
              <a:rPr sz="2000" i="0">
                <a:solidFill>
                  <a:srgbClr val="AEB6BF"/>
                </a:solidFill>
                <a:latin typeface="Consolas"/>
              </a:rPr>
              <a:t>[</a:t>
            </a:r>
            <a:r>
              <a:rPr sz="2000" i="0">
                <a:solidFill>
                  <a:srgbClr val="F7DC6F"/>
                </a:solidFill>
                <a:latin typeface="Consolas"/>
              </a:rPr>
              <a:t>0</a:t>
            </a:r>
            <a:r>
              <a:rPr sz="2000" i="0">
                <a:solidFill>
                  <a:srgbClr val="AEB6BF"/>
                </a:solidFill>
                <a:latin typeface="Consolas"/>
              </a:rPr>
              <a:t>]</a:t>
            </a:r>
            <a:r>
              <a:rPr sz="2000" i="0">
                <a:solidFill>
                  <a:srgbClr val="AEB6BF"/>
                </a:solidFill>
                <a:latin typeface="Consolas"/>
              </a:rPr>
              <a:t>*</a:t>
            </a:r>
            <a:r>
              <a:rPr sz="2000" i="0">
                <a:solidFill>
                  <a:srgbClr val="F7DC6F"/>
                </a:solidFill>
                <a:latin typeface="Consolas"/>
              </a:rPr>
              <a:t>21</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F7DC6F"/>
                </a:solidFill>
                <a:latin typeface="Consolas"/>
              </a:rPr>
              <a:t>1</a:t>
            </a:r>
            <a:r>
              <a:rPr sz="2000" i="0">
                <a:solidFill>
                  <a:srgbClr val="AEB6BF"/>
                </a:solidFill>
                <a:latin typeface="Consolas"/>
              </a:rPr>
              <a:t>]</a:t>
            </a:r>
            <a:r>
              <a:rPr sz="2000" i="0">
                <a:solidFill>
                  <a:srgbClr val="AEB6BF"/>
                </a:solidFill>
                <a:latin typeface="Consolas"/>
              </a:rPr>
              <a:t>*</a:t>
            </a:r>
            <a:r>
              <a:rPr sz="2000" i="0">
                <a:solidFill>
                  <a:srgbClr val="F7DC6F"/>
                </a:solidFill>
                <a:latin typeface="Consolas"/>
              </a:rPr>
              <a:t>79</a:t>
            </a:r>
            <a:r>
              <a:rPr sz="2000" i="0">
                <a:solidFill>
                  <a:srgbClr val="AEB6BF"/>
                </a:solidFill>
                <a:latin typeface="Consolas"/>
              </a:rPr>
              <a:t>)</a:t>
            </a:r>
            <a:r>
              <a:rPr sz="2000" i="0">
                <a:solidFill>
                  <a:srgbClr val="E8EDF2"/>
                </a:solidFill>
                <a:latin typeface="Consolas"/>
              </a:rPr>
              <a:t>      </a:t>
            </a:r>
            <a:r>
              <a:rPr sz="2000" i="1">
                <a:solidFill>
                  <a:srgbClr val="8795A1"/>
                </a:solidFill>
                <a:latin typeface="Consolas"/>
              </a:rPr>
              <a:t># 79 of 100 passed</a:t>
            </a:r>
          </a:p>
        </p:txBody>
      </p:sp>
      <p:sp>
        <p:nvSpPr>
          <p:cNvPr id="15" name="!!code-num"/>
          <p:cNvSpPr txBox="1"/>
          <p:nvPr/>
        </p:nvSpPr>
        <p:spPr>
          <a:xfrm>
            <a:off x="768096" y="2523744"/>
            <a:ext cx="393192" cy="16337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a:t>
            </a:r>
          </a:p>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a:p>
            <a:pPr algn="r">
              <a:lnSpc>
                <a:spcPct val="100000"/>
              </a:lnSpc>
            </a:pPr>
            <a:r>
              <a:rPr sz="2000">
                <a:solidFill>
                  <a:srgbClr val="4F5D6A"/>
                </a:solidFill>
                <a:latin typeface="Consolas"/>
              </a:rPr>
              <a:t>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9035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Interval, Test and Effect Size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58     </a:t>
            </a:r>
            <a:fld id="{95CBD13D-8DD1-41D4-A145-840B7492EC92}"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Confidence interval for the new format's pass rate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00784"/>
          </a:xfrm>
          <a:prstGeom prst="roundRect">
            <a:avLst>
              <a:gd name="adj" fmla="val 53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confidence interval for the new format's pass rate --------------- p, n = new.mean(), len(new) se = np.sqrt(p*(1-p)/n) print(f&quot;new pass rate: {p:.2f} 95% CI [{p-1.96*se:.3f}, {p+1.96*se:.3f}]&quot;)"/>
          <p:cNvSpPr txBox="1"/>
          <p:nvPr/>
        </p:nvSpPr>
        <p:spPr>
          <a:xfrm>
            <a:off x="1362456" y="2523744"/>
            <a:ext cx="9987991" cy="120700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confidence interval for the new format's pass rate ---------------</a:t>
            </a:r>
          </a:p>
          <a:p>
            <a:pPr>
              <a:lnSpc>
                <a:spcPct val="100000"/>
              </a:lnSpc>
              <a:spcAft>
                <a:spcPts val="0"/>
              </a:spcAft>
            </a:pPr>
            <a:r>
              <a:rPr sz="1800" i="0">
                <a:solidFill>
                  <a:srgbClr val="E8EDF2"/>
                </a:solidFill>
                <a:latin typeface="Consolas"/>
              </a:rPr>
              <a:t>p</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new</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len</a:t>
            </a:r>
            <a:r>
              <a:rPr sz="1800" i="0">
                <a:solidFill>
                  <a:srgbClr val="AEB6BF"/>
                </a:solidFill>
                <a:latin typeface="Consolas"/>
              </a:rPr>
              <a:t>(</a:t>
            </a:r>
            <a:r>
              <a:rPr sz="1800" i="0">
                <a:solidFill>
                  <a:srgbClr val="E8EDF2"/>
                </a:solidFill>
                <a:latin typeface="Consolas"/>
              </a:rPr>
              <a:t>new</a:t>
            </a:r>
            <a:r>
              <a:rPr sz="1800" i="0">
                <a:solidFill>
                  <a:srgbClr val="AEB6BF"/>
                </a:solidFill>
                <a:latin typeface="Consolas"/>
              </a:rPr>
              <a:t>)</a:t>
            </a:r>
          </a:p>
          <a:p>
            <a:pPr>
              <a:lnSpc>
                <a:spcPct val="100000"/>
              </a:lnSpc>
              <a:spcAft>
                <a:spcPts val="0"/>
              </a:spcAft>
            </a:pPr>
            <a:r>
              <a:rPr sz="1800" i="0">
                <a:solidFill>
                  <a:srgbClr val="E8EDF2"/>
                </a:solidFill>
                <a:latin typeface="Consolas"/>
              </a:rPr>
              <a:t>se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sqrt</a:t>
            </a:r>
            <a:r>
              <a:rPr sz="1800" i="0">
                <a:solidFill>
                  <a:srgbClr val="AEB6BF"/>
                </a:solidFill>
                <a:latin typeface="Consolas"/>
              </a:rPr>
              <a:t>(</a:t>
            </a:r>
            <a:r>
              <a:rPr sz="1800" i="0">
                <a:solidFill>
                  <a:srgbClr val="E8EDF2"/>
                </a:solidFill>
                <a:latin typeface="Consolas"/>
              </a:rPr>
              <a:t>p</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p</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n</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new pass rate: </a:t>
            </a:r>
            <a:r>
              <a:rPr sz="1800" i="0">
                <a:solidFill>
                  <a:srgbClr val="7DCEA0"/>
                </a:solidFill>
                <a:latin typeface="Consolas"/>
              </a:rPr>
              <a:t>{</a:t>
            </a:r>
            <a:r>
              <a:rPr sz="1800" i="0">
                <a:solidFill>
                  <a:srgbClr val="E8EDF2"/>
                </a:solidFill>
                <a:latin typeface="Consolas"/>
              </a:rPr>
              <a:t>p</a:t>
            </a:r>
            <a:r>
              <a:rPr sz="1800" i="0">
                <a:solidFill>
                  <a:srgbClr val="7DCEA0"/>
                </a:solidFill>
                <a:latin typeface="Consolas"/>
              </a:rPr>
              <a:t>:</a:t>
            </a:r>
            <a:r>
              <a:rPr sz="1800" i="0">
                <a:solidFill>
                  <a:srgbClr val="7DCEA0"/>
                </a:solidFill>
                <a:latin typeface="Consolas"/>
              </a:rPr>
              <a:t>.2f</a:t>
            </a:r>
            <a:r>
              <a:rPr sz="1800" i="0">
                <a:solidFill>
                  <a:srgbClr val="7DCEA0"/>
                </a:solidFill>
                <a:latin typeface="Consolas"/>
              </a:rPr>
              <a:t>}</a:t>
            </a:r>
            <a:r>
              <a:rPr sz="1800" i="0">
                <a:solidFill>
                  <a:srgbClr val="7DCEA0"/>
                </a:solidFill>
                <a:latin typeface="Consolas"/>
              </a:rPr>
              <a:t>  95% CI [</a:t>
            </a:r>
            <a:r>
              <a:rPr sz="1800" i="0">
                <a:solidFill>
                  <a:srgbClr val="7DCEA0"/>
                </a:solidFill>
                <a:latin typeface="Consolas"/>
              </a:rPr>
              <a:t>{</a:t>
            </a:r>
            <a:r>
              <a:rPr sz="1800" i="0">
                <a:solidFill>
                  <a:srgbClr val="E8EDF2"/>
                </a:solidFill>
                <a:latin typeface="Consolas"/>
              </a:rPr>
              <a:t>p</a:t>
            </a:r>
            <a:r>
              <a:rPr sz="1800" i="0">
                <a:solidFill>
                  <a:srgbClr val="AEB6BF"/>
                </a:solidFill>
                <a:latin typeface="Consolas"/>
              </a:rPr>
              <a:t>-</a:t>
            </a:r>
            <a:r>
              <a:rPr sz="1800" i="0">
                <a:solidFill>
                  <a:srgbClr val="F7DC6F"/>
                </a:solidFill>
                <a:latin typeface="Consolas"/>
              </a:rPr>
              <a:t>1.96</a:t>
            </a:r>
            <a:r>
              <a:rPr sz="1800" i="0">
                <a:solidFill>
                  <a:srgbClr val="AEB6BF"/>
                </a:solidFill>
                <a:latin typeface="Consolas"/>
              </a:rPr>
              <a:t>*</a:t>
            </a:r>
            <a:r>
              <a:rPr sz="1800" i="0">
                <a:solidFill>
                  <a:srgbClr val="E8EDF2"/>
                </a:solidFill>
                <a:latin typeface="Consolas"/>
              </a:rPr>
              <a:t>se</a:t>
            </a:r>
            <a:r>
              <a:rPr sz="1800" i="0">
                <a:solidFill>
                  <a:srgbClr val="7DCEA0"/>
                </a:solidFill>
                <a:latin typeface="Consolas"/>
              </a:rPr>
              <a:t>:</a:t>
            </a:r>
            <a:r>
              <a:rPr sz="1800" i="0">
                <a:solidFill>
                  <a:srgbClr val="7DCEA0"/>
                </a:solidFill>
                <a:latin typeface="Consolas"/>
              </a:rPr>
              <a:t>.3f</a:t>
            </a:r>
            <a:r>
              <a:rPr sz="1800" i="0">
                <a:solidFill>
                  <a:srgbClr val="7DCEA0"/>
                </a:solidFill>
                <a:latin typeface="Consolas"/>
              </a:rPr>
              <a:t>}</a:t>
            </a:r>
            <a:r>
              <a:rPr sz="1800" i="0">
                <a:solidFill>
                  <a:srgbClr val="7DCEA0"/>
                </a:solidFill>
                <a:latin typeface="Consolas"/>
              </a:rPr>
              <a:t>, </a:t>
            </a:r>
            <a:r>
              <a:rPr sz="1800" i="0">
                <a:solidFill>
                  <a:srgbClr val="7DCEA0"/>
                </a:solidFill>
                <a:latin typeface="Consolas"/>
              </a:rPr>
              <a:t>{</a:t>
            </a:r>
            <a:r>
              <a:rPr sz="1800" i="0">
                <a:solidFill>
                  <a:srgbClr val="E8EDF2"/>
                </a:solidFill>
                <a:latin typeface="Consolas"/>
              </a:rPr>
              <a:t>p</a:t>
            </a:r>
            <a:r>
              <a:rPr sz="1800" i="0">
                <a:solidFill>
                  <a:srgbClr val="AEB6BF"/>
                </a:solidFill>
                <a:latin typeface="Consolas"/>
              </a:rPr>
              <a:t>+</a:t>
            </a:r>
            <a:r>
              <a:rPr sz="1800" i="0">
                <a:solidFill>
                  <a:srgbClr val="F7DC6F"/>
                </a:solidFill>
                <a:latin typeface="Consolas"/>
              </a:rPr>
              <a:t>1.96</a:t>
            </a:r>
            <a:r>
              <a:rPr sz="1800" i="0">
                <a:solidFill>
                  <a:srgbClr val="AEB6BF"/>
                </a:solidFill>
                <a:latin typeface="Consolas"/>
              </a:rPr>
              <a:t>*</a:t>
            </a:r>
            <a:r>
              <a:rPr sz="1800" i="0">
                <a:solidFill>
                  <a:srgbClr val="E8EDF2"/>
                </a:solidFill>
                <a:latin typeface="Consolas"/>
              </a:rPr>
              <a:t>se</a:t>
            </a:r>
            <a:r>
              <a:rPr sz="1800" i="0">
                <a:solidFill>
                  <a:srgbClr val="7DCEA0"/>
                </a:solidFill>
                <a:latin typeface="Consolas"/>
              </a:rPr>
              <a:t>:</a:t>
            </a:r>
            <a:r>
              <a:rPr sz="1800" i="0">
                <a:solidFill>
                  <a:srgbClr val="7DCEA0"/>
                </a:solidFill>
                <a:latin typeface="Consolas"/>
              </a:rPr>
              <a:t>.3f</a:t>
            </a:r>
            <a:r>
              <a:rPr sz="1800" i="0">
                <a:solidFill>
                  <a:srgbClr val="7DCEA0"/>
                </a:solidFill>
                <a:latin typeface="Consolas"/>
              </a:rPr>
              <a:t>}</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120700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a:p>
            <a:pPr algn="r">
              <a:lnSpc>
                <a:spcPct val="100000"/>
              </a:lnSpc>
            </a:pPr>
            <a:r>
              <a:rPr sz="1800">
                <a:solidFill>
                  <a:srgbClr val="4F5D6A"/>
                </a:solidFill>
                <a:latin typeface="Consolas"/>
              </a:rPr>
              <a:t>8</a:t>
            </a:r>
          </a:p>
          <a:p>
            <a:pPr algn="r">
              <a:lnSpc>
                <a:spcPct val="100000"/>
              </a:lnSpc>
            </a:pPr>
            <a:r>
              <a:rPr sz="1800">
                <a:solidFill>
                  <a:srgbClr val="4F5D6A"/>
                </a:solidFill>
                <a:latin typeface="Consolas"/>
              </a:rPr>
              <a:t>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3418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Interval, Test and Effect Size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58     </a:t>
            </a:r>
            <a:fld id="{A8D5A081-E10D-496E-B632-BC0AF115A273}" type="slidenum">
              <a:rPr lang="en-GB" sz="1000">
                <a:solidFill>
                  <a:srgbClr val="8795A1"/>
                </a:solidFill>
                <a:latin typeface="Segoe UI"/>
              </a:rPr>
              <a:t>36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Hypothesis test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72184"/>
          </a:xfrm>
          <a:prstGeom prst="roundRect">
            <a:avLst>
              <a:gd name="adj" fmla="val 62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hypothesis test -------------------------------------------------- t, pval = stats.ttest_ind(new, old) print(f&quot;t = {t:.2f}, p = {pval:.4f}&quot;)"/>
          <p:cNvSpPr txBox="1"/>
          <p:nvPr/>
        </p:nvSpPr>
        <p:spPr>
          <a:xfrm>
            <a:off x="1362456" y="2523744"/>
            <a:ext cx="9987991" cy="9784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hypothesis test --------------------------------------------------</a:t>
            </a:r>
          </a:p>
          <a:p>
            <a:pPr>
              <a:lnSpc>
                <a:spcPct val="100000"/>
              </a:lnSpc>
              <a:spcAft>
                <a:spcPts val="0"/>
              </a:spcAft>
            </a:pPr>
            <a:r>
              <a:rPr sz="1900" i="0">
                <a:solidFill>
                  <a:srgbClr val="E8EDF2"/>
                </a:solidFill>
                <a:latin typeface="Consolas"/>
              </a:rPr>
              <a:t>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pval</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stats</a:t>
            </a:r>
            <a:r>
              <a:rPr sz="1900" i="0">
                <a:solidFill>
                  <a:srgbClr val="AEB6BF"/>
                </a:solidFill>
                <a:latin typeface="Consolas"/>
              </a:rPr>
              <a:t>.</a:t>
            </a:r>
            <a:r>
              <a:rPr sz="1900" i="0">
                <a:solidFill>
                  <a:srgbClr val="E8EDF2"/>
                </a:solidFill>
                <a:latin typeface="Consolas"/>
              </a:rPr>
              <a:t>ttest_ind</a:t>
            </a:r>
            <a:r>
              <a:rPr sz="1900" i="0">
                <a:solidFill>
                  <a:srgbClr val="AEB6BF"/>
                </a:solidFill>
                <a:latin typeface="Consolas"/>
              </a:rPr>
              <a:t>(</a:t>
            </a:r>
            <a:r>
              <a:rPr sz="1900" i="0">
                <a:solidFill>
                  <a:srgbClr val="E8EDF2"/>
                </a:solidFill>
                <a:latin typeface="Consolas"/>
              </a:rPr>
              <a:t>new</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old</a:t>
            </a:r>
            <a:r>
              <a:rPr sz="1900" i="0">
                <a:solidFill>
                  <a:srgbClr val="AEB6BF"/>
                </a:solidFill>
                <a:latin typeface="Consolas"/>
              </a:rPr>
              <a:t>)</a:t>
            </a:r>
          </a:p>
          <a:p>
            <a:pPr>
              <a:lnSpc>
                <a:spcPct val="100000"/>
              </a:lnSpc>
              <a:spcAft>
                <a:spcPts val="0"/>
              </a:spcAft>
            </a:pP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f</a:t>
            </a:r>
            <a:r>
              <a:rPr sz="1900" i="0">
                <a:solidFill>
                  <a:srgbClr val="7DCEA0"/>
                </a:solidFill>
                <a:latin typeface="Consolas"/>
              </a:rPr>
              <a:t>"</a:t>
            </a:r>
            <a:r>
              <a:rPr sz="1900" i="0">
                <a:solidFill>
                  <a:srgbClr val="7DCEA0"/>
                </a:solidFill>
                <a:latin typeface="Consolas"/>
              </a:rPr>
              <a:t>t = </a:t>
            </a:r>
            <a:r>
              <a:rPr sz="1900" i="0">
                <a:solidFill>
                  <a:srgbClr val="7DCEA0"/>
                </a:solidFill>
                <a:latin typeface="Consolas"/>
              </a:rPr>
              <a:t>{</a:t>
            </a:r>
            <a:r>
              <a:rPr sz="1900" i="0">
                <a:solidFill>
                  <a:srgbClr val="E8EDF2"/>
                </a:solidFill>
                <a:latin typeface="Consolas"/>
              </a:rPr>
              <a:t>t</a:t>
            </a:r>
            <a:r>
              <a:rPr sz="1900" i="0">
                <a:solidFill>
                  <a:srgbClr val="7DCEA0"/>
                </a:solidFill>
                <a:latin typeface="Consolas"/>
              </a:rPr>
              <a:t>:</a:t>
            </a:r>
            <a:r>
              <a:rPr sz="1900" i="0">
                <a:solidFill>
                  <a:srgbClr val="7DCEA0"/>
                </a:solidFill>
                <a:latin typeface="Consolas"/>
              </a:rPr>
              <a:t>.2f</a:t>
            </a:r>
            <a:r>
              <a:rPr sz="1900" i="0">
                <a:solidFill>
                  <a:srgbClr val="7DCEA0"/>
                </a:solidFill>
                <a:latin typeface="Consolas"/>
              </a:rPr>
              <a:t>}</a:t>
            </a:r>
            <a:r>
              <a:rPr sz="1900" i="0">
                <a:solidFill>
                  <a:srgbClr val="7DCEA0"/>
                </a:solidFill>
                <a:latin typeface="Consolas"/>
              </a:rPr>
              <a:t>, p = </a:t>
            </a:r>
            <a:r>
              <a:rPr sz="1900" i="0">
                <a:solidFill>
                  <a:srgbClr val="7DCEA0"/>
                </a:solidFill>
                <a:latin typeface="Consolas"/>
              </a:rPr>
              <a:t>{</a:t>
            </a:r>
            <a:r>
              <a:rPr sz="1900" i="0">
                <a:solidFill>
                  <a:srgbClr val="E8EDF2"/>
                </a:solidFill>
                <a:latin typeface="Consolas"/>
              </a:rPr>
              <a:t>pval</a:t>
            </a:r>
            <a:r>
              <a:rPr sz="1900" i="0">
                <a:solidFill>
                  <a:srgbClr val="7DCEA0"/>
                </a:solidFill>
                <a:latin typeface="Consolas"/>
              </a:rPr>
              <a:t>:</a:t>
            </a:r>
            <a:r>
              <a:rPr sz="1900" i="0">
                <a:solidFill>
                  <a:srgbClr val="7DCEA0"/>
                </a:solidFill>
                <a:latin typeface="Consolas"/>
              </a:rPr>
              <a:t>.4f</a:t>
            </a:r>
            <a:r>
              <a:rPr sz="1900" i="0">
                <a:solidFill>
                  <a:srgbClr val="7DCEA0"/>
                </a:solidFill>
                <a:latin typeface="Consolas"/>
              </a:rPr>
              <a:t>}</a:t>
            </a:r>
            <a:r>
              <a:rPr sz="1900" i="0">
                <a:solidFill>
                  <a:srgbClr val="7DCEA0"/>
                </a:solidFill>
                <a:latin typeface="Consolas"/>
              </a:rPr>
              <a:t>"</a:t>
            </a:r>
            <a:r>
              <a:rPr sz="1900" i="0">
                <a:solidFill>
                  <a:srgbClr val="AEB6BF"/>
                </a:solidFill>
                <a:latin typeface="Consolas"/>
              </a:rPr>
              <a:t>)</a:t>
            </a:r>
          </a:p>
        </p:txBody>
      </p:sp>
      <p:sp>
        <p:nvSpPr>
          <p:cNvPr id="15" name="!!code-num"/>
          <p:cNvSpPr txBox="1"/>
          <p:nvPr/>
        </p:nvSpPr>
        <p:spPr>
          <a:xfrm>
            <a:off x="768096" y="2523744"/>
            <a:ext cx="393192" cy="9784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10</a:t>
            </a:r>
          </a:p>
          <a:p>
            <a:pPr algn="r">
              <a:lnSpc>
                <a:spcPct val="100000"/>
              </a:lnSpc>
            </a:pPr>
            <a:r>
              <a:rPr sz="1900">
                <a:solidFill>
                  <a:srgbClr val="4F5D6A"/>
                </a:solidFill>
                <a:latin typeface="Consolas"/>
              </a:rPr>
              <a:t>11</a:t>
            </a:r>
          </a:p>
          <a:p>
            <a:pPr algn="r">
              <a:lnSpc>
                <a:spcPct val="100000"/>
              </a:lnSpc>
            </a:pPr>
            <a:r>
              <a:rPr sz="1900">
                <a:solidFill>
                  <a:srgbClr val="4F5D6A"/>
                </a:solidFill>
                <a:latin typeface="Consolas"/>
              </a:rPr>
              <a:t>12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77802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Interval, Test and Effect Size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58     </a:t>
            </a:r>
            <a:fld id="{E4E9919A-DF05-445A-B560-FB298F0AB091}" type="slidenum">
              <a:rPr lang="en-GB" sz="1000">
                <a:solidFill>
                  <a:srgbClr val="8795A1"/>
                </a:solidFill>
                <a:latin typeface="Segoe UI"/>
              </a:rPr>
              <a:t>37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Effect size: report this WITH the p-value, never instead of it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72184"/>
          </a:xfrm>
          <a:prstGeom prst="roundRect">
            <a:avLst>
              <a:gd name="adj" fmla="val 62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effect size: report this WITH the p-value, never instead of it --- pooled = np.sqrt((old.std(ddof=1)**2 + new.std(ddof=1)**2) / 2) print(f&quot;Cohen's d = {(new.mean()-old.mean())/pooled:.3f}&quot;)"/>
          <p:cNvSpPr txBox="1"/>
          <p:nvPr/>
        </p:nvSpPr>
        <p:spPr>
          <a:xfrm>
            <a:off x="1362456" y="2523744"/>
            <a:ext cx="9987991" cy="9784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effect size: report this WITH the p-value, never instead of it ---</a:t>
            </a:r>
          </a:p>
          <a:p>
            <a:pPr>
              <a:lnSpc>
                <a:spcPct val="100000"/>
              </a:lnSpc>
              <a:spcAft>
                <a:spcPts val="0"/>
              </a:spcAft>
            </a:pPr>
            <a:r>
              <a:rPr sz="1900" i="0">
                <a:solidFill>
                  <a:srgbClr val="E8EDF2"/>
                </a:solidFill>
                <a:latin typeface="Consolas"/>
              </a:rPr>
              <a:t>pooled</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np</a:t>
            </a:r>
            <a:r>
              <a:rPr sz="1900" i="0">
                <a:solidFill>
                  <a:srgbClr val="AEB6BF"/>
                </a:solidFill>
                <a:latin typeface="Consolas"/>
              </a:rPr>
              <a:t>.</a:t>
            </a:r>
            <a:r>
              <a:rPr sz="1900" i="0">
                <a:solidFill>
                  <a:srgbClr val="E8EDF2"/>
                </a:solidFill>
                <a:latin typeface="Consolas"/>
              </a:rPr>
              <a:t>sqrt</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old</a:t>
            </a:r>
            <a:r>
              <a:rPr sz="1900" i="0">
                <a:solidFill>
                  <a:srgbClr val="AEB6BF"/>
                </a:solidFill>
                <a:latin typeface="Consolas"/>
              </a:rPr>
              <a:t>.</a:t>
            </a:r>
            <a:r>
              <a:rPr sz="1900" i="0">
                <a:solidFill>
                  <a:srgbClr val="E8EDF2"/>
                </a:solidFill>
                <a:latin typeface="Consolas"/>
              </a:rPr>
              <a:t>std</a:t>
            </a:r>
            <a:r>
              <a:rPr sz="1900" i="0">
                <a:solidFill>
                  <a:srgbClr val="AEB6BF"/>
                </a:solidFill>
                <a:latin typeface="Consolas"/>
              </a:rPr>
              <a:t>(</a:t>
            </a:r>
            <a:r>
              <a:rPr sz="1900" i="0">
                <a:solidFill>
                  <a:srgbClr val="E8EDF2"/>
                </a:solidFill>
                <a:latin typeface="Consolas"/>
              </a:rPr>
              <a:t>ddof</a:t>
            </a:r>
            <a:r>
              <a:rPr sz="1900" i="0">
                <a:solidFill>
                  <a:srgbClr val="AEB6BF"/>
                </a:solidFill>
                <a:latin typeface="Consolas"/>
              </a:rPr>
              <a:t>=</a:t>
            </a:r>
            <a:r>
              <a:rPr sz="1900" i="0">
                <a:solidFill>
                  <a:srgbClr val="F7DC6F"/>
                </a:solidFill>
                <a:latin typeface="Consolas"/>
              </a:rPr>
              <a:t>1</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F7DC6F"/>
                </a:solidFill>
                <a:latin typeface="Consolas"/>
              </a:rPr>
              <a:t>2</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new</a:t>
            </a:r>
            <a:r>
              <a:rPr sz="1900" i="0">
                <a:solidFill>
                  <a:srgbClr val="AEB6BF"/>
                </a:solidFill>
                <a:latin typeface="Consolas"/>
              </a:rPr>
              <a:t>.</a:t>
            </a:r>
            <a:r>
              <a:rPr sz="1900" i="0">
                <a:solidFill>
                  <a:srgbClr val="E8EDF2"/>
                </a:solidFill>
                <a:latin typeface="Consolas"/>
              </a:rPr>
              <a:t>std</a:t>
            </a:r>
            <a:r>
              <a:rPr sz="1900" i="0">
                <a:solidFill>
                  <a:srgbClr val="AEB6BF"/>
                </a:solidFill>
                <a:latin typeface="Consolas"/>
              </a:rPr>
              <a:t>(</a:t>
            </a:r>
            <a:r>
              <a:rPr sz="1900" i="0">
                <a:solidFill>
                  <a:srgbClr val="E8EDF2"/>
                </a:solidFill>
                <a:latin typeface="Consolas"/>
              </a:rPr>
              <a:t>ddof</a:t>
            </a:r>
            <a:r>
              <a:rPr sz="1900" i="0">
                <a:solidFill>
                  <a:srgbClr val="AEB6BF"/>
                </a:solidFill>
                <a:latin typeface="Consolas"/>
              </a:rPr>
              <a:t>=</a:t>
            </a:r>
            <a:r>
              <a:rPr sz="1900" i="0">
                <a:solidFill>
                  <a:srgbClr val="F7DC6F"/>
                </a:solidFill>
                <a:latin typeface="Consolas"/>
              </a:rPr>
              <a:t>1</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F7DC6F"/>
                </a:solidFill>
                <a:latin typeface="Consolas"/>
              </a:rPr>
              <a:t>2</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2</a:t>
            </a:r>
            <a:r>
              <a:rPr sz="1900" i="0">
                <a:solidFill>
                  <a:srgbClr val="AEB6BF"/>
                </a:solidFill>
                <a:latin typeface="Consolas"/>
              </a:rPr>
              <a:t>)</a:t>
            </a:r>
          </a:p>
          <a:p>
            <a:pPr>
              <a:lnSpc>
                <a:spcPct val="100000"/>
              </a:lnSpc>
              <a:spcAft>
                <a:spcPts val="0"/>
              </a:spcAft>
            </a:pP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f</a:t>
            </a:r>
            <a:r>
              <a:rPr sz="1900" i="0">
                <a:solidFill>
                  <a:srgbClr val="7DCEA0"/>
                </a:solidFill>
                <a:latin typeface="Consolas"/>
              </a:rPr>
              <a:t>"</a:t>
            </a:r>
            <a:r>
              <a:rPr sz="1900" i="0">
                <a:solidFill>
                  <a:srgbClr val="7DCEA0"/>
                </a:solidFill>
                <a:latin typeface="Consolas"/>
              </a:rPr>
              <a:t>Cohen</a:t>
            </a:r>
            <a:r>
              <a:rPr sz="1900" i="0">
                <a:solidFill>
                  <a:srgbClr val="7DCEA0"/>
                </a:solidFill>
                <a:latin typeface="Consolas"/>
              </a:rPr>
              <a:t>'</a:t>
            </a:r>
            <a:r>
              <a:rPr sz="1900" i="0">
                <a:solidFill>
                  <a:srgbClr val="7DCEA0"/>
                </a:solidFill>
                <a:latin typeface="Consolas"/>
              </a:rPr>
              <a:t>s d = </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new</a:t>
            </a:r>
            <a:r>
              <a:rPr sz="1900" i="0">
                <a:solidFill>
                  <a:srgbClr val="AEB6BF"/>
                </a:solidFill>
                <a:latin typeface="Consolas"/>
              </a:rPr>
              <a:t>.</a:t>
            </a:r>
            <a:r>
              <a:rPr sz="1900" i="0">
                <a:solidFill>
                  <a:srgbClr val="E8EDF2"/>
                </a:solidFill>
                <a:latin typeface="Consolas"/>
              </a:rPr>
              <a:t>mean</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old</a:t>
            </a:r>
            <a:r>
              <a:rPr sz="1900" i="0">
                <a:solidFill>
                  <a:srgbClr val="AEB6BF"/>
                </a:solidFill>
                <a:latin typeface="Consolas"/>
              </a:rPr>
              <a:t>.</a:t>
            </a:r>
            <a:r>
              <a:rPr sz="1900" i="0">
                <a:solidFill>
                  <a:srgbClr val="E8EDF2"/>
                </a:solidFill>
                <a:latin typeface="Consolas"/>
              </a:rPr>
              <a:t>mean</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pooled</a:t>
            </a:r>
            <a:r>
              <a:rPr sz="1900" i="0">
                <a:solidFill>
                  <a:srgbClr val="7DCEA0"/>
                </a:solidFill>
                <a:latin typeface="Consolas"/>
              </a:rPr>
              <a:t>:</a:t>
            </a:r>
            <a:r>
              <a:rPr sz="1900" i="0">
                <a:solidFill>
                  <a:srgbClr val="7DCEA0"/>
                </a:solidFill>
                <a:latin typeface="Consolas"/>
              </a:rPr>
              <a:t>.3f</a:t>
            </a:r>
            <a:r>
              <a:rPr sz="1900" i="0">
                <a:solidFill>
                  <a:srgbClr val="7DCEA0"/>
                </a:solidFill>
                <a:latin typeface="Consolas"/>
              </a:rPr>
              <a:t>}</a:t>
            </a:r>
            <a:r>
              <a:rPr sz="1900" i="0">
                <a:solidFill>
                  <a:srgbClr val="7DCEA0"/>
                </a:solidFill>
                <a:latin typeface="Consolas"/>
              </a:rPr>
              <a:t>"</a:t>
            </a:r>
            <a:r>
              <a:rPr sz="1900" i="0">
                <a:solidFill>
                  <a:srgbClr val="AEB6BF"/>
                </a:solidFill>
                <a:latin typeface="Consolas"/>
              </a:rPr>
              <a:t>)</a:t>
            </a:r>
          </a:p>
        </p:txBody>
      </p:sp>
      <p:sp>
        <p:nvSpPr>
          <p:cNvPr id="15" name="!!code-num"/>
          <p:cNvSpPr txBox="1"/>
          <p:nvPr/>
        </p:nvSpPr>
        <p:spPr>
          <a:xfrm>
            <a:off x="768096" y="2523744"/>
            <a:ext cx="393192" cy="9784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13</a:t>
            </a:r>
          </a:p>
          <a:p>
            <a:pPr algn="r">
              <a:lnSpc>
                <a:spcPct val="100000"/>
              </a:lnSpc>
            </a:pPr>
            <a:r>
              <a:rPr sz="1900">
                <a:solidFill>
                  <a:srgbClr val="4F5D6A"/>
                </a:solidFill>
                <a:latin typeface="Consolas"/>
              </a:rPr>
              <a:t>14</a:t>
            </a:r>
          </a:p>
          <a:p>
            <a:pPr algn="r">
              <a:lnSpc>
                <a:spcPct val="100000"/>
              </a:lnSpc>
            </a:pPr>
            <a:r>
              <a:rPr sz="1900">
                <a:solidFill>
                  <a:srgbClr val="4F5D6A"/>
                </a:solidFill>
                <a:latin typeface="Consolas"/>
              </a:rPr>
              <a:t>15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02185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Interval, Test and Effect Size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58     </a:t>
            </a:r>
            <a:fld id="{CA8DF70C-538B-42B2-A2A3-01719F23BF45}" type="slidenum">
              <a:rPr lang="en-GB" sz="1000">
                <a:solidFill>
                  <a:srgbClr val="8795A1"/>
                </a:solidFill>
                <a:latin typeface="Segoe UI"/>
              </a:rPr>
              <a:t>38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multiple-comparisons demonstration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822703"/>
          </a:xfrm>
          <a:prstGeom prst="roundRect">
            <a:avLst>
              <a:gd name="adj" fmla="val 501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the multiple-comparisons demonstration --------------------------- rng = np.random.default_rng(0) hits = sum(stats.ttest_ind(rng.normal(size=50), rng.normal(size=50)).pvalue &lt; 0.05 for _ in range(20)) print(f&quot;'significant' results from 20 tests on pure noise: {hits}&quot;)"/>
          <p:cNvSpPr txBox="1"/>
          <p:nvPr/>
        </p:nvSpPr>
        <p:spPr>
          <a:xfrm>
            <a:off x="1362456" y="2523744"/>
            <a:ext cx="9987991" cy="1328928"/>
          </a:xfrm>
          <a:prstGeom prst="rect">
            <a:avLst/>
          </a:prstGeom>
          <a:noFill/>
        </p:spPr>
        <p:txBody>
          <a:bodyPr wrap="none" anchor="t" lIns="0" rIns="0" tIns="0" bIns="0">
            <a:noAutofit/>
          </a:bodyPr>
          <a:lstStyle/>
          <a:p>
            <a:pPr>
              <a:lnSpc>
                <a:spcPct val="100000"/>
              </a:lnSpc>
              <a:spcAft>
                <a:spcPts val="0"/>
              </a:spcAft>
            </a:pPr>
            <a:r>
              <a:rPr sz="1600" i="1">
                <a:solidFill>
                  <a:srgbClr val="8795A1"/>
                </a:solidFill>
                <a:latin typeface="Consolas"/>
              </a:rPr>
              <a:t># --- the multiple-comparisons demonstration ---------------------------</a:t>
            </a:r>
          </a:p>
          <a:p>
            <a:pPr>
              <a:lnSpc>
                <a:spcPct val="100000"/>
              </a:lnSpc>
              <a:spcAft>
                <a:spcPts val="0"/>
              </a:spcAft>
            </a:pPr>
            <a:r>
              <a:rPr sz="1600" i="0">
                <a:solidFill>
                  <a:srgbClr val="E8EDF2"/>
                </a:solidFill>
                <a:latin typeface="Consolas"/>
              </a:rPr>
              <a:t>rng</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np</a:t>
            </a:r>
            <a:r>
              <a:rPr sz="1600" i="0">
                <a:solidFill>
                  <a:srgbClr val="AEB6BF"/>
                </a:solidFill>
                <a:latin typeface="Consolas"/>
              </a:rPr>
              <a:t>.</a:t>
            </a:r>
            <a:r>
              <a:rPr sz="1600" i="0">
                <a:solidFill>
                  <a:srgbClr val="E8EDF2"/>
                </a:solidFill>
                <a:latin typeface="Consolas"/>
              </a:rPr>
              <a:t>random</a:t>
            </a:r>
            <a:r>
              <a:rPr sz="1600" i="0">
                <a:solidFill>
                  <a:srgbClr val="AEB6BF"/>
                </a:solidFill>
                <a:latin typeface="Consolas"/>
              </a:rPr>
              <a:t>.</a:t>
            </a:r>
            <a:r>
              <a:rPr sz="1600" i="0">
                <a:solidFill>
                  <a:srgbClr val="E8EDF2"/>
                </a:solidFill>
                <a:latin typeface="Consolas"/>
              </a:rPr>
              <a:t>default_rng</a:t>
            </a:r>
            <a:r>
              <a:rPr sz="1600" i="0">
                <a:solidFill>
                  <a:srgbClr val="AEB6BF"/>
                </a:solidFill>
                <a:latin typeface="Consolas"/>
              </a:rPr>
              <a:t>(</a:t>
            </a:r>
            <a:r>
              <a:rPr sz="1600" i="0">
                <a:solidFill>
                  <a:srgbClr val="F7DC6F"/>
                </a:solidFill>
                <a:latin typeface="Consolas"/>
              </a:rPr>
              <a:t>0</a:t>
            </a:r>
            <a:r>
              <a:rPr sz="1600" i="0">
                <a:solidFill>
                  <a:srgbClr val="AEB6BF"/>
                </a:solidFill>
                <a:latin typeface="Consolas"/>
              </a:rPr>
              <a:t>)</a:t>
            </a:r>
          </a:p>
          <a:p>
            <a:pPr>
              <a:lnSpc>
                <a:spcPct val="100000"/>
              </a:lnSpc>
              <a:spcAft>
                <a:spcPts val="0"/>
              </a:spcAft>
            </a:pPr>
            <a:r>
              <a:rPr sz="1600" i="0">
                <a:solidFill>
                  <a:srgbClr val="E8EDF2"/>
                </a:solidFill>
                <a:latin typeface="Consolas"/>
              </a:rPr>
              <a:t>hits</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C39BD3"/>
                </a:solidFill>
                <a:latin typeface="Consolas"/>
              </a:rPr>
              <a:t>sum</a:t>
            </a:r>
            <a:r>
              <a:rPr sz="1600" i="0">
                <a:solidFill>
                  <a:srgbClr val="AEB6BF"/>
                </a:solidFill>
                <a:latin typeface="Consolas"/>
              </a:rPr>
              <a:t>(</a:t>
            </a:r>
            <a:r>
              <a:rPr sz="1600" i="0">
                <a:solidFill>
                  <a:srgbClr val="E8EDF2"/>
                </a:solidFill>
                <a:latin typeface="Consolas"/>
              </a:rPr>
              <a:t>stats</a:t>
            </a:r>
            <a:r>
              <a:rPr sz="1600" i="0">
                <a:solidFill>
                  <a:srgbClr val="AEB6BF"/>
                </a:solidFill>
                <a:latin typeface="Consolas"/>
              </a:rPr>
              <a:t>.</a:t>
            </a:r>
            <a:r>
              <a:rPr sz="1600" i="0">
                <a:solidFill>
                  <a:srgbClr val="E8EDF2"/>
                </a:solidFill>
                <a:latin typeface="Consolas"/>
              </a:rPr>
              <a:t>ttest_ind</a:t>
            </a:r>
            <a:r>
              <a:rPr sz="1600" i="0">
                <a:solidFill>
                  <a:srgbClr val="AEB6BF"/>
                </a:solidFill>
                <a:latin typeface="Consolas"/>
              </a:rPr>
              <a:t>(</a:t>
            </a:r>
            <a:r>
              <a:rPr sz="1600" i="0">
                <a:solidFill>
                  <a:srgbClr val="E8EDF2"/>
                </a:solidFill>
                <a:latin typeface="Consolas"/>
              </a:rPr>
              <a:t>rng</a:t>
            </a:r>
            <a:r>
              <a:rPr sz="1600" i="0">
                <a:solidFill>
                  <a:srgbClr val="AEB6BF"/>
                </a:solidFill>
                <a:latin typeface="Consolas"/>
              </a:rPr>
              <a:t>.</a:t>
            </a:r>
            <a:r>
              <a:rPr sz="1600" i="0">
                <a:solidFill>
                  <a:srgbClr val="E8EDF2"/>
                </a:solidFill>
                <a:latin typeface="Consolas"/>
              </a:rPr>
              <a:t>normal</a:t>
            </a:r>
            <a:r>
              <a:rPr sz="1600" i="0">
                <a:solidFill>
                  <a:srgbClr val="AEB6BF"/>
                </a:solidFill>
                <a:latin typeface="Consolas"/>
              </a:rPr>
              <a:t>(</a:t>
            </a:r>
            <a:r>
              <a:rPr sz="1600" i="0">
                <a:solidFill>
                  <a:srgbClr val="E8EDF2"/>
                </a:solidFill>
                <a:latin typeface="Consolas"/>
              </a:rPr>
              <a:t>size</a:t>
            </a:r>
            <a:r>
              <a:rPr sz="1600" i="0">
                <a:solidFill>
                  <a:srgbClr val="AEB6BF"/>
                </a:solidFill>
                <a:latin typeface="Consolas"/>
              </a:rPr>
              <a:t>=</a:t>
            </a:r>
            <a:r>
              <a:rPr sz="1600" i="0">
                <a:solidFill>
                  <a:srgbClr val="F7DC6F"/>
                </a:solidFill>
                <a:latin typeface="Consolas"/>
              </a:rPr>
              <a:t>50</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rng</a:t>
            </a:r>
            <a:r>
              <a:rPr sz="1600" i="0">
                <a:solidFill>
                  <a:srgbClr val="AEB6BF"/>
                </a:solidFill>
                <a:latin typeface="Consolas"/>
              </a:rPr>
              <a:t>.</a:t>
            </a:r>
            <a:r>
              <a:rPr sz="1600" i="0">
                <a:solidFill>
                  <a:srgbClr val="E8EDF2"/>
                </a:solidFill>
                <a:latin typeface="Consolas"/>
              </a:rPr>
              <a:t>normal</a:t>
            </a:r>
            <a:r>
              <a:rPr sz="1600" i="0">
                <a:solidFill>
                  <a:srgbClr val="AEB6BF"/>
                </a:solidFill>
                <a:latin typeface="Consolas"/>
              </a:rPr>
              <a:t>(</a:t>
            </a:r>
            <a:r>
              <a:rPr sz="1600" i="0">
                <a:solidFill>
                  <a:srgbClr val="E8EDF2"/>
                </a:solidFill>
                <a:latin typeface="Consolas"/>
              </a:rPr>
              <a:t>size</a:t>
            </a:r>
            <a:r>
              <a:rPr sz="1600" i="0">
                <a:solidFill>
                  <a:srgbClr val="AEB6BF"/>
                </a:solidFill>
                <a:latin typeface="Consolas"/>
              </a:rPr>
              <a:t>=</a:t>
            </a:r>
            <a:r>
              <a:rPr sz="1600" i="0">
                <a:solidFill>
                  <a:srgbClr val="F7DC6F"/>
                </a:solidFill>
                <a:latin typeface="Consolas"/>
              </a:rPr>
              <a:t>50</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pvalue</a:t>
            </a:r>
            <a:r>
              <a:rPr sz="1600" i="0">
                <a:solidFill>
                  <a:srgbClr val="E8EDF2"/>
                </a:solidFill>
                <a:latin typeface="Consolas"/>
              </a:rPr>
              <a:t> </a:t>
            </a:r>
            <a:r>
              <a:rPr sz="1600" i="0">
                <a:solidFill>
                  <a:srgbClr val="AEB6BF"/>
                </a:solidFill>
                <a:latin typeface="Consolas"/>
              </a:rPr>
              <a:t>&lt;</a:t>
            </a:r>
            <a:r>
              <a:rPr sz="1600" i="0">
                <a:solidFill>
                  <a:srgbClr val="E8EDF2"/>
                </a:solidFill>
                <a:latin typeface="Consolas"/>
              </a:rPr>
              <a:t> </a:t>
            </a:r>
            <a:r>
              <a:rPr sz="1600" i="0">
                <a:solidFill>
                  <a:srgbClr val="F7DC6F"/>
                </a:solidFill>
                <a:latin typeface="Consolas"/>
              </a:rPr>
              <a:t>0.05</a:t>
            </a:r>
          </a:p>
          <a:p>
            <a:pPr>
              <a:lnSpc>
                <a:spcPct val="100000"/>
              </a:lnSpc>
              <a:spcAft>
                <a:spcPts val="0"/>
              </a:spcAft>
            </a:pPr>
            <a:r>
              <a:rPr sz="1600" i="0">
                <a:solidFill>
                  <a:srgbClr val="E8EDF2"/>
                </a:solidFill>
                <a:latin typeface="Consolas"/>
              </a:rPr>
              <a:t>           </a:t>
            </a:r>
            <a:r>
              <a:rPr sz="1600" i="0">
                <a:solidFill>
                  <a:srgbClr val="5DADE2"/>
                </a:solidFill>
                <a:latin typeface="Consolas"/>
              </a:rPr>
              <a:t>for</a:t>
            </a:r>
            <a:r>
              <a:rPr sz="1600" i="0">
                <a:solidFill>
                  <a:srgbClr val="E8EDF2"/>
                </a:solidFill>
                <a:latin typeface="Consolas"/>
              </a:rPr>
              <a:t> </a:t>
            </a:r>
            <a:r>
              <a:rPr sz="1600" i="0">
                <a:solidFill>
                  <a:srgbClr val="E8EDF2"/>
                </a:solidFill>
                <a:latin typeface="Consolas"/>
              </a:rPr>
              <a:t>_</a:t>
            </a:r>
            <a:r>
              <a:rPr sz="1600" i="0">
                <a:solidFill>
                  <a:srgbClr val="E8EDF2"/>
                </a:solidFill>
                <a:latin typeface="Consolas"/>
              </a:rPr>
              <a:t> </a:t>
            </a:r>
            <a:r>
              <a:rPr sz="1600" i="0">
                <a:solidFill>
                  <a:srgbClr val="AEB6BF"/>
                </a:solidFill>
                <a:latin typeface="Consolas"/>
              </a:rPr>
              <a:t>in</a:t>
            </a:r>
            <a:r>
              <a:rPr sz="1600" i="0">
                <a:solidFill>
                  <a:srgbClr val="E8EDF2"/>
                </a:solidFill>
                <a:latin typeface="Consolas"/>
              </a:rPr>
              <a:t> </a:t>
            </a:r>
            <a:r>
              <a:rPr sz="1600" i="0">
                <a:solidFill>
                  <a:srgbClr val="C39BD3"/>
                </a:solidFill>
                <a:latin typeface="Consolas"/>
              </a:rPr>
              <a:t>range</a:t>
            </a:r>
            <a:r>
              <a:rPr sz="1600" i="0">
                <a:solidFill>
                  <a:srgbClr val="AEB6BF"/>
                </a:solidFill>
                <a:latin typeface="Consolas"/>
              </a:rPr>
              <a:t>(</a:t>
            </a:r>
            <a:r>
              <a:rPr sz="1600" i="0">
                <a:solidFill>
                  <a:srgbClr val="F7DC6F"/>
                </a:solidFill>
                <a:latin typeface="Consolas"/>
              </a:rPr>
              <a:t>20</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C39BD3"/>
                </a:solidFill>
                <a:latin typeface="Consolas"/>
              </a:rPr>
              <a:t>print</a:t>
            </a:r>
            <a:r>
              <a:rPr sz="1600" i="0">
                <a:solidFill>
                  <a:srgbClr val="AEB6BF"/>
                </a:solidFill>
                <a:latin typeface="Consolas"/>
              </a:rPr>
              <a:t>(</a:t>
            </a:r>
            <a:r>
              <a:rPr sz="1600" i="0">
                <a:solidFill>
                  <a:srgbClr val="7DCEA0"/>
                </a:solidFill>
                <a:latin typeface="Consolas"/>
              </a:rPr>
              <a:t>f</a:t>
            </a:r>
            <a:r>
              <a:rPr sz="1600" i="0">
                <a:solidFill>
                  <a:srgbClr val="7DCEA0"/>
                </a:solidFill>
                <a:latin typeface="Consolas"/>
              </a:rPr>
              <a:t>"</a:t>
            </a:r>
            <a:r>
              <a:rPr sz="1600" i="0">
                <a:solidFill>
                  <a:srgbClr val="7DCEA0"/>
                </a:solidFill>
                <a:latin typeface="Consolas"/>
              </a:rPr>
              <a:t>'</a:t>
            </a:r>
            <a:r>
              <a:rPr sz="1600" i="0">
                <a:solidFill>
                  <a:srgbClr val="7DCEA0"/>
                </a:solidFill>
                <a:latin typeface="Consolas"/>
              </a:rPr>
              <a:t>significant</a:t>
            </a:r>
            <a:r>
              <a:rPr sz="1600" i="0">
                <a:solidFill>
                  <a:srgbClr val="7DCEA0"/>
                </a:solidFill>
                <a:latin typeface="Consolas"/>
              </a:rPr>
              <a:t>'</a:t>
            </a:r>
            <a:r>
              <a:rPr sz="1600" i="0">
                <a:solidFill>
                  <a:srgbClr val="7DCEA0"/>
                </a:solidFill>
                <a:latin typeface="Consolas"/>
              </a:rPr>
              <a:t> results from 20 tests on pure noise: </a:t>
            </a:r>
            <a:r>
              <a:rPr sz="1600" i="0">
                <a:solidFill>
                  <a:srgbClr val="7DCEA0"/>
                </a:solidFill>
                <a:latin typeface="Consolas"/>
              </a:rPr>
              <a:t>{</a:t>
            </a:r>
            <a:r>
              <a:rPr sz="1600" i="0">
                <a:solidFill>
                  <a:srgbClr val="E8EDF2"/>
                </a:solidFill>
                <a:latin typeface="Consolas"/>
              </a:rPr>
              <a:t>hits</a:t>
            </a:r>
            <a:r>
              <a:rPr sz="1600" i="0">
                <a:solidFill>
                  <a:srgbClr val="7DCEA0"/>
                </a:solidFill>
                <a:latin typeface="Consolas"/>
              </a:rPr>
              <a:t>}</a:t>
            </a:r>
            <a:r>
              <a:rPr sz="1600" i="0">
                <a:solidFill>
                  <a:srgbClr val="7DCEA0"/>
                </a:solidFill>
                <a:latin typeface="Consolas"/>
              </a:rPr>
              <a:t>"</a:t>
            </a:r>
            <a:r>
              <a:rPr sz="1600" i="0">
                <a:solidFill>
                  <a:srgbClr val="AEB6BF"/>
                </a:solidFill>
                <a:latin typeface="Consolas"/>
              </a:rPr>
              <a:t>)</a:t>
            </a:r>
          </a:p>
        </p:txBody>
      </p:sp>
      <p:sp>
        <p:nvSpPr>
          <p:cNvPr id="15" name="!!code-num"/>
          <p:cNvSpPr txBox="1"/>
          <p:nvPr/>
        </p:nvSpPr>
        <p:spPr>
          <a:xfrm>
            <a:off x="768096" y="2523744"/>
            <a:ext cx="393192" cy="1328928"/>
          </a:xfrm>
          <a:prstGeom prst="rect">
            <a:avLst/>
          </a:prstGeom>
          <a:noFill/>
        </p:spPr>
        <p:txBody>
          <a:bodyPr wrap="none" anchor="t" lIns="0" rIns="0" tIns="0" bIns="0">
            <a:noAutofit/>
          </a:bodyPr>
          <a:lstStyle/>
          <a:p>
            <a:pPr algn="r">
              <a:lnSpc>
                <a:spcPct val="100000"/>
              </a:lnSpc>
            </a:pPr>
            <a:r>
              <a:rPr sz="1600">
                <a:solidFill>
                  <a:srgbClr val="4F5D6A"/>
                </a:solidFill>
                <a:latin typeface="Consolas"/>
              </a:rPr>
              <a:t>16</a:t>
            </a:r>
          </a:p>
          <a:p>
            <a:pPr algn="r">
              <a:lnSpc>
                <a:spcPct val="100000"/>
              </a:lnSpc>
            </a:pPr>
            <a:r>
              <a:rPr sz="1600">
                <a:solidFill>
                  <a:srgbClr val="4F5D6A"/>
                </a:solidFill>
                <a:latin typeface="Consolas"/>
              </a:rPr>
              <a:t>17</a:t>
            </a:r>
          </a:p>
          <a:p>
            <a:pPr algn="r">
              <a:lnSpc>
                <a:spcPct val="100000"/>
              </a:lnSpc>
            </a:pPr>
            <a:r>
              <a:rPr sz="1600">
                <a:solidFill>
                  <a:srgbClr val="4F5D6A"/>
                </a:solidFill>
                <a:latin typeface="Consolas"/>
              </a:rPr>
              <a:t>18</a:t>
            </a:r>
          </a:p>
          <a:p>
            <a:pPr algn="r">
              <a:lnSpc>
                <a:spcPct val="100000"/>
              </a:lnSpc>
            </a:pPr>
            <a:r>
              <a:rPr sz="1600">
                <a:solidFill>
                  <a:srgbClr val="4F5D6A"/>
                </a:solidFill>
                <a:latin typeface="Consolas"/>
              </a:rPr>
              <a:t>19</a:t>
            </a:r>
          </a:p>
          <a:p>
            <a:pPr algn="r">
              <a:lnSpc>
                <a:spcPct val="100000"/>
              </a:lnSpc>
            </a:pPr>
            <a:r>
              <a:rPr sz="1600">
                <a:solidFill>
                  <a:srgbClr val="4F5D6A"/>
                </a:solidFill>
                <a:latin typeface="Consolas"/>
              </a:rPr>
              <a:t>20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26568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§9.5  ·  Handout p. 58     </a:t>
            </a:r>
            <a:fld id="{2592F6AC-A9EB-4003-A950-5DC863D91035}" type="slidenum">
              <a:rPr lang="en-GB" sz="1000">
                <a:solidFill>
                  <a:srgbClr val="8795A1"/>
                </a:solidFill>
                <a:latin typeface="Segoe UI"/>
              </a:rPr>
              <a:t>39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Run the last block a few times.</a:t>
            </a:r>
            <a:r>
              <a:rPr sz="2300" b="0" i="0">
                <a:solidFill>
                  <a:srgbClr val="1C252B"/>
                </a:solidFill>
                <a:latin typeface="Segoe UI"/>
              </a:rPr>
              <a:t> It is drawing from identical distributions every time, so every “significant” result is false. Seeing this happen is more convincing than being told it happens.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50952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95% CI for mean response time is </a:t>
            </a:r>
            <a:r>
              <a:rPr sz="3400" b="0" i="0">
                <a:solidFill>
                  <a:srgbClr val="FFFFFF"/>
                </a:solidFill>
                <a:latin typeface="Cambria"/>
              </a:rPr>
              <a:t>[210, 260]</a:t>
            </a:r>
            <a:r>
              <a:rPr sz="3400" b="0" i="0">
                <a:solidFill>
                  <a:srgbClr val="FFFFFF"/>
                </a:solidFill>
                <a:latin typeface="Segoe UI Semibold"/>
              </a:rPr>
              <a:t> ms. Is the statement “there is a 95% chance the true mean is between 210 and 260” correct? If not, state the correct interpretation.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9  ·  Inferential Statistics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61  ·  answers in Appendix D     </a:t>
            </a:r>
            <a:fld id="{1C2F6DE5-EAB8-44F9-95F3-B1C61D89F40E}" type="slidenum">
              <a:rPr lang="en-GB" sz="1000">
                <a:solidFill>
                  <a:srgbClr val="D5DEE5"/>
                </a:solidFill>
                <a:latin typeface="Segoe UI"/>
              </a:rPr>
              <a:t>40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95% CI for mean response time is </a:t>
            </a:r>
            <a:r>
              <a:rPr sz="2400" b="0" i="0">
                <a:solidFill>
                  <a:srgbClr val="1A5276"/>
                </a:solidFill>
                <a:latin typeface="Cambria"/>
              </a:rPr>
              <a:t>[210, 260]</a:t>
            </a:r>
            <a:r>
              <a:rPr sz="2400" b="0" i="0">
                <a:solidFill>
                  <a:srgbClr val="1A5276"/>
                </a:solidFill>
                <a:latin typeface="Segoe UI Semibold"/>
              </a:rPr>
              <a:t> ms. Is the statement “there is a 95% chance the true mean is between 210 and 260” correct? If not, state the correct interpretation.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Not correct. The true mean is a fixed number, not a random one. The correct statement: if the sampling procedure were repeated many times, about 95% of the intervals so constructed would contain the true mean.</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61  ·  answers in Appendix D     </a:t>
            </a:r>
            <a:fld id="{194D7D27-7187-4C6F-BC0D-140C09144817}" type="slidenum">
              <a:rPr lang="en-GB" sz="1000">
                <a:solidFill>
                  <a:srgbClr val="8795A1"/>
                </a:solidFill>
                <a:latin typeface="Segoe UI"/>
              </a:rPr>
              <a:t>41</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99719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study reports </a:t>
            </a:r>
            <a:r>
              <a:rPr sz="3400" b="0" i="1">
                <a:solidFill>
                  <a:srgbClr val="FFFFFF"/>
                </a:solidFill>
                <a:latin typeface="Cambria"/>
              </a:rPr>
              <a:t>p</a:t>
            </a:r>
            <a:r>
              <a:rPr sz="3400" b="0" i="0">
                <a:solidFill>
                  <a:srgbClr val="FFFFFF"/>
                </a:solidFill>
                <a:latin typeface="Cambria"/>
              </a:rPr>
              <a:t> = 0.001</a:t>
            </a:r>
            <a:r>
              <a:rPr sz="3400" b="0" i="0">
                <a:solidFill>
                  <a:srgbClr val="FFFFFF"/>
                </a:solidFill>
                <a:latin typeface="Segoe UI Semibold"/>
              </a:rPr>
              <a:t> with </a:t>
            </a:r>
            <a:r>
              <a:rPr sz="3400" b="0" i="1">
                <a:solidFill>
                  <a:srgbClr val="FFFFFF"/>
                </a:solidFill>
                <a:latin typeface="Cambria"/>
              </a:rPr>
              <a:t>n</a:t>
            </a:r>
            <a:r>
              <a:rPr sz="3400" b="0" i="0">
                <a:solidFill>
                  <a:srgbClr val="FFFFFF"/>
                </a:solidFill>
                <a:latin typeface="Cambria"/>
              </a:rPr>
              <a:t> = 500,000</a:t>
            </a:r>
            <a:r>
              <a:rPr sz="3400" b="0" i="0">
                <a:solidFill>
                  <a:srgbClr val="FFFFFF"/>
                </a:solidFill>
                <a:latin typeface="Segoe UI Semibold"/>
              </a:rPr>
              <a:t> and a difference of 0.03%. Should the organisation act on it?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9  ·  Inferential Statistics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61  ·  answers in Appendix D     </a:t>
            </a:r>
            <a:fld id="{BBC93F48-A496-4356-8309-306B5C8CEC5F}" type="slidenum">
              <a:rPr lang="en-GB" sz="1000">
                <a:solidFill>
                  <a:srgbClr val="D5DEE5"/>
                </a:solidFill>
                <a:latin typeface="Segoe UI"/>
              </a:rPr>
              <a:t>42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study reports </a:t>
            </a:r>
            <a:r>
              <a:rPr sz="2400" b="0" i="1">
                <a:solidFill>
                  <a:srgbClr val="1A5276"/>
                </a:solidFill>
                <a:latin typeface="Cambria"/>
              </a:rPr>
              <a:t>p</a:t>
            </a:r>
            <a:r>
              <a:rPr sz="2400" b="0" i="0">
                <a:solidFill>
                  <a:srgbClr val="1A5276"/>
                </a:solidFill>
                <a:latin typeface="Cambria"/>
              </a:rPr>
              <a:t> = 0.001</a:t>
            </a:r>
            <a:r>
              <a:rPr sz="2400" b="0" i="0">
                <a:solidFill>
                  <a:srgbClr val="1A5276"/>
                </a:solidFill>
                <a:latin typeface="Segoe UI Semibold"/>
              </a:rPr>
              <a:t> with </a:t>
            </a:r>
            <a:r>
              <a:rPr sz="2400" b="0" i="1">
                <a:solidFill>
                  <a:srgbClr val="1A5276"/>
                </a:solidFill>
                <a:latin typeface="Cambria"/>
              </a:rPr>
              <a:t>n</a:t>
            </a:r>
            <a:r>
              <a:rPr sz="2400" b="0" i="0">
                <a:solidFill>
                  <a:srgbClr val="1A5276"/>
                </a:solidFill>
                <a:latin typeface="Cambria"/>
              </a:rPr>
              <a:t> = 500,000</a:t>
            </a:r>
            <a:r>
              <a:rPr sz="2400" b="0" i="0">
                <a:solidFill>
                  <a:srgbClr val="1A5276"/>
                </a:solidFill>
                <a:latin typeface="Segoe UI Semibold"/>
              </a:rPr>
              <a:t> and a difference of 0.03%. Should the organisation act on it?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No. With </a:t>
            </a:r>
            <a:r>
              <a:rPr sz="2200" b="0" i="1">
                <a:solidFill>
                  <a:srgbClr val="1C252B"/>
                </a:solidFill>
                <a:latin typeface="Cambria"/>
              </a:rPr>
              <a:t>n</a:t>
            </a:r>
            <a:r>
              <a:rPr sz="2200" b="0" i="0">
                <a:solidFill>
                  <a:srgbClr val="1C252B"/>
                </a:solidFill>
                <a:latin typeface="Cambria"/>
              </a:rPr>
              <a:t>=500,000</a:t>
            </a:r>
            <a:r>
              <a:rPr sz="2200" b="0" i="0">
                <a:solidFill>
                  <a:srgbClr val="1C252B"/>
                </a:solidFill>
                <a:latin typeface="Segoe UI"/>
              </a:rPr>
              <a:t> almost any difference is statistically significant. A 0.03% effect is almost certainly not worth acting on. Significance answers “is it detectable?”; effect size answers “is it worth anything?”</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61  ·  answers in Appendix D     </a:t>
            </a:r>
            <a:fld id="{A620825A-430C-43D3-B149-5771DCEF388A}" type="slidenum">
              <a:rPr lang="en-GB" sz="1000">
                <a:solidFill>
                  <a:srgbClr val="8795A1"/>
                </a:solidFill>
                <a:latin typeface="Segoe UI"/>
              </a:rPr>
              <a:t>43</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48485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You test 15 features for association with an outcome at </a:t>
            </a:r>
            <a:r>
              <a:rPr sz="3400" b="0" i="0">
                <a:solidFill>
                  <a:srgbClr val="FFFFFF"/>
                </a:solidFill>
                <a:latin typeface="Cambria"/>
              </a:rPr>
              <a:t>α = 0.05</a:t>
            </a:r>
            <a:r>
              <a:rPr sz="3400" b="0" i="0">
                <a:solidFill>
                  <a:srgbClr val="FFFFFF"/>
                </a:solidFill>
                <a:latin typeface="Segoe UI Semibold"/>
              </a:rPr>
              <a:t>. Roughly what is the chance of at least one false positive if none are genuinely associated?</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9  ·  Inferential Statistics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61  ·  answers in Appendix D     </a:t>
            </a:r>
            <a:fld id="{D0925373-F22D-4F1D-9130-4E5FDF1B2F78}" type="slidenum">
              <a:rPr lang="en-GB" sz="1000">
                <a:solidFill>
                  <a:srgbClr val="D5DEE5"/>
                </a:solidFill>
                <a:latin typeface="Segoe UI"/>
              </a:rPr>
              <a:t>44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You test 15 features for association with an outcome at </a:t>
            </a:r>
            <a:r>
              <a:rPr sz="2400" b="0" i="0">
                <a:solidFill>
                  <a:srgbClr val="1A5276"/>
                </a:solidFill>
                <a:latin typeface="Cambria"/>
              </a:rPr>
              <a:t>α = 0.05</a:t>
            </a:r>
            <a:r>
              <a:rPr sz="2400" b="0" i="0">
                <a:solidFill>
                  <a:srgbClr val="1A5276"/>
                </a:solidFill>
                <a:latin typeface="Segoe UI Semibold"/>
              </a:rPr>
              <a:t>. Roughly what is the chance of at least one false positive if none are genuinely associated?</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Cambria"/>
              </a:rPr>
              <a:t>1 − 0.95</a:t>
            </a:r>
            <a:r>
              <a:rPr sz="2200" b="0" i="0" baseline="30000">
                <a:solidFill>
                  <a:srgbClr val="1C252B"/>
                </a:solidFill>
                <a:latin typeface="Cambria"/>
              </a:rPr>
              <a:t>15</a:t>
            </a:r>
            <a:r>
              <a:rPr sz="2200" b="0" i="0">
                <a:solidFill>
                  <a:srgbClr val="1C252B"/>
                </a:solidFill>
                <a:latin typeface="Cambria"/>
              </a:rPr>
              <a:t> ≈ 54%</a:t>
            </a:r>
            <a:r>
              <a:rPr sz="2200" b="0" i="0">
                <a:solidFill>
                  <a:srgbClr val="1C252B"/>
                </a:solidFill>
                <a:latin typeface="Segoe UI"/>
              </a:rPr>
              <a:t>. More than half the time you would find at least one “significant” result even if nothing were associated.</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61  ·  answers in Appendix D     </a:t>
            </a:r>
            <a:fld id="{E5F83127-BEB8-4777-BA0D-AD5C252C1856}" type="slidenum">
              <a:rPr lang="en-GB" sz="1000">
                <a:solidFill>
                  <a:srgbClr val="8795A1"/>
                </a:solidFill>
                <a:latin typeface="Segoe UI"/>
              </a:rPr>
              <a:t>45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97252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61     </a:t>
            </a:r>
            <a:fld id="{0D30F334-A7EC-4AAC-B5CC-4090FF2E1A8F}" type="slidenum">
              <a:rPr lang="en-GB" sz="1000">
                <a:solidFill>
                  <a:srgbClr val="8795A1"/>
                </a:solidFill>
                <a:latin typeface="Segoe UI"/>
              </a:rPr>
              <a:t>46</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Inference generalises from sample to population; a biased sample cannot be rescued by size.</a:t>
            </a:r>
          </a:p>
        </p:txBody>
      </p:sp>
      <p:sp>
        <p:nvSpPr>
          <p:cNvPr id="10" name="!!sb1">
            <a:extLst>
              <a:ext uri="{C183D7F6-B498-43B3-948B-1728B52AA6E4}">
                <adec:decorative xmlns:adec="http://schemas.microsoft.com/office/drawing/2017/decorative" val="1"/>
              </a:ext>
            </a:extLst>
          </p:cNvPr>
          <p:cNvSpPr/>
          <p:nvPr/>
        </p:nvSpPr>
        <p:spPr>
          <a:xfrm>
            <a:off x="658368" y="25633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182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54223"/>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confidence interval describes the reliability of the </a:t>
            </a:r>
            <a:r>
              <a:rPr sz="2000" b="0" i="1">
                <a:solidFill>
                  <a:srgbClr val="1C252B"/>
                </a:solidFill>
                <a:latin typeface="Segoe UI"/>
              </a:rPr>
              <a:t>procedure</a:t>
            </a:r>
            <a:r>
              <a:rPr sz="2000" b="0" i="0">
                <a:solidFill>
                  <a:srgbClr val="1C252B"/>
                </a:solidFill>
                <a:latin typeface="Segoe UI"/>
              </a:rPr>
              <a:t>, not the probability of this particular interval.</a:t>
            </a:r>
          </a:p>
        </p:txBody>
      </p:sp>
      <p:sp>
        <p:nvSpPr>
          <p:cNvPr id="13" name="!!sb2">
            <a:extLst>
              <a:ext uri="{C183D7F6-B498-43B3-948B-1728B52AA6E4}">
                <adec:decorative xmlns:adec="http://schemas.microsoft.com/office/drawing/2017/decorative" val="1"/>
              </a:ext>
            </a:extLst>
          </p:cNvPr>
          <p:cNvSpPr/>
          <p:nvPr/>
        </p:nvSpPr>
        <p:spPr>
          <a:xfrm>
            <a:off x="658368" y="338023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435095"/>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371088"/>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Precision improves only as </a:t>
            </a:r>
            <a:r>
              <a:rPr sz="2000" b="0" i="0">
                <a:solidFill>
                  <a:srgbClr val="1C252B"/>
                </a:solidFill>
                <a:latin typeface="Cambria"/>
              </a:rPr>
              <a:t>√</a:t>
            </a:r>
            <a:r>
              <a:rPr sz="2000" b="0" i="1">
                <a:solidFill>
                  <a:srgbClr val="1C252B"/>
                </a:solidFill>
                <a:latin typeface="Cambria"/>
              </a:rPr>
              <a:t>n</a:t>
            </a:r>
            <a:r>
              <a:rPr sz="2000" b="0" i="0">
                <a:solidFill>
                  <a:srgbClr val="1C252B"/>
                </a:solidFill>
                <a:latin typeface="Segoe UI"/>
              </a:rPr>
              <a:t> — quadruple the data to halve the error.</a:t>
            </a:r>
          </a:p>
        </p:txBody>
      </p:sp>
      <p:sp>
        <p:nvSpPr>
          <p:cNvPr id="16" name="!!sb3">
            <a:extLst>
              <a:ext uri="{C183D7F6-B498-43B3-948B-1728B52AA6E4}">
                <adec:decorative xmlns:adec="http://schemas.microsoft.com/office/drawing/2017/decorative" val="1"/>
              </a:ext>
            </a:extLst>
          </p:cNvPr>
          <p:cNvSpPr/>
          <p:nvPr/>
        </p:nvSpPr>
        <p:spPr>
          <a:xfrm>
            <a:off x="658368" y="396544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02031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56303"/>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a:t>
            </a:r>
            <a:r>
              <a:rPr sz="2000" b="0" i="1">
                <a:solidFill>
                  <a:srgbClr val="1C252B"/>
                </a:solidFill>
                <a:latin typeface="Cambria"/>
              </a:rPr>
              <a:t>p</a:t>
            </a:r>
            <a:r>
              <a:rPr sz="2000" b="0" i="0">
                <a:solidFill>
                  <a:srgbClr val="1C252B"/>
                </a:solidFill>
                <a:latin typeface="Segoe UI"/>
              </a:rPr>
              <a:t>-value is </a:t>
            </a:r>
            <a:r>
              <a:rPr sz="2000" b="0" i="1">
                <a:solidFill>
                  <a:srgbClr val="1C252B"/>
                </a:solidFill>
                <a:latin typeface="Cambria"/>
              </a:rPr>
              <a:t>P</a:t>
            </a:r>
            <a:r>
              <a:rPr sz="2000" b="0" i="0">
                <a:solidFill>
                  <a:srgbClr val="1C252B"/>
                </a:solidFill>
                <a:latin typeface="Cambria"/>
              </a:rPr>
              <a:t>(</a:t>
            </a:r>
            <a:r>
              <a:rPr sz="2000" b="0" i="0">
                <a:solidFill>
                  <a:srgbClr val="1C252B"/>
                </a:solidFill>
                <a:latin typeface="Segoe UI"/>
              </a:rPr>
              <a:t>data this extreme</a:t>
            </a:r>
            <a:r>
              <a:rPr sz="2000" b="0" i="0">
                <a:solidFill>
                  <a:srgbClr val="1C252B"/>
                </a:solidFill>
                <a:latin typeface="Cambria"/>
              </a:rPr>
              <a:t> ∣ </a:t>
            </a:r>
            <a:r>
              <a:rPr sz="2000" b="0" i="1">
                <a:solidFill>
                  <a:srgbClr val="1C252B"/>
                </a:solidFill>
                <a:latin typeface="Cambria"/>
              </a:rPr>
              <a:t>H</a:t>
            </a:r>
            <a:r>
              <a:rPr sz="2000" b="0" i="0" baseline="-25000">
                <a:solidFill>
                  <a:srgbClr val="1C252B"/>
                </a:solidFill>
                <a:latin typeface="Cambria"/>
              </a:rPr>
              <a:t>0</a:t>
            </a:r>
            <a:r>
              <a:rPr sz="2000" b="0" i="0">
                <a:solidFill>
                  <a:srgbClr val="1C252B"/>
                </a:solidFill>
                <a:latin typeface="Cambria"/>
              </a:rPr>
              <a:t>)</a:t>
            </a:r>
            <a:r>
              <a:rPr sz="2000" b="0" i="0">
                <a:solidFill>
                  <a:srgbClr val="1C252B"/>
                </a:solidFill>
                <a:latin typeface="Segoe UI"/>
              </a:rPr>
              <a:t>. It is not the probability that </a:t>
            </a:r>
            <a:r>
              <a:rPr sz="2000" b="0" i="1">
                <a:solidFill>
                  <a:srgbClr val="1C252B"/>
                </a:solidFill>
                <a:latin typeface="Cambria"/>
              </a:rPr>
              <a:t>H</a:t>
            </a:r>
            <a:r>
              <a:rPr sz="2000" b="0" i="0" baseline="-25000">
                <a:solidFill>
                  <a:srgbClr val="1C252B"/>
                </a:solidFill>
                <a:latin typeface="Cambria"/>
              </a:rPr>
              <a:t>0</a:t>
            </a:r>
            <a:r>
              <a:rPr sz="2000" b="0" i="0">
                <a:solidFill>
                  <a:srgbClr val="1C252B"/>
                </a:solidFill>
                <a:latin typeface="Segoe UI"/>
              </a:rPr>
              <a:t> is true, and it says nothing about effect size.</a:t>
            </a:r>
          </a:p>
        </p:txBody>
      </p:sp>
      <p:sp>
        <p:nvSpPr>
          <p:cNvPr id="19" name="!!sb4">
            <a:extLst>
              <a:ext uri="{C183D7F6-B498-43B3-948B-1728B52AA6E4}">
                <adec:decorative xmlns:adec="http://schemas.microsoft.com/office/drawing/2017/decorative" val="1"/>
              </a:ext>
            </a:extLst>
          </p:cNvPr>
          <p:cNvSpPr/>
          <p:nvPr/>
        </p:nvSpPr>
        <p:spPr>
          <a:xfrm>
            <a:off x="658368" y="478231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83717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773168"/>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Type I errors are false alarms, Type II are misses; which is worse is a domain judgement.</a:t>
            </a:r>
          </a:p>
        </p:txBody>
      </p:sp>
      <p:sp>
        <p:nvSpPr>
          <p:cNvPr id="22" name="!!sb5">
            <a:extLst>
              <a:ext uri="{C183D7F6-B498-43B3-948B-1728B52AA6E4}">
                <adec:decorative xmlns:adec="http://schemas.microsoft.com/office/drawing/2017/decorative" val="1"/>
              </a:ext>
            </a:extLst>
          </p:cNvPr>
          <p:cNvSpPr/>
          <p:nvPr/>
        </p:nvSpPr>
        <p:spPr>
          <a:xfrm>
            <a:off x="658368" y="536752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42239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358383"/>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Report effect size with every </a:t>
            </a:r>
            <a:r>
              <a:rPr sz="2000" b="0" i="1">
                <a:solidFill>
                  <a:srgbClr val="1C252B"/>
                </a:solidFill>
                <a:latin typeface="Cambria"/>
              </a:rPr>
              <a:t>p</a:t>
            </a:r>
            <a:r>
              <a:rPr sz="2000" b="0" i="0">
                <a:solidFill>
                  <a:srgbClr val="1C252B"/>
                </a:solidFill>
                <a:latin typeface="Segoe UI"/>
              </a:rPr>
              <a:t>-value, and correct for multiple comparisons or expect to find things that are not there.</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21635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61     </a:t>
            </a:r>
            <a:fld id="{4BC2726A-A9F0-4254-B232-55D4CEF0F35F}" type="slidenum">
              <a:rPr lang="en-GB" sz="1000">
                <a:solidFill>
                  <a:srgbClr val="8795A1"/>
                </a:solidFill>
                <a:latin typeface="Segoe UI"/>
              </a:rPr>
              <a:t>47</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a:t>
            </a:r>
            <a:r>
              <a:rPr sz="2600" b="0" i="1">
                <a:solidFill>
                  <a:srgbClr val="1C252B"/>
                </a:solidFill>
                <a:latin typeface="Cambria"/>
              </a:rPr>
              <a:t>p</a:t>
            </a:r>
            <a:r>
              <a:rPr sz="2600" b="0" i="0">
                <a:solidFill>
                  <a:srgbClr val="1C252B"/>
                </a:solidFill>
                <a:latin typeface="Segoe UI"/>
              </a:rPr>
              <a:t>-value is the probability of:</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H</a:t>
            </a:r>
            <a:r>
              <a:rPr sz="2000" b="0" i="0" baseline="-25000">
                <a:solidFill>
                  <a:srgbClr val="1C252B"/>
                </a:solidFill>
                <a:latin typeface="Cambria"/>
              </a:rPr>
              <a:t>0</a:t>
            </a:r>
            <a:r>
              <a:rPr sz="2000" b="0" i="0">
                <a:solidFill>
                  <a:srgbClr val="1C252B"/>
                </a:solidFill>
                <a:latin typeface="Segoe UI"/>
              </a:rPr>
              <a:t> being true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data at least this extreme given </a:t>
            </a:r>
            <a:r>
              <a:rPr sz="2000" b="0" i="1">
                <a:solidFill>
                  <a:srgbClr val="1C252B"/>
                </a:solidFill>
                <a:latin typeface="Cambria"/>
              </a:rPr>
              <a:t>H</a:t>
            </a:r>
            <a:r>
              <a:rPr sz="2000" b="0" i="0" baseline="-25000">
                <a:solidFill>
                  <a:srgbClr val="1C252B"/>
                </a:solidFill>
                <a:latin typeface="Cambria"/>
              </a:rPr>
              <a:t>0</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Type II error</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effect being large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6019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61     </a:t>
            </a:r>
            <a:fld id="{85697D7D-4ECF-401B-93F0-6CD2EB182CF9}" type="slidenum">
              <a:rPr lang="en-GB" sz="1000">
                <a:solidFill>
                  <a:srgbClr val="8795A1"/>
                </a:solidFill>
                <a:latin typeface="Segoe UI"/>
              </a:rPr>
              <a:t>48</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To halve a confidence interval’s width you must multiply the sample size by:</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2</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4</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√2</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10</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70402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9  ·  Inferential Statistics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61     </a:t>
            </a:r>
            <a:fld id="{FFA11A83-334E-4914-9332-9018957CC79E}" type="slidenum">
              <a:rPr lang="en-GB" sz="1000">
                <a:solidFill>
                  <a:srgbClr val="8795A1"/>
                </a:solidFill>
                <a:latin typeface="Segoe UI"/>
              </a:rPr>
              <a:t>49</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28529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Define Type I and Type II errors and give a security example of each with its practical cost.</a:t>
            </a:r>
          </a:p>
        </p:txBody>
      </p:sp>
      <p:sp>
        <p:nvSpPr>
          <p:cNvPr id="10" name="!!rt1">
            <a:extLst>
              <a:ext uri="{C183D7F6-B498-43B3-948B-1728B52AA6E4}">
                <adec:decorative xmlns:adec="http://schemas.microsoft.com/office/drawing/2017/decorative" val="1"/>
              </a:ext>
            </a:extLst>
          </p:cNvPr>
          <p:cNvSpPr/>
          <p:nvPr/>
        </p:nvSpPr>
        <p:spPr>
          <a:xfrm>
            <a:off x="658368" y="226039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0154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42108"/>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Explain why voluntary-response sampling is especially dangerous in a study of student disengagement.</a:t>
            </a:r>
          </a:p>
        </p:txBody>
      </p:sp>
      <p:sp>
        <p:nvSpPr>
          <p:cNvPr id="13" name="!!rt2">
            <a:extLst>
              <a:ext uri="{C183D7F6-B498-43B3-948B-1728B52AA6E4}">
                <adec:decorative xmlns:adec="http://schemas.microsoft.com/office/drawing/2017/decorative" val="1"/>
              </a:ext>
            </a:extLst>
          </p:cNvPr>
          <p:cNvSpPr/>
          <p:nvPr/>
        </p:nvSpPr>
        <p:spPr>
          <a:xfrm>
            <a:off x="658368" y="305043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09158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32150"/>
            <a:ext cx="9549079" cy="28529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Why does an IoT dataset of ten million readings make </a:t>
            </a:r>
            <a:r>
              <a:rPr sz="1800" b="0" i="1">
                <a:solidFill>
                  <a:srgbClr val="1C252B"/>
                </a:solidFill>
                <a:latin typeface="Cambria"/>
              </a:rPr>
              <a:t>p</a:t>
            </a:r>
            <a:r>
              <a:rPr sz="1800" b="0" i="0">
                <a:solidFill>
                  <a:srgbClr val="1C252B"/>
                </a:solidFill>
                <a:latin typeface="Segoe UI"/>
              </a:rPr>
              <a:t>-values nearly useless?</a:t>
            </a:r>
          </a:p>
        </p:txBody>
      </p:sp>
      <p:sp>
        <p:nvSpPr>
          <p:cNvPr id="16" name="!!rt3">
            <a:extLst>
              <a:ext uri="{C183D7F6-B498-43B3-948B-1728B52AA6E4}">
                <adec:decorative xmlns:adec="http://schemas.microsoft.com/office/drawing/2017/decorative" val="1"/>
              </a:ext>
            </a:extLst>
          </p:cNvPr>
          <p:cNvSpPr/>
          <p:nvPr/>
        </p:nvSpPr>
        <p:spPr>
          <a:xfrm>
            <a:off x="658368" y="355518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5963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536899"/>
            <a:ext cx="9549079" cy="85587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 trial compares two intrusion detection configurations over 30 days. Config A raised 220 alerts of which 14 were real; config B raised 95 of which 11 were real. Set up the hypotheses, say which test you would run, and explain what effect size you would report to management.</a:t>
            </a:r>
          </a:p>
        </p:txBody>
      </p:sp>
      <p:sp>
        <p:nvSpPr>
          <p:cNvPr id="19" name="!!rt4">
            <a:extLst>
              <a:ext uri="{C183D7F6-B498-43B3-948B-1728B52AA6E4}">
                <adec:decorative xmlns:adec="http://schemas.microsoft.com/office/drawing/2017/decorative" val="1"/>
              </a:ext>
            </a:extLst>
          </p:cNvPr>
          <p:cNvSpPr/>
          <p:nvPr/>
        </p:nvSpPr>
        <p:spPr>
          <a:xfrm>
            <a:off x="658368" y="4630521"/>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671669"/>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612233"/>
            <a:ext cx="9549079" cy="85587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 colleague tests 40 candidate features against an outcome and reports the three with </a:t>
            </a:r>
            <a:r>
              <a:rPr sz="1800" b="0" i="1">
                <a:solidFill>
                  <a:srgbClr val="1C252B"/>
                </a:solidFill>
                <a:latin typeface="Cambria"/>
              </a:rPr>
              <a:t>p</a:t>
            </a:r>
            <a:r>
              <a:rPr sz="1800" b="0" i="0">
                <a:solidFill>
                  <a:srgbClr val="1C252B"/>
                </a:solidFill>
                <a:latin typeface="Cambria"/>
              </a:rPr>
              <a:t> &lt; 0.05</a:t>
            </a:r>
            <a:r>
              <a:rPr sz="1800" b="0" i="0">
                <a:solidFill>
                  <a:srgbClr val="1C252B"/>
                </a:solidFill>
                <a:latin typeface="Segoe UI"/>
              </a:rPr>
              <a:t>. Explain what is wrong, compute the Bonferroni-corrected threshold, and describe a defensible procedure they should have followed instead.</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4786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5739D"/>
                </a:solidFill>
                <a:latin typeface="Segoe UI Black"/>
              </a:rPr>
              <a:t>09</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9</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10 — Relationships and Causality</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9, pages 55–61</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Intervals, tests, confounder simulation</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9  ·  Inferential Statistics</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147802CD-3B4C-4198-80F6-567B21233701}" type="slidenum">
              <a:rPr lang="en-GB" sz="1000">
                <a:solidFill>
                  <a:srgbClr val="D5DEE5"/>
                </a:solidFill>
                <a:latin typeface="Segoe UI"/>
              </a:rPr>
              <a:t>50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 Inferential Statistics</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