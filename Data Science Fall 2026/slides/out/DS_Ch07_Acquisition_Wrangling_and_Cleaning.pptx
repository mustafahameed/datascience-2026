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5.svg" ContentType="image/svg+xml"/>
  <Override PartName="/ppt/media/image87.svg" ContentType="image/svg+xml"/>
  <Override PartName="/ppt/media/image88.svg" ContentType="image/svg+xml"/>
  <Override PartName="/ppt/media/image8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61BF34-73ED-46F5-84E2-E54851445593}">
          <p14:sldIdLst>
            <p14:sldId id="256"/>
            <p14:sldId id="257"/>
            <p14:sldId id="258"/>
            <p14:sldId id="259"/>
            <p14:sldId id="260"/>
          </p14:sldIdLst>
        </p14:section>
        <p14:section name="7.1 Where Data Comes From" id="{9C700B29-B40F-43EC-99F2-ADAA92870803}">
          <p14:sldIdLst>
            <p14:sldId id="261"/>
            <p14:sldId id="262"/>
            <p14:sldId id="263"/>
          </p14:sldIdLst>
        </p14:section>
        <p14:section name="7.2 The Cleaning Sequence" id="{0E399574-ECBF-4BEA-A5D7-D9993EFE430B}">
          <p14:sldIdLst>
            <p14:sldId id="264"/>
            <p14:sldId id="265"/>
            <p14:sldId id="266"/>
            <p14:sldId id="267"/>
          </p14:sldIdLst>
        </p14:section>
        <p14:section name="7.3 Joining Data" id="{1CE97BF7-D08B-4278-A2D8-A0926233B9A4}">
          <p14:sldIdLst>
            <p14:sldId id="268"/>
          </p14:sldIdLst>
        </p14:section>
        <p14:section name="7.4 Encoding and Scaling" id="{1BA63218-01AE-4C40-B6FA-3884839E1400}">
          <p14:sldIdLst>
            <p14:sldId id="269"/>
            <p14:sldId id="270"/>
            <p14:sldId id="271"/>
            <p14:sldId id="272"/>
            <p14:sldId id="273"/>
          </p14:sldIdLst>
        </p14:section>
        <p14:section name="7.5 Data Leakage" id="{E3CE39E1-8745-4259-9BB3-A5E9FB87E9B7}">
          <p14:sldIdLst>
            <p14:sldId id="274"/>
            <p14:sldId id="275"/>
            <p14:sldId id="276"/>
          </p14:sldIdLst>
        </p14:section>
        <p14:section name="Pitfalls" id="{29E8B70D-FA24-4D7E-89E4-43BAA0CEEC9A}">
          <p14:sldIdLst>
            <p14:sldId id="277"/>
          </p14:sldIdLst>
        </p14:section>
        <p14:section name="Four lenses" id="{BAA3D356-DF2D-4A28-BB9A-36C229D2DF57}">
          <p14:sldIdLst>
            <p14:sldId id="278"/>
            <p14:sldId id="279"/>
            <p14:sldId id="280"/>
            <p14:sldId id="281"/>
            <p14:sldId id="282"/>
          </p14:sldIdLst>
        </p14:section>
        <p14:section name="Lab" id="{E08E83C2-967B-45C0-835F-5BF824C94344}">
          <p14:sldIdLst>
            <p14:sldId id="283"/>
            <p14:sldId id="284"/>
            <p14:sldId id="285"/>
            <p14:sldId id="286"/>
          </p14:sldIdLst>
        </p14:section>
        <p14:section name="Checkpoint" id="{6AE0C69E-A164-49B8-9C66-63D24B0940CE}">
          <p14:sldIdLst>
            <p14:sldId id="287"/>
            <p14:sldId id="288"/>
            <p14:sldId id="289"/>
            <p14:sldId id="290"/>
            <p14:sldId id="291"/>
            <p14:sldId id="292"/>
          </p14:sldIdLst>
        </p14:section>
        <p14:section name="Wrap-up" id="{4C60D728-AC60-418B-A0B9-F5832A3CA9C4}">
          <p14:sldIdLst>
            <p14:sldId id="293"/>
            <p14:sldId id="294"/>
            <p14:sldId id="295"/>
            <p14:sldId id="296"/>
            <p14:sldId id="29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Acquisition, Wrangling and Cleaning. Part 2 — From Data to Insight. Week 4: Wrangling and cleaning. Handout pages 43–48.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(types, scales, quality dimensions, missingness mechanisms) and Chapter 2 (framing question 4, on what is knowable at prediction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ETL / ELT; API; web scraping; deduplication; imputation; join (inner, left, outer); one-hot encoding; ordinal encoding; normalisation; standardisation; binning; data leakage;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Doing these in the wrong sequence causes quiet corruption — for example, imputing before deduplicating lets duplicated rows vote twice on the mean you impute with.</a:t>
            </a:r>
          </a:p>
          <a:p/>
          <a:p>
            <a:r>
              <a:t>Figure 7.1 (handout p. 44): The cleaning sequence. The order is not arbitrary: each step assumes the previous one is done. The note on the right is the single most important rule in the chapter and is expanded in 7.5.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projects always need more than one table. The join type decides how many rows survive, and choosing wrongly is a common source of silently wrong analyses.</a:t>
            </a:r>
          </a:p>
          <a:p/>
          <a:p>
            <a:r>
              <a:t>Figure 7.2 (handout p. 45): The three joins you will use. The default in most tools is inner, which silently discards non-matching rows; if 300 of your 2,000 students have no VLE record, an inner join removes them and your sample is no longer the cohort.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7.3 (handout p. 46): The most common leakage in student projects. Any transformation that learns something from the data — scaling, imputation, encoding, feature selection — must be fitted on the training split alone and then applied to the test split.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Joining registry to VLE data is a left join from registry, never an inner join — students with no VLE activity are precisely the at-risk group, and an inner join deletes them. Classic leak: using total_submissions_in_semester to predict a week-4 outcome. Missing engagement data should be encoded with an indicator, not imputed, because it is MNAR.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Effort figures are self-reported and cluster on round numbers, so treat values as ordinal-ish rather than precise. Classic leak: including actual_completion_date or final story-point count when predicting mid-sprint completion. Deduplicate carefully — the same work item often appears under two IDs after a project is re-scoped.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Forward fill is the natural imputation for telemetry, because a temperature that was 70° a second ago is probably still about 70° — but cap how far it carries, or a dead sensor will appear healthy for hours. Classic leak: normalising the whole telemetry history including the future. Deduplicate on (device ID, timestamp): at-least-once delivery guarantees duplicates.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Do not remove outliers — they are the attacks. Encode categorical fields such as protocol and port with one-hot, never ordinal, or the model will infer that port 443 is “greater than” port 80. Classic leak: features derived from the incident report, which by definition exists only after the attack was detected. Split chronologically, since a model trained on future attack patterns to detect past ones proves nothing.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best habit in applied machine learning: put every learned transformation inside a Pipeline, so it cannot be fitted on the test set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join key was not unique on the VLE side, so rows were duplicated — probably multiple VLE accounts or enrolments per student. Check for duplicates on the key, decide the intended grain, and aggregate before joining.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k-NN and k-means require scaling (both are distance-based). Random forest and gradient boosting do not — they split one feature at a time, so units are irrelevant.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 leakage from a feature computed after or during the failure window; (ii) duplicate rows spanning the train/test split, or splitting by row rather than by device; (iii) whether the test period is genuinely later in time than the training period.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8 — Exploratory Data Analysis and Visualisation. READ: Handout Chapter 7, pages 43–48. THIS WEEK'S LAB: Leak-proof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image" Target="../media/image43.png"/><Relationship Id="rId9" Type="http://schemas.openxmlformats.org/officeDocument/2006/relationships/image" Target="../media/image44.svg"/><Relationship Id="rId10" Type="http://schemas.openxmlformats.org/officeDocument/2006/relationships/image" Target="../media/image45.png"/><Relationship Id="rId11" Type="http://schemas.openxmlformats.org/officeDocument/2006/relationships/image" Target="../media/image46.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9.png"/><Relationship Id="rId5" Type="http://schemas.openxmlformats.org/officeDocument/2006/relationships/image" Target="../media/image49.svg"/><Relationship Id="rId6" Type="http://schemas.openxmlformats.org/officeDocument/2006/relationships/image" Target="../media/image41.png"/><Relationship Id="rId7" Type="http://schemas.openxmlformats.org/officeDocument/2006/relationships/image" Target="../media/image50.svg"/><Relationship Id="rId8" Type="http://schemas.openxmlformats.org/officeDocument/2006/relationships/image" Target="../media/image43.png"/><Relationship Id="rId9" Type="http://schemas.openxmlformats.org/officeDocument/2006/relationships/image" Target="../media/image51.svg"/><Relationship Id="rId10" Type="http://schemas.openxmlformats.org/officeDocument/2006/relationships/image" Target="../media/image45.png"/><Relationship Id="rId11" Type="http://schemas.openxmlformats.org/officeDocument/2006/relationships/image" Target="../media/image52.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41.png"/><Relationship Id="rId5" Type="http://schemas.openxmlformats.org/officeDocument/2006/relationships/image" Target="../media/image55.svg"/><Relationship Id="rId6" Type="http://schemas.openxmlformats.org/officeDocument/2006/relationships/image" Target="../media/image39.png"/><Relationship Id="rId7" Type="http://schemas.openxmlformats.org/officeDocument/2006/relationships/image" Target="../media/image56.svg"/><Relationship Id="rId8" Type="http://schemas.openxmlformats.org/officeDocument/2006/relationships/image" Target="../media/image43.png"/><Relationship Id="rId9" Type="http://schemas.openxmlformats.org/officeDocument/2006/relationships/image" Target="../media/image57.svg"/><Relationship Id="rId10" Type="http://schemas.openxmlformats.org/officeDocument/2006/relationships/image" Target="../media/image45.png"/><Relationship Id="rId11" Type="http://schemas.openxmlformats.org/officeDocument/2006/relationships/image" Target="../media/image58.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43.png"/><Relationship Id="rId5" Type="http://schemas.openxmlformats.org/officeDocument/2006/relationships/image" Target="../media/image61.svg"/><Relationship Id="rId6" Type="http://schemas.openxmlformats.org/officeDocument/2006/relationships/image" Target="../media/image39.png"/><Relationship Id="rId7" Type="http://schemas.openxmlformats.org/officeDocument/2006/relationships/image" Target="../media/image62.svg"/><Relationship Id="rId8" Type="http://schemas.openxmlformats.org/officeDocument/2006/relationships/image" Target="../media/image41.png"/><Relationship Id="rId9" Type="http://schemas.openxmlformats.org/officeDocument/2006/relationships/image" Target="../media/image63.svg"/><Relationship Id="rId10" Type="http://schemas.openxmlformats.org/officeDocument/2006/relationships/image" Target="../media/image45.png"/><Relationship Id="rId11" Type="http://schemas.openxmlformats.org/officeDocument/2006/relationships/image" Target="../media/image64.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image" Target="../media/image45.png"/><Relationship Id="rId5" Type="http://schemas.openxmlformats.org/officeDocument/2006/relationships/image" Target="../media/image67.svg"/><Relationship Id="rId6" Type="http://schemas.openxmlformats.org/officeDocument/2006/relationships/image" Target="../media/image39.png"/><Relationship Id="rId7" Type="http://schemas.openxmlformats.org/officeDocument/2006/relationships/image" Target="../media/image68.svg"/><Relationship Id="rId8" Type="http://schemas.openxmlformats.org/officeDocument/2006/relationships/image" Target="../media/image41.png"/><Relationship Id="rId9" Type="http://schemas.openxmlformats.org/officeDocument/2006/relationships/image" Target="../media/image69.svg"/><Relationship Id="rId10" Type="http://schemas.openxmlformats.org/officeDocument/2006/relationships/image" Target="../media/image43.png"/><Relationship Id="rId11" Type="http://schemas.openxmlformats.org/officeDocument/2006/relationships/image" Target="../media/image70.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3.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0.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8.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9.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Acquisition, Wrangling and Cleaning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FROM DATA TO INSIGHT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7  ·  WEEK 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F58C471C-1FCA-416D-ADC4-491B5CF7989E}"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896304" y="1755648"/>
            <a:ext cx="122678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896304" y="2029967"/>
            <a:ext cx="1226781"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26183"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72618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72364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Acquisition, Wrangling and Cleaning</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The Data Science Lifecycle</a:t>
            </a:r>
          </a:p>
        </p:txBody>
      </p:sp>
      <p:sp>
        <p:nvSpPr>
          <p:cNvPr id="8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Data: Types, Sources and Quality</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Exploratory Data Analysis and Visualisation</a:t>
            </a:r>
          </a:p>
        </p:txBody>
      </p:sp>
      <p:sp>
        <p:nvSpPr>
          <p:cNvPr id="95" name="!!chipUS1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98" name="!!chipUS23">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23">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23"/>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23  </a:t>
            </a:r>
            <a:r>
              <a:rPr sz="1400" b="0" i="0">
                <a:solidFill>
                  <a:srgbClr val="1C252B"/>
                </a:solidFill>
                <a:latin typeface="Segoe UI"/>
              </a:rPr>
              <a:t>Data Engineering at Scale</a:t>
            </a:r>
          </a:p>
        </p:txBody>
      </p:sp>
      <p:sp>
        <p:nvSpPr>
          <p:cNvPr id="10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pfill">
            <a:extLst>
              <a:ext uri="{C183D7F6-B498-43B3-948B-1728B52AA6E4}">
                <adec:decorative xmlns:adec="http://schemas.microsoft.com/office/drawing/2017/decorative" val="1"/>
              </a:ext>
            </a:extLst>
          </p:cNvPr>
          <p:cNvSpPr/>
          <p:nvPr/>
        </p:nvSpPr>
        <p:spPr>
          <a:xfrm>
            <a:off x="0" y="0"/>
            <a:ext cx="58055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DC81E9CB-3939-492D-8D55-8AD191B26509}"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Select</a:t>
            </a:r>
            <a:r>
              <a:rPr sz="2100" b="0" i="0">
                <a:solidFill>
                  <a:srgbClr val="1C252B"/>
                </a:solidFill>
                <a:latin typeface="Segoe UI"/>
              </a:rPr>
              <a:t> an appropriate acquisition method and describe the risks each carries.</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Perform</a:t>
            </a:r>
            <a:r>
              <a:rPr sz="2100" b="0" i="0">
                <a:solidFill>
                  <a:srgbClr val="1C252B"/>
                </a:solidFill>
                <a:latin typeface="Segoe UI"/>
              </a:rPr>
              <a:t> the standard cleaning operations: deduplication, type repair, missing-value handling and outlier treatment.</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Choose</a:t>
            </a:r>
            <a:r>
              <a:rPr sz="2100" b="0" i="0">
                <a:solidFill>
                  <a:srgbClr val="1C252B"/>
                </a:solidFill>
                <a:latin typeface="Segoe UI"/>
              </a:rPr>
              <a:t> between join types and predict how each changes the row count.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Encode</a:t>
            </a:r>
            <a:r>
              <a:rPr sz="2100" b="0" i="0">
                <a:solidFill>
                  <a:srgbClr val="1C252B"/>
                </a:solidFill>
                <a:latin typeface="Segoe UI"/>
              </a:rPr>
              <a:t> categorical variables and </a:t>
            </a:r>
            <a:r>
              <a:rPr sz="2100" b="1" i="0">
                <a:solidFill>
                  <a:srgbClr val="1C252B"/>
                </a:solidFill>
                <a:latin typeface="Segoe UI"/>
              </a:rPr>
              <a:t>scale</a:t>
            </a:r>
            <a:r>
              <a:rPr sz="2100" b="0" i="0">
                <a:solidFill>
                  <a:srgbClr val="1C252B"/>
                </a:solidFill>
                <a:latin typeface="Segoe UI"/>
              </a:rPr>
              <a:t> numeric ones without corrupting the measurement scale.</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Detect</a:t>
            </a:r>
            <a:r>
              <a:rPr sz="2100" b="0" i="0">
                <a:solidFill>
                  <a:srgbClr val="1C252B"/>
                </a:solidFill>
                <a:latin typeface="Segoe UI"/>
              </a:rPr>
              <a:t> and </a:t>
            </a:r>
            <a:r>
              <a:rPr sz="2100" b="1" i="0">
                <a:solidFill>
                  <a:srgbClr val="1C252B"/>
                </a:solidFill>
                <a:latin typeface="Segoe UI"/>
              </a:rPr>
              <a:t>prevent</a:t>
            </a:r>
            <a:r>
              <a:rPr sz="2100" b="0" i="0">
                <a:solidFill>
                  <a:srgbClr val="1C252B"/>
                </a:solidFill>
                <a:latin typeface="Segoe UI"/>
              </a:rPr>
              <a:t> data leakage — the most expensive routine error in applied machine learning.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708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43     </a:t>
            </a:r>
            <a:fld id="{84446123-C638-4B21-A8BC-ABFEF9E5CE5E}" type="slidenum">
              <a:rPr lang="en-GB" sz="1000">
                <a:solidFill>
                  <a:srgbClr val="8795A1"/>
                </a:solidFill>
                <a:latin typeface="Segoe UI"/>
              </a:rPr>
              <a:t>4</a:t>
            </a:fld>
          </a:p>
        </p:txBody>
      </p:sp>
      <p:sp>
        <p:nvSpPr>
          <p:cNvPr id="7" name="!!term-ETL / ELT">
            <a:extLst>
              <a:ext uri="{C183D7F6-B498-43B3-948B-1728B52AA6E4}">
                <adec:decorative xmlns:adec="http://schemas.microsoft.com/office/drawing/2017/decorative" val="1"/>
              </a:ext>
            </a:extLst>
          </p:cNvPr>
          <p:cNvSpPr/>
          <p:nvPr/>
        </p:nvSpPr>
        <p:spPr>
          <a:xfrm>
            <a:off x="658368" y="1847088"/>
            <a:ext cx="12553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ETL / EL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ETL / ELT"/>
          <p:cNvSpPr txBox="1"/>
          <p:nvPr/>
        </p:nvSpPr>
        <p:spPr>
          <a:xfrm>
            <a:off x="950976" y="1962911"/>
            <a:ext cx="10724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ETL / ELT</a:t>
            </a:r>
          </a:p>
        </p:txBody>
      </p:sp>
      <p:sp>
        <p:nvSpPr>
          <p:cNvPr id="10" name="!!term-API">
            <a:extLst>
              <a:ext uri="{C183D7F6-B498-43B3-948B-1728B52AA6E4}">
                <adec:decorative xmlns:adec="http://schemas.microsoft.com/office/drawing/2017/decorative" val="1"/>
              </a:ext>
            </a:extLst>
          </p:cNvPr>
          <p:cNvSpPr/>
          <p:nvPr/>
        </p:nvSpPr>
        <p:spPr>
          <a:xfrm>
            <a:off x="2060032" y="1847088"/>
            <a:ext cx="7437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PI">
            <a:extLst>
              <a:ext uri="{C183D7F6-B498-43B3-948B-1728B52AA6E4}">
                <adec:decorative xmlns:adec="http://schemas.microsoft.com/office/drawing/2017/decorative" val="1"/>
              </a:ext>
            </a:extLst>
          </p:cNvPr>
          <p:cNvSpPr/>
          <p:nvPr/>
        </p:nvSpPr>
        <p:spPr>
          <a:xfrm>
            <a:off x="21880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PI"/>
          <p:cNvSpPr txBox="1"/>
          <p:nvPr/>
        </p:nvSpPr>
        <p:spPr>
          <a:xfrm>
            <a:off x="2352640" y="1962911"/>
            <a:ext cx="56091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API</a:t>
            </a:r>
          </a:p>
        </p:txBody>
      </p:sp>
      <p:sp>
        <p:nvSpPr>
          <p:cNvPr id="13" name="!!term-web scraping">
            <a:extLst>
              <a:ext uri="{C183D7F6-B498-43B3-948B-1728B52AA6E4}">
                <adec:decorative xmlns:adec="http://schemas.microsoft.com/office/drawing/2017/decorative" val="1"/>
              </a:ext>
            </a:extLst>
          </p:cNvPr>
          <p:cNvSpPr/>
          <p:nvPr/>
        </p:nvSpPr>
        <p:spPr>
          <a:xfrm>
            <a:off x="2950133" y="1847088"/>
            <a:ext cx="16484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web scraping">
            <a:extLst>
              <a:ext uri="{C183D7F6-B498-43B3-948B-1728B52AA6E4}">
                <adec:decorative xmlns:adec="http://schemas.microsoft.com/office/drawing/2017/decorative" val="1"/>
              </a:ext>
            </a:extLst>
          </p:cNvPr>
          <p:cNvSpPr/>
          <p:nvPr/>
        </p:nvSpPr>
        <p:spPr>
          <a:xfrm>
            <a:off x="30781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web scraping"/>
          <p:cNvSpPr txBox="1"/>
          <p:nvPr/>
        </p:nvSpPr>
        <p:spPr>
          <a:xfrm>
            <a:off x="3242741" y="1962911"/>
            <a:ext cx="14656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web scraping</a:t>
            </a:r>
          </a:p>
        </p:txBody>
      </p:sp>
      <p:sp>
        <p:nvSpPr>
          <p:cNvPr id="16" name="!!term-deduplication">
            <a:extLst>
              <a:ext uri="{C183D7F6-B498-43B3-948B-1728B52AA6E4}">
                <adec:decorative xmlns:adec="http://schemas.microsoft.com/office/drawing/2017/decorative" val="1"/>
              </a:ext>
            </a:extLst>
          </p:cNvPr>
          <p:cNvSpPr/>
          <p:nvPr/>
        </p:nvSpPr>
        <p:spPr>
          <a:xfrm>
            <a:off x="4744926" y="1847088"/>
            <a:ext cx="16914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duplication">
            <a:extLst>
              <a:ext uri="{C183D7F6-B498-43B3-948B-1728B52AA6E4}">
                <adec:decorative xmlns:adec="http://schemas.microsoft.com/office/drawing/2017/decorative" val="1"/>
              </a:ext>
            </a:extLst>
          </p:cNvPr>
          <p:cNvSpPr/>
          <p:nvPr/>
        </p:nvSpPr>
        <p:spPr>
          <a:xfrm>
            <a:off x="48729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duplication"/>
          <p:cNvSpPr txBox="1"/>
          <p:nvPr/>
        </p:nvSpPr>
        <p:spPr>
          <a:xfrm>
            <a:off x="5037534" y="1962911"/>
            <a:ext cx="15085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deduplication</a:t>
            </a:r>
          </a:p>
        </p:txBody>
      </p:sp>
      <p:sp>
        <p:nvSpPr>
          <p:cNvPr id="19" name="!!term-imputation">
            <a:extLst>
              <a:ext uri="{C183D7F6-B498-43B3-948B-1728B52AA6E4}">
                <adec:decorative xmlns:adec="http://schemas.microsoft.com/office/drawing/2017/decorative" val="1"/>
              </a:ext>
            </a:extLst>
          </p:cNvPr>
          <p:cNvSpPr/>
          <p:nvPr/>
        </p:nvSpPr>
        <p:spPr>
          <a:xfrm>
            <a:off x="6582638" y="1847088"/>
            <a:ext cx="14416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mputation">
            <a:extLst>
              <a:ext uri="{C183D7F6-B498-43B3-948B-1728B52AA6E4}">
                <adec:decorative xmlns:adec="http://schemas.microsoft.com/office/drawing/2017/decorative" val="1"/>
              </a:ext>
            </a:extLst>
          </p:cNvPr>
          <p:cNvSpPr/>
          <p:nvPr/>
        </p:nvSpPr>
        <p:spPr>
          <a:xfrm>
            <a:off x="67106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mputation"/>
          <p:cNvSpPr txBox="1"/>
          <p:nvPr/>
        </p:nvSpPr>
        <p:spPr>
          <a:xfrm>
            <a:off x="6875246" y="1962911"/>
            <a:ext cx="12587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imputation</a:t>
            </a:r>
          </a:p>
        </p:txBody>
      </p:sp>
      <p:sp>
        <p:nvSpPr>
          <p:cNvPr id="22" name="!!term-join (inner, l">
            <a:extLst>
              <a:ext uri="{C183D7F6-B498-43B3-948B-1728B52AA6E4}">
                <adec:decorative xmlns:adec="http://schemas.microsoft.com/office/drawing/2017/decorative" val="1"/>
              </a:ext>
            </a:extLst>
          </p:cNvPr>
          <p:cNvSpPr/>
          <p:nvPr/>
        </p:nvSpPr>
        <p:spPr>
          <a:xfrm>
            <a:off x="8170597" y="1847088"/>
            <a:ext cx="24118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join (inner, l">
            <a:extLst>
              <a:ext uri="{C183D7F6-B498-43B3-948B-1728B52AA6E4}">
                <adec:decorative xmlns:adec="http://schemas.microsoft.com/office/drawing/2017/decorative" val="1"/>
              </a:ext>
            </a:extLst>
          </p:cNvPr>
          <p:cNvSpPr/>
          <p:nvPr/>
        </p:nvSpPr>
        <p:spPr>
          <a:xfrm>
            <a:off x="829861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join (inner, l"/>
          <p:cNvSpPr txBox="1"/>
          <p:nvPr/>
        </p:nvSpPr>
        <p:spPr>
          <a:xfrm>
            <a:off x="8463205" y="1962911"/>
            <a:ext cx="22289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join (inner, left, outer)</a:t>
            </a:r>
          </a:p>
        </p:txBody>
      </p:sp>
      <p:sp>
        <p:nvSpPr>
          <p:cNvPr id="25" name="!!term-one-hot encodi">
            <a:extLst>
              <a:ext uri="{C183D7F6-B498-43B3-948B-1728B52AA6E4}">
                <adec:decorative xmlns:adec="http://schemas.microsoft.com/office/drawing/2017/decorative" val="1"/>
              </a:ext>
            </a:extLst>
          </p:cNvPr>
          <p:cNvSpPr/>
          <p:nvPr/>
        </p:nvSpPr>
        <p:spPr>
          <a:xfrm>
            <a:off x="658368" y="2468880"/>
            <a:ext cx="20893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one-hot encod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one-hot encodi"/>
          <p:cNvSpPr txBox="1"/>
          <p:nvPr/>
        </p:nvSpPr>
        <p:spPr>
          <a:xfrm>
            <a:off x="950976" y="2584704"/>
            <a:ext cx="19064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one-hot encoding</a:t>
            </a:r>
          </a:p>
        </p:txBody>
      </p:sp>
      <p:sp>
        <p:nvSpPr>
          <p:cNvPr id="28" name="!!term-ordinal encodi">
            <a:extLst>
              <a:ext uri="{C183D7F6-B498-43B3-948B-1728B52AA6E4}">
                <adec:decorative xmlns:adec="http://schemas.microsoft.com/office/drawing/2017/decorative" val="1"/>
              </a:ext>
            </a:extLst>
          </p:cNvPr>
          <p:cNvSpPr/>
          <p:nvPr/>
        </p:nvSpPr>
        <p:spPr>
          <a:xfrm>
            <a:off x="2894027" y="2468880"/>
            <a:ext cx="19889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ordinal encodi">
            <a:extLst>
              <a:ext uri="{C183D7F6-B498-43B3-948B-1728B52AA6E4}">
                <adec:decorative xmlns:adec="http://schemas.microsoft.com/office/drawing/2017/decorative" val="1"/>
              </a:ext>
            </a:extLst>
          </p:cNvPr>
          <p:cNvSpPr/>
          <p:nvPr/>
        </p:nvSpPr>
        <p:spPr>
          <a:xfrm>
            <a:off x="30220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ordinal encodi"/>
          <p:cNvSpPr txBox="1"/>
          <p:nvPr/>
        </p:nvSpPr>
        <p:spPr>
          <a:xfrm>
            <a:off x="3186635" y="2584704"/>
            <a:ext cx="180611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ordinal encoding</a:t>
            </a:r>
          </a:p>
        </p:txBody>
      </p:sp>
      <p:sp>
        <p:nvSpPr>
          <p:cNvPr id="31" name="!!term-normalisation">
            <a:extLst>
              <a:ext uri="{C183D7F6-B498-43B3-948B-1728B52AA6E4}">
                <adec:decorative xmlns:adec="http://schemas.microsoft.com/office/drawing/2017/decorative" val="1"/>
              </a:ext>
            </a:extLst>
          </p:cNvPr>
          <p:cNvSpPr/>
          <p:nvPr/>
        </p:nvSpPr>
        <p:spPr>
          <a:xfrm>
            <a:off x="5029328" y="2468880"/>
            <a:ext cx="16866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normalisation">
            <a:extLst>
              <a:ext uri="{C183D7F6-B498-43B3-948B-1728B52AA6E4}">
                <adec:decorative xmlns:adec="http://schemas.microsoft.com/office/drawing/2017/decorative" val="1"/>
              </a:ext>
            </a:extLst>
          </p:cNvPr>
          <p:cNvSpPr/>
          <p:nvPr/>
        </p:nvSpPr>
        <p:spPr>
          <a:xfrm>
            <a:off x="515734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normalisation"/>
          <p:cNvSpPr txBox="1"/>
          <p:nvPr/>
        </p:nvSpPr>
        <p:spPr>
          <a:xfrm>
            <a:off x="5321936" y="2584704"/>
            <a:ext cx="150375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normalisation</a:t>
            </a:r>
          </a:p>
        </p:txBody>
      </p:sp>
      <p:sp>
        <p:nvSpPr>
          <p:cNvPr id="34" name="!!term-standardisatio">
            <a:extLst>
              <a:ext uri="{C183D7F6-B498-43B3-948B-1728B52AA6E4}">
                <adec:decorative xmlns:adec="http://schemas.microsoft.com/office/drawing/2017/decorative" val="1"/>
              </a:ext>
            </a:extLst>
          </p:cNvPr>
          <p:cNvSpPr/>
          <p:nvPr/>
        </p:nvSpPr>
        <p:spPr>
          <a:xfrm>
            <a:off x="6862267" y="2468880"/>
            <a:ext cx="18443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tandardisatio">
            <a:extLst>
              <a:ext uri="{C183D7F6-B498-43B3-948B-1728B52AA6E4}">
                <adec:decorative xmlns:adec="http://schemas.microsoft.com/office/drawing/2017/decorative" val="1"/>
              </a:ext>
            </a:extLst>
          </p:cNvPr>
          <p:cNvSpPr/>
          <p:nvPr/>
        </p:nvSpPr>
        <p:spPr>
          <a:xfrm>
            <a:off x="69902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tandardisatio"/>
          <p:cNvSpPr txBox="1"/>
          <p:nvPr/>
        </p:nvSpPr>
        <p:spPr>
          <a:xfrm>
            <a:off x="7154875" y="2584704"/>
            <a:ext cx="16614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standardisation</a:t>
            </a:r>
          </a:p>
        </p:txBody>
      </p:sp>
      <p:sp>
        <p:nvSpPr>
          <p:cNvPr id="37" name="!!term-binning">
            <a:extLst>
              <a:ext uri="{C183D7F6-B498-43B3-948B-1728B52AA6E4}">
                <adec:decorative xmlns:adec="http://schemas.microsoft.com/office/drawing/2017/decorative" val="1"/>
              </a:ext>
            </a:extLst>
          </p:cNvPr>
          <p:cNvSpPr/>
          <p:nvPr/>
        </p:nvSpPr>
        <p:spPr>
          <a:xfrm>
            <a:off x="8852898" y="2468880"/>
            <a:ext cx="11351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binning">
            <a:extLst>
              <a:ext uri="{C183D7F6-B498-43B3-948B-1728B52AA6E4}">
                <adec:decorative xmlns:adec="http://schemas.microsoft.com/office/drawing/2017/decorative" val="1"/>
              </a:ext>
            </a:extLst>
          </p:cNvPr>
          <p:cNvSpPr/>
          <p:nvPr/>
        </p:nvSpPr>
        <p:spPr>
          <a:xfrm>
            <a:off x="898091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binning"/>
          <p:cNvSpPr txBox="1"/>
          <p:nvPr/>
        </p:nvSpPr>
        <p:spPr>
          <a:xfrm>
            <a:off x="9145506" y="2584704"/>
            <a:ext cx="9522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binning</a:t>
            </a:r>
          </a:p>
        </p:txBody>
      </p:sp>
      <p:sp>
        <p:nvSpPr>
          <p:cNvPr id="40" name="!!term-data leakage">
            <a:extLst>
              <a:ext uri="{C183D7F6-B498-43B3-948B-1728B52AA6E4}">
                <adec:decorative xmlns:adec="http://schemas.microsoft.com/office/drawing/2017/decorative" val="1"/>
              </a:ext>
            </a:extLst>
          </p:cNvPr>
          <p:cNvSpPr/>
          <p:nvPr/>
        </p:nvSpPr>
        <p:spPr>
          <a:xfrm>
            <a:off x="658368" y="3090672"/>
            <a:ext cx="16020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data leakag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data leakage"/>
          <p:cNvSpPr txBox="1"/>
          <p:nvPr/>
        </p:nvSpPr>
        <p:spPr>
          <a:xfrm>
            <a:off x="950976" y="3206496"/>
            <a:ext cx="14191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leakage</a:t>
            </a:r>
          </a:p>
        </p:txBody>
      </p:sp>
      <p:sp>
        <p:nvSpPr>
          <p:cNvPr id="43" name="!!term-pipeline">
            <a:extLst>
              <a:ext uri="{C183D7F6-B498-43B3-948B-1728B52AA6E4}">
                <adec:decorative xmlns:adec="http://schemas.microsoft.com/office/drawing/2017/decorative" val="1"/>
              </a:ext>
            </a:extLst>
          </p:cNvPr>
          <p:cNvSpPr/>
          <p:nvPr/>
        </p:nvSpPr>
        <p:spPr>
          <a:xfrm>
            <a:off x="2406749" y="3090672"/>
            <a:ext cx="11672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ipeline">
            <a:extLst>
              <a:ext uri="{C183D7F6-B498-43B3-948B-1728B52AA6E4}">
                <adec:decorative xmlns:adec="http://schemas.microsoft.com/office/drawing/2017/decorative" val="1"/>
              </a:ext>
            </a:extLst>
          </p:cNvPr>
          <p:cNvSpPr/>
          <p:nvPr/>
        </p:nvSpPr>
        <p:spPr>
          <a:xfrm>
            <a:off x="253476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ipeline"/>
          <p:cNvSpPr txBox="1"/>
          <p:nvPr/>
        </p:nvSpPr>
        <p:spPr>
          <a:xfrm>
            <a:off x="2699357" y="3206496"/>
            <a:ext cx="9843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pipeline</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43–48     </a:t>
            </a:r>
            <a:fld id="{D644418A-2FFC-4D92-9F79-8F52D1326C46}" type="slidenum">
              <a:rPr lang="en-GB" sz="1000">
                <a:solidFill>
                  <a:srgbClr val="8795A1"/>
                </a:solidFill>
                <a:latin typeface="Segoe UI"/>
              </a:rPr>
              <a:t>5</a:t>
            </a:fld>
          </a:p>
        </p:txBody>
      </p:sp>
      <p:sp>
        <p:nvSpPr>
          <p:cNvPr id="7" name="!!ag0" descr="Go to section 7.1 Where Data Comes Fro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Data Comes From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43  ›</a:t>
            </a:r>
          </a:p>
        </p:txBody>
      </p:sp>
      <p:sp>
        <p:nvSpPr>
          <p:cNvPr id="12" name="!!ag1" descr="Go to section 7.2 The Cleaning Sequenc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Cleaning Sequence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44  ›</a:t>
            </a:r>
          </a:p>
        </p:txBody>
      </p:sp>
      <p:sp>
        <p:nvSpPr>
          <p:cNvPr id="17" name="!!ag2" descr="Go to section 7.3 Joining Data">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Joining Data</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22" name="!!ag3" descr="Go to section 7.4 Encoding and Scal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Encoding and Scaling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27" name="!!ag4" descr="Go to section 7.5 Data Leakag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Data Leakage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46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513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Where Data Comes From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7.1   Where Data Comes From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The Cleaning Sequence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Joining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Encoding and Scaling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Data Leakage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§7.1     </a:t>
            </a:r>
            <a:fld id="{F29705AD-92E9-4E03-8C34-03A2B89164A1}"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Data Comes From</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43     </a:t>
            </a:r>
            <a:fld id="{1F57FBFC-FBF6-41C7-9E31-0215186785DE}" type="slidenum">
              <a:rPr lang="en-GB" sz="1000">
                <a:solidFill>
                  <a:srgbClr val="8795A1"/>
                </a:solidFill>
                <a:latin typeface="Segoe UI"/>
              </a:rPr>
              <a:t>7</a:t>
            </a:fld>
          </a:p>
        </p:txBody>
      </p:sp>
      <p:graphicFrame>
        <p:nvGraphicFramePr>
          <p:cNvPr id="7" name="!!table"/>
          <p:cNvGraphicFramePr>
            <a:graphicFrameLocks noGrp="1"/>
          </p:cNvGraphicFramePr>
          <p:nvPr/>
        </p:nvGraphicFramePr>
        <p:xfrm>
          <a:off x="658368" y="1737360"/>
          <a:ext cx="10874958" cy="4194048"/>
        </p:xfrm>
        <a:graphic>
          <a:graphicData uri="http://schemas.openxmlformats.org/drawingml/2006/table">
            <a:tbl>
              <a:tblPr firstRow="0" bandRow="0" firstCol="0" lastRow="0" lastCol="0" bandCol="0">
                <a:tableStyleId>{2D5ABB26-0587-4C30-8999-92F81FD0307C}</a:tableStyleId>
              </a:tblPr>
              <a:tblGrid>
                <a:gridCol w="2160094"/>
                <a:gridCol w="3724301"/>
                <a:gridCol w="4990563"/>
              </a:tblGrid>
              <a:tr h="390144">
                <a:tc>
                  <a:txBody>
                    <a:bodyPr wrap="square"/>
                    <a:lstStyle/>
                    <a:p>
                      <a:pPr algn="l"/>
                      <a:r>
                        <a:rPr sz="1600" b="1" i="0">
                          <a:solidFill>
                            <a:srgbClr val="1A5276"/>
                          </a:solidFill>
                          <a:latin typeface="Segoe UI"/>
                        </a:rPr>
                        <a:t>Source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Typical use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The risk you must manage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Database query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Internal transactional systems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production database is not a playground; a careless join can lock tables</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File export (CSV, Excel)</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One-off extracts, shared datasets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Silent type coercion — Excel turns identifiers into dates and drops leading zeros</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REST API</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SaaS platforms, VLE data, threat feeds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Rate limits, pagination, and schemas that change without notice</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Streaming (MQTT, Kafka)</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IoT telemetry, live logs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Out-of-order and duplicate delivery; see Chapter 23</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Web scraping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Public pages with no API</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Legal and ethical limits, brittle selectors, and terms of service</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Manual entry / survey</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Ground truth, labels, context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Human error, missingness that is rarely MCAR</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Before You Acquire Anything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43     </a:t>
            </a:r>
            <a:fld id="{819C31A4-42FE-4F46-9E4E-8D095EA4FA2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Ask two questions that are not technical: </a:t>
            </a:r>
            <a:r>
              <a:rPr sz="2300" b="0" i="1">
                <a:solidFill>
                  <a:srgbClr val="1C252B"/>
                </a:solidFill>
                <a:latin typeface="Segoe UI"/>
              </a:rPr>
              <a:t>am I permitted to use this data for this purpose</a:t>
            </a:r>
            <a:r>
              <a:rPr sz="2300" b="0" i="0">
                <a:solidFill>
                  <a:srgbClr val="1C252B"/>
                </a:solidFill>
                <a:latin typeface="Segoe UI"/>
              </a:rPr>
              <a:t>, and </a:t>
            </a:r>
            <a:r>
              <a:rPr sz="2300" b="0" i="1">
                <a:solidFill>
                  <a:srgbClr val="1C252B"/>
                </a:solidFill>
                <a:latin typeface="Segoe UI"/>
              </a:rPr>
              <a:t>does it contain personal data</a:t>
            </a:r>
            <a:r>
              <a:rPr sz="2300" b="0" i="0">
                <a:solidFill>
                  <a:srgbClr val="1C252B"/>
                </a:solidFill>
                <a:latin typeface="Segoe UI"/>
              </a:rPr>
              <a:t>. Answering them after building the model is how projects get cancelled at the last stage. Chapter 28 covers the substance; the point here is that acquisition is the moment to ask.</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Cleaning Sequence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Where Data Comes From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7.2   The Cleaning Sequence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Joining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Encoding and Scaling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Data Leakage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§7.2     </a:t>
            </a:r>
            <a:fld id="{9C9C4538-075E-4D82-A92A-7FFF4AF941DD}"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6125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cleaning sequence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44     </a:t>
            </a:r>
            <a:fld id="{E3D4DD32-A1E9-4857-A307-9EE9C5FAE4FB}" type="slidenum">
              <a:rPr lang="en-GB" sz="1000">
                <a:solidFill>
                  <a:srgbClr val="8795A1"/>
                </a:solidFill>
                <a:latin typeface="Segoe UI"/>
              </a:rPr>
              <a:t>10</a:t>
            </a:fld>
          </a:p>
        </p:txBody>
      </p:sp>
      <p:pic>
        <p:nvPicPr>
          <p:cNvPr id="6" name="!!figure" descr="Figure 7.1. The cleaning sequence. The order is not arbitrary: each step assumes the previous one is done. The note on the right is the single most important rule in the chapter and is expanded in 7.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03238"/>
            <a:ext cx="10874959" cy="279262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order is not arbitrary: each step assumes the previous one is done. The note on the right is the single most important rule in the chapter and is expanded in 7.5.</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Handling Missing Values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§7.2.1  ·  Handout p. 44     </a:t>
            </a:r>
            <a:fld id="{26313686-08FF-4267-9628-12FFB8F53A92}" type="slidenum">
              <a:rPr lang="en-GB" sz="1000">
                <a:solidFill>
                  <a:srgbClr val="8795A1"/>
                </a:solidFill>
                <a:latin typeface="Segoe UI"/>
              </a:rPr>
              <a:t>11</a:t>
            </a:fld>
          </a:p>
        </p:txBody>
      </p:sp>
      <p:graphicFrame>
        <p:nvGraphicFramePr>
          <p:cNvPr id="7" name="!!table"/>
          <p:cNvGraphicFramePr>
            <a:graphicFrameLocks noGrp="1"/>
          </p:cNvGraphicFramePr>
          <p:nvPr/>
        </p:nvGraphicFramePr>
        <p:xfrm>
          <a:off x="658368" y="1737360"/>
          <a:ext cx="10874958" cy="4194048"/>
        </p:xfrm>
        <a:graphic>
          <a:graphicData uri="http://schemas.openxmlformats.org/drawingml/2006/table">
            <a:tbl>
              <a:tblPr firstRow="0" bandRow="0" firstCol="0" lastRow="0" lastCol="0" bandCol="0">
                <a:tableStyleId>{2D5ABB26-0587-4C30-8999-92F81FD0307C}</a:tableStyleId>
              </a:tblPr>
              <a:tblGrid>
                <a:gridCol w="2474990"/>
                <a:gridCol w="3449987"/>
                <a:gridCol w="4949981"/>
              </a:tblGrid>
              <a:tr h="390144">
                <a:tc>
                  <a:txBody>
                    <a:bodyPr wrap="square"/>
                    <a:lstStyle/>
                    <a:p>
                      <a:pPr algn="l"/>
                      <a:r>
                        <a:rPr sz="1600" b="1" i="0">
                          <a:solidFill>
                            <a:srgbClr val="1A5276"/>
                          </a:solidFill>
                          <a:latin typeface="Segoe UI"/>
                        </a:rPr>
                        <a:t>Strategy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How</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When it is appropriate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Drop rows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Remove any row with a missing value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Missingness is MCAR and rare (</a:t>
                      </a:r>
                      <a:r>
                        <a:rPr sz="1600" b="0" i="0">
                          <a:solidFill>
                            <a:srgbClr val="1C252B"/>
                          </a:solidFill>
                          <a:latin typeface="Cambria"/>
                        </a:rPr>
                        <a:t>&lt;5%</a:t>
                      </a:r>
                      <a:r>
                        <a:rPr sz="1600" b="0" i="0">
                          <a:solidFill>
                            <a:srgbClr val="1C252B"/>
                          </a:solidFill>
                          <a:latin typeface="Segoe UI"/>
                        </a:rPr>
                        <a:t>). Otherwise you are deleting a biased subset</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Drop column</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Remove the feature entirely</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More than roughly half missing and no reason to think absence is informative</a:t>
                      </a:r>
                      <a:endParaRPr sz="1600"/>
                    </a:p>
                  </a:txBody>
                  <a:tcPr marL="109728" marR="109728" marT="64008" marB="45720" anchor="t">
                    <a:lnL w="0" cmpd="sng">
                      <a:noFill/>
                    </a:lnL>
                    <a:lnR w="0" cmpd="sng">
                      <a:noFill/>
                    </a:lnR>
                    <a:lnT w="9525" cmpd="sng">
                      <a:noFill/>
                    </a:lnT>
                    <a:lnB w="9525" cmpd="sng">
                      <a:noFill/>
                    </a:lnB>
                    <a:solidFill>
                      <a:srgbClr val="FEF7F1"/>
                    </a:solidFill>
                  </a:tcPr>
                </a:tc>
              </a:tr>
              <a:tr h="633984">
                <a:tc>
                  <a:txBody>
                    <a:bodyPr wrap="square"/>
                    <a:lstStyle/>
                    <a:p>
                      <a:pPr algn="l"/>
                      <a:r>
                        <a:rPr sz="1600" b="0" i="0">
                          <a:solidFill>
                            <a:srgbClr val="1C252B"/>
                          </a:solidFill>
                          <a:latin typeface="Segoe UI"/>
                        </a:rPr>
                        <a:t>Mean / median fill</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Replace with the column’s centre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Numeric, MCAR or MAR, and the variable is not central to the model</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Forward fill</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Carry the last observation forward</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Time series with slow-changing values — sensor telemetry especially</a:t>
                      </a:r>
                      <a:endParaRPr sz="1600"/>
                    </a:p>
                  </a:txBody>
                  <a:tcPr marL="109728" marR="109728" marT="64008" marB="45720" anchor="t">
                    <a:lnL w="0" cmpd="sng">
                      <a:noFill/>
                    </a:lnL>
                    <a:lnR w="0" cmpd="sng">
                      <a:noFill/>
                    </a:lnR>
                    <a:lnT w="9525" cmpd="sng">
                      <a:noFill/>
                    </a:lnT>
                    <a:lnB w="9525" cmpd="sng">
                      <a:noFill/>
                    </a:lnB>
                    <a:solidFill>
                      <a:srgbClr val="FEF7F1"/>
                    </a:solidFill>
                  </a:tcPr>
                </a:tc>
              </a:tr>
              <a:tr h="633984">
                <a:tc>
                  <a:txBody>
                    <a:bodyPr wrap="square"/>
                    <a:lstStyle/>
                    <a:p>
                      <a:pPr algn="l"/>
                      <a:r>
                        <a:rPr sz="1600" b="0" i="0">
                          <a:solidFill>
                            <a:srgbClr val="1C252B"/>
                          </a:solidFill>
                          <a:latin typeface="Segoe UI"/>
                        </a:rPr>
                        <a:t>Model-based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Predict the missing value from other columns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Valuable feature, MAR, enough data to justify the complexity</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Missing indicator</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600" b="0" i="0">
                          <a:solidFill>
                            <a:srgbClr val="1C252B"/>
                          </a:solidFill>
                          <a:latin typeface="Segoe UI"/>
                        </a:rPr>
                        <a:t>Add a boolean </a:t>
                      </a:r>
                      <a:r>
                        <a:rPr sz="1500" b="0" i="0">
                          <a:solidFill>
                            <a:srgbClr val="1F4E79"/>
                          </a:solidFill>
                          <a:latin typeface="Consolas"/>
                        </a:rPr>
                        <a:t>was_missing</a:t>
                      </a:r>
                      <a:r>
                        <a:rPr sz="1600" b="0" i="0">
                          <a:solidFill>
                            <a:srgbClr val="1C252B"/>
                          </a:solidFill>
                          <a:latin typeface="Segoe UI"/>
                        </a:rPr>
                        <a:t> column</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600" b="1" i="0">
                          <a:solidFill>
                            <a:srgbClr val="1C252B"/>
                          </a:solidFill>
                          <a:latin typeface="Segoe UI"/>
                        </a:rPr>
                        <a:t>MNAR</a:t>
                      </a:r>
                      <a:r>
                        <a:rPr sz="1600" b="0" i="0">
                          <a:solidFill>
                            <a:srgbClr val="1C252B"/>
                          </a:solidFill>
                          <a:latin typeface="Segoe UI"/>
                        </a:rPr>
                        <a:t> — the absence itself carries signal. Usually combined with a simple fill</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1930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Default You Should Adopt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§7.2.1  ·  Handout p. 44     </a:t>
            </a:r>
            <a:fld id="{7CF6F4E9-EABB-4671-9DCD-11906A251465}"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unsure, add the missing indicator </a:t>
            </a:r>
            <a:r>
              <a:rPr sz="2300" b="0" i="1">
                <a:solidFill>
                  <a:srgbClr val="1C252B"/>
                </a:solidFill>
                <a:latin typeface="Segoe UI"/>
              </a:rPr>
              <a:t>and</a:t>
            </a:r>
            <a:r>
              <a:rPr sz="2300" b="0" i="0">
                <a:solidFill>
                  <a:srgbClr val="1C252B"/>
                </a:solidFill>
                <a:latin typeface="Segoe UI"/>
              </a:rPr>
              <a:t> fill with the median. It costs one column, never destroys information, and lets the model decide whether absence matters. In learning analytics and security logging this is almost always the right call, because absence is rarely accidental (Chapter 3).</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joins you will use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45     </a:t>
            </a:r>
            <a:fld id="{54306CD1-853D-40DD-8FAC-09E24CAF3113}" type="slidenum">
              <a:rPr lang="en-GB" sz="1000">
                <a:solidFill>
                  <a:srgbClr val="8795A1"/>
                </a:solidFill>
                <a:latin typeface="Segoe UI"/>
              </a:rPr>
              <a:t>13</a:t>
            </a:fld>
          </a:p>
        </p:txBody>
      </p:sp>
      <p:pic>
        <p:nvPicPr>
          <p:cNvPr id="6" name="!!figure" descr="Figure 7.2. The three joins you will use. The default in most tools is inner, which silently discards non-matching rows; if 300 of your 2,000 students have no VLE record, an inner join removes them and your sample is no longer the cohor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96092" y="1737360"/>
            <a:ext cx="939951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default in most tools is inner, which silently discards non-matching rows; if 300 of your 2,000 students have no VLE record, an inner join removes them and your sample is no longer the cohort.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773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Encoding and Scaling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Where Data Comes From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The Cleaning Sequence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Joining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7.4   Encoding and Scaling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Data Leakage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§7.4     </a:t>
            </a:r>
            <a:fld id="{4C3EE27E-3D58-4467-9C79-CCC45FD89659}" type="slidenum">
              <a:rPr lang="en-GB" sz="1000">
                <a:solidFill>
                  <a:srgbClr val="8795A1"/>
                </a:solidFill>
                <a:latin typeface="Segoe UI"/>
              </a:rPr>
              <a:t>14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One-Hot vs. Ordinal Encoding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45     </a:t>
            </a:r>
            <a:fld id="{98C365B0-2021-4563-B77B-7F8469C78114}"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One-hot encoding</a:t>
            </a:r>
            <a:r>
              <a:rPr sz="2300" b="0" i="0">
                <a:solidFill>
                  <a:srgbClr val="1C252B"/>
                </a:solidFill>
                <a:latin typeface="Segoe UI"/>
              </a:rPr>
              <a:t> turns a nominal variable with </a:t>
            </a:r>
            <a:r>
              <a:rPr sz="2300" b="0" i="1">
                <a:solidFill>
                  <a:srgbClr val="1C252B"/>
                </a:solidFill>
                <a:latin typeface="Cambria"/>
              </a:rPr>
              <a:t>k</a:t>
            </a:r>
            <a:r>
              <a:rPr sz="2300" b="0" i="0">
                <a:solidFill>
                  <a:srgbClr val="1C252B"/>
                </a:solidFill>
                <a:latin typeface="Segoe UI"/>
              </a:rPr>
              <a:t> categories into </a:t>
            </a:r>
            <a:r>
              <a:rPr sz="2300" b="0" i="1">
                <a:solidFill>
                  <a:srgbClr val="1C252B"/>
                </a:solidFill>
                <a:latin typeface="Cambria"/>
              </a:rPr>
              <a:t>k</a:t>
            </a:r>
            <a:r>
              <a:rPr sz="2300" b="0" i="0">
                <a:solidFill>
                  <a:srgbClr val="1C252B"/>
                </a:solidFill>
                <a:latin typeface="Segoe UI"/>
              </a:rPr>
              <a:t> binary columns, preserving the fact that no order exists. </a:t>
            </a:r>
            <a:r>
              <a:rPr sz="2300" b="1" i="0">
                <a:solidFill>
                  <a:srgbClr val="1A5276"/>
                </a:solidFill>
                <a:latin typeface="Segoe UI"/>
              </a:rPr>
              <a:t>Ordinal encoding</a:t>
            </a:r>
            <a:r>
              <a:rPr sz="2300" b="0" i="0">
                <a:solidFill>
                  <a:srgbClr val="1C252B"/>
                </a:solidFill>
                <a:latin typeface="Segoe UI"/>
              </a:rPr>
              <a:t> maps categories to integers, and is correct </a:t>
            </a:r>
            <a:r>
              <a:rPr sz="2300" b="0" i="1">
                <a:solidFill>
                  <a:srgbClr val="1C252B"/>
                </a:solidFill>
                <a:latin typeface="Segoe UI"/>
              </a:rPr>
              <a:t>only</a:t>
            </a:r>
            <a:r>
              <a:rPr sz="2300" b="0" i="0">
                <a:solidFill>
                  <a:srgbClr val="1C252B"/>
                </a:solidFill>
                <a:latin typeface="Segoe UI"/>
              </a:rPr>
              <a:t> when the categories genuinely have an order (low </a:t>
            </a:r>
            <a:r>
              <a:rPr sz="2300" b="0" i="0">
                <a:solidFill>
                  <a:srgbClr val="1C252B"/>
                </a:solidFill>
                <a:latin typeface="Cambria"/>
              </a:rPr>
              <a:t>&lt;</a:t>
            </a:r>
            <a:r>
              <a:rPr sz="2300" b="0" i="0">
                <a:solidFill>
                  <a:srgbClr val="1C252B"/>
                </a:solidFill>
                <a:latin typeface="Segoe UI"/>
              </a:rPr>
              <a:t> medium </a:t>
            </a:r>
            <a:r>
              <a:rPr sz="2300" b="0" i="0">
                <a:solidFill>
                  <a:srgbClr val="1C252B"/>
                </a:solidFill>
                <a:latin typeface="Cambria"/>
              </a:rPr>
              <a:t>&lt;</a:t>
            </a:r>
            <a:r>
              <a:rPr sz="2300" b="0" i="0">
                <a:solidFill>
                  <a:srgbClr val="1C252B"/>
                </a:solidFill>
                <a:latin typeface="Segoe UI"/>
              </a:rPr>
              <a:t> high).</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541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Normalisation vs. Standardisation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45     </a:t>
            </a:r>
            <a:fld id="{C15522CD-504F-46DD-AA16-CCB1FE0BC05D}"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393802"/>
          </a:xfrm>
          <a:prstGeom prst="roundRect">
            <a:avLst>
              <a:gd name="adj" fmla="val 381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39380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Min–max normalisation rescales to [0,1]: x′ = (x − min)/(max − mi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631027"/>
          </a:xfrm>
          <a:prstGeom prst="rect">
            <a:avLst/>
          </a:prstGeom>
        </p:spPr>
      </p:pic>
      <p:pic>
        <p:nvPicPr>
          <p:cNvPr id="10" name="body-1" descr="Standardisation (z-score) centres and rescales by spread: z = (x − x̄)/s, giving mean 0 and standard deviation 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2839938"/>
            <a:ext cx="10161727" cy="980328"/>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Scaling the Student Vectors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45     </a:t>
            </a:r>
            <a:fld id="{978EDA76-8667-480C-BEB3-E4776C68DF39}"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639"/>
          </a:xfrm>
          <a:prstGeom prst="roundRect">
            <a:avLst>
              <a:gd name="adj" fmla="val 21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6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From Chapter 4: </a:t>
            </a:r>
            <a:r>
              <a:rPr sz="1900" b="0" i="1">
                <a:solidFill>
                  <a:srgbClr val="1C252B"/>
                </a:solidFill>
                <a:latin typeface="Cambria"/>
              </a:rPr>
              <a:t>a</a:t>
            </a:r>
            <a:r>
              <a:rPr sz="1900" b="0" i="0">
                <a:solidFill>
                  <a:srgbClr val="1C252B"/>
                </a:solidFill>
                <a:latin typeface="Cambria"/>
              </a:rPr>
              <a:t> = [92, 8, 12]</a:t>
            </a:r>
            <a:r>
              <a:rPr sz="1900" b="0" i="0">
                <a:solidFill>
                  <a:srgbClr val="1C252B"/>
                </a:solidFill>
                <a:latin typeface="Segoe UI"/>
              </a:rPr>
              <a:t>, </a:t>
            </a:r>
            <a:r>
              <a:rPr sz="1900" b="0" i="1">
                <a:solidFill>
                  <a:srgbClr val="1C252B"/>
                </a:solidFill>
                <a:latin typeface="Cambria"/>
              </a:rPr>
              <a:t>b</a:t>
            </a:r>
            <a:r>
              <a:rPr sz="1900" b="0" i="0">
                <a:solidFill>
                  <a:srgbClr val="1C252B"/>
                </a:solidFill>
                <a:latin typeface="Cambria"/>
              </a:rPr>
              <a:t> = [45, 3, 0]</a:t>
            </a:r>
            <a:r>
              <a:rPr sz="1900" b="0" i="0">
                <a:solidFill>
                  <a:srgbClr val="1C252B"/>
                </a:solidFill>
                <a:latin typeface="Segoe UI"/>
              </a:rPr>
              <a:t>, with plausible ranges attendance </a:t>
            </a:r>
            <a:r>
              <a:rPr sz="1900" b="0" i="0">
                <a:solidFill>
                  <a:srgbClr val="1C252B"/>
                </a:solidFill>
                <a:latin typeface="Cambria"/>
              </a:rPr>
              <a:t>[0,100]</a:t>
            </a:r>
            <a:r>
              <a:rPr sz="1900" b="0" i="0">
                <a:solidFill>
                  <a:srgbClr val="1C252B"/>
                </a:solidFill>
                <a:latin typeface="Segoe UI"/>
              </a:rPr>
              <a:t>, quizzes </a:t>
            </a:r>
            <a:r>
              <a:rPr sz="1900" b="0" i="0">
                <a:solidFill>
                  <a:srgbClr val="1C252B"/>
                </a:solidFill>
                <a:latin typeface="Cambria"/>
              </a:rPr>
              <a:t>[0,10]</a:t>
            </a:r>
            <a:r>
              <a:rPr sz="1900" b="0" i="0">
                <a:solidFill>
                  <a:srgbClr val="1C252B"/>
                </a:solidFill>
                <a:latin typeface="Segoe UI"/>
              </a:rPr>
              <a:t>, posts </a:t>
            </a:r>
            <a:r>
              <a:rPr sz="1900" b="0" i="0">
                <a:solidFill>
                  <a:srgbClr val="1C252B"/>
                </a:solidFill>
                <a:latin typeface="Cambria"/>
              </a:rPr>
              <a:t>[0,25]</a:t>
            </a:r>
            <a:r>
              <a:rPr sz="1900" b="0" i="0">
                <a:solidFill>
                  <a:srgbClr val="1C252B"/>
                </a:solidFill>
                <a:latin typeface="Segoe UI"/>
              </a:rPr>
              <a:t>.</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Unscaled distance:</a:t>
            </a:r>
            <a:r>
              <a:rPr sz="1900" b="0" i="0">
                <a:solidFill>
                  <a:srgbClr val="1C252B"/>
                </a:solidFill>
                <a:latin typeface="Segoe UI"/>
              </a:rPr>
              <a:t> </a:t>
            </a:r>
            <a:r>
              <a:rPr sz="1900" b="0" i="0">
                <a:solidFill>
                  <a:srgbClr val="1C252B"/>
                </a:solidFill>
                <a:latin typeface="Cambria"/>
              </a:rPr>
              <a:t>√(47</a:t>
            </a:r>
            <a:r>
              <a:rPr sz="1900" b="0" i="0" baseline="30000">
                <a:solidFill>
                  <a:srgbClr val="1C252B"/>
                </a:solidFill>
                <a:latin typeface="Cambria"/>
              </a:rPr>
              <a:t>2</a:t>
            </a:r>
            <a:r>
              <a:rPr sz="1900" b="0" i="0">
                <a:solidFill>
                  <a:srgbClr val="1C252B"/>
                </a:solidFill>
                <a:latin typeface="Cambria"/>
              </a:rPr>
              <a:t> + 5</a:t>
            </a:r>
            <a:r>
              <a:rPr sz="1900" b="0" i="0" baseline="30000">
                <a:solidFill>
                  <a:srgbClr val="1C252B"/>
                </a:solidFill>
                <a:latin typeface="Cambria"/>
              </a:rPr>
              <a:t>2</a:t>
            </a:r>
            <a:r>
              <a:rPr sz="1900" b="0" i="0">
                <a:solidFill>
                  <a:srgbClr val="1C252B"/>
                </a:solidFill>
                <a:latin typeface="Cambria"/>
              </a:rPr>
              <a:t> + 12</a:t>
            </a:r>
            <a:r>
              <a:rPr sz="1900" b="0" i="0" baseline="30000">
                <a:solidFill>
                  <a:srgbClr val="1C252B"/>
                </a:solidFill>
                <a:latin typeface="Cambria"/>
              </a:rPr>
              <a:t>2</a:t>
            </a:r>
            <a:r>
              <a:rPr sz="1900" b="0" i="0">
                <a:solidFill>
                  <a:srgbClr val="1C252B"/>
                </a:solidFill>
                <a:latin typeface="Cambria"/>
              </a:rPr>
              <a:t>) = √(2378) ≈ 48.8</a:t>
            </a:r>
            <a:r>
              <a:rPr sz="1900" b="0" i="0">
                <a:solidFill>
                  <a:srgbClr val="1C252B"/>
                </a:solidFill>
                <a:latin typeface="Segoe UI"/>
              </a:rPr>
              <a:t>, of which attendance contributed 93%.</a:t>
            </a:r>
          </a:p>
        </p:txBody>
      </p:sp>
      <p:sp>
        <p:nvSpPr>
          <p:cNvPr id="11" name="body-2"/>
          <p:cNvSpPr txBox="1"/>
          <p:nvPr/>
        </p:nvSpPr>
        <p:spPr>
          <a:xfrm>
            <a:off x="1042416" y="3180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Min–max normalised:</a:t>
            </a:r>
          </a:p>
        </p:txBody>
      </p:sp>
      <p:sp>
        <p:nvSpPr>
          <p:cNvPr id="12" name="body-3"/>
          <p:cNvSpPr txBox="1"/>
          <p:nvPr/>
        </p:nvSpPr>
        <p:spPr>
          <a:xfrm>
            <a:off x="1042416" y="3614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a</a:t>
            </a:r>
            <a:r>
              <a:rPr sz="1900" b="0" i="0">
                <a:solidFill>
                  <a:srgbClr val="1C252B"/>
                </a:solidFill>
                <a:latin typeface="Cambria"/>
              </a:rPr>
              <a:t>′ = [0.92, 0.80, 0.48]</a:t>
            </a:r>
            <a:r>
              <a:rPr sz="1900" b="0" i="0">
                <a:solidFill>
                  <a:srgbClr val="1C252B"/>
                </a:solidFill>
                <a:latin typeface="Segoe UI"/>
              </a:rPr>
              <a:t>, </a:t>
            </a:r>
            <a:r>
              <a:rPr sz="1900" b="0" i="1">
                <a:solidFill>
                  <a:srgbClr val="1C252B"/>
                </a:solidFill>
                <a:latin typeface="Cambria"/>
              </a:rPr>
              <a:t>b</a:t>
            </a:r>
            <a:r>
              <a:rPr sz="1900" b="0" i="0">
                <a:solidFill>
                  <a:srgbClr val="1C252B"/>
                </a:solidFill>
                <a:latin typeface="Cambria"/>
              </a:rPr>
              <a:t>′ = [0.45, 0.30, 0.00]</a:t>
            </a:r>
            <a:r>
              <a:rPr sz="1900" b="0" i="0">
                <a:solidFill>
                  <a:srgbClr val="1C252B"/>
                </a:solidFill>
                <a:latin typeface="Segoe UI"/>
              </a:rPr>
              <a:t>.</a:t>
            </a:r>
          </a:p>
        </p:txBody>
      </p:sp>
      <p:sp>
        <p:nvSpPr>
          <p:cNvPr id="13" name="body-4"/>
          <p:cNvSpPr txBox="1"/>
          <p:nvPr/>
        </p:nvSpPr>
        <p:spPr>
          <a:xfrm>
            <a:off x="1042416" y="4048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Scaled distance:</a:t>
            </a:r>
            <a:r>
              <a:rPr sz="1900" b="0" i="0">
                <a:solidFill>
                  <a:srgbClr val="1C252B"/>
                </a:solidFill>
                <a:latin typeface="Segoe UI"/>
              </a:rPr>
              <a:t> </a:t>
            </a:r>
            <a:r>
              <a:rPr sz="1900" b="0" i="0">
                <a:solidFill>
                  <a:srgbClr val="1C252B"/>
                </a:solidFill>
                <a:latin typeface="Cambria"/>
              </a:rPr>
              <a:t>√(0.47</a:t>
            </a:r>
            <a:r>
              <a:rPr sz="1900" b="0" i="0" baseline="30000">
                <a:solidFill>
                  <a:srgbClr val="1C252B"/>
                </a:solidFill>
                <a:latin typeface="Cambria"/>
              </a:rPr>
              <a:t>2</a:t>
            </a:r>
            <a:r>
              <a:rPr sz="1900" b="0" i="0">
                <a:solidFill>
                  <a:srgbClr val="1C252B"/>
                </a:solidFill>
                <a:latin typeface="Cambria"/>
              </a:rPr>
              <a:t> + 0.50</a:t>
            </a:r>
            <a:r>
              <a:rPr sz="1900" b="0" i="0" baseline="30000">
                <a:solidFill>
                  <a:srgbClr val="1C252B"/>
                </a:solidFill>
                <a:latin typeface="Cambria"/>
              </a:rPr>
              <a:t>2</a:t>
            </a:r>
            <a:r>
              <a:rPr sz="1900" b="0" i="0">
                <a:solidFill>
                  <a:srgbClr val="1C252B"/>
                </a:solidFill>
                <a:latin typeface="Cambria"/>
              </a:rPr>
              <a:t> + 0.48</a:t>
            </a:r>
            <a:r>
              <a:rPr sz="1900" b="0" i="0" baseline="30000">
                <a:solidFill>
                  <a:srgbClr val="1C252B"/>
                </a:solidFill>
                <a:latin typeface="Cambria"/>
              </a:rPr>
              <a:t>2</a:t>
            </a:r>
            <a:r>
              <a:rPr sz="1900" b="0" i="0">
                <a:solidFill>
                  <a:srgbClr val="1C252B"/>
                </a:solidFill>
                <a:latin typeface="Cambria"/>
              </a:rPr>
              <a:t>) = √(0.2209 + 0.25 + 0.2304) = √(0.7013) ≈ 0.837</a:t>
            </a:r>
            <a:r>
              <a:rPr sz="1900" b="0" i="0">
                <a:solidFill>
                  <a:srgbClr val="1C252B"/>
                </a:solidFill>
                <a:latin typeface="Segoe UI"/>
              </a:rPr>
              <a:t>.</a:t>
            </a:r>
          </a:p>
        </p:txBody>
      </p:sp>
      <p:sp>
        <p:nvSpPr>
          <p:cNvPr id="14" name="body-5"/>
          <p:cNvSpPr txBox="1"/>
          <p:nvPr/>
        </p:nvSpPr>
        <p:spPr>
          <a:xfrm>
            <a:off x="1042416" y="448210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Contribution now:</a:t>
            </a:r>
            <a:r>
              <a:rPr sz="1900" b="0" i="0">
                <a:solidFill>
                  <a:srgbClr val="1C252B"/>
                </a:solidFill>
                <a:latin typeface="Segoe UI"/>
              </a:rPr>
              <a:t> attendance 31%, quizzes 36%, posts 33% — roughly equal, which is what “these three features matter comparably” actually means. Note this is a </a:t>
            </a:r>
            <a:r>
              <a:rPr sz="1900" b="0" i="1">
                <a:solidFill>
                  <a:srgbClr val="1C252B"/>
                </a:solidFill>
                <a:latin typeface="Segoe UI"/>
              </a:rPr>
              <a:t>modelling decision</a:t>
            </a:r>
            <a:r>
              <a:rPr sz="1900" b="0" i="0">
                <a:solidFill>
                  <a:srgbClr val="1C252B"/>
                </a:solidFill>
                <a:latin typeface="Segoe UI"/>
              </a:rPr>
              <a:t>, not a correction: you have declared the three features equally important. If attendance really is more important, say so with a weight, deliberately.</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9347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Encoding and Scaling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45     </a:t>
            </a:r>
            <a:fld id="{B98A5E97-A009-4629-90EE-390E4BF13B10}"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1734312"/>
        </p:xfrm>
        <a:graphic>
          <a:graphicData uri="http://schemas.openxmlformats.org/drawingml/2006/table">
            <a:tbl>
              <a:tblPr firstRow="0" bandRow="0" firstCol="0" lastRow="0" lastCol="0" bandCol="0">
                <a:tableStyleId>{2D5ABB26-0587-4C30-8999-92F81FD0307C}</a:tableStyleId>
              </a:tblPr>
              <a:tblGrid>
                <a:gridCol w="3299987"/>
                <a:gridCol w="3449987"/>
                <a:gridCol w="4124984"/>
              </a:tblGrid>
              <a:tr h="405384">
                <a:tc>
                  <a:txBody>
                    <a:bodyPr wrap="square"/>
                    <a:lstStyle/>
                    <a:p>
                      <a:pPr algn="l"/>
                      <a:r>
                        <a:rPr sz="1700" b="1" i="0">
                          <a:solidFill>
                            <a:srgbClr val="1A5276"/>
                          </a:solidFill>
                          <a:latin typeface="Segoe UI"/>
                        </a:rPr>
                        <a:t>Method needs scaling?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Because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Examples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1" i="0">
                          <a:solidFill>
                            <a:srgbClr val="1C252B"/>
                          </a:solidFill>
                          <a:latin typeface="Segoe UI"/>
                        </a:rPr>
                        <a:t>Yes — essential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Uses distances or gradients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k-NN, k-means, SVM, PCA, neural networks, ridge/lasso</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1" i="0">
                          <a:solidFill>
                            <a:srgbClr val="1C252B"/>
                          </a:solidFill>
                          <a:latin typeface="Segoe UI"/>
                        </a:rPr>
                        <a:t>No — indifferent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Splits on one feature at a time, so units are irrelevant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Decision trees, random forests, gradient boosting</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Data Leakage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Where Data Comes From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The Cleaning Sequence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Joining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Encoding and Scaling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7.5   Data Leakage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§7.5     </a:t>
            </a:r>
            <a:fld id="{A50E0A9D-D20D-43C3-A67C-8A78112D4F22}"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5152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Leakage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FA2391E3-1159-42D9-A16C-948294235530}"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Leakage</a:t>
            </a:r>
            <a:r>
              <a:rPr sz="2300" b="0" i="0">
                <a:solidFill>
                  <a:srgbClr val="1C252B"/>
                </a:solidFill>
                <a:latin typeface="Segoe UI"/>
              </a:rPr>
              <a:t> occurs when information that would not be available at prediction time influences training. The model scores brilliantly in testing and fails in production, because it learned to use a fact from the future.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most common leakage in student projects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359A2752-B639-4424-824F-2269921B91E9}" type="slidenum">
              <a:rPr lang="en-GB" sz="1000">
                <a:solidFill>
                  <a:srgbClr val="8795A1"/>
                </a:solidFill>
                <a:latin typeface="Segoe UI"/>
              </a:rPr>
              <a:t>21</a:t>
            </a:fld>
          </a:p>
        </p:txBody>
      </p:sp>
      <p:pic>
        <p:nvPicPr>
          <p:cNvPr id="6" name="!!figure" descr="Figure 7.3. The most common leakage in student projects. Any transformation that learns something from the data — scaling, imputation, encoding, feature selection — must be fitted on the training split alone and then applied to the test spl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7360"/>
            <a:ext cx="6813176" cy="457200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7855592" y="2928823"/>
            <a:ext cx="54864" cy="21890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075048" y="2901391"/>
            <a:ext cx="3403414" cy="2280513"/>
          </a:xfrm>
          <a:prstGeom prst="rect">
            <a:avLst/>
          </a:prstGeom>
          <a:noFill/>
        </p:spPr>
        <p:txBody>
          <a:bodyPr wrap="square" anchor="t" lIns="0" rIns="0" tIns="0" bIns="0">
            <a:noAutofit/>
          </a:bodyPr>
          <a:lstStyle/>
          <a:p>
            <a:pPr algn="l">
              <a:lnSpc>
                <a:spcPct val="108000"/>
              </a:lnSpc>
              <a:spcBef>
                <a:spcPts val="0"/>
              </a:spcBef>
              <a:spcAft>
                <a:spcPts val="0"/>
              </a:spcAft>
            </a:pPr>
            <a:r>
              <a:rPr sz="1900" b="0" i="0">
                <a:solidFill>
                  <a:srgbClr val="3E4C57"/>
                </a:solidFill>
                <a:latin typeface="Segoe UI"/>
              </a:rPr>
              <a:t>Any transformation that learns something from the data — scaling, imputation, encoding, feature selection — must be fitted on the training split alone and then applied to the test split.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Leaks and How to Spot Them</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F4C22A0D-2F86-42DE-BDA5-EF48E0C40ED3}" type="slidenum">
              <a:rPr lang="en-GB" sz="1000">
                <a:solidFill>
                  <a:srgbClr val="8795A1"/>
                </a:solidFill>
                <a:latin typeface="Segoe UI"/>
              </a:rPr>
              <a:t>22</a:t>
            </a:fld>
          </a:p>
        </p:txBody>
      </p:sp>
      <p:sp>
        <p:nvSpPr>
          <p:cNvPr id="7" name="!!plead"/>
          <p:cNvSpPr txBox="1"/>
          <p:nvPr/>
        </p:nvSpPr>
        <p:spPr>
          <a:xfrm>
            <a:off x="658368" y="1737360"/>
            <a:ext cx="10874959" cy="653491"/>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5F6F7B"/>
                </a:solidFill>
                <a:latin typeface="Segoe UI"/>
              </a:rPr>
              <a:t>The universal warning sign:</a:t>
            </a:r>
            <a:r>
              <a:rPr sz="1600" b="0" i="0">
                <a:solidFill>
                  <a:srgbClr val="5F6F7B"/>
                </a:solidFill>
                <a:latin typeface="Segoe UI"/>
              </a:rPr>
              <a:t> a model that is far more accurate than the problem plausibly allows. If your dropout classifier reaches 99%, look for a leak before celebrating.</a:t>
            </a:r>
          </a:p>
        </p:txBody>
      </p:sp>
      <p:sp>
        <p:nvSpPr>
          <p:cNvPr id="8" name="!!pb0">
            <a:extLst>
              <a:ext uri="{C183D7F6-B498-43B3-948B-1728B52AA6E4}">
                <adec:decorative xmlns:adec="http://schemas.microsoft.com/office/drawing/2017/decorative" val="1"/>
              </a:ext>
            </a:extLst>
          </p:cNvPr>
          <p:cNvSpPr/>
          <p:nvPr/>
        </p:nvSpPr>
        <p:spPr>
          <a:xfrm>
            <a:off x="658368" y="24091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x0"/>
          <p:cNvSpPr txBox="1"/>
          <p:nvPr/>
        </p:nvSpPr>
        <p:spPr>
          <a:xfrm>
            <a:off x="658368" y="24319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0" name="!!pt0"/>
          <p:cNvSpPr txBox="1"/>
          <p:nvPr/>
        </p:nvSpPr>
        <p:spPr>
          <a:xfrm>
            <a:off x="1261872" y="2390851"/>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Fitting a scaler or imputer on the full dataset.</a:t>
            </a:r>
            <a:r>
              <a:rPr sz="1900" b="0" i="0">
                <a:solidFill>
                  <a:srgbClr val="1C252B"/>
                </a:solidFill>
                <a:latin typeface="Segoe UI"/>
              </a:rPr>
              <a:t> Fix: fit on train, transform test. Use a </a:t>
            </a:r>
            <a:r>
              <a:rPr sz="1800" b="0" i="0">
                <a:solidFill>
                  <a:srgbClr val="1F4E79"/>
                </a:solidFill>
                <a:latin typeface="Consolas"/>
              </a:rPr>
              <a:t>Pipeline</a:t>
            </a:r>
            <a:r>
              <a:rPr sz="1900" b="0" i="0">
                <a:solidFill>
                  <a:srgbClr val="1C252B"/>
                </a:solidFill>
                <a:latin typeface="Segoe UI"/>
              </a:rPr>
              <a:t> so it is impossible to forget.</a:t>
            </a:r>
          </a:p>
        </p:txBody>
      </p:sp>
      <p:sp>
        <p:nvSpPr>
          <p:cNvPr id="11" name="!!pb1">
            <a:extLst>
              <a:ext uri="{C183D7F6-B498-43B3-948B-1728B52AA6E4}">
                <adec:decorative xmlns:adec="http://schemas.microsoft.com/office/drawing/2017/decorative" val="1"/>
              </a:ext>
            </a:extLst>
          </p:cNvPr>
          <p:cNvSpPr/>
          <p:nvPr/>
        </p:nvSpPr>
        <p:spPr>
          <a:xfrm>
            <a:off x="658368" y="321259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x1"/>
          <p:cNvSpPr txBox="1"/>
          <p:nvPr/>
        </p:nvSpPr>
        <p:spPr>
          <a:xfrm>
            <a:off x="658368" y="323545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3" name="!!pt1"/>
          <p:cNvSpPr txBox="1"/>
          <p:nvPr/>
        </p:nvSpPr>
        <p:spPr>
          <a:xfrm>
            <a:off x="1261872" y="3194304"/>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A feature computed after the outcome.</a:t>
            </a:r>
            <a:r>
              <a:rPr sz="1900" b="0" i="0">
                <a:solidFill>
                  <a:srgbClr val="1C252B"/>
                </a:solidFill>
                <a:latin typeface="Segoe UI"/>
              </a:rPr>
              <a:t> </a:t>
            </a:r>
            <a:r>
              <a:rPr sz="1800" b="0" i="0">
                <a:solidFill>
                  <a:srgbClr val="1F4E79"/>
                </a:solidFill>
                <a:latin typeface="Consolas"/>
              </a:rPr>
              <a:t>final_attendance</a:t>
            </a:r>
            <a:r>
              <a:rPr sz="1900" b="0" i="0">
                <a:solidFill>
                  <a:srgbClr val="1C252B"/>
                </a:solidFill>
                <a:latin typeface="Segoe UI"/>
              </a:rPr>
              <a:t> to predict failure; </a:t>
            </a:r>
            <a:r>
              <a:rPr sz="1800" b="0" i="0">
                <a:solidFill>
                  <a:srgbClr val="1F4E79"/>
                </a:solidFill>
                <a:latin typeface="Consolas"/>
              </a:rPr>
              <a:t>ticket_close_time</a:t>
            </a:r>
            <a:r>
              <a:rPr sz="1900" b="0" i="0">
                <a:solidFill>
                  <a:srgbClr val="1C252B"/>
                </a:solidFill>
                <a:latin typeface="Segoe UI"/>
              </a:rPr>
              <a:t> to predict overrun. Fix: framing question 4.</a:t>
            </a:r>
          </a:p>
        </p:txBody>
      </p:sp>
      <p:sp>
        <p:nvSpPr>
          <p:cNvPr id="14" name="!!pb2">
            <a:extLst>
              <a:ext uri="{C183D7F6-B498-43B3-948B-1728B52AA6E4}">
                <adec:decorative xmlns:adec="http://schemas.microsoft.com/office/drawing/2017/decorative" val="1"/>
              </a:ext>
            </a:extLst>
          </p:cNvPr>
          <p:cNvSpPr/>
          <p:nvPr/>
        </p:nvSpPr>
        <p:spPr>
          <a:xfrm>
            <a:off x="658368" y="401604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x2"/>
          <p:cNvSpPr txBox="1"/>
          <p:nvPr/>
        </p:nvSpPr>
        <p:spPr>
          <a:xfrm>
            <a:off x="658368" y="403890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6" name="!!pt2"/>
          <p:cNvSpPr txBox="1"/>
          <p:nvPr/>
        </p:nvSpPr>
        <p:spPr>
          <a:xfrm>
            <a:off x="1261872" y="3997756"/>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Random splitting of time-series data.</a:t>
            </a:r>
            <a:r>
              <a:rPr sz="1900" b="0" i="0">
                <a:solidFill>
                  <a:srgbClr val="1C252B"/>
                </a:solidFill>
                <a:latin typeface="Segoe UI"/>
              </a:rPr>
              <a:t> Training on Thursday to predict Wednesday. Fix: split chronologically (Chapter 19).</a:t>
            </a:r>
          </a:p>
        </p:txBody>
      </p:sp>
      <p:sp>
        <p:nvSpPr>
          <p:cNvPr id="17" name="!!pb3">
            <a:extLst>
              <a:ext uri="{C183D7F6-B498-43B3-948B-1728B52AA6E4}">
                <adec:decorative xmlns:adec="http://schemas.microsoft.com/office/drawing/2017/decorative" val="1"/>
              </a:ext>
            </a:extLst>
          </p:cNvPr>
          <p:cNvSpPr/>
          <p:nvPr/>
        </p:nvSpPr>
        <p:spPr>
          <a:xfrm>
            <a:off x="658368" y="481949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x3"/>
          <p:cNvSpPr txBox="1"/>
          <p:nvPr/>
        </p:nvSpPr>
        <p:spPr>
          <a:xfrm>
            <a:off x="658368" y="484235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9" name="!!pt3"/>
          <p:cNvSpPr txBox="1"/>
          <p:nvPr/>
        </p:nvSpPr>
        <p:spPr>
          <a:xfrm>
            <a:off x="1261872" y="4801209"/>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Duplicate rows spanning the split.</a:t>
            </a:r>
            <a:r>
              <a:rPr sz="1900" b="0" i="0">
                <a:solidFill>
                  <a:srgbClr val="1C252B"/>
                </a:solidFill>
                <a:latin typeface="Segoe UI"/>
              </a:rPr>
              <a:t> The same student in both train and test through a merge error. Fix: split by </a:t>
            </a:r>
            <a:r>
              <a:rPr sz="1900" b="0" i="1">
                <a:solidFill>
                  <a:srgbClr val="1C252B"/>
                </a:solidFill>
                <a:latin typeface="Segoe UI"/>
              </a:rPr>
              <a:t>entity</a:t>
            </a:r>
            <a:r>
              <a:rPr sz="1900" b="0" i="0">
                <a:solidFill>
                  <a:srgbClr val="1C252B"/>
                </a:solidFill>
                <a:latin typeface="Segoe UI"/>
              </a:rPr>
              <a:t>, not by row.</a:t>
            </a:r>
          </a:p>
        </p:txBody>
      </p:sp>
      <p:sp>
        <p:nvSpPr>
          <p:cNvPr id="20" name="!!pb4">
            <a:extLst>
              <a:ext uri="{C183D7F6-B498-43B3-948B-1728B52AA6E4}">
                <adec:decorative xmlns:adec="http://schemas.microsoft.com/office/drawing/2017/decorative" val="1"/>
              </a:ext>
            </a:extLst>
          </p:cNvPr>
          <p:cNvSpPr/>
          <p:nvPr/>
        </p:nvSpPr>
        <p:spPr>
          <a:xfrm>
            <a:off x="658368" y="56229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x4"/>
          <p:cNvSpPr txBox="1"/>
          <p:nvPr/>
        </p:nvSpPr>
        <p:spPr>
          <a:xfrm>
            <a:off x="658368" y="56458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2" name="!!pt4"/>
          <p:cNvSpPr txBox="1"/>
          <p:nvPr/>
        </p:nvSpPr>
        <p:spPr>
          <a:xfrm>
            <a:off x="1261872" y="5604662"/>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Feature selection on the whole dataset.</a:t>
            </a:r>
            <a:r>
              <a:rPr sz="1900" b="0" i="0">
                <a:solidFill>
                  <a:srgbClr val="1C252B"/>
                </a:solidFill>
                <a:latin typeface="Segoe UI"/>
              </a:rPr>
              <a:t> Choosing the top 20 correlated features before splitting has already consulted the test set.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26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6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26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6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26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6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26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26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26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6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Cleaning and Leakage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2E80D60E-35DA-4E53-94D6-E162CFBD8A7D}"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Joining registry to VLE data is a </a:t>
            </a:r>
            <a:r>
              <a:rPr sz="1900" b="0" i="1">
                <a:solidFill>
                  <a:srgbClr val="1C252B"/>
                </a:solidFill>
                <a:latin typeface="Segoe UI"/>
              </a:rPr>
              <a:t>left</a:t>
            </a:r>
            <a:r>
              <a:rPr sz="1900" b="0" i="0">
                <a:solidFill>
                  <a:srgbClr val="1C252B"/>
                </a:solidFill>
                <a:latin typeface="Segoe UI"/>
              </a:rPr>
              <a:t> join from registry, never an inner join — students with no VLE activity are precisely the at-risk group, and an inner join deletes them.</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Effort figures are self-reported and cluster on round numbers, so treat values as ordinal-ish rather than precise.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Forward fill is the natural imputation for telemetry, because a temperature that was </a:t>
            </a:r>
            <a:r>
              <a:rPr sz="1800" b="0" i="0">
                <a:solidFill>
                  <a:srgbClr val="1C252B"/>
                </a:solidFill>
                <a:latin typeface="Cambria"/>
              </a:rPr>
              <a:t>70°</a:t>
            </a:r>
            <a:r>
              <a:rPr sz="1800" b="0" i="0">
                <a:solidFill>
                  <a:srgbClr val="1C252B"/>
                </a:solidFill>
                <a:latin typeface="Segoe UI"/>
              </a:rPr>
              <a:t> a second ago is probably still about </a:t>
            </a:r>
            <a:r>
              <a:rPr sz="1800" b="0" i="0">
                <a:solidFill>
                  <a:srgbClr val="1C252B"/>
                </a:solidFill>
                <a:latin typeface="Cambria"/>
              </a:rPr>
              <a:t>70°</a:t>
            </a:r>
            <a:r>
              <a:rPr sz="1800" b="0" i="0">
                <a:solidFill>
                  <a:srgbClr val="1C252B"/>
                </a:solidFill>
                <a:latin typeface="Segoe UI"/>
              </a:rPr>
              <a:t> — but cap how far it carries, or a dead sensor will appear healthy for hours.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Do </a:t>
            </a:r>
            <a:r>
              <a:rPr sz="2300" b="0" i="1">
                <a:solidFill>
                  <a:srgbClr val="1C252B"/>
                </a:solidFill>
                <a:latin typeface="Segoe UI"/>
              </a:rPr>
              <a:t>not</a:t>
            </a:r>
            <a:r>
              <a:rPr sz="2300" b="0" i="0">
                <a:solidFill>
                  <a:srgbClr val="1C252B"/>
                </a:solidFill>
                <a:latin typeface="Segoe UI"/>
              </a:rPr>
              <a:t> remove outliers — they are the attacks.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676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Cleaning and Leakage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D73101AD-41F0-4CDE-AA51-68AB351744D1}"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Joining registry to VLE data is a </a:t>
            </a:r>
            <a:r>
              <a:rPr sz="2200" b="0" i="1">
                <a:solidFill>
                  <a:srgbClr val="1C252B"/>
                </a:solidFill>
                <a:latin typeface="Segoe UI"/>
              </a:rPr>
              <a:t>left</a:t>
            </a:r>
            <a:r>
              <a:rPr sz="2200" b="0" i="0">
                <a:solidFill>
                  <a:srgbClr val="1C252B"/>
                </a:solidFill>
                <a:latin typeface="Segoe UI"/>
              </a:rPr>
              <a:t> join from registry, never an inner join — students with no VLE activity are precisely the at-risk group, and an inner join deletes them. Classic leak: using </a:t>
            </a:r>
            <a:r>
              <a:rPr sz="2050" b="0" i="0">
                <a:solidFill>
                  <a:srgbClr val="1F4E79"/>
                </a:solidFill>
                <a:latin typeface="Consolas"/>
              </a:rPr>
              <a:t>total_submissions_in_semester</a:t>
            </a:r>
            <a:r>
              <a:rPr sz="2200" b="0" i="0">
                <a:solidFill>
                  <a:srgbClr val="1C252B"/>
                </a:solidFill>
                <a:latin typeface="Segoe UI"/>
              </a:rPr>
              <a:t> to predict a week-4 outcome. Missing engagement data should be encoded with an indicator, not imputed, because it is MNAR.</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Cleaning and Leakage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AB499EA6-711D-4521-ACB9-57ED33E5CD24}"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Effort figures are self-reported and cluster on round numbers, so treat values as ordinal-ish rather than precise. Classic leak: including </a:t>
            </a:r>
            <a:r>
              <a:rPr sz="2050" b="0" i="0">
                <a:solidFill>
                  <a:srgbClr val="1F4E79"/>
                </a:solidFill>
                <a:latin typeface="Consolas"/>
              </a:rPr>
              <a:t>actual_completion_date</a:t>
            </a:r>
            <a:r>
              <a:rPr sz="2200" b="0" i="0">
                <a:solidFill>
                  <a:srgbClr val="1C252B"/>
                </a:solidFill>
                <a:latin typeface="Segoe UI"/>
              </a:rPr>
              <a:t> or final story-point count when predicting mid-sprint completion. Deduplicate carefully — the same work item often appears under two IDs after a project is re-scoped.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569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Cleaning and Leakage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D1673EFE-A7D7-49E2-80AE-51154DCF87C7}"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Forward fill is the natural imputation for telemetry, because a temperature that was </a:t>
            </a:r>
            <a:r>
              <a:rPr sz="2200" b="0" i="0">
                <a:solidFill>
                  <a:srgbClr val="1C252B"/>
                </a:solidFill>
                <a:latin typeface="Cambria"/>
              </a:rPr>
              <a:t>70°</a:t>
            </a:r>
            <a:r>
              <a:rPr sz="2200" b="0" i="0">
                <a:solidFill>
                  <a:srgbClr val="1C252B"/>
                </a:solidFill>
                <a:latin typeface="Segoe UI"/>
              </a:rPr>
              <a:t> a second ago is probably still about </a:t>
            </a:r>
            <a:r>
              <a:rPr sz="2200" b="0" i="0">
                <a:solidFill>
                  <a:srgbClr val="1C252B"/>
                </a:solidFill>
                <a:latin typeface="Cambria"/>
              </a:rPr>
              <a:t>70°</a:t>
            </a:r>
            <a:r>
              <a:rPr sz="2200" b="0" i="0">
                <a:solidFill>
                  <a:srgbClr val="1C252B"/>
                </a:solidFill>
                <a:latin typeface="Segoe UI"/>
              </a:rPr>
              <a:t> — but cap how far it carries, or a dead sensor will appear healthy for hours. Classic leak: normalising the whole telemetry history including the future. Deduplicate on (device ID, timestamp): at-least-once delivery guarantees duplicates.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Cleaning and Leakage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E2A9B5C0-C72B-4890-88FD-4A10B7662155}"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Do </a:t>
            </a:r>
            <a:r>
              <a:rPr sz="2200" b="0" i="1">
                <a:solidFill>
                  <a:srgbClr val="1C252B"/>
                </a:solidFill>
                <a:latin typeface="Segoe UI"/>
              </a:rPr>
              <a:t>not</a:t>
            </a:r>
            <a:r>
              <a:rPr sz="2200" b="0" i="0">
                <a:solidFill>
                  <a:srgbClr val="1C252B"/>
                </a:solidFill>
                <a:latin typeface="Segoe UI"/>
              </a:rPr>
              <a:t> remove outliers — they are the attacks. Encode categorical fields such as protocol and port with one-hot, never ordinal, or the model will infer that port 443 is “greater than” port 80. Classic leak: features derived from the incident report, which by definition exists only after the attack was detected. Split chronologically, since a model trained on future attack patterns to detect past ones proves nothing.</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37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Leak-Proof Cleaning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EFBBF6D3-9508-4EA3-84E9-61C073F645A5}" type="slidenum">
              <a:rPr lang="en-GB" sz="1000">
                <a:solidFill>
                  <a:srgbClr val="8795A1"/>
                </a:solidFill>
                <a:latin typeface="Segoe UI"/>
              </a:rPr>
              <a:t>28</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single best habit in applied machine learning: put every learned transformation inside a </a:t>
            </a:r>
            <a:r>
              <a:rPr sz="1900" b="0" i="0">
                <a:solidFill>
                  <a:srgbClr val="1F4E79"/>
                </a:solidFill>
                <a:latin typeface="Consolas"/>
              </a:rPr>
              <a:t>Pipeline</a:t>
            </a:r>
            <a:r>
              <a:rPr sz="2000" b="0" i="0">
                <a:solidFill>
                  <a:srgbClr val="1C252B"/>
                </a:solidFill>
                <a:latin typeface="Segoe UI"/>
              </a:rPr>
              <a:t>, so it cannot be fitted on the test set by accident.</a:t>
            </a:r>
          </a:p>
        </p:txBody>
      </p:sp>
      <p:sp>
        <p:nvSpPr>
          <p:cNvPr id="8" name="!!lfTHIS">
            <a:extLst>
              <a:ext uri="{C183D7F6-B498-43B3-948B-1728B52AA6E4}">
                <adec:decorative xmlns:adec="http://schemas.microsoft.com/office/drawing/2017/decorative" val="1"/>
              </a:ext>
            </a:extLst>
          </p:cNvPr>
          <p:cNvSpPr/>
          <p:nvPr/>
        </p:nvSpPr>
        <p:spPr>
          <a:xfrm>
            <a:off x="658368"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4: Leak-proof pipeline</a:t>
            </a:r>
          </a:p>
        </p:txBody>
      </p:sp>
      <p:sp>
        <p:nvSpPr>
          <p:cNvPr id="12" name="!!lfWHAT">
            <a:extLst>
              <a:ext uri="{C183D7F6-B498-43B3-948B-1728B52AA6E4}">
                <adec:decorative xmlns:adec="http://schemas.microsoft.com/office/drawing/2017/decorative" val="1"/>
              </a:ext>
            </a:extLst>
          </p:cNvPr>
          <p:cNvSpPr/>
          <p:nvPr/>
        </p:nvSpPr>
        <p:spPr>
          <a:xfrm>
            <a:off x="6233007"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6507327"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30 lines of Python</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Cleaning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41FCFC0F-03BE-4DFD-A7F5-239BE34668D0}"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from sklearn.model_selection import train_test_split from sklearn.pipeline import Pipeline from sklearn.compose import ColumnTransformer from sklearn.impute import SimpleImputer from sklearn.preprocessing import StandardScaler, OneHotEncoder df = pd.read_csv(&quot;students.csv&quot;) y = df.pop(&quot;failed&quot;) numeric = [&quot;attendance_pct&quot;, &quot;quizzes_done&quot;, &quot;forum_posts&quot;] categorical = [&quot;programme&quot;, &quot;entry_route&quot;] # 1. SPLIT FIRST -- before anything is learned from the data. X_tr, X_te, y_tr, y_te = train_test_split( df, y, test_size=0.2, stratify=y, random_state=42)"/>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import</a:t>
            </a:r>
            <a:r>
              <a:rPr sz="1500" i="0">
                <a:solidFill>
                  <a:srgbClr val="E8EDF2"/>
                </a:solidFill>
                <a:latin typeface="Consolas"/>
              </a:rPr>
              <a:t> </a:t>
            </a:r>
            <a:r>
              <a:rPr sz="1500" i="0">
                <a:solidFill>
                  <a:srgbClr val="76D7C4"/>
                </a:solidFill>
                <a:latin typeface="Consolas"/>
              </a:rPr>
              <a:t>pandas</a:t>
            </a:r>
            <a:r>
              <a:rPr sz="1500" i="0">
                <a:solidFill>
                  <a:srgbClr val="E8EDF2"/>
                </a:solidFill>
                <a:latin typeface="Consolas"/>
              </a:rPr>
              <a:t> </a:t>
            </a:r>
            <a:r>
              <a:rPr sz="1500" i="0">
                <a:solidFill>
                  <a:srgbClr val="5DADE2"/>
                </a:solidFill>
                <a:latin typeface="Consolas"/>
              </a:rPr>
              <a:t>as</a:t>
            </a:r>
            <a:r>
              <a:rPr sz="1500" i="0">
                <a:solidFill>
                  <a:srgbClr val="E8EDF2"/>
                </a:solidFill>
                <a:latin typeface="Consolas"/>
              </a:rPr>
              <a:t> </a:t>
            </a:r>
            <a:r>
              <a:rPr sz="1500" i="0">
                <a:solidFill>
                  <a:srgbClr val="76D7C4"/>
                </a:solidFill>
                <a:latin typeface="Consolas"/>
              </a:rPr>
              <a:t>pd</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model_selection</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train_test_split</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pipeline</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Pipeline</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compose</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ColumnTransformer</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impute</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SimpleImputer</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sklearn</a:t>
            </a:r>
            <a:r>
              <a:rPr sz="1500" i="0">
                <a:solidFill>
                  <a:srgbClr val="76D7C4"/>
                </a:solidFill>
                <a:latin typeface="Consolas"/>
              </a:rPr>
              <a:t>.</a:t>
            </a:r>
            <a:r>
              <a:rPr sz="1500" i="0">
                <a:solidFill>
                  <a:srgbClr val="76D7C4"/>
                </a:solidFill>
                <a:latin typeface="Consolas"/>
              </a:rPr>
              <a:t>preprocessing</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StandardScaler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OneHotEncoder</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df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read_csv</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students.csv</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y</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pop</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failed</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numeric</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attendance_pct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quizzes_done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forum_posts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categorical</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programme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entry_route</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1">
                <a:solidFill>
                  <a:srgbClr val="8795A1"/>
                </a:solidFill>
                <a:latin typeface="Consolas"/>
              </a:rPr>
              <a:t># 1. SPLIT FIRST -- before anything is learned from the data.</a:t>
            </a:r>
          </a:p>
          <a:p>
            <a:pPr>
              <a:lnSpc>
                <a:spcPct val="100000"/>
              </a:lnSpc>
              <a:spcAft>
                <a:spcPts val="0"/>
              </a:spcAft>
            </a:pPr>
            <a:r>
              <a:rPr sz="1500" i="0">
                <a:solidFill>
                  <a:srgbClr val="E8EDF2"/>
                </a:solidFill>
                <a:latin typeface="Consolas"/>
              </a:rPr>
              <a:t>X_tr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X_te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y_tr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y_te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train_test_split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test_size</a:t>
            </a:r>
            <a:r>
              <a:rPr sz="1500" i="0">
                <a:solidFill>
                  <a:srgbClr val="AEB6BF"/>
                </a:solidFill>
                <a:latin typeface="Consolas"/>
              </a:rPr>
              <a:t>=</a:t>
            </a:r>
            <a:r>
              <a:rPr sz="1500" i="0">
                <a:solidFill>
                  <a:srgbClr val="F7DC6F"/>
                </a:solidFill>
                <a:latin typeface="Consolas"/>
              </a:rPr>
              <a:t>0.2</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stratify</a:t>
            </a:r>
            <a:r>
              <a:rPr sz="1500" i="0">
                <a:solidFill>
                  <a:srgbClr val="AEB6BF"/>
                </a:solidFill>
                <a:latin typeface="Consolas"/>
              </a:rPr>
              <a:t>=</a:t>
            </a:r>
            <a:r>
              <a:rPr sz="1500" i="0">
                <a:solidFill>
                  <a:srgbClr val="E8EDF2"/>
                </a:solidFill>
                <a:latin typeface="Consolas"/>
              </a:rPr>
              <a:t>y</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random_state</a:t>
            </a:r>
            <a:r>
              <a:rPr sz="1500" i="0">
                <a:solidFill>
                  <a:srgbClr val="AEB6BF"/>
                </a:solidFill>
                <a:latin typeface="Consolas"/>
              </a:rPr>
              <a:t>=</a:t>
            </a:r>
            <a:r>
              <a:rPr sz="1500" i="0">
                <a:solidFill>
                  <a:srgbClr val="F7DC6F"/>
                </a:solidFill>
                <a:latin typeface="Consolas"/>
              </a:rPr>
              <a:t>42</a:t>
            </a:r>
            <a:r>
              <a:rPr sz="15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a:t>
            </a:r>
          </a:p>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18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Cleaning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71ED59F5-F674-490A-A40E-DF736199311B}"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773424"/>
          </a:xfrm>
          <a:prstGeom prst="roundRect">
            <a:avLst>
              <a:gd name="adj" fmla="val 24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 2. Declare transformations; nothing is fitted yet. prep = ColumnTransformer([ (&quot;num&quot;, Pipeline([(&quot;impute&quot;, SimpleImputer(strategy=&quot;median&quot;, add_indicator=True)), # MNAR-safe (&quot;scale&quot;, StandardScaler())]), numeric), (&quot;cat&quot;, OneHotEncoder(handle_unknown=&quot;ignore&quot;), categorical), ]) # 3. fit_transform on TRAIN, transform only on TEST. X_tr_ready = prep.fit_transform(X_tr) X_te_ready = prep.transform(X_te) # &lt;- .transform, never .fit_transform print(X_tr.shape, &quot;-&gt;&quot;, X_tr_ready.shape) # wider: one-hot + indicators"/>
          <p:cNvSpPr txBox="1"/>
          <p:nvPr/>
        </p:nvSpPr>
        <p:spPr>
          <a:xfrm>
            <a:off x="1362456" y="2066543"/>
            <a:ext cx="9987991" cy="327964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2. Declare transformations; nothing is fitted yet.</a:t>
            </a:r>
          </a:p>
          <a:p>
            <a:pPr>
              <a:lnSpc>
                <a:spcPct val="100000"/>
              </a:lnSpc>
              <a:spcAft>
                <a:spcPts val="0"/>
              </a:spcAft>
            </a:pPr>
            <a:r>
              <a:rPr sz="1600" i="0">
                <a:solidFill>
                  <a:srgbClr val="E8EDF2"/>
                </a:solidFill>
                <a:latin typeface="Consolas"/>
              </a:rPr>
              <a:t>prep</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ColumnTransformer</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num</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Pipeline</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impute</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SimpleImputer</a:t>
            </a:r>
            <a:r>
              <a:rPr sz="1600" i="0">
                <a:solidFill>
                  <a:srgbClr val="AEB6BF"/>
                </a:solidFill>
                <a:latin typeface="Consolas"/>
              </a:rPr>
              <a:t>(</a:t>
            </a:r>
            <a:r>
              <a:rPr sz="1600" i="0">
                <a:solidFill>
                  <a:srgbClr val="E8EDF2"/>
                </a:solidFill>
                <a:latin typeface="Consolas"/>
              </a:rPr>
              <a:t>strategy</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median</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add_indicator</a:t>
            </a:r>
            <a:r>
              <a:rPr sz="1600" i="0">
                <a:solidFill>
                  <a:srgbClr val="AEB6BF"/>
                </a:solidFill>
                <a:latin typeface="Consolas"/>
              </a:rPr>
              <a:t>=</a:t>
            </a:r>
            <a:r>
              <a:rPr sz="1600" i="0">
                <a:solidFill>
                  <a:srgbClr val="5DADE2"/>
                </a:solidFill>
                <a:latin typeface="Consolas"/>
              </a:rPr>
              <a:t>True</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MNAR-safe</a:t>
            </a:r>
          </a:p>
          <a:p>
            <a:pPr>
              <a:lnSpc>
                <a:spcPct val="100000"/>
              </a:lnSpc>
              <a:spcAft>
                <a:spcPts val="0"/>
              </a:spcAft>
            </a:pP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scale</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StandardScaler</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numeric</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cat</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OneHotEncoder</a:t>
            </a:r>
            <a:r>
              <a:rPr sz="1600" i="0">
                <a:solidFill>
                  <a:srgbClr val="AEB6BF"/>
                </a:solidFill>
                <a:latin typeface="Consolas"/>
              </a:rPr>
              <a:t>(</a:t>
            </a:r>
            <a:r>
              <a:rPr sz="1600" i="0">
                <a:solidFill>
                  <a:srgbClr val="E8EDF2"/>
                </a:solidFill>
                <a:latin typeface="Consolas"/>
              </a:rPr>
              <a:t>handle_unknown</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ignore</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categorical</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1">
                <a:solidFill>
                  <a:srgbClr val="8795A1"/>
                </a:solidFill>
                <a:latin typeface="Consolas"/>
              </a:rPr>
              <a:t># 3. fit_transform on TRAIN, transform only on TEST.</a:t>
            </a:r>
          </a:p>
          <a:p>
            <a:pPr>
              <a:lnSpc>
                <a:spcPct val="100000"/>
              </a:lnSpc>
              <a:spcAft>
                <a:spcPts val="0"/>
              </a:spcAft>
            </a:pPr>
            <a:r>
              <a:rPr sz="1600" i="0">
                <a:solidFill>
                  <a:srgbClr val="E8EDF2"/>
                </a:solidFill>
                <a:latin typeface="Consolas"/>
              </a:rPr>
              <a:t>X_tr_ready</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prep</a:t>
            </a:r>
            <a:r>
              <a:rPr sz="1600" i="0">
                <a:solidFill>
                  <a:srgbClr val="AEB6BF"/>
                </a:solidFill>
                <a:latin typeface="Consolas"/>
              </a:rPr>
              <a:t>.</a:t>
            </a:r>
            <a:r>
              <a:rPr sz="1600" i="0">
                <a:solidFill>
                  <a:srgbClr val="E8EDF2"/>
                </a:solidFill>
                <a:latin typeface="Consolas"/>
              </a:rPr>
              <a:t>fit_transform</a:t>
            </a:r>
            <a:r>
              <a:rPr sz="1600" i="0">
                <a:solidFill>
                  <a:srgbClr val="AEB6BF"/>
                </a:solidFill>
                <a:latin typeface="Consolas"/>
              </a:rPr>
              <a:t>(</a:t>
            </a:r>
            <a:r>
              <a:rPr sz="1600" i="0">
                <a:solidFill>
                  <a:srgbClr val="E8EDF2"/>
                </a:solidFill>
                <a:latin typeface="Consolas"/>
              </a:rPr>
              <a:t>X_tr</a:t>
            </a:r>
            <a:r>
              <a:rPr sz="1600" i="0">
                <a:solidFill>
                  <a:srgbClr val="AEB6BF"/>
                </a:solidFill>
                <a:latin typeface="Consolas"/>
              </a:rPr>
              <a:t>)</a:t>
            </a:r>
          </a:p>
          <a:p>
            <a:pPr>
              <a:lnSpc>
                <a:spcPct val="100000"/>
              </a:lnSpc>
              <a:spcAft>
                <a:spcPts val="0"/>
              </a:spcAft>
            </a:pPr>
            <a:r>
              <a:rPr sz="1600" i="0">
                <a:solidFill>
                  <a:srgbClr val="E8EDF2"/>
                </a:solidFill>
                <a:latin typeface="Consolas"/>
              </a:rPr>
              <a:t>X_te_ready</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prep</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r>
              <a:rPr sz="1600" i="0">
                <a:solidFill>
                  <a:srgbClr val="E8EDF2"/>
                </a:solidFill>
                <a:latin typeface="Consolas"/>
              </a:rPr>
              <a:t>X_te</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&lt;- .transform, never .fit_transform</a:t>
            </a:r>
          </a:p>
          <a:p>
            <a:pPr>
              <a:lnSpc>
                <a:spcPct val="100000"/>
              </a:lnSpc>
              <a:spcAft>
                <a:spcPts val="0"/>
              </a:spcAft>
            </a:pPr>
            <a:r>
              <a:rPr sz="1600">
                <a:latin typeface="Consolas"/>
              </a:rPr>
              <a:t> </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shape</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-&gt;</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X_tr_ready</a:t>
            </a:r>
            <a:r>
              <a:rPr sz="1600" i="0">
                <a:solidFill>
                  <a:srgbClr val="AEB6BF"/>
                </a:solidFill>
                <a:latin typeface="Consolas"/>
              </a:rPr>
              <a:t>.</a:t>
            </a:r>
            <a:r>
              <a:rPr sz="1600" i="0">
                <a:solidFill>
                  <a:srgbClr val="E8EDF2"/>
                </a:solidFill>
                <a:latin typeface="Consolas"/>
              </a:rPr>
              <a:t>shape</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wider: one-hot + indicators</a:t>
            </a:r>
          </a:p>
        </p:txBody>
      </p:sp>
      <p:sp>
        <p:nvSpPr>
          <p:cNvPr id="14" name="!!code-num"/>
          <p:cNvSpPr txBox="1"/>
          <p:nvPr/>
        </p:nvSpPr>
        <p:spPr>
          <a:xfrm>
            <a:off x="768096" y="2066543"/>
            <a:ext cx="393192" cy="327964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17</a:t>
            </a:r>
          </a:p>
          <a:p>
            <a:pPr algn="r">
              <a:lnSpc>
                <a:spcPct val="100000"/>
              </a:lnSpc>
            </a:pPr>
            <a:r>
              <a:rPr sz="1600">
                <a:solidFill>
                  <a:srgbClr val="4F5D6A"/>
                </a:solidFill>
                <a:latin typeface="Consolas"/>
              </a:rPr>
              <a:t>18</a:t>
            </a:r>
          </a:p>
          <a:p>
            <a:pPr algn="r">
              <a:lnSpc>
                <a:spcPct val="100000"/>
              </a:lnSpc>
            </a:pPr>
            <a:r>
              <a:rPr sz="1600">
                <a:solidFill>
                  <a:srgbClr val="4F5D6A"/>
                </a:solidFill>
                <a:latin typeface="Consolas"/>
              </a:rPr>
              <a:t>19</a:t>
            </a:r>
          </a:p>
          <a:p>
            <a:pPr algn="r">
              <a:lnSpc>
                <a:spcPct val="100000"/>
              </a:lnSpc>
            </a:pPr>
            <a:r>
              <a:rPr sz="1600">
                <a:solidFill>
                  <a:srgbClr val="4F5D6A"/>
                </a:solidFill>
                <a:latin typeface="Consolas"/>
              </a:rPr>
              <a:t>20</a:t>
            </a:r>
          </a:p>
          <a:p>
            <a:pPr algn="r">
              <a:lnSpc>
                <a:spcPct val="100000"/>
              </a:lnSpc>
            </a:pPr>
            <a:r>
              <a:rPr sz="1600">
                <a:solidFill>
                  <a:srgbClr val="4F5D6A"/>
                </a:solidFill>
                <a:latin typeface="Consolas"/>
              </a:rPr>
              <a:t>21</a:t>
            </a:r>
          </a:p>
          <a:p>
            <a:pPr algn="r">
              <a:lnSpc>
                <a:spcPct val="100000"/>
              </a:lnSpc>
            </a:pPr>
            <a:r>
              <a:rPr sz="1600">
                <a:solidFill>
                  <a:srgbClr val="4F5D6A"/>
                </a:solidFill>
                <a:latin typeface="Consolas"/>
              </a:rPr>
              <a:t>22</a:t>
            </a:r>
          </a:p>
          <a:p>
            <a:pPr algn="r">
              <a:lnSpc>
                <a:spcPct val="100000"/>
              </a:lnSpc>
            </a:pPr>
            <a:r>
              <a:rPr sz="1600">
                <a:solidFill>
                  <a:srgbClr val="4F5D6A"/>
                </a:solidFill>
                <a:latin typeface="Consolas"/>
              </a:rPr>
              <a:t>23</a:t>
            </a:r>
          </a:p>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a:p>
            <a:pPr algn="r">
              <a:lnSpc>
                <a:spcPct val="100000"/>
              </a:lnSpc>
            </a:pPr>
            <a:r>
              <a:rPr sz="1600">
                <a:solidFill>
                  <a:srgbClr val="4F5D6A"/>
                </a:solidFill>
                <a:latin typeface="Consolas"/>
              </a:rPr>
              <a:t>26</a:t>
            </a:r>
          </a:p>
          <a:p>
            <a:pPr algn="r">
              <a:lnSpc>
                <a:spcPct val="100000"/>
              </a:lnSpc>
            </a:pPr>
            <a:r>
              <a:rPr sz="1600">
                <a:solidFill>
                  <a:srgbClr val="4F5D6A"/>
                </a:solidFill>
                <a:latin typeface="Consolas"/>
              </a:rPr>
              <a:t>27</a:t>
            </a:r>
          </a:p>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46     </a:t>
            </a:r>
            <a:fld id="{4D861016-DB32-4C8C-B7F1-C458E91040F7}"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Check your understanding:</a:t>
            </a:r>
            <a:r>
              <a:rPr sz="2300" b="0" i="0">
                <a:solidFill>
                  <a:srgbClr val="1C252B"/>
                </a:solidFill>
                <a:latin typeface="Segoe UI"/>
              </a:rPr>
              <a:t> what goes wrong if line 3’s last call is changed to </a:t>
            </a:r>
            <a:r>
              <a:rPr sz="2150" b="0" i="0">
                <a:solidFill>
                  <a:srgbClr val="1F4E79"/>
                </a:solidFill>
                <a:latin typeface="Consolas"/>
              </a:rPr>
              <a:t>fit_transform</a:t>
            </a:r>
            <a:r>
              <a:rPr sz="2300" b="0" i="0">
                <a:solidFill>
                  <a:srgbClr val="1C252B"/>
                </a:solidFill>
                <a:latin typeface="Segoe UI"/>
              </a:rPr>
              <a:t>? Name the leak and the symptom you would see.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98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join 2,000 student rows to a VLE table and get 2,380 rows back. What has happened, and what should you check?</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7  ·  Acquisition, Wrangling and Cleaning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48  ·  answers in Appendix D     </a:t>
            </a:r>
            <a:fld id="{65F556BF-2471-4968-B93C-9AFCCF14949E}"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join 2,000 student rows to a VLE table and get 2,380 rows back. What has happened, and what should you check?</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join key was not unique on the VLE side, so rows were duplicated — probably multiple VLE accounts or enrolments per student. Check for duplicates on the key, decide the intended grain, and aggregate before joining.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  answers in Appendix D     </a:t>
            </a:r>
            <a:fld id="{1A6735B1-3152-4577-B4EB-AC3FBEC29CE5}"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7918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Which of these need scaling before use: k-NN, random forest, k-means, gradient boosting?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7  ·  Acquisition, Wrangling and Cleaning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48  ·  answers in Appendix D     </a:t>
            </a:r>
            <a:fld id="{FAEF9027-BD0A-450F-B1BE-21322EAD7F0F}"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Which of these need scaling before use: k-NN, random forest, k-means, gradient boosting?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k-NN and k-means </a:t>
            </a:r>
            <a:r>
              <a:rPr sz="2200" b="1" i="0">
                <a:solidFill>
                  <a:srgbClr val="1C252B"/>
                </a:solidFill>
                <a:latin typeface="Segoe UI"/>
              </a:rPr>
              <a:t>require</a:t>
            </a:r>
            <a:r>
              <a:rPr sz="2200" b="0" i="0">
                <a:solidFill>
                  <a:srgbClr val="1C252B"/>
                </a:solidFill>
                <a:latin typeface="Segoe UI"/>
              </a:rPr>
              <a:t> scaling (both are distance-based). Random forest and gradient boosting do not — they split one feature at a time, so units are irrelevant.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  answers in Appendix D     </a:t>
            </a:r>
            <a:fld id="{BC165E6A-AF1B-4A54-9D75-A143661D2E65}"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predicting 30-day equipment failure achieves 99.8% accuracy on held-out data. State the first three things you would check.</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7  ·  Acquisition, Wrangling and Cleaning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48  ·  answers in Appendix D     </a:t>
            </a:r>
            <a:fld id="{6296FDE7-2939-4DA2-A5AB-800E09D1F3AB}"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predicting 30-day equipment failure achieves 99.8% accuracy on held-out data. State the first three things you would check.</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 leakage from a feature computed after or during the failure window; (ii) duplicate rows spanning the train/test split, or splitting by row rather than by device; (iii) whether the test period is genuinely later in time than the training period.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  answers in Appendix D     </a:t>
            </a:r>
            <a:fld id="{E5ECB6BB-393B-4DE7-B0D9-5002EA6E09C8}"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4030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6E8A2D89-A0F5-4F68-B4EB-934BC0624959}"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Acquisition method determines the failure modes you inherit; check permission and personal-data status </a:t>
            </a:r>
            <a:r>
              <a:rPr sz="2000" b="0" i="1">
                <a:solidFill>
                  <a:srgbClr val="1C252B"/>
                </a:solidFill>
                <a:latin typeface="Segoe UI"/>
              </a:rPr>
              <a:t>before</a:t>
            </a:r>
            <a:r>
              <a:rPr sz="2000" b="0" i="0">
                <a:solidFill>
                  <a:srgbClr val="1C252B"/>
                </a:solidFill>
                <a:latin typeface="Segoe UI"/>
              </a:rPr>
              <a:t> building.</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Clean in order: audit, types, deduplicate, join, missing, outliers, encode and scale, split.</a:t>
            </a:r>
          </a:p>
        </p:txBody>
      </p:sp>
      <p:sp>
        <p:nvSpPr>
          <p:cNvPr id="13" name="!!sb2">
            <a:extLst>
              <a:ext uri="{C183D7F6-B498-43B3-948B-1728B52AA6E4}">
                <adec:decorative xmlns:adec="http://schemas.microsoft.com/office/drawing/2017/decorative" val="1"/>
              </a:ext>
            </a:extLst>
          </p:cNvPr>
          <p:cNvSpPr/>
          <p:nvPr/>
        </p:nvSpPr>
        <p:spPr>
          <a:xfrm>
            <a:off x="658368" y="31485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Under MNAR, add a missing indicator rather than imputing away the signal.</a:t>
            </a:r>
          </a:p>
        </p:txBody>
      </p:sp>
      <p:sp>
        <p:nvSpPr>
          <p:cNvPr id="16" name="!!sb3">
            <a:extLst>
              <a:ext uri="{C183D7F6-B498-43B3-948B-1728B52AA6E4}">
                <adec:decorative xmlns:adec="http://schemas.microsoft.com/office/drawing/2017/decorative" val="1"/>
              </a:ext>
            </a:extLst>
          </p:cNvPr>
          <p:cNvSpPr/>
          <p:nvPr/>
        </p:nvSpPr>
        <p:spPr>
          <a:xfrm>
            <a:off x="658368" y="373379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7886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24656"/>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Inner joins silently delete non-matching rows; always compare row counts before and after.</a:t>
            </a:r>
          </a:p>
        </p:txBody>
      </p:sp>
      <p:sp>
        <p:nvSpPr>
          <p:cNvPr id="19" name="!!sb4">
            <a:extLst>
              <a:ext uri="{C183D7F6-B498-43B3-948B-1728B52AA6E4}">
                <adec:decorative xmlns:adec="http://schemas.microsoft.com/office/drawing/2017/decorative" val="1"/>
              </a:ext>
            </a:extLst>
          </p:cNvPr>
          <p:cNvSpPr/>
          <p:nvPr/>
        </p:nvSpPr>
        <p:spPr>
          <a:xfrm>
            <a:off x="658368" y="455066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0552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54152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One-hot for nominal, ordinal encoding only for genuinely ordered categories. Scale for distance- and gradient-based methods; trees do not care.</a:t>
            </a:r>
          </a:p>
        </p:txBody>
      </p:sp>
      <p:sp>
        <p:nvSpPr>
          <p:cNvPr id="22" name="!!sb5">
            <a:extLst>
              <a:ext uri="{C183D7F6-B498-43B3-948B-1728B52AA6E4}">
                <adec:decorative xmlns:adec="http://schemas.microsoft.com/office/drawing/2017/decorative" val="1"/>
              </a:ext>
            </a:extLst>
          </p:cNvPr>
          <p:cNvSpPr/>
          <p:nvPr/>
        </p:nvSpPr>
        <p:spPr>
          <a:xfrm>
            <a:off x="658368" y="53675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223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58384"/>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Leakage is the defining error of the field. Split first, fit transformations on train only, and treat implausibly good results as a symptom rather than a success.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E95C77E6-6161-4741-AD64-F9BA1381A596}"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method is indifferent to feature scaling?</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k-nearest neighbours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k-means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random forest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support vector machine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208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AD88A562-9925-4959-AE49-964B0C95080D}"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Fitting a </a:t>
            </a:r>
            <a:r>
              <a:rPr sz="2450" b="0" i="0">
                <a:solidFill>
                  <a:srgbClr val="1F4E79"/>
                </a:solidFill>
                <a:latin typeface="Consolas"/>
              </a:rPr>
              <a:t>StandardScaler</a:t>
            </a:r>
            <a:r>
              <a:rPr sz="2600" b="0" i="0">
                <a:solidFill>
                  <a:srgbClr val="1C252B"/>
                </a:solidFill>
                <a:latin typeface="Segoe UI"/>
              </a:rPr>
              <a:t> on the full dataset before splitting causes: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underfitting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leakage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class imbalance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multicollinearity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7  ·  Acquisition, Wrangling and Cleaning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48     </a:t>
            </a:r>
            <a:fld id="{1AE79F10-1212-4F9E-9ECB-9D43E1AC1B49}" type="slidenum">
              <a:rPr lang="en-GB" sz="1000">
                <a:solidFill>
                  <a:srgbClr val="8795A1"/>
                </a:solidFill>
                <a:latin typeface="Segoe UI"/>
              </a:rPr>
              <a:t>41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when ordinal encoding is correct and give an example where using it would be a serious error.</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Why must forward fill be capped when imputing sensor telemetry?</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Describe two situations in which an inner join produces a biased dataset without producing any error message.</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You must predict, at the end of week 4, which students will fail. From this list, mark each feature usable or leaking and justify: </a:t>
            </a:r>
            <a:r>
              <a:rPr sz="1700" b="0" i="0">
                <a:solidFill>
                  <a:srgbClr val="1F4E79"/>
                </a:solidFill>
                <a:latin typeface="Consolas"/>
              </a:rPr>
              <a:t>weeks1_4_attendance</a:t>
            </a:r>
            <a:r>
              <a:rPr sz="1800" b="0" i="0">
                <a:solidFill>
                  <a:srgbClr val="1C252B"/>
                </a:solidFill>
                <a:latin typeface="Segoe UI"/>
              </a:rPr>
              <a:t>, </a:t>
            </a:r>
            <a:r>
              <a:rPr sz="1700" b="0" i="0">
                <a:solidFill>
                  <a:srgbClr val="1F4E79"/>
                </a:solidFill>
                <a:latin typeface="Consolas"/>
              </a:rPr>
              <a:t>final_exam_mark</a:t>
            </a:r>
            <a:r>
              <a:rPr sz="1800" b="0" i="0">
                <a:solidFill>
                  <a:srgbClr val="1C252B"/>
                </a:solidFill>
                <a:latin typeface="Segoe UI"/>
              </a:rPr>
              <a:t>, </a:t>
            </a:r>
            <a:r>
              <a:rPr sz="1700" b="0" i="0">
                <a:solidFill>
                  <a:srgbClr val="1F4E79"/>
                </a:solidFill>
                <a:latin typeface="Consolas"/>
              </a:rPr>
              <a:t>n_submissions_by_week4</a:t>
            </a:r>
            <a:r>
              <a:rPr sz="1800" b="0" i="0">
                <a:solidFill>
                  <a:srgbClr val="1C252B"/>
                </a:solidFill>
                <a:latin typeface="Segoe UI"/>
              </a:rPr>
              <a:t>, </a:t>
            </a:r>
            <a:r>
              <a:rPr sz="1700" b="0" i="0">
                <a:solidFill>
                  <a:srgbClr val="1F4E79"/>
                </a:solidFill>
                <a:latin typeface="Consolas"/>
              </a:rPr>
              <a:t>total_semester_logins</a:t>
            </a:r>
            <a:r>
              <a:rPr sz="1800" b="0" i="0">
                <a:solidFill>
                  <a:srgbClr val="1C252B"/>
                </a:solidFill>
                <a:latin typeface="Segoe UI"/>
              </a:rPr>
              <a:t>, </a:t>
            </a:r>
            <a:r>
              <a:rPr sz="1700" b="0" i="0">
                <a:solidFill>
                  <a:srgbClr val="1F4E79"/>
                </a:solidFill>
                <a:latin typeface="Consolas"/>
              </a:rPr>
              <a:t>entry_qualification</a:t>
            </a:r>
            <a:r>
              <a:rPr sz="1800" b="0" i="0">
                <a:solidFill>
                  <a:srgbClr val="1C252B"/>
                </a:solidFill>
                <a:latin typeface="Segoe UI"/>
              </a:rPr>
              <a:t>, </a:t>
            </a:r>
            <a:r>
              <a:rPr sz="1700" b="0" i="0">
                <a:solidFill>
                  <a:srgbClr val="1F4E79"/>
                </a:solidFill>
                <a:latin typeface="Consolas"/>
              </a:rPr>
              <a:t>withdrew_date</a:t>
            </a:r>
            <a:r>
              <a:rPr sz="18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Write the cleaning sequence you would apply to an IoT dataset of 400 motors reporting every 10 seconds for a year, stating for each step the specific decision you would take and why.</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14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8 — Exploratory Data Analysis and Visualisation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7, pages 43–48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Leak-proof pipeline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7  ·  Acquisition, Wrangling and Cleaning</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93027EB0-4C0D-4332-A5CF-A375DB90CC98}"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Acquisition, Wrangling and Cleaning</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