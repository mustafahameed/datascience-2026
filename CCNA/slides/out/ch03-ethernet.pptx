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3: Ethernet, Frames and Switching. Blueprint topics: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Ethernet, Frames and Switching 1.1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 - they are defined as they arrive. This slide is for the students'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in this chapter — and every MAC address, every IPv6 address and every frame type for the rest of the book — is written in hexadecimal. It is worth two minutes now, because nothing later makes sense without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% Nine columns: the budget is about 12.8 cm, not the 15.78 of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MAC address is 48 bits, written as twelve hex digits. The first half is the OUI, assigned to the manufacturer; the second half is assigned by that manufacturer. Cisco writes them as 00d0.58a1.0201; almost everyone else writes 00:d0:58:a1:02:01. They are the same address, and you should be able to read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switch runs one small algorithm, and everything in Part II is a modification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switching algorithm. Flooding is not a failure — it is how the table gets built, and the second frame between the same two hosts is already efficient.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Entries age out after five minutes of silence by default. A device that has been quiet longer than that has to be re-learned, and the first frame to it is flooded.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most useful single output on a switch. It answers “where is this device physically plugged in?”, and it does so by evidence rather than by documentation — which is exactly what topic 2.3 asks you to do when it says validate the accuracy of network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here. Take two or three answers before advancing. The point is the prediction, not the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it aloud. Ask what single field decides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elimination matters as much as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18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gfoot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94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ourse"/>
          <p:cNvSpPr txBox="1"/>
          <p:nvPr/>
        </p:nvSpPr>
        <p:spPr>
          <a:xfrm>
            <a:off x="685800" y="1170432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C8D6E5"/>
                </a:solidFill>
                <a:latin typeface="Segoe UI"/>
              </a:rPr>
              <a:t>CCNA 200-301 V2.0</a:t>
            </a:r>
          </a:p>
        </p:txBody>
      </p:sp>
      <p:sp>
        <p:nvSpPr>
          <p:cNvPr id="5" name="chnum"/>
          <p:cNvSpPr txBox="1"/>
          <p:nvPr/>
        </p:nvSpPr>
        <p:spPr>
          <a:xfrm>
            <a:off x="685800" y="1572768"/>
            <a:ext cx="2011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76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6" name="chtitle"/>
          <p:cNvSpPr txBox="1"/>
          <p:nvPr/>
        </p:nvSpPr>
        <p:spPr>
          <a:xfrm>
            <a:off x="2423160" y="1700784"/>
            <a:ext cx="90827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Ethernet, Frames and Switching</a:t>
            </a:r>
          </a:p>
        </p:txBody>
      </p:sp>
      <p:sp>
        <p:nvSpPr>
          <p:cNvPr id="7" name="part"/>
          <p:cNvSpPr txBox="1"/>
          <p:nvPr/>
        </p:nvSpPr>
        <p:spPr>
          <a:xfrm>
            <a:off x="2441448" y="3017520"/>
            <a:ext cx="90827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C8D6E5"/>
                </a:solidFill>
                <a:latin typeface="Segoe UI"/>
              </a:rPr>
              <a:t>Part I — Foundations</a:t>
            </a:r>
          </a:p>
        </p:txBody>
      </p:sp>
      <p:sp>
        <p:nvSpPr>
          <p:cNvPr id="8" name="tlabel"/>
          <p:cNvSpPr txBox="1"/>
          <p:nvPr/>
        </p:nvSpPr>
        <p:spPr>
          <a:xfrm>
            <a:off x="2441448" y="3401568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8C9DA"/>
                </a:solidFill>
                <a:latin typeface="Segoe UI"/>
              </a:rPr>
              <a:t>EXAM TOPICS</a:t>
            </a:r>
          </a:p>
        </p:txBody>
      </p:sp>
      <p:sp>
        <p:nvSpPr>
          <p:cNvPr id="9" name="chip-1.1"/>
          <p:cNvSpPr/>
          <p:nvPr/>
        </p:nvSpPr>
        <p:spPr>
          <a:xfrm>
            <a:off x="2441448" y="3657600"/>
            <a:ext cx="566928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chiptx-1.1"/>
          <p:cNvSpPr txBox="1"/>
          <p:nvPr/>
        </p:nvSpPr>
        <p:spPr>
          <a:xfrm>
            <a:off x="2441448" y="3689604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618D"/>
                </a:solidFill>
                <a:latin typeface="Segoe UI"/>
              </a:rPr>
              <a:t>1.1</a:t>
            </a:r>
          </a:p>
        </p:txBody>
      </p:sp>
      <p:sp>
        <p:nvSpPr>
          <p:cNvPr id="11" name="authlab"/>
          <p:cNvSpPr txBox="1"/>
          <p:nvPr/>
        </p:nvSpPr>
        <p:spPr>
          <a:xfrm>
            <a:off x="685800" y="5138928"/>
            <a:ext cx="64920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8C9DA"/>
                </a:solidFill>
                <a:latin typeface="Segoe UI"/>
              </a:rPr>
              <a:t>LECTURER</a:t>
            </a:r>
          </a:p>
        </p:txBody>
      </p:sp>
      <p:sp>
        <p:nvSpPr>
          <p:cNvPr id="12" name="author"/>
          <p:cNvSpPr txBox="1"/>
          <p:nvPr/>
        </p:nvSpPr>
        <p:spPr>
          <a:xfrm>
            <a:off x="685800" y="5394960"/>
            <a:ext cx="649205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Dr. Mustafa Hameed</a:t>
            </a:r>
          </a:p>
        </p:txBody>
      </p:sp>
      <p:sp>
        <p:nvSpPr>
          <p:cNvPr id="13" name="lockup1"/>
          <p:cNvSpPr txBox="1"/>
          <p:nvPr/>
        </p:nvSpPr>
        <p:spPr>
          <a:xfrm>
            <a:off x="7939735" y="517550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4" name="lockup2"/>
          <p:cNvSpPr txBox="1"/>
          <p:nvPr/>
        </p:nvSpPr>
        <p:spPr>
          <a:xfrm>
            <a:off x="7939735" y="5413248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C8D6E5"/>
                </a:solidFill>
                <a:latin typeface="Segoe UI"/>
              </a:rPr>
              <a:t>Department of Information Technology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LEARNING OUTCOMES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you will be able to do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2299135"/>
            <a:ext cx="10820095" cy="4083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Describe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Ethernet frame and the purpose of each field you will actually meet on a device.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Explain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how a switch learns, forwards, floods and ages MAC addresses — the algorithm behind every switching chapter that follows.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Read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MAC address table and use it to prove where a device is physically connected.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Predict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what a switch does with a unicast, broadcast or unknown destination.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ASSUMED KNOWLEDGE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Before we start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1006856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Chapter 1 for frames and broadcast domains; Chapter 2 for the link underneath.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KEY TERMS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Vocabulary for this chapter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term-Ethernet"/>
          <p:cNvSpPr/>
          <p:nvPr/>
        </p:nvSpPr>
        <p:spPr>
          <a:xfrm>
            <a:off x="685800" y="1609344"/>
            <a:ext cx="100736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b-Ethernet"/>
          <p:cNvSpPr/>
          <p:nvPr/>
        </p:nvSpPr>
        <p:spPr>
          <a:xfrm>
            <a:off x="685800" y="1609344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t-Ethernet"/>
          <p:cNvSpPr txBox="1"/>
          <p:nvPr/>
        </p:nvSpPr>
        <p:spPr>
          <a:xfrm>
            <a:off x="850392" y="1700784"/>
            <a:ext cx="67817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Ethernet</a:t>
            </a:r>
          </a:p>
        </p:txBody>
      </p:sp>
      <p:sp>
        <p:nvSpPr>
          <p:cNvPr id="10" name="term-MAC address"/>
          <p:cNvSpPr/>
          <p:nvPr/>
        </p:nvSpPr>
        <p:spPr>
          <a:xfrm>
            <a:off x="1821180" y="1609344"/>
            <a:ext cx="143027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b-MAC address"/>
          <p:cNvSpPr/>
          <p:nvPr/>
        </p:nvSpPr>
        <p:spPr>
          <a:xfrm>
            <a:off x="1821180" y="1609344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t-MAC address"/>
          <p:cNvSpPr txBox="1"/>
          <p:nvPr/>
        </p:nvSpPr>
        <p:spPr>
          <a:xfrm>
            <a:off x="1985772" y="1700784"/>
            <a:ext cx="110109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MAC address</a:t>
            </a:r>
          </a:p>
        </p:txBody>
      </p:sp>
      <p:sp>
        <p:nvSpPr>
          <p:cNvPr id="13" name="term-OUI"/>
          <p:cNvSpPr/>
          <p:nvPr/>
        </p:nvSpPr>
        <p:spPr>
          <a:xfrm>
            <a:off x="3379470" y="1609344"/>
            <a:ext cx="622554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b-OUI"/>
          <p:cNvSpPr/>
          <p:nvPr/>
        </p:nvSpPr>
        <p:spPr>
          <a:xfrm>
            <a:off x="3379470" y="1609344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t-OUI"/>
          <p:cNvSpPr txBox="1"/>
          <p:nvPr/>
        </p:nvSpPr>
        <p:spPr>
          <a:xfrm>
            <a:off x="3544062" y="1700784"/>
            <a:ext cx="29337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OUI</a:t>
            </a:r>
          </a:p>
        </p:txBody>
      </p:sp>
      <p:sp>
        <p:nvSpPr>
          <p:cNvPr id="16" name="term-unicast"/>
          <p:cNvSpPr/>
          <p:nvPr/>
        </p:nvSpPr>
        <p:spPr>
          <a:xfrm>
            <a:off x="4130040" y="1609344"/>
            <a:ext cx="92925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b-unicast"/>
          <p:cNvSpPr/>
          <p:nvPr/>
        </p:nvSpPr>
        <p:spPr>
          <a:xfrm>
            <a:off x="4130040" y="1609344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t-unicast"/>
          <p:cNvSpPr txBox="1"/>
          <p:nvPr/>
        </p:nvSpPr>
        <p:spPr>
          <a:xfrm>
            <a:off x="4294632" y="1700784"/>
            <a:ext cx="60007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unicast</a:t>
            </a:r>
          </a:p>
        </p:txBody>
      </p:sp>
      <p:sp>
        <p:nvSpPr>
          <p:cNvPr id="19" name="term-broadcast"/>
          <p:cNvSpPr/>
          <p:nvPr/>
        </p:nvSpPr>
        <p:spPr>
          <a:xfrm>
            <a:off x="5187315" y="1609344"/>
            <a:ext cx="112356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b-broadcast"/>
          <p:cNvSpPr/>
          <p:nvPr/>
        </p:nvSpPr>
        <p:spPr>
          <a:xfrm>
            <a:off x="5187315" y="1609344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t-broadcast"/>
          <p:cNvSpPr txBox="1"/>
          <p:nvPr/>
        </p:nvSpPr>
        <p:spPr>
          <a:xfrm>
            <a:off x="5351907" y="1700784"/>
            <a:ext cx="79438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broadcast</a:t>
            </a:r>
          </a:p>
        </p:txBody>
      </p:sp>
      <p:sp>
        <p:nvSpPr>
          <p:cNvPr id="22" name="term-multicast"/>
          <p:cNvSpPr/>
          <p:nvPr/>
        </p:nvSpPr>
        <p:spPr>
          <a:xfrm>
            <a:off x="6438899" y="1609344"/>
            <a:ext cx="1114044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b-multicast"/>
          <p:cNvSpPr/>
          <p:nvPr/>
        </p:nvSpPr>
        <p:spPr>
          <a:xfrm>
            <a:off x="6438899" y="1609344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t-multicast"/>
          <p:cNvSpPr txBox="1"/>
          <p:nvPr/>
        </p:nvSpPr>
        <p:spPr>
          <a:xfrm>
            <a:off x="6603491" y="1700784"/>
            <a:ext cx="78486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multicast</a:t>
            </a:r>
          </a:p>
        </p:txBody>
      </p:sp>
      <p:sp>
        <p:nvSpPr>
          <p:cNvPr id="25" name="term-CAM table"/>
          <p:cNvSpPr/>
          <p:nvPr/>
        </p:nvSpPr>
        <p:spPr>
          <a:xfrm>
            <a:off x="7680959" y="1609344"/>
            <a:ext cx="119595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b-CAM table"/>
          <p:cNvSpPr/>
          <p:nvPr/>
        </p:nvSpPr>
        <p:spPr>
          <a:xfrm>
            <a:off x="7680959" y="1609344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t-CAM table"/>
          <p:cNvSpPr txBox="1"/>
          <p:nvPr/>
        </p:nvSpPr>
        <p:spPr>
          <a:xfrm>
            <a:off x="7845551" y="1700784"/>
            <a:ext cx="86677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CAM table</a:t>
            </a:r>
          </a:p>
        </p:txBody>
      </p:sp>
      <p:sp>
        <p:nvSpPr>
          <p:cNvPr id="28" name="term-MAC address table"/>
          <p:cNvSpPr/>
          <p:nvPr/>
        </p:nvSpPr>
        <p:spPr>
          <a:xfrm>
            <a:off x="9004934" y="1609344"/>
            <a:ext cx="189318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b-MAC address table"/>
          <p:cNvSpPr/>
          <p:nvPr/>
        </p:nvSpPr>
        <p:spPr>
          <a:xfrm>
            <a:off x="9004934" y="1609344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t-MAC address table"/>
          <p:cNvSpPr txBox="1"/>
          <p:nvPr/>
        </p:nvSpPr>
        <p:spPr>
          <a:xfrm>
            <a:off x="9169526" y="1700784"/>
            <a:ext cx="156400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MAC address table</a:t>
            </a:r>
          </a:p>
        </p:txBody>
      </p:sp>
      <p:sp>
        <p:nvSpPr>
          <p:cNvPr id="31" name="term-learning"/>
          <p:cNvSpPr/>
          <p:nvPr/>
        </p:nvSpPr>
        <p:spPr>
          <a:xfrm>
            <a:off x="685800" y="2212848"/>
            <a:ext cx="98640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b-learning"/>
          <p:cNvSpPr/>
          <p:nvPr/>
        </p:nvSpPr>
        <p:spPr>
          <a:xfrm>
            <a:off x="685800" y="2212848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t-learning"/>
          <p:cNvSpPr txBox="1"/>
          <p:nvPr/>
        </p:nvSpPr>
        <p:spPr>
          <a:xfrm>
            <a:off x="850392" y="2304288"/>
            <a:ext cx="65722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learning</a:t>
            </a:r>
          </a:p>
        </p:txBody>
      </p:sp>
      <p:sp>
        <p:nvSpPr>
          <p:cNvPr id="34" name="term-flooding"/>
          <p:cNvSpPr/>
          <p:nvPr/>
        </p:nvSpPr>
        <p:spPr>
          <a:xfrm>
            <a:off x="1800225" y="2212848"/>
            <a:ext cx="98640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b-flooding"/>
          <p:cNvSpPr/>
          <p:nvPr/>
        </p:nvSpPr>
        <p:spPr>
          <a:xfrm>
            <a:off x="1800225" y="2212848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t-flooding"/>
          <p:cNvSpPr txBox="1"/>
          <p:nvPr/>
        </p:nvSpPr>
        <p:spPr>
          <a:xfrm>
            <a:off x="1964817" y="2304288"/>
            <a:ext cx="65722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flooding</a:t>
            </a:r>
          </a:p>
        </p:txBody>
      </p:sp>
      <p:sp>
        <p:nvSpPr>
          <p:cNvPr id="37" name="term-filtering"/>
          <p:cNvSpPr/>
          <p:nvPr/>
        </p:nvSpPr>
        <p:spPr>
          <a:xfrm>
            <a:off x="2914650" y="2212848"/>
            <a:ext cx="963549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b-filtering"/>
          <p:cNvSpPr/>
          <p:nvPr/>
        </p:nvSpPr>
        <p:spPr>
          <a:xfrm>
            <a:off x="2914650" y="2212848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t-filtering"/>
          <p:cNvSpPr txBox="1"/>
          <p:nvPr/>
        </p:nvSpPr>
        <p:spPr>
          <a:xfrm>
            <a:off x="3079242" y="2304288"/>
            <a:ext cx="63436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filtering</a:t>
            </a:r>
          </a:p>
        </p:txBody>
      </p:sp>
      <p:sp>
        <p:nvSpPr>
          <p:cNvPr id="40" name="term-ageing"/>
          <p:cNvSpPr/>
          <p:nvPr/>
        </p:nvSpPr>
        <p:spPr>
          <a:xfrm>
            <a:off x="4006214" y="2212848"/>
            <a:ext cx="87210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b-ageing"/>
          <p:cNvSpPr/>
          <p:nvPr/>
        </p:nvSpPr>
        <p:spPr>
          <a:xfrm>
            <a:off x="4006214" y="2212848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t-ageing"/>
          <p:cNvSpPr txBox="1"/>
          <p:nvPr/>
        </p:nvSpPr>
        <p:spPr>
          <a:xfrm>
            <a:off x="4170806" y="2304288"/>
            <a:ext cx="54292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ageing</a:t>
            </a:r>
          </a:p>
        </p:txBody>
      </p:sp>
      <p:sp>
        <p:nvSpPr>
          <p:cNvPr id="43" name="term-unknown unicast"/>
          <p:cNvSpPr/>
          <p:nvPr/>
        </p:nvSpPr>
        <p:spPr>
          <a:xfrm>
            <a:off x="5006340" y="2212848"/>
            <a:ext cx="173697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b-unknown unicast"/>
          <p:cNvSpPr/>
          <p:nvPr/>
        </p:nvSpPr>
        <p:spPr>
          <a:xfrm>
            <a:off x="5006340" y="2212848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t-unknown unicast"/>
          <p:cNvSpPr txBox="1"/>
          <p:nvPr/>
        </p:nvSpPr>
        <p:spPr>
          <a:xfrm>
            <a:off x="5170931" y="2304288"/>
            <a:ext cx="140779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unknown unicast</a:t>
            </a:r>
          </a:p>
        </p:txBody>
      </p:sp>
      <p:sp>
        <p:nvSpPr>
          <p:cNvPr id="46" name="term-MTU"/>
          <p:cNvSpPr/>
          <p:nvPr/>
        </p:nvSpPr>
        <p:spPr>
          <a:xfrm>
            <a:off x="6871334" y="2212848"/>
            <a:ext cx="733044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b-MTU"/>
          <p:cNvSpPr/>
          <p:nvPr/>
        </p:nvSpPr>
        <p:spPr>
          <a:xfrm>
            <a:off x="6871334" y="2212848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t-MTU"/>
          <p:cNvSpPr txBox="1"/>
          <p:nvPr/>
        </p:nvSpPr>
        <p:spPr>
          <a:xfrm>
            <a:off x="7035926" y="2304288"/>
            <a:ext cx="40386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MTU</a:t>
            </a:r>
          </a:p>
        </p:txBody>
      </p:sp>
      <p:sp>
        <p:nvSpPr>
          <p:cNvPr id="49" name="term-FCS"/>
          <p:cNvSpPr/>
          <p:nvPr/>
        </p:nvSpPr>
        <p:spPr>
          <a:xfrm>
            <a:off x="7732394" y="2212848"/>
            <a:ext cx="683514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b-FCS"/>
          <p:cNvSpPr/>
          <p:nvPr/>
        </p:nvSpPr>
        <p:spPr>
          <a:xfrm>
            <a:off x="7732394" y="2212848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t-FCS"/>
          <p:cNvSpPr txBox="1"/>
          <p:nvPr/>
        </p:nvSpPr>
        <p:spPr>
          <a:xfrm>
            <a:off x="7896986" y="2304288"/>
            <a:ext cx="35432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FCS</a:t>
            </a:r>
          </a:p>
        </p:txBody>
      </p:sp>
      <p:sp>
        <p:nvSpPr>
          <p:cNvPr id="52" name="termnote"/>
          <p:cNvSpPr txBox="1"/>
          <p:nvPr/>
        </p:nvSpPr>
        <p:spPr>
          <a:xfrm>
            <a:off x="685800" y="2962656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8A959A"/>
                </a:solidFill>
                <a:latin typeface="Segoe UI"/>
              </a:rPr>
              <a:t>Each is defined where it first matters — not here.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DEFINITION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Hexadecimal, and why it exists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2749296"/>
          </a:xfrm>
          <a:prstGeom prst="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Ordinary decimal counts in tens using ten symbols, 0 to 9. </a:t>
            </a:r>
            <a:r>
              <a:rPr sz="2000" b="1" i="0">
                <a:solidFill>
                  <a:srgbClr val="1F618D"/>
                </a:solidFill>
                <a:latin typeface="Segoe UI"/>
              </a:rPr>
              <a:t>Hex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counts in sixteens using sixteen symbols: 0 to 9, then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a b c d e f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for ten to fifteen.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It exists because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one hex digit is exactly four bits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so two hex digits are exactly one byte. Writing a 48-bit MAC address in decimal would take fifteen digits with no relationship to the underlying bits; in hex it takes twelve, and each one maps to a nibble you can reason about.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The three things you actually have to do with it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4279392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ullets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Recognise it.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 leading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0x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means “what follows is hex” —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0x0800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the number 2048, not eight hundred. Cisco also writes hex with no prefix at all, as in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00d0.58a1.0201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Expand one digit to four bits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using the table above. This is all that EUI-64 (Chapter 5) and the MAC address bits below require.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Know that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f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 is all ones.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So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ffff.ffff.ffff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forty-eight 1 bits — every bit set — which is exactly why that is the broadcast address.</a:t>
            </a:r>
          </a:p>
        </p:txBody>
      </p:sp>
      <p:sp>
        <p:nvSpPr>
          <p:cNvPr id="9" name="tailbody"/>
          <p:cNvSpPr txBox="1"/>
          <p:nvPr/>
        </p:nvSpPr>
        <p:spPr>
          <a:xfrm>
            <a:off x="978408" y="4771135"/>
            <a:ext cx="10234879" cy="1556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You will never be asked to convert a long hex number to decimal in your head. You will regularly be asked what one digit means in bits.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WORKED EXAMPLE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is the first byte of 00d0.58a1.0201 in bits?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2331792"/>
            <a:ext cx="10820095" cy="4050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The first byte is the first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two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hex digits,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From the table,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0000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So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0000 0000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eight zero bits.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That matters immediately: the conceptbox after the frame explains that the low-order bit of the first byte says unicast or multicast, and the next bit up says whether the address was assigned by a manufacturer. Both are zero here, so this is a unicast address burned in by its vendor. In Chapter 28 you will meet an address where the second bit is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one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and that single bit is the whole diagnosis.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DEFINITION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The Ethernet frame, field by field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4186935"/>
          </a:xfrm>
          <a:prstGeom prst="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ullets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Preamble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clock synchronisation. You will never see it.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Destination MAC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(6 bytes) — who this frame is for. The switch reads this to decide where to send it.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Source MAC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(6 bytes) — who sent it. The switch reads this to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learn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Type/Length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(2 bytes) — what is inside.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0x0800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IPv4,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0x86DD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IPv6,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0x8100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means a VLAN tag follows (Chapter 10).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Payload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46 to 1500 bytes. Below 46 the frame is padded; this is why a frame under 64 bytes total is a </a:t>
            </a:r>
            <a:r>
              <a:rPr sz="2000" b="1" i="0">
                <a:solidFill>
                  <a:srgbClr val="1F618D"/>
                </a:solidFill>
                <a:latin typeface="Segoe UI"/>
              </a:rPr>
              <a:t>runt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DEFINITION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The Ethernet frame, field by field (continued)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1364488"/>
          </a:xfrm>
          <a:prstGeom prst="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ullets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FCS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(4 bytes) — a checksum. If it fails, the frame is counted as a CRC error and discarded (Chapter 2).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Three kinds of destination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2775711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ullets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Unicast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one specific device. The low-order bit of the first byte is 0.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Broadcast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ffff.ffff.ffff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every device in the VLAN. This is what defines a broadcast domain.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Multicast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a group. The low-order bit of the first byte is 1. OSPF (Chapter 17), HSRP and VRRP (Chapter 19) all use multicast.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Learn, then forward or flood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4039615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For every frame that arrives on a port: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978408" y="2250440"/>
            <a:ext cx="10234879" cy="4132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Learn.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Record the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source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MAC address against the port it arrived on, in this VLAN. Reset the ageing timer if it is already there.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Decide on the destination.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Known unicast →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forward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out that one port.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Unknown unicast →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flood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out every other port in the VLAN.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Broadcast or multicast →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flood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Learn, then forward or flood (continued)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187756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ullets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Destination is on the same port it arrived on →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filter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that is, discard it.</a:t>
            </a:r>
          </a:p>
        </p:txBody>
      </p:sp>
      <p:sp>
        <p:nvSpPr>
          <p:cNvPr id="9" name="tailbody"/>
          <p:cNvSpPr txBox="1"/>
          <p:nvPr/>
        </p:nvSpPr>
        <p:spPr>
          <a:xfrm>
            <a:off x="978408" y="2369312"/>
            <a:ext cx="10234879" cy="3958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 switch never modifies the addresses in a frame it forwards, and it never consults an IP address. Both of those are the router’s job.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45720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How a switch actually works</a:t>
            </a:r>
          </a:p>
        </p:txBody>
      </p:sp>
      <p:sp>
        <p:nvSpPr>
          <p:cNvPr id="3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5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pic>
        <p:nvPicPr>
          <p:cNvPr id="6" name="figure" descr="switchflood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00580"/>
            <a:ext cx="10820095" cy="4207814"/>
          </a:xfrm>
          <a:prstGeom prst="rect">
            <a:avLst/>
          </a:prstGeom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45720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How a switch actually works</a:t>
            </a:r>
          </a:p>
        </p:txBody>
      </p:sp>
      <p:sp>
        <p:nvSpPr>
          <p:cNvPr id="3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5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pic>
        <p:nvPicPr>
          <p:cNvPr id="6" name="figure" descr="switchflood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00580"/>
            <a:ext cx="10820095" cy="4207814"/>
          </a:xfrm>
          <a:prstGeom prst="rect">
            <a:avLst/>
          </a:prstGeom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45720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How a switch actually works</a:t>
            </a:r>
          </a:p>
        </p:txBody>
      </p:sp>
      <p:sp>
        <p:nvSpPr>
          <p:cNvPr id="3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5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pic>
        <p:nvPicPr>
          <p:cNvPr id="6" name="figure" descr="switchflood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00580"/>
            <a:ext cx="10820095" cy="4207814"/>
          </a:xfrm>
          <a:prstGeom prst="rect">
            <a:avLst/>
          </a:prstGeom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WATCH OUT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100" b="1" i="0">
                <a:solidFill>
                  <a:srgbClr val="1A5276"/>
                </a:solidFill>
                <a:latin typeface="Segoe UI"/>
              </a:rPr>
              <a:t>The consequence that matters: unknown unicast flooding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2632964"/>
            <a:ext cx="10820095" cy="37495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 switch floods a unicast frame when it does not know the destination. That is not a fault — it is how the network keeps working while the table is learned. But it means a full or wiped MAC table causes traffic to be sprayed to every port, which is both a performance problem and a security one. It is also the mechanism a MAC flooding attack abuses, which is why Chapter 25 exists and why topic </a:t>
            </a:r>
            <a:r>
              <a:rPr sz="1600" b="1">
                <a:solidFill>
                  <a:srgbClr val="922B21"/>
                </a:solidFill>
                <a:latin typeface="Segoe UI"/>
              </a:rPr>
              <a:t> 4.7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names port security.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VERIFY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show mac address-table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901952"/>
            <a:ext cx="10820095" cy="339344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901952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56816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SW1#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40864"/>
            <a:ext cx="10417759" cy="289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        Mac Address Table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-------------------------------------------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Vlan    Mac Address       Type        Ports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----    -----------       --------    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 1    00d0.58a1.0201    DYNAMIC     Gi0/1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 1    0060.5c2b.19a4    DYNAMIC     Gi0/2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10    000a.f36e.7712    DYNAMIC     Gi0/5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10    0002.1751.4c33    STATIC      Gi0/6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20    00e0.b05f.2210    DYNAMIC     Gi0/8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Total Mac Addresses for this criterion: 5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CONFIGURE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A static MAC entry, and a shorter ageing time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901952"/>
            <a:ext cx="10820095" cy="2133599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901952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56816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IOS  ·  configuration mode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40864"/>
            <a:ext cx="10417759" cy="1639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Pin a known device to a known port. Rarely needed, but it survives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ageing and cannot be moved by a spoofed frame.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mac address-table static 0002.1751.4c33 vlan 10 interface GigabitEthernet0/6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Age entries out faster than the 300-second default.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mac address-table aging-time 120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WORKED EXAMPLE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Following a frame across two switches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PC-A (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00d0.58a1.0201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) on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SW1 Gi0/1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sends to PC-B (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00e0.b05f.2210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) on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SW2 Gi0/3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Both switches have empty tables.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685800" y="2361184"/>
            <a:ext cx="10820095" cy="402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The frame arrives at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SW1 Gi0/1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SW1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learns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00d0.58a1.0201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on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Gi0/1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SW1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does not know PC-B, so it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floods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out its uplink and every other access port.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SW2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receives it on its uplink and learns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00d0.58a1.0201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on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that uplink port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not on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Gi0/1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A switch only ever knows the direction, not the distance.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SW2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does not know PC-B either, so it floods. PC-B receives it.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PC-B replies. Now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SW2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learns PC-B on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Gi0/3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and because it already knows PC-A, it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forwards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rather than flooding.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WORKED EXAMPLE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Following a frame across two switches (continued)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2986749"/>
            <a:ext cx="10820095" cy="33957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SW1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learns PC-B on its uplink. From here on the conversation is unicast in both directions.</a:t>
            </a:r>
          </a:p>
        </p:txBody>
      </p:sp>
      <p:sp>
        <p:nvSpPr>
          <p:cNvPr id="8" name="tailbody"/>
          <p:cNvSpPr txBox="1"/>
          <p:nvPr/>
        </p:nvSpPr>
        <p:spPr>
          <a:xfrm>
            <a:off x="685800" y="3948901"/>
            <a:ext cx="10820095" cy="23787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Two floods to start a conversation, then none. That is the whole design.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COMMON PITFALLS  ·  How a switch actually works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Common pitfalls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Expecting a switch to know a distance.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table says which port, never how many hops. Five hundred devices can appear behind one uplink port and that is entirely normal.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Reading a stale table.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 entry can be up to five minutes old. If you have just moved a cable, the table may still show the old port.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Confusing the MAC table with the ARP table.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MAC table maps MAC → port and lives on a switch. The ARP table maps IP → MAC and lives on any device with an IP address. The exam will test that you know which to look at.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Forgetting the VLAN column.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same MAC address can legitimately appear in two VLANs. Learning is always per VLAN.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SYMPTOM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3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Two ports, one MAC address, and a flapping log.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3290062"/>
            <a:ext cx="10820095" cy="30650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Users on VLAN 10 report intermittent drops. The log shows: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YOUR MOVE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3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Two ports, one MAC address, and a flapping log.</a:t>
            </a:r>
          </a:p>
        </p:txBody>
      </p:sp>
      <p:sp>
        <p:nvSpPr>
          <p:cNvPr id="6" name="promptbg"/>
          <p:cNvSpPr/>
          <p:nvPr/>
        </p:nvSpPr>
        <p:spPr>
          <a:xfrm>
            <a:off x="685800" y="2939796"/>
            <a:ext cx="10820095" cy="84124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rompt"/>
          <p:cNvSpPr txBox="1"/>
          <p:nvPr/>
        </p:nvSpPr>
        <p:spPr>
          <a:xfrm>
            <a:off x="960120" y="3140964"/>
            <a:ext cx="102714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A5276"/>
                </a:solidFill>
                <a:latin typeface="Segoe UI"/>
              </a:rPr>
              <a:t>What would you check first — and what do you expect to see?</a:t>
            </a:r>
          </a:p>
        </p:txBody>
      </p:sp>
      <p:sp>
        <p:nvSpPr>
          <p:cNvPr id="8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9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EVIDENCE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3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show logging | include MACFLAP</a:t>
            </a:r>
          </a:p>
        </p:txBody>
      </p:sp>
      <p:sp>
        <p:nvSpPr>
          <p:cNvPr id="6" name="bfcodebg"/>
          <p:cNvSpPr/>
          <p:nvPr/>
        </p:nvSpPr>
        <p:spPr>
          <a:xfrm>
            <a:off x="685800" y="2011680"/>
            <a:ext cx="10820095" cy="107594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bfcodebar"/>
          <p:cNvSpPr/>
          <p:nvPr/>
        </p:nvSpPr>
        <p:spPr>
          <a:xfrm>
            <a:off x="685800" y="2011680"/>
            <a:ext cx="10820095" cy="329184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fcodettl"/>
          <p:cNvSpPr txBox="1"/>
          <p:nvPr/>
        </p:nvSpPr>
        <p:spPr>
          <a:xfrm>
            <a:off x="886968" y="2057400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SW1#</a:t>
            </a:r>
          </a:p>
        </p:txBody>
      </p:sp>
      <p:sp>
        <p:nvSpPr>
          <p:cNvPr id="9" name="bfcode"/>
          <p:cNvSpPr txBox="1"/>
          <p:nvPr/>
        </p:nvSpPr>
        <p:spPr>
          <a:xfrm>
            <a:off x="886968" y="2432304"/>
            <a:ext cx="10417759" cy="600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%SW_MATM-4-MACFLAP_NOTIF: Host 000a.f36e.7712 in vlan 10 is flapping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  between port Gi0/5 and port Gi0/12</a:t>
            </a:r>
          </a:p>
        </p:txBody>
      </p:sp>
      <p:sp>
        <p:nvSpPr>
          <p:cNvPr id="10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11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YOUR MOVE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3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6" name="promptbg"/>
          <p:cNvSpPr/>
          <p:nvPr/>
        </p:nvSpPr>
        <p:spPr>
          <a:xfrm>
            <a:off x="685800" y="2939796"/>
            <a:ext cx="10820095" cy="84124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rompt"/>
          <p:cNvSpPr txBox="1"/>
          <p:nvPr/>
        </p:nvSpPr>
        <p:spPr>
          <a:xfrm>
            <a:off x="960120" y="3140964"/>
            <a:ext cx="102714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A5276"/>
                </a:solidFill>
                <a:latin typeface="Segoe UI"/>
              </a:rPr>
              <a:t>What is the fault — and what does this output rule out?</a:t>
            </a:r>
          </a:p>
        </p:txBody>
      </p:sp>
      <p:sp>
        <p:nvSpPr>
          <p:cNvPr id="8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9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DIAGNOSIS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3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Why it is doing that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2807462"/>
            <a:ext cx="10820095" cy="35476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1" i="0">
                <a:solidFill>
                  <a:srgbClr val="1C252B"/>
                </a:solidFill>
                <a:latin typeface="Segoe UI"/>
              </a:rPr>
              <a:t>Diagnosis.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The switch is learning the same source MAC on two ports in quick succession. A device cannot be in two places, so one of three things is true: there is a 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physical loop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joining those ports (the same frame is arriving by two paths — see Chapter 12), a device is 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spoofing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that address, or two devices have been given the 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same MAC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by a bad clone or a virtualisation misconfiguration.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THE FIX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3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And the lesson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2928111"/>
            <a:ext cx="10820095" cy="342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1" i="0">
                <a:solidFill>
                  <a:srgbClr val="1C252B"/>
                </a:solidFill>
                <a:latin typeface="Segoe UI"/>
              </a:rPr>
              <a:t>Fix.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Check spanning tree first, because a loop is both the most likely cause and the most damaging: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show spanning-tree vlan 10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look for a port that should be blocking and is not. If the topology is loop-free, shut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Gi0/12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confirm the flapping stops, and trace what is attached to it.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LAB · PACKET TRACER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Watching a switch learn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 i="0">
                <a:solidFill>
                  <a:srgbClr val="1C252B"/>
                </a:solidFill>
                <a:latin typeface="Segoe UI"/>
              </a:rPr>
              <a:t>Topology.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Two switches, uplinked; two PCs on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SW1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one on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SW2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All in VLAN 1 for now.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685800" y="2030984"/>
            <a:ext cx="10820095" cy="4351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1.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Power everything on and immediately run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show mac address-table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on both switches. Record what is there before any traffic.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2.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Ping from PC-A to PC-C. Re-run the command on both switches and record which addresses each has learned, and against which port.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3.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Explain, from your own capture, why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SW2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shows PC-A against its uplink rather than against a host port.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4.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Run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clear mac address-table dynamic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then ping again and watch the table rebuild.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5.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Set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mac address-table aging-time 15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Leave a PC idle for thirty seconds and confirm its entry disappears.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LAB · PACKET TRACER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Watching a switch learn (continued)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2868821"/>
            <a:ext cx="10820095" cy="35136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1.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Extension.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Add a second cable between the two switches to create a loop. Observe what happens to the MAC table and the log before spanning tree settles — then read Chapter 12 to find out why the network survived.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1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A switch receives a frame whose destination MAC is already in its table, against the same port the frame arrived on. What does it do, and what is that behaviour called?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1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A switch receives a frame whose destination MAC is already in its table, against the same port the frame arrived on. What does it do, and what is that behaviour called?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511044"/>
            <a:ext cx="41148" cy="8285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511044"/>
            <a:ext cx="10564063" cy="3780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It drops it. The behaviour is called </a:t>
            </a:r>
            <a:r>
              <a:rPr sz="1900" b="1" i="0">
                <a:solidFill>
                  <a:srgbClr val="1F618D"/>
                </a:solidFill>
                <a:latin typeface="Segoe UI"/>
              </a:rPr>
              <a:t>filtering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: the destination is known to be reachable through the same port the frame arrived on, so forwarding it would send it back where it came from.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2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Why does the first ping between two devices often show a longer round trip than the ones after it?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2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Why does the first ping between two devices often show a longer round trip than the ones after it?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511044"/>
            <a:ext cx="41148" cy="8285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511044"/>
            <a:ext cx="10564063" cy="3780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Because the first one triggers an ARP request and possibly a MAC flood, and the round trip includes that resolution. Later pings use the cached entries.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3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You need to prove which wall port a particular laptop is using. Which table do you consult, on which device, and what do you need to know first?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3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You need to prove which wall port a particular laptop is using. Which table do you consult, on which device, and what do you need to know first?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511044"/>
            <a:ext cx="41148" cy="114223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511044"/>
            <a:ext cx="10564063" cy="3780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The MAC address table, on the switch the laptop is connected to. You need the laptop’s MAC address first — and note that on wireless it may be randomised (Chapter 28), so the MAC on the label may not be the one on the network.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CHAPTER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to take away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A switch learns from the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source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address and decides on the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destination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address. Everything else follows.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Known unicast is forwarded, unknown unicast and broadcast are flooded, and a frame is never sent back out of the port it came in on.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The MAC address table maps MAC to port, per VLAN, and ages entries out after five minutes by default.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MAC table is not ARP table. One lives on a switch and maps to ports; the other maps IP to MAC and lives on anything with an IP address.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CHAPTER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to take away (continued)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3. Ethernet, Frames and Switching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1.1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2986749"/>
            <a:ext cx="10820095" cy="33957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A MAC address flapping between two ports means a loop, a spoof, or a duplicate — and you check for the loop first.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18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ltitle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Where we got to</a:t>
            </a:r>
          </a:p>
        </p:txBody>
      </p:sp>
      <p:sp>
        <p:nvSpPr>
          <p:cNvPr id="4" name="cltakeaways"/>
          <p:cNvSpPr txBox="1"/>
          <p:nvPr/>
        </p:nvSpPr>
        <p:spPr>
          <a:xfrm>
            <a:off x="685800" y="2011680"/>
            <a:ext cx="1082009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A switch learns from the </a:t>
            </a:r>
            <a:r>
              <a:rPr sz="1900" b="0" i="1">
                <a:solidFill>
                  <a:srgbClr val="FFFFFF"/>
                </a:solidFill>
                <a:latin typeface="Segoe UI"/>
              </a:rPr>
              <a:t>source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 address and decides on the </a:t>
            </a:r>
            <a:r>
              <a:rPr sz="1900" b="0" i="1">
                <a:solidFill>
                  <a:srgbClr val="FFFFFF"/>
                </a:solidFill>
                <a:latin typeface="Segoe UI"/>
              </a:rPr>
              <a:t>destination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 address. Everything else follows.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Known unicast is forwarded, unknown unicast and broadcast are flooded, and a frame is never sent back out of the port it came in on.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The MAC address table maps MAC to port, per VLAN, and ages entries out after five minutes by default.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MAC table is not ARP table. One lives on a switch and maps to ports; the other maps IP to MAC and lives on anything with an IP address.</a:t>
            </a:r>
          </a:p>
        </p:txBody>
      </p:sp>
      <p:sp>
        <p:nvSpPr>
          <p:cNvPr id="5" name="nextbg"/>
          <p:cNvSpPr/>
          <p:nvPr/>
        </p:nvSpPr>
        <p:spPr>
          <a:xfrm>
            <a:off x="685800" y="5303520"/>
            <a:ext cx="10820095" cy="822960"/>
          </a:xfrm>
          <a:prstGeom prst="rect">
            <a:avLst/>
          </a:prstGeom>
          <a:solidFill>
            <a:srgbClr val="094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nextlab"/>
          <p:cNvSpPr txBox="1"/>
          <p:nvPr/>
        </p:nvSpPr>
        <p:spPr>
          <a:xfrm>
            <a:off x="960120" y="5449824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B8C9DA"/>
                </a:solidFill>
                <a:latin typeface="Segoe UI"/>
              </a:rPr>
              <a:t>NEXT</a:t>
            </a:r>
          </a:p>
        </p:txBody>
      </p:sp>
      <p:sp>
        <p:nvSpPr>
          <p:cNvPr id="7" name="nexttitle"/>
          <p:cNvSpPr txBox="1"/>
          <p:nvPr/>
        </p:nvSpPr>
        <p:spPr>
          <a:xfrm>
            <a:off x="960120" y="5705856"/>
            <a:ext cx="102714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Chapter 4 — IPv4 Addressing and Subnetting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