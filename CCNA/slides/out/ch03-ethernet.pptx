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3: Ethernet, Frames and Switching. Blueprint topics: 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Students meeting a chapter in week ten cannot place it without being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Ethernet, Frames and Switching 1.1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this chapter — and every MAC address, every IPv6 address and every frame type for the rest of the book — is written in hexadecimal. It is worth two minutes now, because nothing later makes sense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% Nine columns: the budget is about 12.8 cm, not the 15.78 of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MAC address is 48 bits, written as twelve hex digits. The first half is the OUI, assigned to the manufacturer; the second half is assigned by that manufacturer. Cisco writes them as 00d0.58a1.0201; almost everyone else writes 00:d0:58:a1:02:01. They are the same address, and you should be able to read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switch runs one small algorithm, and everything in Part II is a modification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switching algorithm. Flooding is not a failure — it is how the table gets built, and the second frame between the same two hosts is already 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Entries age out after five minutes of silence by default. A device that has been quiet longer than that has to be re-learned, and the first frame to it is flooded.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the most useful single output on a switch. It answers “where is this device physically plugged in?”, and it does so by evidence rather than by documentation — which is exactly what topic 2.3 asks you to do when it says validate the accuracy of network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elimination matters as much as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61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94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Ethernet, Frames and Switching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 — Foundations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1.1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1.1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618D"/>
                </a:solidFill>
                <a:latin typeface="Segoe UI"/>
              </a:rPr>
              <a:t>1.1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pic>
        <p:nvPicPr>
          <p:cNvPr id="13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978" y="4443984"/>
            <a:ext cx="1070141" cy="1060704"/>
          </a:xfrm>
          <a:prstGeom prst="rect">
            <a:avLst/>
          </a:prstGeom>
        </p:spPr>
      </p:pic>
      <p:pic>
        <p:nvPicPr>
          <p:cNvPr id="14" name="logo-dit-logo" descr="di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439" y="4443984"/>
            <a:ext cx="1029456" cy="1060704"/>
          </a:xfrm>
          <a:prstGeom prst="rect">
            <a:avLst/>
          </a:prstGeom>
        </p:spPr>
      </p:pic>
      <p:sp>
        <p:nvSpPr>
          <p:cNvPr id="15" name="lockup1"/>
          <p:cNvSpPr txBox="1"/>
          <p:nvPr/>
        </p:nvSpPr>
        <p:spPr>
          <a:xfrm>
            <a:off x="7116775" y="563270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6" name="lockup2"/>
          <p:cNvSpPr txBox="1"/>
          <p:nvPr/>
        </p:nvSpPr>
        <p:spPr>
          <a:xfrm>
            <a:off x="7116775" y="587044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THE COURSE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this chapter sits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part1bg"/>
          <p:cNvSpPr/>
          <p:nvPr/>
        </p:nvSpPr>
        <p:spPr>
          <a:xfrm>
            <a:off x="685800" y="1792224"/>
            <a:ext cx="10820095" cy="56692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rt1rule"/>
          <p:cNvSpPr/>
          <p:nvPr/>
        </p:nvSpPr>
        <p:spPr>
          <a:xfrm>
            <a:off x="685800" y="1792224"/>
            <a:ext cx="64008" cy="5669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rt1n"/>
          <p:cNvSpPr txBox="1"/>
          <p:nvPr/>
        </p:nvSpPr>
        <p:spPr>
          <a:xfrm>
            <a:off x="941832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618D"/>
                </a:solidFill>
                <a:latin typeface="Segoe UI"/>
              </a:rPr>
              <a:t>Part I</a:t>
            </a:r>
          </a:p>
        </p:txBody>
      </p:sp>
      <p:sp>
        <p:nvSpPr>
          <p:cNvPr id="10" name="part1t"/>
          <p:cNvSpPr txBox="1"/>
          <p:nvPr/>
        </p:nvSpPr>
        <p:spPr>
          <a:xfrm>
            <a:off x="2194560" y="1938528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C252B"/>
                </a:solidFill>
                <a:latin typeface="Segoe UI"/>
              </a:rPr>
              <a:t>Foundations</a:t>
            </a:r>
          </a:p>
        </p:txBody>
      </p:sp>
      <p:sp>
        <p:nvSpPr>
          <p:cNvPr id="11" name="part1c"/>
          <p:cNvSpPr txBox="1"/>
          <p:nvPr/>
        </p:nvSpPr>
        <p:spPr>
          <a:xfrm>
            <a:off x="9951415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F618D"/>
                </a:solidFill>
                <a:latin typeface="Segoe UI"/>
              </a:rPr>
              <a:t>chapters 1–7</a:t>
            </a:r>
          </a:p>
        </p:txBody>
      </p:sp>
      <p:sp>
        <p:nvSpPr>
          <p:cNvPr id="12" name="part2bg"/>
          <p:cNvSpPr/>
          <p:nvPr/>
        </p:nvSpPr>
        <p:spPr>
          <a:xfrm>
            <a:off x="685800" y="2450591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2rule"/>
          <p:cNvSpPr/>
          <p:nvPr/>
        </p:nvSpPr>
        <p:spPr>
          <a:xfrm>
            <a:off x="685800" y="2450591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art2n"/>
          <p:cNvSpPr txBox="1"/>
          <p:nvPr/>
        </p:nvSpPr>
        <p:spPr>
          <a:xfrm>
            <a:off x="941832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</a:t>
            </a:r>
          </a:p>
        </p:txBody>
      </p:sp>
      <p:sp>
        <p:nvSpPr>
          <p:cNvPr id="15" name="part2t"/>
          <p:cNvSpPr txBox="1"/>
          <p:nvPr/>
        </p:nvSpPr>
        <p:spPr>
          <a:xfrm>
            <a:off x="2194560" y="2596896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Switching and Network Access</a:t>
            </a:r>
          </a:p>
        </p:txBody>
      </p:sp>
      <p:sp>
        <p:nvSpPr>
          <p:cNvPr id="16" name="part2c"/>
          <p:cNvSpPr txBox="1"/>
          <p:nvPr/>
        </p:nvSpPr>
        <p:spPr>
          <a:xfrm>
            <a:off x="9951415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8–14</a:t>
            </a:r>
          </a:p>
        </p:txBody>
      </p:sp>
      <p:sp>
        <p:nvSpPr>
          <p:cNvPr id="17" name="part3bg"/>
          <p:cNvSpPr/>
          <p:nvPr/>
        </p:nvSpPr>
        <p:spPr>
          <a:xfrm>
            <a:off x="685800" y="3108959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3rule"/>
          <p:cNvSpPr/>
          <p:nvPr/>
        </p:nvSpPr>
        <p:spPr>
          <a:xfrm>
            <a:off x="685800" y="3108959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3n"/>
          <p:cNvSpPr txBox="1"/>
          <p:nvPr/>
        </p:nvSpPr>
        <p:spPr>
          <a:xfrm>
            <a:off x="941832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III</a:t>
            </a:r>
          </a:p>
        </p:txBody>
      </p:sp>
      <p:sp>
        <p:nvSpPr>
          <p:cNvPr id="20" name="part3t"/>
          <p:cNvSpPr txBox="1"/>
          <p:nvPr/>
        </p:nvSpPr>
        <p:spPr>
          <a:xfrm>
            <a:off x="2194560" y="3255263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IP Routing</a:t>
            </a:r>
          </a:p>
        </p:txBody>
      </p:sp>
      <p:sp>
        <p:nvSpPr>
          <p:cNvPr id="21" name="part3c"/>
          <p:cNvSpPr txBox="1"/>
          <p:nvPr/>
        </p:nvSpPr>
        <p:spPr>
          <a:xfrm>
            <a:off x="9951415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15–19</a:t>
            </a:r>
          </a:p>
        </p:txBody>
      </p:sp>
      <p:sp>
        <p:nvSpPr>
          <p:cNvPr id="22" name="part4bg"/>
          <p:cNvSpPr/>
          <p:nvPr/>
        </p:nvSpPr>
        <p:spPr>
          <a:xfrm>
            <a:off x="685800" y="3767327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art4rule"/>
          <p:cNvSpPr/>
          <p:nvPr/>
        </p:nvSpPr>
        <p:spPr>
          <a:xfrm>
            <a:off x="685800" y="3767327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rt4n"/>
          <p:cNvSpPr txBox="1"/>
          <p:nvPr/>
        </p:nvSpPr>
        <p:spPr>
          <a:xfrm>
            <a:off x="941832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IV</a:t>
            </a:r>
          </a:p>
        </p:txBody>
      </p:sp>
      <p:sp>
        <p:nvSpPr>
          <p:cNvPr id="25" name="part4t"/>
          <p:cNvSpPr txBox="1"/>
          <p:nvPr/>
        </p:nvSpPr>
        <p:spPr>
          <a:xfrm>
            <a:off x="2194560" y="3913631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Network Services and Security</a:t>
            </a:r>
          </a:p>
        </p:txBody>
      </p:sp>
      <p:sp>
        <p:nvSpPr>
          <p:cNvPr id="26" name="part4c"/>
          <p:cNvSpPr txBox="1"/>
          <p:nvPr/>
        </p:nvSpPr>
        <p:spPr>
          <a:xfrm>
            <a:off x="9951415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20–26</a:t>
            </a:r>
          </a:p>
        </p:txBody>
      </p:sp>
      <p:sp>
        <p:nvSpPr>
          <p:cNvPr id="27" name="part5bg"/>
          <p:cNvSpPr/>
          <p:nvPr/>
        </p:nvSpPr>
        <p:spPr>
          <a:xfrm>
            <a:off x="685800" y="4425695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rt5rule"/>
          <p:cNvSpPr/>
          <p:nvPr/>
        </p:nvSpPr>
        <p:spPr>
          <a:xfrm>
            <a:off x="685800" y="4425695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part5n"/>
          <p:cNvSpPr txBox="1"/>
          <p:nvPr/>
        </p:nvSpPr>
        <p:spPr>
          <a:xfrm>
            <a:off x="941832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</a:t>
            </a:r>
          </a:p>
        </p:txBody>
      </p:sp>
      <p:sp>
        <p:nvSpPr>
          <p:cNvPr id="30" name="part5t"/>
          <p:cNvSpPr txBox="1"/>
          <p:nvPr/>
        </p:nvSpPr>
        <p:spPr>
          <a:xfrm>
            <a:off x="2194560" y="4571999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Wireless, Virtualisation and Operations</a:t>
            </a:r>
          </a:p>
        </p:txBody>
      </p:sp>
      <p:sp>
        <p:nvSpPr>
          <p:cNvPr id="31" name="part5c"/>
          <p:cNvSpPr txBox="1"/>
          <p:nvPr/>
        </p:nvSpPr>
        <p:spPr>
          <a:xfrm>
            <a:off x="9951415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27–32</a:t>
            </a:r>
          </a:p>
        </p:txBody>
      </p:sp>
      <p:sp>
        <p:nvSpPr>
          <p:cNvPr id="32" name="part6bg"/>
          <p:cNvSpPr/>
          <p:nvPr/>
        </p:nvSpPr>
        <p:spPr>
          <a:xfrm>
            <a:off x="685800" y="5084063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6rule"/>
          <p:cNvSpPr/>
          <p:nvPr/>
        </p:nvSpPr>
        <p:spPr>
          <a:xfrm>
            <a:off x="685800" y="5084063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6n"/>
          <p:cNvSpPr txBox="1"/>
          <p:nvPr/>
        </p:nvSpPr>
        <p:spPr>
          <a:xfrm>
            <a:off x="941832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VI</a:t>
            </a:r>
          </a:p>
        </p:txBody>
      </p:sp>
      <p:sp>
        <p:nvSpPr>
          <p:cNvPr id="35" name="part6t"/>
          <p:cNvSpPr txBox="1"/>
          <p:nvPr/>
        </p:nvSpPr>
        <p:spPr>
          <a:xfrm>
            <a:off x="2194560" y="5230367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Sitting the Exam</a:t>
            </a:r>
          </a:p>
        </p:txBody>
      </p:sp>
      <p:sp>
        <p:nvSpPr>
          <p:cNvPr id="36" name="part6c"/>
          <p:cNvSpPr txBox="1"/>
          <p:nvPr/>
        </p:nvSpPr>
        <p:spPr>
          <a:xfrm>
            <a:off x="9951415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33–34</a:t>
            </a:r>
          </a:p>
        </p:txBody>
      </p:sp>
      <p:sp>
        <p:nvSpPr>
          <p:cNvPr id="3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3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Describe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Ethernet frame and the purpose of each field you will actually meet on a device.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Explain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how a switch learns, forwards, floods and ages MAC addresses — the algorithm behind every switching chapter that follows.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Read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MAC address table and use it to prove where a device is physically connected.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Predict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what a switch does with a unicast, broadcast or unknown destination.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00685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1 for frames and broadcast domains; Chapter 2 for the link underneath.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erm-Ethernet"/>
          <p:cNvSpPr/>
          <p:nvPr/>
        </p:nvSpPr>
        <p:spPr>
          <a:xfrm>
            <a:off x="685800" y="1609344"/>
            <a:ext cx="100736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Ethernet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Ethernet"/>
          <p:cNvSpPr txBox="1"/>
          <p:nvPr/>
        </p:nvSpPr>
        <p:spPr>
          <a:xfrm>
            <a:off x="850392" y="1700784"/>
            <a:ext cx="67817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Ethernet</a:t>
            </a:r>
          </a:p>
        </p:txBody>
      </p:sp>
      <p:sp>
        <p:nvSpPr>
          <p:cNvPr id="10" name="term-MAC address"/>
          <p:cNvSpPr/>
          <p:nvPr/>
        </p:nvSpPr>
        <p:spPr>
          <a:xfrm>
            <a:off x="1821180" y="1609344"/>
            <a:ext cx="143027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MAC address"/>
          <p:cNvSpPr/>
          <p:nvPr/>
        </p:nvSpPr>
        <p:spPr>
          <a:xfrm>
            <a:off x="182118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MAC address"/>
          <p:cNvSpPr txBox="1"/>
          <p:nvPr/>
        </p:nvSpPr>
        <p:spPr>
          <a:xfrm>
            <a:off x="1985772" y="1700784"/>
            <a:ext cx="110109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MAC address</a:t>
            </a:r>
          </a:p>
        </p:txBody>
      </p:sp>
      <p:sp>
        <p:nvSpPr>
          <p:cNvPr id="13" name="term-OUI"/>
          <p:cNvSpPr/>
          <p:nvPr/>
        </p:nvSpPr>
        <p:spPr>
          <a:xfrm>
            <a:off x="3379470" y="1609344"/>
            <a:ext cx="62255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OUI"/>
          <p:cNvSpPr/>
          <p:nvPr/>
        </p:nvSpPr>
        <p:spPr>
          <a:xfrm>
            <a:off x="337947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OUI"/>
          <p:cNvSpPr txBox="1"/>
          <p:nvPr/>
        </p:nvSpPr>
        <p:spPr>
          <a:xfrm>
            <a:off x="3544062" y="1700784"/>
            <a:ext cx="29337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OUI</a:t>
            </a:r>
          </a:p>
        </p:txBody>
      </p:sp>
      <p:sp>
        <p:nvSpPr>
          <p:cNvPr id="16" name="term-unicast"/>
          <p:cNvSpPr/>
          <p:nvPr/>
        </p:nvSpPr>
        <p:spPr>
          <a:xfrm>
            <a:off x="4130040" y="1609344"/>
            <a:ext cx="92925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unicast"/>
          <p:cNvSpPr/>
          <p:nvPr/>
        </p:nvSpPr>
        <p:spPr>
          <a:xfrm>
            <a:off x="413004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unicast"/>
          <p:cNvSpPr txBox="1"/>
          <p:nvPr/>
        </p:nvSpPr>
        <p:spPr>
          <a:xfrm>
            <a:off x="4294632" y="1700784"/>
            <a:ext cx="60007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unicast</a:t>
            </a:r>
          </a:p>
        </p:txBody>
      </p:sp>
      <p:sp>
        <p:nvSpPr>
          <p:cNvPr id="19" name="term-broadcast"/>
          <p:cNvSpPr/>
          <p:nvPr/>
        </p:nvSpPr>
        <p:spPr>
          <a:xfrm>
            <a:off x="5187315" y="1609344"/>
            <a:ext cx="112356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broadcast"/>
          <p:cNvSpPr/>
          <p:nvPr/>
        </p:nvSpPr>
        <p:spPr>
          <a:xfrm>
            <a:off x="5187315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broadcast"/>
          <p:cNvSpPr txBox="1"/>
          <p:nvPr/>
        </p:nvSpPr>
        <p:spPr>
          <a:xfrm>
            <a:off x="5351907" y="1700784"/>
            <a:ext cx="7943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broadcast</a:t>
            </a:r>
          </a:p>
        </p:txBody>
      </p:sp>
      <p:sp>
        <p:nvSpPr>
          <p:cNvPr id="22" name="term-multicast"/>
          <p:cNvSpPr/>
          <p:nvPr/>
        </p:nvSpPr>
        <p:spPr>
          <a:xfrm>
            <a:off x="6438899" y="1609344"/>
            <a:ext cx="111404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multicast"/>
          <p:cNvSpPr/>
          <p:nvPr/>
        </p:nvSpPr>
        <p:spPr>
          <a:xfrm>
            <a:off x="6438899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multicast"/>
          <p:cNvSpPr txBox="1"/>
          <p:nvPr/>
        </p:nvSpPr>
        <p:spPr>
          <a:xfrm>
            <a:off x="6603491" y="1700784"/>
            <a:ext cx="78486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multicast</a:t>
            </a:r>
          </a:p>
        </p:txBody>
      </p:sp>
      <p:sp>
        <p:nvSpPr>
          <p:cNvPr id="25" name="term-CAM table"/>
          <p:cNvSpPr/>
          <p:nvPr/>
        </p:nvSpPr>
        <p:spPr>
          <a:xfrm>
            <a:off x="7680959" y="1609344"/>
            <a:ext cx="119595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CAM table"/>
          <p:cNvSpPr/>
          <p:nvPr/>
        </p:nvSpPr>
        <p:spPr>
          <a:xfrm>
            <a:off x="7680959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CAM table"/>
          <p:cNvSpPr txBox="1"/>
          <p:nvPr/>
        </p:nvSpPr>
        <p:spPr>
          <a:xfrm>
            <a:off x="7845551" y="1700784"/>
            <a:ext cx="86677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CAM table</a:t>
            </a:r>
          </a:p>
        </p:txBody>
      </p:sp>
      <p:sp>
        <p:nvSpPr>
          <p:cNvPr id="28" name="term-MAC address table"/>
          <p:cNvSpPr/>
          <p:nvPr/>
        </p:nvSpPr>
        <p:spPr>
          <a:xfrm>
            <a:off x="9004934" y="1609344"/>
            <a:ext cx="189318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MAC address table"/>
          <p:cNvSpPr/>
          <p:nvPr/>
        </p:nvSpPr>
        <p:spPr>
          <a:xfrm>
            <a:off x="9004934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MAC address table"/>
          <p:cNvSpPr txBox="1"/>
          <p:nvPr/>
        </p:nvSpPr>
        <p:spPr>
          <a:xfrm>
            <a:off x="9169526" y="1700784"/>
            <a:ext cx="156400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MAC address table</a:t>
            </a:r>
          </a:p>
        </p:txBody>
      </p:sp>
      <p:sp>
        <p:nvSpPr>
          <p:cNvPr id="31" name="term-learning"/>
          <p:cNvSpPr/>
          <p:nvPr/>
        </p:nvSpPr>
        <p:spPr>
          <a:xfrm>
            <a:off x="685800" y="2212848"/>
            <a:ext cx="98640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learning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learning"/>
          <p:cNvSpPr txBox="1"/>
          <p:nvPr/>
        </p:nvSpPr>
        <p:spPr>
          <a:xfrm>
            <a:off x="850392" y="2304288"/>
            <a:ext cx="6572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learning</a:t>
            </a:r>
          </a:p>
        </p:txBody>
      </p:sp>
      <p:sp>
        <p:nvSpPr>
          <p:cNvPr id="34" name="term-flooding"/>
          <p:cNvSpPr/>
          <p:nvPr/>
        </p:nvSpPr>
        <p:spPr>
          <a:xfrm>
            <a:off x="1800225" y="2212848"/>
            <a:ext cx="98640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flooding"/>
          <p:cNvSpPr/>
          <p:nvPr/>
        </p:nvSpPr>
        <p:spPr>
          <a:xfrm>
            <a:off x="1800225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flooding"/>
          <p:cNvSpPr txBox="1"/>
          <p:nvPr/>
        </p:nvSpPr>
        <p:spPr>
          <a:xfrm>
            <a:off x="1964817" y="2304288"/>
            <a:ext cx="6572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flooding</a:t>
            </a:r>
          </a:p>
        </p:txBody>
      </p:sp>
      <p:sp>
        <p:nvSpPr>
          <p:cNvPr id="37" name="term-filtering"/>
          <p:cNvSpPr/>
          <p:nvPr/>
        </p:nvSpPr>
        <p:spPr>
          <a:xfrm>
            <a:off x="2914650" y="2212848"/>
            <a:ext cx="96354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b-filtering"/>
          <p:cNvSpPr/>
          <p:nvPr/>
        </p:nvSpPr>
        <p:spPr>
          <a:xfrm>
            <a:off x="291465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t-filtering"/>
          <p:cNvSpPr txBox="1"/>
          <p:nvPr/>
        </p:nvSpPr>
        <p:spPr>
          <a:xfrm>
            <a:off x="3079242" y="2304288"/>
            <a:ext cx="63436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filtering</a:t>
            </a:r>
          </a:p>
        </p:txBody>
      </p:sp>
      <p:sp>
        <p:nvSpPr>
          <p:cNvPr id="40" name="term-ageing"/>
          <p:cNvSpPr/>
          <p:nvPr/>
        </p:nvSpPr>
        <p:spPr>
          <a:xfrm>
            <a:off x="4006214" y="2212848"/>
            <a:ext cx="87210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b-ageing"/>
          <p:cNvSpPr/>
          <p:nvPr/>
        </p:nvSpPr>
        <p:spPr>
          <a:xfrm>
            <a:off x="4006214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t-ageing"/>
          <p:cNvSpPr txBox="1"/>
          <p:nvPr/>
        </p:nvSpPr>
        <p:spPr>
          <a:xfrm>
            <a:off x="4170806" y="2304288"/>
            <a:ext cx="5429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ageing</a:t>
            </a:r>
          </a:p>
        </p:txBody>
      </p:sp>
      <p:sp>
        <p:nvSpPr>
          <p:cNvPr id="43" name="term-unknown unicast"/>
          <p:cNvSpPr/>
          <p:nvPr/>
        </p:nvSpPr>
        <p:spPr>
          <a:xfrm>
            <a:off x="5006340" y="2212848"/>
            <a:ext cx="173697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b-unknown unicast"/>
          <p:cNvSpPr/>
          <p:nvPr/>
        </p:nvSpPr>
        <p:spPr>
          <a:xfrm>
            <a:off x="500634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t-unknown unicast"/>
          <p:cNvSpPr txBox="1"/>
          <p:nvPr/>
        </p:nvSpPr>
        <p:spPr>
          <a:xfrm>
            <a:off x="5170931" y="2304288"/>
            <a:ext cx="140779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unknown unicast</a:t>
            </a:r>
          </a:p>
        </p:txBody>
      </p:sp>
      <p:sp>
        <p:nvSpPr>
          <p:cNvPr id="46" name="term-MTU"/>
          <p:cNvSpPr/>
          <p:nvPr/>
        </p:nvSpPr>
        <p:spPr>
          <a:xfrm>
            <a:off x="6871334" y="2212848"/>
            <a:ext cx="73304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b-MTU"/>
          <p:cNvSpPr/>
          <p:nvPr/>
        </p:nvSpPr>
        <p:spPr>
          <a:xfrm>
            <a:off x="6871334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t-MTU"/>
          <p:cNvSpPr txBox="1"/>
          <p:nvPr/>
        </p:nvSpPr>
        <p:spPr>
          <a:xfrm>
            <a:off x="7035926" y="2304288"/>
            <a:ext cx="40386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MTU</a:t>
            </a:r>
          </a:p>
        </p:txBody>
      </p:sp>
      <p:sp>
        <p:nvSpPr>
          <p:cNvPr id="49" name="term-FCS"/>
          <p:cNvSpPr/>
          <p:nvPr/>
        </p:nvSpPr>
        <p:spPr>
          <a:xfrm>
            <a:off x="7732394" y="2212848"/>
            <a:ext cx="68351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b-FCS"/>
          <p:cNvSpPr/>
          <p:nvPr/>
        </p:nvSpPr>
        <p:spPr>
          <a:xfrm>
            <a:off x="7732394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t-FCS"/>
          <p:cNvSpPr txBox="1"/>
          <p:nvPr/>
        </p:nvSpPr>
        <p:spPr>
          <a:xfrm>
            <a:off x="7896986" y="2304288"/>
            <a:ext cx="35432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FCS</a:t>
            </a:r>
          </a:p>
        </p:txBody>
      </p:sp>
      <p:sp>
        <p:nvSpPr>
          <p:cNvPr id="52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Reading hexadecimal first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Hexadecimal, and why it exists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749296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Ordinary decimal counts in tens using ten symbols, 0 to 9.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Hex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counts in sixteens using sixteen symbols: 0 to 9, then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a b c d e 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for ten to fifteen.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It exists because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one hex digit is exactly four bits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so two hex digits are exactly one byte. Writing a 48-bit MAC address in decimal would take fifteen digits with no relationship to the underlying bits; in hex it takes twelve, and each one maps to a nibble you can reason about.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three things you actually have to do with it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279392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Recognise it.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leading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0x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means “what follows is hex” —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0x0800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the number 2048, not eight hundred. Cisco also writes hex with no prefix at all, as in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00d0.58a1.0201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Expand one digit to four bits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using the table above. This is all that EUI-64 (Chapter 5) and the MAC address bits below require.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Know that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f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 is all ones.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ffff.ffff.ffff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forty-eight 1 bits — every bit set — which is exactly why that is the broadcast address.</a:t>
            </a:r>
          </a:p>
        </p:txBody>
      </p:sp>
      <p:sp>
        <p:nvSpPr>
          <p:cNvPr id="9" name="tailbody"/>
          <p:cNvSpPr txBox="1"/>
          <p:nvPr/>
        </p:nvSpPr>
        <p:spPr>
          <a:xfrm>
            <a:off x="978408" y="4771135"/>
            <a:ext cx="10234879" cy="155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You will never be asked to convert a long hex number to decimal in your head. You will regularly be asked what one digit means in bits.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is the first byte of 00d0.58a1.0201 in bits?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first byte is the first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two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hex digits,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From the table,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So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0000 0000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eight zero bits.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That matters immediately: the conceptbox after the frame explains that the low-order bit of the first byte says unicast or multicast, and the next bit up says whether the address was assigned by a manufacturer. Both are zero here, so this is a unicast address burned in by its vendor. In Chapter 28 you will meet an address where the second bit is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one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and that single bit is the whole diagnosis.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frame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Ethernet frame, field by field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186935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Preamble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clock synchronisation. You will never see it.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Destination MAC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(6 bytes) — who this frame is for. The switch reads this to decide where to send it.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Source MAC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(6 bytes) — who sent it. The switch reads this to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learn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Type/Length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(2 bytes) — what is inside.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0x0800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IPv4,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0x86DD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IPv6,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0x8100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means a VLAN tag follows (Chapter 10).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Payload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46 to 1500 bytes. Below 46 the frame is padded; this is why a frame under 64 bytes total is a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runt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Ethernet frame, field by field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64488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FCS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(4 bytes) — a checksum. If it fails, the frame is counted as a CRC error and discarded (Chapter 2).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Three kinds of destination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775711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Unicast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one specific device. The low-order bit of the first byte is 0.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Broadcast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ffff.ffff.ffff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every device in the VLAN. This is what defines a broadcast domain.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Multicast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a group. The low-order bit of the first byte is 1. OSPF (Chapter 17), HSRP and VRRP (Chapter 19) all use multicast.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How a switch actually works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Learn, then forward or flood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03961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For every frame that arrives on a port: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250440"/>
            <a:ext cx="10234879" cy="4132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Learn.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Record the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source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MAC address against the port it arrived on, in this VLAN. Reset the ageing timer if it is already there.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Decide on the destination.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Known unicast →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forward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out that one port.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Unknown unicast →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flood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out every other port in the VLAN.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Broadcast or multicast →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flood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Learn, then forward or flood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87756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Destination is on the same port it arrived on →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filter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that is, discard it.</a:t>
            </a:r>
          </a:p>
        </p:txBody>
      </p:sp>
      <p:sp>
        <p:nvSpPr>
          <p:cNvPr id="9" name="tailbody"/>
          <p:cNvSpPr txBox="1"/>
          <p:nvPr/>
        </p:nvSpPr>
        <p:spPr>
          <a:xfrm>
            <a:off x="978408" y="2369312"/>
            <a:ext cx="10234879" cy="395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switch never modifies the addresses in a frame it forwards, and it never consults an IP address. Both of those are the router’s job.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How a switch actually works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pic>
        <p:nvPicPr>
          <p:cNvPr id="6" name="figure" descr="switchflood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0580"/>
            <a:ext cx="10820095" cy="4207814"/>
          </a:xfrm>
          <a:prstGeom prst="rect">
            <a:avLst/>
          </a:prstGeom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How a switch actually works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pic>
        <p:nvPicPr>
          <p:cNvPr id="6" name="figure" descr="switchflood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0580"/>
            <a:ext cx="10820095" cy="4207814"/>
          </a:xfrm>
          <a:prstGeom prst="rect">
            <a:avLst/>
          </a:prstGeom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How a switch actually works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pic>
        <p:nvPicPr>
          <p:cNvPr id="6" name="figure" descr="switchflood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0580"/>
            <a:ext cx="10820095" cy="4207814"/>
          </a:xfrm>
          <a:prstGeom prst="rect">
            <a:avLst/>
          </a:prstGeom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 i="0">
                <a:solidFill>
                  <a:srgbClr val="1A5276"/>
                </a:solidFill>
                <a:latin typeface="Segoe UI"/>
              </a:rPr>
              <a:t>The consequence that matters: unknown unicast flooding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switch floods a unicast frame when it does not know the destination. That is not a fault — it is how the network keeps working while the table is learned. But it means a full or wiped MAC table causes traffic to be sprayed to every port, which is both a performance problem and a security one. It is also the mechanism a MAC flooding attack abuses, which is why Chapter 25 exists and why topic </a:t>
            </a:r>
            <a:r>
              <a:rPr sz="1600" b="1">
                <a:solidFill>
                  <a:srgbClr val="922B21"/>
                </a:solidFill>
                <a:latin typeface="Segoe UI"/>
              </a:rPr>
              <a:t> 4.7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names port security.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mac address-table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339344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899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Mac Address Table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Vlan    Mac Address       Type        Ports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    -----------       --------    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1    00d0.58a1.0201    DYNAMIC     Gi0/1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1    0060.5c2b.19a4    DYNAMIC     Gi0/2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10    000a.f36e.7712    DYNAMIC     Gi0/5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10    0002.1751.4c33    STATIC      Gi0/6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20    00e0.b05f.2210    DYNAMIC     Gi0/8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Total Mac Addresses for this criterion: 5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A static MAC entry, and a shorter ageing time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133599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639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Pin a known device to a known port. Rarely needed, but it survives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ageing and cannot be moved by a spoofed frame.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mac address-table static 0002.1751.4c33 vlan 10 interface GigabitEthernet0/6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Age entries out faster than the 300-second default.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mac address-table aging-time 120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Following a frame across two switches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PC-A (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00d0.58a1.0201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)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 Gi0/1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sends to PC-B (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00e0.b05f.2210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)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SW2 Gi0/3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Both switches have empty tables.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61184"/>
            <a:ext cx="10820095" cy="402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The frame arrives at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 Gi0/1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learns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00d0.58a1.0201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Gi0/1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does not know PC-B, so it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floods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out its uplink and every other access port.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receives it on its uplink and learns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00d0.58a1.0201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that uplink port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not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Gi0/1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A switch only ever knows the direction, not the distance.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does not know PC-B either, so it floods. PC-B receives it.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PC-B replies. Now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learns PC-B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Gi0/3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and because it already knows PC-A, it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forwards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rather than flooding.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Following a frame across two switches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learns PC-B on its uplink. From here on the conversation is unicast in both directions.</a:t>
            </a:r>
          </a:p>
        </p:txBody>
      </p:sp>
      <p:sp>
        <p:nvSpPr>
          <p:cNvPr id="8" name="tailbody"/>
          <p:cNvSpPr txBox="1"/>
          <p:nvPr/>
        </p:nvSpPr>
        <p:spPr>
          <a:xfrm>
            <a:off x="685800" y="2864104"/>
            <a:ext cx="10820095" cy="346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Two floods to start a conversation, then none. That is the whole design.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How a switch actually works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Expecting a switch to know a distance.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table says which port, never how many hops. Five hundred devices can appear behind one uplink port and that is entirely normal.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Reading a stale table.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 entry can be up to five minutes old. If you have just moved a cable, the table may still show the old port.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Confusing the MAC table with the ARP table.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MAC table maps MAC → port and lives on a switch. The ARP table maps IP → MAC and lives on any device with an IP address. The exam will test that you know which to look at.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the VLAN column.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same MAC address can legitimately appear in two VLANs. Learning is always per VLAN.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3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Two ports, one MAC address, and a flapping log.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Users on VLAN 10 report intermittent drops. The log shows: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3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Two ports, one MAC address, and a flapping log.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3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logging | include MACFLAP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7594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600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%SW_MATM-4-MACFLAP_NOTIF: Host 000a.f36e.7712 in vlan 10 is flapping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between port Gi0/5 and port Gi0/12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3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is the fault — and what does this output rule out?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3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switch is learning the same source MAC on two ports in quick succession. A device cannot be in two places, so one of three things is true: there is a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physical loop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joining those ports (the same frame is arriving by two paths — see Chapter 12), a device is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spoofing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that address, or two devices have been given the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same MAC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by a bad clone or a virtualisation misconfiguration.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3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Check spanning tree first, because a loop is both the most likely cause and the most damaging: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spanning-tree vlan 10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look for a port that should be blocking and is not. If the topology is loop-free, shut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Gi0/12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confirm the flapping stops, and trace what is attached to it.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Watching a switch learn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Two switches, uplinked; two PCs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one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All in VLAN 1 for now.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030984"/>
            <a:ext cx="10820095" cy="4351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Power everything on and immediately run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mac address-table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both switches. Record what is there before any traffic.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Ping from PC-A to PC-C. Re-run the command on both switches and record which addresses each has learned, and against which port.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3.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Explain, from your own capture, why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shows PC-A against its uplink rather than against a host port.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4.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Run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clear mac address-table dynamic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then ping again and watch the table rebuild.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5.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Set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mac address-table aging-time 15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Leave a PC idle for thirty seconds and confirm its entry disappears.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Watching a switch learn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6.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Add a second cable between the two switches to create a loop. Observe what happens to the MAC table and the log before spanning tree settles — then read Chapter 12 to find out why the network survived.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switch receives a frame whose destination MAC is already in its table, against the same port the frame arrived on. What does it do, and what is that behaviour called?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switch receives a frame whose destination MAC is already in its table, against the same port the frame arrived on. What does it do, and what is that behaviour called?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It drops it. The behaviour is called </a:t>
            </a:r>
            <a:r>
              <a:rPr sz="1900" b="1" i="0">
                <a:solidFill>
                  <a:srgbClr val="1F618D"/>
                </a:solidFill>
                <a:latin typeface="Segoe UI"/>
              </a:rPr>
              <a:t>filtering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the destination is known to be reachable through the same port the frame arrived on, so forwarding it would send it back where it came from.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Why does the first ping between two devices often show a longer round trip than the ones after it?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Why does the first ping between two devices often show a longer round trip than the ones after it?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Because the first one triggers an ARP request and possibly a MAC flood, and the round trip includes that resolution. Later pings use the cached entries.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You need to prove which wall port a particular laptop is using. Which table do you consult, on which device, and what do you need to know first?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You need to prove which wall port a particular laptop is using. Which table do you consult, on which device, and what do you need to know first?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The MAC address table, on the switch the laptop is connected to. You need the laptop’s MAC address first — and note that on wireless it may be randomised (Chapter 28), so the MAC on the label may not be the one on the network.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switch learns from the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source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address and decides on the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destination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address. Everything else follows.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Known unicast is forwarded, unknown unicast and broadcast are flooded, and a frame is never sent back out of the port it came in on.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The MAC address table maps MAC to port, per VLAN, and ages entries out after five minutes by default.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MAC table is not ARP table. One lives on a switch and maps to ports; the other maps IP to MAC and lives on anything with an IP address.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3. Ethernet, Frames and Switching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1.1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MAC address flapping between two ports means a loop, a spoof, or a duplicate — and you check for the loop first.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61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 switch learns from the </a:t>
            </a:r>
            <a:r>
              <a:rPr sz="1900" b="0" i="1">
                <a:solidFill>
                  <a:srgbClr val="FFFFFF"/>
                </a:solidFill>
                <a:latin typeface="Segoe UI"/>
              </a:rPr>
              <a:t>source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address and decides on the </a:t>
            </a:r>
            <a:r>
              <a:rPr sz="1900" b="0" i="1">
                <a:solidFill>
                  <a:srgbClr val="FFFFFF"/>
                </a:solidFill>
                <a:latin typeface="Segoe UI"/>
              </a:rPr>
              <a:t>destination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address. Everything else follows.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Known unicast is forwarded, unknown unicast and broadcast are flooded, and a frame is never sent back out of the port it came in on.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The MAC address table maps MAC to port, per VLAN, and ages entries out after five minutes by default.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MAC table is not ARP table. One lives on a switch and maps to ports; the other maps IP to MAC and lives on anything with an IP address.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094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4 — IPv4 Addressing and Subnetting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