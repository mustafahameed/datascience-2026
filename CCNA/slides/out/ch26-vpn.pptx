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26: IPsec VPNs. Blueprint topics: 4.5.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IPsec VPNs 4.5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campus sites need to exchange traffic and the only path between them is the internet, which is shared with everyone and trusted by nobody. Anything sent in clear can be read; anything read can be altered; anything altered can be replayed. A virtual private network makes that shared path behave like a private one. IPsec is the standard suite of protocols that does it at the network layer — which is the useful part, because it means applications need no changes and know nothing about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names, and the exam expects you to know which does what.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builds a secure, authenticated channel between the two peers — the ISAKMP or IKE security association. The peers prove their identity (pre-shared key or certificate) and run Diffie–Hellman. Phase 2 uses that channel to negotiate the security associations that will actually protect user traffic, including which traffic is to be protected at all. IKEv2, the current version, does the same work in fewer exchanges, and adds built-in NAT traversal and liveness checking. New deployments use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second half of the topic’s parenthesis, and the distinction is entirely about what gets encrypted and what IP header the packet travels under.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ESP has a milder version of the same problem: PAT needs port numbers to multiplex, and ESP is not a port-based protocol. NAT traversal solves it by detecting NAT on the path during IKE and wrapping ESP inside UDP port 4500, which PAT can then handle normally. It is automatic in IKEv2.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examined as a configuration task, but these four explain most real failures and make the mechanics concrete. Phase 1 never completes. Mismatched pre-shared key, mismatched IKE proposal, or UDP 500 blocked. Nothing at all passes. Phase 1 completes, phase 2 does not. Mismatched transform set, or the two ends disagree about which traffic should be protected. The peers can talk; user traffic cannot. Tunnel establishes, large packets fail. The extra headers push packets past the path MTU. Small pings and SSH work, file transfers and web pages hang. A classic, and a good reminder that “it pings” is not “it works”. Everything negotiates and no data flows. A firewall permitting UDP 500 but not IP protocol 50.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26</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IPsec VPNs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IV — Network Services and Security</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4.5"/>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4.5"/>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922B21"/>
                </a:solidFill>
                <a:latin typeface="Segoe UI"/>
              </a:rPr>
              <a:t>4.5</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bullets"/>
          <p:cNvSpPr txBox="1"/>
          <p:nvPr/>
        </p:nvSpPr>
        <p:spPr>
          <a:xfrm>
            <a:off x="685800" y="2417064"/>
            <a:ext cx="10820095" cy="39654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Distinguish</a:t>
            </a:r>
            <a:r>
              <a:rPr sz="2000" b="0" i="0">
                <a:solidFill>
                  <a:srgbClr val="1C252B"/>
                </a:solidFill>
                <a:latin typeface="Segoe UI"/>
              </a:rPr>
              <a:t> site-to-site from remote-access VPNs and say which suits a given requirement.</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Name</a:t>
            </a:r>
            <a:r>
              <a:rPr sz="2000" b="0" i="0">
                <a:solidFill>
                  <a:srgbClr val="1C252B"/>
                </a:solidFill>
                <a:latin typeface="Segoe UI"/>
              </a:rPr>
              <a:t> the protocols in the IPsec suite — IKE, ESP and AH — and state what each contributes.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Compare</a:t>
            </a:r>
            <a:r>
              <a:rPr sz="2000" b="0" i="0">
                <a:solidFill>
                  <a:srgbClr val="1C252B"/>
                </a:solidFill>
                <a:latin typeface="Segoe UI"/>
              </a:rPr>
              <a:t> tunnel mode and transport mode, and say which is used where.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Explain</a:t>
            </a:r>
            <a:r>
              <a:rPr sz="2000" b="0" i="0">
                <a:solidFill>
                  <a:srgbClr val="1C252B"/>
                </a:solidFill>
                <a:latin typeface="Segoe UI"/>
              </a:rPr>
              <a:t> why AH is effectively unusable through NAT, and what is used instead.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6 for ports and protocol numbers. Chapter 22 — the interaction between IPsec and NAT is most of what makes this topic interesting. Chapter 23 for the idea of authentication as distinct from encryption.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term-IPsec"/>
          <p:cNvSpPr/>
          <p:nvPr/>
        </p:nvSpPr>
        <p:spPr>
          <a:xfrm>
            <a:off x="685800" y="1609344"/>
            <a:ext cx="82702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IPsec"/>
          <p:cNvSpPr/>
          <p:nvPr/>
        </p:nvSpPr>
        <p:spPr>
          <a:xfrm>
            <a:off x="68580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IPsec"/>
          <p:cNvSpPr txBox="1"/>
          <p:nvPr/>
        </p:nvSpPr>
        <p:spPr>
          <a:xfrm>
            <a:off x="850392" y="1700784"/>
            <a:ext cx="497840"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IPsec</a:t>
            </a:r>
          </a:p>
        </p:txBody>
      </p:sp>
      <p:sp>
        <p:nvSpPr>
          <p:cNvPr id="10" name="term-IKE"/>
          <p:cNvSpPr/>
          <p:nvPr/>
        </p:nvSpPr>
        <p:spPr>
          <a:xfrm>
            <a:off x="1640840" y="1609344"/>
            <a:ext cx="64211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IKE"/>
          <p:cNvSpPr/>
          <p:nvPr/>
        </p:nvSpPr>
        <p:spPr>
          <a:xfrm>
            <a:off x="164084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IKE"/>
          <p:cNvSpPr txBox="1"/>
          <p:nvPr/>
        </p:nvSpPr>
        <p:spPr>
          <a:xfrm>
            <a:off x="1805432" y="1700784"/>
            <a:ext cx="31292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IKE</a:t>
            </a:r>
          </a:p>
        </p:txBody>
      </p:sp>
      <p:sp>
        <p:nvSpPr>
          <p:cNvPr id="13" name="term-ISAKMP"/>
          <p:cNvSpPr/>
          <p:nvPr/>
        </p:nvSpPr>
        <p:spPr>
          <a:xfrm>
            <a:off x="2410968" y="1609344"/>
            <a:ext cx="107289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ISAKMP"/>
          <p:cNvSpPr/>
          <p:nvPr/>
        </p:nvSpPr>
        <p:spPr>
          <a:xfrm>
            <a:off x="2410968"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ISAKMP"/>
          <p:cNvSpPr txBox="1"/>
          <p:nvPr/>
        </p:nvSpPr>
        <p:spPr>
          <a:xfrm>
            <a:off x="2575560" y="1700784"/>
            <a:ext cx="74371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ISAKMP</a:t>
            </a:r>
          </a:p>
        </p:txBody>
      </p:sp>
      <p:sp>
        <p:nvSpPr>
          <p:cNvPr id="16" name="term-ESP"/>
          <p:cNvSpPr/>
          <p:nvPr/>
        </p:nvSpPr>
        <p:spPr>
          <a:xfrm>
            <a:off x="3611880" y="1609344"/>
            <a:ext cx="707136"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ESP"/>
          <p:cNvSpPr/>
          <p:nvPr/>
        </p:nvSpPr>
        <p:spPr>
          <a:xfrm>
            <a:off x="361188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ESP"/>
          <p:cNvSpPr txBox="1"/>
          <p:nvPr/>
        </p:nvSpPr>
        <p:spPr>
          <a:xfrm>
            <a:off x="3776472" y="1700784"/>
            <a:ext cx="377952"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ESP</a:t>
            </a:r>
          </a:p>
        </p:txBody>
      </p:sp>
      <p:sp>
        <p:nvSpPr>
          <p:cNvPr id="19" name="term-AH"/>
          <p:cNvSpPr/>
          <p:nvPr/>
        </p:nvSpPr>
        <p:spPr>
          <a:xfrm>
            <a:off x="4447032" y="1609344"/>
            <a:ext cx="58115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AH"/>
          <p:cNvSpPr/>
          <p:nvPr/>
        </p:nvSpPr>
        <p:spPr>
          <a:xfrm>
            <a:off x="4447032"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AH"/>
          <p:cNvSpPr txBox="1"/>
          <p:nvPr/>
        </p:nvSpPr>
        <p:spPr>
          <a:xfrm>
            <a:off x="4611624" y="1700784"/>
            <a:ext cx="25196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AH</a:t>
            </a:r>
          </a:p>
        </p:txBody>
      </p:sp>
      <p:sp>
        <p:nvSpPr>
          <p:cNvPr id="22" name="term-tunnel mode"/>
          <p:cNvSpPr/>
          <p:nvPr/>
        </p:nvSpPr>
        <p:spPr>
          <a:xfrm>
            <a:off x="5156200" y="1609344"/>
            <a:ext cx="14163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tunnel mode"/>
          <p:cNvSpPr/>
          <p:nvPr/>
        </p:nvSpPr>
        <p:spPr>
          <a:xfrm>
            <a:off x="515620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tunnel mode"/>
          <p:cNvSpPr txBox="1"/>
          <p:nvPr/>
        </p:nvSpPr>
        <p:spPr>
          <a:xfrm>
            <a:off x="5320792" y="1700784"/>
            <a:ext cx="108711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tunnel mode</a:t>
            </a:r>
          </a:p>
        </p:txBody>
      </p:sp>
      <p:sp>
        <p:nvSpPr>
          <p:cNvPr id="25" name="term-transport mode"/>
          <p:cNvSpPr/>
          <p:nvPr/>
        </p:nvSpPr>
        <p:spPr>
          <a:xfrm>
            <a:off x="6700520" y="1609344"/>
            <a:ext cx="1641855"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transport mode"/>
          <p:cNvSpPr/>
          <p:nvPr/>
        </p:nvSpPr>
        <p:spPr>
          <a:xfrm>
            <a:off x="670052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transport mode"/>
          <p:cNvSpPr txBox="1"/>
          <p:nvPr/>
        </p:nvSpPr>
        <p:spPr>
          <a:xfrm>
            <a:off x="6865111" y="1700784"/>
            <a:ext cx="1312671"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transport mode</a:t>
            </a:r>
          </a:p>
        </p:txBody>
      </p:sp>
      <p:sp>
        <p:nvSpPr>
          <p:cNvPr id="28" name="term-security associati"/>
          <p:cNvSpPr/>
          <p:nvPr/>
        </p:nvSpPr>
        <p:spPr>
          <a:xfrm>
            <a:off x="8470391" y="1609344"/>
            <a:ext cx="210311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security associati"/>
          <p:cNvSpPr/>
          <p:nvPr/>
        </p:nvSpPr>
        <p:spPr>
          <a:xfrm>
            <a:off x="8470391"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security associati"/>
          <p:cNvSpPr txBox="1"/>
          <p:nvPr/>
        </p:nvSpPr>
        <p:spPr>
          <a:xfrm>
            <a:off x="8634983" y="1700784"/>
            <a:ext cx="177393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security association</a:t>
            </a:r>
          </a:p>
        </p:txBody>
      </p:sp>
      <p:sp>
        <p:nvSpPr>
          <p:cNvPr id="31" name="term-NAT-T"/>
          <p:cNvSpPr/>
          <p:nvPr/>
        </p:nvSpPr>
        <p:spPr>
          <a:xfrm>
            <a:off x="685800" y="2212848"/>
            <a:ext cx="93675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NAT-T"/>
          <p:cNvSpPr/>
          <p:nvPr/>
        </p:nvSpPr>
        <p:spPr>
          <a:xfrm>
            <a:off x="685800"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NAT-T"/>
          <p:cNvSpPr txBox="1"/>
          <p:nvPr/>
        </p:nvSpPr>
        <p:spPr>
          <a:xfrm>
            <a:off x="850392" y="2304288"/>
            <a:ext cx="60756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NAT-T</a:t>
            </a:r>
          </a:p>
        </p:txBody>
      </p:sp>
      <p:sp>
        <p:nvSpPr>
          <p:cNvPr id="34" name="term-site-to-site"/>
          <p:cNvSpPr/>
          <p:nvPr/>
        </p:nvSpPr>
        <p:spPr>
          <a:xfrm>
            <a:off x="1750568" y="2212848"/>
            <a:ext cx="135940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site-to-site"/>
          <p:cNvSpPr/>
          <p:nvPr/>
        </p:nvSpPr>
        <p:spPr>
          <a:xfrm>
            <a:off x="1750568"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site-to-site"/>
          <p:cNvSpPr txBox="1"/>
          <p:nvPr/>
        </p:nvSpPr>
        <p:spPr>
          <a:xfrm>
            <a:off x="1915160" y="2304288"/>
            <a:ext cx="103022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site-to-site</a:t>
            </a:r>
          </a:p>
        </p:txBody>
      </p:sp>
      <p:sp>
        <p:nvSpPr>
          <p:cNvPr id="37" name="term-remote access"/>
          <p:cNvSpPr/>
          <p:nvPr/>
        </p:nvSpPr>
        <p:spPr>
          <a:xfrm>
            <a:off x="3237992" y="2212848"/>
            <a:ext cx="162356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remote access"/>
          <p:cNvSpPr/>
          <p:nvPr/>
        </p:nvSpPr>
        <p:spPr>
          <a:xfrm>
            <a:off x="3237992"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remote access"/>
          <p:cNvSpPr txBox="1"/>
          <p:nvPr/>
        </p:nvSpPr>
        <p:spPr>
          <a:xfrm>
            <a:off x="3402584" y="2304288"/>
            <a:ext cx="129438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remote access</a:t>
            </a:r>
          </a:p>
        </p:txBody>
      </p:sp>
      <p:sp>
        <p:nvSpPr>
          <p:cNvPr id="40" name="term-GRE over IPsec"/>
          <p:cNvSpPr/>
          <p:nvPr/>
        </p:nvSpPr>
        <p:spPr>
          <a:xfrm>
            <a:off x="4989575" y="2212848"/>
            <a:ext cx="16987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GRE over IPsec"/>
          <p:cNvSpPr/>
          <p:nvPr/>
        </p:nvSpPr>
        <p:spPr>
          <a:xfrm>
            <a:off x="4989575"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GRE over IPsec"/>
          <p:cNvSpPr txBox="1"/>
          <p:nvPr/>
        </p:nvSpPr>
        <p:spPr>
          <a:xfrm>
            <a:off x="5154167" y="2304288"/>
            <a:ext cx="13695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GRE over IPsec</a:t>
            </a:r>
          </a:p>
        </p:txBody>
      </p:sp>
      <p:sp>
        <p:nvSpPr>
          <p:cNvPr id="43"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only describe topic in this part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922B21"/>
                </a:solidFill>
                <a:latin typeface="Segoe UI"/>
              </a:rPr>
              <a:t> 4.5 </a:t>
            </a:r>
            <a:r>
              <a:rPr sz="2000" b="0" i="0">
                <a:solidFill>
                  <a:srgbClr val="1C252B"/>
                </a:solidFill>
                <a:latin typeface="Segoe UI"/>
              </a:rPr>
              <a:t> is </a:t>
            </a:r>
            <a:r>
              <a:rPr sz="2000" b="0" i="1">
                <a:solidFill>
                  <a:srgbClr val="1C252B"/>
                </a:solidFill>
                <a:latin typeface="Segoe UI"/>
              </a:rPr>
              <a:t>describe IPsec remote access and site-to-site VPNs (protocols and transport modes)</a:t>
            </a:r>
            <a:r>
              <a:rPr sz="2000" b="0" i="0">
                <a:solidFill>
                  <a:srgbClr val="1C252B"/>
                </a:solidFill>
                <a:latin typeface="Segoe UI"/>
              </a:rPr>
              <a:t>. There is no configuration verb, and no crypto map or IKEv2 proposal syntax is required of you.</a:t>
            </a:r>
          </a:p>
          <a:p>
            <a:pPr algn="l">
              <a:lnSpc>
                <a:spcPct val="100000"/>
              </a:lnSpc>
              <a:spcAft>
                <a:spcPts val="1000"/>
              </a:spcAft>
            </a:pPr>
            <a:r>
              <a:rPr sz="2000" b="0" i="0">
                <a:solidFill>
                  <a:srgbClr val="1C252B"/>
                </a:solidFill>
                <a:latin typeface="Segoe UI"/>
              </a:rPr>
              <a:t>That is why this chapter is short and has no lab: writing one would teach you something the exam does not ask for, at the cost of time you need elsewhere in this part. What it </a:t>
            </a:r>
            <a:r>
              <a:rPr sz="2000" b="0" i="1">
                <a:solidFill>
                  <a:srgbClr val="1C252B"/>
                </a:solidFill>
                <a:latin typeface="Segoe UI"/>
              </a:rPr>
              <a:t>does</a:t>
            </a:r>
            <a:r>
              <a:rPr sz="2000" b="0" i="0">
                <a:solidFill>
                  <a:srgbClr val="1C252B"/>
                </a:solidFill>
                <a:latin typeface="Segoe UI"/>
              </a:rPr>
              <a:t> ask for is in the parenthesis — </a:t>
            </a:r>
            <a:r>
              <a:rPr sz="2000" b="1" i="0">
                <a:solidFill>
                  <a:srgbClr val="1C252B"/>
                </a:solidFill>
                <a:latin typeface="Segoe UI"/>
              </a:rPr>
              <a:t>the protocols and the transport modes</a:t>
            </a:r>
            <a:r>
              <a:rPr sz="2000" b="0" i="0">
                <a:solidFill>
                  <a:srgbClr val="1C252B"/>
                </a:solidFill>
                <a:latin typeface="Segoe UI"/>
              </a:rPr>
              <a:t> — so those two lists are what this chapter drills.</a:t>
            </a:r>
          </a:p>
          <a:p>
            <a:pPr algn="l">
              <a:lnSpc>
                <a:spcPct val="100000"/>
              </a:lnSpc>
              <a:spcAft>
                <a:spcPts val="1000"/>
              </a:spcAft>
            </a:pPr>
            <a:r>
              <a:rPr sz="2000" b="0" i="0">
                <a:solidFill>
                  <a:srgbClr val="1C252B"/>
                </a:solidFill>
                <a:latin typeface="Segoe UI"/>
              </a:rPr>
              <a:t>If you go on to CCNP Security, this chapter is the vocabulary you will build on. For now, know the names, the jobs and the trade-offs.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four services IPsec provides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tint"/>
          <p:cNvSpPr/>
          <p:nvPr/>
        </p:nvSpPr>
        <p:spPr>
          <a:xfrm>
            <a:off x="685800" y="1517904"/>
            <a:ext cx="10820095" cy="4159503"/>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ullets"/>
          <p:cNvSpPr txBox="1"/>
          <p:nvPr/>
        </p:nvSpPr>
        <p:spPr>
          <a:xfrm>
            <a:off x="978408" y="1737360"/>
            <a:ext cx="10234879" cy="4645152"/>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Confidentiality</a:t>
            </a:r>
            <a:r>
              <a:rPr sz="2000" b="0" i="0">
                <a:solidFill>
                  <a:srgbClr val="1C252B"/>
                </a:solidFill>
                <a:latin typeface="Segoe UI"/>
              </a:rPr>
              <a:t> — encryption, so the payload cannot be read. Normally AES.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Integrity</a:t>
            </a:r>
            <a:r>
              <a:rPr sz="2000" b="0" i="0">
                <a:solidFill>
                  <a:srgbClr val="1C252B"/>
                </a:solidFill>
                <a:latin typeface="Segoe UI"/>
              </a:rPr>
              <a:t> — a keyed hash, so alteration is detectable. Normally SHA-2.</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Authentication</a:t>
            </a:r>
            <a:r>
              <a:rPr sz="2000" b="0" i="0">
                <a:solidFill>
                  <a:srgbClr val="1C252B"/>
                </a:solidFill>
                <a:latin typeface="Segoe UI"/>
              </a:rPr>
              <a:t> — proof that the peer is who it claims to be. A pre-shared key or a digital certificate.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Anti-replay</a:t>
            </a:r>
            <a:r>
              <a:rPr sz="2000" b="0" i="0">
                <a:solidFill>
                  <a:srgbClr val="1C252B"/>
                </a:solidFill>
                <a:latin typeface="Segoe UI"/>
              </a:rPr>
              <a:t> — sequence numbers, so a captured packet cannot be re-sent later to useful effect.</a:t>
            </a:r>
          </a:p>
        </p:txBody>
      </p:sp>
      <p:sp>
        <p:nvSpPr>
          <p:cNvPr id="9" name="tailbody"/>
          <p:cNvSpPr txBox="1"/>
          <p:nvPr/>
        </p:nvSpPr>
        <p:spPr>
          <a:xfrm>
            <a:off x="978408" y="4651247"/>
            <a:ext cx="10234879" cy="1676400"/>
          </a:xfrm>
          <a:prstGeom prst="rect">
            <a:avLst/>
          </a:prstGeom>
          <a:noFill/>
        </p:spPr>
        <p:txBody>
          <a:bodyPr wrap="square" anchor="t" lIns="0" rIns="0" tIns="0" bIns="0">
            <a:spAutoFit/>
          </a:bodyPr>
          <a:lstStyle/>
          <a:p>
            <a:pPr algn="l">
              <a:lnSpc>
                <a:spcPct val="100000"/>
              </a:lnSpc>
              <a:spcAft>
                <a:spcPts val="600"/>
              </a:spcAft>
            </a:pPr>
            <a:r>
              <a:rPr sz="2000" b="0" i="0">
                <a:solidFill>
                  <a:srgbClr val="1C252B"/>
                </a:solidFill>
                <a:latin typeface="Segoe UI"/>
              </a:rPr>
              <a:t>Underpinning all four is </a:t>
            </a:r>
            <a:r>
              <a:rPr sz="2000" b="1" i="0">
                <a:solidFill>
                  <a:srgbClr val="1C252B"/>
                </a:solidFill>
                <a:latin typeface="Segoe UI"/>
              </a:rPr>
              <a:t>key management</a:t>
            </a:r>
            <a:r>
              <a:rPr sz="2000" b="0" i="0">
                <a:solidFill>
                  <a:srgbClr val="1C252B"/>
                </a:solidFill>
                <a:latin typeface="Segoe UI"/>
              </a:rPr>
              <a:t>: Diffie–Hellman, which lets two peers agree a shared secret over a channel an eavesdropper is watching.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Two deployment models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pic>
        <p:nvPicPr>
          <p:cNvPr id="6" name="figure" descr="vpnmodels.png"/>
          <p:cNvPicPr>
            <a:picLocks noChangeAspect="1"/>
          </p:cNvPicPr>
          <p:nvPr/>
        </p:nvPicPr>
        <p:blipFill>
          <a:blip r:embed="rId2"/>
          <a:stretch>
            <a:fillRect/>
          </a:stretch>
        </p:blipFill>
        <p:spPr>
          <a:xfrm>
            <a:off x="2036732" y="1517904"/>
            <a:ext cx="8118230" cy="4114800"/>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Where the tunnel starts decides the model. Site-to-site protects gateway to gateway; remote access protects all the way to the user’s device.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Traffic is only protected inside the tunnel</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tint"/>
          <p:cNvSpPr/>
          <p:nvPr/>
        </p:nvSpPr>
        <p:spPr>
          <a:xfrm>
            <a:off x="685800" y="1517904"/>
            <a:ext cx="10820095" cy="19974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In the site-to-site diagram, traffic between the host and its own gateway is in clear. IPsec protects the internet crossing, not the LAN at either end. That is usually the right trade — but it means a VPN is not an answer to a threat already inside the building.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Two facts that are asked directly</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body"/>
          <p:cNvSpPr txBox="1"/>
          <p:nvPr/>
        </p:nvSpPr>
        <p:spPr>
          <a:xfrm>
            <a:off x="685800" y="2482378"/>
            <a:ext cx="10820095" cy="3900133"/>
          </a:xfrm>
          <a:prstGeom prst="rect">
            <a:avLst/>
          </a:prstGeom>
          <a:noFill/>
        </p:spPr>
        <p:txBody>
          <a:bodyPr wrap="square" anchor="t" lIns="0" rIns="0" tIns="0" bIns="0">
            <a:spAutoFit/>
          </a:bodyPr>
          <a:lstStyle/>
          <a:p>
            <a:pPr algn="l">
              <a:lnSpc>
                <a:spcPct val="100000"/>
              </a:lnSpc>
              <a:spcAft>
                <a:spcPts val="1000"/>
              </a:spcAft>
            </a:pPr>
            <a:r>
              <a:rPr sz="2000" b="1" i="0">
                <a:solidFill>
                  <a:srgbClr val="1C252B"/>
                </a:solidFill>
                <a:latin typeface="Segoe UI"/>
              </a:rPr>
              <a:t>ESP encrypts; AH does not.</a:t>
            </a:r>
            <a:r>
              <a:rPr sz="2000" b="0" i="0">
                <a:solidFill>
                  <a:srgbClr val="1C252B"/>
                </a:solidFill>
                <a:latin typeface="Segoe UI"/>
              </a:rPr>
              <a:t> If a question asks which protocol provides confidentiality, the answer is ESP, every time.</a:t>
            </a:r>
          </a:p>
          <a:p>
            <a:pPr algn="l">
              <a:lnSpc>
                <a:spcPct val="100000"/>
              </a:lnSpc>
              <a:spcAft>
                <a:spcPts val="1000"/>
              </a:spcAft>
            </a:pPr>
            <a:r>
              <a:rPr sz="2000" b="1" i="0">
                <a:solidFill>
                  <a:srgbClr val="1C252B"/>
                </a:solidFill>
                <a:latin typeface="Segoe UI"/>
              </a:rPr>
              <a:t>ESP and AH are not TCP or UDP.</a:t>
            </a:r>
            <a:r>
              <a:rPr sz="2000" b="0" i="0">
                <a:solidFill>
                  <a:srgbClr val="1C252B"/>
                </a:solidFill>
                <a:latin typeface="Segoe UI"/>
              </a:rPr>
              <a:t> They are IP protocols in their own right, numbered 50 and 51, sitting at the same layer as TCP (6) and UDP (17). This is why a firewall rule that permits “UDP 500” alone will let the tunnel negotiate and then carry no data — a memorable and very common real fault.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Security association</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tint"/>
          <p:cNvSpPr/>
          <p:nvPr/>
        </p:nvSpPr>
        <p:spPr>
          <a:xfrm>
            <a:off x="685800" y="1517904"/>
            <a:ext cx="10820095" cy="19974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one-directional agreement covering the algorithms, keys and lifetimes for one flow. Because it is one-directional, a working tunnel has </a:t>
            </a:r>
            <a:r>
              <a:rPr sz="2000" b="0" i="1">
                <a:solidFill>
                  <a:srgbClr val="1C252B"/>
                </a:solidFill>
                <a:latin typeface="Segoe UI"/>
              </a:rPr>
              <a:t>two</a:t>
            </a:r>
            <a:r>
              <a:rPr sz="2000" b="0" i="0">
                <a:solidFill>
                  <a:srgbClr val="1C252B"/>
                </a:solidFill>
                <a:latin typeface="Segoe UI"/>
              </a:rPr>
              <a:t> — one in each direction. Asymmetric failures, where traffic passes one way only, are usually a phase 2 mismatch.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Transport mode and tunnel mode</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pic>
        <p:nvPicPr>
          <p:cNvPr id="6" name="figure" descr="ipsecmodes.png"/>
          <p:cNvPicPr>
            <a:picLocks noChangeAspect="1"/>
          </p:cNvPicPr>
          <p:nvPr/>
        </p:nvPicPr>
        <p:blipFill>
          <a:blip r:embed="rId2"/>
          <a:stretch>
            <a:fillRect/>
          </a:stretch>
        </p:blipFill>
        <p:spPr>
          <a:xfrm>
            <a:off x="2577436" y="1517904"/>
            <a:ext cx="7036821" cy="4114800"/>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Transport mode keeps the original IP header. Tunnel mode encrypts it and adds a new one, which is what lets private addresses cross a public network.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If the question does not say otherwise, it is tunnel mode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3103952"/>
            <a:ext cx="10820095" cy="3278559"/>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Tunnel mode is the default for the VPNs this topic names. The single sentence to remember: </a:t>
            </a:r>
            <a:r>
              <a:rPr sz="2000" b="1" i="0">
                <a:solidFill>
                  <a:srgbClr val="1C252B"/>
                </a:solidFill>
                <a:latin typeface="Segoe UI"/>
              </a:rPr>
              <a:t>tunnel mode encrypts the original IP header and adds a new one; transport mode does not.</a:t>
            </a:r>
            <a:r>
              <a:rPr sz="2000" b="0" i="0">
                <a:solidFill>
                  <a:srgbClr val="1C252B"/>
                </a:solidFill>
                <a:latin typeface="Segoe UI"/>
              </a:rPr>
              <a:t> Every other difference in the table follows from that.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Why AH is dead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body"/>
          <p:cNvSpPr txBox="1"/>
          <p:nvPr/>
        </p:nvSpPr>
        <p:spPr>
          <a:xfrm>
            <a:off x="685800" y="2364449"/>
            <a:ext cx="10820095" cy="401806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AH authenticates the </a:t>
            </a:r>
            <a:r>
              <a:rPr sz="2000" b="0" i="1">
                <a:solidFill>
                  <a:srgbClr val="1C252B"/>
                </a:solidFill>
                <a:latin typeface="Segoe UI"/>
              </a:rPr>
              <a:t>entire</a:t>
            </a:r>
            <a:r>
              <a:rPr sz="2000" b="0" i="0">
                <a:solidFill>
                  <a:srgbClr val="1C252B"/>
                </a:solidFill>
                <a:latin typeface="Segoe UI"/>
              </a:rPr>
              <a:t> packet, including the source and destination addresses in the IP header. NAT’s whole job is to rewrite those addresses. So a NAT device on the path invalidates AH’s integrity check by definition, and the far end discards the packet.</a:t>
            </a:r>
          </a:p>
          <a:p>
            <a:pPr algn="l">
              <a:lnSpc>
                <a:spcPct val="100000"/>
              </a:lnSpc>
              <a:spcAft>
                <a:spcPts val="1000"/>
              </a:spcAft>
            </a:pPr>
            <a:r>
              <a:rPr sz="2000" b="0" i="0">
                <a:solidFill>
                  <a:srgbClr val="1C252B"/>
                </a:solidFill>
                <a:latin typeface="Segoe UI"/>
              </a:rPr>
              <a:t>There is no configuration that fixes this; the two mechanisms are logically incompatible. Since almost every internet path involves NAT somewhere, AH has been left behind, and ESP — which does not protect the outer header — is what everyone uses.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GRE over IPsec, in one paragraph</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IPsec tunnel mode carries unicast IP and nothing else — no multicast, and therefore no routing protocols. A site-to-site VPN that needs OSPF between the sites wraps the traffic in a GRE tunnel first, which </a:t>
            </a:r>
            <a:r>
              <a:rPr sz="2000" b="0" i="1">
                <a:solidFill>
                  <a:srgbClr val="1C252B"/>
                </a:solidFill>
                <a:latin typeface="Segoe UI"/>
              </a:rPr>
              <a:t>can</a:t>
            </a:r>
            <a:r>
              <a:rPr sz="2000" b="0" i="0">
                <a:solidFill>
                  <a:srgbClr val="1C252B"/>
                </a:solidFill>
                <a:latin typeface="Segoe UI"/>
              </a:rPr>
              <a:t> carry multicast, and then protects the GRE with IPsec.</a:t>
            </a:r>
          </a:p>
          <a:p>
            <a:pPr algn="l">
              <a:lnSpc>
                <a:spcPct val="100000"/>
              </a:lnSpc>
              <a:spcAft>
                <a:spcPts val="1000"/>
              </a:spcAft>
            </a:pPr>
            <a:r>
              <a:rPr sz="2000" b="0" i="0">
                <a:solidFill>
                  <a:srgbClr val="1C252B"/>
                </a:solidFill>
                <a:latin typeface="Segoe UI"/>
              </a:rPr>
              <a:t>You will meet the phrase “GRE over IPsec”. For this exam, know why it exists: GRE brings the ability to run a routing protocol, IPsec brings the security, and neither does both.</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When things do not work</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Saying AH encrypts.</a:t>
            </a:r>
            <a:r>
              <a:rPr sz="2000" b="0" i="0">
                <a:solidFill>
                  <a:srgbClr val="1C252B"/>
                </a:solidFill>
                <a:latin typeface="Segoe UI"/>
              </a:rPr>
              <a:t> It does not. Only ESP does.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Calling ESP and AH “TCP” or “UDP”.</a:t>
            </a:r>
            <a:r>
              <a:rPr sz="2000" b="0" i="0">
                <a:solidFill>
                  <a:srgbClr val="1C252B"/>
                </a:solidFill>
                <a:latin typeface="Segoe UI"/>
              </a:rPr>
              <a:t> They are IP protocols 50 and 51.</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Mixing up the modes.</a:t>
            </a:r>
            <a:r>
              <a:rPr sz="2000" b="0" i="0">
                <a:solidFill>
                  <a:srgbClr val="1C252B"/>
                </a:solidFill>
                <a:latin typeface="Segoe UI"/>
              </a:rPr>
              <a:t> Tunnel mode adds a new IP header; transport mode keeps the original.</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Assuming a VPN protects the whole path.</a:t>
            </a:r>
            <a:r>
              <a:rPr sz="2000" b="0" i="0">
                <a:solidFill>
                  <a:srgbClr val="1C252B"/>
                </a:solidFill>
                <a:latin typeface="Segoe UI"/>
              </a:rPr>
              <a:t> It protects the tunnel.</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Expecting a routing protocol to run over plain IPsec.</a:t>
            </a:r>
            <a:r>
              <a:rPr sz="2000" b="0" i="0">
                <a:solidFill>
                  <a:srgbClr val="1C252B"/>
                </a:solidFill>
                <a:latin typeface="Segoe UI"/>
              </a:rPr>
              <a:t> It cannot — multicast needs GRE.</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Treating a successful ping as a working tunnel.</a:t>
            </a:r>
            <a:r>
              <a:rPr sz="2000" b="0" i="0">
                <a:solidFill>
                  <a:srgbClr val="1C252B"/>
                </a:solidFill>
                <a:latin typeface="Segoe UI"/>
              </a:rPr>
              <a:t> Test with something large enough to expose an MTU problem.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100" b="1" i="0">
                <a:solidFill>
                  <a:srgbClr val="1C252B"/>
                </a:solidFill>
                <a:latin typeface="Segoe UI"/>
              </a:rPr>
              <a:t>The tunnel is up and shows both peers established. No user traffic crosses it.</a:t>
            </a:r>
          </a:p>
        </p:txBody>
      </p:sp>
      <p:sp>
        <p:nvSpPr>
          <p:cNvPr id="6" name="bfbody"/>
          <p:cNvSpPr txBox="1"/>
          <p:nvPr/>
        </p:nvSpPr>
        <p:spPr>
          <a:xfrm>
            <a:off x="685800" y="3169412"/>
            <a:ext cx="10820095" cy="318566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A site-to-site VPN between </a:t>
            </a:r>
            <a:r>
              <a:rPr sz="1800" b="0" i="0">
                <a:solidFill>
                  <a:srgbClr val="1A5276"/>
                </a:solidFill>
                <a:latin typeface="Consolas"/>
              </a:rPr>
              <a:t>R1</a:t>
            </a:r>
            <a:r>
              <a:rPr sz="1900" b="0" i="0">
                <a:solidFill>
                  <a:srgbClr val="1C252B"/>
                </a:solidFill>
                <a:latin typeface="Segoe UI"/>
              </a:rPr>
              <a:t> and </a:t>
            </a:r>
            <a:r>
              <a:rPr sz="1800" b="0" i="0">
                <a:solidFill>
                  <a:srgbClr val="1A5276"/>
                </a:solidFill>
                <a:latin typeface="Consolas"/>
              </a:rPr>
              <a:t>R2</a:t>
            </a:r>
            <a:r>
              <a:rPr sz="1900" b="0" i="0">
                <a:solidFill>
                  <a:srgbClr val="1C252B"/>
                </a:solidFill>
                <a:latin typeface="Segoe UI"/>
              </a:rPr>
              <a:t>. Both routers report an established IKE session with the other. Users at either site cannot reach the other site at all.</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100" b="1" i="0">
                <a:solidFill>
                  <a:srgbClr val="1C252B"/>
                </a:solidFill>
                <a:latin typeface="Segoe UI"/>
              </a:rPr>
              <a:t>The tunnel is up and shows both peers established. No user traffic crosses it.</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crypto isakmp sa</a:t>
            </a:r>
          </a:p>
        </p:txBody>
      </p:sp>
      <p:sp>
        <p:nvSpPr>
          <p:cNvPr id="6" name="bfcodebg"/>
          <p:cNvSpPr/>
          <p:nvPr/>
        </p:nvSpPr>
        <p:spPr>
          <a:xfrm>
            <a:off x="685800" y="2011680"/>
            <a:ext cx="10820095" cy="1312163"/>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83667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IPv4 Crypto ISAKMP SA</a:t>
            </a:r>
          </a:p>
          <a:p>
            <a:pPr>
              <a:lnSpc>
                <a:spcPct val="100000"/>
              </a:lnSpc>
              <a:spcAft>
                <a:spcPts val="0"/>
              </a:spcAft>
            </a:pPr>
            <a:r>
              <a:rPr sz="1500">
                <a:solidFill>
                  <a:srgbClr val="E8EEF2"/>
                </a:solidFill>
                <a:latin typeface="Consolas"/>
              </a:rPr>
              <a:t>dst             src             state          conn-id status</a:t>
            </a:r>
          </a:p>
          <a:p>
            <a:pPr>
              <a:lnSpc>
                <a:spcPct val="100000"/>
              </a:lnSpc>
              <a:spcAft>
                <a:spcPts val="0"/>
              </a:spcAft>
            </a:pPr>
            <a:r>
              <a:rPr sz="1500">
                <a:solidFill>
                  <a:srgbClr val="E8EEF2"/>
                </a:solidFill>
                <a:latin typeface="Consolas"/>
              </a:rPr>
              <a:t>198.51.100.9    203.0.113.2     QM_IDLE           1004 ACTIVE</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crypto ipsec sa | include pkts|local ident|remote ident</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   local  ident (addr/mask/prot/port): (192.168.10.0/255.255.255.0/0/0)</a:t>
            </a:r>
          </a:p>
          <a:p>
            <a:pPr>
              <a:lnSpc>
                <a:spcPct val="100000"/>
              </a:lnSpc>
              <a:spcAft>
                <a:spcPts val="0"/>
              </a:spcAft>
            </a:pPr>
            <a:r>
              <a:rPr sz="1500">
                <a:solidFill>
                  <a:srgbClr val="E8EEF2"/>
                </a:solidFill>
                <a:latin typeface="Consolas"/>
              </a:rPr>
              <a:t>   remote ident (addr/mask/prot/port): (192.168.20.0/255.255.255.0/0/0)</a:t>
            </a:r>
          </a:p>
          <a:p>
            <a:pPr>
              <a:lnSpc>
                <a:spcPct val="100000"/>
              </a:lnSpc>
              <a:spcAft>
                <a:spcPts val="0"/>
              </a:spcAft>
            </a:pPr>
            <a:r>
              <a:rPr sz="1500">
                <a:solidFill>
                  <a:srgbClr val="E8EEF2"/>
                </a:solidFill>
                <a:latin typeface="Consolas"/>
              </a:rPr>
              <a:t>    #pkts encaps: 0, #pkts encrypt: 0, #pkts digest: 0</a:t>
            </a:r>
          </a:p>
          <a:p>
            <a:pPr>
              <a:lnSpc>
                <a:spcPct val="100000"/>
              </a:lnSpc>
              <a:spcAft>
                <a:spcPts val="0"/>
              </a:spcAft>
            </a:pPr>
            <a:r>
              <a:rPr sz="1500">
                <a:solidFill>
                  <a:srgbClr val="E8EEF2"/>
                </a:solidFill>
                <a:latin typeface="Consolas"/>
              </a:rPr>
              <a:t>    #pkts decaps: 0, #pkts decrypt: 0, #pkts verify: 0</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375173"/>
            <a:ext cx="10820095" cy="3979906"/>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Read the two outputs as a pair, because together they locate the fault precisely.</a:t>
            </a:r>
          </a:p>
          <a:p>
            <a:pPr algn="l">
              <a:lnSpc>
                <a:spcPct val="100000"/>
              </a:lnSpc>
              <a:spcAft>
                <a:spcPts val="1000"/>
              </a:spcAft>
            </a:pPr>
            <a:r>
              <a:rPr sz="1800" b="0" i="0">
                <a:solidFill>
                  <a:srgbClr val="1A5276"/>
                </a:solidFill>
                <a:latin typeface="Consolas"/>
              </a:rPr>
              <a:t>QM_IDLE</a:t>
            </a:r>
            <a:r>
              <a:rPr sz="1900" b="0" i="0">
                <a:solidFill>
                  <a:srgbClr val="1C252B"/>
                </a:solidFill>
                <a:latin typeface="Segoe UI"/>
              </a:rPr>
              <a:t> and </a:t>
            </a:r>
            <a:r>
              <a:rPr sz="1800" b="0" i="0">
                <a:solidFill>
                  <a:srgbClr val="1A5276"/>
                </a:solidFill>
                <a:latin typeface="Consolas"/>
              </a:rPr>
              <a:t>ACTIVE</a:t>
            </a:r>
            <a:r>
              <a:rPr sz="1900" b="0" i="0">
                <a:solidFill>
                  <a:srgbClr val="1C252B"/>
                </a:solidFill>
                <a:latin typeface="Segoe UI"/>
              </a:rPr>
              <a:t> mean </a:t>
            </a:r>
            <a:r>
              <a:rPr sz="1900" b="1" i="0">
                <a:solidFill>
                  <a:srgbClr val="1C252B"/>
                </a:solidFill>
                <a:latin typeface="Segoe UI"/>
              </a:rPr>
              <a:t>phase 1 succeeded</a:t>
            </a:r>
            <a:r>
              <a:rPr sz="1900" b="0" i="0">
                <a:solidFill>
                  <a:srgbClr val="1C252B"/>
                </a:solidFill>
                <a:latin typeface="Segoe UI"/>
              </a:rPr>
              <a:t>: the peers found each other, agreed on IKE parameters and authenticated. So the pre-shared key is right, UDP 500 is reaching both ends, and the peer addresses are correct. All of that is now ruled out.</a:t>
            </a:r>
          </a:p>
          <a:p>
            <a:pPr algn="l">
              <a:lnSpc>
                <a:spcPct val="100000"/>
              </a:lnSpc>
              <a:spcAft>
                <a:spcPts val="1000"/>
              </a:spcAft>
            </a:pPr>
            <a:r>
              <a:rPr sz="1900" b="0" i="0">
                <a:solidFill>
                  <a:srgbClr val="1C252B"/>
                </a:solidFill>
                <a:latin typeface="Segoe UI"/>
              </a:rPr>
              <a:t>But every counter is zero — in </a:t>
            </a:r>
            <a:r>
              <a:rPr sz="1900" b="0" i="1">
                <a:solidFill>
                  <a:srgbClr val="1C252B"/>
                </a:solidFill>
                <a:latin typeface="Segoe UI"/>
              </a:rPr>
              <a:t>both</a:t>
            </a:r>
            <a:r>
              <a:rPr sz="1900" b="0" i="0">
                <a:solidFill>
                  <a:srgbClr val="1C252B"/>
                </a:solidFill>
                <a:latin typeface="Segoe UI"/>
              </a:rPr>
              <a:t> directions. Nothing has been encrypted and nothing decrypted. Traffic is not being selected for the tunnel, or is being selected and then dropped before it is sent.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530992"/>
            <a:ext cx="10820095" cy="3824087"/>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The identities are the place to look. </a:t>
            </a:r>
            <a:r>
              <a:rPr sz="1800" b="0" i="0">
                <a:solidFill>
                  <a:srgbClr val="1A5276"/>
                </a:solidFill>
                <a:latin typeface="Consolas"/>
              </a:rPr>
              <a:t>R1</a:t>
            </a:r>
            <a:r>
              <a:rPr sz="1900" b="0" i="0">
                <a:solidFill>
                  <a:srgbClr val="1C252B"/>
                </a:solidFill>
                <a:latin typeface="Segoe UI"/>
              </a:rPr>
              <a:t> intends to protect </a:t>
            </a:r>
            <a:r>
              <a:rPr sz="1800" b="0" i="0">
                <a:solidFill>
                  <a:srgbClr val="1A5276"/>
                </a:solidFill>
                <a:latin typeface="Consolas"/>
              </a:rPr>
              <a:t>192.168.10.0/24</a:t>
            </a:r>
            <a:r>
              <a:rPr sz="1900" b="0" i="0">
                <a:solidFill>
                  <a:srgbClr val="1C252B"/>
                </a:solidFill>
                <a:latin typeface="Segoe UI"/>
              </a:rPr>
              <a:t> to </a:t>
            </a:r>
            <a:r>
              <a:rPr sz="1800" b="0" i="0">
                <a:solidFill>
                  <a:srgbClr val="1A5276"/>
                </a:solidFill>
                <a:latin typeface="Consolas"/>
              </a:rPr>
              <a:t>192.168.20.0/24</a:t>
            </a:r>
            <a:r>
              <a:rPr sz="1900" b="0" i="0">
                <a:solidFill>
                  <a:srgbClr val="1C252B"/>
                </a:solidFill>
                <a:latin typeface="Segoe UI"/>
              </a:rPr>
              <a:t>. If </a:t>
            </a:r>
            <a:r>
              <a:rPr sz="1800" b="0" i="0">
                <a:solidFill>
                  <a:srgbClr val="1A5276"/>
                </a:solidFill>
                <a:latin typeface="Consolas"/>
              </a:rPr>
              <a:t>R2</a:t>
            </a:r>
            <a:r>
              <a:rPr sz="1900" b="0" i="0">
                <a:solidFill>
                  <a:srgbClr val="1C252B"/>
                </a:solidFill>
                <a:latin typeface="Segoe UI"/>
              </a:rPr>
              <a:t>’s definition is not the exact mirror — a different mask, a wider or narrower range — phase 2 cannot agree on what the tunnel is for, and no traffic qualifies.</a:t>
            </a:r>
          </a:p>
          <a:p>
            <a:pPr algn="l">
              <a:lnSpc>
                <a:spcPct val="100000"/>
              </a:lnSpc>
              <a:spcAft>
                <a:spcPts val="1000"/>
              </a:spcAft>
            </a:pPr>
            <a:r>
              <a:rPr sz="1900" b="1" i="0">
                <a:solidFill>
                  <a:srgbClr val="1C252B"/>
                </a:solidFill>
                <a:latin typeface="Segoe UI"/>
              </a:rPr>
              <a:t>The class of fault, which is the point here.</a:t>
            </a:r>
            <a:r>
              <a:rPr sz="1900" b="0" i="0">
                <a:solidFill>
                  <a:srgbClr val="1C252B"/>
                </a:solidFill>
                <a:latin typeface="Segoe UI"/>
              </a:rPr>
              <a:t> Phase 1 up with phase 2 idle is always a </a:t>
            </a:r>
            <a:r>
              <a:rPr sz="1900" b="0" i="1">
                <a:solidFill>
                  <a:srgbClr val="1C252B"/>
                </a:solidFill>
                <a:latin typeface="Segoe UI"/>
              </a:rPr>
              <a:t>policy</a:t>
            </a:r>
            <a:r>
              <a:rPr sz="1900" b="0" i="0">
                <a:solidFill>
                  <a:srgbClr val="1C252B"/>
                </a:solidFill>
                <a:latin typeface="Segoe UI"/>
              </a:rPr>
              <a:t> disagreement rather than a connectivity or credential one: the crypto ACL, the transform set, or the mode. Knowing which half of IKE succeeded halves the search before you have looked at anything.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26</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928111"/>
            <a:ext cx="10820095" cy="342696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The other candidate</a:t>
            </a:r>
            <a:r>
              <a:rPr sz="1900" b="0" i="0">
                <a:solidFill>
                  <a:srgbClr val="1C252B"/>
                </a:solidFill>
                <a:latin typeface="Segoe UI"/>
              </a:rPr>
              <a:t>, if the identities do match, is a firewall permitting UDP 500 — which is why phase 1 worked — while dropping IP protocol 50. Symptoms are identical; the discriminator is whether </a:t>
            </a:r>
            <a:r>
              <a:rPr sz="1800" b="0" i="0">
                <a:solidFill>
                  <a:srgbClr val="1A5276"/>
                </a:solidFill>
                <a:latin typeface="Consolas"/>
              </a:rPr>
              <a:t>#pkts encaps</a:t>
            </a:r>
            <a:r>
              <a:rPr sz="1900" b="0" i="0">
                <a:solidFill>
                  <a:srgbClr val="1C252B"/>
                </a:solidFill>
                <a:latin typeface="Segoe UI"/>
              </a:rPr>
              <a:t> is zero (traffic never selected) or climbing while </a:t>
            </a:r>
            <a:r>
              <a:rPr sz="1800" b="0" i="0">
                <a:solidFill>
                  <a:srgbClr val="1A5276"/>
                </a:solidFill>
                <a:latin typeface="Consolas"/>
              </a:rPr>
              <a:t>#pkts decaps</a:t>
            </a:r>
            <a:r>
              <a:rPr sz="1900" b="0" i="0">
                <a:solidFill>
                  <a:srgbClr val="1C252B"/>
                </a:solidFill>
                <a:latin typeface="Segoe UI"/>
              </a:rPr>
              <a:t> stays at zero (sent, never arriving).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Which IPsec protocol provides confidentiality, and what is its IP protocol number?</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Which IPsec protocol provides confidentiality, and what is its IP protocol number?</a:t>
            </a:r>
          </a:p>
        </p:txBody>
      </p:sp>
      <p:sp>
        <p:nvSpPr>
          <p:cNvPr id="8" name="abar"/>
          <p:cNvSpPr/>
          <p:nvPr/>
        </p:nvSpPr>
        <p:spPr>
          <a:xfrm>
            <a:off x="685800" y="2197354"/>
            <a:ext cx="41148" cy="51485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ESP, IP protocol </a:t>
            </a:r>
            <a:r>
              <a:rPr sz="1900" b="1" i="0">
                <a:solidFill>
                  <a:srgbClr val="1C252B"/>
                </a:solidFill>
                <a:latin typeface="Segoe UI"/>
              </a:rPr>
              <a:t>50</a:t>
            </a:r>
            <a:r>
              <a:rPr sz="1900" b="0" i="0">
                <a:solidFill>
                  <a:srgbClr val="1C252B"/>
                </a:solidFill>
                <a:latin typeface="Segoe UI"/>
              </a:rPr>
              <a:t>. AH provides integrity and authentication but no encryption.</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State the difference between tunnel mode and transport mode in one sentence, and say which a site-to-site VPN uses.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State the difference between tunnel mode and transport mode in one sentence, and say which a site-to-site VPN uses.</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Tunnel mode encrypts the entire original packet and adds a new IP header; transport mode keeps the original header and encrypts only the payload. A site-to-site VPN uses </a:t>
            </a:r>
            <a:r>
              <a:rPr sz="1900" b="1" i="0">
                <a:solidFill>
                  <a:srgbClr val="1C252B"/>
                </a:solidFill>
                <a:latin typeface="Segoe UI"/>
              </a:rPr>
              <a:t>tunnel mode</a:t>
            </a:r>
            <a:r>
              <a:rPr sz="19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can AH not survive a NAT device on the path?</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can AH not survive a NAT device on the path?</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AH authenticates the entire packet including the source and destination addresses in the IP header, and NAT’s whole function is to rewrite them. The integrity check therefore fails by definition and the far end discards the packet. No configuration fixes this.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does phase 1 of IKE accomplish, and what does phase 2 accomplish?</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does phase 1 of IKE accomplish, and what does phase 2 accomplish?</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Phase 1 authenticates the peers and builds a secure channel between them — the IKE security association. Phase 2 uses that channel to negotiate the security associations that protect user traffic, including which traffic is protected.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is GRE needed if a site-to-site VPN must carry OSPF?</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is GRE needed if a site-to-site VPN must carry OSPF?</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plain IPsec tunnel mode carries unicast IP only, and OSPF depends on multicast. GRE can carry multicast, so the routing protocol runs inside a GRE tunnel, which IPsec then protects.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tunnel is established and small pings succeed while file transfers hang. What is the likely cause?</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tunnel is established and small pings succeed while file transfers hang. What is the likely cause?</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Path MTU. The added headers push large packets past the MTU somewhere on the path, so small packets pass and large ones are dropped or fragmented badly. A good reminder that “it pings” is not “it works”.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IPsec provides confidentiality, integrity, authentication and anti-replay, with Diffie–Hellman for key agreement.</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Site-to-site joins two gateways and is invisible to hosts; remote access runs from a user’s device to a gateway and authenticates the user.</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IKE (UDP 500, or 4500 with NAT-T) negotiates. ESP (IP protocol 50) protects data and </a:t>
            </a:r>
            <a:r>
              <a:rPr sz="2000" b="1" i="0">
                <a:solidFill>
                  <a:srgbClr val="1C252B"/>
                </a:solidFill>
                <a:latin typeface="Segoe UI"/>
              </a:rPr>
              <a:t>encrypts</a:t>
            </a:r>
            <a:r>
              <a:rPr sz="2000" b="0" i="0">
                <a:solidFill>
                  <a:srgbClr val="1C252B"/>
                </a:solidFill>
                <a:latin typeface="Segoe UI"/>
              </a:rPr>
              <a:t>. AH (IP protocol 51) authenticates but does </a:t>
            </a:r>
            <a:r>
              <a:rPr sz="2000" b="1" i="0">
                <a:solidFill>
                  <a:srgbClr val="1C252B"/>
                </a:solidFill>
                <a:latin typeface="Segoe UI"/>
              </a:rPr>
              <a:t>not</a:t>
            </a:r>
            <a:r>
              <a:rPr sz="2000" b="0" i="0">
                <a:solidFill>
                  <a:srgbClr val="1C252B"/>
                </a:solidFill>
                <a:latin typeface="Segoe UI"/>
              </a:rPr>
              <a:t> encrypt.</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Phase 1 builds the secure channel between peers; phase 2 builds the security associations that protect user traffic. SAs are one-directional, so a working tunnel has two.</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26. IPsec VPNs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4.5</a:t>
            </a:r>
          </a:p>
        </p:txBody>
      </p:sp>
      <p:sp>
        <p:nvSpPr>
          <p:cNvPr id="7" name="bullets"/>
          <p:cNvSpPr txBox="1"/>
          <p:nvPr/>
        </p:nvSpPr>
        <p:spPr>
          <a:xfrm>
            <a:off x="685800" y="2449721"/>
            <a:ext cx="10820095" cy="3932790"/>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Tunnel mode encrypts the whole original packet and adds a new IP header — the normal case. Transport mode keeps the original header.</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AH is incompatible with NAT because it authenticates the header NAT rewrites. ESP with NAT-T (UDP 4500) is the working combination.</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Plain IPsec carries no multicast, so a VPN needing a routing protocol uses GRE over IPsec.</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IPsec provides confidentiality, integrity, authentication and anti-replay, with Diffie–Hellman for key agreement.</a:t>
            </a:r>
          </a:p>
          <a:p>
            <a:pPr marL="217169" indent="-217169">
              <a:spcAft>
                <a:spcPts val="900"/>
              </a:spcAft>
            </a:pPr>
            <a:r>
              <a:rPr sz="1900">
                <a:solidFill>
                  <a:srgbClr val="C8D6E5"/>
                </a:solidFill>
              </a:rPr>
              <a:t>•  </a:t>
            </a:r>
            <a:r>
              <a:rPr sz="1900" b="0" i="0">
                <a:solidFill>
                  <a:srgbClr val="FFFFFF"/>
                </a:solidFill>
                <a:latin typeface="Segoe UI"/>
              </a:rPr>
              <a:t>Site-to-site joins two gateways and is invisible to hosts; remote access runs from a user’s device to a gateway and authenticates the user.</a:t>
            </a:r>
          </a:p>
          <a:p>
            <a:pPr marL="217169" indent="-217169">
              <a:spcAft>
                <a:spcPts val="900"/>
              </a:spcAft>
            </a:pPr>
            <a:r>
              <a:rPr sz="1900">
                <a:solidFill>
                  <a:srgbClr val="C8D6E5"/>
                </a:solidFill>
              </a:rPr>
              <a:t>•  </a:t>
            </a:r>
            <a:r>
              <a:rPr sz="1900" b="0" i="0">
                <a:solidFill>
                  <a:srgbClr val="FFFFFF"/>
                </a:solidFill>
                <a:latin typeface="Segoe UI"/>
              </a:rPr>
              <a:t>IKE (UDP 500, or 4500 with NAT-T) negotiates. ESP (IP protocol 50) protects data and </a:t>
            </a:r>
            <a:r>
              <a:rPr sz="1900" b="1" i="0">
                <a:solidFill>
                  <a:srgbClr val="FFFFFF"/>
                </a:solidFill>
                <a:latin typeface="Segoe UI"/>
              </a:rPr>
              <a:t>encrypts</a:t>
            </a:r>
            <a:r>
              <a:rPr sz="1900" b="0" i="0">
                <a:solidFill>
                  <a:srgbClr val="FFFFFF"/>
                </a:solidFill>
                <a:latin typeface="Segoe UI"/>
              </a:rPr>
              <a:t>. AH (IP protocol 51) authenticates but does </a:t>
            </a:r>
            <a:r>
              <a:rPr sz="1900" b="1" i="0">
                <a:solidFill>
                  <a:srgbClr val="FFFFFF"/>
                </a:solidFill>
                <a:latin typeface="Segoe UI"/>
              </a:rPr>
              <a:t>not</a:t>
            </a:r>
            <a:r>
              <a:rPr sz="1900" b="0" i="0">
                <a:solidFill>
                  <a:srgbClr val="FFFFFF"/>
                </a:solidFill>
                <a:latin typeface="Segoe UI"/>
              </a:rPr>
              <a:t> encrypt.</a:t>
            </a:r>
          </a:p>
          <a:p>
            <a:pPr marL="217169" indent="-217169">
              <a:spcAft>
                <a:spcPts val="900"/>
              </a:spcAft>
            </a:pPr>
            <a:r>
              <a:rPr sz="1900">
                <a:solidFill>
                  <a:srgbClr val="C8D6E5"/>
                </a:solidFill>
              </a:rPr>
              <a:t>•  </a:t>
            </a:r>
            <a:r>
              <a:rPr sz="1900" b="0" i="0">
                <a:solidFill>
                  <a:srgbClr val="FFFFFF"/>
                </a:solidFill>
                <a:latin typeface="Segoe UI"/>
              </a:rPr>
              <a:t>Phase 1 builds the secure channel between peers; phase 2 builds the security associations that protect user traffic. SAs are one-directional, so a working tunnel has two.</a:t>
            </a:r>
          </a:p>
        </p:txBody>
      </p:sp>
      <p:sp>
        <p:nvSpPr>
          <p:cNvPr id="5" name="nextbg"/>
          <p:cNvSpPr/>
          <p:nvPr/>
        </p:nvSpPr>
        <p:spPr>
          <a:xfrm>
            <a:off x="685800" y="5303520"/>
            <a:ext cx="10820095" cy="82296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27 — Wireless Principles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