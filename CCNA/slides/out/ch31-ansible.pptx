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31: Ansible and Configuration Management. Blueprint topics: 5.5.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Ansible and Configuration Management 5.5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access switches need one new VLAN and one new ACL line. Done by hand that is forty SSH sessions, forty opportunities to typo, and no record of which device got which version. Done a second time next month, it is forty more.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Playbooks are YAML, and almost every first failure is a YAML failure. Three rules carry you: Indentation is structure, and it must be spaces. A tab character is a syntax error. Two spaces per level is the convention. A leading - makes a list item. Items at the same indentation belong to the same list. key: value makes a mapping. The space after the colon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"changed": false. A show command reads and does not alter, so nothing changed — and Ansible says so explicitly. That field is the one to watch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B7950B"/>
        </a:solidFill>
        <a:effectLst/>
      </p:bgPr>
    </p:bg>
    <p:spTree>
      <p:nvGrpSpPr>
        <p:cNvPr id="1" name=""/>
        <p:cNvGrpSpPr/>
        <p:nvPr/>
      </p:nvGrpSpPr>
      <p:grpSpPr/>
      <p:sp>
        <p:nvSpPr>
          <p:cNvPr id="2" name="bg"/>
          <p:cNvSpPr/>
          <p:nvPr/>
        </p:nvSpPr>
        <p:spPr>
          <a:xfrm>
            <a:off x="0" y="0"/>
            <a:ext cx="12191695" cy="68580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A1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31</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3900" b="1" i="0">
                <a:solidFill>
                  <a:srgbClr val="FFFFFF"/>
                </a:solidFill>
                <a:latin typeface="Segoe UI"/>
              </a:rPr>
              <a:t>Ansible and Configuration Management</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V — Wireless, Virtualisation and Operations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5.5"/>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5.5"/>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B7950B"/>
                </a:solidFill>
                <a:latin typeface="Segoe UI"/>
              </a:rPr>
              <a:t>5.5</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ullets"/>
          <p:cNvSpPr txBox="1"/>
          <p:nvPr/>
        </p:nvSpPr>
        <p:spPr>
          <a:xfrm>
            <a:off x="685800" y="2417064"/>
            <a:ext cx="10820095" cy="39654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Explain</a:t>
            </a:r>
            <a:r>
              <a:rPr sz="2000" b="0" i="0">
                <a:solidFill>
                  <a:srgbClr val="1C252B"/>
                </a:solidFill>
                <a:latin typeface="Segoe UI"/>
              </a:rPr>
              <a:t> what agentless means and why it matters for network devices.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Read</a:t>
            </a:r>
            <a:r>
              <a:rPr sz="2000" b="0" i="0">
                <a:solidFill>
                  <a:srgbClr val="1C252B"/>
                </a:solidFill>
                <a:latin typeface="Segoe UI"/>
              </a:rPr>
              <a:t> an inventory file and a playbook, and say what each line does.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Use</a:t>
            </a:r>
            <a:r>
              <a:rPr sz="2000" b="0" i="0">
                <a:solidFill>
                  <a:srgbClr val="1C252B"/>
                </a:solidFill>
                <a:latin typeface="Segoe UI"/>
              </a:rPr>
              <a:t> Ansible to run show commands across many devices and to push a configuration change.</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Recognise</a:t>
            </a:r>
            <a:r>
              <a:rPr sz="2000" b="0" i="0">
                <a:solidFill>
                  <a:srgbClr val="1C252B"/>
                </a:solidFill>
                <a:latin typeface="Segoe UI"/>
              </a:rPr>
              <a:t> the three failures that account for most broken playbooks: YAML indentation, the wrong module, and a change that was never saved.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23 for SSH and credentials — Ansible logs in exactly as you do. Chapter 30 for the five management approaches; this chapter is the automation-based one made concrete. Chapter 7 for the commands being pushed.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term-agentless"/>
          <p:cNvSpPr/>
          <p:nvPr/>
        </p:nvSpPr>
        <p:spPr>
          <a:xfrm>
            <a:off x="685800" y="1609344"/>
            <a:ext cx="11235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agentless"/>
          <p:cNvSpPr/>
          <p:nvPr/>
        </p:nvSpPr>
        <p:spPr>
          <a:xfrm>
            <a:off x="685800"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agentless"/>
          <p:cNvSpPr txBox="1"/>
          <p:nvPr/>
        </p:nvSpPr>
        <p:spPr>
          <a:xfrm>
            <a:off x="850392" y="1700784"/>
            <a:ext cx="79438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agentless</a:t>
            </a:r>
          </a:p>
        </p:txBody>
      </p:sp>
      <p:sp>
        <p:nvSpPr>
          <p:cNvPr id="10" name="term-idempotent"/>
          <p:cNvSpPr/>
          <p:nvPr/>
        </p:nvSpPr>
        <p:spPr>
          <a:xfrm>
            <a:off x="1937385" y="1609344"/>
            <a:ext cx="12512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idempotent"/>
          <p:cNvSpPr/>
          <p:nvPr/>
        </p:nvSpPr>
        <p:spPr>
          <a:xfrm>
            <a:off x="1937385"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idempotent"/>
          <p:cNvSpPr txBox="1"/>
          <p:nvPr/>
        </p:nvSpPr>
        <p:spPr>
          <a:xfrm>
            <a:off x="2101977" y="1700784"/>
            <a:ext cx="92202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idempotent</a:t>
            </a:r>
          </a:p>
        </p:txBody>
      </p:sp>
      <p:sp>
        <p:nvSpPr>
          <p:cNvPr id="13" name="term-control node"/>
          <p:cNvSpPr/>
          <p:nvPr/>
        </p:nvSpPr>
        <p:spPr>
          <a:xfrm>
            <a:off x="3316605" y="1609344"/>
            <a:ext cx="133502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control node"/>
          <p:cNvSpPr/>
          <p:nvPr/>
        </p:nvSpPr>
        <p:spPr>
          <a:xfrm>
            <a:off x="3316605"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control node"/>
          <p:cNvSpPr txBox="1"/>
          <p:nvPr/>
        </p:nvSpPr>
        <p:spPr>
          <a:xfrm>
            <a:off x="3481197" y="1700784"/>
            <a:ext cx="100583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control node</a:t>
            </a:r>
          </a:p>
        </p:txBody>
      </p:sp>
      <p:sp>
        <p:nvSpPr>
          <p:cNvPr id="16" name="term-managed node"/>
          <p:cNvSpPr/>
          <p:nvPr/>
        </p:nvSpPr>
        <p:spPr>
          <a:xfrm>
            <a:off x="4779645" y="1609344"/>
            <a:ext cx="152552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managed node"/>
          <p:cNvSpPr/>
          <p:nvPr/>
        </p:nvSpPr>
        <p:spPr>
          <a:xfrm>
            <a:off x="4779645"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managed node"/>
          <p:cNvSpPr txBox="1"/>
          <p:nvPr/>
        </p:nvSpPr>
        <p:spPr>
          <a:xfrm>
            <a:off x="4944236" y="1700784"/>
            <a:ext cx="119633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managed node</a:t>
            </a:r>
          </a:p>
        </p:txBody>
      </p:sp>
      <p:sp>
        <p:nvSpPr>
          <p:cNvPr id="19" name="term-inventory"/>
          <p:cNvSpPr/>
          <p:nvPr/>
        </p:nvSpPr>
        <p:spPr>
          <a:xfrm>
            <a:off x="6433185" y="1609344"/>
            <a:ext cx="10835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inventory"/>
          <p:cNvSpPr/>
          <p:nvPr/>
        </p:nvSpPr>
        <p:spPr>
          <a:xfrm>
            <a:off x="6433185"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inventory"/>
          <p:cNvSpPr txBox="1"/>
          <p:nvPr/>
        </p:nvSpPr>
        <p:spPr>
          <a:xfrm>
            <a:off x="6597776" y="1700784"/>
            <a:ext cx="75437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inventory</a:t>
            </a:r>
          </a:p>
        </p:txBody>
      </p:sp>
      <p:sp>
        <p:nvSpPr>
          <p:cNvPr id="22" name="term-play"/>
          <p:cNvSpPr/>
          <p:nvPr/>
        </p:nvSpPr>
        <p:spPr>
          <a:xfrm>
            <a:off x="7644764" y="1609344"/>
            <a:ext cx="6777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play"/>
          <p:cNvSpPr/>
          <p:nvPr/>
        </p:nvSpPr>
        <p:spPr>
          <a:xfrm>
            <a:off x="7644764"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play"/>
          <p:cNvSpPr txBox="1"/>
          <p:nvPr/>
        </p:nvSpPr>
        <p:spPr>
          <a:xfrm>
            <a:off x="7809356" y="1700784"/>
            <a:ext cx="34861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play</a:t>
            </a:r>
          </a:p>
        </p:txBody>
      </p:sp>
      <p:sp>
        <p:nvSpPr>
          <p:cNvPr id="25" name="term-task"/>
          <p:cNvSpPr/>
          <p:nvPr/>
        </p:nvSpPr>
        <p:spPr>
          <a:xfrm>
            <a:off x="8450579" y="1609344"/>
            <a:ext cx="6777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task"/>
          <p:cNvSpPr/>
          <p:nvPr/>
        </p:nvSpPr>
        <p:spPr>
          <a:xfrm>
            <a:off x="8450579"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task"/>
          <p:cNvSpPr txBox="1"/>
          <p:nvPr/>
        </p:nvSpPr>
        <p:spPr>
          <a:xfrm>
            <a:off x="8615171" y="1700784"/>
            <a:ext cx="34861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task</a:t>
            </a:r>
          </a:p>
        </p:txBody>
      </p:sp>
      <p:sp>
        <p:nvSpPr>
          <p:cNvPr id="28" name="term-module"/>
          <p:cNvSpPr/>
          <p:nvPr/>
        </p:nvSpPr>
        <p:spPr>
          <a:xfrm>
            <a:off x="9256394" y="1609344"/>
            <a:ext cx="94259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module"/>
          <p:cNvSpPr/>
          <p:nvPr/>
        </p:nvSpPr>
        <p:spPr>
          <a:xfrm>
            <a:off x="9256394"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module"/>
          <p:cNvSpPr txBox="1"/>
          <p:nvPr/>
        </p:nvSpPr>
        <p:spPr>
          <a:xfrm>
            <a:off x="9420986" y="1700784"/>
            <a:ext cx="61341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module</a:t>
            </a:r>
          </a:p>
        </p:txBody>
      </p:sp>
      <p:sp>
        <p:nvSpPr>
          <p:cNvPr id="31" name="term-playbook"/>
          <p:cNvSpPr/>
          <p:nvPr/>
        </p:nvSpPr>
        <p:spPr>
          <a:xfrm>
            <a:off x="10327005" y="1609344"/>
            <a:ext cx="106641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playbook"/>
          <p:cNvSpPr/>
          <p:nvPr/>
        </p:nvSpPr>
        <p:spPr>
          <a:xfrm>
            <a:off x="10327005"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playbook"/>
          <p:cNvSpPr txBox="1"/>
          <p:nvPr/>
        </p:nvSpPr>
        <p:spPr>
          <a:xfrm>
            <a:off x="10491597" y="1700784"/>
            <a:ext cx="73723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playbook</a:t>
            </a:r>
          </a:p>
        </p:txBody>
      </p:sp>
      <p:sp>
        <p:nvSpPr>
          <p:cNvPr id="34" name="term-facts"/>
          <p:cNvSpPr/>
          <p:nvPr/>
        </p:nvSpPr>
        <p:spPr>
          <a:xfrm>
            <a:off x="685800" y="2212848"/>
            <a:ext cx="73494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facts"/>
          <p:cNvSpPr/>
          <p:nvPr/>
        </p:nvSpPr>
        <p:spPr>
          <a:xfrm>
            <a:off x="685800"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facts"/>
          <p:cNvSpPr txBox="1"/>
          <p:nvPr/>
        </p:nvSpPr>
        <p:spPr>
          <a:xfrm>
            <a:off x="850392" y="2304288"/>
            <a:ext cx="40576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facts</a:t>
            </a:r>
          </a:p>
        </p:txBody>
      </p:sp>
      <p:sp>
        <p:nvSpPr>
          <p:cNvPr id="37" name="term-YAML"/>
          <p:cNvSpPr/>
          <p:nvPr/>
        </p:nvSpPr>
        <p:spPr>
          <a:xfrm>
            <a:off x="1548765" y="2212848"/>
            <a:ext cx="85115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YAML"/>
          <p:cNvSpPr/>
          <p:nvPr/>
        </p:nvSpPr>
        <p:spPr>
          <a:xfrm>
            <a:off x="1548765"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YAML"/>
          <p:cNvSpPr txBox="1"/>
          <p:nvPr/>
        </p:nvSpPr>
        <p:spPr>
          <a:xfrm>
            <a:off x="1713357" y="2304288"/>
            <a:ext cx="52197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YAML</a:t>
            </a:r>
          </a:p>
        </p:txBody>
      </p:sp>
      <p:sp>
        <p:nvSpPr>
          <p:cNvPr id="40" name="term-dry run"/>
          <p:cNvSpPr/>
          <p:nvPr/>
        </p:nvSpPr>
        <p:spPr>
          <a:xfrm>
            <a:off x="2527935" y="2212848"/>
            <a:ext cx="88925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dry run"/>
          <p:cNvSpPr/>
          <p:nvPr/>
        </p:nvSpPr>
        <p:spPr>
          <a:xfrm>
            <a:off x="2527935"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dry run"/>
          <p:cNvSpPr txBox="1"/>
          <p:nvPr/>
        </p:nvSpPr>
        <p:spPr>
          <a:xfrm>
            <a:off x="2692527" y="2304288"/>
            <a:ext cx="56007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dry run</a:t>
            </a:r>
          </a:p>
        </p:txBody>
      </p:sp>
      <p:sp>
        <p:nvSpPr>
          <p:cNvPr id="43" name="term-vault"/>
          <p:cNvSpPr/>
          <p:nvPr/>
        </p:nvSpPr>
        <p:spPr>
          <a:xfrm>
            <a:off x="3545205" y="2212848"/>
            <a:ext cx="73494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b-vault"/>
          <p:cNvSpPr/>
          <p:nvPr/>
        </p:nvSpPr>
        <p:spPr>
          <a:xfrm>
            <a:off x="3545205"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t-vault"/>
          <p:cNvSpPr txBox="1"/>
          <p:nvPr/>
        </p:nvSpPr>
        <p:spPr>
          <a:xfrm>
            <a:off x="3709797" y="2304288"/>
            <a:ext cx="40576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vault</a:t>
            </a:r>
          </a:p>
        </p:txBody>
      </p:sp>
      <p:sp>
        <p:nvSpPr>
          <p:cNvPr id="46"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verb is use</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B7950B"/>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B7950B"/>
                </a:solidFill>
                <a:latin typeface="Segoe UI"/>
              </a:rPr>
              <a:t> 5.5 </a:t>
            </a:r>
            <a:r>
              <a:rPr sz="2000" b="0" i="0">
                <a:solidFill>
                  <a:srgbClr val="1C252B"/>
                </a:solidFill>
                <a:latin typeface="Segoe UI"/>
              </a:rPr>
              <a:t> is </a:t>
            </a:r>
            <a:r>
              <a:rPr sz="2000" b="0" i="1">
                <a:solidFill>
                  <a:srgbClr val="1C252B"/>
                </a:solidFill>
                <a:latin typeface="Segoe UI"/>
              </a:rPr>
              <a:t>use configuration management mechanisms such as Ansible to execute commands</a:t>
            </a:r>
            <a:r>
              <a:rPr sz="2000" b="0" i="0">
                <a:solidFill>
                  <a:srgbClr val="1C252B"/>
                </a:solidFill>
                <a:latin typeface="Segoe UI"/>
              </a:rPr>
              <a:t>. It is the only topic in domain 5 that is not </a:t>
            </a:r>
            <a:r>
              <a:rPr sz="2000" b="0" i="1">
                <a:solidFill>
                  <a:srgbClr val="1C252B"/>
                </a:solidFill>
                <a:latin typeface="Segoe UI"/>
              </a:rPr>
              <a:t>describe</a:t>
            </a:r>
            <a:r>
              <a:rPr sz="2000" b="0" i="0">
                <a:solidFill>
                  <a:srgbClr val="1C252B"/>
                </a:solidFill>
                <a:latin typeface="Segoe UI"/>
              </a:rPr>
              <a:t>, </a:t>
            </a:r>
            <a:r>
              <a:rPr sz="2000" b="0" i="1">
                <a:solidFill>
                  <a:srgbClr val="1C252B"/>
                </a:solidFill>
                <a:latin typeface="Segoe UI"/>
              </a:rPr>
              <a:t>select</a:t>
            </a:r>
            <a:r>
              <a:rPr sz="2000" b="0" i="0">
                <a:solidFill>
                  <a:srgbClr val="1C252B"/>
                </a:solidFill>
                <a:latin typeface="Segoe UI"/>
              </a:rPr>
              <a:t> or </a:t>
            </a:r>
            <a:r>
              <a:rPr sz="2000" b="0" i="1">
                <a:solidFill>
                  <a:srgbClr val="1C252B"/>
                </a:solidFill>
                <a:latin typeface="Segoe UI"/>
              </a:rPr>
              <a:t>interpret</a:t>
            </a:r>
            <a:r>
              <a:rPr sz="2000" b="0" i="0">
                <a:solidFill>
                  <a:srgbClr val="1C252B"/>
                </a:solidFill>
                <a:latin typeface="Segoe UI"/>
              </a:rPr>
              <a:t> — so you are expected to be able to read a playbook and say what it will do to which devices.</a:t>
            </a:r>
          </a:p>
          <a:p>
            <a:pPr algn="l">
              <a:lnSpc>
                <a:spcPct val="100000"/>
              </a:lnSpc>
              <a:spcAft>
                <a:spcPts val="1000"/>
              </a:spcAft>
            </a:pPr>
            <a:r>
              <a:rPr sz="2000" b="0" i="0">
                <a:solidFill>
                  <a:srgbClr val="1C252B"/>
                </a:solidFill>
                <a:latin typeface="Segoe UI"/>
              </a:rPr>
              <a:t>“Such as Ansible” leaves the door open to Puppet, Chef and SaltStack, but every published Cisco example uses Ansible, and Ansible is the one whose agentless model actually suits network hardware. Learn Ansible; know the other names and the one-line difference.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Configuration management</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tint"/>
          <p:cNvSpPr/>
          <p:nvPr/>
        </p:nvSpPr>
        <p:spPr>
          <a:xfrm>
            <a:off x="685800" y="1517904"/>
            <a:ext cx="10820095" cy="1337055"/>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Describing the state a set of machines should be in, and using a tool to make them match that description — repeatably, and with a record of what was done.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700" b="1" i="0">
                <a:solidFill>
                  <a:srgbClr val="1A5276"/>
                </a:solidFill>
                <a:latin typeface="Segoe UI"/>
              </a:rPr>
              <a:t>This is the whole reason Ansible dominates network automation</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ody"/>
          <p:cNvSpPr txBox="1"/>
          <p:nvPr/>
        </p:nvSpPr>
        <p:spPr>
          <a:xfrm>
            <a:off x="685800" y="2482378"/>
            <a:ext cx="10820095" cy="3900133"/>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server can run an agent. A Catalyst switch cannot — it is an appliance, and you may not install arbitrary software on it. Any tool that requires an agent is therefore unavailable for the devices this exam is about.</a:t>
            </a:r>
          </a:p>
          <a:p>
            <a:pPr algn="l">
              <a:lnSpc>
                <a:spcPct val="100000"/>
              </a:lnSpc>
              <a:spcAft>
                <a:spcPts val="1000"/>
              </a:spcAft>
            </a:pPr>
            <a:r>
              <a:rPr sz="2000" b="0" i="0">
                <a:solidFill>
                  <a:srgbClr val="1C252B"/>
                </a:solidFill>
                <a:latin typeface="Segoe UI"/>
              </a:rPr>
              <a:t>Ansible needs nothing on the device except the SSH access you already configured in Chapter 23. That is the answer to “why Ansible for networks”, and it is a fair exam question.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Idempotent</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tint"/>
          <p:cNvSpPr/>
          <p:nvPr/>
        </p:nvSpPr>
        <p:spPr>
          <a:xfrm>
            <a:off x="685800" y="1517904"/>
            <a:ext cx="10820095" cy="274929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An operation that produces the same result whether it is applied once or twenty times. Ansible tasks are written to describe a desired state, so a task that has already been satisfied reports </a:t>
            </a:r>
            <a:r>
              <a:rPr sz="1900" b="0" i="0">
                <a:solidFill>
                  <a:srgbClr val="1A5276"/>
                </a:solidFill>
                <a:latin typeface="Consolas"/>
              </a:rPr>
              <a:t>ok</a:t>
            </a:r>
            <a:r>
              <a:rPr sz="2000" b="0" i="0">
                <a:solidFill>
                  <a:srgbClr val="1C252B"/>
                </a:solidFill>
                <a:latin typeface="Segoe UI"/>
              </a:rPr>
              <a:t> and changes nothing.</a:t>
            </a:r>
          </a:p>
          <a:p>
            <a:pPr algn="l">
              <a:lnSpc>
                <a:spcPct val="100000"/>
              </a:lnSpc>
              <a:spcAft>
                <a:spcPts val="1000"/>
              </a:spcAft>
            </a:pPr>
            <a:r>
              <a:rPr sz="2000" b="0" i="0">
                <a:solidFill>
                  <a:srgbClr val="1C252B"/>
                </a:solidFill>
                <a:latin typeface="Segoe UI"/>
              </a:rPr>
              <a:t>This is what makes it safe to run the same playbook every day. A script that blindly types commands is not idempotent; a playbook that says “this line should be present” is.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pieces</a:t>
            </a:r>
          </a:p>
        </p:txBody>
      </p:sp>
      <p:sp>
        <p:nvSpPr>
          <p:cNvPr id="3"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pic>
        <p:nvPicPr>
          <p:cNvPr id="6" name="figure" descr="ansible.png"/>
          <p:cNvPicPr>
            <a:picLocks noChangeAspect="1"/>
          </p:cNvPicPr>
          <p:nvPr/>
        </p:nvPicPr>
        <p:blipFill>
          <a:blip r:embed="rId2"/>
          <a:stretch>
            <a:fillRect/>
          </a:stretch>
        </p:blipFill>
        <p:spPr>
          <a:xfrm>
            <a:off x="685800" y="1727003"/>
            <a:ext cx="10820095" cy="3696601"/>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Everything lives on the control node. The devices need only the SSH access they already have.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Inventory.yml</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codebg"/>
          <p:cNvSpPr/>
          <p:nvPr/>
        </p:nvSpPr>
        <p:spPr>
          <a:xfrm>
            <a:off x="685800" y="1517904"/>
            <a:ext cx="10820095" cy="46375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Ansible  ·  YAML</a:t>
            </a:r>
          </a:p>
        </p:txBody>
      </p:sp>
      <p:sp>
        <p:nvSpPr>
          <p:cNvPr id="10" name="code"/>
          <p:cNvSpPr txBox="1"/>
          <p:nvPr/>
        </p:nvSpPr>
        <p:spPr>
          <a:xfrm>
            <a:off x="886968" y="1956816"/>
            <a:ext cx="10417759" cy="414375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all:</a:t>
            </a:r>
          </a:p>
          <a:p>
            <a:pPr>
              <a:lnSpc>
                <a:spcPct val="100000"/>
              </a:lnSpc>
              <a:spcAft>
                <a:spcPts val="0"/>
              </a:spcAft>
            </a:pPr>
            <a:r>
              <a:rPr sz="1500">
                <a:solidFill>
                  <a:srgbClr val="E8EEF2"/>
                </a:solidFill>
                <a:latin typeface="Consolas"/>
              </a:rPr>
              <a:t>  children:</a:t>
            </a:r>
          </a:p>
          <a:p>
            <a:pPr>
              <a:lnSpc>
                <a:spcPct val="100000"/>
              </a:lnSpc>
              <a:spcAft>
                <a:spcPts val="0"/>
              </a:spcAft>
            </a:pPr>
            <a:r>
              <a:rPr sz="1500">
                <a:solidFill>
                  <a:srgbClr val="E8EEF2"/>
                </a:solidFill>
                <a:latin typeface="Consolas"/>
              </a:rPr>
              <a:t>    access_switches:</a:t>
            </a:r>
          </a:p>
          <a:p>
            <a:pPr>
              <a:lnSpc>
                <a:spcPct val="100000"/>
              </a:lnSpc>
              <a:spcAft>
                <a:spcPts val="0"/>
              </a:spcAft>
            </a:pPr>
            <a:r>
              <a:rPr sz="1500">
                <a:solidFill>
                  <a:srgbClr val="E8EEF2"/>
                </a:solidFill>
                <a:latin typeface="Consolas"/>
              </a:rPr>
              <a:t>      hosts:</a:t>
            </a:r>
          </a:p>
          <a:p>
            <a:pPr>
              <a:lnSpc>
                <a:spcPct val="100000"/>
              </a:lnSpc>
              <a:spcAft>
                <a:spcPts val="0"/>
              </a:spcAft>
            </a:pPr>
            <a:r>
              <a:rPr sz="1500">
                <a:solidFill>
                  <a:srgbClr val="E8EEF2"/>
                </a:solidFill>
                <a:latin typeface="Consolas"/>
              </a:rPr>
              <a:t>        SW1: { ansible_host: 10.0.0.11 }</a:t>
            </a:r>
          </a:p>
          <a:p>
            <a:pPr>
              <a:lnSpc>
                <a:spcPct val="100000"/>
              </a:lnSpc>
              <a:spcAft>
                <a:spcPts val="0"/>
              </a:spcAft>
            </a:pPr>
            <a:r>
              <a:rPr sz="1500">
                <a:solidFill>
                  <a:srgbClr val="E8EEF2"/>
                </a:solidFill>
                <a:latin typeface="Consolas"/>
              </a:rPr>
              <a:t>        SW2: { ansible_host: 10.0.0.12 }</a:t>
            </a:r>
          </a:p>
          <a:p>
            <a:pPr>
              <a:lnSpc>
                <a:spcPct val="100000"/>
              </a:lnSpc>
              <a:spcAft>
                <a:spcPts val="0"/>
              </a:spcAft>
            </a:pPr>
            <a:r>
              <a:rPr sz="1500">
                <a:solidFill>
                  <a:srgbClr val="E8EEF2"/>
                </a:solidFill>
                <a:latin typeface="Consolas"/>
              </a:rPr>
              <a:t>        SW3: { ansible_host: 10.0.0.13 }</a:t>
            </a:r>
          </a:p>
          <a:p>
            <a:pPr>
              <a:lnSpc>
                <a:spcPct val="100000"/>
              </a:lnSpc>
              <a:spcAft>
                <a:spcPts val="0"/>
              </a:spcAft>
            </a:pPr>
            <a:r>
              <a:rPr sz="1500">
                <a:solidFill>
                  <a:srgbClr val="E8EEF2"/>
                </a:solidFill>
                <a:latin typeface="Consolas"/>
              </a:rPr>
              <a:t>    routers:</a:t>
            </a:r>
          </a:p>
          <a:p>
            <a:pPr>
              <a:lnSpc>
                <a:spcPct val="100000"/>
              </a:lnSpc>
              <a:spcAft>
                <a:spcPts val="0"/>
              </a:spcAft>
            </a:pPr>
            <a:r>
              <a:rPr sz="1500">
                <a:solidFill>
                  <a:srgbClr val="E8EEF2"/>
                </a:solidFill>
                <a:latin typeface="Consolas"/>
              </a:rPr>
              <a:t>      hosts:</a:t>
            </a:r>
          </a:p>
          <a:p>
            <a:pPr>
              <a:lnSpc>
                <a:spcPct val="100000"/>
              </a:lnSpc>
              <a:spcAft>
                <a:spcPts val="0"/>
              </a:spcAft>
            </a:pPr>
            <a:r>
              <a:rPr sz="1500">
                <a:solidFill>
                  <a:srgbClr val="E8EEF2"/>
                </a:solidFill>
                <a:latin typeface="Consolas"/>
              </a:rPr>
              <a:t>        R1: { ansible_host: 10.0.0.1 }</a:t>
            </a:r>
          </a:p>
          <a:p>
            <a:pPr>
              <a:lnSpc>
                <a:spcPct val="100000"/>
              </a:lnSpc>
              <a:spcAft>
                <a:spcPts val="0"/>
              </a:spcAft>
            </a:pPr>
            <a:r>
              <a:rPr sz="1500">
                <a:solidFill>
                  <a:srgbClr val="E8EEF2"/>
                </a:solidFill>
                <a:latin typeface="Consolas"/>
              </a:rPr>
              <a:t>  vars:</a:t>
            </a:r>
          </a:p>
          <a:p>
            <a:pPr>
              <a:lnSpc>
                <a:spcPct val="100000"/>
              </a:lnSpc>
              <a:spcAft>
                <a:spcPts val="0"/>
              </a:spcAft>
            </a:pPr>
            <a:r>
              <a:rPr sz="1500">
                <a:solidFill>
                  <a:srgbClr val="E8EEF2"/>
                </a:solidFill>
                <a:latin typeface="Consolas"/>
              </a:rPr>
              <a:t>    # network_cli is essential. Without it Ansible assumes the far end</a:t>
            </a:r>
          </a:p>
          <a:p>
            <a:pPr>
              <a:lnSpc>
                <a:spcPct val="100000"/>
              </a:lnSpc>
              <a:spcAft>
                <a:spcPts val="0"/>
              </a:spcAft>
            </a:pPr>
            <a:r>
              <a:rPr sz="1500">
                <a:solidFill>
                  <a:srgbClr val="E8EEF2"/>
                </a:solidFill>
                <a:latin typeface="Consolas"/>
              </a:rPr>
              <a:t>    # is a Linux host with a Python interpreter, and every task fails</a:t>
            </a:r>
          </a:p>
          <a:p>
            <a:pPr>
              <a:lnSpc>
                <a:spcPct val="100000"/>
              </a:lnSpc>
              <a:spcAft>
                <a:spcPts val="0"/>
              </a:spcAft>
            </a:pPr>
            <a:r>
              <a:rPr sz="1500">
                <a:solidFill>
                  <a:srgbClr val="E8EEF2"/>
                </a:solidFill>
                <a:latin typeface="Consolas"/>
              </a:rPr>
              <a:t>    # with an error that does not mention the real problem.</a:t>
            </a:r>
          </a:p>
          <a:p>
            <a:pPr>
              <a:lnSpc>
                <a:spcPct val="100000"/>
              </a:lnSpc>
              <a:spcAft>
                <a:spcPts val="0"/>
              </a:spcAft>
            </a:pPr>
            <a:r>
              <a:rPr sz="1500">
                <a:solidFill>
                  <a:srgbClr val="E8EEF2"/>
                </a:solidFill>
                <a:latin typeface="Consolas"/>
              </a:rPr>
              <a:t>    ansible_connection: ansible.netcommon.network_cli</a:t>
            </a:r>
          </a:p>
          <a:p>
            <a:pPr>
              <a:lnSpc>
                <a:spcPct val="100000"/>
              </a:lnSpc>
              <a:spcAft>
                <a:spcPts val="0"/>
              </a:spcAft>
            </a:pPr>
            <a:r>
              <a:rPr sz="1500">
                <a:solidFill>
                  <a:srgbClr val="E8EEF2"/>
                </a:solidFill>
                <a:latin typeface="Consolas"/>
              </a:rPr>
              <a:t>    ansible_network_os: cisco.ios.ios</a:t>
            </a:r>
          </a:p>
          <a:p>
            <a:pPr>
              <a:lnSpc>
                <a:spcPct val="100000"/>
              </a:lnSpc>
              <a:spcAft>
                <a:spcPts val="0"/>
              </a:spcAft>
            </a:pPr>
            <a:r>
              <a:rPr sz="1500">
                <a:solidFill>
                  <a:srgbClr val="E8EEF2"/>
                </a:solidFill>
                <a:latin typeface="Consolas"/>
              </a:rPr>
              <a:t>    ansible_user: netadmin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Never put the password in the inventory</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ody"/>
          <p:cNvSpPr txBox="1"/>
          <p:nvPr/>
        </p:nvSpPr>
        <p:spPr>
          <a:xfrm>
            <a:off x="685800" y="2718235"/>
            <a:ext cx="10820095" cy="3664276"/>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Use </a:t>
            </a:r>
            <a:r>
              <a:rPr sz="1900" b="0" i="0">
                <a:solidFill>
                  <a:srgbClr val="1A5276"/>
                </a:solidFill>
                <a:latin typeface="Consolas"/>
              </a:rPr>
              <a:t>ansible-vault</a:t>
            </a:r>
            <a:r>
              <a:rPr sz="2000" b="0" i="0">
                <a:solidFill>
                  <a:srgbClr val="1C252B"/>
                </a:solidFill>
                <a:latin typeface="Segoe UI"/>
              </a:rPr>
              <a:t> to encrypt a variables file, and supply the key at run time:</a:t>
            </a:r>
          </a:p>
          <a:p>
            <a:pPr algn="l">
              <a:lnSpc>
                <a:spcPct val="100000"/>
              </a:lnSpc>
              <a:spcAft>
                <a:spcPts val="1000"/>
              </a:spcAft>
            </a:pPr>
            <a:r>
              <a:rPr sz="2000" b="0" i="0">
                <a:solidFill>
                  <a:srgbClr val="1C252B"/>
                </a:solidFill>
                <a:latin typeface="Segoe UI"/>
              </a:rPr>
              <a:t>Then run with </a:t>
            </a:r>
            <a:r>
              <a:rPr sz="1900" b="0" i="0">
                <a:solidFill>
                  <a:srgbClr val="1A5276"/>
                </a:solidFill>
                <a:latin typeface="Consolas"/>
              </a:rPr>
              <a:t>–ask-vault-pass</a:t>
            </a:r>
            <a:r>
              <a:rPr sz="2000" b="0" i="0">
                <a:solidFill>
                  <a:srgbClr val="1C252B"/>
                </a:solidFill>
                <a:latin typeface="Segoe UI"/>
              </a:rPr>
              <a:t>, or use SSH keys and no password at all. A plain-text credential in a file that is about to be committed to version control is how credentials leak, and “it is only the lab” is how the habit forms.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300" b="1" i="0">
                <a:solidFill>
                  <a:srgbClr val="1A5276"/>
                </a:solidFill>
                <a:latin typeface="Segoe UI"/>
              </a:rPr>
              <a:t>ansible access_switches -i inventory.yml -m cisco.ios.ios_command -a "commands=’show version’"</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codebg"/>
          <p:cNvSpPr/>
          <p:nvPr/>
        </p:nvSpPr>
        <p:spPr>
          <a:xfrm>
            <a:off x="685800" y="1901952"/>
            <a:ext cx="10820095" cy="2637535"/>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Linux or macOS</a:t>
            </a:r>
          </a:p>
        </p:txBody>
      </p:sp>
      <p:sp>
        <p:nvSpPr>
          <p:cNvPr id="10" name="code"/>
          <p:cNvSpPr txBox="1"/>
          <p:nvPr/>
        </p:nvSpPr>
        <p:spPr>
          <a:xfrm>
            <a:off x="886968" y="2340864"/>
            <a:ext cx="10417759" cy="214375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SW1 | SUCCESS =&gt; {</a:t>
            </a:r>
          </a:p>
          <a:p>
            <a:pPr>
              <a:lnSpc>
                <a:spcPct val="100000"/>
              </a:lnSpc>
              <a:spcAft>
                <a:spcPts val="0"/>
              </a:spcAft>
            </a:pPr>
            <a:r>
              <a:rPr sz="1600">
                <a:solidFill>
                  <a:srgbClr val="E8EEF2"/>
                </a:solidFill>
                <a:latin typeface="Consolas"/>
              </a:rPr>
              <a:t>    "changed": false,</a:t>
            </a:r>
          </a:p>
          <a:p>
            <a:pPr>
              <a:lnSpc>
                <a:spcPct val="100000"/>
              </a:lnSpc>
              <a:spcAft>
                <a:spcPts val="0"/>
              </a:spcAft>
            </a:pPr>
            <a:r>
              <a:rPr sz="1600">
                <a:solidFill>
                  <a:srgbClr val="E8EEF2"/>
                </a:solidFill>
                <a:latin typeface="Consolas"/>
              </a:rPr>
              <a:t>    "stdout_lines": [["Cisco IOS XE Software, Version 17.12.04", "..."]]</a:t>
            </a:r>
          </a:p>
          <a:p>
            <a:pPr>
              <a:lnSpc>
                <a:spcPct val="100000"/>
              </a:lnSpc>
              <a:spcAft>
                <a:spcPts val="0"/>
              </a:spcAft>
            </a:pPr>
            <a:r>
              <a:rPr sz="1600">
                <a:solidFill>
                  <a:srgbClr val="E8EEF2"/>
                </a:solidFill>
                <a:latin typeface="Consolas"/>
              </a:rPr>
              <a:t>}</a:t>
            </a:r>
          </a:p>
          <a:p>
            <a:pPr>
              <a:lnSpc>
                <a:spcPct val="100000"/>
              </a:lnSpc>
              <a:spcAft>
                <a:spcPts val="0"/>
              </a:spcAft>
            </a:pPr>
            <a:r>
              <a:rPr sz="1600">
                <a:solidFill>
                  <a:srgbClr val="E8EEF2"/>
                </a:solidFill>
                <a:latin typeface="Consolas"/>
              </a:rPr>
              <a:t>SW2 | SUCCESS =&gt; {</a:t>
            </a:r>
          </a:p>
          <a:p>
            <a:pPr>
              <a:lnSpc>
                <a:spcPct val="100000"/>
              </a:lnSpc>
              <a:spcAft>
                <a:spcPts val="0"/>
              </a:spcAft>
            </a:pPr>
            <a:r>
              <a:rPr sz="1600">
                <a:solidFill>
                  <a:srgbClr val="E8EEF2"/>
                </a:solidFill>
                <a:latin typeface="Consolas"/>
              </a:rPr>
              <a:t>    "changed": false,</a:t>
            </a:r>
          </a:p>
          <a:p>
            <a:pPr>
              <a:lnSpc>
                <a:spcPct val="100000"/>
              </a:lnSpc>
              <a:spcAft>
                <a:spcPts val="0"/>
              </a:spcAft>
            </a:pPr>
            <a:r>
              <a:rPr sz="1600">
                <a:solidFill>
                  <a:srgbClr val="E8EEF2"/>
                </a:solidFill>
                <a:latin typeface="Consolas"/>
              </a:rPr>
              <a:t>    "stdout_lines": [["Cisco IOS XE Software, Version 17.09.05", "..."]]</a:t>
            </a:r>
          </a:p>
          <a:p>
            <a:pPr>
              <a:lnSpc>
                <a:spcPct val="100000"/>
              </a:lnSpc>
              <a:spcAft>
                <a:spcPts val="0"/>
              </a:spcAft>
            </a:pPr>
            <a:r>
              <a:rPr sz="1600">
                <a:solidFill>
                  <a:srgbClr val="E8EEF2"/>
                </a:solidFill>
                <a:latin typeface="Consolas"/>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Audit.yml — collect and report</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codebg"/>
          <p:cNvSpPr/>
          <p:nvPr/>
        </p:nvSpPr>
        <p:spPr>
          <a:xfrm>
            <a:off x="685800" y="1517904"/>
            <a:ext cx="10820095" cy="459028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Ansible  ·  YAML</a:t>
            </a:r>
          </a:p>
        </p:txBody>
      </p:sp>
      <p:sp>
        <p:nvSpPr>
          <p:cNvPr id="10" name="code"/>
          <p:cNvSpPr txBox="1"/>
          <p:nvPr/>
        </p:nvSpPr>
        <p:spPr>
          <a:xfrm>
            <a:off x="886968" y="1956816"/>
            <a:ext cx="10417759" cy="4096511"/>
          </a:xfrm>
          <a:prstGeom prst="rect">
            <a:avLst/>
          </a:prstGeom>
          <a:noFill/>
        </p:spPr>
        <p:txBody>
          <a:bodyPr wrap="none" lIns="0" rIns="0" tIns="0" bIns="0">
            <a:spAutoFit/>
          </a:bodyPr>
          <a:lstStyle/>
          <a:p>
            <a:pPr>
              <a:lnSpc>
                <a:spcPct val="100000"/>
              </a:lnSpc>
              <a:spcAft>
                <a:spcPts val="0"/>
              </a:spcAft>
            </a:pPr>
            <a:r>
              <a:rPr sz="1200">
                <a:solidFill>
                  <a:srgbClr val="E8EEF2"/>
                </a:solidFill>
                <a:latin typeface="Consolas"/>
              </a:rPr>
              <a:t>---</a:t>
            </a:r>
          </a:p>
          <a:p>
            <a:pPr>
              <a:lnSpc>
                <a:spcPct val="100000"/>
              </a:lnSpc>
              <a:spcAft>
                <a:spcPts val="0"/>
              </a:spcAft>
            </a:pPr>
            <a:r>
              <a:rPr sz="1200">
                <a:solidFill>
                  <a:srgbClr val="E8EEF2"/>
                </a:solidFill>
                <a:latin typeface="Consolas"/>
              </a:rPr>
              <a:t>- name: Audit access switches</a:t>
            </a:r>
          </a:p>
          <a:p>
            <a:pPr>
              <a:lnSpc>
                <a:spcPct val="100000"/>
              </a:lnSpc>
              <a:spcAft>
                <a:spcPts val="0"/>
              </a:spcAft>
            </a:pPr>
            <a:r>
              <a:rPr sz="1200">
                <a:solidFill>
                  <a:srgbClr val="E8EEF2"/>
                </a:solidFill>
                <a:latin typeface="Consolas"/>
              </a:rPr>
              <a:t>  hosts: access_switches</a:t>
            </a:r>
          </a:p>
          <a:p>
            <a:pPr>
              <a:lnSpc>
                <a:spcPct val="100000"/>
              </a:lnSpc>
              <a:spcAft>
                <a:spcPts val="0"/>
              </a:spcAft>
            </a:pPr>
            <a:r>
              <a:rPr sz="1200">
                <a:solidFill>
                  <a:srgbClr val="E8EEF2"/>
                </a:solidFill>
                <a:latin typeface="Consolas"/>
              </a:rPr>
              <a:t>  gather_facts: false</a:t>
            </a:r>
          </a:p>
          <a:p>
            <a:pPr>
              <a:lnSpc>
                <a:spcPct val="100000"/>
              </a:lnSpc>
              <a:spcAft>
                <a:spcPts val="0"/>
              </a:spcAft>
            </a:pPr>
            <a:r>
              <a:rPr sz="1200">
                <a:solidFill>
                  <a:srgbClr val="E8EEF2"/>
                </a:solidFill>
                <a:latin typeface="Consolas"/>
              </a:rPr>
              <a:t> </a:t>
            </a:r>
          </a:p>
          <a:p>
            <a:pPr>
              <a:lnSpc>
                <a:spcPct val="100000"/>
              </a:lnSpc>
              <a:spcAft>
                <a:spcPts val="0"/>
              </a:spcAft>
            </a:pPr>
            <a:r>
              <a:rPr sz="1200">
                <a:solidFill>
                  <a:srgbClr val="E8EEF2"/>
                </a:solidFill>
                <a:latin typeface="Consolas"/>
              </a:rPr>
              <a:t>  tasks:</a:t>
            </a:r>
          </a:p>
          <a:p>
            <a:pPr>
              <a:lnSpc>
                <a:spcPct val="100000"/>
              </a:lnSpc>
              <a:spcAft>
                <a:spcPts val="0"/>
              </a:spcAft>
            </a:pPr>
            <a:r>
              <a:rPr sz="1200">
                <a:solidFill>
                  <a:srgbClr val="E8EEF2"/>
                </a:solidFill>
                <a:latin typeface="Consolas"/>
              </a:rPr>
              <a:t>    - name: Collect version and inventory facts</a:t>
            </a:r>
          </a:p>
          <a:p>
            <a:pPr>
              <a:lnSpc>
                <a:spcPct val="100000"/>
              </a:lnSpc>
              <a:spcAft>
                <a:spcPts val="0"/>
              </a:spcAft>
            </a:pPr>
            <a:r>
              <a:rPr sz="1200">
                <a:solidFill>
                  <a:srgbClr val="E8EEF2"/>
                </a:solidFill>
                <a:latin typeface="Consolas"/>
              </a:rPr>
              <a:t>      cisco.ios.ios_facts:</a:t>
            </a:r>
          </a:p>
          <a:p>
            <a:pPr>
              <a:lnSpc>
                <a:spcPct val="100000"/>
              </a:lnSpc>
              <a:spcAft>
                <a:spcPts val="0"/>
              </a:spcAft>
            </a:pPr>
            <a:r>
              <a:rPr sz="1200">
                <a:solidFill>
                  <a:srgbClr val="E8EEF2"/>
                </a:solidFill>
                <a:latin typeface="Consolas"/>
              </a:rPr>
              <a:t>        gather_subset:</a:t>
            </a:r>
          </a:p>
          <a:p>
            <a:pPr>
              <a:lnSpc>
                <a:spcPct val="100000"/>
              </a:lnSpc>
              <a:spcAft>
                <a:spcPts val="0"/>
              </a:spcAft>
            </a:pPr>
            <a:r>
              <a:rPr sz="1200">
                <a:solidFill>
                  <a:srgbClr val="E8EEF2"/>
                </a:solidFill>
                <a:latin typeface="Consolas"/>
              </a:rPr>
              <a:t>          - hardware</a:t>
            </a:r>
          </a:p>
          <a:p>
            <a:pPr>
              <a:lnSpc>
                <a:spcPct val="100000"/>
              </a:lnSpc>
              <a:spcAft>
                <a:spcPts val="0"/>
              </a:spcAft>
            </a:pPr>
            <a:r>
              <a:rPr sz="1200">
                <a:solidFill>
                  <a:srgbClr val="E8EEF2"/>
                </a:solidFill>
                <a:latin typeface="Consolas"/>
              </a:rPr>
              <a:t>      register: device_facts</a:t>
            </a:r>
          </a:p>
          <a:p>
            <a:pPr>
              <a:lnSpc>
                <a:spcPct val="100000"/>
              </a:lnSpc>
              <a:spcAft>
                <a:spcPts val="0"/>
              </a:spcAft>
            </a:pPr>
            <a:r>
              <a:rPr sz="1200">
                <a:solidFill>
                  <a:srgbClr val="E8EEF2"/>
                </a:solidFill>
                <a:latin typeface="Consolas"/>
              </a:rPr>
              <a:t> </a:t>
            </a:r>
          </a:p>
          <a:p>
            <a:pPr>
              <a:lnSpc>
                <a:spcPct val="100000"/>
              </a:lnSpc>
              <a:spcAft>
                <a:spcPts val="0"/>
              </a:spcAft>
            </a:pPr>
            <a:r>
              <a:rPr sz="1200">
                <a:solidFill>
                  <a:srgbClr val="E8EEF2"/>
                </a:solidFill>
                <a:latin typeface="Consolas"/>
              </a:rPr>
              <a:t>    - name: Show what we found</a:t>
            </a:r>
          </a:p>
          <a:p>
            <a:pPr>
              <a:lnSpc>
                <a:spcPct val="100000"/>
              </a:lnSpc>
              <a:spcAft>
                <a:spcPts val="0"/>
              </a:spcAft>
            </a:pPr>
            <a:r>
              <a:rPr sz="1200">
                <a:solidFill>
                  <a:srgbClr val="E8EEF2"/>
                </a:solidFill>
                <a:latin typeface="Consolas"/>
              </a:rPr>
              <a:t>      debug:</a:t>
            </a:r>
          </a:p>
          <a:p>
            <a:pPr>
              <a:lnSpc>
                <a:spcPct val="100000"/>
              </a:lnSpc>
              <a:spcAft>
                <a:spcPts val="0"/>
              </a:spcAft>
            </a:pPr>
            <a:r>
              <a:rPr sz="1200">
                <a:solidFill>
                  <a:srgbClr val="E8EEF2"/>
                </a:solidFill>
                <a:latin typeface="Consolas"/>
              </a:rPr>
              <a:t>        msg: "{{ inventory_hostname }} runs {{ ansible_net_version }}"</a:t>
            </a:r>
          </a:p>
          <a:p>
            <a:pPr>
              <a:lnSpc>
                <a:spcPct val="100000"/>
              </a:lnSpc>
              <a:spcAft>
                <a:spcPts val="0"/>
              </a:spcAft>
            </a:pPr>
            <a:r>
              <a:rPr sz="1200">
                <a:solidFill>
                  <a:srgbClr val="E8EEF2"/>
                </a:solidFill>
                <a:latin typeface="Consolas"/>
              </a:rPr>
              <a:t> </a:t>
            </a:r>
          </a:p>
          <a:p>
            <a:pPr>
              <a:lnSpc>
                <a:spcPct val="100000"/>
              </a:lnSpc>
              <a:spcAft>
                <a:spcPts val="0"/>
              </a:spcAft>
            </a:pPr>
            <a:r>
              <a:rPr sz="1200">
                <a:solidFill>
                  <a:srgbClr val="E8EEF2"/>
                </a:solidFill>
                <a:latin typeface="Consolas"/>
              </a:rPr>
              <a:t>    - name: Run a show command and keep the output</a:t>
            </a:r>
          </a:p>
          <a:p>
            <a:pPr>
              <a:lnSpc>
                <a:spcPct val="100000"/>
              </a:lnSpc>
              <a:spcAft>
                <a:spcPts val="0"/>
              </a:spcAft>
            </a:pPr>
            <a:r>
              <a:rPr sz="1200">
                <a:solidFill>
                  <a:srgbClr val="E8EEF2"/>
                </a:solidFill>
                <a:latin typeface="Consolas"/>
              </a:rPr>
              <a:t>      cisco.ios.ios_command:</a:t>
            </a:r>
          </a:p>
          <a:p>
            <a:pPr>
              <a:lnSpc>
                <a:spcPct val="100000"/>
              </a:lnSpc>
              <a:spcAft>
                <a:spcPts val="0"/>
              </a:spcAft>
            </a:pPr>
            <a:r>
              <a:rPr sz="1200">
                <a:solidFill>
                  <a:srgbClr val="E8EEF2"/>
                </a:solidFill>
                <a:latin typeface="Consolas"/>
              </a:rPr>
              <a:t>        commands:</a:t>
            </a:r>
          </a:p>
          <a:p>
            <a:pPr>
              <a:lnSpc>
                <a:spcPct val="100000"/>
              </a:lnSpc>
              <a:spcAft>
                <a:spcPts val="0"/>
              </a:spcAft>
            </a:pPr>
            <a:r>
              <a:rPr sz="1200">
                <a:solidFill>
                  <a:srgbClr val="E8EEF2"/>
                </a:solidFill>
                <a:latin typeface="Consolas"/>
              </a:rPr>
              <a:t>          - show interfaces status</a:t>
            </a:r>
          </a:p>
          <a:p>
            <a:pPr>
              <a:lnSpc>
                <a:spcPct val="100000"/>
              </a:lnSpc>
              <a:spcAft>
                <a:spcPts val="0"/>
              </a:spcAft>
            </a:pPr>
            <a:r>
              <a:rPr sz="1200">
                <a:solidFill>
                  <a:srgbClr val="E8EEF2"/>
                </a:solidFill>
                <a:latin typeface="Consolas"/>
              </a:rPr>
              <a:t>      register: intf</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Audit.yml — collect and report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Ansible  ·  YAML</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 name: Write it to a file on the control node</a:t>
            </a:r>
          </a:p>
          <a:p>
            <a:pPr>
              <a:lnSpc>
                <a:spcPct val="100000"/>
              </a:lnSpc>
              <a:spcAft>
                <a:spcPts val="0"/>
              </a:spcAft>
            </a:pPr>
            <a:r>
              <a:rPr sz="1600">
                <a:solidFill>
                  <a:srgbClr val="E8EEF2"/>
                </a:solidFill>
                <a:latin typeface="Consolas"/>
              </a:rPr>
              <a:t>      copy:</a:t>
            </a:r>
          </a:p>
          <a:p>
            <a:pPr>
              <a:lnSpc>
                <a:spcPct val="100000"/>
              </a:lnSpc>
              <a:spcAft>
                <a:spcPts val="0"/>
              </a:spcAft>
            </a:pPr>
            <a:r>
              <a:rPr sz="1600">
                <a:solidFill>
                  <a:srgbClr val="E8EEF2"/>
                </a:solidFill>
                <a:latin typeface="Consolas"/>
              </a:rPr>
              <a:t>        content: "{{ intf.stdout[0] }}"</a:t>
            </a:r>
          </a:p>
          <a:p>
            <a:pPr>
              <a:lnSpc>
                <a:spcPct val="100000"/>
              </a:lnSpc>
              <a:spcAft>
                <a:spcPts val="0"/>
              </a:spcAft>
            </a:pPr>
            <a:r>
              <a:rPr sz="1600">
                <a:solidFill>
                  <a:srgbClr val="E8EEF2"/>
                </a:solidFill>
                <a:latin typeface="Consolas"/>
              </a:rPr>
              <a:t>        dest: "./reports/{{ inventory_hostname }}-interfaces.txt"</a:t>
            </a:r>
          </a:p>
          <a:p>
            <a:pPr>
              <a:lnSpc>
                <a:spcPct val="100000"/>
              </a:lnSpc>
              <a:spcAft>
                <a:spcPts val="0"/>
              </a:spcAft>
            </a:pPr>
            <a:r>
              <a:rPr sz="1600">
                <a:solidFill>
                  <a:srgbClr val="E8EEF2"/>
                </a:solidFill>
                <a:latin typeface="Consolas"/>
              </a:rPr>
              <a:t>      delegate_to: localhost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Vlan.yml — make a change on every switch</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codebg"/>
          <p:cNvSpPr/>
          <p:nvPr/>
        </p:nvSpPr>
        <p:spPr>
          <a:xfrm>
            <a:off x="685800" y="1517904"/>
            <a:ext cx="10820095" cy="459028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Ansible  ·  YAML</a:t>
            </a:r>
          </a:p>
        </p:txBody>
      </p:sp>
      <p:sp>
        <p:nvSpPr>
          <p:cNvPr id="10" name="code"/>
          <p:cNvSpPr txBox="1"/>
          <p:nvPr/>
        </p:nvSpPr>
        <p:spPr>
          <a:xfrm>
            <a:off x="886968" y="1956816"/>
            <a:ext cx="10417759" cy="4096511"/>
          </a:xfrm>
          <a:prstGeom prst="rect">
            <a:avLst/>
          </a:prstGeom>
          <a:noFill/>
        </p:spPr>
        <p:txBody>
          <a:bodyPr wrap="none" lIns="0" rIns="0" tIns="0" bIns="0">
            <a:spAutoFit/>
          </a:bodyPr>
          <a:lstStyle/>
          <a:p>
            <a:pPr>
              <a:lnSpc>
                <a:spcPct val="100000"/>
              </a:lnSpc>
              <a:spcAft>
                <a:spcPts val="0"/>
              </a:spcAft>
            </a:pPr>
            <a:r>
              <a:rPr sz="1200">
                <a:solidFill>
                  <a:srgbClr val="E8EEF2"/>
                </a:solidFill>
                <a:latin typeface="Consolas"/>
              </a:rPr>
              <a:t>---</a:t>
            </a:r>
          </a:p>
          <a:p>
            <a:pPr>
              <a:lnSpc>
                <a:spcPct val="100000"/>
              </a:lnSpc>
              <a:spcAft>
                <a:spcPts val="0"/>
              </a:spcAft>
            </a:pPr>
            <a:r>
              <a:rPr sz="1200">
                <a:solidFill>
                  <a:srgbClr val="E8EEF2"/>
                </a:solidFill>
                <a:latin typeface="Consolas"/>
              </a:rPr>
              <a:t>- name: Add the guest VLAN everywhere</a:t>
            </a:r>
          </a:p>
          <a:p>
            <a:pPr>
              <a:lnSpc>
                <a:spcPct val="100000"/>
              </a:lnSpc>
              <a:spcAft>
                <a:spcPts val="0"/>
              </a:spcAft>
            </a:pPr>
            <a:r>
              <a:rPr sz="1200">
                <a:solidFill>
                  <a:srgbClr val="E8EEF2"/>
                </a:solidFill>
                <a:latin typeface="Consolas"/>
              </a:rPr>
              <a:t>  hosts: access_switches</a:t>
            </a:r>
          </a:p>
          <a:p>
            <a:pPr>
              <a:lnSpc>
                <a:spcPct val="100000"/>
              </a:lnSpc>
              <a:spcAft>
                <a:spcPts val="0"/>
              </a:spcAft>
            </a:pPr>
            <a:r>
              <a:rPr sz="1200">
                <a:solidFill>
                  <a:srgbClr val="E8EEF2"/>
                </a:solidFill>
                <a:latin typeface="Consolas"/>
              </a:rPr>
              <a:t>  gather_facts: false</a:t>
            </a:r>
          </a:p>
          <a:p>
            <a:pPr>
              <a:lnSpc>
                <a:spcPct val="100000"/>
              </a:lnSpc>
              <a:spcAft>
                <a:spcPts val="0"/>
              </a:spcAft>
            </a:pPr>
            <a:r>
              <a:rPr sz="1200">
                <a:solidFill>
                  <a:srgbClr val="E8EEF2"/>
                </a:solidFill>
                <a:latin typeface="Consolas"/>
              </a:rPr>
              <a:t> </a:t>
            </a:r>
          </a:p>
          <a:p>
            <a:pPr>
              <a:lnSpc>
                <a:spcPct val="100000"/>
              </a:lnSpc>
              <a:spcAft>
                <a:spcPts val="0"/>
              </a:spcAft>
            </a:pPr>
            <a:r>
              <a:rPr sz="1200">
                <a:solidFill>
                  <a:srgbClr val="E8EEF2"/>
                </a:solidFill>
                <a:latin typeface="Consolas"/>
              </a:rPr>
              <a:t>  tasks:</a:t>
            </a:r>
          </a:p>
          <a:p>
            <a:pPr>
              <a:lnSpc>
                <a:spcPct val="100000"/>
              </a:lnSpc>
              <a:spcAft>
                <a:spcPts val="0"/>
              </a:spcAft>
            </a:pPr>
            <a:r>
              <a:rPr sz="1200">
                <a:solidFill>
                  <a:srgbClr val="E8EEF2"/>
                </a:solidFill>
                <a:latin typeface="Consolas"/>
              </a:rPr>
              <a:t>    - name: Create VLAN 40</a:t>
            </a:r>
          </a:p>
          <a:p>
            <a:pPr>
              <a:lnSpc>
                <a:spcPct val="100000"/>
              </a:lnSpc>
              <a:spcAft>
                <a:spcPts val="0"/>
              </a:spcAft>
            </a:pPr>
            <a:r>
              <a:rPr sz="1200">
                <a:solidFill>
                  <a:srgbClr val="E8EEF2"/>
                </a:solidFill>
                <a:latin typeface="Consolas"/>
              </a:rPr>
              <a:t>      cisco.ios.ios_config:</a:t>
            </a:r>
          </a:p>
          <a:p>
            <a:pPr>
              <a:lnSpc>
                <a:spcPct val="100000"/>
              </a:lnSpc>
              <a:spcAft>
                <a:spcPts val="0"/>
              </a:spcAft>
            </a:pPr>
            <a:r>
              <a:rPr sz="1200">
                <a:solidFill>
                  <a:srgbClr val="E8EEF2"/>
                </a:solidFill>
                <a:latin typeface="Consolas"/>
              </a:rPr>
              <a:t>        lines:</a:t>
            </a:r>
          </a:p>
          <a:p>
            <a:pPr>
              <a:lnSpc>
                <a:spcPct val="100000"/>
              </a:lnSpc>
              <a:spcAft>
                <a:spcPts val="0"/>
              </a:spcAft>
            </a:pPr>
            <a:r>
              <a:rPr sz="1200">
                <a:solidFill>
                  <a:srgbClr val="E8EEF2"/>
                </a:solidFill>
                <a:latin typeface="Consolas"/>
              </a:rPr>
              <a:t>          - name GUEST</a:t>
            </a:r>
          </a:p>
          <a:p>
            <a:pPr>
              <a:lnSpc>
                <a:spcPct val="100000"/>
              </a:lnSpc>
              <a:spcAft>
                <a:spcPts val="0"/>
              </a:spcAft>
            </a:pPr>
            <a:r>
              <a:rPr sz="1200">
                <a:solidFill>
                  <a:srgbClr val="E8EEF2"/>
                </a:solidFill>
                <a:latin typeface="Consolas"/>
              </a:rPr>
              <a:t>        parents: vlan 40</a:t>
            </a:r>
          </a:p>
          <a:p>
            <a:pPr>
              <a:lnSpc>
                <a:spcPct val="100000"/>
              </a:lnSpc>
              <a:spcAft>
                <a:spcPts val="0"/>
              </a:spcAft>
            </a:pPr>
            <a:r>
              <a:rPr sz="1200">
                <a:solidFill>
                  <a:srgbClr val="E8EEF2"/>
                </a:solidFill>
                <a:latin typeface="Consolas"/>
              </a:rPr>
              <a:t> </a:t>
            </a:r>
          </a:p>
          <a:p>
            <a:pPr>
              <a:lnSpc>
                <a:spcPct val="100000"/>
              </a:lnSpc>
              <a:spcAft>
                <a:spcPts val="0"/>
              </a:spcAft>
            </a:pPr>
            <a:r>
              <a:rPr sz="1200">
                <a:solidFill>
                  <a:srgbClr val="E8EEF2"/>
                </a:solidFill>
                <a:latin typeface="Consolas"/>
              </a:rPr>
              <a:t>    - name: Allow it on the uplink trunk</a:t>
            </a:r>
          </a:p>
          <a:p>
            <a:pPr>
              <a:lnSpc>
                <a:spcPct val="100000"/>
              </a:lnSpc>
              <a:spcAft>
                <a:spcPts val="0"/>
              </a:spcAft>
            </a:pPr>
            <a:r>
              <a:rPr sz="1200">
                <a:solidFill>
                  <a:srgbClr val="E8EEF2"/>
                </a:solidFill>
                <a:latin typeface="Consolas"/>
              </a:rPr>
              <a:t>      cisco.ios.ios_config:</a:t>
            </a:r>
          </a:p>
          <a:p>
            <a:pPr>
              <a:lnSpc>
                <a:spcPct val="100000"/>
              </a:lnSpc>
              <a:spcAft>
                <a:spcPts val="0"/>
              </a:spcAft>
            </a:pPr>
            <a:r>
              <a:rPr sz="1200">
                <a:solidFill>
                  <a:srgbClr val="E8EEF2"/>
                </a:solidFill>
                <a:latin typeface="Consolas"/>
              </a:rPr>
              <a:t>        lines:</a:t>
            </a:r>
          </a:p>
          <a:p>
            <a:pPr>
              <a:lnSpc>
                <a:spcPct val="100000"/>
              </a:lnSpc>
              <a:spcAft>
                <a:spcPts val="0"/>
              </a:spcAft>
            </a:pPr>
            <a:r>
              <a:rPr sz="1200">
                <a:solidFill>
                  <a:srgbClr val="E8EEF2"/>
                </a:solidFill>
                <a:latin typeface="Consolas"/>
              </a:rPr>
              <a:t>          - switchport trunk allowed vlan add 40</a:t>
            </a:r>
          </a:p>
          <a:p>
            <a:pPr>
              <a:lnSpc>
                <a:spcPct val="100000"/>
              </a:lnSpc>
              <a:spcAft>
                <a:spcPts val="0"/>
              </a:spcAft>
            </a:pPr>
            <a:r>
              <a:rPr sz="1200">
                <a:solidFill>
                  <a:srgbClr val="E8EEF2"/>
                </a:solidFill>
                <a:latin typeface="Consolas"/>
              </a:rPr>
              <a:t>        parents: interface GigabitEthernet1/0/48</a:t>
            </a:r>
          </a:p>
          <a:p>
            <a:pPr>
              <a:lnSpc>
                <a:spcPct val="100000"/>
              </a:lnSpc>
              <a:spcAft>
                <a:spcPts val="0"/>
              </a:spcAft>
            </a:pPr>
            <a:r>
              <a:rPr sz="1200">
                <a:solidFill>
                  <a:srgbClr val="E8EEF2"/>
                </a:solidFill>
                <a:latin typeface="Consolas"/>
              </a:rPr>
              <a:t> </a:t>
            </a:r>
          </a:p>
          <a:p>
            <a:pPr>
              <a:lnSpc>
                <a:spcPct val="100000"/>
              </a:lnSpc>
              <a:spcAft>
                <a:spcPts val="0"/>
              </a:spcAft>
            </a:pPr>
            <a:r>
              <a:rPr sz="1200">
                <a:solidFill>
                  <a:srgbClr val="E8EEF2"/>
                </a:solidFill>
                <a:latin typeface="Consolas"/>
              </a:rPr>
              <a:t>    # Without this the change lives in the running configuration only</a:t>
            </a:r>
          </a:p>
          <a:p>
            <a:pPr>
              <a:lnSpc>
                <a:spcPct val="100000"/>
              </a:lnSpc>
              <a:spcAft>
                <a:spcPts val="0"/>
              </a:spcAft>
            </a:pPr>
            <a:r>
              <a:rPr sz="1200">
                <a:solidFill>
                  <a:srgbClr val="E8EEF2"/>
                </a:solidFill>
                <a:latin typeface="Consolas"/>
              </a:rPr>
              <a:t>    # and is lost at the next reload. "modified" saves only when this</a:t>
            </a:r>
          </a:p>
          <a:p>
            <a:pPr>
              <a:lnSpc>
                <a:spcPct val="100000"/>
              </a:lnSpc>
              <a:spcAft>
                <a:spcPts val="0"/>
              </a:spcAft>
            </a:pPr>
            <a:r>
              <a:rPr sz="1200">
                <a:solidFill>
                  <a:srgbClr val="E8EEF2"/>
                </a:solidFill>
                <a:latin typeface="Consolas"/>
              </a:rPr>
              <a:t>    # run actually changed something.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Vlan.yml — make a change on every switch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codebg"/>
          <p:cNvSpPr/>
          <p:nvPr/>
        </p:nvSpPr>
        <p:spPr>
          <a:xfrm>
            <a:off x="685800" y="1901952"/>
            <a:ext cx="10820095" cy="137769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Ansible  ·  YAML</a:t>
            </a:r>
          </a:p>
        </p:txBody>
      </p:sp>
      <p:sp>
        <p:nvSpPr>
          <p:cNvPr id="10" name="code"/>
          <p:cNvSpPr txBox="1"/>
          <p:nvPr/>
        </p:nvSpPr>
        <p:spPr>
          <a:xfrm>
            <a:off x="886968" y="2340864"/>
            <a:ext cx="10417759" cy="88391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 name: Save the configuration</a:t>
            </a:r>
          </a:p>
          <a:p>
            <a:pPr>
              <a:lnSpc>
                <a:spcPct val="100000"/>
              </a:lnSpc>
              <a:spcAft>
                <a:spcPts val="0"/>
              </a:spcAft>
            </a:pPr>
            <a:r>
              <a:rPr sz="1600">
                <a:solidFill>
                  <a:srgbClr val="E8EEF2"/>
                </a:solidFill>
                <a:latin typeface="Consolas"/>
              </a:rPr>
              <a:t>      cisco.ios.ios_config:</a:t>
            </a:r>
          </a:p>
          <a:p>
            <a:pPr>
              <a:lnSpc>
                <a:spcPct val="100000"/>
              </a:lnSpc>
              <a:spcAft>
                <a:spcPts val="0"/>
              </a:spcAft>
            </a:pPr>
            <a:r>
              <a:rPr sz="1600">
                <a:solidFill>
                  <a:srgbClr val="E8EEF2"/>
                </a:solidFill>
                <a:latin typeface="Consolas"/>
              </a:rPr>
              <a:t>        save_when: modified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ios_command reads, ios_config writes</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This is the distinction the exam will test and the one beginners get wrong.</a:t>
            </a:r>
          </a:p>
          <a:p>
            <a:pPr algn="l">
              <a:lnSpc>
                <a:spcPct val="100000"/>
              </a:lnSpc>
              <a:spcAft>
                <a:spcPts val="1000"/>
              </a:spcAft>
            </a:pPr>
            <a:r>
              <a:rPr sz="1900" b="0" i="0">
                <a:solidFill>
                  <a:srgbClr val="1A5276"/>
                </a:solidFill>
                <a:latin typeface="Consolas"/>
              </a:rPr>
              <a:t>ios_command</a:t>
            </a:r>
            <a:r>
              <a:rPr sz="2000" b="0" i="0">
                <a:solidFill>
                  <a:srgbClr val="1C252B"/>
                </a:solidFill>
                <a:latin typeface="Segoe UI"/>
              </a:rPr>
              <a:t> runs commands in EXEC mode and returns their output. It </a:t>
            </a:r>
            <a:r>
              <a:rPr sz="2000" b="1" i="0">
                <a:solidFill>
                  <a:srgbClr val="1C252B"/>
                </a:solidFill>
                <a:latin typeface="Segoe UI"/>
              </a:rPr>
              <a:t>cannot make a configuration change</a:t>
            </a:r>
            <a:r>
              <a:rPr sz="2000" b="0" i="0">
                <a:solidFill>
                  <a:srgbClr val="1C252B"/>
                </a:solidFill>
                <a:latin typeface="Segoe UI"/>
              </a:rPr>
              <a:t>, and it will refuse configuration commands outright rather than silently failing.</a:t>
            </a:r>
          </a:p>
          <a:p>
            <a:pPr algn="l">
              <a:lnSpc>
                <a:spcPct val="100000"/>
              </a:lnSpc>
              <a:spcAft>
                <a:spcPts val="1000"/>
              </a:spcAft>
            </a:pPr>
            <a:r>
              <a:rPr sz="1900" b="0" i="0">
                <a:solidFill>
                  <a:srgbClr val="1A5276"/>
                </a:solidFill>
                <a:latin typeface="Consolas"/>
              </a:rPr>
              <a:t>ios_config</a:t>
            </a:r>
            <a:r>
              <a:rPr sz="2000" b="0" i="0">
                <a:solidFill>
                  <a:srgbClr val="1C252B"/>
                </a:solidFill>
                <a:latin typeface="Segoe UI"/>
              </a:rPr>
              <a:t> enters configuration mode and applies lines, using </a:t>
            </a:r>
            <a:r>
              <a:rPr sz="1900" b="0" i="0">
                <a:solidFill>
                  <a:srgbClr val="1A5276"/>
                </a:solidFill>
                <a:latin typeface="Consolas"/>
              </a:rPr>
              <a:t>parents</a:t>
            </a:r>
            <a:r>
              <a:rPr sz="2000" b="0" i="0">
                <a:solidFill>
                  <a:srgbClr val="1C252B"/>
                </a:solidFill>
                <a:latin typeface="Segoe UI"/>
              </a:rPr>
              <a:t> to say which sub-mode they belong in. It compares against the running configuration first, so it is idempotent.</a:t>
            </a:r>
          </a:p>
          <a:p>
            <a:pPr algn="l">
              <a:lnSpc>
                <a:spcPct val="100000"/>
              </a:lnSpc>
              <a:spcAft>
                <a:spcPts val="1000"/>
              </a:spcAft>
            </a:pPr>
            <a:r>
              <a:rPr sz="2000" b="0" i="0">
                <a:solidFill>
                  <a:srgbClr val="1C252B"/>
                </a:solidFill>
                <a:latin typeface="Segoe UI"/>
              </a:rPr>
              <a:t>A playbook that reports success and changes nothing is very often </a:t>
            </a:r>
            <a:r>
              <a:rPr sz="1900" b="0" i="0">
                <a:solidFill>
                  <a:srgbClr val="1A5276"/>
                </a:solidFill>
                <a:latin typeface="Consolas"/>
              </a:rPr>
              <a:t>ios_command</a:t>
            </a:r>
            <a:r>
              <a:rPr sz="2000" b="0" i="0">
                <a:solidFill>
                  <a:srgbClr val="1C252B"/>
                </a:solidFill>
                <a:latin typeface="Segoe UI"/>
              </a:rPr>
              <a:t> where </a:t>
            </a:r>
            <a:r>
              <a:rPr sz="1900" b="0" i="0">
                <a:solidFill>
                  <a:srgbClr val="1A5276"/>
                </a:solidFill>
                <a:latin typeface="Consolas"/>
              </a:rPr>
              <a:t>ios_config</a:t>
            </a:r>
            <a:r>
              <a:rPr sz="2000" b="0" i="0">
                <a:solidFill>
                  <a:srgbClr val="1C252B"/>
                </a:solidFill>
                <a:latin typeface="Segoe UI"/>
              </a:rPr>
              <a:t> was meant.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000" b="1" i="0">
                <a:solidFill>
                  <a:srgbClr val="1A5276"/>
                </a:solidFill>
                <a:latin typeface="Segoe UI"/>
              </a:rPr>
              <a:t>ansible-playbook -i inventory.yml vlan.yml –check –diff</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codebg"/>
          <p:cNvSpPr/>
          <p:nvPr/>
        </p:nvSpPr>
        <p:spPr>
          <a:xfrm>
            <a:off x="685800" y="1901952"/>
            <a:ext cx="10820095" cy="288950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Linux or macOS</a:t>
            </a:r>
          </a:p>
        </p:txBody>
      </p:sp>
      <p:sp>
        <p:nvSpPr>
          <p:cNvPr id="10" name="code"/>
          <p:cNvSpPr txBox="1"/>
          <p:nvPr/>
        </p:nvSpPr>
        <p:spPr>
          <a:xfrm>
            <a:off x="886968" y="2340864"/>
            <a:ext cx="10417759" cy="239572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TASK [Create VLAN 40] **********************************************</a:t>
            </a:r>
          </a:p>
          <a:p>
            <a:pPr>
              <a:lnSpc>
                <a:spcPct val="100000"/>
              </a:lnSpc>
              <a:spcAft>
                <a:spcPts val="0"/>
              </a:spcAft>
            </a:pPr>
            <a:r>
              <a:rPr sz="1600">
                <a:solidFill>
                  <a:srgbClr val="E8EEF2"/>
                </a:solidFill>
                <a:latin typeface="Consolas"/>
              </a:rPr>
              <a:t>changed: [SW1]</a:t>
            </a:r>
          </a:p>
          <a:p>
            <a:pPr>
              <a:lnSpc>
                <a:spcPct val="100000"/>
              </a:lnSpc>
              <a:spcAft>
                <a:spcPts val="0"/>
              </a:spcAft>
            </a:pPr>
            <a:r>
              <a:rPr sz="1600">
                <a:solidFill>
                  <a:srgbClr val="E8EEF2"/>
                </a:solidFill>
                <a:latin typeface="Consolas"/>
              </a:rPr>
              <a:t>changed: [SW2]</a:t>
            </a:r>
          </a:p>
          <a:p>
            <a:pPr>
              <a:lnSpc>
                <a:spcPct val="100000"/>
              </a:lnSpc>
              <a:spcAft>
                <a:spcPts val="0"/>
              </a:spcAft>
            </a:pPr>
            <a:r>
              <a:rPr sz="1600">
                <a:solidFill>
                  <a:srgbClr val="E8EEF2"/>
                </a:solidFill>
                <a:latin typeface="Consolas"/>
              </a:rPr>
              <a:t>ok: [SW3]</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PLAY RECAP *********************************************************</a:t>
            </a:r>
          </a:p>
          <a:p>
            <a:pPr>
              <a:lnSpc>
                <a:spcPct val="100000"/>
              </a:lnSpc>
              <a:spcAft>
                <a:spcPts val="0"/>
              </a:spcAft>
            </a:pPr>
            <a:r>
              <a:rPr sz="1600">
                <a:solidFill>
                  <a:srgbClr val="E8EEF2"/>
                </a:solidFill>
                <a:latin typeface="Consolas"/>
              </a:rPr>
              <a:t>SW1  : ok=2  changed=1  unreachable=0  failed=0</a:t>
            </a:r>
          </a:p>
          <a:p>
            <a:pPr>
              <a:lnSpc>
                <a:spcPct val="100000"/>
              </a:lnSpc>
              <a:spcAft>
                <a:spcPts val="0"/>
              </a:spcAft>
            </a:pPr>
            <a:r>
              <a:rPr sz="1600">
                <a:solidFill>
                  <a:srgbClr val="E8EEF2"/>
                </a:solidFill>
                <a:latin typeface="Consolas"/>
              </a:rPr>
              <a:t>SW2  : ok=2  changed=1  unreachable=0  failed=0</a:t>
            </a:r>
          </a:p>
          <a:p>
            <a:pPr>
              <a:lnSpc>
                <a:spcPct val="100000"/>
              </a:lnSpc>
              <a:spcAft>
                <a:spcPts val="0"/>
              </a:spcAft>
            </a:pPr>
            <a:r>
              <a:rPr sz="1600">
                <a:solidFill>
                  <a:srgbClr val="E8EEF2"/>
                </a:solidFill>
                <a:latin typeface="Consolas"/>
              </a:rPr>
              <a:t>SW3  : ok=3  changed=0  unreachable=0  failed=0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 the recap, every time</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tint"/>
          <p:cNvSpPr/>
          <p:nvPr/>
        </p:nvSpPr>
        <p:spPr>
          <a:xfrm>
            <a:off x="685800" y="1517904"/>
            <a:ext cx="10820095" cy="350113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1900" b="0" i="0">
                <a:solidFill>
                  <a:srgbClr val="1A5276"/>
                </a:solidFill>
                <a:latin typeface="Consolas"/>
              </a:rPr>
              <a:t>–check</a:t>
            </a:r>
            <a:r>
              <a:rPr sz="2000" b="0" i="0">
                <a:solidFill>
                  <a:srgbClr val="1C252B"/>
                </a:solidFill>
                <a:latin typeface="Segoe UI"/>
              </a:rPr>
              <a:t> is a dry run: Ansible reports what it </a:t>
            </a:r>
            <a:r>
              <a:rPr sz="2000" b="0" i="1">
                <a:solidFill>
                  <a:srgbClr val="1C252B"/>
                </a:solidFill>
                <a:latin typeface="Segoe UI"/>
              </a:rPr>
              <a:t>would</a:t>
            </a:r>
            <a:r>
              <a:rPr sz="2000" b="0" i="0">
                <a:solidFill>
                  <a:srgbClr val="1C252B"/>
                </a:solidFill>
                <a:latin typeface="Segoe UI"/>
              </a:rPr>
              <a:t> do and touches nothing. </a:t>
            </a:r>
            <a:r>
              <a:rPr sz="1900" b="0" i="0">
                <a:solidFill>
                  <a:srgbClr val="1A5276"/>
                </a:solidFill>
                <a:latin typeface="Consolas"/>
              </a:rPr>
              <a:t>–diff</a:t>
            </a:r>
            <a:r>
              <a:rPr sz="2000" b="0" i="0">
                <a:solidFill>
                  <a:srgbClr val="1C252B"/>
                </a:solidFill>
                <a:latin typeface="Segoe UI"/>
              </a:rPr>
              <a:t> shows the exact lines. Run this before every change to production, without exception.</a:t>
            </a:r>
          </a:p>
          <a:p>
            <a:pPr algn="l">
              <a:lnSpc>
                <a:spcPct val="100000"/>
              </a:lnSpc>
              <a:spcAft>
                <a:spcPts val="1000"/>
              </a:spcAft>
            </a:pPr>
            <a:r>
              <a:rPr sz="2000" b="0" i="0">
                <a:solidFill>
                  <a:srgbClr val="1C252B"/>
                </a:solidFill>
                <a:latin typeface="Segoe UI"/>
              </a:rPr>
              <a:t>In that output, </a:t>
            </a:r>
            <a:r>
              <a:rPr sz="1900" b="0" i="0">
                <a:solidFill>
                  <a:srgbClr val="1A5276"/>
                </a:solidFill>
                <a:latin typeface="Consolas"/>
              </a:rPr>
              <a:t>SW3</a:t>
            </a:r>
            <a:r>
              <a:rPr sz="2000" b="0" i="0">
                <a:solidFill>
                  <a:srgbClr val="1C252B"/>
                </a:solidFill>
                <a:latin typeface="Segoe UI"/>
              </a:rPr>
              <a:t> reports </a:t>
            </a:r>
            <a:r>
              <a:rPr sz="1900" b="0" i="0">
                <a:solidFill>
                  <a:srgbClr val="1A5276"/>
                </a:solidFill>
                <a:latin typeface="Consolas"/>
              </a:rPr>
              <a:t>ok</a:t>
            </a:r>
            <a:r>
              <a:rPr sz="2000" b="0" i="0">
                <a:solidFill>
                  <a:srgbClr val="1C252B"/>
                </a:solidFill>
                <a:latin typeface="Segoe UI"/>
              </a:rPr>
              <a:t> rather than </a:t>
            </a:r>
            <a:r>
              <a:rPr sz="1900" b="0" i="0">
                <a:solidFill>
                  <a:srgbClr val="1A5276"/>
                </a:solidFill>
                <a:latin typeface="Consolas"/>
              </a:rPr>
              <a:t>changed</a:t>
            </a:r>
            <a:r>
              <a:rPr sz="2000" b="0" i="0">
                <a:solidFill>
                  <a:srgbClr val="1C252B"/>
                </a:solidFill>
                <a:latin typeface="Segoe UI"/>
              </a:rPr>
              <a:t> because it already has VLAN 40. That is idempotency visible in the recap, and it is also a useful audit: the difference between the two tells you which devices had drifted.</a:t>
            </a:r>
          </a:p>
          <a:p>
            <a:pPr algn="l">
              <a:lnSpc>
                <a:spcPct val="100000"/>
              </a:lnSpc>
              <a:spcAft>
                <a:spcPts val="1000"/>
              </a:spcAft>
            </a:pPr>
            <a:r>
              <a:rPr sz="1900" b="0" i="0">
                <a:solidFill>
                  <a:srgbClr val="1A5276"/>
                </a:solidFill>
                <a:latin typeface="Consolas"/>
              </a:rPr>
              <a:t>unreachable</a:t>
            </a:r>
            <a:r>
              <a:rPr sz="2000" b="0" i="0">
                <a:solidFill>
                  <a:srgbClr val="1C252B"/>
                </a:solidFill>
                <a:latin typeface="Segoe UI"/>
              </a:rPr>
              <a:t> is a different failure from </a:t>
            </a:r>
            <a:r>
              <a:rPr sz="1900" b="0" i="0">
                <a:solidFill>
                  <a:srgbClr val="1A5276"/>
                </a:solidFill>
                <a:latin typeface="Consolas"/>
              </a:rPr>
              <a:t>failed</a:t>
            </a:r>
            <a:r>
              <a:rPr sz="2000" b="0" i="0">
                <a:solidFill>
                  <a:srgbClr val="1C252B"/>
                </a:solidFill>
                <a:latin typeface="Segoe UI"/>
              </a:rPr>
              <a:t>: unreachable means Ansible could not log in at all, failed means it logged in and the task did not work.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Check before you commit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Tabs in YAML.</a:t>
            </a:r>
            <a:r>
              <a:rPr sz="2000" b="0" i="0">
                <a:solidFill>
                  <a:srgbClr val="1C252B"/>
                </a:solidFill>
                <a:latin typeface="Segoe UI"/>
              </a:rPr>
              <a:t> A syntax error, and the message rarely says “tab”. Configure your editor to insert spaces.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Missing </a:t>
            </a:r>
            <a:r>
              <a:rPr sz="1900" b="1" i="0">
                <a:solidFill>
                  <a:srgbClr val="1A5276"/>
                </a:solidFill>
                <a:latin typeface="Consolas"/>
              </a:rPr>
              <a:t>ansible_connection: network_cli</a:t>
            </a:r>
            <a:r>
              <a:rPr sz="2000" b="1" i="0">
                <a:solidFill>
                  <a:srgbClr val="1C252B"/>
                </a:solidFill>
                <a:latin typeface="Segoe UI"/>
              </a:rPr>
              <a:t>.</a:t>
            </a:r>
            <a:r>
              <a:rPr sz="2000" b="0" i="0">
                <a:solidFill>
                  <a:srgbClr val="1C252B"/>
                </a:solidFill>
                <a:latin typeface="Segoe UI"/>
              </a:rPr>
              <a:t> Ansible tries to run Python on a switch and fails confusingly.</a:t>
            </a:r>
          </a:p>
          <a:p>
            <a:pPr marL="228600" indent="-228600">
              <a:lnSpc>
                <a:spcPct val="102000"/>
              </a:lnSpc>
              <a:spcAft>
                <a:spcPts val="900"/>
              </a:spcAft>
            </a:pPr>
            <a:r>
              <a:rPr sz="2000" b="1">
                <a:solidFill>
                  <a:srgbClr val="B7950B"/>
                </a:solidFill>
                <a:latin typeface="Segoe UI"/>
              </a:rPr>
              <a:t>•  </a:t>
            </a:r>
            <a:r>
              <a:rPr sz="1900" b="1" i="0">
                <a:solidFill>
                  <a:srgbClr val="1A5276"/>
                </a:solidFill>
                <a:latin typeface="Consolas"/>
              </a:rPr>
              <a:t>ios_command</a:t>
            </a:r>
            <a:r>
              <a:rPr sz="2000" b="1" i="0">
                <a:solidFill>
                  <a:srgbClr val="1C252B"/>
                </a:solidFill>
                <a:latin typeface="Segoe UI"/>
              </a:rPr>
              <a:t> where </a:t>
            </a:r>
            <a:r>
              <a:rPr sz="1900" b="1" i="0">
                <a:solidFill>
                  <a:srgbClr val="1A5276"/>
                </a:solidFill>
                <a:latin typeface="Consolas"/>
              </a:rPr>
              <a:t>ios_config</a:t>
            </a:r>
            <a:r>
              <a:rPr sz="2000" b="1" i="0">
                <a:solidFill>
                  <a:srgbClr val="1C252B"/>
                </a:solidFill>
                <a:latin typeface="Segoe UI"/>
              </a:rPr>
              <a:t> was meant.</a:t>
            </a:r>
            <a:r>
              <a:rPr sz="2000" b="0" i="0">
                <a:solidFill>
                  <a:srgbClr val="1C252B"/>
                </a:solidFill>
                <a:latin typeface="Segoe UI"/>
              </a:rPr>
              <a:t> Reports success, changes nothing.</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No </a:t>
            </a:r>
            <a:r>
              <a:rPr sz="1900" b="1" i="0">
                <a:solidFill>
                  <a:srgbClr val="1A5276"/>
                </a:solidFill>
                <a:latin typeface="Consolas"/>
              </a:rPr>
              <a:t>save_when</a:t>
            </a:r>
            <a:r>
              <a:rPr sz="2000" b="1" i="0">
                <a:solidFill>
                  <a:srgbClr val="1C252B"/>
                </a:solidFill>
                <a:latin typeface="Segoe UI"/>
              </a:rPr>
              <a:t>.</a:t>
            </a:r>
            <a:r>
              <a:rPr sz="2000" b="0" i="0">
                <a:solidFill>
                  <a:srgbClr val="1C252B"/>
                </a:solidFill>
                <a:latin typeface="Segoe UI"/>
              </a:rPr>
              <a:t> The change works until the device reloads.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Wrong </a:t>
            </a:r>
            <a:r>
              <a:rPr sz="1900" b="1" i="0">
                <a:solidFill>
                  <a:srgbClr val="1A5276"/>
                </a:solidFill>
                <a:latin typeface="Consolas"/>
              </a:rPr>
              <a:t>parents</a:t>
            </a:r>
            <a:r>
              <a:rPr sz="2000" b="1" i="0">
                <a:solidFill>
                  <a:srgbClr val="1C252B"/>
                </a:solidFill>
                <a:latin typeface="Segoe UI"/>
              </a:rPr>
              <a:t>.</a:t>
            </a:r>
            <a:r>
              <a:rPr sz="2000" b="0" i="0">
                <a:solidFill>
                  <a:srgbClr val="1C252B"/>
                </a:solidFill>
                <a:latin typeface="Segoe UI"/>
              </a:rPr>
              <a:t> Lines are applied in global configuration mode instead of under the interface, which either errors or does something you did not intend.</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Skipping </a:t>
            </a:r>
            <a:r>
              <a:rPr sz="1900" b="1" i="0">
                <a:solidFill>
                  <a:srgbClr val="1A5276"/>
                </a:solidFill>
                <a:latin typeface="Consolas"/>
              </a:rPr>
              <a:t>–check</a:t>
            </a:r>
            <a:r>
              <a:rPr sz="2000" b="1" i="0">
                <a:solidFill>
                  <a:srgbClr val="1C252B"/>
                </a:solidFill>
                <a:latin typeface="Segoe UI"/>
              </a:rPr>
              <a:t>.</a:t>
            </a:r>
            <a:r>
              <a:rPr sz="2000" b="0" i="0">
                <a:solidFill>
                  <a:srgbClr val="1C252B"/>
                </a:solidFill>
                <a:latin typeface="Segoe UI"/>
              </a:rPr>
              <a:t> There is no undo across forty devices.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Check before you commit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ullets"/>
          <p:cNvSpPr txBox="1"/>
          <p:nvPr/>
        </p:nvSpPr>
        <p:spPr>
          <a:xfrm>
            <a:off x="685800" y="2836164"/>
            <a:ext cx="10820095" cy="35463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Credentials in the inventory file.</a:t>
            </a:r>
            <a:r>
              <a:rPr sz="2000" b="0" i="0">
                <a:solidFill>
                  <a:srgbClr val="1C252B"/>
                </a:solidFill>
                <a:latin typeface="Segoe UI"/>
              </a:rPr>
              <a:t> Use vault or SSH keys.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Running against </a:t>
            </a:r>
            <a:r>
              <a:rPr sz="1900" b="1" i="0">
                <a:solidFill>
                  <a:srgbClr val="1A5276"/>
                </a:solidFill>
                <a:latin typeface="Consolas"/>
              </a:rPr>
              <a:t>all</a:t>
            </a:r>
            <a:r>
              <a:rPr sz="2000" b="1" i="0">
                <a:solidFill>
                  <a:srgbClr val="1C252B"/>
                </a:solidFill>
                <a:latin typeface="Segoe UI"/>
              </a:rPr>
              <a:t> when you meant one group.</a:t>
            </a:r>
            <a:r>
              <a:rPr sz="2000" b="0" i="0">
                <a:solidFill>
                  <a:srgbClr val="1C252B"/>
                </a:solidFill>
                <a:latin typeface="Segoe UI"/>
              </a:rPr>
              <a:t> Check the </a:t>
            </a:r>
            <a:r>
              <a:rPr sz="1900" b="0" i="0">
                <a:solidFill>
                  <a:srgbClr val="1A5276"/>
                </a:solidFill>
                <a:latin typeface="Consolas"/>
              </a:rPr>
              <a:t>hosts:</a:t>
            </a:r>
            <a:r>
              <a:rPr sz="2000" b="0" i="0">
                <a:solidFill>
                  <a:srgbClr val="1C252B"/>
                </a:solidFill>
                <a:latin typeface="Segoe UI"/>
              </a:rPr>
              <a:t> line before every run. It is the single most expensive typo available to you.</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The playbook reports success on all forty switches. After a power cut, eleven have lost the change.</a:t>
            </a:r>
          </a:p>
        </p:txBody>
      </p:sp>
      <p:sp>
        <p:nvSpPr>
          <p:cNvPr id="6" name="bfbody"/>
          <p:cNvSpPr txBox="1"/>
          <p:nvPr/>
        </p:nvSpPr>
        <p:spPr>
          <a:xfrm>
            <a:off x="685800" y="2928111"/>
            <a:ext cx="10820095" cy="342696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 new VLAN was added across the access layer with a playbook. Every device reported </a:t>
            </a:r>
            <a:r>
              <a:rPr sz="1800" b="0" i="0">
                <a:solidFill>
                  <a:srgbClr val="1A5276"/>
                </a:solidFill>
                <a:latin typeface="Consolas"/>
              </a:rPr>
              <a:t>changed</a:t>
            </a:r>
            <a:r>
              <a:rPr sz="1900" b="0" i="0">
                <a:solidFill>
                  <a:srgbClr val="1C252B"/>
                </a:solidFill>
                <a:latin typeface="Segoe UI"/>
              </a:rPr>
              <a:t>, spot checks confirmed the VLAN existed, and the change was signed off. Three weeks later a power event reboots part of the estate, and eleven switches come back without VLAN 40. The twenty-nine that did not lose power still have it.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The playbook reports success on all forty switches. After a power cut, eleven have lost the change.</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300" b="1" i="0">
                <a:solidFill>
                  <a:srgbClr val="1C252B"/>
                </a:solidFill>
                <a:latin typeface="Segoe UI"/>
              </a:rPr>
              <a:t>show archive config differences nvram:startup-config system:running-config</a:t>
            </a:r>
          </a:p>
        </p:txBody>
      </p:sp>
      <p:sp>
        <p:nvSpPr>
          <p:cNvPr id="6" name="bfcodebg"/>
          <p:cNvSpPr/>
          <p:nvPr/>
        </p:nvSpPr>
        <p:spPr>
          <a:xfrm>
            <a:off x="685800" y="2011680"/>
            <a:ext cx="10820095" cy="131216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83667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!Contextual Config Diffs:</a:t>
            </a:r>
          </a:p>
          <a:p>
            <a:pPr>
              <a:lnSpc>
                <a:spcPct val="100000"/>
              </a:lnSpc>
              <a:spcAft>
                <a:spcPts val="0"/>
              </a:spcAft>
            </a:pPr>
            <a:r>
              <a:rPr sz="1500">
                <a:solidFill>
                  <a:srgbClr val="E8EEF2"/>
                </a:solidFill>
                <a:latin typeface="Consolas"/>
              </a:rPr>
              <a:t>+vlan 40</a:t>
            </a:r>
          </a:p>
          <a:p>
            <a:pPr>
              <a:lnSpc>
                <a:spcPct val="100000"/>
              </a:lnSpc>
              <a:spcAft>
                <a:spcPts val="0"/>
              </a:spcAft>
            </a:pPr>
            <a:r>
              <a:rPr sz="1500">
                <a:solidFill>
                  <a:srgbClr val="E8EEF2"/>
                </a:solidFill>
                <a:latin typeface="Consolas"/>
              </a:rPr>
              <a:t>+ name GUEST</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410342"/>
            <a:ext cx="10820095" cy="3944737"/>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There is no </a:t>
            </a:r>
            <a:r>
              <a:rPr sz="1800" b="0" i="0">
                <a:solidFill>
                  <a:srgbClr val="1A5276"/>
                </a:solidFill>
                <a:latin typeface="Consolas"/>
              </a:rPr>
              <a:t>save_when</a:t>
            </a:r>
            <a:r>
              <a:rPr sz="1900" b="0" i="0">
                <a:solidFill>
                  <a:srgbClr val="1C252B"/>
                </a:solidFill>
                <a:latin typeface="Segoe UI"/>
              </a:rPr>
              <a:t> task. </a:t>
            </a:r>
            <a:r>
              <a:rPr sz="1800" b="0" i="0">
                <a:solidFill>
                  <a:srgbClr val="1A5276"/>
                </a:solidFill>
                <a:latin typeface="Consolas"/>
              </a:rPr>
              <a:t>ios_config</a:t>
            </a:r>
            <a:r>
              <a:rPr sz="1900" b="0" i="0">
                <a:solidFill>
                  <a:srgbClr val="1C252B"/>
                </a:solidFill>
                <a:latin typeface="Segoe UI"/>
              </a:rPr>
              <a:t> writes to the </a:t>
            </a:r>
            <a:r>
              <a:rPr sz="1900" b="0" i="1">
                <a:solidFill>
                  <a:srgbClr val="1C252B"/>
                </a:solidFill>
                <a:latin typeface="Segoe UI"/>
              </a:rPr>
              <a:t>running</a:t>
            </a:r>
            <a:r>
              <a:rPr sz="1900" b="0" i="0">
                <a:solidFill>
                  <a:srgbClr val="1C252B"/>
                </a:solidFill>
                <a:latin typeface="Segoe UI"/>
              </a:rPr>
              <a:t> configuration, exactly as typing the commands would — and like typing them, it does not save. Every switch was correctly configured and none of them wrote that configuration to </a:t>
            </a:r>
            <a:r>
              <a:rPr sz="1800" b="0" i="0">
                <a:solidFill>
                  <a:srgbClr val="1A5276"/>
                </a:solidFill>
                <a:latin typeface="Consolas"/>
              </a:rPr>
              <a:t>startup-config</a:t>
            </a:r>
            <a:r>
              <a:rPr sz="1900" b="0" i="0">
                <a:solidFill>
                  <a:srgbClr val="1C252B"/>
                </a:solidFill>
                <a:latin typeface="Segoe UI"/>
              </a:rPr>
              <a:t>.</a:t>
            </a:r>
          </a:p>
          <a:p>
            <a:pPr algn="l">
              <a:lnSpc>
                <a:spcPct val="100000"/>
              </a:lnSpc>
              <a:spcAft>
                <a:spcPts val="1000"/>
              </a:spcAft>
            </a:pPr>
            <a:r>
              <a:rPr sz="1900" b="0" i="0">
                <a:solidFill>
                  <a:srgbClr val="1C252B"/>
                </a:solidFill>
                <a:latin typeface="Segoe UI"/>
              </a:rPr>
              <a:t>The evidence pattern confirms it precisely: the split is not between devices that the playbook succeeded on and devices it failed on. It is between devices that </a:t>
            </a:r>
            <a:r>
              <a:rPr sz="1900" b="1" i="0">
                <a:solidFill>
                  <a:srgbClr val="1C252B"/>
                </a:solidFill>
                <a:latin typeface="Segoe UI"/>
              </a:rPr>
              <a:t>rebooted</a:t>
            </a:r>
            <a:r>
              <a:rPr sz="1900" b="0" i="0">
                <a:solidFill>
                  <a:srgbClr val="1C252B"/>
                </a:solidFill>
                <a:latin typeface="Segoe UI"/>
              </a:rPr>
              <a:t> and devices that did not. Twenty-nine switches still have the VLAN because they have been up the whole time and are still running the configuration Ansible applied. The eleven that power-cycled reloaded </a:t>
            </a:r>
            <a:r>
              <a:rPr sz="1800" b="0" i="0">
                <a:solidFill>
                  <a:srgbClr val="1A5276"/>
                </a:solidFill>
                <a:latin typeface="Consolas"/>
              </a:rPr>
              <a:t>startup-config</a:t>
            </a:r>
            <a:r>
              <a:rPr sz="1900" b="0" i="0">
                <a:solidFill>
                  <a:srgbClr val="1C252B"/>
                </a:solidFill>
                <a:latin typeface="Segoe UI"/>
              </a:rPr>
              <a:t>, which never contained it.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3169412"/>
            <a:ext cx="10820095" cy="318566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Any fault that correlates with reboots rather than with the change itself points at the running-versus-startup distinction.</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Vlan.yml — as it was run</a:t>
            </a:r>
          </a:p>
        </p:txBody>
      </p:sp>
      <p:sp>
        <p:nvSpPr>
          <p:cNvPr id="6" name="bfcodebg"/>
          <p:cNvSpPr/>
          <p:nvPr/>
        </p:nvSpPr>
        <p:spPr>
          <a:xfrm>
            <a:off x="685800" y="2011680"/>
            <a:ext cx="10820095" cy="320192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Ansible  ·  YAML</a:t>
            </a:r>
          </a:p>
        </p:txBody>
      </p:sp>
      <p:sp>
        <p:nvSpPr>
          <p:cNvPr id="9" name="bfcode"/>
          <p:cNvSpPr txBox="1"/>
          <p:nvPr/>
        </p:nvSpPr>
        <p:spPr>
          <a:xfrm>
            <a:off x="886968" y="2432304"/>
            <a:ext cx="10417759" cy="272643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a:t>
            </a:r>
          </a:p>
          <a:p>
            <a:pPr>
              <a:lnSpc>
                <a:spcPct val="100000"/>
              </a:lnSpc>
              <a:spcAft>
                <a:spcPts val="0"/>
              </a:spcAft>
            </a:pPr>
            <a:r>
              <a:rPr sz="1500">
                <a:solidFill>
                  <a:srgbClr val="E8EEF2"/>
                </a:solidFill>
                <a:latin typeface="Consolas"/>
              </a:rPr>
              <a:t>- name: Add the guest VLAN everywhere</a:t>
            </a:r>
          </a:p>
          <a:p>
            <a:pPr>
              <a:lnSpc>
                <a:spcPct val="100000"/>
              </a:lnSpc>
              <a:spcAft>
                <a:spcPts val="0"/>
              </a:spcAft>
            </a:pPr>
            <a:r>
              <a:rPr sz="1500">
                <a:solidFill>
                  <a:srgbClr val="E8EEF2"/>
                </a:solidFill>
                <a:latin typeface="Consolas"/>
              </a:rPr>
              <a:t>  hosts: access_switches</a:t>
            </a:r>
          </a:p>
          <a:p>
            <a:pPr>
              <a:lnSpc>
                <a:spcPct val="100000"/>
              </a:lnSpc>
              <a:spcAft>
                <a:spcPts val="0"/>
              </a:spcAft>
            </a:pPr>
            <a:r>
              <a:rPr sz="1500">
                <a:solidFill>
                  <a:srgbClr val="E8EEF2"/>
                </a:solidFill>
                <a:latin typeface="Consolas"/>
              </a:rPr>
              <a:t>  gather_facts: false</a:t>
            </a:r>
          </a:p>
          <a:p>
            <a:pPr>
              <a:lnSpc>
                <a:spcPct val="100000"/>
              </a:lnSpc>
              <a:spcAft>
                <a:spcPts val="0"/>
              </a:spcAft>
            </a:pPr>
            <a:r>
              <a:rPr sz="1500">
                <a:solidFill>
                  <a:srgbClr val="E8EEF2"/>
                </a:solidFill>
                <a:latin typeface="Consolas"/>
              </a:rPr>
              <a:t> </a:t>
            </a:r>
          </a:p>
          <a:p>
            <a:pPr>
              <a:lnSpc>
                <a:spcPct val="100000"/>
              </a:lnSpc>
              <a:spcAft>
                <a:spcPts val="0"/>
              </a:spcAft>
            </a:pPr>
            <a:r>
              <a:rPr sz="1500">
                <a:solidFill>
                  <a:srgbClr val="E8EEF2"/>
                </a:solidFill>
                <a:latin typeface="Consolas"/>
              </a:rPr>
              <a:t>  tasks:</a:t>
            </a:r>
          </a:p>
          <a:p>
            <a:pPr>
              <a:lnSpc>
                <a:spcPct val="100000"/>
              </a:lnSpc>
              <a:spcAft>
                <a:spcPts val="0"/>
              </a:spcAft>
            </a:pPr>
            <a:r>
              <a:rPr sz="1500">
                <a:solidFill>
                  <a:srgbClr val="E8EEF2"/>
                </a:solidFill>
                <a:latin typeface="Consolas"/>
              </a:rPr>
              <a:t>    - name: Create VLAN 40</a:t>
            </a:r>
          </a:p>
          <a:p>
            <a:pPr>
              <a:lnSpc>
                <a:spcPct val="100000"/>
              </a:lnSpc>
              <a:spcAft>
                <a:spcPts val="0"/>
              </a:spcAft>
            </a:pPr>
            <a:r>
              <a:rPr sz="1500">
                <a:solidFill>
                  <a:srgbClr val="E8EEF2"/>
                </a:solidFill>
                <a:latin typeface="Consolas"/>
              </a:rPr>
              <a:t>      cisco.ios.ios_config:</a:t>
            </a:r>
          </a:p>
          <a:p>
            <a:pPr>
              <a:lnSpc>
                <a:spcPct val="100000"/>
              </a:lnSpc>
              <a:spcAft>
                <a:spcPts val="0"/>
              </a:spcAft>
            </a:pPr>
            <a:r>
              <a:rPr sz="1500">
                <a:solidFill>
                  <a:srgbClr val="E8EEF2"/>
                </a:solidFill>
                <a:latin typeface="Consolas"/>
              </a:rPr>
              <a:t>        lines:</a:t>
            </a:r>
          </a:p>
          <a:p>
            <a:pPr>
              <a:lnSpc>
                <a:spcPct val="100000"/>
              </a:lnSpc>
              <a:spcAft>
                <a:spcPts val="0"/>
              </a:spcAft>
            </a:pPr>
            <a:r>
              <a:rPr sz="1500">
                <a:solidFill>
                  <a:srgbClr val="E8EEF2"/>
                </a:solidFill>
                <a:latin typeface="Consolas"/>
              </a:rPr>
              <a:t>          - name GUEST</a:t>
            </a:r>
          </a:p>
          <a:p>
            <a:pPr>
              <a:lnSpc>
                <a:spcPct val="100000"/>
              </a:lnSpc>
              <a:spcAft>
                <a:spcPts val="0"/>
              </a:spcAft>
            </a:pPr>
            <a:r>
              <a:rPr sz="1500">
                <a:solidFill>
                  <a:srgbClr val="E8EEF2"/>
                </a:solidFill>
                <a:latin typeface="Consolas"/>
              </a:rPr>
              <a:t>        parents: vlan 40</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Vlan.yml — corrected</a:t>
            </a:r>
          </a:p>
        </p:txBody>
      </p:sp>
      <p:sp>
        <p:nvSpPr>
          <p:cNvPr id="6" name="bfcodebg"/>
          <p:cNvSpPr/>
          <p:nvPr/>
        </p:nvSpPr>
        <p:spPr>
          <a:xfrm>
            <a:off x="685800" y="2011680"/>
            <a:ext cx="10820095" cy="131216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Ansible  ·  YAML</a:t>
            </a:r>
          </a:p>
        </p:txBody>
      </p:sp>
      <p:sp>
        <p:nvSpPr>
          <p:cNvPr id="9" name="bfcode"/>
          <p:cNvSpPr txBox="1"/>
          <p:nvPr/>
        </p:nvSpPr>
        <p:spPr>
          <a:xfrm>
            <a:off x="886968" y="2432304"/>
            <a:ext cx="10417759" cy="83667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    - name: Save the configuration</a:t>
            </a:r>
          </a:p>
          <a:p>
            <a:pPr>
              <a:lnSpc>
                <a:spcPct val="100000"/>
              </a:lnSpc>
              <a:spcAft>
                <a:spcPts val="0"/>
              </a:spcAft>
            </a:pPr>
            <a:r>
              <a:rPr sz="1500">
                <a:solidFill>
                  <a:srgbClr val="E8EEF2"/>
                </a:solidFill>
                <a:latin typeface="Consolas"/>
              </a:rPr>
              <a:t>      cisco.ios.ios_config:</a:t>
            </a:r>
          </a:p>
          <a:p>
            <a:pPr>
              <a:lnSpc>
                <a:spcPct val="100000"/>
              </a:lnSpc>
              <a:spcAft>
                <a:spcPts val="0"/>
              </a:spcAft>
            </a:pPr>
            <a:r>
              <a:rPr sz="1500">
                <a:solidFill>
                  <a:srgbClr val="E8EEF2"/>
                </a:solidFill>
                <a:latin typeface="Consolas"/>
              </a:rPr>
              <a:t>        save_when: modified</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1627632"/>
            <a:ext cx="10820095" cy="472744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Add the save task and re-run.</a:t>
            </a:r>
          </a:p>
          <a:p>
            <a:pPr algn="l">
              <a:lnSpc>
                <a:spcPct val="100000"/>
              </a:lnSpc>
              <a:spcAft>
                <a:spcPts val="1000"/>
              </a:spcAft>
            </a:pPr>
            <a:r>
              <a:rPr sz="1800" b="0" i="0">
                <a:solidFill>
                  <a:srgbClr val="1A5276"/>
                </a:solidFill>
                <a:latin typeface="Consolas"/>
              </a:rPr>
              <a:t>save_when: modified</a:t>
            </a:r>
            <a:r>
              <a:rPr sz="1900" b="0" i="0">
                <a:solidFill>
                  <a:srgbClr val="1C252B"/>
                </a:solidFill>
                <a:latin typeface="Segoe UI"/>
              </a:rPr>
              <a:t> writes only when the run actually changed something, so re-running against the twenty-nine devices that are already correct costs nothing. The eleven get the VLAN and a save.</a:t>
            </a:r>
          </a:p>
          <a:p>
            <a:pPr algn="l">
              <a:lnSpc>
                <a:spcPct val="100000"/>
              </a:lnSpc>
              <a:spcAft>
                <a:spcPts val="1000"/>
              </a:spcAft>
            </a:pPr>
            <a:r>
              <a:rPr sz="1900" b="1" i="0">
                <a:solidFill>
                  <a:srgbClr val="1C252B"/>
                </a:solidFill>
                <a:latin typeface="Segoe UI"/>
              </a:rPr>
              <a:t>The verification lesson.</a:t>
            </a:r>
            <a:r>
              <a:rPr sz="1900" b="0" i="0">
                <a:solidFill>
                  <a:srgbClr val="1C252B"/>
                </a:solidFill>
                <a:latin typeface="Segoe UI"/>
              </a:rPr>
              <a:t> The spot check confirmed the VLAN existed — in the running configuration. It should have compared running against startup:</a:t>
            </a:r>
          </a:p>
          <a:p>
            <a:pPr algn="l">
              <a:lnSpc>
                <a:spcPct val="100000"/>
              </a:lnSpc>
              <a:spcAft>
                <a:spcPts val="1000"/>
              </a:spcAft>
            </a:pPr>
            <a:r>
              <a:rPr sz="1900" b="0" i="0">
                <a:solidFill>
                  <a:srgbClr val="1C252B"/>
                </a:solidFill>
                <a:latin typeface="Segoe UI"/>
              </a:rPr>
              <a:t>Any output at all from that command means unsaved changes are present. Making it the last step of every change — by hand or as a final Ansible task — closes this class of fault permanently.</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A LINUX CONTROL NODE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100" b="1" i="0">
                <a:solidFill>
                  <a:srgbClr val="1A5276"/>
                </a:solidFill>
                <a:latin typeface="Segoe UI"/>
              </a:rPr>
              <a:t>Automating a change you would otherwise do forty times</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800" b="1" i="0">
                <a:solidFill>
                  <a:srgbClr val="1C252B"/>
                </a:solidFill>
                <a:latin typeface="Segoe UI"/>
              </a:rPr>
              <a:t>Platform note.</a:t>
            </a:r>
            <a:r>
              <a:rPr sz="1800" b="0" i="0">
                <a:solidFill>
                  <a:srgbClr val="1C252B"/>
                </a:solidFill>
                <a:latin typeface="Segoe UI"/>
              </a:rPr>
              <a:t> Ansible needs real SSH and a real Python environment on the control node. Packet Tracer cannot do this. Use CML or GNS3 with three or more IOS devices and a Linux VM, or install Ansible on your own machine and point it at the lab.</a:t>
            </a:r>
          </a:p>
        </p:txBody>
      </p:sp>
      <p:sp>
        <p:nvSpPr>
          <p:cNvPr id="8" name="bullets"/>
          <p:cNvSpPr txBox="1"/>
          <p:nvPr/>
        </p:nvSpPr>
        <p:spPr>
          <a:xfrm>
            <a:off x="685800" y="2592324"/>
            <a:ext cx="10820095" cy="3790188"/>
          </a:xfrm>
          <a:prstGeom prst="rect">
            <a:avLst/>
          </a:prstGeom>
          <a:noFill/>
        </p:spPr>
        <p:txBody>
          <a:bodyPr wrap="square" lIns="0" rIns="0" tIns="0" bIns="0">
            <a:spAutoFit/>
          </a:bodyPr>
          <a:lstStyle/>
          <a:p>
            <a:pPr marL="347472" indent="-347472">
              <a:lnSpc>
                <a:spcPct val="102000"/>
              </a:lnSpc>
              <a:spcAft>
                <a:spcPts val="900"/>
              </a:spcAft>
            </a:pPr>
            <a:r>
              <a:rPr sz="1800" b="1">
                <a:solidFill>
                  <a:srgbClr val="B7950B"/>
                </a:solidFill>
                <a:latin typeface="Segoe UI"/>
              </a:rPr>
              <a:t>1.  </a:t>
            </a:r>
            <a:r>
              <a:rPr sz="1800" b="0" i="0">
                <a:solidFill>
                  <a:srgbClr val="1C252B"/>
                </a:solidFill>
                <a:latin typeface="Segoe UI"/>
              </a:rPr>
              <a:t>Install Ansible and the </a:t>
            </a:r>
            <a:r>
              <a:rPr sz="1700" b="0" i="0">
                <a:solidFill>
                  <a:srgbClr val="1A5276"/>
                </a:solidFill>
                <a:latin typeface="Consolas"/>
              </a:rPr>
              <a:t>cisco.ios</a:t>
            </a:r>
            <a:r>
              <a:rPr sz="1800" b="0" i="0">
                <a:solidFill>
                  <a:srgbClr val="1C252B"/>
                </a:solidFill>
                <a:latin typeface="Segoe UI"/>
              </a:rPr>
              <a:t> collection on the control node. Record the versions of both.</a:t>
            </a:r>
          </a:p>
          <a:p>
            <a:pPr marL="347472" indent="-347472">
              <a:lnSpc>
                <a:spcPct val="102000"/>
              </a:lnSpc>
              <a:spcAft>
                <a:spcPts val="900"/>
              </a:spcAft>
            </a:pPr>
            <a:r>
              <a:rPr sz="1800" b="1">
                <a:solidFill>
                  <a:srgbClr val="B7950B"/>
                </a:solidFill>
                <a:latin typeface="Segoe UI"/>
              </a:rPr>
              <a:t>2.  </a:t>
            </a:r>
            <a:r>
              <a:rPr sz="1800" b="0" i="0">
                <a:solidFill>
                  <a:srgbClr val="1C252B"/>
                </a:solidFill>
                <a:latin typeface="Segoe UI"/>
              </a:rPr>
              <a:t>Configure SSH and a local user on three devices as in Chapter 23. Confirm you can log in by hand before involving Ansible at all — if this does not work, nothing after it will.</a:t>
            </a:r>
          </a:p>
          <a:p>
            <a:pPr marL="347472" indent="-347472">
              <a:lnSpc>
                <a:spcPct val="102000"/>
              </a:lnSpc>
              <a:spcAft>
                <a:spcPts val="900"/>
              </a:spcAft>
            </a:pPr>
            <a:r>
              <a:rPr sz="1800" b="1">
                <a:solidFill>
                  <a:srgbClr val="B7950B"/>
                </a:solidFill>
                <a:latin typeface="Segoe UI"/>
              </a:rPr>
              <a:t>3.  </a:t>
            </a:r>
            <a:r>
              <a:rPr sz="1800" b="0" i="0">
                <a:solidFill>
                  <a:srgbClr val="1C252B"/>
                </a:solidFill>
                <a:latin typeface="Segoe UI"/>
              </a:rPr>
              <a:t>Write </a:t>
            </a:r>
            <a:r>
              <a:rPr sz="1700" b="0" i="0">
                <a:solidFill>
                  <a:srgbClr val="1A5276"/>
                </a:solidFill>
                <a:latin typeface="Consolas"/>
              </a:rPr>
              <a:t>inventory.yml</a:t>
            </a:r>
            <a:r>
              <a:rPr sz="1800" b="0" i="0">
                <a:solidFill>
                  <a:srgbClr val="1C252B"/>
                </a:solidFill>
                <a:latin typeface="Segoe UI"/>
              </a:rPr>
              <a:t> with two groups. Verify with </a:t>
            </a:r>
            <a:r>
              <a:rPr sz="1700" b="0" i="0">
                <a:solidFill>
                  <a:srgbClr val="1A5276"/>
                </a:solidFill>
                <a:latin typeface="Consolas"/>
              </a:rPr>
              <a:t>ansible-inventory –list</a:t>
            </a:r>
            <a:r>
              <a:rPr sz="1800" b="0" i="0">
                <a:solidFill>
                  <a:srgbClr val="1C252B"/>
                </a:solidFill>
                <a:latin typeface="Segoe UI"/>
              </a:rPr>
              <a:t>.</a:t>
            </a:r>
          </a:p>
          <a:p>
            <a:pPr marL="347472" indent="-347472">
              <a:lnSpc>
                <a:spcPct val="102000"/>
              </a:lnSpc>
              <a:spcAft>
                <a:spcPts val="900"/>
              </a:spcAft>
            </a:pPr>
            <a:r>
              <a:rPr sz="1800" b="1">
                <a:solidFill>
                  <a:srgbClr val="B7950B"/>
                </a:solidFill>
                <a:latin typeface="Segoe UI"/>
              </a:rPr>
              <a:t>4.  </a:t>
            </a:r>
            <a:r>
              <a:rPr sz="1800" b="0" i="0">
                <a:solidFill>
                  <a:srgbClr val="1C252B"/>
                </a:solidFill>
                <a:latin typeface="Segoe UI"/>
              </a:rPr>
              <a:t>Run an ad-hoc </a:t>
            </a:r>
            <a:r>
              <a:rPr sz="1700" b="0" i="0">
                <a:solidFill>
                  <a:srgbClr val="1A5276"/>
                </a:solidFill>
                <a:latin typeface="Consolas"/>
              </a:rPr>
              <a:t>ios_command</a:t>
            </a:r>
            <a:r>
              <a:rPr sz="1800" b="0" i="0">
                <a:solidFill>
                  <a:srgbClr val="1C252B"/>
                </a:solidFill>
                <a:latin typeface="Segoe UI"/>
              </a:rPr>
              <a:t> for </a:t>
            </a:r>
            <a:r>
              <a:rPr sz="1700" b="0" i="0">
                <a:solidFill>
                  <a:srgbClr val="1A5276"/>
                </a:solidFill>
                <a:latin typeface="Consolas"/>
              </a:rPr>
              <a:t>show version</a:t>
            </a:r>
            <a:r>
              <a:rPr sz="1800" b="0" i="0">
                <a:solidFill>
                  <a:srgbClr val="1C252B"/>
                </a:solidFill>
                <a:latin typeface="Segoe UI"/>
              </a:rPr>
              <a:t> against one group. Then deliberately remove </a:t>
            </a:r>
            <a:r>
              <a:rPr sz="1700" b="0" i="0">
                <a:solidFill>
                  <a:srgbClr val="1A5276"/>
                </a:solidFill>
                <a:latin typeface="Consolas"/>
              </a:rPr>
              <a:t>ansible_connection</a:t>
            </a:r>
            <a:r>
              <a:rPr sz="1800" b="0" i="0">
                <a:solidFill>
                  <a:srgbClr val="1C252B"/>
                </a:solidFill>
                <a:latin typeface="Segoe UI"/>
              </a:rPr>
              <a:t> and run it again. Record the error and explain why it does not mention the real cause.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A LINUX CONTROL NODE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500" b="1" i="0">
                <a:solidFill>
                  <a:srgbClr val="1A5276"/>
                </a:solidFill>
                <a:latin typeface="Segoe UI"/>
              </a:rPr>
              <a:t>Automating a change you would otherwise do forty times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B7950B"/>
                </a:solidFill>
                <a:latin typeface="Segoe UI"/>
              </a:rPr>
              <a:t>1.  </a:t>
            </a:r>
            <a:r>
              <a:rPr sz="2000" b="0" i="0">
                <a:solidFill>
                  <a:srgbClr val="1C252B"/>
                </a:solidFill>
                <a:latin typeface="Segoe UI"/>
              </a:rPr>
              <a:t>Store the password with </a:t>
            </a:r>
            <a:r>
              <a:rPr sz="1900" b="0" i="0">
                <a:solidFill>
                  <a:srgbClr val="1A5276"/>
                </a:solidFill>
                <a:latin typeface="Consolas"/>
              </a:rPr>
              <a:t>ansible-vault</a:t>
            </a:r>
            <a:r>
              <a:rPr sz="2000" b="0" i="0">
                <a:solidFill>
                  <a:srgbClr val="1C252B"/>
                </a:solidFill>
                <a:latin typeface="Segoe UI"/>
              </a:rPr>
              <a:t> and run using </a:t>
            </a:r>
            <a:r>
              <a:rPr sz="1900" b="0" i="0">
                <a:solidFill>
                  <a:srgbClr val="1A5276"/>
                </a:solidFill>
                <a:latin typeface="Consolas"/>
              </a:rPr>
              <a:t>–ask-vault-pass</a:t>
            </a:r>
            <a:r>
              <a:rPr sz="2000" b="0" i="0">
                <a:solidFill>
                  <a:srgbClr val="1C252B"/>
                </a:solidFill>
                <a:latin typeface="Segoe UI"/>
              </a:rPr>
              <a:t>. Confirm the file is unreadable without the key.</a:t>
            </a:r>
          </a:p>
          <a:p>
            <a:pPr marL="386080" indent="-386080">
              <a:lnSpc>
                <a:spcPct val="102000"/>
              </a:lnSpc>
              <a:spcAft>
                <a:spcPts val="900"/>
              </a:spcAft>
            </a:pPr>
            <a:r>
              <a:rPr sz="2000" b="1">
                <a:solidFill>
                  <a:srgbClr val="B7950B"/>
                </a:solidFill>
                <a:latin typeface="Segoe UI"/>
              </a:rPr>
              <a:t>2.  </a:t>
            </a:r>
            <a:r>
              <a:rPr sz="2000" b="0" i="0">
                <a:solidFill>
                  <a:srgbClr val="1C252B"/>
                </a:solidFill>
                <a:latin typeface="Segoe UI"/>
              </a:rPr>
              <a:t>Write </a:t>
            </a:r>
            <a:r>
              <a:rPr sz="1900" b="0" i="0">
                <a:solidFill>
                  <a:srgbClr val="1A5276"/>
                </a:solidFill>
                <a:latin typeface="Consolas"/>
              </a:rPr>
              <a:t>audit.yml</a:t>
            </a:r>
            <a:r>
              <a:rPr sz="2000" b="0" i="0">
                <a:solidFill>
                  <a:srgbClr val="1C252B"/>
                </a:solidFill>
                <a:latin typeface="Segoe UI"/>
              </a:rPr>
              <a:t> to gather facts and write a per-device report file on the control node. Confirm every task reports </a:t>
            </a:r>
            <a:r>
              <a:rPr sz="1900" b="0" i="0">
                <a:solidFill>
                  <a:srgbClr val="1A5276"/>
                </a:solidFill>
                <a:latin typeface="Consolas"/>
              </a:rPr>
              <a:t>changed: false</a:t>
            </a:r>
            <a:r>
              <a:rPr sz="2000" b="0" i="0">
                <a:solidFill>
                  <a:srgbClr val="1C252B"/>
                </a:solidFill>
                <a:latin typeface="Segoe UI"/>
              </a:rPr>
              <a:t> and explain why.</a:t>
            </a:r>
          </a:p>
          <a:p>
            <a:pPr marL="386080" indent="-386080">
              <a:lnSpc>
                <a:spcPct val="102000"/>
              </a:lnSpc>
              <a:spcAft>
                <a:spcPts val="900"/>
              </a:spcAft>
            </a:pPr>
            <a:r>
              <a:rPr sz="2000" b="1">
                <a:solidFill>
                  <a:srgbClr val="B7950B"/>
                </a:solidFill>
                <a:latin typeface="Segoe UI"/>
              </a:rPr>
              <a:t>3.  </a:t>
            </a:r>
            <a:r>
              <a:rPr sz="2000" b="0" i="0">
                <a:solidFill>
                  <a:srgbClr val="1C252B"/>
                </a:solidFill>
                <a:latin typeface="Segoe UI"/>
              </a:rPr>
              <a:t>Write </a:t>
            </a:r>
            <a:r>
              <a:rPr sz="1900" b="0" i="0">
                <a:solidFill>
                  <a:srgbClr val="1A5276"/>
                </a:solidFill>
                <a:latin typeface="Consolas"/>
              </a:rPr>
              <a:t>vlan.yml</a:t>
            </a:r>
            <a:r>
              <a:rPr sz="2000" b="0" i="0">
                <a:solidFill>
                  <a:srgbClr val="1C252B"/>
                </a:solidFill>
                <a:latin typeface="Segoe UI"/>
              </a:rPr>
              <a:t> to add a VLAN and allow it on a trunk. Run with </a:t>
            </a:r>
            <a:r>
              <a:rPr sz="1900" b="0" i="0">
                <a:solidFill>
                  <a:srgbClr val="1A5276"/>
                </a:solidFill>
                <a:latin typeface="Consolas"/>
              </a:rPr>
              <a:t>–check –diff</a:t>
            </a:r>
            <a:r>
              <a:rPr sz="2000" b="0" i="0">
                <a:solidFill>
                  <a:srgbClr val="1C252B"/>
                </a:solidFill>
                <a:latin typeface="Segoe UI"/>
              </a:rPr>
              <a:t> first. Record the diff, then run for real.</a:t>
            </a:r>
          </a:p>
          <a:p>
            <a:pPr marL="386080" indent="-386080">
              <a:lnSpc>
                <a:spcPct val="102000"/>
              </a:lnSpc>
              <a:spcAft>
                <a:spcPts val="900"/>
              </a:spcAft>
            </a:pPr>
            <a:r>
              <a:rPr sz="2000" b="1">
                <a:solidFill>
                  <a:srgbClr val="B7950B"/>
                </a:solidFill>
                <a:latin typeface="Segoe UI"/>
              </a:rPr>
              <a:t>4.  </a:t>
            </a:r>
            <a:r>
              <a:rPr sz="2000" b="0" i="0">
                <a:solidFill>
                  <a:srgbClr val="1C252B"/>
                </a:solidFill>
                <a:latin typeface="Segoe UI"/>
              </a:rPr>
              <a:t>Run it a second time with no changes. Confirm every device reports </a:t>
            </a:r>
            <a:r>
              <a:rPr sz="1900" b="0" i="0">
                <a:solidFill>
                  <a:srgbClr val="1A5276"/>
                </a:solidFill>
                <a:latin typeface="Consolas"/>
              </a:rPr>
              <a:t>ok</a:t>
            </a:r>
            <a:r>
              <a:rPr sz="2000" b="0" i="0">
                <a:solidFill>
                  <a:srgbClr val="1C252B"/>
                </a:solidFill>
                <a:latin typeface="Segoe UI"/>
              </a:rPr>
              <a:t> rather than </a:t>
            </a:r>
            <a:r>
              <a:rPr sz="1900" b="0" i="0">
                <a:solidFill>
                  <a:srgbClr val="1A5276"/>
                </a:solidFill>
                <a:latin typeface="Consolas"/>
              </a:rPr>
              <a:t>changed</a:t>
            </a:r>
            <a:r>
              <a:rPr sz="2000" b="0" i="0">
                <a:solidFill>
                  <a:srgbClr val="1C252B"/>
                </a:solidFill>
                <a:latin typeface="Segoe UI"/>
              </a:rPr>
              <a:t>. This is idempotency; write down what you would conclude if one device reported </a:t>
            </a:r>
            <a:r>
              <a:rPr sz="1900" b="0" i="0">
                <a:solidFill>
                  <a:srgbClr val="1A5276"/>
                </a:solidFill>
                <a:latin typeface="Consolas"/>
              </a:rPr>
              <a:t>changed</a:t>
            </a:r>
            <a:r>
              <a:rPr sz="2000" b="0" i="0">
                <a:solidFill>
                  <a:srgbClr val="1C252B"/>
                </a:solidFill>
                <a:latin typeface="Segoe UI"/>
              </a:rPr>
              <a:t> on the second run.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A LINUX CONTROL NODE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500" b="1" i="0">
                <a:solidFill>
                  <a:srgbClr val="1A5276"/>
                </a:solidFill>
                <a:latin typeface="Segoe UI"/>
              </a:rPr>
              <a:t>Automating a change you would otherwise do forty times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B7950B"/>
                </a:solidFill>
                <a:latin typeface="Segoe UI"/>
              </a:rPr>
              <a:t>1.  </a:t>
            </a:r>
            <a:r>
              <a:rPr sz="2000" b="1" i="0">
                <a:solidFill>
                  <a:srgbClr val="1C252B"/>
                </a:solidFill>
                <a:latin typeface="Segoe UI"/>
              </a:rPr>
              <a:t>Break 1.</a:t>
            </a:r>
            <a:r>
              <a:rPr sz="2000" b="0" i="0">
                <a:solidFill>
                  <a:srgbClr val="1C252B"/>
                </a:solidFill>
                <a:latin typeface="Segoe UI"/>
              </a:rPr>
              <a:t> Reproduce the Break &amp; Fix. Omit </a:t>
            </a:r>
            <a:r>
              <a:rPr sz="1900" b="0" i="0">
                <a:solidFill>
                  <a:srgbClr val="1A5276"/>
                </a:solidFill>
                <a:latin typeface="Consolas"/>
              </a:rPr>
              <a:t>save_when</a:t>
            </a:r>
            <a:r>
              <a:rPr sz="2000" b="0" i="0">
                <a:solidFill>
                  <a:srgbClr val="1C252B"/>
                </a:solidFill>
                <a:latin typeface="Segoe UI"/>
              </a:rPr>
              <a:t>, apply a change, reload a device, and confirm the loss. Then add the save task and repeat.</a:t>
            </a:r>
          </a:p>
          <a:p>
            <a:pPr marL="386080" indent="-386080">
              <a:lnSpc>
                <a:spcPct val="102000"/>
              </a:lnSpc>
              <a:spcAft>
                <a:spcPts val="900"/>
              </a:spcAft>
            </a:pPr>
            <a:r>
              <a:rPr sz="2000" b="1">
                <a:solidFill>
                  <a:srgbClr val="B7950B"/>
                </a:solidFill>
                <a:latin typeface="Segoe UI"/>
              </a:rPr>
              <a:t>2.  </a:t>
            </a:r>
            <a:r>
              <a:rPr sz="2000" b="1" i="0">
                <a:solidFill>
                  <a:srgbClr val="1C252B"/>
                </a:solidFill>
                <a:latin typeface="Segoe UI"/>
              </a:rPr>
              <a:t>Break 2.</a:t>
            </a:r>
            <a:r>
              <a:rPr sz="2000" b="0" i="0">
                <a:solidFill>
                  <a:srgbClr val="1C252B"/>
                </a:solidFill>
                <a:latin typeface="Segoe UI"/>
              </a:rPr>
              <a:t> Replace </a:t>
            </a:r>
            <a:r>
              <a:rPr sz="1900" b="0" i="0">
                <a:solidFill>
                  <a:srgbClr val="1A5276"/>
                </a:solidFill>
                <a:latin typeface="Consolas"/>
              </a:rPr>
              <a:t>ios_config</a:t>
            </a:r>
            <a:r>
              <a:rPr sz="2000" b="0" i="0">
                <a:solidFill>
                  <a:srgbClr val="1C252B"/>
                </a:solidFill>
                <a:latin typeface="Segoe UI"/>
              </a:rPr>
              <a:t> with </a:t>
            </a:r>
            <a:r>
              <a:rPr sz="1900" b="0" i="0">
                <a:solidFill>
                  <a:srgbClr val="1A5276"/>
                </a:solidFill>
                <a:latin typeface="Consolas"/>
              </a:rPr>
              <a:t>ios_command</a:t>
            </a:r>
            <a:r>
              <a:rPr sz="2000" b="0" i="0">
                <a:solidFill>
                  <a:srgbClr val="1C252B"/>
                </a:solidFill>
                <a:latin typeface="Segoe UI"/>
              </a:rPr>
              <a:t> for the VLAN task. Record exactly what Ansible reports and what the device shows.</a:t>
            </a:r>
          </a:p>
          <a:p>
            <a:pPr marL="386080" indent="-386080">
              <a:lnSpc>
                <a:spcPct val="102000"/>
              </a:lnSpc>
              <a:spcAft>
                <a:spcPts val="900"/>
              </a:spcAft>
            </a:pPr>
            <a:r>
              <a:rPr sz="2000" b="1">
                <a:solidFill>
                  <a:srgbClr val="B7950B"/>
                </a:solidFill>
                <a:latin typeface="Segoe UI"/>
              </a:rPr>
              <a:t>3.  </a:t>
            </a:r>
            <a:r>
              <a:rPr sz="2000" b="1" i="0">
                <a:solidFill>
                  <a:srgbClr val="1C252B"/>
                </a:solidFill>
                <a:latin typeface="Segoe UI"/>
              </a:rPr>
              <a:t>Break 3.</a:t>
            </a:r>
            <a:r>
              <a:rPr sz="2000" b="0" i="0">
                <a:solidFill>
                  <a:srgbClr val="1C252B"/>
                </a:solidFill>
                <a:latin typeface="Segoe UI"/>
              </a:rPr>
              <a:t> Introduce a tab character into the playbook. Record the error message and how long it takes you to find it.</a:t>
            </a:r>
          </a:p>
          <a:p>
            <a:pPr marL="386080" indent="-386080">
              <a:lnSpc>
                <a:spcPct val="102000"/>
              </a:lnSpc>
              <a:spcAft>
                <a:spcPts val="900"/>
              </a:spcAft>
            </a:pPr>
            <a:r>
              <a:rPr sz="2000" b="1">
                <a:solidFill>
                  <a:srgbClr val="B7950B"/>
                </a:solidFill>
                <a:latin typeface="Segoe UI"/>
              </a:rPr>
              <a:t>4.  </a:t>
            </a:r>
            <a:r>
              <a:rPr sz="2000" b="1" i="0">
                <a:solidFill>
                  <a:srgbClr val="1C252B"/>
                </a:solidFill>
                <a:latin typeface="Segoe UI"/>
              </a:rPr>
              <a:t>Extension.</a:t>
            </a:r>
            <a:r>
              <a:rPr sz="2000" b="0" i="0">
                <a:solidFill>
                  <a:srgbClr val="1C252B"/>
                </a:solidFill>
                <a:latin typeface="Segoe UI"/>
              </a:rPr>
              <a:t> Add a final task that runs the </a:t>
            </a:r>
            <a:r>
              <a:rPr sz="1900" b="0" i="0">
                <a:solidFill>
                  <a:srgbClr val="1A5276"/>
                </a:solidFill>
                <a:latin typeface="Consolas"/>
              </a:rPr>
              <a:t>show archive config differences</a:t>
            </a:r>
            <a:r>
              <a:rPr sz="2000" b="0" i="0">
                <a:solidFill>
                  <a:srgbClr val="1C252B"/>
                </a:solidFill>
                <a:latin typeface="Segoe UI"/>
              </a:rPr>
              <a:t> command from this chapter and fails the play if it returns anything. You now cannot leave a change unsaved.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does agentless mean, and why does it decide the choice of tool for network devices?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does agentless mean, and why does it decide the choice of tool for network devices?</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It installs nothing on the managed device and connects over SSH. It decides the choice because you cannot install an agent on a Catalyst switch — so any agent-based tool (Puppet, Chef) is simply unavailable for network hardware, while Ansible needs only the SSH access already configured.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is idempotency, and where do you see it in a play recap?</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is idempotency, and where do you see it in a play recap?</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An operation produces the same result whether applied once or many times. In the recap you see it as </a:t>
            </a:r>
            <a:r>
              <a:rPr sz="1800" b="0" i="0">
                <a:solidFill>
                  <a:srgbClr val="1A5276"/>
                </a:solidFill>
                <a:latin typeface="Consolas"/>
              </a:rPr>
              <a:t>ok</a:t>
            </a:r>
            <a:r>
              <a:rPr sz="1900" b="0" i="0">
                <a:solidFill>
                  <a:srgbClr val="1C252B"/>
                </a:solidFill>
                <a:latin typeface="Segoe UI"/>
              </a:rPr>
              <a:t> rather than </a:t>
            </a:r>
            <a:r>
              <a:rPr sz="1800" b="0" i="0">
                <a:solidFill>
                  <a:srgbClr val="1A5276"/>
                </a:solidFill>
                <a:latin typeface="Consolas"/>
              </a:rPr>
              <a:t>changed</a:t>
            </a:r>
            <a:r>
              <a:rPr sz="1900" b="0" i="0">
                <a:solidFill>
                  <a:srgbClr val="1C252B"/>
                </a:solidFill>
                <a:latin typeface="Segoe UI"/>
              </a:rPr>
              <a:t> on a device that is already in the desired state — so a second run of the same playbook reports </a:t>
            </a:r>
            <a:r>
              <a:rPr sz="1800" b="0" i="0">
                <a:solidFill>
                  <a:srgbClr val="1A5276"/>
                </a:solidFill>
                <a:latin typeface="Consolas"/>
              </a:rPr>
              <a:t>changed=0</a:t>
            </a:r>
            <a:r>
              <a:rPr sz="19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State the difference between </a:t>
            </a:r>
            <a:r>
              <a:rPr sz="2900" b="0" i="0">
                <a:solidFill>
                  <a:srgbClr val="FFFFFF"/>
                </a:solidFill>
                <a:latin typeface="Consolas"/>
              </a:rPr>
              <a:t>ios_command</a:t>
            </a:r>
            <a:r>
              <a:rPr sz="3000" b="0" i="0">
                <a:solidFill>
                  <a:srgbClr val="FFFFFF"/>
                </a:solidFill>
                <a:latin typeface="Segoe UI"/>
              </a:rPr>
              <a:t> and </a:t>
            </a:r>
            <a:r>
              <a:rPr sz="2900" b="0" i="0">
                <a:solidFill>
                  <a:srgbClr val="FFFFFF"/>
                </a:solidFill>
                <a:latin typeface="Consolas"/>
              </a:rPr>
              <a:t>ios_config</a:t>
            </a:r>
            <a:r>
              <a:rPr sz="3000" b="0" i="0">
                <a:solidFill>
                  <a:srgbClr val="FFFFFF"/>
                </a:solidFill>
                <a:latin typeface="Segoe UI"/>
              </a:rPr>
              <a: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State the difference between </a:t>
            </a:r>
            <a:r>
              <a:rPr sz="1900" b="1" i="0">
                <a:solidFill>
                  <a:srgbClr val="1A5276"/>
                </a:solidFill>
                <a:latin typeface="Consolas"/>
              </a:rPr>
              <a:t>ios_command</a:t>
            </a:r>
            <a:r>
              <a:rPr sz="2000" b="1" i="0">
                <a:solidFill>
                  <a:srgbClr val="1A5276"/>
                </a:solidFill>
                <a:latin typeface="Segoe UI"/>
              </a:rPr>
              <a:t> and </a:t>
            </a:r>
            <a:r>
              <a:rPr sz="1900" b="1" i="0">
                <a:solidFill>
                  <a:srgbClr val="1A5276"/>
                </a:solidFill>
                <a:latin typeface="Consolas"/>
              </a:rPr>
              <a:t>ios_config</a:t>
            </a:r>
            <a:r>
              <a:rPr sz="2000" b="1" i="0">
                <a:solidFill>
                  <a:srgbClr val="1A5276"/>
                </a:solidFill>
                <a:latin typeface="Segoe UI"/>
              </a:rPr>
              <a:t>.</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ios_command</a:t>
            </a:r>
            <a:r>
              <a:rPr sz="1900" b="0" i="0">
                <a:solidFill>
                  <a:srgbClr val="1C252B"/>
                </a:solidFill>
                <a:latin typeface="Segoe UI"/>
              </a:rPr>
              <a:t> runs EXEC commands and returns output; it cannot make a configuration change. </a:t>
            </a:r>
            <a:r>
              <a:rPr sz="1800" b="0" i="0">
                <a:solidFill>
                  <a:srgbClr val="1A5276"/>
                </a:solidFill>
                <a:latin typeface="Consolas"/>
              </a:rPr>
              <a:t>ios_config</a:t>
            </a:r>
            <a:r>
              <a:rPr sz="1900" b="0" i="0">
                <a:solidFill>
                  <a:srgbClr val="1C252B"/>
                </a:solidFill>
                <a:latin typeface="Segoe UI"/>
              </a:rPr>
              <a:t> enters configuration mode and applies lines. A playbook reporting success while changing nothing is very often the former where the latter was meant.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does </a:t>
            </a:r>
            <a:r>
              <a:rPr sz="2900" b="0" i="0">
                <a:solidFill>
                  <a:srgbClr val="FFFFFF"/>
                </a:solidFill>
                <a:latin typeface="Consolas"/>
              </a:rPr>
              <a:t>save_when: modified</a:t>
            </a:r>
            <a:r>
              <a:rPr sz="3000" b="0" i="0">
                <a:solidFill>
                  <a:srgbClr val="FFFFFF"/>
                </a:solidFill>
                <a:latin typeface="Segoe UI"/>
              </a:rPr>
              <a:t> do, and what fails without it?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does </a:t>
            </a:r>
            <a:r>
              <a:rPr sz="1900" b="1" i="0">
                <a:solidFill>
                  <a:srgbClr val="1A5276"/>
                </a:solidFill>
                <a:latin typeface="Consolas"/>
              </a:rPr>
              <a:t>save_when: modified</a:t>
            </a:r>
            <a:r>
              <a:rPr sz="2000" b="1" i="0">
                <a:solidFill>
                  <a:srgbClr val="1A5276"/>
                </a:solidFill>
                <a:latin typeface="Segoe UI"/>
              </a:rPr>
              <a:t> do, and what fails without it?</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It writes the running configuration to startup-config, but only when that run actually changed something. Without it the change lives in the running configuration only and is lost at the next reload — which shows up weeks later as a fault correlating with reboots rather than with the change.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is the difference between </a:t>
            </a:r>
            <a:r>
              <a:rPr sz="2900" b="0" i="0">
                <a:solidFill>
                  <a:srgbClr val="FFFFFF"/>
                </a:solidFill>
                <a:latin typeface="Consolas"/>
              </a:rPr>
              <a:t>unreachable</a:t>
            </a:r>
            <a:r>
              <a:rPr sz="3000" b="0" i="0">
                <a:solidFill>
                  <a:srgbClr val="FFFFFF"/>
                </a:solidFill>
                <a:latin typeface="Segoe UI"/>
              </a:rPr>
              <a:t> and </a:t>
            </a:r>
            <a:r>
              <a:rPr sz="2900" b="0" i="0">
                <a:solidFill>
                  <a:srgbClr val="FFFFFF"/>
                </a:solidFill>
                <a:latin typeface="Consolas"/>
              </a:rPr>
              <a:t>failed</a:t>
            </a:r>
            <a:r>
              <a:rPr sz="3000" b="0" i="0">
                <a:solidFill>
                  <a:srgbClr val="FFFFFF"/>
                </a:solidFill>
                <a:latin typeface="Segoe UI"/>
              </a:rPr>
              <a:t> in the recap?</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is the difference between </a:t>
            </a:r>
            <a:r>
              <a:rPr sz="1900" b="1" i="0">
                <a:solidFill>
                  <a:srgbClr val="1A5276"/>
                </a:solidFill>
                <a:latin typeface="Consolas"/>
              </a:rPr>
              <a:t>unreachable</a:t>
            </a:r>
            <a:r>
              <a:rPr sz="2000" b="1" i="0">
                <a:solidFill>
                  <a:srgbClr val="1A5276"/>
                </a:solidFill>
                <a:latin typeface="Segoe UI"/>
              </a:rPr>
              <a:t> and </a:t>
            </a:r>
            <a:r>
              <a:rPr sz="1900" b="1" i="0">
                <a:solidFill>
                  <a:srgbClr val="1A5276"/>
                </a:solidFill>
                <a:latin typeface="Consolas"/>
              </a:rPr>
              <a:t>failed</a:t>
            </a:r>
            <a:r>
              <a:rPr sz="2000" b="1" i="0">
                <a:solidFill>
                  <a:srgbClr val="1A5276"/>
                </a:solidFill>
                <a:latin typeface="Segoe UI"/>
              </a:rPr>
              <a:t> in the recap?</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unreachable</a:t>
            </a:r>
            <a:r>
              <a:rPr sz="1900" b="0" i="0">
                <a:solidFill>
                  <a:srgbClr val="1C252B"/>
                </a:solidFill>
                <a:latin typeface="Segoe UI"/>
              </a:rPr>
              <a:t> means Ansible could not log in to the device at all. </a:t>
            </a:r>
            <a:r>
              <a:rPr sz="1800" b="0" i="0">
                <a:solidFill>
                  <a:srgbClr val="1A5276"/>
                </a:solidFill>
                <a:latin typeface="Consolas"/>
              </a:rPr>
              <a:t>failed</a:t>
            </a:r>
            <a:r>
              <a:rPr sz="1900" b="0" i="0">
                <a:solidFill>
                  <a:srgbClr val="1C252B"/>
                </a:solidFill>
                <a:latin typeface="Segoe UI"/>
              </a:rPr>
              <a:t> means it logged in and the task did not work. They point at completely different problems.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do </a:t>
            </a:r>
            <a:r>
              <a:rPr sz="2900" b="0" i="0">
                <a:solidFill>
                  <a:srgbClr val="FFFFFF"/>
                </a:solidFill>
                <a:latin typeface="Consolas"/>
              </a:rPr>
              <a:t>–check</a:t>
            </a:r>
            <a:r>
              <a:rPr sz="3000" b="0" i="0">
                <a:solidFill>
                  <a:srgbClr val="FFFFFF"/>
                </a:solidFill>
                <a:latin typeface="Segoe UI"/>
              </a:rPr>
              <a:t> and </a:t>
            </a:r>
            <a:r>
              <a:rPr sz="2900" b="0" i="0">
                <a:solidFill>
                  <a:srgbClr val="FFFFFF"/>
                </a:solidFill>
                <a:latin typeface="Consolas"/>
              </a:rPr>
              <a:t>–diff</a:t>
            </a:r>
            <a:r>
              <a:rPr sz="3000" b="0" i="0">
                <a:solidFill>
                  <a:srgbClr val="FFFFFF"/>
                </a:solidFill>
                <a:latin typeface="Segoe UI"/>
              </a:rPr>
              <a:t> do, and when would you omit them?</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do </a:t>
            </a:r>
            <a:r>
              <a:rPr sz="1900" b="1" i="0">
                <a:solidFill>
                  <a:srgbClr val="1A5276"/>
                </a:solidFill>
                <a:latin typeface="Consolas"/>
              </a:rPr>
              <a:t>–check</a:t>
            </a:r>
            <a:r>
              <a:rPr sz="2000" b="1" i="0">
                <a:solidFill>
                  <a:srgbClr val="1A5276"/>
                </a:solidFill>
                <a:latin typeface="Segoe UI"/>
              </a:rPr>
              <a:t> and </a:t>
            </a:r>
            <a:r>
              <a:rPr sz="1900" b="1" i="0">
                <a:solidFill>
                  <a:srgbClr val="1A5276"/>
                </a:solidFill>
                <a:latin typeface="Consolas"/>
              </a:rPr>
              <a:t>–diff</a:t>
            </a:r>
            <a:r>
              <a:rPr sz="2000" b="1" i="0">
                <a:solidFill>
                  <a:srgbClr val="1A5276"/>
                </a:solidFill>
                <a:latin typeface="Segoe UI"/>
              </a:rPr>
              <a:t> do, and when would you omit them?</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–check</a:t>
            </a:r>
            <a:r>
              <a:rPr sz="1900" b="0" i="0">
                <a:solidFill>
                  <a:srgbClr val="1C252B"/>
                </a:solidFill>
                <a:latin typeface="Segoe UI"/>
              </a:rPr>
              <a:t> is a dry run — it reports what it would do and touches nothing. </a:t>
            </a:r>
            <a:r>
              <a:rPr sz="1800" b="0" i="0">
                <a:solidFill>
                  <a:srgbClr val="1A5276"/>
                </a:solidFill>
                <a:latin typeface="Consolas"/>
              </a:rPr>
              <a:t>–diff</a:t>
            </a:r>
            <a:r>
              <a:rPr sz="1900" b="0" i="0">
                <a:solidFill>
                  <a:srgbClr val="1C252B"/>
                </a:solidFill>
                <a:latin typeface="Segoe UI"/>
              </a:rPr>
              <a:t> shows the exact lines. Omit them only when you have already run with them and are applying the change you just reviewed.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Ansible is </a:t>
            </a:r>
            <a:r>
              <a:rPr sz="2000" b="1" i="0">
                <a:solidFill>
                  <a:srgbClr val="1C252B"/>
                </a:solidFill>
                <a:latin typeface="Segoe UI"/>
              </a:rPr>
              <a:t>agentless</a:t>
            </a:r>
            <a:r>
              <a:rPr sz="2000" b="0" i="0">
                <a:solidFill>
                  <a:srgbClr val="1C252B"/>
                </a:solidFill>
                <a:latin typeface="Segoe UI"/>
              </a:rPr>
              <a:t>: it connects over SSH and installs nothing. That is why it works on switches, where Puppet and Chef cannot.</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Tasks are </a:t>
            </a:r>
            <a:r>
              <a:rPr sz="2000" b="1" i="0">
                <a:solidFill>
                  <a:srgbClr val="1C252B"/>
                </a:solidFill>
                <a:latin typeface="Segoe UI"/>
              </a:rPr>
              <a:t>idempotent</a:t>
            </a:r>
            <a:r>
              <a:rPr sz="2000" b="0" i="0">
                <a:solidFill>
                  <a:srgbClr val="1C252B"/>
                </a:solidFill>
                <a:latin typeface="Segoe UI"/>
              </a:rPr>
              <a:t> — they describe desired state, so running twice changes nothing the second time.</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Playbooks are YAML: spaces not tabs, </a:t>
            </a:r>
            <a:r>
              <a:rPr sz="1900" b="0" i="0">
                <a:solidFill>
                  <a:srgbClr val="1A5276"/>
                </a:solidFill>
                <a:latin typeface="Consolas"/>
              </a:rPr>
              <a:t>-</a:t>
            </a:r>
            <a:r>
              <a:rPr sz="2000" b="0" i="0">
                <a:solidFill>
                  <a:srgbClr val="1C252B"/>
                </a:solidFill>
                <a:latin typeface="Segoe UI"/>
              </a:rPr>
              <a:t> for list items, </a:t>
            </a:r>
            <a:r>
              <a:rPr sz="1900" b="0" i="0">
                <a:solidFill>
                  <a:srgbClr val="1A5276"/>
                </a:solidFill>
                <a:latin typeface="Consolas"/>
              </a:rPr>
              <a:t>key: value</a:t>
            </a:r>
            <a:r>
              <a:rPr sz="2000" b="0" i="0">
                <a:solidFill>
                  <a:srgbClr val="1C252B"/>
                </a:solidFill>
                <a:latin typeface="Segoe UI"/>
              </a:rPr>
              <a:t> with a space after the colon.</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The inventory names devices and groups, and must set </a:t>
            </a:r>
            <a:r>
              <a:rPr sz="1900" b="0" i="0">
                <a:solidFill>
                  <a:srgbClr val="1A5276"/>
                </a:solidFill>
                <a:latin typeface="Consolas"/>
              </a:rPr>
              <a:t>ansible_connection: network_cli</a:t>
            </a:r>
            <a:r>
              <a:rPr sz="2000" b="0" i="0">
                <a:solidFill>
                  <a:srgbClr val="1C252B"/>
                </a:solidFill>
                <a:latin typeface="Segoe UI"/>
              </a:rPr>
              <a:t> and </a:t>
            </a:r>
            <a:r>
              <a:rPr sz="1900" b="0" i="0">
                <a:solidFill>
                  <a:srgbClr val="1A5276"/>
                </a:solidFill>
                <a:latin typeface="Consolas"/>
              </a:rPr>
              <a:t>ansible_network_os</a:t>
            </a:r>
            <a:r>
              <a:rPr sz="2000" b="0" i="0">
                <a:solidFill>
                  <a:srgbClr val="1C252B"/>
                </a:solidFill>
                <a:latin typeface="Segoe UI"/>
              </a:rPr>
              <a:t>.</a:t>
            </a:r>
          </a:p>
          <a:p>
            <a:pPr marL="228600" indent="-228600">
              <a:lnSpc>
                <a:spcPct val="102000"/>
              </a:lnSpc>
              <a:spcAft>
                <a:spcPts val="900"/>
              </a:spcAft>
            </a:pPr>
            <a:r>
              <a:rPr sz="2000" b="1">
                <a:solidFill>
                  <a:srgbClr val="B7950B"/>
                </a:solidFill>
                <a:latin typeface="Segoe UI"/>
              </a:rPr>
              <a:t>•  </a:t>
            </a:r>
            <a:r>
              <a:rPr sz="1900" b="0" i="0">
                <a:solidFill>
                  <a:srgbClr val="1A5276"/>
                </a:solidFill>
                <a:latin typeface="Consolas"/>
              </a:rPr>
              <a:t>ios_command</a:t>
            </a:r>
            <a:r>
              <a:rPr sz="2000" b="0" i="0">
                <a:solidFill>
                  <a:srgbClr val="1C252B"/>
                </a:solidFill>
                <a:latin typeface="Segoe UI"/>
              </a:rPr>
              <a:t> reads; </a:t>
            </a:r>
            <a:r>
              <a:rPr sz="1900" b="0" i="0">
                <a:solidFill>
                  <a:srgbClr val="1A5276"/>
                </a:solidFill>
                <a:latin typeface="Consolas"/>
              </a:rPr>
              <a:t>ios_config</a:t>
            </a:r>
            <a:r>
              <a:rPr sz="2000" b="0" i="0">
                <a:solidFill>
                  <a:srgbClr val="1C252B"/>
                </a:solidFill>
                <a:latin typeface="Segoe UI"/>
              </a:rPr>
              <a:t> writes, with </a:t>
            </a:r>
            <a:r>
              <a:rPr sz="1900" b="0" i="0">
                <a:solidFill>
                  <a:srgbClr val="1A5276"/>
                </a:solidFill>
                <a:latin typeface="Consolas"/>
              </a:rPr>
              <a:t>parents</a:t>
            </a:r>
            <a:r>
              <a:rPr sz="2000" b="0" i="0">
                <a:solidFill>
                  <a:srgbClr val="1C252B"/>
                </a:solidFill>
                <a:latin typeface="Segoe UI"/>
              </a:rPr>
              <a:t> to select the sub-mode.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31. Ansible and Configuration Management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5.5</a:t>
            </a:r>
          </a:p>
        </p:txBody>
      </p:sp>
      <p:sp>
        <p:nvSpPr>
          <p:cNvPr id="7" name="bullets"/>
          <p:cNvSpPr txBox="1"/>
          <p:nvPr/>
        </p:nvSpPr>
        <p:spPr>
          <a:xfrm>
            <a:off x="685800" y="2567649"/>
            <a:ext cx="10820095" cy="3814862"/>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1900" b="0" i="0">
                <a:solidFill>
                  <a:srgbClr val="1A5276"/>
                </a:solidFill>
                <a:latin typeface="Consolas"/>
              </a:rPr>
              <a:t>save_when: modified</a:t>
            </a:r>
            <a:r>
              <a:rPr sz="2000" b="0" i="0">
                <a:solidFill>
                  <a:srgbClr val="1C252B"/>
                </a:solidFill>
                <a:latin typeface="Segoe UI"/>
              </a:rPr>
              <a:t> writes to startup-config. Without it the change survives only until the next reload.</a:t>
            </a:r>
          </a:p>
          <a:p>
            <a:pPr marL="228600" indent="-228600">
              <a:lnSpc>
                <a:spcPct val="102000"/>
              </a:lnSpc>
              <a:spcAft>
                <a:spcPts val="900"/>
              </a:spcAft>
            </a:pPr>
            <a:r>
              <a:rPr sz="2000" b="1">
                <a:solidFill>
                  <a:srgbClr val="B7950B"/>
                </a:solidFill>
                <a:latin typeface="Segoe UI"/>
              </a:rPr>
              <a:t>•  </a:t>
            </a:r>
            <a:r>
              <a:rPr sz="1900" b="0" i="0">
                <a:solidFill>
                  <a:srgbClr val="1A5276"/>
                </a:solidFill>
                <a:latin typeface="Consolas"/>
              </a:rPr>
              <a:t>–check –diff</a:t>
            </a:r>
            <a:r>
              <a:rPr sz="2000" b="0" i="0">
                <a:solidFill>
                  <a:srgbClr val="1C252B"/>
                </a:solidFill>
                <a:latin typeface="Segoe UI"/>
              </a:rPr>
              <a:t> is a dry run. Use it before every production change.</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In the recap, </a:t>
            </a:r>
            <a:r>
              <a:rPr sz="1900" b="0" i="0">
                <a:solidFill>
                  <a:srgbClr val="1A5276"/>
                </a:solidFill>
                <a:latin typeface="Consolas"/>
              </a:rPr>
              <a:t>changed</a:t>
            </a:r>
            <a:r>
              <a:rPr sz="2000" b="0" i="0">
                <a:solidFill>
                  <a:srgbClr val="1C252B"/>
                </a:solidFill>
                <a:latin typeface="Segoe UI"/>
              </a:rPr>
              <a:t> means it acted, </a:t>
            </a:r>
            <a:r>
              <a:rPr sz="1900" b="0" i="0">
                <a:solidFill>
                  <a:srgbClr val="1A5276"/>
                </a:solidFill>
                <a:latin typeface="Consolas"/>
              </a:rPr>
              <a:t>ok</a:t>
            </a:r>
            <a:r>
              <a:rPr sz="2000" b="0" i="0">
                <a:solidFill>
                  <a:srgbClr val="1C252B"/>
                </a:solidFill>
                <a:latin typeface="Segoe UI"/>
              </a:rPr>
              <a:t> means it was already correct, </a:t>
            </a:r>
            <a:r>
              <a:rPr sz="1900" b="0" i="0">
                <a:solidFill>
                  <a:srgbClr val="1A5276"/>
                </a:solidFill>
                <a:latin typeface="Consolas"/>
              </a:rPr>
              <a:t>unreachable</a:t>
            </a:r>
            <a:r>
              <a:rPr sz="2000" b="0" i="0">
                <a:solidFill>
                  <a:srgbClr val="1C252B"/>
                </a:solidFill>
                <a:latin typeface="Segoe UI"/>
              </a:rPr>
              <a:t> means it never logged in.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B7950B"/>
        </a:solidFill>
        <a:effectLst/>
      </p:bgPr>
    </p:bg>
    <p:spTree>
      <p:nvGrpSpPr>
        <p:cNvPr id="1" name=""/>
        <p:cNvGrpSpPr/>
        <p:nvPr/>
      </p:nvGrpSpPr>
      <p:grpSpPr/>
      <p:sp>
        <p:nvSpPr>
          <p:cNvPr id="2" name="bg"/>
          <p:cNvSpPr/>
          <p:nvPr/>
        </p:nvSpPr>
        <p:spPr>
          <a:xfrm>
            <a:off x="0" y="0"/>
            <a:ext cx="12191695" cy="68580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Ansible is </a:t>
            </a:r>
            <a:r>
              <a:rPr sz="1900" b="1" i="0">
                <a:solidFill>
                  <a:srgbClr val="FFFFFF"/>
                </a:solidFill>
                <a:latin typeface="Segoe UI"/>
              </a:rPr>
              <a:t>agentless</a:t>
            </a:r>
            <a:r>
              <a:rPr sz="1900" b="0" i="0">
                <a:solidFill>
                  <a:srgbClr val="FFFFFF"/>
                </a:solidFill>
                <a:latin typeface="Segoe UI"/>
              </a:rPr>
              <a:t>: it connects over SSH and installs nothing. That is why it works on switches, where Puppet and Chef cannot.</a:t>
            </a:r>
          </a:p>
          <a:p>
            <a:pPr marL="217169" indent="-217169">
              <a:spcAft>
                <a:spcPts val="900"/>
              </a:spcAft>
            </a:pPr>
            <a:r>
              <a:rPr sz="1900">
                <a:solidFill>
                  <a:srgbClr val="C8D6E5"/>
                </a:solidFill>
              </a:rPr>
              <a:t>•  </a:t>
            </a:r>
            <a:r>
              <a:rPr sz="1900" b="0" i="0">
                <a:solidFill>
                  <a:srgbClr val="FFFFFF"/>
                </a:solidFill>
                <a:latin typeface="Segoe UI"/>
              </a:rPr>
              <a:t>Tasks are </a:t>
            </a:r>
            <a:r>
              <a:rPr sz="1900" b="1" i="0">
                <a:solidFill>
                  <a:srgbClr val="FFFFFF"/>
                </a:solidFill>
                <a:latin typeface="Segoe UI"/>
              </a:rPr>
              <a:t>idempotent</a:t>
            </a:r>
            <a:r>
              <a:rPr sz="1900" b="0" i="0">
                <a:solidFill>
                  <a:srgbClr val="FFFFFF"/>
                </a:solidFill>
                <a:latin typeface="Segoe UI"/>
              </a:rPr>
              <a:t> — they describe desired state, so running twice changes nothing the second time.</a:t>
            </a:r>
          </a:p>
          <a:p>
            <a:pPr marL="217169" indent="-217169">
              <a:spcAft>
                <a:spcPts val="900"/>
              </a:spcAft>
            </a:pPr>
            <a:r>
              <a:rPr sz="1900">
                <a:solidFill>
                  <a:srgbClr val="C8D6E5"/>
                </a:solidFill>
              </a:rPr>
              <a:t>•  </a:t>
            </a:r>
            <a:r>
              <a:rPr sz="1900" b="0" i="0">
                <a:solidFill>
                  <a:srgbClr val="FFFFFF"/>
                </a:solidFill>
                <a:latin typeface="Segoe UI"/>
              </a:rPr>
              <a:t>Playbooks are YAML: spaces not tabs, </a:t>
            </a:r>
            <a:r>
              <a:rPr sz="1800" b="0" i="0">
                <a:solidFill>
                  <a:srgbClr val="FFFFFF"/>
                </a:solidFill>
                <a:latin typeface="Consolas"/>
              </a:rPr>
              <a:t>-</a:t>
            </a:r>
            <a:r>
              <a:rPr sz="1900" b="0" i="0">
                <a:solidFill>
                  <a:srgbClr val="FFFFFF"/>
                </a:solidFill>
                <a:latin typeface="Segoe UI"/>
              </a:rPr>
              <a:t> for list items, </a:t>
            </a:r>
            <a:r>
              <a:rPr sz="1800" b="0" i="0">
                <a:solidFill>
                  <a:srgbClr val="FFFFFF"/>
                </a:solidFill>
                <a:latin typeface="Consolas"/>
              </a:rPr>
              <a:t>key: value</a:t>
            </a:r>
            <a:r>
              <a:rPr sz="1900" b="0" i="0">
                <a:solidFill>
                  <a:srgbClr val="FFFFFF"/>
                </a:solidFill>
                <a:latin typeface="Segoe UI"/>
              </a:rPr>
              <a:t> with a space after the colon.</a:t>
            </a:r>
          </a:p>
          <a:p>
            <a:pPr marL="217169" indent="-217169">
              <a:spcAft>
                <a:spcPts val="900"/>
              </a:spcAft>
            </a:pPr>
            <a:r>
              <a:rPr sz="1900">
                <a:solidFill>
                  <a:srgbClr val="C8D6E5"/>
                </a:solidFill>
              </a:rPr>
              <a:t>•  </a:t>
            </a:r>
            <a:r>
              <a:rPr sz="1900" b="0" i="0">
                <a:solidFill>
                  <a:srgbClr val="FFFFFF"/>
                </a:solidFill>
                <a:latin typeface="Segoe UI"/>
              </a:rPr>
              <a:t>The inventory names devices and groups, and must set </a:t>
            </a:r>
            <a:r>
              <a:rPr sz="1800" b="0" i="0">
                <a:solidFill>
                  <a:srgbClr val="FFFFFF"/>
                </a:solidFill>
                <a:latin typeface="Consolas"/>
              </a:rPr>
              <a:t>ansible_connection: network_cli</a:t>
            </a:r>
            <a:r>
              <a:rPr sz="1900" b="0" i="0">
                <a:solidFill>
                  <a:srgbClr val="FFFFFF"/>
                </a:solidFill>
                <a:latin typeface="Segoe UI"/>
              </a:rPr>
              <a:t> and </a:t>
            </a:r>
            <a:r>
              <a:rPr sz="1800" b="0" i="0">
                <a:solidFill>
                  <a:srgbClr val="FFFFFF"/>
                </a:solidFill>
                <a:latin typeface="Consolas"/>
              </a:rPr>
              <a:t>ansible_network_os</a:t>
            </a:r>
            <a:r>
              <a:rPr sz="1900" b="0" i="0">
                <a:solidFill>
                  <a:srgbClr val="FFFFFF"/>
                </a:solidFill>
                <a:latin typeface="Segoe UI"/>
              </a:rPr>
              <a:t>.</a:t>
            </a:r>
          </a:p>
        </p:txBody>
      </p:sp>
      <p:sp>
        <p:nvSpPr>
          <p:cNvPr id="5" name="nextbg"/>
          <p:cNvSpPr/>
          <p:nvPr/>
        </p:nvSpPr>
        <p:spPr>
          <a:xfrm>
            <a:off x="685800" y="5303520"/>
            <a:ext cx="10820095" cy="822960"/>
          </a:xfrm>
          <a:prstGeom prst="rect">
            <a:avLst/>
          </a:prstGeom>
          <a:solidFill>
            <a:srgbClr val="A1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32 — AI in Network Operations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