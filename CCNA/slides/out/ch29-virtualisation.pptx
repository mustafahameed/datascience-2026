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Chapter 29: Hypervisors, Virtual Machines and Containers. Blueprint topics: 1.2.</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Ten seconds. Students meeting a chapter in week ten cannot place it without being shown.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Hypervisors, Virtual Machines and Containers 1.2</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 not define these now - they are defined as they arrive. This slide is for the students' notes.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physical server running one application typically uses 5 to 15% of its capacity. The other 85% is bought, powered, cooled and wasted. Virtualisation puts many logical servers on one physical one, each believing it has the machine to itself.</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VM is a set of files — a configuration file describing its virtual hardware, and one or more virtual disk files — plus the state the hypervisor keeps while it runs. It contains a complete guest operating system with its own kernel, drivers, and boot process. Because it is files, it can be copied, snapshotted, moved between hosts while running (live migration, or vMotion), and restored. Those conveniences are also what makes it a networking problem, which is Section sec:vnetimpact. Every VM has one or more vNICs, each with its own MAC address. Those vNICs plug into a virtual switch inside the hypervisor, and the virtual switch has one or more physical NICs as uplinks to the real network.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container does not virtualise the hardware. It virtualises the operating system: several isolated user-space environments share one kernel.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section that matters to a network engineer, and it is where the blueprint’s placement of this topic in domain 1 makes sense.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Pause here. Take two or three answers before advancing. The point is the prediction, not the command.</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it aloud. Ask what single field decides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elimination matters as much as the answer.</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Ask the room. Do not advance until somebody commits to an answer.</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notesSlide" Target="../notesSlides/notesSlide6.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notesSlide" Target="../notesSlides/notesSlide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gfoot"/>
          <p:cNvSpPr/>
          <p:nvPr/>
        </p:nvSpPr>
        <p:spPr>
          <a:xfrm>
            <a:off x="0" y="6172200"/>
            <a:ext cx="12191695" cy="68580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course"/>
          <p:cNvSpPr txBox="1"/>
          <p:nvPr/>
        </p:nvSpPr>
        <p:spPr>
          <a:xfrm>
            <a:off x="685800" y="1170432"/>
            <a:ext cx="10820095" cy="310896"/>
          </a:xfrm>
          <a:prstGeom prst="rect">
            <a:avLst/>
          </a:prstGeom>
          <a:noFill/>
        </p:spPr>
        <p:txBody>
          <a:bodyPr wrap="square" anchor="t" lIns="0" rIns="0" tIns="0" bIns="0">
            <a:spAutoFit/>
          </a:bodyPr>
          <a:lstStyle/>
          <a:p>
            <a:pPr algn="l">
              <a:lnSpc>
                <a:spcPct val="100000"/>
              </a:lnSpc>
              <a:spcAft>
                <a:spcPts val="600"/>
              </a:spcAft>
            </a:pPr>
            <a:r>
              <a:rPr sz="1500" b="1" i="0">
                <a:solidFill>
                  <a:srgbClr val="C8D6E5"/>
                </a:solidFill>
                <a:latin typeface="Segoe UI"/>
              </a:rPr>
              <a:t>CCNA 200-301 V2.0</a:t>
            </a:r>
          </a:p>
        </p:txBody>
      </p:sp>
      <p:sp>
        <p:nvSpPr>
          <p:cNvPr id="5" name="chnum"/>
          <p:cNvSpPr txBox="1"/>
          <p:nvPr/>
        </p:nvSpPr>
        <p:spPr>
          <a:xfrm>
            <a:off x="685800" y="1572768"/>
            <a:ext cx="2011680" cy="1371600"/>
          </a:xfrm>
          <a:prstGeom prst="rect">
            <a:avLst/>
          </a:prstGeom>
          <a:noFill/>
        </p:spPr>
        <p:txBody>
          <a:bodyPr wrap="square" anchor="t" lIns="0" rIns="0" tIns="0" bIns="0">
            <a:spAutoFit/>
          </a:bodyPr>
          <a:lstStyle/>
          <a:p>
            <a:pPr algn="l">
              <a:lnSpc>
                <a:spcPct val="100000"/>
              </a:lnSpc>
              <a:spcAft>
                <a:spcPts val="600"/>
              </a:spcAft>
            </a:pPr>
            <a:r>
              <a:rPr sz="7600" b="1" i="0">
                <a:solidFill>
                  <a:srgbClr val="FFFFFF"/>
                </a:solidFill>
                <a:latin typeface="Segoe UI"/>
              </a:rPr>
              <a:t>29</a:t>
            </a:r>
          </a:p>
        </p:txBody>
      </p:sp>
      <p:sp>
        <p:nvSpPr>
          <p:cNvPr id="6" name="chtitle"/>
          <p:cNvSpPr txBox="1"/>
          <p:nvPr/>
        </p:nvSpPr>
        <p:spPr>
          <a:xfrm>
            <a:off x="2423160" y="1700784"/>
            <a:ext cx="9082735" cy="1371600"/>
          </a:xfrm>
          <a:prstGeom prst="rect">
            <a:avLst/>
          </a:prstGeom>
          <a:noFill/>
        </p:spPr>
        <p:txBody>
          <a:bodyPr wrap="square" anchor="t" lIns="0" rIns="0" tIns="0" bIns="0">
            <a:spAutoFit/>
          </a:bodyPr>
          <a:lstStyle/>
          <a:p>
            <a:pPr algn="l">
              <a:lnSpc>
                <a:spcPct val="100000"/>
              </a:lnSpc>
              <a:spcAft>
                <a:spcPts val="600"/>
              </a:spcAft>
            </a:pPr>
            <a:r>
              <a:rPr sz="3800" b="1" i="0">
                <a:solidFill>
                  <a:srgbClr val="FFFFFF"/>
                </a:solidFill>
                <a:latin typeface="Segoe UI"/>
              </a:rPr>
              <a:t>Hypervisors, Virtual Machines and Containers</a:t>
            </a:r>
          </a:p>
        </p:txBody>
      </p:sp>
      <p:sp>
        <p:nvSpPr>
          <p:cNvPr id="7" name="part"/>
          <p:cNvSpPr txBox="1"/>
          <p:nvPr/>
        </p:nvSpPr>
        <p:spPr>
          <a:xfrm>
            <a:off x="2441448" y="3017520"/>
            <a:ext cx="9082735" cy="292608"/>
          </a:xfrm>
          <a:prstGeom prst="rect">
            <a:avLst/>
          </a:prstGeom>
          <a:noFill/>
        </p:spPr>
        <p:txBody>
          <a:bodyPr wrap="square" anchor="t" lIns="0" rIns="0" tIns="0" bIns="0">
            <a:spAutoFit/>
          </a:bodyPr>
          <a:lstStyle/>
          <a:p>
            <a:pPr algn="l">
              <a:lnSpc>
                <a:spcPct val="100000"/>
              </a:lnSpc>
              <a:spcAft>
                <a:spcPts val="600"/>
              </a:spcAft>
            </a:pPr>
            <a:r>
              <a:rPr sz="1500" b="0" i="0">
                <a:solidFill>
                  <a:srgbClr val="C8D6E5"/>
                </a:solidFill>
                <a:latin typeface="Segoe UI"/>
              </a:rPr>
              <a:t>Part V — Wireless, Virtualisation and Operations</a:t>
            </a:r>
          </a:p>
        </p:txBody>
      </p:sp>
      <p:sp>
        <p:nvSpPr>
          <p:cNvPr id="8" name="tlabel"/>
          <p:cNvSpPr txBox="1"/>
          <p:nvPr/>
        </p:nvSpPr>
        <p:spPr>
          <a:xfrm>
            <a:off x="2441448" y="3401568"/>
            <a:ext cx="1828800" cy="237744"/>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EXAM TOPICS</a:t>
            </a:r>
          </a:p>
        </p:txBody>
      </p:sp>
      <p:sp>
        <p:nvSpPr>
          <p:cNvPr id="9" name="chip-1.2"/>
          <p:cNvSpPr/>
          <p:nvPr/>
        </p:nvSpPr>
        <p:spPr>
          <a:xfrm>
            <a:off x="2441448" y="3657600"/>
            <a:ext cx="566928" cy="274320"/>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chiptx-1.2"/>
          <p:cNvSpPr txBox="1"/>
          <p:nvPr/>
        </p:nvSpPr>
        <p:spPr>
          <a:xfrm>
            <a:off x="2441448" y="3689604"/>
            <a:ext cx="566928" cy="219456"/>
          </a:xfrm>
          <a:prstGeom prst="rect">
            <a:avLst/>
          </a:prstGeom>
          <a:noFill/>
        </p:spPr>
        <p:txBody>
          <a:bodyPr wrap="square" anchor="t" lIns="0" rIns="0" tIns="0" bIns="0">
            <a:spAutoFit/>
          </a:bodyPr>
          <a:lstStyle/>
          <a:p>
            <a:pPr algn="ctr">
              <a:lnSpc>
                <a:spcPct val="100000"/>
              </a:lnSpc>
              <a:spcAft>
                <a:spcPts val="600"/>
              </a:spcAft>
            </a:pPr>
            <a:r>
              <a:rPr sz="1300" b="1" i="0">
                <a:solidFill>
                  <a:srgbClr val="1F618D"/>
                </a:solidFill>
                <a:latin typeface="Segoe UI"/>
              </a:rPr>
              <a:t>1.2</a:t>
            </a:r>
          </a:p>
        </p:txBody>
      </p:sp>
      <p:sp>
        <p:nvSpPr>
          <p:cNvPr id="11" name="authlab"/>
          <p:cNvSpPr txBox="1"/>
          <p:nvPr/>
        </p:nvSpPr>
        <p:spPr>
          <a:xfrm>
            <a:off x="685800" y="5138928"/>
            <a:ext cx="6492057" cy="274320"/>
          </a:xfrm>
          <a:prstGeom prst="rect">
            <a:avLst/>
          </a:prstGeom>
          <a:noFill/>
        </p:spPr>
        <p:txBody>
          <a:bodyPr wrap="square" anchor="t" lIns="0" rIns="0" tIns="0" bIns="0">
            <a:spAutoFit/>
          </a:bodyPr>
          <a:lstStyle/>
          <a:p>
            <a:pPr algn="l">
              <a:lnSpc>
                <a:spcPct val="100000"/>
              </a:lnSpc>
              <a:spcAft>
                <a:spcPts val="600"/>
              </a:spcAft>
            </a:pPr>
            <a:r>
              <a:rPr sz="1100" b="1" i="0">
                <a:solidFill>
                  <a:srgbClr val="B8C9DA"/>
                </a:solidFill>
                <a:latin typeface="Segoe UI"/>
              </a:rPr>
              <a:t>LECTURER</a:t>
            </a:r>
          </a:p>
        </p:txBody>
      </p:sp>
      <p:sp>
        <p:nvSpPr>
          <p:cNvPr id="12" name="author"/>
          <p:cNvSpPr txBox="1"/>
          <p:nvPr/>
        </p:nvSpPr>
        <p:spPr>
          <a:xfrm>
            <a:off x="685800" y="5394960"/>
            <a:ext cx="6492057" cy="329184"/>
          </a:xfrm>
          <a:prstGeom prst="rect">
            <a:avLst/>
          </a:prstGeom>
          <a:noFill/>
        </p:spPr>
        <p:txBody>
          <a:bodyPr wrap="square" anchor="t" lIns="0" rIns="0" tIns="0" bIns="0">
            <a:spAutoFit/>
          </a:bodyPr>
          <a:lstStyle/>
          <a:p>
            <a:pPr algn="l">
              <a:lnSpc>
                <a:spcPct val="100000"/>
              </a:lnSpc>
              <a:spcAft>
                <a:spcPts val="600"/>
              </a:spcAft>
            </a:pPr>
            <a:r>
              <a:rPr sz="1800" b="1" i="0">
                <a:solidFill>
                  <a:srgbClr val="FFFFFF"/>
                </a:solidFill>
                <a:latin typeface="Segoe UI"/>
              </a:rPr>
              <a:t>Dr. Mustafa Hameed</a:t>
            </a:r>
          </a:p>
        </p:txBody>
      </p:sp>
      <p:pic>
        <p:nvPicPr>
          <p:cNvPr id="13" name="logo-iub-logo-white" descr="iub-logo-white.png"/>
          <p:cNvPicPr>
            <a:picLocks noChangeAspect="1"/>
          </p:cNvPicPr>
          <p:nvPr/>
        </p:nvPicPr>
        <p:blipFill>
          <a:blip r:embed="rId2"/>
          <a:stretch>
            <a:fillRect/>
          </a:stretch>
        </p:blipFill>
        <p:spPr>
          <a:xfrm>
            <a:off x="9131978" y="4443984"/>
            <a:ext cx="1070141" cy="1060704"/>
          </a:xfrm>
          <a:prstGeom prst="rect">
            <a:avLst/>
          </a:prstGeom>
        </p:spPr>
      </p:pic>
      <p:pic>
        <p:nvPicPr>
          <p:cNvPr id="14" name="logo-dit-logo" descr="dit-logo.png"/>
          <p:cNvPicPr>
            <a:picLocks noChangeAspect="1"/>
          </p:cNvPicPr>
          <p:nvPr/>
        </p:nvPicPr>
        <p:blipFill>
          <a:blip r:embed="rId3"/>
          <a:stretch>
            <a:fillRect/>
          </a:stretch>
        </p:blipFill>
        <p:spPr>
          <a:xfrm>
            <a:off x="10476439" y="4443984"/>
            <a:ext cx="1029456" cy="1060704"/>
          </a:xfrm>
          <a:prstGeom prst="rect">
            <a:avLst/>
          </a:prstGeom>
        </p:spPr>
      </p:pic>
      <p:sp>
        <p:nvSpPr>
          <p:cNvPr id="15" name="lockup1"/>
          <p:cNvSpPr txBox="1"/>
          <p:nvPr/>
        </p:nvSpPr>
        <p:spPr>
          <a:xfrm>
            <a:off x="7116775" y="5632704"/>
            <a:ext cx="4389120" cy="274320"/>
          </a:xfrm>
          <a:prstGeom prst="rect">
            <a:avLst/>
          </a:prstGeom>
          <a:noFill/>
        </p:spPr>
        <p:txBody>
          <a:bodyPr wrap="square" anchor="t" lIns="0" rIns="0" tIns="0" bIns="0">
            <a:spAutoFit/>
          </a:bodyPr>
          <a:lstStyle/>
          <a:p>
            <a:pPr algn="r">
              <a:lnSpc>
                <a:spcPct val="100000"/>
              </a:lnSpc>
              <a:spcAft>
                <a:spcPts val="600"/>
              </a:spcAft>
            </a:pPr>
            <a:r>
              <a:rPr sz="1200" b="1" i="0">
                <a:solidFill>
                  <a:srgbClr val="FFFFFF"/>
                </a:solidFill>
                <a:latin typeface="Segoe UI"/>
              </a:rPr>
              <a:t>THE ISLAMIA UNIVERSITY OF BAHAWALPUR</a:t>
            </a:r>
          </a:p>
        </p:txBody>
      </p:sp>
      <p:sp>
        <p:nvSpPr>
          <p:cNvPr id="16" name="lockup2"/>
          <p:cNvSpPr txBox="1"/>
          <p:nvPr/>
        </p:nvSpPr>
        <p:spPr>
          <a:xfrm>
            <a:off x="7116775" y="5870448"/>
            <a:ext cx="4389120" cy="256032"/>
          </a:xfrm>
          <a:prstGeom prst="rect">
            <a:avLst/>
          </a:prstGeom>
          <a:noFill/>
        </p:spPr>
        <p:txBody>
          <a:bodyPr wrap="square" anchor="t" lIns="0" rIns="0" tIns="0" bIns="0">
            <a:spAutoFit/>
          </a:bodyPr>
          <a:lstStyle/>
          <a:p>
            <a:pPr algn="r">
              <a:lnSpc>
                <a:spcPct val="100000"/>
              </a:lnSpc>
              <a:spcAft>
                <a:spcPts val="600"/>
              </a:spcAft>
            </a:pPr>
            <a:r>
              <a:rPr sz="1100" b="0" i="0">
                <a:solidFill>
                  <a:srgbClr val="C8D6E5"/>
                </a:solidFill>
                <a:latin typeface="Segoe UI"/>
              </a:rPr>
              <a:t>Department of Information Technology</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THE COURSE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Where this chapter sits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part1bg"/>
          <p:cNvSpPr/>
          <p:nvPr/>
        </p:nvSpPr>
        <p:spPr>
          <a:xfrm>
            <a:off x="685800" y="1792224"/>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part1rule"/>
          <p:cNvSpPr/>
          <p:nvPr/>
        </p:nvSpPr>
        <p:spPr>
          <a:xfrm>
            <a:off x="685800" y="1792224"/>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part1n"/>
          <p:cNvSpPr txBox="1"/>
          <p:nvPr/>
        </p:nvSpPr>
        <p:spPr>
          <a:xfrm>
            <a:off x="941832" y="1938528"/>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a:t>
            </a:r>
          </a:p>
        </p:txBody>
      </p:sp>
      <p:sp>
        <p:nvSpPr>
          <p:cNvPr id="10" name="part1t"/>
          <p:cNvSpPr txBox="1"/>
          <p:nvPr/>
        </p:nvSpPr>
        <p:spPr>
          <a:xfrm>
            <a:off x="2194560" y="1938528"/>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Foundations</a:t>
            </a:r>
          </a:p>
        </p:txBody>
      </p:sp>
      <p:sp>
        <p:nvSpPr>
          <p:cNvPr id="11" name="part1c"/>
          <p:cNvSpPr txBox="1"/>
          <p:nvPr/>
        </p:nvSpPr>
        <p:spPr>
          <a:xfrm>
            <a:off x="9951415" y="1938528"/>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1–7</a:t>
            </a:r>
          </a:p>
        </p:txBody>
      </p:sp>
      <p:sp>
        <p:nvSpPr>
          <p:cNvPr id="12" name="part2bg"/>
          <p:cNvSpPr/>
          <p:nvPr/>
        </p:nvSpPr>
        <p:spPr>
          <a:xfrm>
            <a:off x="685800" y="2450591"/>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part2rule"/>
          <p:cNvSpPr/>
          <p:nvPr/>
        </p:nvSpPr>
        <p:spPr>
          <a:xfrm>
            <a:off x="685800" y="2450591"/>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part2n"/>
          <p:cNvSpPr txBox="1"/>
          <p:nvPr/>
        </p:nvSpPr>
        <p:spPr>
          <a:xfrm>
            <a:off x="941832" y="2596896"/>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a:t>
            </a:r>
          </a:p>
        </p:txBody>
      </p:sp>
      <p:sp>
        <p:nvSpPr>
          <p:cNvPr id="15" name="part2t"/>
          <p:cNvSpPr txBox="1"/>
          <p:nvPr/>
        </p:nvSpPr>
        <p:spPr>
          <a:xfrm>
            <a:off x="2194560" y="2596896"/>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Switching and Network Access</a:t>
            </a:r>
          </a:p>
        </p:txBody>
      </p:sp>
      <p:sp>
        <p:nvSpPr>
          <p:cNvPr id="16" name="part2c"/>
          <p:cNvSpPr txBox="1"/>
          <p:nvPr/>
        </p:nvSpPr>
        <p:spPr>
          <a:xfrm>
            <a:off x="9951415" y="2596896"/>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8–14</a:t>
            </a:r>
          </a:p>
        </p:txBody>
      </p:sp>
      <p:sp>
        <p:nvSpPr>
          <p:cNvPr id="17" name="part3bg"/>
          <p:cNvSpPr/>
          <p:nvPr/>
        </p:nvSpPr>
        <p:spPr>
          <a:xfrm>
            <a:off x="685800" y="3108959"/>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part3rule"/>
          <p:cNvSpPr/>
          <p:nvPr/>
        </p:nvSpPr>
        <p:spPr>
          <a:xfrm>
            <a:off x="685800" y="3108959"/>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part3n"/>
          <p:cNvSpPr txBox="1"/>
          <p:nvPr/>
        </p:nvSpPr>
        <p:spPr>
          <a:xfrm>
            <a:off x="941832" y="3255263"/>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III</a:t>
            </a:r>
          </a:p>
        </p:txBody>
      </p:sp>
      <p:sp>
        <p:nvSpPr>
          <p:cNvPr id="20" name="part3t"/>
          <p:cNvSpPr txBox="1"/>
          <p:nvPr/>
        </p:nvSpPr>
        <p:spPr>
          <a:xfrm>
            <a:off x="2194560" y="3255263"/>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IP Routing</a:t>
            </a:r>
          </a:p>
        </p:txBody>
      </p:sp>
      <p:sp>
        <p:nvSpPr>
          <p:cNvPr id="21" name="part3c"/>
          <p:cNvSpPr txBox="1"/>
          <p:nvPr/>
        </p:nvSpPr>
        <p:spPr>
          <a:xfrm>
            <a:off x="9951415" y="3255263"/>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15–19</a:t>
            </a:r>
          </a:p>
        </p:txBody>
      </p:sp>
      <p:sp>
        <p:nvSpPr>
          <p:cNvPr id="22" name="part4bg"/>
          <p:cNvSpPr/>
          <p:nvPr/>
        </p:nvSpPr>
        <p:spPr>
          <a:xfrm>
            <a:off x="685800" y="3767327"/>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part4rule"/>
          <p:cNvSpPr/>
          <p:nvPr/>
        </p:nvSpPr>
        <p:spPr>
          <a:xfrm>
            <a:off x="685800" y="3767327"/>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part4n"/>
          <p:cNvSpPr txBox="1"/>
          <p:nvPr/>
        </p:nvSpPr>
        <p:spPr>
          <a:xfrm>
            <a:off x="941832" y="3913631"/>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IV</a:t>
            </a:r>
          </a:p>
        </p:txBody>
      </p:sp>
      <p:sp>
        <p:nvSpPr>
          <p:cNvPr id="25" name="part4t"/>
          <p:cNvSpPr txBox="1"/>
          <p:nvPr/>
        </p:nvSpPr>
        <p:spPr>
          <a:xfrm>
            <a:off x="2194560" y="3913631"/>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Network Services and Security</a:t>
            </a:r>
          </a:p>
        </p:txBody>
      </p:sp>
      <p:sp>
        <p:nvSpPr>
          <p:cNvPr id="26" name="part4c"/>
          <p:cNvSpPr txBox="1"/>
          <p:nvPr/>
        </p:nvSpPr>
        <p:spPr>
          <a:xfrm>
            <a:off x="9951415" y="3913631"/>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20–26</a:t>
            </a:r>
          </a:p>
        </p:txBody>
      </p:sp>
      <p:sp>
        <p:nvSpPr>
          <p:cNvPr id="27" name="part5bg"/>
          <p:cNvSpPr/>
          <p:nvPr/>
        </p:nvSpPr>
        <p:spPr>
          <a:xfrm>
            <a:off x="685800" y="4425695"/>
            <a:ext cx="10820095" cy="56692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8" name="part5rule"/>
          <p:cNvSpPr/>
          <p:nvPr/>
        </p:nvSpPr>
        <p:spPr>
          <a:xfrm>
            <a:off x="685800" y="4425695"/>
            <a:ext cx="64008" cy="56692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part5n"/>
          <p:cNvSpPr txBox="1"/>
          <p:nvPr/>
        </p:nvSpPr>
        <p:spPr>
          <a:xfrm>
            <a:off x="941832" y="4571999"/>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F618D"/>
                </a:solidFill>
                <a:latin typeface="Segoe UI"/>
              </a:rPr>
              <a:t>Part V</a:t>
            </a:r>
          </a:p>
        </p:txBody>
      </p:sp>
      <p:sp>
        <p:nvSpPr>
          <p:cNvPr id="30" name="part5t"/>
          <p:cNvSpPr txBox="1"/>
          <p:nvPr/>
        </p:nvSpPr>
        <p:spPr>
          <a:xfrm>
            <a:off x="2194560" y="4571999"/>
            <a:ext cx="7711135"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1C252B"/>
                </a:solidFill>
                <a:latin typeface="Segoe UI"/>
              </a:rPr>
              <a:t>Wireless, Virtualisation and Operations</a:t>
            </a:r>
          </a:p>
        </p:txBody>
      </p:sp>
      <p:sp>
        <p:nvSpPr>
          <p:cNvPr id="31" name="part5c"/>
          <p:cNvSpPr txBox="1"/>
          <p:nvPr/>
        </p:nvSpPr>
        <p:spPr>
          <a:xfrm>
            <a:off x="9951415" y="4571999"/>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1F618D"/>
                </a:solidFill>
                <a:latin typeface="Segoe UI"/>
              </a:rPr>
              <a:t>chapters 27–32</a:t>
            </a:r>
          </a:p>
        </p:txBody>
      </p:sp>
      <p:sp>
        <p:nvSpPr>
          <p:cNvPr id="32" name="part6bg"/>
          <p:cNvSpPr/>
          <p:nvPr/>
        </p:nvSpPr>
        <p:spPr>
          <a:xfrm>
            <a:off x="685800" y="5084063"/>
            <a:ext cx="10820095" cy="566928"/>
          </a:xfrm>
          <a:prstGeom prst="rect">
            <a:avLst/>
          </a:prstGeom>
          <a:solidFill>
            <a:srgbClr val="F7F9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part6rule"/>
          <p:cNvSpPr/>
          <p:nvPr/>
        </p:nvSpPr>
        <p:spPr>
          <a:xfrm>
            <a:off x="685800" y="5084063"/>
            <a:ext cx="64008" cy="566928"/>
          </a:xfrm>
          <a:prstGeom prst="rect">
            <a:avLst/>
          </a:prstGeom>
          <a:solidFill>
            <a:srgbClr val="DDE3E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4" name="part6n"/>
          <p:cNvSpPr txBox="1"/>
          <p:nvPr/>
        </p:nvSpPr>
        <p:spPr>
          <a:xfrm>
            <a:off x="941832" y="5230367"/>
            <a:ext cx="1371600" cy="274320"/>
          </a:xfrm>
          <a:prstGeom prst="rect">
            <a:avLst/>
          </a:prstGeom>
          <a:noFill/>
        </p:spPr>
        <p:txBody>
          <a:bodyPr wrap="square" anchor="t" lIns="0" rIns="0" tIns="0" bIns="0">
            <a:spAutoFit/>
          </a:bodyPr>
          <a:lstStyle/>
          <a:p>
            <a:pPr algn="l">
              <a:lnSpc>
                <a:spcPct val="100000"/>
              </a:lnSpc>
              <a:spcAft>
                <a:spcPts val="600"/>
              </a:spcAft>
            </a:pPr>
            <a:r>
              <a:rPr sz="1400" b="1" i="0">
                <a:solidFill>
                  <a:srgbClr val="8A959A"/>
                </a:solidFill>
                <a:latin typeface="Segoe UI"/>
              </a:rPr>
              <a:t>Part VI</a:t>
            </a:r>
          </a:p>
        </p:txBody>
      </p:sp>
      <p:sp>
        <p:nvSpPr>
          <p:cNvPr id="35" name="part6t"/>
          <p:cNvSpPr txBox="1"/>
          <p:nvPr/>
        </p:nvSpPr>
        <p:spPr>
          <a:xfrm>
            <a:off x="2194560" y="5230367"/>
            <a:ext cx="7711135" cy="274320"/>
          </a:xfrm>
          <a:prstGeom prst="rect">
            <a:avLst/>
          </a:prstGeom>
          <a:noFill/>
        </p:spPr>
        <p:txBody>
          <a:bodyPr wrap="square" anchor="t" lIns="0" rIns="0" tIns="0" bIns="0">
            <a:spAutoFit/>
          </a:bodyPr>
          <a:lstStyle/>
          <a:p>
            <a:pPr algn="l">
              <a:lnSpc>
                <a:spcPct val="100000"/>
              </a:lnSpc>
              <a:spcAft>
                <a:spcPts val="600"/>
              </a:spcAft>
            </a:pPr>
            <a:r>
              <a:rPr sz="1400" b="0" i="0">
                <a:solidFill>
                  <a:srgbClr val="8A959A"/>
                </a:solidFill>
                <a:latin typeface="Segoe UI"/>
              </a:rPr>
              <a:t>Sitting the Exam</a:t>
            </a:r>
          </a:p>
        </p:txBody>
      </p:sp>
      <p:sp>
        <p:nvSpPr>
          <p:cNvPr id="36" name="part6c"/>
          <p:cNvSpPr txBox="1"/>
          <p:nvPr/>
        </p:nvSpPr>
        <p:spPr>
          <a:xfrm>
            <a:off x="9951415" y="5230367"/>
            <a:ext cx="1371600" cy="274320"/>
          </a:xfrm>
          <a:prstGeom prst="rect">
            <a:avLst/>
          </a:prstGeom>
          <a:noFill/>
        </p:spPr>
        <p:txBody>
          <a:bodyPr wrap="square" anchor="t" lIns="0" rIns="0" tIns="0" bIns="0">
            <a:spAutoFit/>
          </a:bodyPr>
          <a:lstStyle/>
          <a:p>
            <a:pPr algn="r">
              <a:lnSpc>
                <a:spcPct val="100000"/>
              </a:lnSpc>
              <a:spcAft>
                <a:spcPts val="600"/>
              </a:spcAft>
            </a:pPr>
            <a:r>
              <a:rPr sz="1200" b="0" i="0">
                <a:solidFill>
                  <a:srgbClr val="8A959A"/>
                </a:solidFill>
                <a:latin typeface="Segoe UI"/>
              </a:rPr>
              <a:t>chapters 33–34</a:t>
            </a:r>
          </a:p>
        </p:txBody>
      </p:sp>
      <p:sp>
        <p:nvSpPr>
          <p:cNvPr id="3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3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LEARNING OUTCOMES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you will be able to do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Distinguish</a:t>
            </a:r>
            <a:r>
              <a:rPr sz="2000" b="0" i="0">
                <a:solidFill>
                  <a:srgbClr val="1C252B"/>
                </a:solidFill>
                <a:latin typeface="Segoe UI"/>
              </a:rPr>
              <a:t> a type 1 from a type 2 hypervisor and say where each belongs.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Describe</a:t>
            </a:r>
            <a:r>
              <a:rPr sz="2000" b="0" i="0">
                <a:solidFill>
                  <a:srgbClr val="1C252B"/>
                </a:solidFill>
                <a:latin typeface="Segoe UI"/>
              </a:rPr>
              <a:t> what a virtual machine contains and how a virtual switch connects it to the physical network.</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Compare</a:t>
            </a:r>
            <a:r>
              <a:rPr sz="2000" b="0" i="0">
                <a:solidFill>
                  <a:srgbClr val="1C252B"/>
                </a:solidFill>
                <a:latin typeface="Segoe UI"/>
              </a:rPr>
              <a:t> virtual machines with containers on isolation, start time, size and what they share.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Configure</a:t>
            </a:r>
            <a:r>
              <a:rPr sz="2000" b="0" i="0">
                <a:solidFill>
                  <a:srgbClr val="1C252B"/>
                </a:solidFill>
                <a:latin typeface="Segoe UI"/>
              </a:rPr>
              <a:t> the physical switch port a hypervisor host attaches to — which is the part of this topic that is actually your job.</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ASSUMED KNOWLEDGE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Before we start</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166725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Chapter 8 and Chapter 10 — a hypervisor uplink is a trunk, and this chapter will not make sense without knowing what one is. Chapter 25 for port security, which is the wrong tool on such a port. Chapter 3 for MAC learning.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KEY TERMS</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Vocabulary for this chapter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erm-hypervisor"/>
          <p:cNvSpPr/>
          <p:nvPr/>
        </p:nvSpPr>
        <p:spPr>
          <a:xfrm>
            <a:off x="685800" y="1609344"/>
            <a:ext cx="118071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b-hypervisor"/>
          <p:cNvSpPr/>
          <p:nvPr/>
        </p:nvSpPr>
        <p:spPr>
          <a:xfrm>
            <a:off x="68580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t-hypervisor"/>
          <p:cNvSpPr txBox="1"/>
          <p:nvPr/>
        </p:nvSpPr>
        <p:spPr>
          <a:xfrm>
            <a:off x="850392" y="1700784"/>
            <a:ext cx="85153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hypervisor</a:t>
            </a:r>
          </a:p>
        </p:txBody>
      </p:sp>
      <p:sp>
        <p:nvSpPr>
          <p:cNvPr id="10" name="term-type 1"/>
          <p:cNvSpPr/>
          <p:nvPr/>
        </p:nvSpPr>
        <p:spPr>
          <a:xfrm>
            <a:off x="1994535" y="1609344"/>
            <a:ext cx="8530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b-type 1"/>
          <p:cNvSpPr/>
          <p:nvPr/>
        </p:nvSpPr>
        <p:spPr>
          <a:xfrm>
            <a:off x="1994535"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t-type 1"/>
          <p:cNvSpPr txBox="1"/>
          <p:nvPr/>
        </p:nvSpPr>
        <p:spPr>
          <a:xfrm>
            <a:off x="2159127" y="1700784"/>
            <a:ext cx="5238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type 1</a:t>
            </a:r>
          </a:p>
        </p:txBody>
      </p:sp>
      <p:sp>
        <p:nvSpPr>
          <p:cNvPr id="13" name="term-type 2"/>
          <p:cNvSpPr/>
          <p:nvPr/>
        </p:nvSpPr>
        <p:spPr>
          <a:xfrm>
            <a:off x="2975610" y="1609344"/>
            <a:ext cx="85305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b-type 2"/>
          <p:cNvSpPr/>
          <p:nvPr/>
        </p:nvSpPr>
        <p:spPr>
          <a:xfrm>
            <a:off x="297561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t-type 2"/>
          <p:cNvSpPr txBox="1"/>
          <p:nvPr/>
        </p:nvSpPr>
        <p:spPr>
          <a:xfrm>
            <a:off x="3140202" y="1700784"/>
            <a:ext cx="52387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type 2</a:t>
            </a:r>
          </a:p>
        </p:txBody>
      </p:sp>
      <p:sp>
        <p:nvSpPr>
          <p:cNvPr id="16" name="term-virtual machine"/>
          <p:cNvSpPr/>
          <p:nvPr/>
        </p:nvSpPr>
        <p:spPr>
          <a:xfrm>
            <a:off x="3956684" y="1609344"/>
            <a:ext cx="16169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b-virtual machine"/>
          <p:cNvSpPr/>
          <p:nvPr/>
        </p:nvSpPr>
        <p:spPr>
          <a:xfrm>
            <a:off x="395668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t-virtual machine"/>
          <p:cNvSpPr txBox="1"/>
          <p:nvPr/>
        </p:nvSpPr>
        <p:spPr>
          <a:xfrm>
            <a:off x="4121276" y="1700784"/>
            <a:ext cx="128778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virtual machine</a:t>
            </a:r>
          </a:p>
        </p:txBody>
      </p:sp>
      <p:sp>
        <p:nvSpPr>
          <p:cNvPr id="19" name="term-guest OS"/>
          <p:cNvSpPr/>
          <p:nvPr/>
        </p:nvSpPr>
        <p:spPr>
          <a:xfrm>
            <a:off x="5701664" y="1609344"/>
            <a:ext cx="106832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tb-guest OS"/>
          <p:cNvSpPr/>
          <p:nvPr/>
        </p:nvSpPr>
        <p:spPr>
          <a:xfrm>
            <a:off x="570166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t-guest OS"/>
          <p:cNvSpPr txBox="1"/>
          <p:nvPr/>
        </p:nvSpPr>
        <p:spPr>
          <a:xfrm>
            <a:off x="5866256" y="1700784"/>
            <a:ext cx="73913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guest OS</a:t>
            </a:r>
          </a:p>
        </p:txBody>
      </p:sp>
      <p:sp>
        <p:nvSpPr>
          <p:cNvPr id="22" name="term-vNIC"/>
          <p:cNvSpPr/>
          <p:nvPr/>
        </p:nvSpPr>
        <p:spPr>
          <a:xfrm>
            <a:off x="6898004" y="1609344"/>
            <a:ext cx="719708"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3" name="tb-vNIC"/>
          <p:cNvSpPr/>
          <p:nvPr/>
        </p:nvSpPr>
        <p:spPr>
          <a:xfrm>
            <a:off x="6898004"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4" name="tt-vNIC"/>
          <p:cNvSpPr txBox="1"/>
          <p:nvPr/>
        </p:nvSpPr>
        <p:spPr>
          <a:xfrm>
            <a:off x="7062596" y="1700784"/>
            <a:ext cx="390524"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vNIC</a:t>
            </a:r>
          </a:p>
        </p:txBody>
      </p:sp>
      <p:sp>
        <p:nvSpPr>
          <p:cNvPr id="25" name="term-virtual switch"/>
          <p:cNvSpPr/>
          <p:nvPr/>
        </p:nvSpPr>
        <p:spPr>
          <a:xfrm>
            <a:off x="7745730" y="1609344"/>
            <a:ext cx="14798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b-virtual switch"/>
          <p:cNvSpPr/>
          <p:nvPr/>
        </p:nvSpPr>
        <p:spPr>
          <a:xfrm>
            <a:off x="774573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7" name="tt-virtual switch"/>
          <p:cNvSpPr txBox="1"/>
          <p:nvPr/>
        </p:nvSpPr>
        <p:spPr>
          <a:xfrm>
            <a:off x="7910322" y="1700784"/>
            <a:ext cx="11506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virtual switch</a:t>
            </a:r>
          </a:p>
        </p:txBody>
      </p:sp>
      <p:sp>
        <p:nvSpPr>
          <p:cNvPr id="28" name="term-port group"/>
          <p:cNvSpPr/>
          <p:nvPr/>
        </p:nvSpPr>
        <p:spPr>
          <a:xfrm>
            <a:off x="9353550" y="1609344"/>
            <a:ext cx="1140714"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tb-port group"/>
          <p:cNvSpPr/>
          <p:nvPr/>
        </p:nvSpPr>
        <p:spPr>
          <a:xfrm>
            <a:off x="9353550" y="1609344"/>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t-port group"/>
          <p:cNvSpPr txBox="1"/>
          <p:nvPr/>
        </p:nvSpPr>
        <p:spPr>
          <a:xfrm>
            <a:off x="9518142" y="1700784"/>
            <a:ext cx="81153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port group</a:t>
            </a:r>
          </a:p>
        </p:txBody>
      </p:sp>
      <p:sp>
        <p:nvSpPr>
          <p:cNvPr id="31" name="term-container"/>
          <p:cNvSpPr/>
          <p:nvPr/>
        </p:nvSpPr>
        <p:spPr>
          <a:xfrm>
            <a:off x="685800" y="2212848"/>
            <a:ext cx="10835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2" name="tb-container"/>
          <p:cNvSpPr/>
          <p:nvPr/>
        </p:nvSpPr>
        <p:spPr>
          <a:xfrm>
            <a:off x="685800"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3" name="tt-container"/>
          <p:cNvSpPr txBox="1"/>
          <p:nvPr/>
        </p:nvSpPr>
        <p:spPr>
          <a:xfrm>
            <a:off x="850392" y="2304288"/>
            <a:ext cx="7543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container</a:t>
            </a:r>
          </a:p>
        </p:txBody>
      </p:sp>
      <p:sp>
        <p:nvSpPr>
          <p:cNvPr id="34" name="term-image"/>
          <p:cNvSpPr/>
          <p:nvPr/>
        </p:nvSpPr>
        <p:spPr>
          <a:xfrm>
            <a:off x="1897379" y="2212848"/>
            <a:ext cx="845439"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5" name="tb-image"/>
          <p:cNvSpPr/>
          <p:nvPr/>
        </p:nvSpPr>
        <p:spPr>
          <a:xfrm>
            <a:off x="1897379"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6" name="tt-image"/>
          <p:cNvSpPr txBox="1"/>
          <p:nvPr/>
        </p:nvSpPr>
        <p:spPr>
          <a:xfrm>
            <a:off x="2061972" y="2304288"/>
            <a:ext cx="516255"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image</a:t>
            </a:r>
          </a:p>
        </p:txBody>
      </p:sp>
      <p:sp>
        <p:nvSpPr>
          <p:cNvPr id="37" name="term-kernel"/>
          <p:cNvSpPr/>
          <p:nvPr/>
        </p:nvSpPr>
        <p:spPr>
          <a:xfrm>
            <a:off x="2870834" y="2212848"/>
            <a:ext cx="8321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8" name="tb-kernel"/>
          <p:cNvSpPr/>
          <p:nvPr/>
        </p:nvSpPr>
        <p:spPr>
          <a:xfrm>
            <a:off x="2870834"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9" name="tt-kernel"/>
          <p:cNvSpPr txBox="1"/>
          <p:nvPr/>
        </p:nvSpPr>
        <p:spPr>
          <a:xfrm>
            <a:off x="3035427" y="2304288"/>
            <a:ext cx="50291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kernel</a:t>
            </a:r>
          </a:p>
        </p:txBody>
      </p:sp>
      <p:sp>
        <p:nvSpPr>
          <p:cNvPr id="40" name="term-orchestration"/>
          <p:cNvSpPr/>
          <p:nvPr/>
        </p:nvSpPr>
        <p:spPr>
          <a:xfrm>
            <a:off x="3830955" y="2212848"/>
            <a:ext cx="139217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1" name="tb-orchestration"/>
          <p:cNvSpPr/>
          <p:nvPr/>
        </p:nvSpPr>
        <p:spPr>
          <a:xfrm>
            <a:off x="383095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2" name="tt-orchestration"/>
          <p:cNvSpPr txBox="1"/>
          <p:nvPr/>
        </p:nvSpPr>
        <p:spPr>
          <a:xfrm>
            <a:off x="3995546" y="2304288"/>
            <a:ext cx="106298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orchestration</a:t>
            </a:r>
          </a:p>
        </p:txBody>
      </p:sp>
      <p:sp>
        <p:nvSpPr>
          <p:cNvPr id="43" name="term-east-west traffic"/>
          <p:cNvSpPr/>
          <p:nvPr/>
        </p:nvSpPr>
        <p:spPr>
          <a:xfrm>
            <a:off x="5351145" y="2212848"/>
            <a:ext cx="173126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4" name="tb-east-west traffic"/>
          <p:cNvSpPr/>
          <p:nvPr/>
        </p:nvSpPr>
        <p:spPr>
          <a:xfrm>
            <a:off x="5351145"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5" name="tt-east-west traffic"/>
          <p:cNvSpPr txBox="1"/>
          <p:nvPr/>
        </p:nvSpPr>
        <p:spPr>
          <a:xfrm>
            <a:off x="5515736" y="2304288"/>
            <a:ext cx="1402079"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east-west traffic</a:t>
            </a:r>
          </a:p>
        </p:txBody>
      </p:sp>
      <p:sp>
        <p:nvSpPr>
          <p:cNvPr id="46" name="term-live migration"/>
          <p:cNvSpPr/>
          <p:nvPr/>
        </p:nvSpPr>
        <p:spPr>
          <a:xfrm>
            <a:off x="7210424" y="2212848"/>
            <a:ext cx="1479803" cy="47548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7" name="tb-live migration"/>
          <p:cNvSpPr/>
          <p:nvPr/>
        </p:nvSpPr>
        <p:spPr>
          <a:xfrm>
            <a:off x="7210424" y="2212848"/>
            <a:ext cx="32004" cy="475488"/>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8" name="tt-live migration"/>
          <p:cNvSpPr txBox="1"/>
          <p:nvPr/>
        </p:nvSpPr>
        <p:spPr>
          <a:xfrm>
            <a:off x="7375016" y="2304288"/>
            <a:ext cx="1150620" cy="274320"/>
          </a:xfrm>
          <a:prstGeom prst="rect">
            <a:avLst/>
          </a:prstGeom>
          <a:noFill/>
        </p:spPr>
        <p:txBody>
          <a:bodyPr wrap="none" anchor="t" lIns="0" rIns="0" tIns="0" bIns="0">
            <a:spAutoFit/>
          </a:bodyPr>
          <a:lstStyle/>
          <a:p>
            <a:pPr algn="l">
              <a:lnSpc>
                <a:spcPct val="100000"/>
              </a:lnSpc>
              <a:spcAft>
                <a:spcPts val="600"/>
              </a:spcAft>
            </a:pPr>
            <a:r>
              <a:rPr sz="1500" b="0" i="0">
                <a:solidFill>
                  <a:srgbClr val="1C252B"/>
                </a:solidFill>
                <a:latin typeface="Segoe UI"/>
              </a:rPr>
              <a:t>live migration</a:t>
            </a:r>
          </a:p>
        </p:txBody>
      </p:sp>
      <p:sp>
        <p:nvSpPr>
          <p:cNvPr id="49" name="termnote"/>
          <p:cNvSpPr txBox="1"/>
          <p:nvPr/>
        </p:nvSpPr>
        <p:spPr>
          <a:xfrm>
            <a:off x="685800" y="2962656"/>
            <a:ext cx="10820095" cy="274320"/>
          </a:xfrm>
          <a:prstGeom prst="rect">
            <a:avLst/>
          </a:prstGeom>
          <a:noFill/>
        </p:spPr>
        <p:txBody>
          <a:bodyPr wrap="square" anchor="t" lIns="0" rIns="0" tIns="0" bIns="0">
            <a:spAutoFit/>
          </a:bodyPr>
          <a:lstStyle/>
          <a:p>
            <a:pPr algn="l">
              <a:lnSpc>
                <a:spcPct val="100000"/>
              </a:lnSpc>
              <a:spcAft>
                <a:spcPts val="600"/>
              </a:spcAft>
            </a:pPr>
            <a:r>
              <a:rPr sz="1300" b="0" i="0">
                <a:solidFill>
                  <a:srgbClr val="8A959A"/>
                </a:solidFill>
                <a:latin typeface="Segoe UI"/>
              </a:rPr>
              <a:t>Each is defined where it first matters — not 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ON THE EXAM</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Describe the role and function</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icon"/>
          <p:cNvSpPr txBox="1"/>
          <p:nvPr/>
        </p:nvSpPr>
        <p:spPr>
          <a:xfrm>
            <a:off x="685800" y="1517904"/>
            <a:ext cx="10820095" cy="292608"/>
          </a:xfrm>
          <a:prstGeom prst="rect">
            <a:avLst/>
          </a:prstGeom>
          <a:noFill/>
        </p:spPr>
        <p:txBody>
          <a:bodyPr wrap="square" anchor="t" lIns="0" rIns="0" tIns="0" bIns="0">
            <a:spAutoFit/>
          </a:bodyPr>
          <a:lstStyle/>
          <a:p>
            <a:pPr algn="l">
              <a:lnSpc>
                <a:spcPct val="100000"/>
              </a:lnSpc>
              <a:spcAft>
                <a:spcPts val="600"/>
              </a:spcAft>
            </a:pPr>
            <a:r>
              <a:rPr sz="1300" b="1" i="0">
                <a:solidFill>
                  <a:srgbClr val="1F618D"/>
                </a:solidFill>
                <a:latin typeface="Segoe UI"/>
              </a:rPr>
              <a:t>This is what the blueprint actually asks for</a:t>
            </a:r>
          </a:p>
        </p:txBody>
      </p:sp>
      <p:sp>
        <p:nvSpPr>
          <p:cNvPr id="8" name="body"/>
          <p:cNvSpPr txBox="1"/>
          <p:nvPr/>
        </p:nvSpPr>
        <p:spPr>
          <a:xfrm>
            <a:off x="685800" y="1883664"/>
            <a:ext cx="10820095" cy="4498848"/>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Topic </a:t>
            </a:r>
            <a:r>
              <a:rPr sz="1600" b="1">
                <a:solidFill>
                  <a:srgbClr val="1F618D"/>
                </a:solidFill>
                <a:latin typeface="Segoe UI"/>
              </a:rPr>
              <a:t> 1.2 </a:t>
            </a:r>
            <a:r>
              <a:rPr sz="2000" b="0" i="0">
                <a:solidFill>
                  <a:srgbClr val="1C252B"/>
                </a:solidFill>
                <a:latin typeface="Segoe UI"/>
              </a:rPr>
              <a:t> is </a:t>
            </a:r>
            <a:r>
              <a:rPr sz="2000" b="0" i="1">
                <a:solidFill>
                  <a:srgbClr val="1C252B"/>
                </a:solidFill>
                <a:latin typeface="Segoe UI"/>
              </a:rPr>
              <a:t>describe the role and function of hypervisors, virtual machines, and containers</a:t>
            </a:r>
            <a:r>
              <a:rPr sz="2000" b="0" i="0">
                <a:solidFill>
                  <a:srgbClr val="1C252B"/>
                </a:solidFill>
                <a:latin typeface="Segoe UI"/>
              </a:rPr>
              <a:t>. No configuration of any hypervisor is required, and no vendor product is named.</a:t>
            </a:r>
          </a:p>
          <a:p>
            <a:pPr algn="l">
              <a:lnSpc>
                <a:spcPct val="100000"/>
              </a:lnSpc>
              <a:spcAft>
                <a:spcPts val="1000"/>
              </a:spcAft>
            </a:pPr>
            <a:r>
              <a:rPr sz="2000" b="0" i="0">
                <a:solidFill>
                  <a:srgbClr val="1C252B"/>
                </a:solidFill>
                <a:latin typeface="Segoe UI"/>
              </a:rPr>
              <a:t>But it sits in domain 1, </a:t>
            </a:r>
            <a:r>
              <a:rPr sz="2000" b="0" i="1">
                <a:solidFill>
                  <a:srgbClr val="1C252B"/>
                </a:solidFill>
                <a:latin typeface="Segoe UI"/>
              </a:rPr>
              <a:t>Network Infrastructure and Connectivity</a:t>
            </a:r>
            <a:r>
              <a:rPr sz="2000" b="0" i="0">
                <a:solidFill>
                  <a:srgbClr val="1C252B"/>
                </a:solidFill>
                <a:latin typeface="Segoe UI"/>
              </a:rPr>
              <a:t>, and not by accident. A CCNA is not asked to administer a hypervisor; a CCNA is asked to </a:t>
            </a:r>
            <a:r>
              <a:rPr sz="2000" b="1" i="0">
                <a:solidFill>
                  <a:srgbClr val="1C252B"/>
                </a:solidFill>
                <a:latin typeface="Segoe UI"/>
              </a:rPr>
              <a:t>connect one correctly</a:t>
            </a:r>
            <a:r>
              <a:rPr sz="2000" b="0" i="0">
                <a:solidFill>
                  <a:srgbClr val="1C252B"/>
                </a:solidFill>
                <a:latin typeface="Segoe UI"/>
              </a:rPr>
              <a:t>, and to recognise the several things a virtualised server does to a network that a physical server never did. Section sec:vnetimpact is where those live, and it is the part of this chapter you will use at work next week.</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Why any of this exists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Hypervisor</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16672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Software that presents virtual hardware — CPU, memory, disk, network interface — to several guest operating systems at once, and schedules the real hardware between them. Also called a </a:t>
            </a:r>
            <a:r>
              <a:rPr sz="2000" b="1" i="0">
                <a:solidFill>
                  <a:srgbClr val="1F618D"/>
                </a:solidFill>
                <a:latin typeface="Segoe UI"/>
              </a:rPr>
              <a:t>virtual machine monitor</a:t>
            </a:r>
            <a:r>
              <a:rPr sz="2000" b="0" i="0">
                <a:solidFill>
                  <a:srgbClr val="1C252B"/>
                </a:solidFill>
                <a:latin typeface="Segoe UI"/>
              </a:rPr>
              <a:t>.</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Type 1 and type 2</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pic>
        <p:nvPicPr>
          <p:cNvPr id="6" name="figure" descr="hypervisors.png"/>
          <p:cNvPicPr>
            <a:picLocks noChangeAspect="1"/>
          </p:cNvPicPr>
          <p:nvPr/>
        </p:nvPicPr>
        <p:blipFill>
          <a:blip r:embed="rId2"/>
          <a:stretch>
            <a:fillRect/>
          </a:stretch>
        </p:blipFill>
        <p:spPr>
          <a:xfrm>
            <a:off x="685800" y="1977926"/>
            <a:ext cx="10820095" cy="3194754"/>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The difference is one layer. A type 1 hypervisor is the operating system; a type 2 hypervisor is an application running on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You have almost certainly used both</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2419095"/>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CML or GNS3 you run the labs in this book on is a type 2 hypervisor, or runs inside one. The cloud instances your university’s systems run on are type 1.</a:t>
            </a:r>
          </a:p>
          <a:p>
            <a:pPr algn="l">
              <a:lnSpc>
                <a:spcPct val="100000"/>
              </a:lnSpc>
              <a:spcAft>
                <a:spcPts val="1000"/>
              </a:spcAft>
            </a:pPr>
            <a:r>
              <a:rPr sz="2000" b="0" i="0">
                <a:solidFill>
                  <a:srgbClr val="1C252B"/>
                </a:solidFill>
                <a:latin typeface="Segoe UI"/>
              </a:rPr>
              <a:t>If an exam question describes a hypervisor installed </a:t>
            </a:r>
            <a:r>
              <a:rPr sz="2000" b="0" i="1">
                <a:solidFill>
                  <a:srgbClr val="1C252B"/>
                </a:solidFill>
                <a:latin typeface="Segoe UI"/>
              </a:rPr>
              <a:t>onto</a:t>
            </a:r>
            <a:r>
              <a:rPr sz="2000" b="0" i="0">
                <a:solidFill>
                  <a:srgbClr val="1C252B"/>
                </a:solidFill>
                <a:latin typeface="Segoe UI"/>
              </a:rPr>
              <a:t> a server with no other operating system, it is type 1. If it describes one installed </a:t>
            </a:r>
            <a:r>
              <a:rPr sz="2000" b="0" i="1">
                <a:solidFill>
                  <a:srgbClr val="1C252B"/>
                </a:solidFill>
                <a:latin typeface="Segoe UI"/>
              </a:rPr>
              <a:t>into</a:t>
            </a:r>
            <a:r>
              <a:rPr sz="2000" b="0" i="0">
                <a:solidFill>
                  <a:srgbClr val="1C252B"/>
                </a:solidFill>
                <a:latin typeface="Segoe UI"/>
              </a:rPr>
              <a:t> Windows or macOS, it is type 2. That is the whole distinction.</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What a virtual machine is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virtual switch</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pic>
        <p:nvPicPr>
          <p:cNvPr id="6" name="figure" descr="vswitch.png"/>
          <p:cNvPicPr>
            <a:picLocks noChangeAspect="1"/>
          </p:cNvPicPr>
          <p:nvPr/>
        </p:nvPicPr>
        <p:blipFill>
          <a:blip r:embed="rId2"/>
          <a:stretch>
            <a:fillRect/>
          </a:stretch>
        </p:blipFill>
        <p:spPr>
          <a:xfrm>
            <a:off x="685800" y="2019316"/>
            <a:ext cx="10820095" cy="3111974"/>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VM 1 talking to VM 2 never reaches SW1. Everything else does, over a trunk — a single physical port carrying three VLANs.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Port group</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1997456"/>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named policy on the virtual switch — a VLAN ID, security settings and traffic shaping — that VMs are attached to. It is the virtual equivalent of deciding which VLAN a switch port belongs to, and the VLAN ID configured on it must match one the physical switch actually trunks.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Containers</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itle"/>
          <p:cNvSpPr txBox="1"/>
          <p:nvPr/>
        </p:nvSpPr>
        <p:spPr>
          <a:xfrm>
            <a:off x="685800" y="45720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Containers</a:t>
            </a:r>
          </a:p>
        </p:txBody>
      </p:sp>
      <p:sp>
        <p:nvSpPr>
          <p:cNvPr id="3"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4"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5"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pic>
        <p:nvPicPr>
          <p:cNvPr id="6" name="figure" descr="containers.png"/>
          <p:cNvPicPr>
            <a:picLocks noChangeAspect="1"/>
          </p:cNvPicPr>
          <p:nvPr/>
        </p:nvPicPr>
        <p:blipFill>
          <a:blip r:embed="rId2"/>
          <a:stretch>
            <a:fillRect/>
          </a:stretch>
        </p:blipFill>
        <p:spPr>
          <a:xfrm>
            <a:off x="685800" y="2053432"/>
            <a:ext cx="10820095" cy="3043742"/>
          </a:xfrm>
          <a:prstGeom prst="rect">
            <a:avLst/>
          </a:prstGeom>
        </p:spPr>
      </p:pic>
      <p:sp>
        <p:nvSpPr>
          <p:cNvPr id="7" name="figcap"/>
          <p:cNvSpPr txBox="1"/>
          <p:nvPr/>
        </p:nvSpPr>
        <p:spPr>
          <a:xfrm>
            <a:off x="685800" y="5687568"/>
            <a:ext cx="10820095" cy="658368"/>
          </a:xfrm>
          <a:prstGeom prst="rect">
            <a:avLst/>
          </a:prstGeom>
          <a:noFill/>
        </p:spPr>
        <p:txBody>
          <a:bodyPr wrap="square" anchor="t" lIns="0" rIns="0" tIns="0" bIns="0">
            <a:spAutoFit/>
          </a:bodyPr>
          <a:lstStyle/>
          <a:p>
            <a:pPr algn="ctr">
              <a:lnSpc>
                <a:spcPct val="100000"/>
              </a:lnSpc>
              <a:spcAft>
                <a:spcPts val="600"/>
              </a:spcAft>
            </a:pPr>
            <a:r>
              <a:rPr sz="1300" b="0" i="0">
                <a:solidFill>
                  <a:srgbClr val="707B7C"/>
                </a:solidFill>
                <a:latin typeface="Segoe UI"/>
              </a:rPr>
              <a:t>One layer removed. Containers share the host’s kernel, which is why they are small and fast — and why the isolation between them is weaker.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CONCEPT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They are not competitors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3079496"/>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The common real deployment is containers </a:t>
            </a:r>
            <a:r>
              <a:rPr sz="2000" b="0" i="1">
                <a:solidFill>
                  <a:srgbClr val="1C252B"/>
                </a:solidFill>
                <a:latin typeface="Segoe UI"/>
              </a:rPr>
              <a:t>inside</a:t>
            </a:r>
            <a:r>
              <a:rPr sz="2000" b="0" i="0">
                <a:solidFill>
                  <a:srgbClr val="1C252B"/>
                </a:solidFill>
                <a:latin typeface="Segoe UI"/>
              </a:rPr>
              <a:t> virtual machines: the VM provides hard isolation and the ability to move workloads between hosts, and the container provides fast, repeatable application packaging inside it. Every major cloud provider runs some version of this.</a:t>
            </a:r>
          </a:p>
          <a:p>
            <a:pPr algn="l">
              <a:lnSpc>
                <a:spcPct val="100000"/>
              </a:lnSpc>
              <a:spcAft>
                <a:spcPts val="1000"/>
              </a:spcAft>
            </a:pPr>
            <a:r>
              <a:rPr sz="2000" b="0" i="0">
                <a:solidFill>
                  <a:srgbClr val="1C252B"/>
                </a:solidFill>
                <a:latin typeface="Segoe UI"/>
              </a:rPr>
              <a:t>An exam question asking you to choose between them is asking about the properties in the table — kernel sharing, size, start time, isolation — not about which is better.</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DEFINITION</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Orchestration</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tint"/>
          <p:cNvSpPr/>
          <p:nvPr/>
        </p:nvSpPr>
        <p:spPr>
          <a:xfrm>
            <a:off x="685800" y="1517904"/>
            <a:ext cx="10820095" cy="2419095"/>
          </a:xfrm>
          <a:prstGeom prst="rect">
            <a:avLst/>
          </a:prstGeom>
          <a:solidFill>
            <a:srgbClr val="FDF2E9"/>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ody"/>
          <p:cNvSpPr txBox="1"/>
          <p:nvPr/>
        </p:nvSpPr>
        <p:spPr>
          <a:xfrm>
            <a:off x="978408" y="1737360"/>
            <a:ext cx="10234879" cy="4645152"/>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Running one container by hand is easy. Running four hundred across thirty hosts, restarting the ones that fail, scaling with demand and routing traffic to whichever are healthy is not. An </a:t>
            </a:r>
            <a:r>
              <a:rPr sz="2000" b="1" i="0">
                <a:solidFill>
                  <a:srgbClr val="1F618D"/>
                </a:solidFill>
                <a:latin typeface="Segoe UI"/>
              </a:rPr>
              <a:t>orchestrator</a:t>
            </a:r>
            <a:r>
              <a:rPr sz="2000" b="0" i="0">
                <a:solidFill>
                  <a:srgbClr val="1C252B"/>
                </a:solidFill>
                <a:latin typeface="Segoe UI"/>
              </a:rPr>
              <a:t> — Kubernetes is the dominant one — does that scheduling, health-checking and service discovery.</a:t>
            </a:r>
          </a:p>
          <a:p>
            <a:pPr algn="l">
              <a:lnSpc>
                <a:spcPct val="100000"/>
              </a:lnSpc>
              <a:spcAft>
                <a:spcPts val="1000"/>
              </a:spcAft>
            </a:pPr>
            <a:r>
              <a:rPr sz="2000" b="0" i="0">
                <a:solidFill>
                  <a:srgbClr val="1C252B"/>
                </a:solidFill>
                <a:latin typeface="Segoe UI"/>
              </a:rPr>
              <a:t>For this exam, know what the word means and what problem it solves.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and"/>
          <p:cNvSpPr/>
          <p:nvPr/>
        </p:nvSpPr>
        <p:spPr>
          <a:xfrm>
            <a:off x="0" y="2331720"/>
            <a:ext cx="12191695" cy="18288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secheading"/>
          <p:cNvSpPr txBox="1"/>
          <p:nvPr/>
        </p:nvSpPr>
        <p:spPr>
          <a:xfrm>
            <a:off x="685800" y="2670048"/>
            <a:ext cx="9448495" cy="1188720"/>
          </a:xfrm>
          <a:prstGeom prst="rect">
            <a:avLst/>
          </a:prstGeom>
          <a:noFill/>
        </p:spPr>
        <p:txBody>
          <a:bodyPr wrap="square" anchor="ctr" lIns="0" rIns="0" tIns="0" bIns="0">
            <a:spAutoFit/>
          </a:bodyPr>
          <a:lstStyle/>
          <a:p>
            <a:pPr algn="l">
              <a:lnSpc>
                <a:spcPct val="100000"/>
              </a:lnSpc>
              <a:spcAft>
                <a:spcPts val="600"/>
              </a:spcAft>
            </a:pPr>
            <a:r>
              <a:rPr sz="3400" b="1" i="0">
                <a:solidFill>
                  <a:srgbClr val="FFFFFF"/>
                </a:solidFill>
                <a:latin typeface="Segoe UI"/>
              </a:rPr>
              <a:t>What this does to your network</a:t>
            </a:r>
          </a:p>
        </p:txBody>
      </p:sp>
      <p:pic>
        <p:nvPicPr>
          <p:cNvPr id="4" name="logo-iub-logo-white" descr="iub-logo-white.png"/>
          <p:cNvPicPr>
            <a:picLocks noChangeAspect="1"/>
          </p:cNvPicPr>
          <p:nvPr/>
        </p:nvPicPr>
        <p:blipFill>
          <a:blip r:embed="rId2"/>
          <a:stretch>
            <a:fillRect/>
          </a:stretch>
        </p:blipFill>
        <p:spPr>
          <a:xfrm>
            <a:off x="10343500" y="2670048"/>
            <a:ext cx="1162394" cy="1152144"/>
          </a:xfrm>
          <a:prstGeom prst="rect">
            <a:avLst/>
          </a:prstGeom>
        </p:spPr>
      </p:pic>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CONFIGURE</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100" b="1" i="0">
                <a:solidFill>
                  <a:srgbClr val="1A5276"/>
                </a:solidFill>
                <a:latin typeface="Segoe UI"/>
              </a:rPr>
              <a:t>The physical switch port a hypervisor host attaches to</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codebg"/>
          <p:cNvSpPr/>
          <p:nvPr/>
        </p:nvSpPr>
        <p:spPr>
          <a:xfrm>
            <a:off x="685800" y="1517904"/>
            <a:ext cx="10820095" cy="4637532"/>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codebar"/>
          <p:cNvSpPr/>
          <p:nvPr/>
        </p:nvSpPr>
        <p:spPr>
          <a:xfrm>
            <a:off x="685800" y="1517904"/>
            <a:ext cx="10820095" cy="347472"/>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codettl"/>
          <p:cNvSpPr txBox="1"/>
          <p:nvPr/>
        </p:nvSpPr>
        <p:spPr>
          <a:xfrm>
            <a:off x="886968" y="1572768"/>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10" name="code"/>
          <p:cNvSpPr txBox="1"/>
          <p:nvPr/>
        </p:nvSpPr>
        <p:spPr>
          <a:xfrm>
            <a:off x="886968" y="1956816"/>
            <a:ext cx="10417759" cy="4143755"/>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GigabitEthernet1/0/24</a:t>
            </a:r>
          </a:p>
          <a:p>
            <a:pPr>
              <a:lnSpc>
                <a:spcPct val="100000"/>
              </a:lnSpc>
              <a:spcAft>
                <a:spcPts val="0"/>
              </a:spcAft>
            </a:pPr>
            <a:r>
              <a:rPr sz="1500">
                <a:solidFill>
                  <a:srgbClr val="E8EEF2"/>
                </a:solidFill>
                <a:latin typeface="Consolas"/>
              </a:rPr>
              <a:t> description ESXi host 3 -- vmnic0</a:t>
            </a:r>
          </a:p>
          <a:p>
            <a:pPr>
              <a:lnSpc>
                <a:spcPct val="100000"/>
              </a:lnSpc>
              <a:spcAft>
                <a:spcPts val="0"/>
              </a:spcAft>
            </a:pPr>
            <a:r>
              <a:rPr sz="1500">
                <a:solidFill>
                  <a:srgbClr val="E8EEF2"/>
                </a:solidFill>
                <a:latin typeface="Consolas"/>
              </a:rPr>
              <a:t> switchport trunk encapsulation dot1q</a:t>
            </a:r>
          </a:p>
          <a:p>
            <a:pPr>
              <a:lnSpc>
                <a:spcPct val="100000"/>
              </a:lnSpc>
              <a:spcAft>
                <a:spcPts val="0"/>
              </a:spcAft>
            </a:pPr>
            <a:r>
              <a:rPr sz="1500">
                <a:solidFill>
                  <a:srgbClr val="E8EEF2"/>
                </a:solidFill>
                <a:latin typeface="Consolas"/>
              </a:rPr>
              <a:t> switchport mode trunk</a:t>
            </a:r>
          </a:p>
          <a:p>
            <a:pPr>
              <a:lnSpc>
                <a:spcPct val="100000"/>
              </a:lnSpc>
              <a:spcAft>
                <a:spcPts val="0"/>
              </a:spcAft>
            </a:pPr>
            <a:r>
              <a:rPr sz="1500">
                <a:solidFill>
                  <a:srgbClr val="E8EEF2"/>
                </a:solidFill>
                <a:latin typeface="Consolas"/>
              </a:rPr>
              <a:t> switchport trunk allowed vlan 10,20,30</a:t>
            </a:r>
          </a:p>
          <a:p>
            <a:pPr>
              <a:lnSpc>
                <a:spcPct val="100000"/>
              </a:lnSpc>
              <a:spcAft>
                <a:spcPts val="0"/>
              </a:spcAft>
            </a:pPr>
            <a:r>
              <a:rPr sz="1500">
                <a:solidFill>
                  <a:srgbClr val="E8EEF2"/>
                </a:solidFill>
                <a:latin typeface="Consolas"/>
              </a:rPr>
              <a:t> switchport nonegotiate</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No port security: a hypervisor presents many MAC addresses and they</a:t>
            </a:r>
          </a:p>
          <a:p>
            <a:pPr>
              <a:lnSpc>
                <a:spcPct val="100000"/>
              </a:lnSpc>
              <a:spcAft>
                <a:spcPts val="0"/>
              </a:spcAft>
            </a:pPr>
            <a:r>
              <a:rPr sz="1500" i="1">
                <a:solidFill>
                  <a:srgbClr val="6E8BA0"/>
                </a:solidFill>
                <a:latin typeface="Consolas"/>
              </a:rPr>
              <a:t>! change as machines start, stop and migrate.</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PortFast trunk, because the far side is a virtual switch that does</a:t>
            </a:r>
          </a:p>
          <a:p>
            <a:pPr>
              <a:lnSpc>
                <a:spcPct val="100000"/>
              </a:lnSpc>
              <a:spcAft>
                <a:spcPts val="0"/>
              </a:spcAft>
            </a:pPr>
            <a:r>
              <a:rPr sz="1500" i="1">
                <a:solidFill>
                  <a:srgbClr val="6E8BA0"/>
                </a:solidFill>
                <a:latin typeface="Consolas"/>
              </a:rPr>
              <a:t>! not run spanning tree and will never send a BPDU.</a:t>
            </a:r>
          </a:p>
          <a:p>
            <a:pPr>
              <a:lnSpc>
                <a:spcPct val="100000"/>
              </a:lnSpc>
              <a:spcAft>
                <a:spcPts val="0"/>
              </a:spcAft>
            </a:pPr>
            <a:r>
              <a:rPr sz="1500">
                <a:solidFill>
                  <a:srgbClr val="E8EEF2"/>
                </a:solidFill>
                <a:latin typeface="Consolas"/>
              </a:rPr>
              <a:t> spanning-tree portfast trunk</a:t>
            </a:r>
          </a:p>
          <a:p>
            <a:pPr>
              <a:lnSpc>
                <a:spcPct val="100000"/>
              </a:lnSpc>
              <a:spcAft>
                <a:spcPts val="0"/>
              </a:spcAft>
            </a:pPr>
            <a:r>
              <a:rPr sz="1500" i="1">
                <a:solidFill>
                  <a:srgbClr val="6E8BA0"/>
                </a:solidFill>
                <a:latin typeface="Consolas"/>
              </a:rPr>
              <a:t>!</a:t>
            </a:r>
          </a:p>
          <a:p>
            <a:pPr>
              <a:lnSpc>
                <a:spcPct val="100000"/>
              </a:lnSpc>
              <a:spcAft>
                <a:spcPts val="0"/>
              </a:spcAft>
            </a:pPr>
            <a:r>
              <a:rPr sz="1500" i="1">
                <a:solidFill>
                  <a:srgbClr val="6E8BA0"/>
                </a:solidFill>
                <a:latin typeface="Consolas"/>
              </a:rPr>
              <a:t>! BPDU guard is still correct: nothing on this port should ever send</a:t>
            </a:r>
          </a:p>
          <a:p>
            <a:pPr>
              <a:lnSpc>
                <a:spcPct val="100000"/>
              </a:lnSpc>
              <a:spcAft>
                <a:spcPts val="0"/>
              </a:spcAft>
            </a:pPr>
            <a:r>
              <a:rPr sz="1500" i="1">
                <a:solidFill>
                  <a:srgbClr val="6E8BA0"/>
                </a:solidFill>
                <a:latin typeface="Consolas"/>
              </a:rPr>
              <a:t>! a BPDU, so one arriving means something is wrong.</a:t>
            </a:r>
          </a:p>
          <a:p>
            <a:pPr>
              <a:lnSpc>
                <a:spcPct val="100000"/>
              </a:lnSpc>
              <a:spcAft>
                <a:spcPts val="0"/>
              </a:spcAft>
            </a:pPr>
            <a:r>
              <a:rPr sz="1500">
                <a:solidFill>
                  <a:srgbClr val="E8EEF2"/>
                </a:solidFill>
                <a:latin typeface="Consolas"/>
              </a:rPr>
              <a:t> spanning-tree bpduguard enable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WATCH OUT</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The virtual switch does not run spanning tree</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ody"/>
          <p:cNvSpPr txBox="1"/>
          <p:nvPr/>
        </p:nvSpPr>
        <p:spPr>
          <a:xfrm>
            <a:off x="685800" y="1901952"/>
            <a:ext cx="10820095" cy="4480560"/>
          </a:xfrm>
          <a:prstGeom prst="rect">
            <a:avLst/>
          </a:prstGeom>
          <a:noFill/>
        </p:spPr>
        <p:txBody>
          <a:bodyPr wrap="square" anchor="t" lIns="0" rIns="0" tIns="0" bIns="0">
            <a:spAutoFit/>
          </a:bodyPr>
          <a:lstStyle/>
          <a:p>
            <a:pPr algn="l">
              <a:lnSpc>
                <a:spcPct val="100000"/>
              </a:lnSpc>
              <a:spcAft>
                <a:spcPts val="1000"/>
              </a:spcAft>
            </a:pPr>
            <a:r>
              <a:rPr sz="2000" b="0" i="0">
                <a:solidFill>
                  <a:srgbClr val="1C252B"/>
                </a:solidFill>
                <a:latin typeface="Segoe UI"/>
              </a:rPr>
              <a:t>A vSwitch is not a learning switch in the ordinary sense: it does not forward traffic between its uplinks, so it cannot create a loop, and it does not participate in STP.</a:t>
            </a:r>
          </a:p>
          <a:p>
            <a:pPr algn="l">
              <a:lnSpc>
                <a:spcPct val="100000"/>
              </a:lnSpc>
              <a:spcAft>
                <a:spcPts val="1000"/>
              </a:spcAft>
            </a:pPr>
            <a:r>
              <a:rPr sz="2000" b="0" i="0">
                <a:solidFill>
                  <a:srgbClr val="1C252B"/>
                </a:solidFill>
                <a:latin typeface="Segoe UI"/>
              </a:rPr>
              <a:t>Two consequences. </a:t>
            </a:r>
            <a:r>
              <a:rPr sz="1900" b="0" i="0">
                <a:solidFill>
                  <a:srgbClr val="1A5276"/>
                </a:solidFill>
                <a:latin typeface="Consolas"/>
              </a:rPr>
              <a:t>spanning-tree portfast trunk</a:t>
            </a:r>
            <a:r>
              <a:rPr sz="2000" b="0" i="0">
                <a:solidFill>
                  <a:srgbClr val="1C252B"/>
                </a:solidFill>
                <a:latin typeface="Segoe UI"/>
              </a:rPr>
              <a:t> is appropriate on the physical port, because there is no risk of a loop and waiting 30 seconds on every host reboot is pure cost. And </a:t>
            </a:r>
            <a:r>
              <a:rPr sz="2000" b="1" i="0">
                <a:solidFill>
                  <a:srgbClr val="1C252B"/>
                </a:solidFill>
                <a:latin typeface="Segoe UI"/>
              </a:rPr>
              <a:t>BPDU guard should still be enabled</a:t>
            </a:r>
            <a:r>
              <a:rPr sz="2000" b="0" i="0">
                <a:solidFill>
                  <a:srgbClr val="1C252B"/>
                </a:solidFill>
                <a:latin typeface="Segoe UI"/>
              </a:rPr>
              <a:t> — precisely because a correctly configured vSwitch will never send a BPDU, one arriving means somebody has attached something else.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What this does to your network</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Access port on a hypervisor uplink.</a:t>
            </a:r>
            <a:r>
              <a:rPr sz="2000" b="0" i="0">
                <a:solidFill>
                  <a:srgbClr val="1C252B"/>
                </a:solidFill>
                <a:latin typeface="Segoe UI"/>
              </a:rPr>
              <a:t> Everything in one VLAN works, everything else is stranded, and the fault looks like a VM problem.</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Port security on a hypervisor uplink.</a:t>
            </a:r>
            <a:r>
              <a:rPr sz="2000" b="0" i="0">
                <a:solidFill>
                  <a:srgbClr val="1C252B"/>
                </a:solidFill>
                <a:latin typeface="Segoe UI"/>
              </a:rPr>
              <a:t> Err-disables the port and takes down every VM on the host.</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Reading migration MAC moves as a loop.</a:t>
            </a:r>
            <a:r>
              <a:rPr sz="2000" b="0" i="0">
                <a:solidFill>
                  <a:srgbClr val="1C252B"/>
                </a:solidFill>
                <a:latin typeface="Segoe UI"/>
              </a:rPr>
              <a:t> A MAC flap between two </a:t>
            </a:r>
            <a:r>
              <a:rPr sz="2000" b="0" i="1">
                <a:solidFill>
                  <a:srgbClr val="1C252B"/>
                </a:solidFill>
                <a:latin typeface="Segoe UI"/>
              </a:rPr>
              <a:t>access-layer uplinks</a:t>
            </a:r>
            <a:r>
              <a:rPr sz="2000" b="0" i="0">
                <a:solidFill>
                  <a:srgbClr val="1C252B"/>
                </a:solidFill>
                <a:latin typeface="Segoe UI"/>
              </a:rPr>
              <a:t> at the moment a VM migrated is expected behaviour.</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Forgetting to add a VLAN to </a:t>
            </a:r>
            <a:r>
              <a:rPr sz="1900" b="1" i="0">
                <a:solidFill>
                  <a:srgbClr val="1A5276"/>
                </a:solidFill>
                <a:latin typeface="Consolas"/>
              </a:rPr>
              <a:t>allowed</a:t>
            </a:r>
            <a:r>
              <a:rPr sz="2000" b="0" i="0">
                <a:solidFill>
                  <a:srgbClr val="1C252B"/>
                </a:solidFill>
                <a:latin typeface="Segoe UI"/>
              </a:rPr>
              <a:t> when the server team adds a port group. Their side is right, yours is not, and neither team sees both halves.</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Expecting to capture east–west traffic</a:t>
            </a:r>
            <a:r>
              <a:rPr sz="2000" b="0" i="0">
                <a:solidFill>
                  <a:srgbClr val="1C252B"/>
                </a:solidFill>
                <a:latin typeface="Segoe UI"/>
              </a:rPr>
              <a:t> on the physical switch. It never gets there.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COMMON PITFALLS  ·  What this does to your network</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Common pitfalls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Assuming containers are just small VMs.</a:t>
            </a:r>
            <a:r>
              <a:rPr sz="2000" b="0" i="0">
                <a:solidFill>
                  <a:srgbClr val="1C252B"/>
                </a:solidFill>
                <a:latin typeface="Segoe UI"/>
              </a:rPr>
              <a:t> The shared kernel is the whole difference, and it is where the exam question will be.</a:t>
            </a:r>
          </a:p>
          <a:p>
            <a:pPr marL="228600" indent="-228600">
              <a:lnSpc>
                <a:spcPct val="102000"/>
              </a:lnSpc>
              <a:spcAft>
                <a:spcPts val="900"/>
              </a:spcAft>
            </a:pPr>
            <a:r>
              <a:rPr sz="2000" b="1">
                <a:solidFill>
                  <a:srgbClr val="1F618D"/>
                </a:solidFill>
                <a:latin typeface="Segoe UI"/>
              </a:rPr>
              <a:t>•  </a:t>
            </a:r>
            <a:r>
              <a:rPr sz="2000" b="1" i="0">
                <a:solidFill>
                  <a:srgbClr val="1C252B"/>
                </a:solidFill>
                <a:latin typeface="Segoe UI"/>
              </a:rPr>
              <a:t>Confusing type 1 with type 2.</a:t>
            </a:r>
            <a:r>
              <a:rPr sz="2000" b="0" i="0">
                <a:solidFill>
                  <a:srgbClr val="1C252B"/>
                </a:solidFill>
                <a:latin typeface="Segoe UI"/>
              </a:rPr>
              <a:t> Type 1 replaces the OS; type 2 runs on one.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E74C3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SYMPTOM</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 new hypervisor host is racked. VMs in VLAN 10 work; VMs in VLANs 20 and 30 are dead.</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0" i="0">
                <a:solidFill>
                  <a:srgbClr val="1C252B"/>
                </a:solidFill>
                <a:latin typeface="Segoe UI"/>
              </a:rPr>
              <a:t>The server team reports that of twelve VMs on the new host, the four in VLAN 10 have full connectivity and the eight in VLANs 20 and 30 cannot reach anything, including their own default gateways. The vSwitch configuration is identical to the three existing hosts, which all work. Later in the morning the port err-disables entirely and all twelve VMs drop.</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1900" b="1" i="0">
                <a:solidFill>
                  <a:srgbClr val="1C252B"/>
                </a:solidFill>
                <a:latin typeface="Segoe UI"/>
              </a:rPr>
              <a:t>A new hypervisor host is racked. VMs in VLAN 10 work; VMs in VLANs 20 and 30 are dead.</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would you check first — and what do you expect to see?</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interfaces GigabitEthernet1/0/24 switchport</a:t>
            </a:r>
          </a:p>
        </p:txBody>
      </p:sp>
      <p:sp>
        <p:nvSpPr>
          <p:cNvPr id="6" name="bfcodebg"/>
          <p:cNvSpPr/>
          <p:nvPr/>
        </p:nvSpPr>
        <p:spPr>
          <a:xfrm>
            <a:off x="685800" y="2011680"/>
            <a:ext cx="10820095" cy="202082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154533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Name: Gi1/0/24</a:t>
            </a:r>
          </a:p>
          <a:p>
            <a:pPr>
              <a:lnSpc>
                <a:spcPct val="100000"/>
              </a:lnSpc>
              <a:spcAft>
                <a:spcPts val="0"/>
              </a:spcAft>
            </a:pPr>
            <a:r>
              <a:rPr sz="1500">
                <a:solidFill>
                  <a:srgbClr val="E8EEF2"/>
                </a:solidFill>
                <a:latin typeface="Consolas"/>
              </a:rPr>
              <a:t>Switchport: Enabled</a:t>
            </a:r>
          </a:p>
          <a:p>
            <a:pPr>
              <a:lnSpc>
                <a:spcPct val="100000"/>
              </a:lnSpc>
              <a:spcAft>
                <a:spcPts val="0"/>
              </a:spcAft>
            </a:pPr>
            <a:r>
              <a:rPr sz="1500">
                <a:solidFill>
                  <a:srgbClr val="E8EEF2"/>
                </a:solidFill>
                <a:latin typeface="Consolas"/>
              </a:rPr>
              <a:t>Administrative Mode: static access</a:t>
            </a:r>
          </a:p>
          <a:p>
            <a:pPr>
              <a:lnSpc>
                <a:spcPct val="100000"/>
              </a:lnSpc>
              <a:spcAft>
                <a:spcPts val="0"/>
              </a:spcAft>
            </a:pPr>
            <a:r>
              <a:rPr sz="1500">
                <a:solidFill>
                  <a:srgbClr val="E8EEF2"/>
                </a:solidFill>
                <a:latin typeface="Consolas"/>
              </a:rPr>
              <a:t>Operational Mode: static access</a:t>
            </a:r>
          </a:p>
          <a:p>
            <a:pPr>
              <a:lnSpc>
                <a:spcPct val="100000"/>
              </a:lnSpc>
              <a:spcAft>
                <a:spcPts val="0"/>
              </a:spcAft>
            </a:pPr>
            <a:r>
              <a:rPr sz="1500">
                <a:solidFill>
                  <a:srgbClr val="E8EEF2"/>
                </a:solidFill>
                <a:latin typeface="Consolas"/>
              </a:rPr>
              <a:t>Access Mode VLAN: 10 (STAFF)</a:t>
            </a:r>
          </a:p>
          <a:p>
            <a:pPr>
              <a:lnSpc>
                <a:spcPct val="100000"/>
              </a:lnSpc>
              <a:spcAft>
                <a:spcPts val="0"/>
              </a:spcAft>
            </a:pPr>
            <a:r>
              <a:rPr sz="1500">
                <a:solidFill>
                  <a:srgbClr val="E8EEF2"/>
                </a:solidFill>
                <a:latin typeface="Consolas"/>
              </a:rPr>
              <a:t>Trunking Native Mode VLAN: 1 (default)</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EVIDENCE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show interfaces status err-disabled</a:t>
            </a:r>
          </a:p>
        </p:txBody>
      </p:sp>
      <p:sp>
        <p:nvSpPr>
          <p:cNvPr id="6" name="bfcodebg"/>
          <p:cNvSpPr/>
          <p:nvPr/>
        </p:nvSpPr>
        <p:spPr>
          <a:xfrm>
            <a:off x="685800" y="2011680"/>
            <a:ext cx="10820095" cy="107594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SW1#</a:t>
            </a:r>
          </a:p>
        </p:txBody>
      </p:sp>
      <p:sp>
        <p:nvSpPr>
          <p:cNvPr id="9" name="bfcode"/>
          <p:cNvSpPr txBox="1"/>
          <p:nvPr/>
        </p:nvSpPr>
        <p:spPr>
          <a:xfrm>
            <a:off x="886968" y="2432304"/>
            <a:ext cx="10417759" cy="60045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Port      Name               Status       Reason               Err-disabled Vlans</a:t>
            </a:r>
          </a:p>
          <a:p>
            <a:pPr>
              <a:lnSpc>
                <a:spcPct val="100000"/>
              </a:lnSpc>
              <a:spcAft>
                <a:spcPts val="0"/>
              </a:spcAft>
            </a:pPr>
            <a:r>
              <a:rPr sz="1500">
                <a:solidFill>
                  <a:srgbClr val="E8EEF2"/>
                </a:solidFill>
                <a:latin typeface="Consolas"/>
              </a:rPr>
              <a:t>Gi1/0/24  ESXi host 4        err-disabled psecure-violation</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YOUR MOVE</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
            </a:r>
          </a:p>
        </p:txBody>
      </p:sp>
      <p:sp>
        <p:nvSpPr>
          <p:cNvPr id="6" name="promptbg"/>
          <p:cNvSpPr/>
          <p:nvPr/>
        </p:nvSpPr>
        <p:spPr>
          <a:xfrm>
            <a:off x="685800" y="2939796"/>
            <a:ext cx="10820095" cy="841248"/>
          </a:xfrm>
          <a:prstGeom prst="rect">
            <a:avLst/>
          </a:prstGeom>
          <a:solidFill>
            <a:srgbClr val="EBF5F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prompt"/>
          <p:cNvSpPr txBox="1"/>
          <p:nvPr/>
        </p:nvSpPr>
        <p:spPr>
          <a:xfrm>
            <a:off x="960120" y="3140964"/>
            <a:ext cx="10271455" cy="475488"/>
          </a:xfrm>
          <a:prstGeom prst="rect">
            <a:avLst/>
          </a:prstGeom>
          <a:noFill/>
        </p:spPr>
        <p:txBody>
          <a:bodyPr wrap="square" anchor="t" lIns="0" rIns="0" tIns="0" bIns="0">
            <a:spAutoFit/>
          </a:bodyPr>
          <a:lstStyle/>
          <a:p>
            <a:pPr algn="ctr">
              <a:lnSpc>
                <a:spcPct val="100000"/>
              </a:lnSpc>
              <a:spcAft>
                <a:spcPts val="600"/>
              </a:spcAft>
            </a:pPr>
            <a:r>
              <a:rPr sz="2200" b="1" i="0">
                <a:solidFill>
                  <a:srgbClr val="1A5276"/>
                </a:solidFill>
                <a:latin typeface="Segoe UI"/>
              </a:rPr>
              <a:t>What is the fault — and what does this output rule out?</a:t>
            </a:r>
          </a:p>
        </p:txBody>
      </p:sp>
      <p:sp>
        <p:nvSpPr>
          <p:cNvPr id="8"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9"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Diagnosis.</a:t>
            </a:r>
            <a:r>
              <a:rPr sz="1900" b="0" i="0">
                <a:solidFill>
                  <a:srgbClr val="1C252B"/>
                </a:solidFill>
                <a:latin typeface="Segoe UI"/>
              </a:rPr>
              <a:t> Two faults on one port, and the first explains the pattern while the second explains the timing.</a:t>
            </a:r>
          </a:p>
          <a:p>
            <a:pPr algn="l">
              <a:lnSpc>
                <a:spcPct val="100000"/>
              </a:lnSpc>
              <a:spcAft>
                <a:spcPts val="1000"/>
              </a:spcAft>
            </a:pPr>
            <a:r>
              <a:rPr sz="1900" b="1" i="0">
                <a:solidFill>
                  <a:srgbClr val="1C252B"/>
                </a:solidFill>
                <a:latin typeface="Segoe UI"/>
              </a:rPr>
              <a:t>The port is an access port in VLAN 10.</a:t>
            </a:r>
            <a:r>
              <a:rPr sz="1900" b="0" i="0">
                <a:solidFill>
                  <a:srgbClr val="1C252B"/>
                </a:solidFill>
                <a:latin typeface="Segoe UI"/>
              </a:rPr>
              <a:t> A hypervisor uplink must be a trunk. VMs in the port group tagged VLAN 10 happen to work because the vSwitch sends their frames untagged and the access port puts them in VLAN 10 — the right answer by accident. Frames from VLANs 20 and 30 arrive tagged, and an access port discards tagged frames for other VLANs. Eight VMs are stranded.</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DIAGNOSIS</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Why it is doing that</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The port also has port security.</a:t>
            </a:r>
            <a:r>
              <a:rPr sz="1900" b="0" i="0">
                <a:solidFill>
                  <a:srgbClr val="1C252B"/>
                </a:solidFill>
                <a:latin typeface="Segoe UI"/>
              </a:rPr>
              <a:t> A hypervisor presents one MAC per vNIC plus the host’s own management address — thirteen or more on this host. As the remaining VMs powered on through the morning, the maximum was exceeded and the port err-disabled, which is why the working four then failed too.</a:t>
            </a:r>
          </a:p>
          <a:p>
            <a:pPr algn="l">
              <a:lnSpc>
                <a:spcPct val="100000"/>
              </a:lnSpc>
              <a:spcAft>
                <a:spcPts val="1000"/>
              </a:spcAft>
            </a:pPr>
            <a:r>
              <a:rPr sz="1900" b="0" i="0">
                <a:solidFill>
                  <a:srgbClr val="1C252B"/>
                </a:solidFill>
                <a:latin typeface="Segoe UI"/>
              </a:rPr>
              <a:t>The tell that this is a switch-port fault and not a hypervisor fault is that the vSwitch configuration matches three working hosts. When one member of an identical set behaves differently, look at what is </a:t>
            </a:r>
            <a:r>
              <a:rPr sz="1900" b="0" i="1">
                <a:solidFill>
                  <a:srgbClr val="1C252B"/>
                </a:solidFill>
                <a:latin typeface="Segoe UI"/>
              </a:rPr>
              <a:t>not</a:t>
            </a:r>
            <a:r>
              <a:rPr sz="1900" b="0" i="0">
                <a:solidFill>
                  <a:srgbClr val="1C252B"/>
                </a:solidFill>
                <a:latin typeface="Segoe UI"/>
              </a:rPr>
              <a:t> identical — which here is the physical port it was patched into.</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Correcting the uplink</a:t>
            </a:r>
          </a:p>
        </p:txBody>
      </p:sp>
      <p:sp>
        <p:nvSpPr>
          <p:cNvPr id="6" name="bfcodebg"/>
          <p:cNvSpPr/>
          <p:nvPr/>
        </p:nvSpPr>
        <p:spPr>
          <a:xfrm>
            <a:off x="685800" y="2011680"/>
            <a:ext cx="10820095" cy="3674364"/>
          </a:xfrm>
          <a:prstGeom prst="rect">
            <a:avLst/>
          </a:prstGeom>
          <a:solidFill>
            <a:srgbClr val="1B263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bfcodebar"/>
          <p:cNvSpPr/>
          <p:nvPr/>
        </p:nvSpPr>
        <p:spPr>
          <a:xfrm>
            <a:off x="685800" y="2011680"/>
            <a:ext cx="10820095" cy="329184"/>
          </a:xfrm>
          <a:prstGeom prst="rect">
            <a:avLst/>
          </a:prstGeom>
          <a:solidFill>
            <a:srgbClr val="27354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bfcodettl"/>
          <p:cNvSpPr txBox="1"/>
          <p:nvPr/>
        </p:nvSpPr>
        <p:spPr>
          <a:xfrm>
            <a:off x="886968" y="2057400"/>
            <a:ext cx="10417759"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9FB3C8"/>
                </a:solidFill>
                <a:latin typeface="Segoe UI"/>
              </a:rPr>
              <a:t>IOS  ·  configuration mode</a:t>
            </a:r>
          </a:p>
        </p:txBody>
      </p:sp>
      <p:sp>
        <p:nvSpPr>
          <p:cNvPr id="9" name="bfcode"/>
          <p:cNvSpPr txBox="1"/>
          <p:nvPr/>
        </p:nvSpPr>
        <p:spPr>
          <a:xfrm>
            <a:off x="886968" y="2432304"/>
            <a:ext cx="10417759" cy="3198876"/>
          </a:xfrm>
          <a:prstGeom prst="rect">
            <a:avLst/>
          </a:prstGeom>
          <a:noFill/>
        </p:spPr>
        <p:txBody>
          <a:bodyPr wrap="none" lIns="0" rIns="0" tIns="0" bIns="0">
            <a:spAutoFit/>
          </a:bodyPr>
          <a:lstStyle/>
          <a:p>
            <a:pPr>
              <a:lnSpc>
                <a:spcPct val="100000"/>
              </a:lnSpc>
              <a:spcAft>
                <a:spcPts val="0"/>
              </a:spcAft>
            </a:pPr>
            <a:r>
              <a:rPr sz="1500">
                <a:solidFill>
                  <a:srgbClr val="E8EEF2"/>
                </a:solidFill>
                <a:latin typeface="Consolas"/>
              </a:rPr>
              <a:t>interface GigabitEthernet1/0/24</a:t>
            </a:r>
          </a:p>
          <a:p>
            <a:pPr>
              <a:lnSpc>
                <a:spcPct val="100000"/>
              </a:lnSpc>
              <a:spcAft>
                <a:spcPts val="0"/>
              </a:spcAft>
            </a:pPr>
            <a:r>
              <a:rPr sz="1500">
                <a:solidFill>
                  <a:srgbClr val="E8EEF2"/>
                </a:solidFill>
                <a:latin typeface="Consolas"/>
              </a:rPr>
              <a:t> description ESXi host 4 -- vmnic0</a:t>
            </a:r>
          </a:p>
          <a:p>
            <a:pPr>
              <a:lnSpc>
                <a:spcPct val="100000"/>
              </a:lnSpc>
              <a:spcAft>
                <a:spcPts val="0"/>
              </a:spcAft>
            </a:pPr>
            <a:r>
              <a:rPr sz="1500">
                <a:solidFill>
                  <a:srgbClr val="E8EEF2"/>
                </a:solidFill>
                <a:latin typeface="Consolas"/>
              </a:rPr>
              <a:t> no switchport port-security</a:t>
            </a:r>
          </a:p>
          <a:p>
            <a:pPr>
              <a:lnSpc>
                <a:spcPct val="100000"/>
              </a:lnSpc>
              <a:spcAft>
                <a:spcPts val="0"/>
              </a:spcAft>
            </a:pPr>
            <a:r>
              <a:rPr sz="1500">
                <a:solidFill>
                  <a:srgbClr val="E8EEF2"/>
                </a:solidFill>
                <a:latin typeface="Consolas"/>
              </a:rPr>
              <a:t> no switchport access vlan 10</a:t>
            </a:r>
          </a:p>
          <a:p>
            <a:pPr>
              <a:lnSpc>
                <a:spcPct val="100000"/>
              </a:lnSpc>
              <a:spcAft>
                <a:spcPts val="0"/>
              </a:spcAft>
            </a:pPr>
            <a:r>
              <a:rPr sz="1500">
                <a:solidFill>
                  <a:srgbClr val="E8EEF2"/>
                </a:solidFill>
                <a:latin typeface="Consolas"/>
              </a:rPr>
              <a:t> switchport trunk encapsulation dot1q</a:t>
            </a:r>
          </a:p>
          <a:p>
            <a:pPr>
              <a:lnSpc>
                <a:spcPct val="100000"/>
              </a:lnSpc>
              <a:spcAft>
                <a:spcPts val="0"/>
              </a:spcAft>
            </a:pPr>
            <a:r>
              <a:rPr sz="1500">
                <a:solidFill>
                  <a:srgbClr val="E8EEF2"/>
                </a:solidFill>
                <a:latin typeface="Consolas"/>
              </a:rPr>
              <a:t> switchport mode trunk</a:t>
            </a:r>
          </a:p>
          <a:p>
            <a:pPr>
              <a:lnSpc>
                <a:spcPct val="100000"/>
              </a:lnSpc>
              <a:spcAft>
                <a:spcPts val="0"/>
              </a:spcAft>
            </a:pPr>
            <a:r>
              <a:rPr sz="1500">
                <a:solidFill>
                  <a:srgbClr val="E8EEF2"/>
                </a:solidFill>
                <a:latin typeface="Consolas"/>
              </a:rPr>
              <a:t> switchport trunk allowed vlan 10,20,30</a:t>
            </a:r>
          </a:p>
          <a:p>
            <a:pPr>
              <a:lnSpc>
                <a:spcPct val="100000"/>
              </a:lnSpc>
              <a:spcAft>
                <a:spcPts val="0"/>
              </a:spcAft>
            </a:pPr>
            <a:r>
              <a:rPr sz="1500">
                <a:solidFill>
                  <a:srgbClr val="E8EEF2"/>
                </a:solidFill>
                <a:latin typeface="Consolas"/>
              </a:rPr>
              <a:t> switchport nonegotiate</a:t>
            </a:r>
          </a:p>
          <a:p>
            <a:pPr>
              <a:lnSpc>
                <a:spcPct val="100000"/>
              </a:lnSpc>
              <a:spcAft>
                <a:spcPts val="0"/>
              </a:spcAft>
            </a:pPr>
            <a:r>
              <a:rPr sz="1500">
                <a:solidFill>
                  <a:srgbClr val="E8EEF2"/>
                </a:solidFill>
                <a:latin typeface="Consolas"/>
              </a:rPr>
              <a:t> spanning-tree portfast trunk</a:t>
            </a:r>
          </a:p>
          <a:p>
            <a:pPr>
              <a:lnSpc>
                <a:spcPct val="100000"/>
              </a:lnSpc>
              <a:spcAft>
                <a:spcPts val="0"/>
              </a:spcAft>
            </a:pPr>
            <a:r>
              <a:rPr sz="1500">
                <a:solidFill>
                  <a:srgbClr val="E8EEF2"/>
                </a:solidFill>
                <a:latin typeface="Consolas"/>
              </a:rPr>
              <a:t> spanning-tree bpduguard enable</a:t>
            </a:r>
          </a:p>
          <a:p>
            <a:pPr>
              <a:lnSpc>
                <a:spcPct val="100000"/>
              </a:lnSpc>
              <a:spcAft>
                <a:spcPts val="0"/>
              </a:spcAft>
            </a:pPr>
            <a:r>
              <a:rPr sz="1500">
                <a:solidFill>
                  <a:srgbClr val="E8EEF2"/>
                </a:solidFill>
                <a:latin typeface="Consolas"/>
              </a:rPr>
              <a:t>!</a:t>
            </a:r>
          </a:p>
          <a:p>
            <a:pPr>
              <a:lnSpc>
                <a:spcPct val="100000"/>
              </a:lnSpc>
              <a:spcAft>
                <a:spcPts val="0"/>
              </a:spcAft>
            </a:pPr>
            <a:r>
              <a:rPr sz="1500">
                <a:solidFill>
                  <a:srgbClr val="E8EEF2"/>
                </a:solidFill>
                <a:latin typeface="Consolas"/>
              </a:rPr>
              <a:t> shutdown</a:t>
            </a:r>
          </a:p>
          <a:p>
            <a:pPr>
              <a:lnSpc>
                <a:spcPct val="100000"/>
              </a:lnSpc>
              <a:spcAft>
                <a:spcPts val="0"/>
              </a:spcAft>
            </a:pPr>
            <a:r>
              <a:rPr sz="1500">
                <a:solidFill>
                  <a:srgbClr val="E8EEF2"/>
                </a:solidFill>
                <a:latin typeface="Consolas"/>
              </a:rPr>
              <a:t> no shutdown</a:t>
            </a:r>
          </a:p>
        </p:txBody>
      </p:sp>
      <p:sp>
        <p:nvSpPr>
          <p:cNvPr id="10"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11"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bfband"/>
          <p:cNvSpPr/>
          <p:nvPr/>
        </p:nvSpPr>
        <p:spPr>
          <a:xfrm>
            <a:off x="0" y="0"/>
            <a:ext cx="12191695" cy="548640"/>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bfstage"/>
          <p:cNvSpPr txBox="1"/>
          <p:nvPr/>
        </p:nvSpPr>
        <p:spPr>
          <a:xfrm>
            <a:off x="685800" y="137160"/>
            <a:ext cx="6492057" cy="292608"/>
          </a:xfrm>
          <a:prstGeom prst="rect">
            <a:avLst/>
          </a:prstGeom>
          <a:noFill/>
        </p:spPr>
        <p:txBody>
          <a:bodyPr wrap="square" anchor="t" lIns="0" rIns="0" tIns="0" bIns="0">
            <a:spAutoFit/>
          </a:bodyPr>
          <a:lstStyle/>
          <a:p>
            <a:pPr algn="l">
              <a:lnSpc>
                <a:spcPct val="100000"/>
              </a:lnSpc>
              <a:spcAft>
                <a:spcPts val="600"/>
              </a:spcAft>
            </a:pPr>
            <a:r>
              <a:rPr sz="1400" b="1" i="0">
                <a:solidFill>
                  <a:srgbClr val="FFFFFF"/>
                </a:solidFill>
                <a:latin typeface="Segoe UI"/>
              </a:rPr>
              <a:t>BREAK &amp; FIX  ·  THE FIX</a:t>
            </a:r>
          </a:p>
        </p:txBody>
      </p:sp>
      <p:sp>
        <p:nvSpPr>
          <p:cNvPr id="4" name="bfch"/>
          <p:cNvSpPr txBox="1"/>
          <p:nvPr/>
        </p:nvSpPr>
        <p:spPr>
          <a:xfrm>
            <a:off x="7177857" y="137160"/>
            <a:ext cx="4328038" cy="292608"/>
          </a:xfrm>
          <a:prstGeom prst="rect">
            <a:avLst/>
          </a:prstGeom>
          <a:noFill/>
        </p:spPr>
        <p:txBody>
          <a:bodyPr wrap="square" anchor="t" lIns="0" rIns="0" tIns="0" bIns="0">
            <a:spAutoFit/>
          </a:bodyPr>
          <a:lstStyle/>
          <a:p>
            <a:pPr algn="r">
              <a:lnSpc>
                <a:spcPct val="100000"/>
              </a:lnSpc>
              <a:spcAft>
                <a:spcPts val="600"/>
              </a:spcAft>
            </a:pPr>
            <a:r>
              <a:rPr sz="1300" b="0" i="0">
                <a:solidFill>
                  <a:srgbClr val="F2D7D5"/>
                </a:solidFill>
                <a:latin typeface="Segoe UI"/>
              </a:rPr>
              <a:t>Chapter 29</a:t>
            </a:r>
          </a:p>
        </p:txBody>
      </p:sp>
      <p:sp>
        <p:nvSpPr>
          <p:cNvPr id="5" name="bftitle"/>
          <p:cNvSpPr txBox="1"/>
          <p:nvPr/>
        </p:nvSpPr>
        <p:spPr>
          <a:xfrm>
            <a:off x="685800" y="841248"/>
            <a:ext cx="10820095" cy="658368"/>
          </a:xfrm>
          <a:prstGeom prst="rect">
            <a:avLst/>
          </a:prstGeom>
          <a:noFill/>
        </p:spPr>
        <p:txBody>
          <a:bodyPr wrap="square" anchor="t" lIns="0" rIns="0" tIns="0" bIns="0">
            <a:spAutoFit/>
          </a:bodyPr>
          <a:lstStyle/>
          <a:p>
            <a:pPr algn="l">
              <a:lnSpc>
                <a:spcPct val="100000"/>
              </a:lnSpc>
              <a:spcAft>
                <a:spcPts val="600"/>
              </a:spcAft>
            </a:pPr>
            <a:r>
              <a:rPr sz="2700" b="1" i="0">
                <a:solidFill>
                  <a:srgbClr val="1C252B"/>
                </a:solidFill>
                <a:latin typeface="Segoe UI"/>
              </a:rPr>
              <a:t>And the lesson</a:t>
            </a:r>
          </a:p>
        </p:txBody>
      </p:sp>
      <p:sp>
        <p:nvSpPr>
          <p:cNvPr id="6" name="bfbody"/>
          <p:cNvSpPr txBox="1"/>
          <p:nvPr/>
        </p:nvSpPr>
        <p:spPr>
          <a:xfrm>
            <a:off x="685800" y="2130552"/>
            <a:ext cx="10820095" cy="4224528"/>
          </a:xfrm>
          <a:prstGeom prst="rect">
            <a:avLst/>
          </a:prstGeom>
          <a:noFill/>
        </p:spPr>
        <p:txBody>
          <a:bodyPr wrap="square" anchor="t" lIns="0" rIns="0" tIns="0" bIns="0">
            <a:spAutoFit/>
          </a:bodyPr>
          <a:lstStyle/>
          <a:p>
            <a:pPr algn="l">
              <a:lnSpc>
                <a:spcPct val="100000"/>
              </a:lnSpc>
              <a:spcAft>
                <a:spcPts val="1000"/>
              </a:spcAft>
            </a:pPr>
            <a:r>
              <a:rPr sz="1900" b="1" i="0">
                <a:solidFill>
                  <a:srgbClr val="1C252B"/>
                </a:solidFill>
                <a:latin typeface="Segoe UI"/>
              </a:rPr>
              <a:t>Fix.</a:t>
            </a:r>
          </a:p>
          <a:p>
            <a:pPr algn="l">
              <a:lnSpc>
                <a:spcPct val="100000"/>
              </a:lnSpc>
              <a:spcAft>
                <a:spcPts val="1000"/>
              </a:spcAft>
            </a:pPr>
            <a:r>
              <a:rPr sz="1900" b="0" i="0">
                <a:solidFill>
                  <a:srgbClr val="1C252B"/>
                </a:solidFill>
                <a:latin typeface="Segoe UI"/>
              </a:rPr>
              <a:t>The </a:t>
            </a:r>
            <a:r>
              <a:rPr sz="1800" b="0" i="0">
                <a:solidFill>
                  <a:srgbClr val="1A5276"/>
                </a:solidFill>
                <a:latin typeface="Consolas"/>
              </a:rPr>
              <a:t>shutdown</a:t>
            </a:r>
            <a:r>
              <a:rPr sz="1900" b="0" i="0">
                <a:solidFill>
                  <a:srgbClr val="1C252B"/>
                </a:solidFill>
                <a:latin typeface="Segoe UI"/>
              </a:rPr>
              <a:t> then </a:t>
            </a:r>
            <a:r>
              <a:rPr sz="1800" b="0" i="0">
                <a:solidFill>
                  <a:srgbClr val="1A5276"/>
                </a:solidFill>
                <a:latin typeface="Consolas"/>
              </a:rPr>
              <a:t>no shutdown</a:t>
            </a:r>
            <a:r>
              <a:rPr sz="1900" b="0" i="0">
                <a:solidFill>
                  <a:srgbClr val="1C252B"/>
                </a:solidFill>
                <a:latin typeface="Segoe UI"/>
              </a:rPr>
              <a:t> is required: removing the port security configuration does not clear an existing </a:t>
            </a:r>
            <a:r>
              <a:rPr sz="1800" b="0" i="0">
                <a:solidFill>
                  <a:srgbClr val="1A5276"/>
                </a:solidFill>
                <a:latin typeface="Consolas"/>
              </a:rPr>
              <a:t>err-disabled</a:t>
            </a:r>
            <a:r>
              <a:rPr sz="1900" b="0" i="0">
                <a:solidFill>
                  <a:srgbClr val="1C252B"/>
                </a:solidFill>
                <a:latin typeface="Segoe UI"/>
              </a:rPr>
              <a:t> state.</a:t>
            </a:r>
          </a:p>
          <a:p>
            <a:pPr algn="l">
              <a:lnSpc>
                <a:spcPct val="100000"/>
              </a:lnSpc>
              <a:spcAft>
                <a:spcPts val="1000"/>
              </a:spcAft>
            </a:pPr>
            <a:r>
              <a:rPr sz="1900" b="1" i="0">
                <a:solidFill>
                  <a:srgbClr val="1C252B"/>
                </a:solidFill>
                <a:latin typeface="Segoe UI"/>
              </a:rPr>
              <a:t>The process lesson.</a:t>
            </a:r>
            <a:r>
              <a:rPr sz="1900" b="0" i="0">
                <a:solidFill>
                  <a:srgbClr val="1C252B"/>
                </a:solidFill>
                <a:latin typeface="Segoe UI"/>
              </a:rPr>
              <a:t> This port was almost certainly configured from the site’s standard access-port template, which is correct for a desk and wrong for a server. Sites that hit this repeatedly keep a separate documented template for hypervisor uplinks — trunk, explicit allowed list, no port security, </a:t>
            </a:r>
            <a:r>
              <a:rPr sz="1800" b="0" i="0">
                <a:solidFill>
                  <a:srgbClr val="1A5276"/>
                </a:solidFill>
                <a:latin typeface="Consolas"/>
              </a:rPr>
              <a:t>portfast trunk</a:t>
            </a:r>
            <a:r>
              <a:rPr sz="1900" b="0" i="0">
                <a:solidFill>
                  <a:srgbClr val="1C252B"/>
                </a:solidFill>
                <a:latin typeface="Segoe UI"/>
              </a:rPr>
              <a:t>, BPDU guard — and name it in the change request.</a:t>
            </a:r>
          </a:p>
        </p:txBody>
      </p:sp>
      <p:sp>
        <p:nvSpPr>
          <p:cNvPr id="7"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8"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VIRTUALBOX, VMWARE WORKSTATION,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Connecting a hypervisor properly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ody"/>
          <p:cNvSpPr txBox="1"/>
          <p:nvPr/>
        </p:nvSpPr>
        <p:spPr>
          <a:xfrm>
            <a:off x="685800" y="1517904"/>
            <a:ext cx="10820095" cy="4864608"/>
          </a:xfrm>
          <a:prstGeom prst="rect">
            <a:avLst/>
          </a:prstGeom>
          <a:noFill/>
        </p:spPr>
        <p:txBody>
          <a:bodyPr wrap="square" anchor="t" lIns="0" rIns="0" tIns="0" bIns="0">
            <a:spAutoFit/>
          </a:bodyPr>
          <a:lstStyle/>
          <a:p>
            <a:pPr algn="l">
              <a:lnSpc>
                <a:spcPct val="100000"/>
              </a:lnSpc>
              <a:spcAft>
                <a:spcPts val="1000"/>
              </a:spcAft>
            </a:pPr>
            <a:r>
              <a:rPr sz="1800" b="1" i="0">
                <a:solidFill>
                  <a:srgbClr val="1C252B"/>
                </a:solidFill>
                <a:latin typeface="Segoe UI"/>
              </a:rPr>
              <a:t>Platform note.</a:t>
            </a:r>
            <a:r>
              <a:rPr sz="1800" b="0" i="0">
                <a:solidFill>
                  <a:srgbClr val="1C252B"/>
                </a:solidFill>
                <a:latin typeface="Segoe UI"/>
              </a:rPr>
              <a:t> You do not need a data centre. Any type 2 hypervisor on your own machine demonstrates every concept here; the switch-side tasks can be done in Packet Tracer or CML against a simulated host.</a:t>
            </a:r>
          </a:p>
        </p:txBody>
      </p:sp>
      <p:sp>
        <p:nvSpPr>
          <p:cNvPr id="8" name="bullets"/>
          <p:cNvSpPr txBox="1"/>
          <p:nvPr/>
        </p:nvSpPr>
        <p:spPr>
          <a:xfrm>
            <a:off x="685800" y="2592324"/>
            <a:ext cx="10820095" cy="3790188"/>
          </a:xfrm>
          <a:prstGeom prst="rect">
            <a:avLst/>
          </a:prstGeom>
          <a:noFill/>
        </p:spPr>
        <p:txBody>
          <a:bodyPr wrap="square" lIns="0" rIns="0" tIns="0" bIns="0">
            <a:spAutoFit/>
          </a:bodyPr>
          <a:lstStyle/>
          <a:p>
            <a:pPr marL="347472" indent="-347472">
              <a:lnSpc>
                <a:spcPct val="102000"/>
              </a:lnSpc>
              <a:spcAft>
                <a:spcPts val="900"/>
              </a:spcAft>
            </a:pPr>
            <a:r>
              <a:rPr sz="1800" b="1">
                <a:solidFill>
                  <a:srgbClr val="1F618D"/>
                </a:solidFill>
                <a:latin typeface="Segoe UI"/>
              </a:rPr>
              <a:t>1.  </a:t>
            </a:r>
            <a:r>
              <a:rPr sz="1800" b="0" i="0">
                <a:solidFill>
                  <a:srgbClr val="1C252B"/>
                </a:solidFill>
                <a:latin typeface="Segoe UI"/>
              </a:rPr>
              <a:t>Identify the hypervisor you already use for the labs in this book and classify it as type 1 or type 2. Justify the classification in one sentence.</a:t>
            </a:r>
          </a:p>
          <a:p>
            <a:pPr marL="347472" indent="-347472">
              <a:lnSpc>
                <a:spcPct val="102000"/>
              </a:lnSpc>
              <a:spcAft>
                <a:spcPts val="900"/>
              </a:spcAft>
            </a:pPr>
            <a:r>
              <a:rPr sz="1800" b="1">
                <a:solidFill>
                  <a:srgbClr val="1F618D"/>
                </a:solidFill>
                <a:latin typeface="Segoe UI"/>
              </a:rPr>
              <a:t>2.  </a:t>
            </a:r>
            <a:r>
              <a:rPr sz="1800" b="0" i="0">
                <a:solidFill>
                  <a:srgbClr val="1C252B"/>
                </a:solidFill>
                <a:latin typeface="Segoe UI"/>
              </a:rPr>
              <a:t>Create two VMs. Record the MAC address of each vNIC, and confirm they differ from the host’s physical NIC.</a:t>
            </a:r>
          </a:p>
          <a:p>
            <a:pPr marL="347472" indent="-347472">
              <a:lnSpc>
                <a:spcPct val="102000"/>
              </a:lnSpc>
              <a:spcAft>
                <a:spcPts val="900"/>
              </a:spcAft>
            </a:pPr>
            <a:r>
              <a:rPr sz="1800" b="1">
                <a:solidFill>
                  <a:srgbClr val="1F618D"/>
                </a:solidFill>
                <a:latin typeface="Segoe UI"/>
              </a:rPr>
              <a:t>3.  </a:t>
            </a:r>
            <a:r>
              <a:rPr sz="1800" b="0" i="0">
                <a:solidFill>
                  <a:srgbClr val="1C252B"/>
                </a:solidFill>
                <a:latin typeface="Segoe UI"/>
              </a:rPr>
              <a:t>Put both VMs on a </a:t>
            </a:r>
            <a:r>
              <a:rPr sz="1800" b="0" i="1">
                <a:solidFill>
                  <a:srgbClr val="1C252B"/>
                </a:solidFill>
                <a:latin typeface="Segoe UI"/>
              </a:rPr>
              <a:t>host-only</a:t>
            </a:r>
            <a:r>
              <a:rPr sz="1800" b="0" i="0">
                <a:solidFill>
                  <a:srgbClr val="1C252B"/>
                </a:solidFill>
                <a:latin typeface="Segoe UI"/>
              </a:rPr>
              <a:t> or internal network. Confirm they can reach each other and that this traffic never appears on your physical network — capture on the physical interface to prove it. This is east–west traffic.</a:t>
            </a:r>
          </a:p>
          <a:p>
            <a:pPr marL="347472" indent="-347472">
              <a:lnSpc>
                <a:spcPct val="102000"/>
              </a:lnSpc>
              <a:spcAft>
                <a:spcPts val="900"/>
              </a:spcAft>
            </a:pPr>
            <a:r>
              <a:rPr sz="1800" b="1">
                <a:solidFill>
                  <a:srgbClr val="1F618D"/>
                </a:solidFill>
                <a:latin typeface="Segoe UI"/>
              </a:rPr>
              <a:t>4.  </a:t>
            </a:r>
            <a:r>
              <a:rPr sz="1800" b="0" i="0">
                <a:solidFill>
                  <a:srgbClr val="1C252B"/>
                </a:solidFill>
                <a:latin typeface="Segoe UI"/>
              </a:rPr>
              <a:t>Switch both to bridged networking. Confirm they now appear on the physical network with their own MAC addresses, and find them in your switch’s MAC address table.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VIRTUALBOX, VMWARE WORKSTATION,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Connecting a hypervisor properly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5.  </a:t>
            </a:r>
            <a:r>
              <a:rPr sz="2000" b="1" i="0">
                <a:solidFill>
                  <a:srgbClr val="1C252B"/>
                </a:solidFill>
                <a:latin typeface="Segoe UI"/>
              </a:rPr>
              <a:t>Switch side.</a:t>
            </a:r>
            <a:r>
              <a:rPr sz="2000" b="0" i="0">
                <a:solidFill>
                  <a:srgbClr val="1C252B"/>
                </a:solidFill>
                <a:latin typeface="Segoe UI"/>
              </a:rPr>
              <a:t> Configure the port your host connects to as an access port in one VLAN. Put one VM in that VLAN and one in another. Reproduce the Break &amp; Fix symptom, then convert the port to a trunk.</a:t>
            </a:r>
          </a:p>
          <a:p>
            <a:pPr marL="386080" indent="-386080">
              <a:lnSpc>
                <a:spcPct val="102000"/>
              </a:lnSpc>
              <a:spcAft>
                <a:spcPts val="900"/>
              </a:spcAft>
            </a:pPr>
            <a:r>
              <a:rPr sz="2000" b="1">
                <a:solidFill>
                  <a:srgbClr val="1F618D"/>
                </a:solidFill>
                <a:latin typeface="Segoe UI"/>
              </a:rPr>
              <a:t>6.  </a:t>
            </a:r>
            <a:r>
              <a:rPr sz="2000" b="0" i="0">
                <a:solidFill>
                  <a:srgbClr val="1C252B"/>
                </a:solidFill>
                <a:latin typeface="Segoe UI"/>
              </a:rPr>
              <a:t>Apply </a:t>
            </a:r>
            <a:r>
              <a:rPr sz="1900" b="0" i="0">
                <a:solidFill>
                  <a:srgbClr val="1A5276"/>
                </a:solidFill>
                <a:latin typeface="Consolas"/>
              </a:rPr>
              <a:t>switchport port-security maximum 1</a:t>
            </a:r>
            <a:r>
              <a:rPr sz="2000" b="0" i="0">
                <a:solidFill>
                  <a:srgbClr val="1C252B"/>
                </a:solidFill>
                <a:latin typeface="Segoe UI"/>
              </a:rPr>
              <a:t> to that trunk. Power on the second VM and observe. Recover the port.</a:t>
            </a:r>
          </a:p>
          <a:p>
            <a:pPr marL="386080" indent="-386080">
              <a:lnSpc>
                <a:spcPct val="102000"/>
              </a:lnSpc>
              <a:spcAft>
                <a:spcPts val="900"/>
              </a:spcAft>
            </a:pPr>
            <a:r>
              <a:rPr sz="2000" b="1">
                <a:solidFill>
                  <a:srgbClr val="1F618D"/>
                </a:solidFill>
                <a:latin typeface="Segoe UI"/>
              </a:rPr>
              <a:t>7.  </a:t>
            </a:r>
            <a:r>
              <a:rPr sz="2000" b="1" i="0">
                <a:solidFill>
                  <a:srgbClr val="1C252B"/>
                </a:solidFill>
                <a:latin typeface="Segoe UI"/>
              </a:rPr>
              <a:t>Containers.</a:t>
            </a:r>
            <a:r>
              <a:rPr sz="2000" b="0" i="0">
                <a:solidFill>
                  <a:srgbClr val="1C252B"/>
                </a:solidFill>
                <a:latin typeface="Segoe UI"/>
              </a:rPr>
              <a:t> Install a container engine and run two containers. Compare their start time and image size against your VMs’ boot time and disk size. Record actual numbers.</a:t>
            </a:r>
          </a:p>
          <a:p>
            <a:pPr marL="386080" indent="-386080">
              <a:lnSpc>
                <a:spcPct val="102000"/>
              </a:lnSpc>
              <a:spcAft>
                <a:spcPts val="900"/>
              </a:spcAft>
            </a:pPr>
            <a:r>
              <a:rPr sz="2000" b="1">
                <a:solidFill>
                  <a:srgbClr val="1F618D"/>
                </a:solidFill>
                <a:latin typeface="Segoe UI"/>
              </a:rPr>
              <a:t>8.  </a:t>
            </a:r>
            <a:r>
              <a:rPr sz="2000" b="0" i="0">
                <a:solidFill>
                  <a:srgbClr val="1C252B"/>
                </a:solidFill>
                <a:latin typeface="Segoe UI"/>
              </a:rPr>
              <a:t>Inspect the container network. Find the bridge, the addresses assigned, and confirm that outbound traffic is being NATted by the host. Relate this to Chapter 22.</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LAB · VIRTUALBOX, VMWARE WORKSTATION, OR CML</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Connecting a hypervisor properly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386080" indent="-386080">
              <a:lnSpc>
                <a:spcPct val="102000"/>
              </a:lnSpc>
              <a:spcAft>
                <a:spcPts val="900"/>
              </a:spcAft>
            </a:pPr>
            <a:r>
              <a:rPr sz="2000" b="1">
                <a:solidFill>
                  <a:srgbClr val="1F618D"/>
                </a:solidFill>
                <a:latin typeface="Segoe UI"/>
              </a:rPr>
              <a:t>9.  </a:t>
            </a:r>
            <a:r>
              <a:rPr sz="2000" b="0" i="0">
                <a:solidFill>
                  <a:srgbClr val="1C252B"/>
                </a:solidFill>
                <a:latin typeface="Segoe UI"/>
              </a:rPr>
              <a:t>Run </a:t>
            </a:r>
            <a:r>
              <a:rPr sz="1900" b="0" i="0">
                <a:solidFill>
                  <a:srgbClr val="1A5276"/>
                </a:solidFill>
                <a:latin typeface="Consolas"/>
              </a:rPr>
              <a:t>uname -r</a:t>
            </a:r>
            <a:r>
              <a:rPr sz="2000" b="0" i="0">
                <a:solidFill>
                  <a:srgbClr val="1C252B"/>
                </a:solidFill>
                <a:latin typeface="Segoe UI"/>
              </a:rPr>
              <a:t> inside two containers and on the host. Explain the result, and state what it implies for isolation.</a:t>
            </a:r>
          </a:p>
          <a:p>
            <a:pPr marL="543560" indent="-543560">
              <a:lnSpc>
                <a:spcPct val="102000"/>
              </a:lnSpc>
              <a:spcAft>
                <a:spcPts val="900"/>
              </a:spcAft>
            </a:pPr>
            <a:r>
              <a:rPr sz="2000" b="1">
                <a:solidFill>
                  <a:srgbClr val="1F618D"/>
                </a:solidFill>
                <a:latin typeface="Segoe UI"/>
              </a:rPr>
              <a:t>10.  </a:t>
            </a:r>
            <a:r>
              <a:rPr sz="2000" b="1" i="0">
                <a:solidFill>
                  <a:srgbClr val="1C252B"/>
                </a:solidFill>
                <a:latin typeface="Segoe UI"/>
              </a:rPr>
              <a:t>Extension.</a:t>
            </a:r>
            <a:r>
              <a:rPr sz="2000" b="0" i="0">
                <a:solidFill>
                  <a:srgbClr val="1C252B"/>
                </a:solidFill>
                <a:latin typeface="Segoe UI"/>
              </a:rPr>
              <a:t> Write the switch-port template your site should use for hypervisor uplinks, with a one-line justification per command, and say what is different from your standard access-port template.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1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the single structural difference between a type 1 and a type 2 hypervisor?</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1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the single structural difference between a type 1 and a type 2 hypervisor?</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One layer. A type 1 hypervisor runs directly on the hardware and </a:t>
            </a:r>
            <a:r>
              <a:rPr sz="1900" b="0" i="1">
                <a:solidFill>
                  <a:srgbClr val="1C252B"/>
                </a:solidFill>
                <a:latin typeface="Segoe UI"/>
              </a:rPr>
              <a:t>is</a:t>
            </a:r>
            <a:r>
              <a:rPr sz="1900" b="0" i="0">
                <a:solidFill>
                  <a:srgbClr val="1C252B"/>
                </a:solidFill>
                <a:latin typeface="Segoe UI"/>
              </a:rPr>
              <a:t> the operating system; a type 2 runs as an application on top of a host operating system.</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2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does a container share with its host that a virtual machine does not, and what are the two main consequences?</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2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does a container share with its host that a virtual machine does not, and what are the two main consequences?</a:t>
            </a:r>
          </a:p>
        </p:txBody>
      </p:sp>
      <p:sp>
        <p:nvSpPr>
          <p:cNvPr id="8" name="abar"/>
          <p:cNvSpPr/>
          <p:nvPr/>
        </p:nvSpPr>
        <p:spPr>
          <a:xfrm>
            <a:off x="685800" y="251104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The </a:t>
            </a:r>
            <a:r>
              <a:rPr sz="1900" b="1" i="0">
                <a:solidFill>
                  <a:srgbClr val="1C252B"/>
                </a:solidFill>
                <a:latin typeface="Segoe UI"/>
              </a:rPr>
              <a:t>kernel</a:t>
            </a:r>
            <a:r>
              <a:rPr sz="1900" b="0" i="0">
                <a:solidFill>
                  <a:srgbClr val="1C252B"/>
                </a:solidFill>
                <a:latin typeface="Segoe UI"/>
              </a:rPr>
              <a:t>. Consequences: containers are far smaller and start in milliseconds because there is no operating system to boot; and isolation is weaker, because a kernel vulnerability is shared by every container on the host.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3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must a hypervisor uplink be a trunk?</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3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must a hypervisor uplink be a trunk?</a:t>
            </a:r>
          </a:p>
        </p:txBody>
      </p:sp>
      <p:sp>
        <p:nvSpPr>
          <p:cNvPr id="8" name="abar"/>
          <p:cNvSpPr/>
          <p:nvPr/>
        </p:nvSpPr>
        <p:spPr>
          <a:xfrm>
            <a:off x="685800" y="219735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the VMs on it live in several VLANs, and their frames arrive at the physical switch tagged. An access port would carry one VLAN and discard the rest, stranding every VM outside it.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4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Why is port security inappropriate on that port?</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4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Why is port security inappropriate on that port?</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Because a hypervisor presents many MAC addresses on one port — one per vNIC plus the host’s own — and they change as machines start, stop and migrate. Port security will exceed its maximum and err-disable the port, taking down every VM on the host.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5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What is east–west traffic, and why can you not capture it on the physical switch?</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5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What is east–west traffic, and why can you not capture it on the physical switch?</a:t>
            </a:r>
          </a:p>
        </p:txBody>
      </p:sp>
      <p:sp>
        <p:nvSpPr>
          <p:cNvPr id="8" name="abar"/>
          <p:cNvSpPr/>
          <p:nvPr/>
        </p:nvSpPr>
        <p:spPr>
          <a:xfrm>
            <a:off x="685800" y="2197354"/>
            <a:ext cx="41148" cy="114223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197354"/>
            <a:ext cx="10564063" cy="409371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Traffic between two VMs on the same host and VLAN. It is switched inside the hypervisor’s virtual switch and never leaves the server, so it never reaches the physical switch to be seen, filtered or captured there.</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bg>
      <p:bgPr>
        <a:solidFill>
          <a:srgbClr val="1A5276"/>
        </a:solidFill>
        <a:effectLst/>
      </p:bgPr>
    </p:bg>
    <p:spTree>
      <p:nvGrpSpPr>
        <p:cNvPr id="1" name=""/>
        <p:cNvGrpSpPr/>
        <p:nvPr/>
      </p:nvGrpSpPr>
      <p:grpSpPr/>
      <p:sp>
        <p:nvSpPr>
          <p:cNvPr id="2" name="qbg"/>
          <p:cNvSpPr/>
          <p:nvPr/>
        </p:nvSpPr>
        <p:spPr>
          <a:xfrm>
            <a:off x="0" y="0"/>
            <a:ext cx="12191695" cy="6858000"/>
          </a:xfrm>
          <a:prstGeom prst="rect">
            <a:avLst/>
          </a:prstGeom>
          <a:solidFill>
            <a:srgbClr val="1A527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qlab"/>
          <p:cNvSpPr txBox="1"/>
          <p:nvPr/>
        </p:nvSpPr>
        <p:spPr>
          <a:xfrm>
            <a:off x="685800" y="1188720"/>
            <a:ext cx="10820095" cy="310896"/>
          </a:xfrm>
          <a:prstGeom prst="rect">
            <a:avLst/>
          </a:prstGeom>
          <a:noFill/>
        </p:spPr>
        <p:txBody>
          <a:bodyPr wrap="square" anchor="t" lIns="0" rIns="0" tIns="0" bIns="0">
            <a:spAutoFit/>
          </a:bodyPr>
          <a:lstStyle/>
          <a:p>
            <a:pPr algn="l">
              <a:lnSpc>
                <a:spcPct val="100000"/>
              </a:lnSpc>
              <a:spcAft>
                <a:spcPts val="600"/>
              </a:spcAft>
            </a:pPr>
            <a:r>
              <a:rPr sz="1400" b="1" i="0">
                <a:solidFill>
                  <a:srgbClr val="9FC5E8"/>
                </a:solidFill>
                <a:latin typeface="Segoe UI"/>
              </a:rPr>
              <a:t>CHECKPOINT  6 of 6</a:t>
            </a:r>
          </a:p>
        </p:txBody>
      </p:sp>
      <p:sp>
        <p:nvSpPr>
          <p:cNvPr id="4" name="qtext"/>
          <p:cNvSpPr txBox="1"/>
          <p:nvPr/>
        </p:nvSpPr>
        <p:spPr>
          <a:xfrm>
            <a:off x="685800" y="1783080"/>
            <a:ext cx="10820095" cy="3017520"/>
          </a:xfrm>
          <a:prstGeom prst="rect">
            <a:avLst/>
          </a:prstGeom>
          <a:noFill/>
        </p:spPr>
        <p:txBody>
          <a:bodyPr wrap="square" anchor="t" lIns="0" rIns="0" tIns="0" bIns="0">
            <a:spAutoFit/>
          </a:bodyPr>
          <a:lstStyle/>
          <a:p>
            <a:pPr algn="l">
              <a:lnSpc>
                <a:spcPct val="100000"/>
              </a:lnSpc>
              <a:spcAft>
                <a:spcPts val="600"/>
              </a:spcAft>
            </a:pPr>
            <a:r>
              <a:rPr sz="3000" b="0" i="0">
                <a:solidFill>
                  <a:srgbClr val="FFFFFF"/>
                </a:solidFill>
                <a:latin typeface="Segoe UI"/>
              </a:rPr>
              <a:t>A MAC address moves between two switch ports with no cable change. Give a legitimate explanation.</a:t>
            </a:r>
          </a:p>
        </p:txBody>
      </p:sp>
      <p:sp>
        <p:nvSpPr>
          <p:cNvPr id="5" name="qhint"/>
          <p:cNvSpPr txBox="1"/>
          <p:nvPr/>
        </p:nvSpPr>
        <p:spPr>
          <a:xfrm>
            <a:off x="685800" y="5394960"/>
            <a:ext cx="10820095" cy="310896"/>
          </a:xfrm>
          <a:prstGeom prst="rect">
            <a:avLst/>
          </a:prstGeom>
          <a:noFill/>
        </p:spPr>
        <p:txBody>
          <a:bodyPr wrap="square" anchor="t" lIns="0" rIns="0" tIns="0" bIns="0">
            <a:spAutoFit/>
          </a:bodyPr>
          <a:lstStyle/>
          <a:p>
            <a:pPr algn="l">
              <a:lnSpc>
                <a:spcPct val="100000"/>
              </a:lnSpc>
              <a:spcAft>
                <a:spcPts val="600"/>
              </a:spcAft>
            </a:pPr>
            <a:r>
              <a:rPr sz="1300" b="0" i="0">
                <a:solidFill>
                  <a:srgbClr val="7FA8C9"/>
                </a:solidFill>
                <a:latin typeface="Segoe UI"/>
              </a:rPr>
              <a:t>Discuss · then advance</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ANSWER</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Checkpoint 6 of 6</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qtext"/>
          <p:cNvSpPr txBox="1"/>
          <p:nvPr/>
        </p:nvSpPr>
        <p:spPr>
          <a:xfrm>
            <a:off x="685800" y="1517904"/>
            <a:ext cx="10820095" cy="1371600"/>
          </a:xfrm>
          <a:prstGeom prst="rect">
            <a:avLst/>
          </a:prstGeom>
          <a:noFill/>
        </p:spPr>
        <p:txBody>
          <a:bodyPr wrap="square" anchor="t" lIns="0" rIns="0" tIns="0" bIns="0">
            <a:spAutoFit/>
          </a:bodyPr>
          <a:lstStyle/>
          <a:p>
            <a:pPr algn="l">
              <a:lnSpc>
                <a:spcPct val="100000"/>
              </a:lnSpc>
              <a:spcAft>
                <a:spcPts val="600"/>
              </a:spcAft>
            </a:pPr>
            <a:r>
              <a:rPr sz="2000" b="1" i="0">
                <a:solidFill>
                  <a:srgbClr val="1A5276"/>
                </a:solidFill>
                <a:latin typeface="Segoe UI"/>
              </a:rPr>
              <a:t>A MAC address moves between two switch ports with no cable change. Give a legitimate explanation.</a:t>
            </a:r>
          </a:p>
        </p:txBody>
      </p:sp>
      <p:sp>
        <p:nvSpPr>
          <p:cNvPr id="8" name="abar"/>
          <p:cNvSpPr/>
          <p:nvPr/>
        </p:nvSpPr>
        <p:spPr>
          <a:xfrm>
            <a:off x="685800" y="2511044"/>
            <a:ext cx="41148" cy="828548"/>
          </a:xfrm>
          <a:prstGeom prst="rect">
            <a:avLst/>
          </a:prstGeom>
          <a:solidFill>
            <a:srgbClr val="27AE6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atext"/>
          <p:cNvSpPr txBox="1"/>
          <p:nvPr/>
        </p:nvSpPr>
        <p:spPr>
          <a:xfrm>
            <a:off x="941832" y="2511044"/>
            <a:ext cx="10564063" cy="3780028"/>
          </a:xfrm>
          <a:prstGeom prst="rect">
            <a:avLst/>
          </a:prstGeom>
          <a:noFill/>
        </p:spPr>
        <p:txBody>
          <a:bodyPr wrap="square" anchor="t" lIns="0" rIns="0" tIns="0" bIns="0">
            <a:spAutoFit/>
          </a:bodyPr>
          <a:lstStyle/>
          <a:p>
            <a:pPr algn="l">
              <a:lnSpc>
                <a:spcPct val="100000"/>
              </a:lnSpc>
              <a:spcAft>
                <a:spcPts val="600"/>
              </a:spcAft>
            </a:pPr>
            <a:r>
              <a:rPr sz="1900" b="0" i="0">
                <a:solidFill>
                  <a:srgbClr val="1C252B"/>
                </a:solidFill>
                <a:latin typeface="Segoe UI"/>
              </a:rPr>
              <a:t>Live migration. A running VM was moved to another host, so its MAC address legitimately appears on a different switch port seconds later. It looks exactly like a loop and is not.</a:t>
            </a:r>
          </a:p>
        </p:txBody>
      </p:sp>
    </p:spTree>
  </p:cSld>
  <mc:AlternateContent xmlns:mc="http://schemas.openxmlformats.org/markup-compatibility/2006" xmlns:p14="http://schemas.microsoft.com/office/powerpoint/2010/main">
    <mc:Choice Requires="p14">
      <p:transition spd="med" p14:dur="500">
        <p159:morph xmlns:p159="http://schemas.microsoft.com/office/powerpoint/2015/09/main" option="byObject"/>
      </p:transition>
    </mc:Choice>
    <mc:Fallback>
      <p:transition spd="med">
        <p:fade/>
      </p:transition>
    </mc:Fallback>
  </mc:AlternateContent>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517904"/>
            <a:ext cx="10820095" cy="4864608"/>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 hypervisor presents virtual hardware to several guest operating systems. Type 1 runs on the bare metal; type 2 runs on a host OS.</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A VM is files: a configuration and virtual disks, containing a complete guest OS with its own kernel. It can be copied, snapshotted and migrated while running.</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Each vNIC has its own MAC and attaches to a virtual switch, whose port groups carry VLAN IDs that must match the physical trunk.</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Containers share the host kernel: megabytes rather than gigabytes, milliseconds rather than seconds, weaker isolation. Orchestrators such as Kubernetes schedule them at scale.</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The two are commonly combined — containers inside VMs.</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kicker"/>
          <p:cNvSpPr txBox="1"/>
          <p:nvPr/>
        </p:nvSpPr>
        <p:spPr>
          <a:xfrm>
            <a:off x="685800" y="420624"/>
            <a:ext cx="10820095" cy="237744"/>
          </a:xfrm>
          <a:prstGeom prst="rect">
            <a:avLst/>
          </a:prstGeom>
          <a:noFill/>
        </p:spPr>
        <p:txBody>
          <a:bodyPr wrap="square" anchor="t" lIns="0" rIns="0" tIns="0" bIns="0">
            <a:spAutoFit/>
          </a:bodyPr>
          <a:lstStyle/>
          <a:p>
            <a:pPr algn="l">
              <a:lnSpc>
                <a:spcPct val="100000"/>
              </a:lnSpc>
              <a:spcAft>
                <a:spcPts val="600"/>
              </a:spcAft>
            </a:pPr>
            <a:r>
              <a:rPr sz="1200" b="1" i="0">
                <a:solidFill>
                  <a:srgbClr val="8A959A"/>
                </a:solidFill>
                <a:latin typeface="Segoe UI"/>
              </a:rPr>
              <a:t>CHAPTER SUMMARY</a:t>
            </a:r>
          </a:p>
        </p:txBody>
      </p:sp>
      <p:sp>
        <p:nvSpPr>
          <p:cNvPr id="3" name="title"/>
          <p:cNvSpPr txBox="1"/>
          <p:nvPr/>
        </p:nvSpPr>
        <p:spPr>
          <a:xfrm>
            <a:off x="685800" y="640080"/>
            <a:ext cx="10820095" cy="749808"/>
          </a:xfrm>
          <a:prstGeom prst="rect">
            <a:avLst/>
          </a:prstGeom>
          <a:noFill/>
        </p:spPr>
        <p:txBody>
          <a:bodyPr wrap="square" anchor="t" lIns="0" rIns="0" tIns="0" bIns="0">
            <a:spAutoFit/>
          </a:bodyPr>
          <a:lstStyle/>
          <a:p>
            <a:pPr algn="l">
              <a:lnSpc>
                <a:spcPct val="100000"/>
              </a:lnSpc>
              <a:spcAft>
                <a:spcPts val="600"/>
              </a:spcAft>
            </a:pPr>
            <a:r>
              <a:rPr sz="3200" b="1" i="0">
                <a:solidFill>
                  <a:srgbClr val="1A5276"/>
                </a:solidFill>
                <a:latin typeface="Segoe UI"/>
              </a:rPr>
              <a:t>What to take away (continued)</a:t>
            </a:r>
          </a:p>
        </p:txBody>
      </p:sp>
      <p:sp>
        <p:nvSpPr>
          <p:cNvPr id="4" name="rule"/>
          <p:cNvSpPr/>
          <p:nvPr/>
        </p:nvSpPr>
        <p:spPr>
          <a:xfrm>
            <a:off x="685800" y="1280160"/>
            <a:ext cx="10820095" cy="32004"/>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5" name="footL"/>
          <p:cNvSpPr txBox="1"/>
          <p:nvPr/>
        </p:nvSpPr>
        <p:spPr>
          <a:xfrm>
            <a:off x="685800" y="6419088"/>
            <a:ext cx="7790468" cy="256032"/>
          </a:xfrm>
          <a:prstGeom prst="rect">
            <a:avLst/>
          </a:prstGeom>
          <a:noFill/>
        </p:spPr>
        <p:txBody>
          <a:bodyPr wrap="square" anchor="t" lIns="0" rIns="0" tIns="0" bIns="0">
            <a:spAutoFit/>
          </a:bodyPr>
          <a:lstStyle/>
          <a:p>
            <a:pPr algn="l">
              <a:lnSpc>
                <a:spcPct val="100000"/>
              </a:lnSpc>
              <a:spcAft>
                <a:spcPts val="600"/>
              </a:spcAft>
            </a:pPr>
            <a:r>
              <a:rPr sz="1000" b="0" i="0">
                <a:solidFill>
                  <a:srgbClr val="8A959A"/>
                </a:solidFill>
                <a:latin typeface="Segoe UI"/>
              </a:rPr>
              <a:t>CCNA 200-301 v2.0   ·   Chapter 29. Hypervisors, Virtual Machines and Containers</a:t>
            </a:r>
          </a:p>
        </p:txBody>
      </p:sp>
      <p:sp>
        <p:nvSpPr>
          <p:cNvPr id="6" name="footR"/>
          <p:cNvSpPr txBox="1"/>
          <p:nvPr/>
        </p:nvSpPr>
        <p:spPr>
          <a:xfrm>
            <a:off x="8476268" y="6419088"/>
            <a:ext cx="3029626" cy="256032"/>
          </a:xfrm>
          <a:prstGeom prst="rect">
            <a:avLst/>
          </a:prstGeom>
          <a:noFill/>
        </p:spPr>
        <p:txBody>
          <a:bodyPr wrap="square" anchor="t" lIns="0" rIns="0" tIns="0" bIns="0">
            <a:spAutoFit/>
          </a:bodyPr>
          <a:lstStyle/>
          <a:p>
            <a:pPr algn="r">
              <a:lnSpc>
                <a:spcPct val="100000"/>
              </a:lnSpc>
              <a:spcAft>
                <a:spcPts val="600"/>
              </a:spcAft>
            </a:pPr>
            <a:r>
              <a:rPr sz="1000" b="0" i="0">
                <a:solidFill>
                  <a:srgbClr val="8A959A"/>
                </a:solidFill>
                <a:latin typeface="Segoe UI"/>
              </a:rPr>
              <a:t>1.2</a:t>
            </a:r>
          </a:p>
        </p:txBody>
      </p:sp>
      <p:sp>
        <p:nvSpPr>
          <p:cNvPr id="7" name="bullets"/>
          <p:cNvSpPr txBox="1"/>
          <p:nvPr/>
        </p:nvSpPr>
        <p:spPr>
          <a:xfrm>
            <a:off x="685800" y="1901952"/>
            <a:ext cx="10820095" cy="4480560"/>
          </a:xfrm>
          <a:prstGeom prst="rect">
            <a:avLst/>
          </a:prstGeom>
          <a:noFill/>
        </p:spPr>
        <p:txBody>
          <a:bodyPr wrap="square" lIns="0" rIns="0" tIns="0" bIns="0">
            <a:spAutoFit/>
          </a:bodyPr>
          <a:lstStyle/>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The physical port to a hypervisor is a </a:t>
            </a:r>
            <a:r>
              <a:rPr sz="2000" b="1" i="0">
                <a:solidFill>
                  <a:srgbClr val="1C252B"/>
                </a:solidFill>
                <a:latin typeface="Segoe UI"/>
              </a:rPr>
              <a:t>trunk</a:t>
            </a:r>
            <a:r>
              <a:rPr sz="2000" b="0" i="0">
                <a:solidFill>
                  <a:srgbClr val="1C252B"/>
                </a:solidFill>
                <a:latin typeface="Segoe UI"/>
              </a:rPr>
              <a:t> with an explicit allowed list, </a:t>
            </a:r>
            <a:r>
              <a:rPr sz="2000" b="1" i="0">
                <a:solidFill>
                  <a:srgbClr val="1C252B"/>
                </a:solidFill>
                <a:latin typeface="Segoe UI"/>
              </a:rPr>
              <a:t>no port security</a:t>
            </a:r>
            <a:r>
              <a:rPr sz="2000" b="0" i="0">
                <a:solidFill>
                  <a:srgbClr val="1C252B"/>
                </a:solidFill>
                <a:latin typeface="Segoe UI"/>
              </a:rPr>
              <a:t>, </a:t>
            </a:r>
            <a:r>
              <a:rPr sz="1900" b="0" i="0">
                <a:solidFill>
                  <a:srgbClr val="1A5276"/>
                </a:solidFill>
                <a:latin typeface="Consolas"/>
              </a:rPr>
              <a:t>portfast trunk</a:t>
            </a:r>
            <a:r>
              <a:rPr sz="2000" b="0" i="0">
                <a:solidFill>
                  <a:srgbClr val="1C252B"/>
                </a:solidFill>
                <a:latin typeface="Segoe UI"/>
              </a:rPr>
              <a:t> and BPDU guard.</a:t>
            </a:r>
          </a:p>
          <a:p>
            <a:pPr marL="228600" indent="-228600">
              <a:lnSpc>
                <a:spcPct val="102000"/>
              </a:lnSpc>
              <a:spcAft>
                <a:spcPts val="900"/>
              </a:spcAft>
            </a:pPr>
            <a:r>
              <a:rPr sz="2000" b="1">
                <a:solidFill>
                  <a:srgbClr val="1F618D"/>
                </a:solidFill>
                <a:latin typeface="Segoe UI"/>
              </a:rPr>
              <a:t>•  </a:t>
            </a:r>
            <a:r>
              <a:rPr sz="2000" b="0" i="0">
                <a:solidFill>
                  <a:srgbClr val="1C252B"/>
                </a:solidFill>
                <a:latin typeface="Segoe UI"/>
              </a:rPr>
              <a:t>Live migration moves MAC addresses between ports legitimately. East–west traffic never reaches the physical network at all.</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bg>
      <p:bgPr>
        <a:solidFill>
          <a:srgbClr val="1F618D"/>
        </a:solidFill>
        <a:effectLst/>
      </p:bgPr>
    </p:bg>
    <p:spTree>
      <p:nvGrpSpPr>
        <p:cNvPr id="1" name=""/>
        <p:cNvGrpSpPr/>
        <p:nvPr/>
      </p:nvGrpSpPr>
      <p:grpSpPr/>
      <p:sp>
        <p:nvSpPr>
          <p:cNvPr id="2" name="bg"/>
          <p:cNvSpPr/>
          <p:nvPr/>
        </p:nvSpPr>
        <p:spPr>
          <a:xfrm>
            <a:off x="0" y="0"/>
            <a:ext cx="12191695" cy="6858000"/>
          </a:xfrm>
          <a:prstGeom prst="rect">
            <a:avLst/>
          </a:prstGeom>
          <a:solidFill>
            <a:srgbClr val="1F618D"/>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cltitle"/>
          <p:cNvSpPr txBox="1"/>
          <p:nvPr/>
        </p:nvSpPr>
        <p:spPr>
          <a:xfrm>
            <a:off x="685800" y="1051560"/>
            <a:ext cx="10820095" cy="822960"/>
          </a:xfrm>
          <a:prstGeom prst="rect">
            <a:avLst/>
          </a:prstGeom>
          <a:noFill/>
        </p:spPr>
        <p:txBody>
          <a:bodyPr wrap="square" anchor="t" lIns="0" rIns="0" tIns="0" bIns="0">
            <a:spAutoFit/>
          </a:bodyPr>
          <a:lstStyle/>
          <a:p>
            <a:pPr algn="l">
              <a:lnSpc>
                <a:spcPct val="100000"/>
              </a:lnSpc>
              <a:spcAft>
                <a:spcPts val="600"/>
              </a:spcAft>
            </a:pPr>
            <a:r>
              <a:rPr sz="3400" b="1" i="0">
                <a:solidFill>
                  <a:srgbClr val="FFFFFF"/>
                </a:solidFill>
                <a:latin typeface="Segoe UI"/>
              </a:rPr>
              <a:t>Where we got to</a:t>
            </a:r>
          </a:p>
        </p:txBody>
      </p:sp>
      <p:sp>
        <p:nvSpPr>
          <p:cNvPr id="4" name="cltakeaways"/>
          <p:cNvSpPr txBox="1"/>
          <p:nvPr/>
        </p:nvSpPr>
        <p:spPr>
          <a:xfrm>
            <a:off x="685800" y="2011680"/>
            <a:ext cx="10820095" cy="3063240"/>
          </a:xfrm>
          <a:prstGeom prst="rect">
            <a:avLst/>
          </a:prstGeom>
          <a:noFill/>
        </p:spPr>
        <p:txBody>
          <a:bodyPr wrap="square">
            <a:spAutoFit/>
          </a:bodyPr>
          <a:lstStyle/>
          <a:p>
            <a:pPr marL="217169" indent="-217169">
              <a:spcAft>
                <a:spcPts val="900"/>
              </a:spcAft>
            </a:pPr>
            <a:r>
              <a:rPr sz="1900">
                <a:solidFill>
                  <a:srgbClr val="C8D6E5"/>
                </a:solidFill>
              </a:rPr>
              <a:t>•  </a:t>
            </a:r>
            <a:r>
              <a:rPr sz="1900" b="0" i="0">
                <a:solidFill>
                  <a:srgbClr val="FFFFFF"/>
                </a:solidFill>
                <a:latin typeface="Segoe UI"/>
              </a:rPr>
              <a:t>A hypervisor presents virtual hardware to several guest operating systems. Type 1 runs on the bare metal; type 2 runs on a host OS.</a:t>
            </a:r>
          </a:p>
          <a:p>
            <a:pPr marL="217169" indent="-217169">
              <a:spcAft>
                <a:spcPts val="900"/>
              </a:spcAft>
            </a:pPr>
            <a:r>
              <a:rPr sz="1900">
                <a:solidFill>
                  <a:srgbClr val="C8D6E5"/>
                </a:solidFill>
              </a:rPr>
              <a:t>•  </a:t>
            </a:r>
            <a:r>
              <a:rPr sz="1900" b="0" i="0">
                <a:solidFill>
                  <a:srgbClr val="FFFFFF"/>
                </a:solidFill>
                <a:latin typeface="Segoe UI"/>
              </a:rPr>
              <a:t>A VM is files: a configuration and virtual disks, containing a complete guest OS with its own kernel. It can be copied, snapshotted and migrated while running.</a:t>
            </a:r>
          </a:p>
          <a:p>
            <a:pPr marL="217169" indent="-217169">
              <a:spcAft>
                <a:spcPts val="900"/>
              </a:spcAft>
            </a:pPr>
            <a:r>
              <a:rPr sz="1900">
                <a:solidFill>
                  <a:srgbClr val="C8D6E5"/>
                </a:solidFill>
              </a:rPr>
              <a:t>•  </a:t>
            </a:r>
            <a:r>
              <a:rPr sz="1900" b="0" i="0">
                <a:solidFill>
                  <a:srgbClr val="FFFFFF"/>
                </a:solidFill>
                <a:latin typeface="Segoe UI"/>
              </a:rPr>
              <a:t>Each vNIC has its own MAC and attaches to a virtual switch, whose port groups carry VLAN IDs that must match the physical trunk.</a:t>
            </a:r>
          </a:p>
          <a:p>
            <a:pPr marL="217169" indent="-217169">
              <a:spcAft>
                <a:spcPts val="900"/>
              </a:spcAft>
            </a:pPr>
            <a:r>
              <a:rPr sz="1900">
                <a:solidFill>
                  <a:srgbClr val="C8D6E5"/>
                </a:solidFill>
              </a:rPr>
              <a:t>•  </a:t>
            </a:r>
            <a:r>
              <a:rPr sz="1900" b="0" i="0">
                <a:solidFill>
                  <a:srgbClr val="FFFFFF"/>
                </a:solidFill>
                <a:latin typeface="Segoe UI"/>
              </a:rPr>
              <a:t>Containers share the host kernel: megabytes rather than gigabytes, milliseconds rather than seconds, weaker isolation. Orchestrators such as Kubernetes schedule them at scale.</a:t>
            </a:r>
          </a:p>
        </p:txBody>
      </p:sp>
      <p:sp>
        <p:nvSpPr>
          <p:cNvPr id="5" name="nextbg"/>
          <p:cNvSpPr/>
          <p:nvPr/>
        </p:nvSpPr>
        <p:spPr>
          <a:xfrm>
            <a:off x="685800" y="5303520"/>
            <a:ext cx="10820095" cy="822960"/>
          </a:xfrm>
          <a:prstGeom prst="rect">
            <a:avLst/>
          </a:prstGeom>
          <a:solidFill>
            <a:srgbClr val="094B77"/>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nextlab"/>
          <p:cNvSpPr txBox="1"/>
          <p:nvPr/>
        </p:nvSpPr>
        <p:spPr>
          <a:xfrm>
            <a:off x="960120" y="5449824"/>
            <a:ext cx="10271455" cy="274320"/>
          </a:xfrm>
          <a:prstGeom prst="rect">
            <a:avLst/>
          </a:prstGeom>
          <a:noFill/>
        </p:spPr>
        <p:txBody>
          <a:bodyPr wrap="square" anchor="t" lIns="0" rIns="0" tIns="0" bIns="0">
            <a:spAutoFit/>
          </a:bodyPr>
          <a:lstStyle/>
          <a:p>
            <a:pPr algn="l">
              <a:lnSpc>
                <a:spcPct val="100000"/>
              </a:lnSpc>
              <a:spcAft>
                <a:spcPts val="600"/>
              </a:spcAft>
            </a:pPr>
            <a:r>
              <a:rPr sz="1200" b="1" i="0">
                <a:solidFill>
                  <a:srgbClr val="B8C9DA"/>
                </a:solidFill>
                <a:latin typeface="Segoe UI"/>
              </a:rPr>
              <a:t>NEXT</a:t>
            </a:r>
          </a:p>
        </p:txBody>
      </p:sp>
      <p:sp>
        <p:nvSpPr>
          <p:cNvPr id="7" name="nexttitle"/>
          <p:cNvSpPr txBox="1"/>
          <p:nvPr/>
        </p:nvSpPr>
        <p:spPr>
          <a:xfrm>
            <a:off x="960120" y="5705856"/>
            <a:ext cx="10271455" cy="329184"/>
          </a:xfrm>
          <a:prstGeom prst="rect">
            <a:avLst/>
          </a:prstGeom>
          <a:noFill/>
        </p:spPr>
        <p:txBody>
          <a:bodyPr wrap="square" anchor="t" lIns="0" rIns="0" tIns="0" bIns="0">
            <a:spAutoFit/>
          </a:bodyPr>
          <a:lstStyle/>
          <a:p>
            <a:pPr algn="l">
              <a:lnSpc>
                <a:spcPct val="100000"/>
              </a:lnSpc>
              <a:spcAft>
                <a:spcPts val="600"/>
              </a:spcAft>
            </a:pPr>
            <a:r>
              <a:rPr sz="1900" b="1" i="0">
                <a:solidFill>
                  <a:srgbClr val="FFFFFF"/>
                </a:solidFill>
                <a:latin typeface="Segoe UI"/>
              </a:rPr>
              <a:t>Chapter 30 — Management Approaches, SNMP and Syslog</a:t>
            </a:r>
          </a:p>
        </p:txBody>
      </p:sp>
    </p:spTree>
  </p:cSld>
  <mc:AlternateContent xmlns:mc="http://schemas.openxmlformats.org/markup-compatibility/2006" xmlns:p14="http://schemas.microsoft.com/office/powerpoint/2010/main">
    <mc:Choice Requires="p14">
      <p:transition spd="med" p14:dur="500">
        <p:fade/>
      </p:transition>
    </mc:Choice>
    <mc:Fallback>
      <p:transition spd="med">
        <p:fade/>
      </p:transition>
    </mc:Fallback>
  </mc:AlternateContent>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