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28: Troubleshooting Client Connectivity. Blueprint topics: 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Client Connectivity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instinct when a user cannot connect is to go and look at the switch. Resist it. Four commands at the host tell you whether there is any point.</a:t>
            </a:r>
          </a:p>
          <a:p/>
          <a:p>
            <a:r>
              <a:t>The reachability ladder. Each rung that passes eliminates everything below it; the first rung that fails names the area to investigate.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Gateway fails → the problem is on this segment. Wrong VLAN, a bad cable, a wireless client associated but not authorised, or an ACL on the SVI. Check the ARP cache: if the gateway has no MAC entry, the host cannot even find it. Gateway works, remote IP fails → the host is fine. The fault is routing, NAT or a filter. Run a trace to find where it stops. Remote IP works, remote name fails → DNS, and only DNS. Go to Chapter 21 and stop looking at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FAILED against an address means the host ARPed for it and nothing replied — so that address is either absent or not on this segment after all. It is a fast way to confirm a wrong-mask fault.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Wireless adds a step before the ladder even starts: the client must associate and authenticate. A client can be fully associated and still have no network access.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28</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Troubleshooting Client Connectivity</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1.6"/>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1.6"/>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F618D"/>
                </a:solidFill>
                <a:latin typeface="Segoe UI"/>
              </a:rPr>
              <a:t>1.6</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a:t>
            </a:r>
            <a:r>
              <a:rPr sz="2000" b="0" i="0">
                <a:solidFill>
                  <a:srgbClr val="1C252B"/>
                </a:solidFill>
                <a:latin typeface="Segoe UI"/>
              </a:rPr>
              <a:t> a host’s IP configuration on Windows, macOS and Linux, and recognise the four configurations that cannot work.</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Apply</a:t>
            </a:r>
            <a:r>
              <a:rPr sz="2000" b="0" i="0">
                <a:solidFill>
                  <a:srgbClr val="1C252B"/>
                </a:solidFill>
                <a:latin typeface="Segoe UI"/>
              </a:rPr>
              <a:t> a reachability ladder that localises a fault in five commands.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Check</a:t>
            </a:r>
            <a:r>
              <a:rPr sz="2000" b="0" i="0">
                <a:solidFill>
                  <a:srgbClr val="1C252B"/>
                </a:solidFill>
                <a:latin typeface="Segoe UI"/>
              </a:rPr>
              <a:t> wireless security parameters on all three operating systems, including the modern default that breaks MAC-based authorisation.</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Decide</a:t>
            </a:r>
            <a:r>
              <a:rPr sz="2000" b="0" i="0">
                <a:solidFill>
                  <a:srgbClr val="1C252B"/>
                </a:solidFill>
                <a:latin typeface="Segoe UI"/>
              </a:rPr>
              <a:t>, from the host alone, whether a fault is the client’s, the access layer’s, or the network’s — before escalating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and Chapter 5 for addressing. Chapter 20 for what an address means when it arrives. Chapter 21 for name resolution. Chapter 27 for RSSI, SNR and the security protocols this chapter checks the settings of.</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term-APIPA"/>
          <p:cNvSpPr/>
          <p:nvPr/>
        </p:nvSpPr>
        <p:spPr>
          <a:xfrm>
            <a:off x="685800" y="1609344"/>
            <a:ext cx="89408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APIPA"/>
          <p:cNvSpPr/>
          <p:nvPr/>
        </p:nvSpPr>
        <p:spPr>
          <a:xfrm>
            <a:off x="6858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APIPA"/>
          <p:cNvSpPr txBox="1"/>
          <p:nvPr/>
        </p:nvSpPr>
        <p:spPr>
          <a:xfrm>
            <a:off x="850392" y="1700784"/>
            <a:ext cx="56489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APIPA</a:t>
            </a:r>
          </a:p>
        </p:txBody>
      </p:sp>
      <p:sp>
        <p:nvSpPr>
          <p:cNvPr id="10" name="term-default gateway"/>
          <p:cNvSpPr/>
          <p:nvPr/>
        </p:nvSpPr>
        <p:spPr>
          <a:xfrm>
            <a:off x="1707896" y="1609344"/>
            <a:ext cx="174548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default gateway"/>
          <p:cNvSpPr/>
          <p:nvPr/>
        </p:nvSpPr>
        <p:spPr>
          <a:xfrm>
            <a:off x="1707896"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default gateway"/>
          <p:cNvSpPr txBox="1"/>
          <p:nvPr/>
        </p:nvSpPr>
        <p:spPr>
          <a:xfrm>
            <a:off x="1872488" y="1700784"/>
            <a:ext cx="141630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default gateway</a:t>
            </a:r>
          </a:p>
        </p:txBody>
      </p:sp>
      <p:sp>
        <p:nvSpPr>
          <p:cNvPr id="13" name="term-subnet mask"/>
          <p:cNvSpPr/>
          <p:nvPr/>
        </p:nvSpPr>
        <p:spPr>
          <a:xfrm>
            <a:off x="3581400" y="1609344"/>
            <a:ext cx="145897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subnet mask"/>
          <p:cNvSpPr/>
          <p:nvPr/>
        </p:nvSpPr>
        <p:spPr>
          <a:xfrm>
            <a:off x="35814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subnet mask"/>
          <p:cNvSpPr txBox="1"/>
          <p:nvPr/>
        </p:nvSpPr>
        <p:spPr>
          <a:xfrm>
            <a:off x="3745992" y="1700784"/>
            <a:ext cx="112979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subnet mask</a:t>
            </a:r>
          </a:p>
        </p:txBody>
      </p:sp>
      <p:sp>
        <p:nvSpPr>
          <p:cNvPr id="16" name="term-reachability ladde"/>
          <p:cNvSpPr/>
          <p:nvPr/>
        </p:nvSpPr>
        <p:spPr>
          <a:xfrm>
            <a:off x="5168392" y="1609344"/>
            <a:ext cx="195681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reachability ladde"/>
          <p:cNvSpPr/>
          <p:nvPr/>
        </p:nvSpPr>
        <p:spPr>
          <a:xfrm>
            <a:off x="5168392"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reachability ladde"/>
          <p:cNvSpPr txBox="1"/>
          <p:nvPr/>
        </p:nvSpPr>
        <p:spPr>
          <a:xfrm>
            <a:off x="5332984" y="1700784"/>
            <a:ext cx="162763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reachability ladder</a:t>
            </a:r>
          </a:p>
        </p:txBody>
      </p:sp>
      <p:sp>
        <p:nvSpPr>
          <p:cNvPr id="19" name="term-ipconfig"/>
          <p:cNvSpPr/>
          <p:nvPr/>
        </p:nvSpPr>
        <p:spPr>
          <a:xfrm>
            <a:off x="7253224" y="1609344"/>
            <a:ext cx="103022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ipconfig"/>
          <p:cNvSpPr/>
          <p:nvPr/>
        </p:nvSpPr>
        <p:spPr>
          <a:xfrm>
            <a:off x="725322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ipconfig"/>
          <p:cNvSpPr txBox="1"/>
          <p:nvPr/>
        </p:nvSpPr>
        <p:spPr>
          <a:xfrm>
            <a:off x="7417816" y="1700784"/>
            <a:ext cx="70103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ipconfig</a:t>
            </a:r>
          </a:p>
        </p:txBody>
      </p:sp>
      <p:sp>
        <p:nvSpPr>
          <p:cNvPr id="22" name="term-ip addr"/>
          <p:cNvSpPr/>
          <p:nvPr/>
        </p:nvSpPr>
        <p:spPr>
          <a:xfrm>
            <a:off x="8411464" y="1609344"/>
            <a:ext cx="92659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ip addr"/>
          <p:cNvSpPr/>
          <p:nvPr/>
        </p:nvSpPr>
        <p:spPr>
          <a:xfrm>
            <a:off x="841146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ip addr"/>
          <p:cNvSpPr txBox="1"/>
          <p:nvPr/>
        </p:nvSpPr>
        <p:spPr>
          <a:xfrm>
            <a:off x="8576055" y="1700784"/>
            <a:ext cx="59740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ip addr</a:t>
            </a:r>
          </a:p>
        </p:txBody>
      </p:sp>
      <p:sp>
        <p:nvSpPr>
          <p:cNvPr id="25" name="term-ARP cache"/>
          <p:cNvSpPr/>
          <p:nvPr/>
        </p:nvSpPr>
        <p:spPr>
          <a:xfrm>
            <a:off x="9466071" y="1609344"/>
            <a:ext cx="12862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ARP cache"/>
          <p:cNvSpPr/>
          <p:nvPr/>
        </p:nvSpPr>
        <p:spPr>
          <a:xfrm>
            <a:off x="9466071"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ARP cache"/>
          <p:cNvSpPr txBox="1"/>
          <p:nvPr/>
        </p:nvSpPr>
        <p:spPr>
          <a:xfrm>
            <a:off x="9630663" y="1700784"/>
            <a:ext cx="9570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ARP cache</a:t>
            </a:r>
          </a:p>
        </p:txBody>
      </p:sp>
      <p:sp>
        <p:nvSpPr>
          <p:cNvPr id="28" name="term-MAC randomisation"/>
          <p:cNvSpPr/>
          <p:nvPr/>
        </p:nvSpPr>
        <p:spPr>
          <a:xfrm>
            <a:off x="685800" y="2212848"/>
            <a:ext cx="20726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MAC randomisation"/>
          <p:cNvSpPr/>
          <p:nvPr/>
        </p:nvSpPr>
        <p:spPr>
          <a:xfrm>
            <a:off x="68580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MAC randomisation"/>
          <p:cNvSpPr txBox="1"/>
          <p:nvPr/>
        </p:nvSpPr>
        <p:spPr>
          <a:xfrm>
            <a:off x="850392" y="2304288"/>
            <a:ext cx="174345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MAC randomisation</a:t>
            </a:r>
          </a:p>
        </p:txBody>
      </p:sp>
      <p:sp>
        <p:nvSpPr>
          <p:cNvPr id="31" name="term-supplicant"/>
          <p:cNvSpPr/>
          <p:nvPr/>
        </p:nvSpPr>
        <p:spPr>
          <a:xfrm>
            <a:off x="2886455" y="2212848"/>
            <a:ext cx="123748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supplicant"/>
          <p:cNvSpPr/>
          <p:nvPr/>
        </p:nvSpPr>
        <p:spPr>
          <a:xfrm>
            <a:off x="288645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supplicant"/>
          <p:cNvSpPr txBox="1"/>
          <p:nvPr/>
        </p:nvSpPr>
        <p:spPr>
          <a:xfrm>
            <a:off x="3051048" y="2304288"/>
            <a:ext cx="90830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supplicant</a:t>
            </a:r>
          </a:p>
        </p:txBody>
      </p:sp>
      <p:sp>
        <p:nvSpPr>
          <p:cNvPr id="34" name="term-EAP method"/>
          <p:cNvSpPr/>
          <p:nvPr/>
        </p:nvSpPr>
        <p:spPr>
          <a:xfrm>
            <a:off x="4251959" y="2212848"/>
            <a:ext cx="142239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EAP method"/>
          <p:cNvSpPr/>
          <p:nvPr/>
        </p:nvSpPr>
        <p:spPr>
          <a:xfrm>
            <a:off x="4251959"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EAP method"/>
          <p:cNvSpPr txBox="1"/>
          <p:nvPr/>
        </p:nvSpPr>
        <p:spPr>
          <a:xfrm>
            <a:off x="4416551" y="2304288"/>
            <a:ext cx="109321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EAP method</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Three areas, three operating systems, named explicitly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F618D"/>
                </a:solidFill>
                <a:latin typeface="Segoe UI"/>
              </a:rPr>
              <a:t> 1.6 </a:t>
            </a:r>
            <a:r>
              <a:rPr sz="2000" b="0" i="0">
                <a:solidFill>
                  <a:srgbClr val="1C252B"/>
                </a:solidFill>
                <a:latin typeface="Segoe UI"/>
              </a:rPr>
              <a:t> is </a:t>
            </a:r>
            <a:r>
              <a:rPr sz="2000" b="0" i="1">
                <a:solidFill>
                  <a:srgbClr val="1C252B"/>
                </a:solidFill>
                <a:latin typeface="Segoe UI"/>
              </a:rPr>
              <a:t>troubleshoot wired and wireless client connectivity (IP configuration, network reachability, and wireless security parameters on Windows, MacOS, and Linux)</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The three operating systems are named in the topic statement. That is a strong signal: you are expected to know the </a:t>
            </a:r>
            <a:r>
              <a:rPr sz="2000" b="0" i="1">
                <a:solidFill>
                  <a:srgbClr val="1C252B"/>
                </a:solidFill>
                <a:latin typeface="Segoe UI"/>
              </a:rPr>
              <a:t>equivalent command on each</a:t>
            </a:r>
            <a:r>
              <a:rPr sz="2000" b="0" i="0">
                <a:solidFill>
                  <a:srgbClr val="1C252B"/>
                </a:solidFill>
                <a:latin typeface="Segoe UI"/>
              </a:rPr>
              <a:t>, not just the one you happen to use. The table in Section sec:oscmds is the single most examinable page in this chapter, and it is worth memorising in all three columns.</a:t>
            </a:r>
          </a:p>
          <a:p>
            <a:pPr algn="l">
              <a:lnSpc>
                <a:spcPct val="100000"/>
              </a:lnSpc>
              <a:spcAft>
                <a:spcPts val="1000"/>
              </a:spcAft>
            </a:pPr>
            <a:r>
              <a:rPr sz="2000" b="0" i="0">
                <a:solidFill>
                  <a:srgbClr val="1C252B"/>
                </a:solidFill>
                <a:latin typeface="Segoe UI"/>
              </a:rPr>
              <a:t>Note also what is </a:t>
            </a:r>
            <a:r>
              <a:rPr sz="2000" b="0" i="1">
                <a:solidFill>
                  <a:srgbClr val="1C252B"/>
                </a:solidFill>
                <a:latin typeface="Segoe UI"/>
              </a:rPr>
              <a:t>not</a:t>
            </a:r>
            <a:r>
              <a:rPr sz="2000" b="0" i="0">
                <a:solidFill>
                  <a:srgbClr val="1C252B"/>
                </a:solidFill>
                <a:latin typeface="Segoe UI"/>
              </a:rPr>
              <a:t> here: no server-side configuration, no controller. Everything in this topic is done standing at the affected machine.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Start at the host</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pic>
        <p:nvPicPr>
          <p:cNvPr id="6" name="figure" descr="ladder-1.png"/>
          <p:cNvPicPr>
            <a:picLocks noChangeAspect="1"/>
          </p:cNvPicPr>
          <p:nvPr/>
        </p:nvPicPr>
        <p:blipFill>
          <a:blip r:embed="rId2"/>
          <a:stretch>
            <a:fillRect/>
          </a:stretch>
        </p:blipFill>
        <p:spPr>
          <a:xfrm>
            <a:off x="2933790" y="1517904"/>
            <a:ext cx="6324113"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Start at the host</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pic>
        <p:nvPicPr>
          <p:cNvPr id="6" name="figure" descr="ladder-2.png"/>
          <p:cNvPicPr>
            <a:picLocks noChangeAspect="1"/>
          </p:cNvPicPr>
          <p:nvPr/>
        </p:nvPicPr>
        <p:blipFill>
          <a:blip r:embed="rId2"/>
          <a:stretch>
            <a:fillRect/>
          </a:stretch>
        </p:blipFill>
        <p:spPr>
          <a:xfrm>
            <a:off x="2933790" y="1517904"/>
            <a:ext cx="6324113"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Start at the host</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pic>
        <p:nvPicPr>
          <p:cNvPr id="6" name="figure" descr="ladder-3.png"/>
          <p:cNvPicPr>
            <a:picLocks noChangeAspect="1"/>
          </p:cNvPicPr>
          <p:nvPr/>
        </p:nvPicPr>
        <p:blipFill>
          <a:blip r:embed="rId2"/>
          <a:stretch>
            <a:fillRect/>
          </a:stretch>
        </p:blipFill>
        <p:spPr>
          <a:xfrm>
            <a:off x="2933790" y="1517904"/>
            <a:ext cx="6324113"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Start at the host</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pic>
        <p:nvPicPr>
          <p:cNvPr id="6" name="figure" descr="ladder-4.png"/>
          <p:cNvPicPr>
            <a:picLocks noChangeAspect="1"/>
          </p:cNvPicPr>
          <p:nvPr/>
        </p:nvPicPr>
        <p:blipFill>
          <a:blip r:embed="rId2"/>
          <a:stretch>
            <a:fillRect/>
          </a:stretch>
        </p:blipFill>
        <p:spPr>
          <a:xfrm>
            <a:off x="2933790" y="1517904"/>
            <a:ext cx="6324113"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Start at the host</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pic>
        <p:nvPicPr>
          <p:cNvPr id="6" name="figure" descr="ladder-5.png"/>
          <p:cNvPicPr>
            <a:picLocks noChangeAspect="1"/>
          </p:cNvPicPr>
          <p:nvPr/>
        </p:nvPicPr>
        <p:blipFill>
          <a:blip r:embed="rId2"/>
          <a:stretch>
            <a:fillRect/>
          </a:stretch>
        </p:blipFill>
        <p:spPr>
          <a:xfrm>
            <a:off x="2933790" y="1517904"/>
            <a:ext cx="6324113"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the order matters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Each step depends on every step above it. So the </a:t>
            </a:r>
            <a:r>
              <a:rPr sz="2000" b="0" i="1">
                <a:solidFill>
                  <a:srgbClr val="1C252B"/>
                </a:solidFill>
                <a:latin typeface="Segoe UI"/>
              </a:rPr>
              <a:t>first</a:t>
            </a:r>
            <a:r>
              <a:rPr sz="2000" b="0" i="0">
                <a:solidFill>
                  <a:srgbClr val="1C252B"/>
                </a:solidFill>
                <a:latin typeface="Segoe UI"/>
              </a:rPr>
              <a:t> failure is the fault, and everything below it is a symptom rather than a cause.</a:t>
            </a:r>
          </a:p>
          <a:p>
            <a:pPr algn="l">
              <a:lnSpc>
                <a:spcPct val="100000"/>
              </a:lnSpc>
              <a:spcAft>
                <a:spcPts val="1000"/>
              </a:spcAft>
            </a:pPr>
            <a:r>
              <a:rPr sz="2000" b="0" i="0">
                <a:solidFill>
                  <a:srgbClr val="1C252B"/>
                </a:solidFill>
                <a:latin typeface="Segoe UI"/>
              </a:rPr>
              <a:t>The commonest mistake in practice is starting at step 4 — “the website does not load” — and reasoning about DNS for twenty minutes on a machine that never had a valid address. Four commands, in order, cost ninety seconds and stop that happening.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Two differences worth knowing rather than guessing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1900" b="1" i="0">
                <a:solidFill>
                  <a:srgbClr val="1A5276"/>
                </a:solidFill>
                <a:latin typeface="Consolas"/>
              </a:rPr>
              <a:t>ifconfig</a:t>
            </a:r>
            <a:r>
              <a:rPr sz="2000" b="1" i="0">
                <a:solidFill>
                  <a:srgbClr val="1C252B"/>
                </a:solidFill>
                <a:latin typeface="Segoe UI"/>
              </a:rPr>
              <a:t> is deprecated on Linux</a:t>
            </a:r>
            <a:r>
              <a:rPr sz="2000" b="0" i="0">
                <a:solidFill>
                  <a:srgbClr val="1C252B"/>
                </a:solidFill>
                <a:latin typeface="Segoe UI"/>
              </a:rPr>
              <a:t> and absent from many modern distributions. </a:t>
            </a:r>
            <a:r>
              <a:rPr sz="1900" b="0" i="0">
                <a:solidFill>
                  <a:srgbClr val="1A5276"/>
                </a:solidFill>
                <a:latin typeface="Consolas"/>
              </a:rPr>
              <a:t>ip</a:t>
            </a:r>
            <a:r>
              <a:rPr sz="2000" b="0" i="0">
                <a:solidFill>
                  <a:srgbClr val="1C252B"/>
                </a:solidFill>
                <a:latin typeface="Segoe UI"/>
              </a:rPr>
              <a:t> replaced it. On macOS </a:t>
            </a:r>
            <a:r>
              <a:rPr sz="1900" b="0" i="0">
                <a:solidFill>
                  <a:srgbClr val="1A5276"/>
                </a:solidFill>
                <a:latin typeface="Consolas"/>
              </a:rPr>
              <a:t>ifconfig</a:t>
            </a:r>
            <a:r>
              <a:rPr sz="2000" b="0" i="0">
                <a:solidFill>
                  <a:srgbClr val="1C252B"/>
                </a:solidFill>
                <a:latin typeface="Segoe UI"/>
              </a:rPr>
              <a:t> is still the normal tool. Same command name, opposite advice, depending on the platform in front of you.</a:t>
            </a:r>
          </a:p>
          <a:p>
            <a:pPr algn="l">
              <a:lnSpc>
                <a:spcPct val="100000"/>
              </a:lnSpc>
              <a:spcAft>
                <a:spcPts val="1000"/>
              </a:spcAft>
            </a:pPr>
            <a:r>
              <a:rPr sz="2000" b="1" i="0">
                <a:solidFill>
                  <a:srgbClr val="1C252B"/>
                </a:solidFill>
                <a:latin typeface="Segoe UI"/>
              </a:rPr>
              <a:t>macOS does not release and renew the way Windows does.</a:t>
            </a:r>
            <a:r>
              <a:rPr sz="2000" b="0" i="0">
                <a:solidFill>
                  <a:srgbClr val="1C252B"/>
                </a:solidFill>
                <a:latin typeface="Segoe UI"/>
              </a:rPr>
              <a:t> Setting the interface to </a:t>
            </a:r>
            <a:r>
              <a:rPr sz="1900" b="0" i="0">
                <a:solidFill>
                  <a:srgbClr val="1A5276"/>
                </a:solidFill>
                <a:latin typeface="Consolas"/>
              </a:rPr>
              <a:t>NONE</a:t>
            </a:r>
            <a:r>
              <a:rPr sz="2000" b="0" i="0">
                <a:solidFill>
                  <a:srgbClr val="1C252B"/>
                </a:solidFill>
                <a:latin typeface="Segoe UI"/>
              </a:rPr>
              <a:t> and back to </a:t>
            </a:r>
            <a:r>
              <a:rPr sz="1900" b="0" i="0">
                <a:solidFill>
                  <a:srgbClr val="1A5276"/>
                </a:solidFill>
                <a:latin typeface="Consolas"/>
              </a:rPr>
              <a:t>DHCP</a:t>
            </a:r>
            <a:r>
              <a:rPr sz="2000" b="0" i="0">
                <a:solidFill>
                  <a:srgbClr val="1C252B"/>
                </a:solidFill>
                <a:latin typeface="Segoe UI"/>
              </a:rPr>
              <a:t> is the equivalent; there is no single “renew” verb. In the GUI it is the Renew DHCP Lease button in the TCP/IP pane.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ipconfig /all</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872331"/>
            <a:ext cx="10820095" cy="389737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872331"/>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27195"/>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Windows</a:t>
            </a:r>
          </a:p>
        </p:txBody>
      </p:sp>
      <p:sp>
        <p:nvSpPr>
          <p:cNvPr id="10" name="code"/>
          <p:cNvSpPr txBox="1"/>
          <p:nvPr/>
        </p:nvSpPr>
        <p:spPr>
          <a:xfrm>
            <a:off x="886968" y="2311243"/>
            <a:ext cx="10417759" cy="3403600"/>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Wireless LAN adapter Wi-Fi:</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   Description . . . . . . . . . . . : Intel(R) Wi-Fi 6 AX201</a:t>
            </a:r>
          </a:p>
          <a:p>
            <a:pPr>
              <a:lnSpc>
                <a:spcPct val="100000"/>
              </a:lnSpc>
              <a:spcAft>
                <a:spcPts val="0"/>
              </a:spcAft>
            </a:pPr>
            <a:r>
              <a:rPr sz="1600">
                <a:solidFill>
                  <a:srgbClr val="E8EEF2"/>
                </a:solidFill>
                <a:latin typeface="Consolas"/>
              </a:rPr>
              <a:t>   Physical Address. . . . . . . . . : 8A-3C-D1-77-04-B2</a:t>
            </a:r>
          </a:p>
          <a:p>
            <a:pPr>
              <a:lnSpc>
                <a:spcPct val="100000"/>
              </a:lnSpc>
              <a:spcAft>
                <a:spcPts val="0"/>
              </a:spcAft>
            </a:pPr>
            <a:r>
              <a:rPr sz="1600">
                <a:solidFill>
                  <a:srgbClr val="E8EEF2"/>
                </a:solidFill>
                <a:latin typeface="Consolas"/>
              </a:rPr>
              <a:t>   DHCP Enabled. . . . . . . . . . . : Yes</a:t>
            </a:r>
          </a:p>
          <a:p>
            <a:pPr>
              <a:lnSpc>
                <a:spcPct val="100000"/>
              </a:lnSpc>
              <a:spcAft>
                <a:spcPts val="0"/>
              </a:spcAft>
            </a:pPr>
            <a:r>
              <a:rPr sz="1600">
                <a:solidFill>
                  <a:srgbClr val="E8EEF2"/>
                </a:solidFill>
                <a:latin typeface="Consolas"/>
              </a:rPr>
              <a:t>   IPv4 Address. . . . . . . . . . . : 192.168.10.34(Preferred)</a:t>
            </a:r>
          </a:p>
          <a:p>
            <a:pPr>
              <a:lnSpc>
                <a:spcPct val="100000"/>
              </a:lnSpc>
              <a:spcAft>
                <a:spcPts val="0"/>
              </a:spcAft>
            </a:pPr>
            <a:r>
              <a:rPr sz="1600">
                <a:solidFill>
                  <a:srgbClr val="E8EEF2"/>
                </a:solidFill>
                <a:latin typeface="Consolas"/>
              </a:rPr>
              <a:t>   Subnet Mask . . . . . . . . . . . : 255.255.255.0</a:t>
            </a:r>
          </a:p>
          <a:p>
            <a:pPr>
              <a:lnSpc>
                <a:spcPct val="100000"/>
              </a:lnSpc>
              <a:spcAft>
                <a:spcPts val="0"/>
              </a:spcAft>
            </a:pPr>
            <a:r>
              <a:rPr sz="1600">
                <a:solidFill>
                  <a:srgbClr val="E8EEF2"/>
                </a:solidFill>
                <a:latin typeface="Consolas"/>
              </a:rPr>
              <a:t>   Lease Obtained. . . . . . . . . . : 27 August 2026 08:14:02</a:t>
            </a:r>
          </a:p>
          <a:p>
            <a:pPr>
              <a:lnSpc>
                <a:spcPct val="100000"/>
              </a:lnSpc>
              <a:spcAft>
                <a:spcPts val="0"/>
              </a:spcAft>
            </a:pPr>
            <a:r>
              <a:rPr sz="1600">
                <a:solidFill>
                  <a:srgbClr val="E8EEF2"/>
                </a:solidFill>
                <a:latin typeface="Consolas"/>
              </a:rPr>
              <a:t>   Lease Expires . . . . . . . . . . : 27 August 2026 16:14:02</a:t>
            </a:r>
          </a:p>
          <a:p>
            <a:pPr>
              <a:lnSpc>
                <a:spcPct val="100000"/>
              </a:lnSpc>
              <a:spcAft>
                <a:spcPts val="0"/>
              </a:spcAft>
            </a:pPr>
            <a:r>
              <a:rPr sz="1600">
                <a:solidFill>
                  <a:srgbClr val="E8EEF2"/>
                </a:solidFill>
                <a:latin typeface="Consolas"/>
              </a:rPr>
              <a:t>   Default Gateway . . . . . . . . . : 192.168.10.1</a:t>
            </a:r>
          </a:p>
          <a:p>
            <a:pPr>
              <a:lnSpc>
                <a:spcPct val="100000"/>
              </a:lnSpc>
              <a:spcAft>
                <a:spcPts val="0"/>
              </a:spcAft>
            </a:pPr>
            <a:r>
              <a:rPr sz="1600">
                <a:solidFill>
                  <a:srgbClr val="E8EEF2"/>
                </a:solidFill>
                <a:latin typeface="Consolas"/>
              </a:rPr>
              <a:t>   DHCP Server . . . . . . . . . . . : 10.0.0.5</a:t>
            </a:r>
          </a:p>
          <a:p>
            <a:pPr>
              <a:lnSpc>
                <a:spcPct val="100000"/>
              </a:lnSpc>
              <a:spcAft>
                <a:spcPts val="0"/>
              </a:spcAft>
            </a:pPr>
            <a:r>
              <a:rPr sz="1600">
                <a:solidFill>
                  <a:srgbClr val="E8EEF2"/>
                </a:solidFill>
                <a:latin typeface="Consolas"/>
              </a:rPr>
              <a:t>   DNS Servers . . . . . . . . . . . : 192.168.20.10</a:t>
            </a:r>
          </a:p>
          <a:p>
            <a:pPr>
              <a:lnSpc>
                <a:spcPct val="100000"/>
              </a:lnSpc>
              <a:spcAft>
                <a:spcPts val="0"/>
              </a:spcAft>
            </a:pPr>
            <a:r>
              <a:rPr sz="1600">
                <a:solidFill>
                  <a:srgbClr val="E8EEF2"/>
                </a:solidFill>
                <a:latin typeface="Consolas"/>
              </a:rPr>
              <a:t>                                       192.168.20.11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ip addr show wlan0</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3: wlan0: &lt;BROADCAST,MULTICAST,UP,LOWER_UP&gt; mtu 1500 state UP</a:t>
            </a:r>
          </a:p>
          <a:p>
            <a:pPr>
              <a:lnSpc>
                <a:spcPct val="100000"/>
              </a:lnSpc>
              <a:spcAft>
                <a:spcPts val="0"/>
              </a:spcAft>
            </a:pPr>
            <a:r>
              <a:rPr sz="1600">
                <a:solidFill>
                  <a:srgbClr val="E8EEF2"/>
                </a:solidFill>
                <a:latin typeface="Consolas"/>
              </a:rPr>
              <a:t>    link/ether 8a:3c:d1:77:04:b2 brd ff:ff:ff:ff:ff:ff</a:t>
            </a:r>
          </a:p>
          <a:p>
            <a:pPr>
              <a:lnSpc>
                <a:spcPct val="100000"/>
              </a:lnSpc>
              <a:spcAft>
                <a:spcPts val="0"/>
              </a:spcAft>
            </a:pPr>
            <a:r>
              <a:rPr sz="1600">
                <a:solidFill>
                  <a:srgbClr val="E8EEF2"/>
                </a:solidFill>
                <a:latin typeface="Consolas"/>
              </a:rPr>
              <a:t>    inet 192.168.10.34/24 brd 192.168.10.255 scope global dynamic wlan0</a:t>
            </a:r>
          </a:p>
          <a:p>
            <a:pPr>
              <a:lnSpc>
                <a:spcPct val="100000"/>
              </a:lnSpc>
              <a:spcAft>
                <a:spcPts val="0"/>
              </a:spcAft>
            </a:pPr>
            <a:r>
              <a:rPr sz="1600">
                <a:solidFill>
                  <a:srgbClr val="E8EEF2"/>
                </a:solidFill>
                <a:latin typeface="Consolas"/>
              </a:rPr>
              <a:t>       valid_lft 21847sec preferred_lft 21847sec</a:t>
            </a:r>
          </a:p>
          <a:p>
            <a:pPr>
              <a:lnSpc>
                <a:spcPct val="100000"/>
              </a:lnSpc>
              <a:spcAft>
                <a:spcPts val="0"/>
              </a:spcAft>
            </a:pPr>
            <a:r>
              <a:rPr sz="1600">
                <a:solidFill>
                  <a:srgbClr val="E8EEF2"/>
                </a:solidFill>
                <a:latin typeface="Consolas"/>
              </a:rPr>
              <a:t>    inet6 2001:db8:acad:10:8a3c:d1ff:fe77:4b2/64 scope global dynamic</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wrong-mask fault, because it is worth recognising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host configured </a:t>
            </a:r>
            <a:r>
              <a:rPr sz="1900" b="0" i="0">
                <a:solidFill>
                  <a:srgbClr val="1A5276"/>
                </a:solidFill>
                <a:latin typeface="Consolas"/>
              </a:rPr>
              <a:t>192.168.10.34/16</a:t>
            </a:r>
            <a:r>
              <a:rPr sz="2000" b="0" i="0">
                <a:solidFill>
                  <a:srgbClr val="1C252B"/>
                </a:solidFill>
                <a:latin typeface="Segoe UI"/>
              </a:rPr>
              <a:t> instead of </a:t>
            </a:r>
            <a:r>
              <a:rPr sz="1900" b="0" i="0">
                <a:solidFill>
                  <a:srgbClr val="1A5276"/>
                </a:solidFill>
                <a:latin typeface="Consolas"/>
              </a:rPr>
              <a:t>/24</a:t>
            </a:r>
            <a:r>
              <a:rPr sz="2000" b="0" i="0">
                <a:solidFill>
                  <a:srgbClr val="1C252B"/>
                </a:solidFill>
                <a:latin typeface="Segoe UI"/>
              </a:rPr>
              <a:t> believes the whole of </a:t>
            </a:r>
            <a:r>
              <a:rPr sz="1900" b="0" i="0">
                <a:solidFill>
                  <a:srgbClr val="1A5276"/>
                </a:solidFill>
                <a:latin typeface="Consolas"/>
              </a:rPr>
              <a:t>192.168.0.0/16</a:t>
            </a:r>
            <a:r>
              <a:rPr sz="2000" b="0" i="0">
                <a:solidFill>
                  <a:srgbClr val="1C252B"/>
                </a:solidFill>
                <a:latin typeface="Segoe UI"/>
              </a:rPr>
              <a:t> is on its local segment. So for a destination in </a:t>
            </a:r>
            <a:r>
              <a:rPr sz="1900" b="0" i="0">
                <a:solidFill>
                  <a:srgbClr val="1A5276"/>
                </a:solidFill>
                <a:latin typeface="Consolas"/>
              </a:rPr>
              <a:t>192.168.20.0/24</a:t>
            </a:r>
            <a:r>
              <a:rPr sz="2000" b="0" i="0">
                <a:solidFill>
                  <a:srgbClr val="1C252B"/>
                </a:solidFill>
                <a:latin typeface="Segoe UI"/>
              </a:rPr>
              <a:t> it ARPs directly instead of sending to the gateway — gets no answer, and fails. For </a:t>
            </a:r>
            <a:r>
              <a:rPr sz="1900" b="0" i="0">
                <a:solidFill>
                  <a:srgbClr val="1A5276"/>
                </a:solidFill>
                <a:latin typeface="Consolas"/>
              </a:rPr>
              <a:t>8.8.8.8</a:t>
            </a:r>
            <a:r>
              <a:rPr sz="2000" b="0" i="0">
                <a:solidFill>
                  <a:srgbClr val="1C252B"/>
                </a:solidFill>
                <a:latin typeface="Segoe UI"/>
              </a:rPr>
              <a:t> it uses the gateway correctly, and works.</a:t>
            </a:r>
          </a:p>
          <a:p>
            <a:pPr algn="l">
              <a:lnSpc>
                <a:spcPct val="100000"/>
              </a:lnSpc>
              <a:spcAft>
                <a:spcPts val="1000"/>
              </a:spcAft>
            </a:pPr>
            <a:r>
              <a:rPr sz="2000" b="0" i="0">
                <a:solidFill>
                  <a:srgbClr val="1C252B"/>
                </a:solidFill>
                <a:latin typeface="Segoe UI"/>
              </a:rPr>
              <a:t>The symptom is therefore “the internet works but the file server does not”, which sounds like a server problem and is not. Check the mask whenever connectivity is selectively broken toward </a:t>
            </a:r>
            <a:r>
              <a:rPr sz="2000" b="0" i="1">
                <a:solidFill>
                  <a:srgbClr val="1C252B"/>
                </a:solidFill>
                <a:latin typeface="Segoe UI"/>
              </a:rPr>
              <a:t>internal</a:t>
            </a:r>
            <a:r>
              <a:rPr sz="2000" b="0" i="0">
                <a:solidFill>
                  <a:srgbClr val="1C252B"/>
                </a:solidFill>
                <a:latin typeface="Segoe UI"/>
              </a:rPr>
              <a:t> destinations.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ping 192.168.10.1</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901952"/>
            <a:ext cx="10820095" cy="2133599"/>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Windows</a:t>
            </a:r>
          </a:p>
        </p:txBody>
      </p:sp>
      <p:sp>
        <p:nvSpPr>
          <p:cNvPr id="10" name="code"/>
          <p:cNvSpPr txBox="1"/>
          <p:nvPr/>
        </p:nvSpPr>
        <p:spPr>
          <a:xfrm>
            <a:off x="886968" y="2340864"/>
            <a:ext cx="10417759" cy="163982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Pinging 192.168.10.1 with 32 bytes of data:</a:t>
            </a:r>
          </a:p>
          <a:p>
            <a:pPr>
              <a:lnSpc>
                <a:spcPct val="100000"/>
              </a:lnSpc>
              <a:spcAft>
                <a:spcPts val="0"/>
              </a:spcAft>
            </a:pPr>
            <a:r>
              <a:rPr sz="1600">
                <a:solidFill>
                  <a:srgbClr val="E8EEF2"/>
                </a:solidFill>
                <a:latin typeface="Consolas"/>
              </a:rPr>
              <a:t>Reply from 192.168.10.1: bytes=32 time=1ms TTL=255</a:t>
            </a:r>
          </a:p>
          <a:p>
            <a:pPr>
              <a:lnSpc>
                <a:spcPct val="100000"/>
              </a:lnSpc>
              <a:spcAft>
                <a:spcPts val="0"/>
              </a:spcAft>
            </a:pPr>
            <a:r>
              <a:rPr sz="1600">
                <a:solidFill>
                  <a:srgbClr val="E8EEF2"/>
                </a:solidFill>
                <a:latin typeface="Consolas"/>
              </a:rPr>
              <a:t>Reply from 192.168.10.1: bytes=32 time=1ms TTL=255</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Ping statistics for 192.168.10.1:</a:t>
            </a:r>
          </a:p>
          <a:p>
            <a:pPr>
              <a:lnSpc>
                <a:spcPct val="100000"/>
              </a:lnSpc>
              <a:spcAft>
                <a:spcPts val="0"/>
              </a:spcAft>
            </a:pPr>
            <a:r>
              <a:rPr sz="1600">
                <a:solidFill>
                  <a:srgbClr val="E8EEF2"/>
                </a:solidFill>
                <a:latin typeface="Consolas"/>
              </a:rPr>
              <a:t>    Packets: Sent = 4, Received = 4, Lost = 0 (0% loss)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ip neigh</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192.168.10.1 dev wlan0 lladdr 00:1a:2b:3c:4d:5e REACHABLE</a:t>
            </a:r>
          </a:p>
          <a:p>
            <a:pPr>
              <a:lnSpc>
                <a:spcPct val="100000"/>
              </a:lnSpc>
              <a:spcAft>
                <a:spcPts val="0"/>
              </a:spcAft>
            </a:pPr>
            <a:r>
              <a:rPr sz="1600">
                <a:solidFill>
                  <a:srgbClr val="E8EEF2"/>
                </a:solidFill>
                <a:latin typeface="Consolas"/>
              </a:rPr>
              <a:t>192.168.10.22 dev wlan0 lladdr 00:50:79:66:68:22 STALE</a:t>
            </a:r>
          </a:p>
          <a:p>
            <a:pPr>
              <a:lnSpc>
                <a:spcPct val="100000"/>
              </a:lnSpc>
              <a:spcAft>
                <a:spcPts val="0"/>
              </a:spcAft>
            </a:pPr>
            <a:r>
              <a:rPr sz="1600">
                <a:solidFill>
                  <a:srgbClr val="E8EEF2"/>
                </a:solidFill>
                <a:latin typeface="Consolas"/>
              </a:rPr>
              <a:t>192.168.10.99 dev wlan0  FAILED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ping that fails does not always mean unreachable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ody"/>
          <p:cNvSpPr txBox="1"/>
          <p:nvPr/>
        </p:nvSpPr>
        <p:spPr>
          <a:xfrm>
            <a:off x="685800" y="2685578"/>
            <a:ext cx="10820095" cy="36969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Plenty of hosts and firewalls drop ICMP by policy. Before concluding that a server is down, test the port the application actually uses:</a:t>
            </a:r>
          </a:p>
        </p:txBody>
      </p:sp>
      <p:sp>
        <p:nvSpPr>
          <p:cNvPr id="8" name="bullets"/>
          <p:cNvSpPr txBox="1"/>
          <p:nvPr/>
        </p:nvSpPr>
        <p:spPr>
          <a:xfrm>
            <a:off x="685800" y="3528858"/>
            <a:ext cx="10820095" cy="2853653"/>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Windows: </a:t>
            </a:r>
            <a:r>
              <a:rPr sz="1900" b="0" i="0">
                <a:solidFill>
                  <a:srgbClr val="1A5276"/>
                </a:solidFill>
                <a:latin typeface="Consolas"/>
              </a:rPr>
              <a:t>Test-NetConnection server.example.edu -Port 443</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macOS and Linux: </a:t>
            </a:r>
            <a:r>
              <a:rPr sz="1900" b="0" i="0">
                <a:solidFill>
                  <a:srgbClr val="1A5276"/>
                </a:solidFill>
                <a:latin typeface="Consolas"/>
              </a:rPr>
              <a:t>nc -zv server.example.edu 443</a:t>
            </a:r>
          </a:p>
        </p:txBody>
      </p:sp>
      <p:sp>
        <p:nvSpPr>
          <p:cNvPr id="9" name="tailbody"/>
          <p:cNvSpPr txBox="1"/>
          <p:nvPr/>
        </p:nvSpPr>
        <p:spPr>
          <a:xfrm>
            <a:off x="685800" y="4701322"/>
            <a:ext cx="10820095" cy="1626325"/>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A successful TCP connection to port 443 on a host that ignores ping is a working server. Reporting it as down because it did not answer ICMP is a common and avoidable error.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netsh wlan show interfaces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Windows</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    Name                   : Wi-Fi</a:t>
            </a:r>
          </a:p>
          <a:p>
            <a:pPr>
              <a:lnSpc>
                <a:spcPct val="100000"/>
              </a:lnSpc>
              <a:spcAft>
                <a:spcPts val="0"/>
              </a:spcAft>
            </a:pPr>
            <a:r>
              <a:rPr sz="1600">
                <a:solidFill>
                  <a:srgbClr val="E8EEF2"/>
                </a:solidFill>
                <a:latin typeface="Consolas"/>
              </a:rPr>
              <a:t>    State                  : connected</a:t>
            </a:r>
          </a:p>
          <a:p>
            <a:pPr>
              <a:lnSpc>
                <a:spcPct val="100000"/>
              </a:lnSpc>
              <a:spcAft>
                <a:spcPts val="0"/>
              </a:spcAft>
            </a:pPr>
            <a:r>
              <a:rPr sz="1600">
                <a:solidFill>
                  <a:srgbClr val="E8EEF2"/>
                </a:solidFill>
                <a:latin typeface="Consolas"/>
              </a:rPr>
              <a:t>    SSID                   : CAMPUS-STAFF</a:t>
            </a:r>
          </a:p>
          <a:p>
            <a:pPr>
              <a:lnSpc>
                <a:spcPct val="100000"/>
              </a:lnSpc>
              <a:spcAft>
                <a:spcPts val="0"/>
              </a:spcAft>
            </a:pPr>
            <a:r>
              <a:rPr sz="1600">
                <a:solidFill>
                  <a:srgbClr val="E8EEF2"/>
                </a:solidFill>
                <a:latin typeface="Consolas"/>
              </a:rPr>
              <a:t>    BSSID                  : 00:11:22:aa:bb:03</a:t>
            </a:r>
          </a:p>
          <a:p>
            <a:pPr>
              <a:lnSpc>
                <a:spcPct val="100000"/>
              </a:lnSpc>
              <a:spcAft>
                <a:spcPts val="0"/>
              </a:spcAft>
            </a:pPr>
            <a:r>
              <a:rPr sz="1600">
                <a:solidFill>
                  <a:srgbClr val="E8EEF2"/>
                </a:solidFill>
                <a:latin typeface="Consolas"/>
              </a:rPr>
              <a:t>    Network type           : Infrastructure</a:t>
            </a:r>
          </a:p>
          <a:p>
            <a:pPr>
              <a:lnSpc>
                <a:spcPct val="100000"/>
              </a:lnSpc>
              <a:spcAft>
                <a:spcPts val="0"/>
              </a:spcAft>
            </a:pPr>
            <a:r>
              <a:rPr sz="1600">
                <a:solidFill>
                  <a:srgbClr val="E8EEF2"/>
                </a:solidFill>
                <a:latin typeface="Consolas"/>
              </a:rPr>
              <a:t>    Radio type             : 802.11ax</a:t>
            </a:r>
          </a:p>
          <a:p>
            <a:pPr>
              <a:lnSpc>
                <a:spcPct val="100000"/>
              </a:lnSpc>
              <a:spcAft>
                <a:spcPts val="0"/>
              </a:spcAft>
            </a:pPr>
            <a:r>
              <a:rPr sz="1600">
                <a:solidFill>
                  <a:srgbClr val="E8EEF2"/>
                </a:solidFill>
                <a:latin typeface="Consolas"/>
              </a:rPr>
              <a:t>    Authentication         : WPA2-Enterprise</a:t>
            </a:r>
          </a:p>
          <a:p>
            <a:pPr>
              <a:lnSpc>
                <a:spcPct val="100000"/>
              </a:lnSpc>
              <a:spcAft>
                <a:spcPts val="0"/>
              </a:spcAft>
            </a:pPr>
            <a:r>
              <a:rPr sz="1600">
                <a:solidFill>
                  <a:srgbClr val="E8EEF2"/>
                </a:solidFill>
                <a:latin typeface="Consolas"/>
              </a:rPr>
              <a:t>    Cipher                 : CCMP</a:t>
            </a:r>
          </a:p>
          <a:p>
            <a:pPr>
              <a:lnSpc>
                <a:spcPct val="100000"/>
              </a:lnSpc>
              <a:spcAft>
                <a:spcPts val="0"/>
              </a:spcAft>
            </a:pPr>
            <a:r>
              <a:rPr sz="1600">
                <a:solidFill>
                  <a:srgbClr val="E8EEF2"/>
                </a:solidFill>
                <a:latin typeface="Consolas"/>
              </a:rPr>
              <a:t>    Channel                : 44</a:t>
            </a:r>
          </a:p>
          <a:p>
            <a:pPr>
              <a:lnSpc>
                <a:spcPct val="100000"/>
              </a:lnSpc>
              <a:spcAft>
                <a:spcPts val="0"/>
              </a:spcAft>
            </a:pPr>
            <a:r>
              <a:rPr sz="1600">
                <a:solidFill>
                  <a:srgbClr val="E8EEF2"/>
                </a:solidFill>
                <a:latin typeface="Consolas"/>
              </a:rPr>
              <a:t>    Signal                 : 78%</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iw dev wlan0 link</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codebg"/>
          <p:cNvSpPr/>
          <p:nvPr/>
        </p:nvSpPr>
        <p:spPr>
          <a:xfrm>
            <a:off x="685800" y="1901952"/>
            <a:ext cx="10820095" cy="2133599"/>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a:t>
            </a:r>
          </a:p>
        </p:txBody>
      </p:sp>
      <p:sp>
        <p:nvSpPr>
          <p:cNvPr id="10" name="code"/>
          <p:cNvSpPr txBox="1"/>
          <p:nvPr/>
        </p:nvSpPr>
        <p:spPr>
          <a:xfrm>
            <a:off x="886968" y="2340864"/>
            <a:ext cx="10417759" cy="1639824"/>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Connected to 00:11:22:aa:bb:03 (on wlan0)</a:t>
            </a:r>
          </a:p>
          <a:p>
            <a:pPr>
              <a:lnSpc>
                <a:spcPct val="100000"/>
              </a:lnSpc>
              <a:spcAft>
                <a:spcPts val="0"/>
              </a:spcAft>
            </a:pPr>
            <a:r>
              <a:rPr sz="1600">
                <a:solidFill>
                  <a:srgbClr val="E8EEF2"/>
                </a:solidFill>
                <a:latin typeface="Consolas"/>
              </a:rPr>
              <a:t>        SSID: CAMPUS-STAFF</a:t>
            </a:r>
          </a:p>
          <a:p>
            <a:pPr>
              <a:lnSpc>
                <a:spcPct val="100000"/>
              </a:lnSpc>
              <a:spcAft>
                <a:spcPts val="0"/>
              </a:spcAft>
            </a:pPr>
            <a:r>
              <a:rPr sz="1600">
                <a:solidFill>
                  <a:srgbClr val="E8EEF2"/>
                </a:solidFill>
                <a:latin typeface="Consolas"/>
              </a:rPr>
              <a:t>        freq: 5220</a:t>
            </a:r>
          </a:p>
          <a:p>
            <a:pPr>
              <a:lnSpc>
                <a:spcPct val="100000"/>
              </a:lnSpc>
              <a:spcAft>
                <a:spcPts val="0"/>
              </a:spcAft>
            </a:pPr>
            <a:r>
              <a:rPr sz="1600">
                <a:solidFill>
                  <a:srgbClr val="E8EEF2"/>
                </a:solidFill>
                <a:latin typeface="Consolas"/>
              </a:rPr>
              <a:t>        signal: -58 dBm</a:t>
            </a:r>
          </a:p>
          <a:p>
            <a:pPr>
              <a:lnSpc>
                <a:spcPct val="100000"/>
              </a:lnSpc>
              <a:spcAft>
                <a:spcPts val="0"/>
              </a:spcAft>
            </a:pPr>
            <a:r>
              <a:rPr sz="1600">
                <a:solidFill>
                  <a:srgbClr val="E8EEF2"/>
                </a:solidFill>
                <a:latin typeface="Consolas"/>
              </a:rPr>
              <a:t>        rx bitrate: 780.0 MBit/s</a:t>
            </a:r>
          </a:p>
          <a:p>
            <a:pPr>
              <a:lnSpc>
                <a:spcPct val="100000"/>
              </a:lnSpc>
              <a:spcAft>
                <a:spcPts val="0"/>
              </a:spcAft>
            </a:pPr>
            <a:r>
              <a:rPr sz="1600">
                <a:solidFill>
                  <a:srgbClr val="E8EEF2"/>
                </a:solidFill>
                <a:latin typeface="Consolas"/>
              </a:rPr>
              <a:t>        tx bitrate: 585.0 MBit/s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Windows reports signal as a percentage, and it is not one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tint"/>
          <p:cNvSpPr/>
          <p:nvPr/>
        </p:nvSpPr>
        <p:spPr>
          <a:xfrm>
            <a:off x="685800" y="1517904"/>
            <a:ext cx="10820095" cy="27492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That </a:t>
            </a:r>
            <a:r>
              <a:rPr sz="1900" b="0" i="0">
                <a:solidFill>
                  <a:srgbClr val="1A5276"/>
                </a:solidFill>
                <a:latin typeface="Consolas"/>
              </a:rPr>
              <a:t>Signal : 78%</a:t>
            </a:r>
            <a:r>
              <a:rPr sz="2000" b="0" i="0">
                <a:solidFill>
                  <a:srgbClr val="1C252B"/>
                </a:solidFill>
                <a:latin typeface="Segoe UI"/>
              </a:rPr>
              <a:t> is a rescaling of RSSI, not a physical quantity, and different drivers scale it differently. It also tells you nothing about the noise floor, which Chapter 27 established is the number that decides whether a link works.</a:t>
            </a:r>
          </a:p>
          <a:p>
            <a:pPr algn="l">
              <a:lnSpc>
                <a:spcPct val="100000"/>
              </a:lnSpc>
              <a:spcAft>
                <a:spcPts val="1000"/>
              </a:spcAft>
            </a:pPr>
            <a:r>
              <a:rPr sz="2000" b="0" i="0">
                <a:solidFill>
                  <a:srgbClr val="1C252B"/>
                </a:solidFill>
                <a:latin typeface="Segoe UI"/>
              </a:rPr>
              <a:t>Prefer a tool that reports dBm. On Linux </a:t>
            </a:r>
            <a:r>
              <a:rPr sz="1900" b="0" i="0">
                <a:solidFill>
                  <a:srgbClr val="1A5276"/>
                </a:solidFill>
                <a:latin typeface="Consolas"/>
              </a:rPr>
              <a:t>iw</a:t>
            </a:r>
            <a:r>
              <a:rPr sz="2000" b="0" i="0">
                <a:solidFill>
                  <a:srgbClr val="1C252B"/>
                </a:solidFill>
                <a:latin typeface="Segoe UI"/>
              </a:rPr>
              <a:t> gives it directly; on macOS the option-click menu shows RSSI and noise together; on Windows a third-party analyser is usually needed.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700" b="1" i="0">
                <a:solidFill>
                  <a:srgbClr val="1A5276"/>
                </a:solidFill>
                <a:latin typeface="Segoe UI"/>
              </a:rPr>
              <a:t>MAC randomisation, and why it breaks things that used to work</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600" b="0" i="0">
                <a:solidFill>
                  <a:srgbClr val="1C252B"/>
                </a:solidFill>
                <a:latin typeface="Segoe UI"/>
              </a:rPr>
              <a:t>Windows, macOS, iOS, Android and most Linux distributions now generate a </a:t>
            </a:r>
            <a:r>
              <a:rPr sz="1600" b="1" i="0">
                <a:solidFill>
                  <a:srgbClr val="1C252B"/>
                </a:solidFill>
                <a:latin typeface="Segoe UI"/>
              </a:rPr>
              <a:t>random MAC address per network by default</a:t>
            </a:r>
            <a:r>
              <a:rPr sz="1600" b="0" i="0">
                <a:solidFill>
                  <a:srgbClr val="1C252B"/>
                </a:solidFill>
                <a:latin typeface="Segoe UI"/>
              </a:rPr>
              <a:t>, and some re-randomise periodically. It is a privacy feature and it is on unless somebody turned it off.</a:t>
            </a:r>
          </a:p>
          <a:p>
            <a:pPr algn="l">
              <a:lnSpc>
                <a:spcPct val="100000"/>
              </a:lnSpc>
              <a:spcAft>
                <a:spcPts val="1000"/>
              </a:spcAft>
            </a:pPr>
            <a:r>
              <a:rPr sz="1600" b="0" i="0">
                <a:solidFill>
                  <a:srgbClr val="1C252B"/>
                </a:solidFill>
                <a:latin typeface="Segoe UI"/>
              </a:rPr>
              <a:t>It breaks anything that identifies a device by MAC address:</a:t>
            </a:r>
          </a:p>
          <a:p>
            <a:pPr algn="l">
              <a:lnSpc>
                <a:spcPct val="100000"/>
              </a:lnSpc>
              <a:spcAft>
                <a:spcPts val="1000"/>
              </a:spcAft>
            </a:pPr>
            <a:r>
              <a:rPr sz="1600" b="1" i="0">
                <a:solidFill>
                  <a:srgbClr val="1C252B"/>
                </a:solidFill>
                <a:latin typeface="Segoe UI"/>
              </a:rPr>
              <a:t>The diagnostic tell:</a:t>
            </a:r>
            <a:r>
              <a:rPr sz="1600" b="0" i="0">
                <a:solidFill>
                  <a:srgbClr val="1C252B"/>
                </a:solidFill>
                <a:latin typeface="Segoe UI"/>
              </a:rPr>
              <a:t> the MAC in </a:t>
            </a:r>
            <a:r>
              <a:rPr sz="1500" b="0" i="0">
                <a:solidFill>
                  <a:srgbClr val="1A5276"/>
                </a:solidFill>
                <a:latin typeface="Consolas"/>
              </a:rPr>
              <a:t>ipconfig /all</a:t>
            </a:r>
            <a:r>
              <a:rPr sz="1600" b="0" i="0">
                <a:solidFill>
                  <a:srgbClr val="1C252B"/>
                </a:solidFill>
                <a:latin typeface="Segoe UI"/>
              </a:rPr>
              <a:t> does not match the MAC on the device’s label or in the network’s records, and the second octet’s low-order bits mark it as locally administered.</a:t>
            </a:r>
          </a:p>
          <a:p>
            <a:pPr algn="l">
              <a:lnSpc>
                <a:spcPct val="100000"/>
              </a:lnSpc>
              <a:spcAft>
                <a:spcPts val="1000"/>
              </a:spcAft>
            </a:pPr>
            <a:r>
              <a:rPr sz="1600" b="1" i="0">
                <a:solidFill>
                  <a:srgbClr val="1C252B"/>
                </a:solidFill>
                <a:latin typeface="Segoe UI"/>
              </a:rPr>
              <a:t>Where to turn it off</a:t>
            </a:r>
            <a:r>
              <a:rPr sz="1600" b="0" i="0">
                <a:solidFill>
                  <a:srgbClr val="1C252B"/>
                </a:solidFill>
                <a:latin typeface="Segoe UI"/>
              </a:rPr>
              <a:t> — and note the topic names all three:</a:t>
            </a:r>
          </a:p>
        </p:txBody>
      </p:sp>
      <p:sp>
        <p:nvSpPr>
          <p:cNvPr id="8" name="bullets"/>
          <p:cNvSpPr txBox="1"/>
          <p:nvPr/>
        </p:nvSpPr>
        <p:spPr>
          <a:xfrm>
            <a:off x="685800" y="3824224"/>
            <a:ext cx="10820095" cy="2558288"/>
          </a:xfrm>
          <a:prstGeom prst="rect">
            <a:avLst/>
          </a:prstGeom>
          <a:noFill/>
        </p:spPr>
        <p:txBody>
          <a:bodyPr wrap="square" lIns="0" rIns="0" tIns="0" bIns="0">
            <a:spAutoFit/>
          </a:bodyPr>
          <a:lstStyle/>
          <a:p>
            <a:pPr marL="182879" indent="-182879">
              <a:lnSpc>
                <a:spcPct val="102000"/>
              </a:lnSpc>
              <a:spcAft>
                <a:spcPts val="900"/>
              </a:spcAft>
            </a:pPr>
            <a:r>
              <a:rPr sz="1600" b="1">
                <a:solidFill>
                  <a:srgbClr val="1F618D"/>
                </a:solidFill>
                <a:latin typeface="Segoe UI"/>
              </a:rPr>
              <a:t>•  </a:t>
            </a:r>
            <a:r>
              <a:rPr sz="1600" b="0" i="0">
                <a:solidFill>
                  <a:srgbClr val="1C252B"/>
                </a:solidFill>
                <a:latin typeface="Segoe UI"/>
              </a:rPr>
              <a:t>MAC-based authorisation or filtering — the device is unknown.</a:t>
            </a:r>
          </a:p>
          <a:p>
            <a:pPr marL="182879" indent="-182879">
              <a:lnSpc>
                <a:spcPct val="102000"/>
              </a:lnSpc>
              <a:spcAft>
                <a:spcPts val="900"/>
              </a:spcAft>
            </a:pPr>
            <a:r>
              <a:rPr sz="1600" b="1">
                <a:solidFill>
                  <a:srgbClr val="1F618D"/>
                </a:solidFill>
                <a:latin typeface="Segoe UI"/>
              </a:rPr>
              <a:t>•  </a:t>
            </a:r>
            <a:r>
              <a:rPr sz="1600" b="0" i="0">
                <a:solidFill>
                  <a:srgbClr val="1C252B"/>
                </a:solidFill>
                <a:latin typeface="Segoe UI"/>
              </a:rPr>
              <a:t>DHCP reservations — the printer that always had </a:t>
            </a:r>
            <a:r>
              <a:rPr sz="1500" b="0" i="0">
                <a:solidFill>
                  <a:srgbClr val="1A5276"/>
                </a:solidFill>
                <a:latin typeface="Consolas"/>
              </a:rPr>
              <a:t>.50</a:t>
            </a:r>
            <a:r>
              <a:rPr sz="1600" b="0" i="0">
                <a:solidFill>
                  <a:srgbClr val="1C252B"/>
                </a:solidFill>
                <a:latin typeface="Segoe UI"/>
              </a:rPr>
              <a:t> now does not.</a:t>
            </a:r>
          </a:p>
          <a:p>
            <a:pPr marL="182879" indent="-182879">
              <a:lnSpc>
                <a:spcPct val="102000"/>
              </a:lnSpc>
              <a:spcAft>
                <a:spcPts val="900"/>
              </a:spcAft>
            </a:pPr>
            <a:r>
              <a:rPr sz="1600" b="1">
                <a:solidFill>
                  <a:srgbClr val="1F618D"/>
                </a:solidFill>
                <a:latin typeface="Segoe UI"/>
              </a:rPr>
              <a:t>•  </a:t>
            </a:r>
            <a:r>
              <a:rPr sz="1600" b="0" i="0">
                <a:solidFill>
                  <a:srgbClr val="1C252B"/>
                </a:solidFill>
                <a:latin typeface="Segoe UI"/>
              </a:rPr>
              <a:t>Per-device VLAN assignment.</a:t>
            </a:r>
          </a:p>
          <a:p>
            <a:pPr marL="182879" indent="-182879">
              <a:lnSpc>
                <a:spcPct val="102000"/>
              </a:lnSpc>
              <a:spcAft>
                <a:spcPts val="900"/>
              </a:spcAft>
            </a:pPr>
            <a:r>
              <a:rPr sz="1600" b="1">
                <a:solidFill>
                  <a:srgbClr val="1F618D"/>
                </a:solidFill>
                <a:latin typeface="Segoe UI"/>
              </a:rPr>
              <a:t>•  </a:t>
            </a:r>
            <a:r>
              <a:rPr sz="1600" b="0" i="0">
                <a:solidFill>
                  <a:srgbClr val="1C252B"/>
                </a:solidFill>
                <a:latin typeface="Segoe UI"/>
              </a:rPr>
              <a:t>Any audit trail that assumed a MAC identified a machine.</a:t>
            </a:r>
          </a:p>
          <a:p>
            <a:pPr marL="182879" indent="-182879">
              <a:lnSpc>
                <a:spcPct val="102000"/>
              </a:lnSpc>
              <a:spcAft>
                <a:spcPts val="900"/>
              </a:spcAft>
            </a:pPr>
            <a:r>
              <a:rPr sz="1600" b="1">
                <a:solidFill>
                  <a:srgbClr val="1F618D"/>
                </a:solidFill>
                <a:latin typeface="Segoe UI"/>
              </a:rPr>
              <a:t>•  </a:t>
            </a:r>
            <a:r>
              <a:rPr sz="1600" b="1" i="0">
                <a:solidFill>
                  <a:srgbClr val="1C252B"/>
                </a:solidFill>
                <a:latin typeface="Segoe UI"/>
              </a:rPr>
              <a:t>Windows</a:t>
            </a:r>
            <a:r>
              <a:rPr sz="1600" b="0" i="0">
                <a:solidFill>
                  <a:srgbClr val="1C252B"/>
                </a:solidFill>
                <a:latin typeface="Segoe UI"/>
              </a:rPr>
              <a:t> — Settings, Network, Wi-Fi, the network’s properties: “Random hardware addresses”.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300" b="1" i="0">
                <a:solidFill>
                  <a:srgbClr val="1A5276"/>
                </a:solidFill>
                <a:latin typeface="Segoe UI"/>
              </a:rPr>
              <a:t>MAC randomisation, and why it breaks things that used to work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2836164"/>
            <a:ext cx="10820095" cy="35463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macOS and iOS</a:t>
            </a:r>
            <a:r>
              <a:rPr sz="2000" b="0" i="0">
                <a:solidFill>
                  <a:srgbClr val="1C252B"/>
                </a:solidFill>
                <a:latin typeface="Segoe UI"/>
              </a:rPr>
              <a:t> — the network’s info panel: “Private Wi-Fi Address”.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Linux (NetworkManager)</a:t>
            </a:r>
            <a:r>
              <a:rPr sz="2000" b="0" i="0">
                <a:solidFill>
                  <a:srgbClr val="1C252B"/>
                </a:solidFill>
                <a:latin typeface="Segoe UI"/>
              </a:rPr>
              <a:t> — </a:t>
            </a:r>
            <a:r>
              <a:rPr sz="1900" b="0" i="0">
                <a:solidFill>
                  <a:srgbClr val="1A5276"/>
                </a:solidFill>
                <a:latin typeface="Consolas"/>
              </a:rPr>
              <a:t>wifi.cloned-mac-address</a:t>
            </a:r>
            <a:r>
              <a:rPr sz="2000" b="0" i="0">
                <a:solidFill>
                  <a:srgbClr val="1C252B"/>
                </a:solidFill>
                <a:latin typeface="Segoe UI"/>
              </a:rPr>
              <a:t> set to </a:t>
            </a:r>
            <a:r>
              <a:rPr sz="1900" b="0" i="0">
                <a:solidFill>
                  <a:srgbClr val="1A5276"/>
                </a:solidFill>
                <a:latin typeface="Consolas"/>
              </a:rPr>
              <a:t>permanent</a:t>
            </a:r>
            <a:r>
              <a:rPr sz="2000" b="0" i="0">
                <a:solidFill>
                  <a:srgbClr val="1C252B"/>
                </a:solidFill>
                <a:latin typeface="Segoe UI"/>
              </a:rPr>
              <a:t> on the connection profile.</a:t>
            </a:r>
          </a:p>
        </p:txBody>
      </p:sp>
      <p:sp>
        <p:nvSpPr>
          <p:cNvPr id="8" name="tailbody"/>
          <p:cNvSpPr txBox="1"/>
          <p:nvPr/>
        </p:nvSpPr>
        <p:spPr>
          <a:xfrm>
            <a:off x="685800" y="4338827"/>
            <a:ext cx="10820095" cy="1988820"/>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The better long-term answer is to stop authenticating by MAC address at all and use 802.1X, which identifies the </a:t>
            </a:r>
            <a:r>
              <a:rPr sz="2000" b="0" i="1">
                <a:solidFill>
                  <a:srgbClr val="1C252B"/>
                </a:solidFill>
                <a:latin typeface="Segoe UI"/>
              </a:rPr>
              <a:t>user</a:t>
            </a:r>
            <a:r>
              <a:rPr sz="2000" b="0" i="0">
                <a:solidFill>
                  <a:srgbClr val="1C252B"/>
                </a:solidFill>
                <a:latin typeface="Segoe UI"/>
              </a:rPr>
              <a:t>. But the exam and the helpdesk both need the short answer.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What actually goes wrong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Starting at DNS.</a:t>
            </a:r>
            <a:r>
              <a:rPr sz="2000" b="0" i="0">
                <a:solidFill>
                  <a:srgbClr val="1C252B"/>
                </a:solidFill>
                <a:latin typeface="Segoe UI"/>
              </a:rPr>
              <a:t> Run the ladder in order.</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Concluding “down” from a failed ping.</a:t>
            </a:r>
            <a:r>
              <a:rPr sz="2000" b="0" i="0">
                <a:solidFill>
                  <a:srgbClr val="1C252B"/>
                </a:solidFill>
                <a:latin typeface="Segoe UI"/>
              </a:rPr>
              <a:t> Test the actual port.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Trusting a signal percentage.</a:t>
            </a:r>
            <a:r>
              <a:rPr sz="2000" b="0" i="0">
                <a:solidFill>
                  <a:srgbClr val="1C252B"/>
                </a:solidFill>
                <a:latin typeface="Segoe UI"/>
              </a:rPr>
              <a:t> Get dBm, and get the noise floor.</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Ignoring the subnet mask</a:t>
            </a:r>
            <a:r>
              <a:rPr sz="2000" b="0" i="0">
                <a:solidFill>
                  <a:srgbClr val="1C252B"/>
                </a:solidFill>
                <a:latin typeface="Segoe UI"/>
              </a:rPr>
              <a:t> when connectivity is selectively broken toward internal hosts.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Forgetting that </a:t>
            </a:r>
            <a:r>
              <a:rPr sz="1900" b="1" i="0">
                <a:solidFill>
                  <a:srgbClr val="1A5276"/>
                </a:solidFill>
                <a:latin typeface="Consolas"/>
              </a:rPr>
              <a:t>ifconfig</a:t>
            </a:r>
            <a:r>
              <a:rPr sz="2000" b="1" i="0">
                <a:solidFill>
                  <a:srgbClr val="1C252B"/>
                </a:solidFill>
                <a:latin typeface="Segoe UI"/>
              </a:rPr>
              <a:t> is deprecated on Linux</a:t>
            </a:r>
            <a:r>
              <a:rPr sz="2000" b="0" i="0">
                <a:solidFill>
                  <a:srgbClr val="1C252B"/>
                </a:solidFill>
                <a:latin typeface="Segoe UI"/>
              </a:rPr>
              <a:t> and normal on macOS.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Assuming a MAC address identifies a device.</a:t>
            </a:r>
            <a:r>
              <a:rPr sz="2000" b="0" i="0">
                <a:solidFill>
                  <a:srgbClr val="1C252B"/>
                </a:solidFill>
                <a:latin typeface="Segoe UI"/>
              </a:rPr>
              <a:t> It has not been safe to assume that since roughly 2020.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What actually goes wrong</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2718235"/>
            <a:ext cx="10820095" cy="36642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Not checking whether it is one host or many.</a:t>
            </a:r>
            <a:r>
              <a:rPr sz="2000" b="0" i="0">
                <a:solidFill>
                  <a:srgbClr val="1C252B"/>
                </a:solidFill>
                <a:latin typeface="Segoe UI"/>
              </a:rPr>
              <a:t> One host is the host; a whole VLAN is the network. Ask before you start.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Fixing it without recording what it was.</a:t>
            </a:r>
            <a:r>
              <a:rPr sz="2000" b="0" i="0">
                <a:solidFill>
                  <a:srgbClr val="1C252B"/>
                </a:solidFill>
                <a:latin typeface="Segoe UI"/>
              </a:rPr>
              <a:t> A configuration you overwrote is evidence you destroyed.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One laptop associates to the staff wireless, authenticates, and gets no address. Everyone else is fine.</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user’s laptop connects to </a:t>
            </a:r>
            <a:r>
              <a:rPr sz="1800" b="0" i="0">
                <a:solidFill>
                  <a:srgbClr val="1A5276"/>
                </a:solidFill>
                <a:latin typeface="Consolas"/>
              </a:rPr>
              <a:t>CAMPUS-STAFF</a:t>
            </a:r>
            <a:r>
              <a:rPr sz="1900" b="0" i="0">
                <a:solidFill>
                  <a:srgbClr val="1C252B"/>
                </a:solidFill>
                <a:latin typeface="Segoe UI"/>
              </a:rPr>
              <a:t>, shows as connected, and has </a:t>
            </a:r>
            <a:r>
              <a:rPr sz="1800" b="0" i="0">
                <a:solidFill>
                  <a:srgbClr val="1A5276"/>
                </a:solidFill>
                <a:latin typeface="Consolas"/>
              </a:rPr>
              <a:t>169.254.x.x</a:t>
            </a:r>
            <a:r>
              <a:rPr sz="1900" b="0" i="0">
                <a:solidFill>
                  <a:srgbClr val="1C252B"/>
                </a:solidFill>
                <a:latin typeface="Segoe UI"/>
              </a:rPr>
              <a:t>. The same laptop works on the wired dock. Other laptops in the same room work on the same SSID. The wireless team confirms the client is associated and that 802.1X authentication succeeded.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One laptop associates to the staff wireless, authenticates, and gets no address. Everyone else is fine.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ipconfig /all</a:t>
            </a:r>
          </a:p>
        </p:txBody>
      </p:sp>
      <p:sp>
        <p:nvSpPr>
          <p:cNvPr id="6" name="bfcodebg"/>
          <p:cNvSpPr/>
          <p:nvPr/>
        </p:nvSpPr>
        <p:spPr>
          <a:xfrm>
            <a:off x="685800" y="2011680"/>
            <a:ext cx="10820095" cy="225704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Windows#</a:t>
            </a:r>
          </a:p>
        </p:txBody>
      </p:sp>
      <p:sp>
        <p:nvSpPr>
          <p:cNvPr id="9" name="bfcode"/>
          <p:cNvSpPr txBox="1"/>
          <p:nvPr/>
        </p:nvSpPr>
        <p:spPr>
          <a:xfrm>
            <a:off x="886968" y="2432304"/>
            <a:ext cx="10417759" cy="178155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Wireless LAN adapter Wi-Fi:</a:t>
            </a:r>
          </a:p>
          <a:p>
            <a:pPr>
              <a:lnSpc>
                <a:spcPct val="100000"/>
              </a:lnSpc>
              <a:spcAft>
                <a:spcPts val="0"/>
              </a:spcAft>
            </a:pPr>
            <a:r>
              <a:rPr sz="1500">
                <a:solidFill>
                  <a:srgbClr val="E8EEF2"/>
                </a:solidFill>
                <a:latin typeface="Consolas"/>
              </a:rPr>
              <a:t> </a:t>
            </a:r>
          </a:p>
          <a:p>
            <a:pPr>
              <a:lnSpc>
                <a:spcPct val="100000"/>
              </a:lnSpc>
              <a:spcAft>
                <a:spcPts val="0"/>
              </a:spcAft>
            </a:pPr>
            <a:r>
              <a:rPr sz="1500">
                <a:solidFill>
                  <a:srgbClr val="E8EEF2"/>
                </a:solidFill>
                <a:latin typeface="Consolas"/>
              </a:rPr>
              <a:t>   Physical Address. . . . . . . . . : 8A-3C-D1-77-04-B2</a:t>
            </a:r>
          </a:p>
          <a:p>
            <a:pPr>
              <a:lnSpc>
                <a:spcPct val="100000"/>
              </a:lnSpc>
              <a:spcAft>
                <a:spcPts val="0"/>
              </a:spcAft>
            </a:pPr>
            <a:r>
              <a:rPr sz="1500">
                <a:solidFill>
                  <a:srgbClr val="E8EEF2"/>
                </a:solidFill>
                <a:latin typeface="Consolas"/>
              </a:rPr>
              <a:t>   DHCP Enabled. . . . . . . . . . . : Yes</a:t>
            </a:r>
          </a:p>
          <a:p>
            <a:pPr>
              <a:lnSpc>
                <a:spcPct val="100000"/>
              </a:lnSpc>
              <a:spcAft>
                <a:spcPts val="0"/>
              </a:spcAft>
            </a:pPr>
            <a:r>
              <a:rPr sz="1500">
                <a:solidFill>
                  <a:srgbClr val="E8EEF2"/>
                </a:solidFill>
                <a:latin typeface="Consolas"/>
              </a:rPr>
              <a:t>   Autoconfiguration IPv4 Address. . : 169.254.88.14(Preferred)</a:t>
            </a:r>
          </a:p>
          <a:p>
            <a:pPr>
              <a:lnSpc>
                <a:spcPct val="100000"/>
              </a:lnSpc>
              <a:spcAft>
                <a:spcPts val="0"/>
              </a:spcAft>
            </a:pPr>
            <a:r>
              <a:rPr sz="1500">
                <a:solidFill>
                  <a:srgbClr val="E8EEF2"/>
                </a:solidFill>
                <a:latin typeface="Consolas"/>
              </a:rPr>
              <a:t>   Subnet Mask . . . . . . . . . . . : 255.255.0.0</a:t>
            </a:r>
          </a:p>
          <a:p>
            <a:pPr>
              <a:lnSpc>
                <a:spcPct val="100000"/>
              </a:lnSpc>
              <a:spcAft>
                <a:spcPts val="0"/>
              </a:spcAft>
            </a:pPr>
            <a:r>
              <a:rPr sz="1500">
                <a:solidFill>
                  <a:srgbClr val="E8EEF2"/>
                </a:solidFill>
                <a:latin typeface="Consolas"/>
              </a:rPr>
              <a:t>   Default Gateway . . . . . . . . . :</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ip dhcp snooping binding | include 8a3c</a:t>
            </a:r>
          </a:p>
        </p:txBody>
      </p:sp>
      <p:sp>
        <p:nvSpPr>
          <p:cNvPr id="6"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7"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1627632"/>
            <a:ext cx="10820095" cy="472744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Work through what has already been ruled out, because it is most of the problem.</a:t>
            </a:r>
          </a:p>
          <a:p>
            <a:pPr algn="l">
              <a:lnSpc>
                <a:spcPct val="100000"/>
              </a:lnSpc>
              <a:spcAft>
                <a:spcPts val="1000"/>
              </a:spcAft>
            </a:pPr>
            <a:r>
              <a:rPr sz="1900" b="0" i="0">
                <a:solidFill>
                  <a:srgbClr val="1C252B"/>
                </a:solidFill>
                <a:latin typeface="Segoe UI"/>
              </a:rPr>
              <a:t>Association and 802.1X both succeeded, so the passphrase, the EAP method, the certificate and the RSSI are all fine — the radio link is working and the user is authorised. The wired dock working proves the laptop’s TCP/IP stack and the user’s credentials are fine. Other laptops working on the same SSID in the same room proves the AP, the WLAN and the DHCP scope are fine.</a:t>
            </a:r>
          </a:p>
          <a:p>
            <a:pPr algn="l">
              <a:lnSpc>
                <a:spcPct val="100000"/>
              </a:lnSpc>
              <a:spcAft>
                <a:spcPts val="1000"/>
              </a:spcAft>
            </a:pPr>
            <a:r>
              <a:rPr sz="1900" b="0" i="0">
                <a:solidFill>
                  <a:srgbClr val="1C252B"/>
                </a:solidFill>
                <a:latin typeface="Segoe UI"/>
              </a:rPr>
              <a:t>That leaves something specific to </a:t>
            </a:r>
            <a:r>
              <a:rPr sz="1900" b="0" i="1">
                <a:solidFill>
                  <a:srgbClr val="1C252B"/>
                </a:solidFill>
                <a:latin typeface="Segoe UI"/>
              </a:rPr>
              <a:t>this device on wireless</a:t>
            </a:r>
            <a:r>
              <a:rPr sz="1900" b="0" i="0">
                <a:solidFill>
                  <a:srgbClr val="1C252B"/>
                </a:solidFill>
                <a:latin typeface="Segoe UI"/>
              </a:rPr>
              <a:t>. The MAC address is the clue: </a:t>
            </a:r>
            <a:r>
              <a:rPr sz="1800" b="0" i="0">
                <a:solidFill>
                  <a:srgbClr val="1A5276"/>
                </a:solidFill>
                <a:latin typeface="Consolas"/>
              </a:rPr>
              <a:t>8A-3C-D1-77-04-B2</a:t>
            </a:r>
            <a:r>
              <a:rPr sz="1900" b="0" i="0">
                <a:solidFill>
                  <a:srgbClr val="1C252B"/>
                </a:solidFill>
                <a:latin typeface="Segoe UI"/>
              </a:rPr>
              <a:t>. The first octet, </a:t>
            </a:r>
            <a:r>
              <a:rPr sz="1800" b="0" i="0">
                <a:solidFill>
                  <a:srgbClr val="1A5276"/>
                </a:solidFill>
                <a:latin typeface="Consolas"/>
              </a:rPr>
              <a:t>8A</a:t>
            </a:r>
            <a:r>
              <a:rPr sz="1900" b="0" i="0">
                <a:solidFill>
                  <a:srgbClr val="1C252B"/>
                </a:solidFill>
                <a:latin typeface="Segoe UI"/>
              </a:rPr>
              <a:t>, is </a:t>
            </a:r>
            <a:r>
              <a:rPr sz="1800" b="0" i="0">
                <a:solidFill>
                  <a:srgbClr val="1A5276"/>
                </a:solidFill>
                <a:latin typeface="Consolas"/>
              </a:rPr>
              <a:t>10001010</a:t>
            </a:r>
            <a:r>
              <a:rPr sz="1900" b="0" i="0">
                <a:solidFill>
                  <a:srgbClr val="1C252B"/>
                </a:solidFill>
                <a:latin typeface="Segoe UI"/>
              </a:rPr>
              <a:t> in binary — and the second-lowest bit is set, which marks the address as </a:t>
            </a:r>
            <a:r>
              <a:rPr sz="1900" b="1" i="0">
                <a:solidFill>
                  <a:srgbClr val="1C252B"/>
                </a:solidFill>
                <a:latin typeface="Segoe UI"/>
              </a:rPr>
              <a:t>locally administered</a:t>
            </a:r>
            <a:r>
              <a:rPr sz="1900" b="0" i="0">
                <a:solidFill>
                  <a:srgbClr val="1C252B"/>
                </a:solidFill>
                <a:latin typeface="Segoe UI"/>
              </a:rPr>
              <a:t> rather than assigned by a manufacturer. This is a randomised MAC.</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530992"/>
            <a:ext cx="10820095" cy="3824087"/>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site assigns the staff VLAN by MAC address for devices in its asset register. The randomised address is not in the register, so the client is placed in a quarantine VLAN with no DHCP scope. Association succeeds, authentication succeeds, and no address is ever offered.</a:t>
            </a:r>
          </a:p>
          <a:p>
            <a:pPr algn="l">
              <a:lnSpc>
                <a:spcPct val="100000"/>
              </a:lnSpc>
              <a:spcAft>
                <a:spcPts val="1000"/>
              </a:spcAft>
            </a:pPr>
            <a:r>
              <a:rPr sz="1900" b="0" i="0">
                <a:solidFill>
                  <a:srgbClr val="1C252B"/>
                </a:solidFill>
                <a:latin typeface="Segoe UI"/>
              </a:rPr>
              <a:t>The confirming detail is the empty snooping binding query: the switch has no record of this MAC leasing anything, which is consistent with no offer having been made rather than with an offer being lost.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28</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410342"/>
            <a:ext cx="10820095" cy="394473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Immediate fix.</a:t>
            </a:r>
            <a:r>
              <a:rPr sz="1900" b="0" i="0">
                <a:solidFill>
                  <a:srgbClr val="1C252B"/>
                </a:solidFill>
                <a:latin typeface="Segoe UI"/>
              </a:rPr>
              <a:t> Turn off random hardware addresses for this network in Windows Settings, then disconnect and reconnect. The laptop presents its burned-in address, matches the register, lands in the staff VLAN and leases normally.</a:t>
            </a:r>
          </a:p>
          <a:p>
            <a:pPr algn="l">
              <a:lnSpc>
                <a:spcPct val="100000"/>
              </a:lnSpc>
              <a:spcAft>
                <a:spcPts val="1000"/>
              </a:spcAft>
            </a:pPr>
            <a:r>
              <a:rPr sz="1900" b="1" i="0">
                <a:solidFill>
                  <a:srgbClr val="1C252B"/>
                </a:solidFill>
                <a:latin typeface="Segoe UI"/>
              </a:rPr>
              <a:t>The real fix</a:t>
            </a:r>
            <a:r>
              <a:rPr sz="1900" b="0" i="0">
                <a:solidFill>
                  <a:srgbClr val="1C252B"/>
                </a:solidFill>
                <a:latin typeface="Segoe UI"/>
              </a:rPr>
              <a:t> is at the other end. MAC-based VLAN assignment stopped being viable when every major operating system began randomising by default. The site already runs 802.1X — authentication succeeded — so it should assign the VLAN from the RADIUS response based on the authenticated </a:t>
            </a:r>
            <a:r>
              <a:rPr sz="1900" b="0" i="1">
                <a:solidFill>
                  <a:srgbClr val="1C252B"/>
                </a:solidFill>
                <a:latin typeface="Segoe UI"/>
              </a:rPr>
              <a:t>user</a:t>
            </a:r>
            <a:r>
              <a:rPr sz="1900" b="0" i="0">
                <a:solidFill>
                  <a:srgbClr val="1C252B"/>
                </a:solidFill>
                <a:latin typeface="Segoe UI"/>
              </a:rPr>
              <a:t>, not from a MAC table. That works regardless of what address the client presents, and it is the answer to give when this is reported for the fifth time.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THREE MACHINES, OR VIRTUAL MACHINES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fault on three operating systems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Platform note.</a:t>
            </a:r>
            <a:r>
              <a:rPr sz="1800" b="0" i="0">
                <a:solidFill>
                  <a:srgbClr val="1C252B"/>
                </a:solidFill>
                <a:latin typeface="Segoe UI"/>
              </a:rPr>
              <a:t> This lab needs real operating systems rather than a network simulator, because the whole topic is about host-side tools. Virtual machines are fine. If you have only one machine, run Linux and Windows as VMs and use the host as the third.</a:t>
            </a:r>
          </a:p>
        </p:txBody>
      </p:sp>
      <p:sp>
        <p:nvSpPr>
          <p:cNvPr id="8" name="bullets"/>
          <p:cNvSpPr txBox="1"/>
          <p:nvPr/>
        </p:nvSpPr>
        <p:spPr>
          <a:xfrm>
            <a:off x="685800" y="2592324"/>
            <a:ext cx="10820095" cy="3790188"/>
          </a:xfrm>
          <a:prstGeom prst="rect">
            <a:avLst/>
          </a:prstGeom>
          <a:noFill/>
        </p:spPr>
        <p:txBody>
          <a:bodyPr wrap="square" lIns="0" rIns="0" tIns="0" bIns="0">
            <a:spAutoFit/>
          </a:bodyPr>
          <a:lstStyle/>
          <a:p>
            <a:pPr marL="347472" indent="-347472">
              <a:lnSpc>
                <a:spcPct val="102000"/>
              </a:lnSpc>
              <a:spcAft>
                <a:spcPts val="900"/>
              </a:spcAft>
            </a:pPr>
            <a:r>
              <a:rPr sz="1800" b="1">
                <a:solidFill>
                  <a:srgbClr val="1F618D"/>
                </a:solidFill>
                <a:latin typeface="Segoe UI"/>
              </a:rPr>
              <a:t>1.  </a:t>
            </a:r>
            <a:r>
              <a:rPr sz="1800" b="0" i="0">
                <a:solidFill>
                  <a:srgbClr val="1C252B"/>
                </a:solidFill>
                <a:latin typeface="Segoe UI"/>
              </a:rPr>
              <a:t>On each of Windows, macOS and Linux, produce the full IP configuration, the routing table and the ARP cache. Build your own version of the command table in Section sec:oscmds from what actually worked — including any command that was missing on your distribution.</a:t>
            </a:r>
          </a:p>
          <a:p>
            <a:pPr marL="347472" indent="-347472">
              <a:lnSpc>
                <a:spcPct val="102000"/>
              </a:lnSpc>
              <a:spcAft>
                <a:spcPts val="900"/>
              </a:spcAft>
            </a:pPr>
            <a:r>
              <a:rPr sz="1800" b="1">
                <a:solidFill>
                  <a:srgbClr val="1F618D"/>
                </a:solidFill>
                <a:latin typeface="Segoe UI"/>
              </a:rPr>
              <a:t>2.  </a:t>
            </a:r>
            <a:r>
              <a:rPr sz="1800" b="0" i="0">
                <a:solidFill>
                  <a:srgbClr val="1C252B"/>
                </a:solidFill>
                <a:latin typeface="Segoe UI"/>
              </a:rPr>
              <a:t>Run the reachability ladder on each machine while everything works, and record the normal output of each step. You cannot recognise abnormal output without this.</a:t>
            </a:r>
          </a:p>
          <a:p>
            <a:pPr marL="347472" indent="-347472">
              <a:lnSpc>
                <a:spcPct val="102000"/>
              </a:lnSpc>
              <a:spcAft>
                <a:spcPts val="900"/>
              </a:spcAft>
            </a:pPr>
            <a:r>
              <a:rPr sz="1800" b="1">
                <a:solidFill>
                  <a:srgbClr val="1F618D"/>
                </a:solidFill>
                <a:latin typeface="Segoe UI"/>
              </a:rPr>
              <a:t>3.  </a:t>
            </a:r>
            <a:r>
              <a:rPr sz="1800" b="1" i="0">
                <a:solidFill>
                  <a:srgbClr val="1C252B"/>
                </a:solidFill>
                <a:latin typeface="Segoe UI"/>
              </a:rPr>
              <a:t>Break 1.</a:t>
            </a:r>
            <a:r>
              <a:rPr sz="1800" b="0" i="0">
                <a:solidFill>
                  <a:srgbClr val="1C252B"/>
                </a:solidFill>
                <a:latin typeface="Segoe UI"/>
              </a:rPr>
              <a:t> Set a static address with the correct address and a </a:t>
            </a:r>
            <a:r>
              <a:rPr sz="1800" b="0" i="1">
                <a:solidFill>
                  <a:srgbClr val="1C252B"/>
                </a:solidFill>
                <a:latin typeface="Segoe UI"/>
              </a:rPr>
              <a:t>wrong gateway</a:t>
            </a:r>
            <a:r>
              <a:rPr sz="1800" b="0" i="0">
                <a:solidFill>
                  <a:srgbClr val="1C252B"/>
                </a:solidFill>
                <a:latin typeface="Segoe UI"/>
              </a:rPr>
              <a:t>. Predict which ladder step fails, then test.</a:t>
            </a:r>
          </a:p>
          <a:p>
            <a:pPr marL="347472" indent="-347472">
              <a:lnSpc>
                <a:spcPct val="102000"/>
              </a:lnSpc>
              <a:spcAft>
                <a:spcPts val="900"/>
              </a:spcAft>
            </a:pPr>
            <a:r>
              <a:rPr sz="1800" b="1">
                <a:solidFill>
                  <a:srgbClr val="1F618D"/>
                </a:solidFill>
                <a:latin typeface="Segoe UI"/>
              </a:rPr>
              <a:t>4.  </a:t>
            </a:r>
            <a:r>
              <a:rPr sz="1800" b="1" i="0">
                <a:solidFill>
                  <a:srgbClr val="1C252B"/>
                </a:solidFill>
                <a:latin typeface="Segoe UI"/>
              </a:rPr>
              <a:t>Break 2.</a:t>
            </a:r>
            <a:r>
              <a:rPr sz="1800" b="0" i="0">
                <a:solidFill>
                  <a:srgbClr val="1C252B"/>
                </a:solidFill>
                <a:latin typeface="Segoe UI"/>
              </a:rPr>
              <a:t> Set the mask to </a:t>
            </a:r>
            <a:r>
              <a:rPr sz="1700" b="0" i="0">
                <a:solidFill>
                  <a:srgbClr val="1A5276"/>
                </a:solidFill>
                <a:latin typeface="Consolas"/>
              </a:rPr>
              <a:t>/16</a:t>
            </a:r>
            <a:r>
              <a:rPr sz="1800" b="0" i="0">
                <a:solidFill>
                  <a:srgbClr val="1C252B"/>
                </a:solidFill>
                <a:latin typeface="Segoe UI"/>
              </a:rPr>
              <a:t> on a </a:t>
            </a:r>
            <a:r>
              <a:rPr sz="1700" b="0" i="0">
                <a:solidFill>
                  <a:srgbClr val="1A5276"/>
                </a:solidFill>
                <a:latin typeface="Consolas"/>
              </a:rPr>
              <a:t>/24</a:t>
            </a:r>
            <a:r>
              <a:rPr sz="1800" b="0" i="0">
                <a:solidFill>
                  <a:srgbClr val="1C252B"/>
                </a:solidFill>
                <a:latin typeface="Segoe UI"/>
              </a:rPr>
              <a:t> network. Find two destinations that behave differently and explain the difference using the ARP cache.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THREE MACHINES, OR VIRTUAL MACHINES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fault on three operating systems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1" i="0">
                <a:solidFill>
                  <a:srgbClr val="1C252B"/>
                </a:solidFill>
                <a:latin typeface="Segoe UI"/>
              </a:rPr>
              <a:t>Break 3.</a:t>
            </a:r>
            <a:r>
              <a:rPr sz="2000" b="0" i="0">
                <a:solidFill>
                  <a:srgbClr val="1C252B"/>
                </a:solidFill>
                <a:latin typeface="Segoe UI"/>
              </a:rPr>
              <a:t> Remove the DNS servers. Confirm that steps 1 to 3 pass and step 4 fails, and that this is the </a:t>
            </a:r>
            <a:r>
              <a:rPr sz="2000" b="0" i="1">
                <a:solidFill>
                  <a:srgbClr val="1C252B"/>
                </a:solidFill>
                <a:latin typeface="Segoe UI"/>
              </a:rPr>
              <a:t>only</a:t>
            </a:r>
            <a:r>
              <a:rPr sz="2000" b="0" i="0">
                <a:solidFill>
                  <a:srgbClr val="1C252B"/>
                </a:solidFill>
                <a:latin typeface="Segoe UI"/>
              </a:rPr>
              <a:t> configuration that produces that pattern.</a:t>
            </a:r>
          </a:p>
          <a:p>
            <a:pPr marL="386080" indent="-386080">
              <a:lnSpc>
                <a:spcPct val="102000"/>
              </a:lnSpc>
              <a:spcAft>
                <a:spcPts val="900"/>
              </a:spcAft>
            </a:pPr>
            <a:r>
              <a:rPr sz="2000" b="1">
                <a:solidFill>
                  <a:srgbClr val="1F618D"/>
                </a:solidFill>
                <a:latin typeface="Segoe UI"/>
              </a:rPr>
              <a:t>2.  </a:t>
            </a:r>
            <a:r>
              <a:rPr sz="2000" b="1" i="0">
                <a:solidFill>
                  <a:srgbClr val="1C252B"/>
                </a:solidFill>
                <a:latin typeface="Segoe UI"/>
              </a:rPr>
              <a:t>Break 4.</a:t>
            </a:r>
            <a:r>
              <a:rPr sz="2000" b="0" i="0">
                <a:solidFill>
                  <a:srgbClr val="1C252B"/>
                </a:solidFill>
                <a:latin typeface="Segoe UI"/>
              </a:rPr>
              <a:t> Disconnect the network and observe APIPA. Note the address and mask each operating system chooses.</a:t>
            </a:r>
          </a:p>
          <a:p>
            <a:pPr marL="386080" indent="-386080">
              <a:lnSpc>
                <a:spcPct val="102000"/>
              </a:lnSpc>
              <a:spcAft>
                <a:spcPts val="900"/>
              </a:spcAft>
            </a:pPr>
            <a:r>
              <a:rPr sz="2000" b="1">
                <a:solidFill>
                  <a:srgbClr val="1F618D"/>
                </a:solidFill>
                <a:latin typeface="Segoe UI"/>
              </a:rPr>
              <a:t>3.  </a:t>
            </a:r>
            <a:r>
              <a:rPr sz="2000" b="0" i="0">
                <a:solidFill>
                  <a:srgbClr val="1C252B"/>
                </a:solidFill>
                <a:latin typeface="Segoe UI"/>
              </a:rPr>
              <a:t>Release and renew the lease on all three, using the correct command for each. Note that macOS has no direct equivalent.</a:t>
            </a:r>
          </a:p>
          <a:p>
            <a:pPr marL="386080" indent="-386080">
              <a:lnSpc>
                <a:spcPct val="102000"/>
              </a:lnSpc>
              <a:spcAft>
                <a:spcPts val="900"/>
              </a:spcAft>
            </a:pPr>
            <a:r>
              <a:rPr sz="2000" b="1">
                <a:solidFill>
                  <a:srgbClr val="1F618D"/>
                </a:solidFill>
                <a:latin typeface="Segoe UI"/>
              </a:rPr>
              <a:t>4.  </a:t>
            </a:r>
            <a:r>
              <a:rPr sz="2000" b="1" i="0">
                <a:solidFill>
                  <a:srgbClr val="1C252B"/>
                </a:solidFill>
                <a:latin typeface="Segoe UI"/>
              </a:rPr>
              <a:t>Wireless.</a:t>
            </a:r>
            <a:r>
              <a:rPr sz="2000" b="0" i="0">
                <a:solidFill>
                  <a:srgbClr val="1C252B"/>
                </a:solidFill>
                <a:latin typeface="Segoe UI"/>
              </a:rPr>
              <a:t> Report SSID, BSSID, channel, authentication method and signal on each operating system. Compare what each tool tells you and what it omits.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ANY THREE MACHINES, OR VIRTUAL MACHINES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same fault on three operating systems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2718235"/>
            <a:ext cx="10820095" cy="3664276"/>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1" i="0">
                <a:solidFill>
                  <a:srgbClr val="1C252B"/>
                </a:solidFill>
                <a:latin typeface="Segoe UI"/>
              </a:rPr>
              <a:t>MAC randomisation.</a:t>
            </a:r>
            <a:r>
              <a:rPr sz="2000" b="0" i="0">
                <a:solidFill>
                  <a:srgbClr val="1C252B"/>
                </a:solidFill>
                <a:latin typeface="Segoe UI"/>
              </a:rPr>
              <a:t> Find the setting on each operating system. Record the MAC with it on and off, and confirm the locally-administered bit in the randomised one.</a:t>
            </a:r>
          </a:p>
          <a:p>
            <a:pPr marL="386080" indent="-386080">
              <a:lnSpc>
                <a:spcPct val="102000"/>
              </a:lnSpc>
              <a:spcAft>
                <a:spcPts val="900"/>
              </a:spcAft>
            </a:pPr>
            <a:r>
              <a:rPr sz="2000" b="1">
                <a:solidFill>
                  <a:srgbClr val="1F618D"/>
                </a:solidFill>
                <a:latin typeface="Segoe UI"/>
              </a:rPr>
              <a:t>2.  </a:t>
            </a:r>
            <a:r>
              <a:rPr sz="2000" b="1" i="0">
                <a:solidFill>
                  <a:srgbClr val="1C252B"/>
                </a:solidFill>
                <a:latin typeface="Segoe UI"/>
              </a:rPr>
              <a:t>Extension.</a:t>
            </a:r>
            <a:r>
              <a:rPr sz="2000" b="0" i="0">
                <a:solidFill>
                  <a:srgbClr val="1C252B"/>
                </a:solidFill>
                <a:latin typeface="Segoe UI"/>
              </a:rPr>
              <a:t> Write the four-step diagnostic script you would give a first-line helpdesk, in the form of exact commands and what each result means. Keep it to one page.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Give the four rungs of the reachability ladder and the area each failure points to.</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Give the four rungs of the reachability ladder and the area each failure points to.</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(1) Do I have an address? Failure points to DHCP or layer 2. (2) Ping my gateway — failure points to the local segment. (3) Ping something remote by IP — failure points to routing, NAT or an ACL. (4) Ping the same thing by name — failure points to DNS and nothing else.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Name the command to show the full IP configuration on each of the three operating systems.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Name the command to show the full IP configuration on each of the three operating systems.</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ipconfig /all</a:t>
            </a:r>
            <a:r>
              <a:rPr sz="1900" b="0" i="0">
                <a:solidFill>
                  <a:srgbClr val="1C252B"/>
                </a:solidFill>
                <a:latin typeface="Segoe UI"/>
              </a:rPr>
              <a:t> on Windows, </a:t>
            </a:r>
            <a:r>
              <a:rPr sz="1800" b="0" i="0">
                <a:solidFill>
                  <a:srgbClr val="1A5276"/>
                </a:solidFill>
                <a:latin typeface="Consolas"/>
              </a:rPr>
              <a:t>ifconfig</a:t>
            </a:r>
            <a:r>
              <a:rPr sz="1900" b="0" i="0">
                <a:solidFill>
                  <a:srgbClr val="1C252B"/>
                </a:solidFill>
                <a:latin typeface="Segoe UI"/>
              </a:rPr>
              <a:t> on macOS, </a:t>
            </a:r>
            <a:r>
              <a:rPr sz="1800" b="0" i="0">
                <a:solidFill>
                  <a:srgbClr val="1A5276"/>
                </a:solidFill>
                <a:latin typeface="Consolas"/>
              </a:rPr>
              <a:t>ip addr</a:t>
            </a:r>
            <a:r>
              <a:rPr sz="1900" b="0" i="0">
                <a:solidFill>
                  <a:srgbClr val="1C252B"/>
                </a:solidFill>
                <a:latin typeface="Segoe UI"/>
              </a:rPr>
              <a:t> on Linux. Note that </a:t>
            </a:r>
            <a:r>
              <a:rPr sz="1800" b="0" i="0">
                <a:solidFill>
                  <a:srgbClr val="1A5276"/>
                </a:solidFill>
                <a:latin typeface="Consolas"/>
              </a:rPr>
              <a:t>ifconfig</a:t>
            </a:r>
            <a:r>
              <a:rPr sz="1900" b="0" i="0">
                <a:solidFill>
                  <a:srgbClr val="1C252B"/>
                </a:solidFill>
                <a:latin typeface="Segoe UI"/>
              </a:rPr>
              <a:t> is deprecated on Linux and normal on macOS.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host has a correct address and a blank default gateway. What works and what does not?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host has a correct address and a blank default gateway. What works and what does not?</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can reach hosts on its own subnet and nothing else. Everything local works, so the user may report it as “the internet is down” rather than as a network fault.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does a wrong subnet mask break some internal destinations and not others?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does a wrong subnet mask break some internal destinations and not others?</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mask decides which destinations the host believes are local. With a mask that is too short, the host ARPs directly for addresses that are actually on other subnets, gets no answer, and fails — while destinations genuinely outside the over-wide range still use the gateway correctly and work.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device authenticates to wireless successfully and receives no address. Give two possible causes and how you would tell them apart.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device authenticates to wireless successfully and receives no address. Give two possible causes and how you would tell them apart.</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Either it is being placed in a VLAN with no DHCP scope — often because MAC randomisation means it is not recognised by a MAC-based authorisation list — or the relay or scope for its VLAN is broken. Tell them apart by checking whether </a:t>
            </a:r>
            <a:r>
              <a:rPr sz="1900" b="0" i="1">
                <a:solidFill>
                  <a:srgbClr val="1C252B"/>
                </a:solidFill>
                <a:latin typeface="Segoe UI"/>
              </a:rPr>
              <a:t>other</a:t>
            </a:r>
            <a:r>
              <a:rPr sz="1900" b="0" i="0">
                <a:solidFill>
                  <a:srgbClr val="1C252B"/>
                </a:solidFill>
                <a:latin typeface="Segoe UI"/>
              </a:rPr>
              <a:t> clients on the same SSID and VLAN are leasing normally; if they are, it is specific to this device.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How can you tell a randomised MAC address from a real one by inspection?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How can you tell a randomised MAC address from a real one by inspection?</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locally-administered bit is set — the second-lowest bit of the first octet. In practice the first octet’s second hex digit will be 2, 6, a or e (as in </a:t>
            </a:r>
            <a:r>
              <a:rPr sz="1800" b="0" i="0">
                <a:solidFill>
                  <a:srgbClr val="1A5276"/>
                </a:solidFill>
                <a:latin typeface="Consolas"/>
              </a:rPr>
              <a:t>8A</a:t>
            </a:r>
            <a:r>
              <a:rPr sz="1900" b="0" i="0">
                <a:solidFill>
                  <a:srgbClr val="1C252B"/>
                </a:solidFill>
                <a:latin typeface="Segoe UI"/>
              </a:rPr>
              <a:t>), and the address will not match the device’s label or the manufacturer OUI.</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Diagnose at the host first. Address, gateway, remote by IP, remote by name — in that order. The first failure is the fault.</a:t>
            </a:r>
          </a:p>
          <a:p>
            <a:pPr marL="228600" indent="-228600">
              <a:lnSpc>
                <a:spcPct val="102000"/>
              </a:lnSpc>
              <a:spcAft>
                <a:spcPts val="900"/>
              </a:spcAft>
            </a:pPr>
            <a:r>
              <a:rPr sz="2000" b="1">
                <a:solidFill>
                  <a:srgbClr val="1F618D"/>
                </a:solidFill>
                <a:latin typeface="Segoe UI"/>
              </a:rPr>
              <a:t>•  </a:t>
            </a:r>
            <a:r>
              <a:rPr sz="1900" b="0" i="0">
                <a:solidFill>
                  <a:srgbClr val="1A5276"/>
                </a:solidFill>
                <a:latin typeface="Consolas"/>
              </a:rPr>
              <a:t>ipconfig /all</a:t>
            </a:r>
            <a:r>
              <a:rPr sz="2000" b="0" i="0">
                <a:solidFill>
                  <a:srgbClr val="1C252B"/>
                </a:solidFill>
                <a:latin typeface="Segoe UI"/>
              </a:rPr>
              <a:t> on Windows, </a:t>
            </a:r>
            <a:r>
              <a:rPr sz="1900" b="0" i="0">
                <a:solidFill>
                  <a:srgbClr val="1A5276"/>
                </a:solidFill>
                <a:latin typeface="Consolas"/>
              </a:rPr>
              <a:t>ifconfig</a:t>
            </a:r>
            <a:r>
              <a:rPr sz="2000" b="0" i="0">
                <a:solidFill>
                  <a:srgbClr val="1C252B"/>
                </a:solidFill>
                <a:latin typeface="Segoe UI"/>
              </a:rPr>
              <a:t> on macOS, </a:t>
            </a:r>
            <a:r>
              <a:rPr sz="1900" b="0" i="0">
                <a:solidFill>
                  <a:srgbClr val="1A5276"/>
                </a:solidFill>
                <a:latin typeface="Consolas"/>
              </a:rPr>
              <a:t>ip addr</a:t>
            </a:r>
            <a:r>
              <a:rPr sz="2000" b="0" i="0">
                <a:solidFill>
                  <a:srgbClr val="1C252B"/>
                </a:solidFill>
                <a:latin typeface="Segoe UI"/>
              </a:rPr>
              <a:t> on Linux. </a:t>
            </a:r>
            <a:r>
              <a:rPr sz="1900" b="0" i="0">
                <a:solidFill>
                  <a:srgbClr val="1A5276"/>
                </a:solidFill>
                <a:latin typeface="Consolas"/>
              </a:rPr>
              <a:t>ifconfig</a:t>
            </a:r>
            <a:r>
              <a:rPr sz="2000" b="0" i="0">
                <a:solidFill>
                  <a:srgbClr val="1C252B"/>
                </a:solidFill>
                <a:latin typeface="Segoe UI"/>
              </a:rPr>
              <a:t> is deprecated on Linux and normal on macOS.</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Four broken configurations: no address (</a:t>
            </a:r>
            <a:r>
              <a:rPr sz="1900" b="0" i="0">
                <a:solidFill>
                  <a:srgbClr val="1A5276"/>
                </a:solidFill>
                <a:latin typeface="Consolas"/>
              </a:rPr>
              <a:t>169.254</a:t>
            </a:r>
            <a:r>
              <a:rPr sz="2000" b="0" i="0">
                <a:solidFill>
                  <a:srgbClr val="1C252B"/>
                </a:solidFill>
                <a:latin typeface="Segoe UI"/>
              </a:rPr>
              <a:t>), no gateway, wrong mask, no DNS. Each has a distinct signature in the ladder.</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 wrong mask breaks internal destinations selectively, which is why it looks like a server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28. Troubleshooting Client Connectivity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1.6</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 failed ping is not proof of a dead host. Test the port with </a:t>
            </a:r>
            <a:r>
              <a:rPr sz="1900" b="0" i="0">
                <a:solidFill>
                  <a:srgbClr val="1A5276"/>
                </a:solidFill>
                <a:latin typeface="Consolas"/>
              </a:rPr>
              <a:t>Test-NetConnection</a:t>
            </a:r>
            <a:r>
              <a:rPr sz="2000" b="0" i="0">
                <a:solidFill>
                  <a:srgbClr val="1C252B"/>
                </a:solidFill>
                <a:latin typeface="Segoe UI"/>
              </a:rPr>
              <a:t> or </a:t>
            </a:r>
            <a:r>
              <a:rPr sz="1900" b="0" i="0">
                <a:solidFill>
                  <a:srgbClr val="1A5276"/>
                </a:solidFill>
                <a:latin typeface="Consolas"/>
              </a:rPr>
              <a:t>nc -zv</a:t>
            </a:r>
            <a:r>
              <a:rPr sz="2000" b="0" i="0">
                <a:solidFill>
                  <a:srgbClr val="1C252B"/>
                </a:solidFill>
                <a:latin typeface="Segoe UI"/>
              </a:rPr>
              <a:t>.</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Wireless clients can be associated and authenticated and still have no access. Check the security parameters separately from the radio.</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Windows reports signal as a meaningless percentage. Get dBm and the noise floor.</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MAC randomisation is on by default everywhere and breaks MAC-based authorisation, DHCP reservations and VLAN assignment. Identify it by the locally-administered bit.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Diagnose at the host first. Address, gateway, remote by IP, remote by name — in that order. The first failure is the fault.</a:t>
            </a:r>
          </a:p>
          <a:p>
            <a:pPr marL="217169" indent="-217169">
              <a:spcAft>
                <a:spcPts val="900"/>
              </a:spcAft>
            </a:pPr>
            <a:r>
              <a:rPr sz="1900">
                <a:solidFill>
                  <a:srgbClr val="C8D6E5"/>
                </a:solidFill>
              </a:rPr>
              <a:t>•  </a:t>
            </a:r>
            <a:r>
              <a:rPr sz="1800" b="0" i="0">
                <a:solidFill>
                  <a:srgbClr val="FFFFFF"/>
                </a:solidFill>
                <a:latin typeface="Consolas"/>
              </a:rPr>
              <a:t>ipconfig /all</a:t>
            </a:r>
            <a:r>
              <a:rPr sz="1900" b="0" i="0">
                <a:solidFill>
                  <a:srgbClr val="FFFFFF"/>
                </a:solidFill>
                <a:latin typeface="Segoe UI"/>
              </a:rPr>
              <a:t> on Windows, </a:t>
            </a:r>
            <a:r>
              <a:rPr sz="1800" b="0" i="0">
                <a:solidFill>
                  <a:srgbClr val="FFFFFF"/>
                </a:solidFill>
                <a:latin typeface="Consolas"/>
              </a:rPr>
              <a:t>ifconfig</a:t>
            </a:r>
            <a:r>
              <a:rPr sz="1900" b="0" i="0">
                <a:solidFill>
                  <a:srgbClr val="FFFFFF"/>
                </a:solidFill>
                <a:latin typeface="Segoe UI"/>
              </a:rPr>
              <a:t> on macOS, </a:t>
            </a:r>
            <a:r>
              <a:rPr sz="1800" b="0" i="0">
                <a:solidFill>
                  <a:srgbClr val="FFFFFF"/>
                </a:solidFill>
                <a:latin typeface="Consolas"/>
              </a:rPr>
              <a:t>ip addr</a:t>
            </a:r>
            <a:r>
              <a:rPr sz="1900" b="0" i="0">
                <a:solidFill>
                  <a:srgbClr val="FFFFFF"/>
                </a:solidFill>
                <a:latin typeface="Segoe UI"/>
              </a:rPr>
              <a:t> on Linux. </a:t>
            </a:r>
            <a:r>
              <a:rPr sz="1800" b="0" i="0">
                <a:solidFill>
                  <a:srgbClr val="FFFFFF"/>
                </a:solidFill>
                <a:latin typeface="Consolas"/>
              </a:rPr>
              <a:t>ifconfig</a:t>
            </a:r>
            <a:r>
              <a:rPr sz="1900" b="0" i="0">
                <a:solidFill>
                  <a:srgbClr val="FFFFFF"/>
                </a:solidFill>
                <a:latin typeface="Segoe UI"/>
              </a:rPr>
              <a:t> is deprecated on Linux and normal on macOS.</a:t>
            </a:r>
          </a:p>
          <a:p>
            <a:pPr marL="217169" indent="-217169">
              <a:spcAft>
                <a:spcPts val="900"/>
              </a:spcAft>
            </a:pPr>
            <a:r>
              <a:rPr sz="1900">
                <a:solidFill>
                  <a:srgbClr val="C8D6E5"/>
                </a:solidFill>
              </a:rPr>
              <a:t>•  </a:t>
            </a:r>
            <a:r>
              <a:rPr sz="1900" b="0" i="0">
                <a:solidFill>
                  <a:srgbClr val="FFFFFF"/>
                </a:solidFill>
                <a:latin typeface="Segoe UI"/>
              </a:rPr>
              <a:t>Four broken configurations: no address (</a:t>
            </a:r>
            <a:r>
              <a:rPr sz="1800" b="0" i="0">
                <a:solidFill>
                  <a:srgbClr val="FFFFFF"/>
                </a:solidFill>
                <a:latin typeface="Consolas"/>
              </a:rPr>
              <a:t>169.254</a:t>
            </a:r>
            <a:r>
              <a:rPr sz="1900" b="0" i="0">
                <a:solidFill>
                  <a:srgbClr val="FFFFFF"/>
                </a:solidFill>
                <a:latin typeface="Segoe UI"/>
              </a:rPr>
              <a:t>), no gateway, wrong mask, no DNS. Each has a distinct signature in the ladder.</a:t>
            </a:r>
          </a:p>
          <a:p>
            <a:pPr marL="217169" indent="-217169">
              <a:spcAft>
                <a:spcPts val="900"/>
              </a:spcAft>
            </a:pPr>
            <a:r>
              <a:rPr sz="1900">
                <a:solidFill>
                  <a:srgbClr val="C8D6E5"/>
                </a:solidFill>
              </a:rPr>
              <a:t>•  </a:t>
            </a:r>
            <a:r>
              <a:rPr sz="1900" b="0" i="0">
                <a:solidFill>
                  <a:srgbClr val="FFFFFF"/>
                </a:solidFill>
                <a:latin typeface="Segoe UI"/>
              </a:rPr>
              <a:t>A wrong mask breaks internal destinations selectively, which is why it looks like a server fault.</a:t>
            </a:r>
          </a:p>
        </p:txBody>
      </p:sp>
      <p:sp>
        <p:nvSpPr>
          <p:cNvPr id="5" name="nextbg"/>
          <p:cNvSpPr/>
          <p:nvPr/>
        </p:nvSpPr>
        <p:spPr>
          <a:xfrm>
            <a:off x="685800" y="5303520"/>
            <a:ext cx="10820095" cy="82296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29 — Hypervisors, Virtual Machines and Containers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