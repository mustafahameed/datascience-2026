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The Routing Table and How a Router Decides. Blueprint topics: 3.1.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Routing Table and How a Router Decides 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asks “which port is this MAC address on?”. A router asks a different and slightly harder question, once for every packet: Of everything I know how to reach, which entry best matches this destination, and where do I send the packet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Querying a specific address rather than reading the whole table is faster and is what the exam expects when it asks which entry would be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15</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The Routing Table and How a Router Decides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III — IP Routing</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3.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3.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6C3483"/>
                </a:solidFill>
                <a:latin typeface="Segoe UI"/>
              </a:rPr>
              <a:t>3.1</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6C3483"/>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6C3483"/>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Read</a:t>
            </a:r>
            <a:r>
              <a:rPr sz="2000" b="0" i="0">
                <a:solidFill>
                  <a:srgbClr val="1C252B"/>
                </a:solidFill>
                <a:latin typeface="Segoe UI"/>
              </a:rPr>
              <a:t> every column and code in </a:t>
            </a:r>
            <a:r>
              <a:rPr sz="1900" b="0" i="0">
                <a:solidFill>
                  <a:srgbClr val="1A5276"/>
                </a:solidFill>
                <a:latin typeface="Consolas"/>
              </a:rPr>
              <a:t>show ip route</a:t>
            </a:r>
            <a:r>
              <a:rPr sz="2000" b="0" i="0">
                <a:solidFill>
                  <a:srgbClr val="1C252B"/>
                </a:solidFill>
                <a:latin typeface="Segoe UI"/>
              </a:rPr>
              <a:t>.</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Apply</a:t>
            </a:r>
            <a:r>
              <a:rPr sz="2000" b="0" i="0">
                <a:solidFill>
                  <a:srgbClr val="1C252B"/>
                </a:solidFill>
                <a:latin typeface="Segoe UI"/>
              </a:rPr>
              <a:t> the longest prefix match rule to determine which entry a given packet uses.</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Explain</a:t>
            </a:r>
            <a:r>
              <a:rPr sz="2000" b="0" i="0">
                <a:solidFill>
                  <a:srgbClr val="1C252B"/>
                </a:solidFill>
                <a:latin typeface="Segoe UI"/>
              </a:rPr>
              <a:t> administrative distance and predict which source wins when two protocols offer the same prefix.</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Distinguish</a:t>
            </a:r>
            <a:r>
              <a:rPr sz="2000" b="0" i="0">
                <a:solidFill>
                  <a:srgbClr val="1C252B"/>
                </a:solidFill>
                <a:latin typeface="Segoe UI"/>
              </a:rPr>
              <a:t> the three reasons a packet is dropped: no route, a route to null, and an unreachable next hop.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for prefixes and masks — this chapter is unreadable without fluent subnetting. Chapter 10 for SVIs as gateways.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erm-routing table"/>
          <p:cNvSpPr/>
          <p:nvPr/>
        </p:nvSpPr>
        <p:spPr>
          <a:xfrm>
            <a:off x="685800" y="1609344"/>
            <a:ext cx="14203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routing table"/>
          <p:cNvSpPr/>
          <p:nvPr/>
        </p:nvSpPr>
        <p:spPr>
          <a:xfrm>
            <a:off x="685800"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routing table"/>
          <p:cNvSpPr txBox="1"/>
          <p:nvPr/>
        </p:nvSpPr>
        <p:spPr>
          <a:xfrm>
            <a:off x="850392" y="1700784"/>
            <a:ext cx="109118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routing table</a:t>
            </a:r>
          </a:p>
        </p:txBody>
      </p:sp>
      <p:sp>
        <p:nvSpPr>
          <p:cNvPr id="10" name="term-prefix"/>
          <p:cNvSpPr/>
          <p:nvPr/>
        </p:nvSpPr>
        <p:spPr>
          <a:xfrm>
            <a:off x="2234184" y="1609344"/>
            <a:ext cx="82296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prefix"/>
          <p:cNvSpPr/>
          <p:nvPr/>
        </p:nvSpPr>
        <p:spPr>
          <a:xfrm>
            <a:off x="2234184"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prefix"/>
          <p:cNvSpPr txBox="1"/>
          <p:nvPr/>
        </p:nvSpPr>
        <p:spPr>
          <a:xfrm>
            <a:off x="2398776" y="1700784"/>
            <a:ext cx="49377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prefix</a:t>
            </a:r>
          </a:p>
        </p:txBody>
      </p:sp>
      <p:sp>
        <p:nvSpPr>
          <p:cNvPr id="13" name="term-next hop"/>
          <p:cNvSpPr/>
          <p:nvPr/>
        </p:nvSpPr>
        <p:spPr>
          <a:xfrm>
            <a:off x="3185160" y="1609344"/>
            <a:ext cx="107289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next hop"/>
          <p:cNvSpPr/>
          <p:nvPr/>
        </p:nvSpPr>
        <p:spPr>
          <a:xfrm>
            <a:off x="3185160"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next hop"/>
          <p:cNvSpPr txBox="1"/>
          <p:nvPr/>
        </p:nvSpPr>
        <p:spPr>
          <a:xfrm>
            <a:off x="3349752" y="1700784"/>
            <a:ext cx="74371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next hop</a:t>
            </a:r>
          </a:p>
        </p:txBody>
      </p:sp>
      <p:sp>
        <p:nvSpPr>
          <p:cNvPr id="16" name="term-exit interface"/>
          <p:cNvSpPr/>
          <p:nvPr/>
        </p:nvSpPr>
        <p:spPr>
          <a:xfrm>
            <a:off x="4386072" y="1609344"/>
            <a:ext cx="148132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exit interface"/>
          <p:cNvSpPr/>
          <p:nvPr/>
        </p:nvSpPr>
        <p:spPr>
          <a:xfrm>
            <a:off x="4386072"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exit interface"/>
          <p:cNvSpPr txBox="1"/>
          <p:nvPr/>
        </p:nvSpPr>
        <p:spPr>
          <a:xfrm>
            <a:off x="4550664" y="1700784"/>
            <a:ext cx="115214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exit interface</a:t>
            </a:r>
          </a:p>
        </p:txBody>
      </p:sp>
      <p:sp>
        <p:nvSpPr>
          <p:cNvPr id="19" name="term-administrative dis"/>
          <p:cNvSpPr/>
          <p:nvPr/>
        </p:nvSpPr>
        <p:spPr>
          <a:xfrm>
            <a:off x="5995416" y="1609344"/>
            <a:ext cx="24038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administrative dis"/>
          <p:cNvSpPr/>
          <p:nvPr/>
        </p:nvSpPr>
        <p:spPr>
          <a:xfrm>
            <a:off x="5995416"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administrative dis"/>
          <p:cNvSpPr txBox="1"/>
          <p:nvPr/>
        </p:nvSpPr>
        <p:spPr>
          <a:xfrm>
            <a:off x="6160008" y="1700784"/>
            <a:ext cx="20746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administrative distance</a:t>
            </a:r>
          </a:p>
        </p:txBody>
      </p:sp>
      <p:sp>
        <p:nvSpPr>
          <p:cNvPr id="22" name="term-metric"/>
          <p:cNvSpPr/>
          <p:nvPr/>
        </p:nvSpPr>
        <p:spPr>
          <a:xfrm>
            <a:off x="8527288" y="1609344"/>
            <a:ext cx="89814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metric"/>
          <p:cNvSpPr/>
          <p:nvPr/>
        </p:nvSpPr>
        <p:spPr>
          <a:xfrm>
            <a:off x="8527288"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metric"/>
          <p:cNvSpPr txBox="1"/>
          <p:nvPr/>
        </p:nvSpPr>
        <p:spPr>
          <a:xfrm>
            <a:off x="8691880" y="1700784"/>
            <a:ext cx="56896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metric</a:t>
            </a:r>
          </a:p>
        </p:txBody>
      </p:sp>
      <p:sp>
        <p:nvSpPr>
          <p:cNvPr id="25" name="term-longest prefix mat"/>
          <p:cNvSpPr/>
          <p:nvPr/>
        </p:nvSpPr>
        <p:spPr>
          <a:xfrm>
            <a:off x="685800" y="2212848"/>
            <a:ext cx="213563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longest prefix mat"/>
          <p:cNvSpPr/>
          <p:nvPr/>
        </p:nvSpPr>
        <p:spPr>
          <a:xfrm>
            <a:off x="685800"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longest prefix mat"/>
          <p:cNvSpPr txBox="1"/>
          <p:nvPr/>
        </p:nvSpPr>
        <p:spPr>
          <a:xfrm>
            <a:off x="850392" y="2304288"/>
            <a:ext cx="180644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longest prefix match</a:t>
            </a:r>
          </a:p>
        </p:txBody>
      </p:sp>
      <p:sp>
        <p:nvSpPr>
          <p:cNvPr id="28" name="term-directly connected"/>
          <p:cNvSpPr/>
          <p:nvPr/>
        </p:nvSpPr>
        <p:spPr>
          <a:xfrm>
            <a:off x="2949447" y="2212848"/>
            <a:ext cx="193852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directly connected"/>
          <p:cNvSpPr/>
          <p:nvPr/>
        </p:nvSpPr>
        <p:spPr>
          <a:xfrm>
            <a:off x="2949447"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directly connected"/>
          <p:cNvSpPr txBox="1"/>
          <p:nvPr/>
        </p:nvSpPr>
        <p:spPr>
          <a:xfrm>
            <a:off x="3114039" y="2304288"/>
            <a:ext cx="160934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directly connected</a:t>
            </a:r>
          </a:p>
        </p:txBody>
      </p:sp>
      <p:sp>
        <p:nvSpPr>
          <p:cNvPr id="31" name="term-local route"/>
          <p:cNvSpPr/>
          <p:nvPr/>
        </p:nvSpPr>
        <p:spPr>
          <a:xfrm>
            <a:off x="5015991" y="2212848"/>
            <a:ext cx="125577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local route"/>
          <p:cNvSpPr/>
          <p:nvPr/>
        </p:nvSpPr>
        <p:spPr>
          <a:xfrm>
            <a:off x="5015991"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local route"/>
          <p:cNvSpPr txBox="1"/>
          <p:nvPr/>
        </p:nvSpPr>
        <p:spPr>
          <a:xfrm>
            <a:off x="5180583" y="2304288"/>
            <a:ext cx="92659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local route</a:t>
            </a:r>
          </a:p>
        </p:txBody>
      </p:sp>
      <p:sp>
        <p:nvSpPr>
          <p:cNvPr id="34" name="term-default route"/>
          <p:cNvSpPr/>
          <p:nvPr/>
        </p:nvSpPr>
        <p:spPr>
          <a:xfrm>
            <a:off x="6399783" y="2212848"/>
            <a:ext cx="14203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default route"/>
          <p:cNvSpPr/>
          <p:nvPr/>
        </p:nvSpPr>
        <p:spPr>
          <a:xfrm>
            <a:off x="6399783"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default route"/>
          <p:cNvSpPr txBox="1"/>
          <p:nvPr/>
        </p:nvSpPr>
        <p:spPr>
          <a:xfrm>
            <a:off x="6564375" y="2304288"/>
            <a:ext cx="109118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default route</a:t>
            </a:r>
          </a:p>
        </p:txBody>
      </p:sp>
      <p:sp>
        <p:nvSpPr>
          <p:cNvPr id="37" name="term-gateway of last re"/>
          <p:cNvSpPr/>
          <p:nvPr/>
        </p:nvSpPr>
        <p:spPr>
          <a:xfrm>
            <a:off x="7948167" y="2212848"/>
            <a:ext cx="2257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gateway of last re"/>
          <p:cNvSpPr/>
          <p:nvPr/>
        </p:nvSpPr>
        <p:spPr>
          <a:xfrm>
            <a:off x="7948167"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gateway of last re"/>
          <p:cNvSpPr txBox="1"/>
          <p:nvPr/>
        </p:nvSpPr>
        <p:spPr>
          <a:xfrm>
            <a:off x="8112759" y="2304288"/>
            <a:ext cx="1928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gateway of last resort</a:t>
            </a:r>
          </a:p>
        </p:txBody>
      </p:sp>
      <p:sp>
        <p:nvSpPr>
          <p:cNvPr id="40" name="term-null0"/>
          <p:cNvSpPr/>
          <p:nvPr/>
        </p:nvSpPr>
        <p:spPr>
          <a:xfrm>
            <a:off x="10333735" y="2212848"/>
            <a:ext cx="78435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null0"/>
          <p:cNvSpPr/>
          <p:nvPr/>
        </p:nvSpPr>
        <p:spPr>
          <a:xfrm>
            <a:off x="10333735"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null0"/>
          <p:cNvSpPr txBox="1"/>
          <p:nvPr/>
        </p:nvSpPr>
        <p:spPr>
          <a:xfrm>
            <a:off x="10498327" y="2304288"/>
            <a:ext cx="45516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null0</a:t>
            </a:r>
          </a:p>
        </p:txBody>
      </p:sp>
      <p:sp>
        <p:nvSpPr>
          <p:cNvPr id="43"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What a router is actually doing</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Routing table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3409695"/>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list of destinations a router knows how to reach, and for each one, the </a:t>
            </a:r>
            <a:r>
              <a:rPr sz="2000" b="1" i="0">
                <a:solidFill>
                  <a:srgbClr val="6C3483"/>
                </a:solidFill>
                <a:latin typeface="Segoe UI"/>
              </a:rPr>
              <a:t>next hop</a:t>
            </a:r>
            <a:r>
              <a:rPr sz="2000" b="0" i="0">
                <a:solidFill>
                  <a:srgbClr val="1C252B"/>
                </a:solidFill>
                <a:latin typeface="Segoe UI"/>
              </a:rPr>
              <a:t> — the neighbouring device to hand the packet to — and the interface to send it out of.</a:t>
            </a:r>
          </a:p>
          <a:p>
            <a:pPr algn="l">
              <a:lnSpc>
                <a:spcPct val="100000"/>
              </a:lnSpc>
              <a:spcAft>
                <a:spcPts val="1000"/>
              </a:spcAft>
            </a:pPr>
            <a:r>
              <a:rPr sz="2000" b="0" i="0">
                <a:solidFill>
                  <a:srgbClr val="1C252B"/>
                </a:solidFill>
                <a:latin typeface="Segoe UI"/>
              </a:rPr>
              <a:t>A router does </a:t>
            </a:r>
            <a:r>
              <a:rPr sz="2000" b="1" i="0">
                <a:solidFill>
                  <a:srgbClr val="1C252B"/>
                </a:solidFill>
                <a:latin typeface="Segoe UI"/>
              </a:rPr>
              <a:t>not</a:t>
            </a:r>
            <a:r>
              <a:rPr sz="2000" b="0" i="0">
                <a:solidFill>
                  <a:srgbClr val="1C252B"/>
                </a:solidFill>
                <a:latin typeface="Segoe UI"/>
              </a:rPr>
              <a:t> know the whole path. It knows one step. Every router along the way makes the same one-step decision independently, and the packet arrives because each of them was right about its own next hop. That is worth sitting with, because it explains why a fault three hops away looks like a working router with traffic disappearing into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One line, before twenty</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486460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Every entry in the table has the same shape. Read this one slowly and the full dump below stops being a wall of text:</a:t>
            </a:r>
          </a:p>
          <a:p>
            <a:pPr algn="l">
              <a:lnSpc>
                <a:spcPct val="100000"/>
              </a:lnSpc>
              <a:spcAft>
                <a:spcPts val="1000"/>
              </a:spcAft>
            </a:pPr>
            <a:r>
              <a:rPr sz="1900" b="0" i="0">
                <a:solidFill>
                  <a:srgbClr val="1A5276"/>
                </a:solidFill>
                <a:latin typeface="Consolas"/>
              </a:rPr>
              <a:t>O    10.1.0.0/16 [110/20] via 10.255.0.2, 00:14:22, GigabitEthernet0/1</a:t>
            </a:r>
          </a:p>
        </p:txBody>
      </p:sp>
      <p:sp>
        <p:nvSpPr>
          <p:cNvPr id="9" name="bullets"/>
          <p:cNvSpPr txBox="1"/>
          <p:nvPr/>
        </p:nvSpPr>
        <p:spPr>
          <a:xfrm>
            <a:off x="978408" y="3002280"/>
            <a:ext cx="10234879" cy="3380232"/>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O</a:t>
            </a:r>
            <a:r>
              <a:rPr sz="2000" b="0" i="0">
                <a:solidFill>
                  <a:srgbClr val="1C252B"/>
                </a:solidFill>
                <a:latin typeface="Segoe UI"/>
              </a:rPr>
              <a:t> — </a:t>
            </a:r>
            <a:r>
              <a:rPr sz="2000" b="1" i="0">
                <a:solidFill>
                  <a:srgbClr val="1C252B"/>
                </a:solidFill>
                <a:latin typeface="Segoe UI"/>
              </a:rPr>
              <a:t>how</a:t>
            </a:r>
            <a:r>
              <a:rPr sz="2000" b="0" i="0">
                <a:solidFill>
                  <a:srgbClr val="1C252B"/>
                </a:solidFill>
                <a:latin typeface="Segoe UI"/>
              </a:rPr>
              <a:t> the router learned it. </a:t>
            </a:r>
            <a:r>
              <a:rPr sz="1900" b="0" i="0">
                <a:solidFill>
                  <a:srgbClr val="1A5276"/>
                </a:solidFill>
                <a:latin typeface="Consolas"/>
              </a:rPr>
              <a:t>O</a:t>
            </a:r>
            <a:r>
              <a:rPr sz="2000" b="0" i="0">
                <a:solidFill>
                  <a:srgbClr val="1C252B"/>
                </a:solidFill>
                <a:latin typeface="Segoe UI"/>
              </a:rPr>
              <a:t> is OSPF, </a:t>
            </a:r>
            <a:r>
              <a:rPr sz="1900" b="0" i="0">
                <a:solidFill>
                  <a:srgbClr val="1A5276"/>
                </a:solidFill>
                <a:latin typeface="Consolas"/>
              </a:rPr>
              <a:t>S</a:t>
            </a:r>
            <a:r>
              <a:rPr sz="2000" b="0" i="0">
                <a:solidFill>
                  <a:srgbClr val="1C252B"/>
                </a:solidFill>
                <a:latin typeface="Segoe UI"/>
              </a:rPr>
              <a:t> static, </a:t>
            </a:r>
            <a:r>
              <a:rPr sz="1900" b="0" i="0">
                <a:solidFill>
                  <a:srgbClr val="1A5276"/>
                </a:solidFill>
                <a:latin typeface="Consolas"/>
              </a:rPr>
              <a:t>C</a:t>
            </a:r>
            <a:r>
              <a:rPr sz="2000" b="0" i="0">
                <a:solidFill>
                  <a:srgbClr val="1C252B"/>
                </a:solidFill>
                <a:latin typeface="Segoe UI"/>
              </a:rPr>
              <a:t> connected, </a:t>
            </a:r>
            <a:r>
              <a:rPr sz="1900" b="0" i="0">
                <a:solidFill>
                  <a:srgbClr val="1A5276"/>
                </a:solidFill>
                <a:latin typeface="Consolas"/>
              </a:rPr>
              <a:t>L</a:t>
            </a:r>
            <a:r>
              <a:rPr sz="2000" b="0" i="0">
                <a:solidFill>
                  <a:srgbClr val="1C252B"/>
                </a:solidFill>
                <a:latin typeface="Segoe UI"/>
              </a:rPr>
              <a:t> local. The legend at the top of the output lists them all.</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10.1.0.0/16</a:t>
            </a:r>
            <a:r>
              <a:rPr sz="2000" b="0" i="0">
                <a:solidFill>
                  <a:srgbClr val="1C252B"/>
                </a:solidFill>
                <a:latin typeface="Segoe UI"/>
              </a:rPr>
              <a:t> — </a:t>
            </a:r>
            <a:r>
              <a:rPr sz="2000" b="1" i="0">
                <a:solidFill>
                  <a:srgbClr val="1C252B"/>
                </a:solidFill>
                <a:latin typeface="Segoe UI"/>
              </a:rPr>
              <a:t>what</a:t>
            </a:r>
            <a:r>
              <a:rPr sz="2000" b="0" i="0">
                <a:solidFill>
                  <a:srgbClr val="1C252B"/>
                </a:solidFill>
                <a:latin typeface="Segoe UI"/>
              </a:rPr>
              <a:t> it reaches: the destination network and its prefix length.</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[110/20]</a:t>
            </a:r>
            <a:r>
              <a:rPr sz="2000" b="0" i="0">
                <a:solidFill>
                  <a:srgbClr val="1C252B"/>
                </a:solidFill>
                <a:latin typeface="Segoe UI"/>
              </a:rPr>
              <a:t> — </a:t>
            </a:r>
            <a:r>
              <a:rPr sz="2000" b="1" i="0">
                <a:solidFill>
                  <a:srgbClr val="1C252B"/>
                </a:solidFill>
                <a:latin typeface="Segoe UI"/>
              </a:rPr>
              <a:t>administrative distance</a:t>
            </a:r>
            <a:r>
              <a:rPr sz="2000" b="0" i="0">
                <a:solidFill>
                  <a:srgbClr val="1C252B"/>
                </a:solidFill>
                <a:latin typeface="Segoe UI"/>
              </a:rPr>
              <a:t> and </a:t>
            </a:r>
            <a:r>
              <a:rPr sz="2000" b="1" i="0">
                <a:solidFill>
                  <a:srgbClr val="1C252B"/>
                </a:solidFill>
                <a:latin typeface="Segoe UI"/>
              </a:rPr>
              <a:t>metric</a:t>
            </a:r>
            <a:r>
              <a:rPr sz="2000" b="0" i="0">
                <a:solidFill>
                  <a:srgbClr val="1C252B"/>
                </a:solidFill>
                <a:latin typeface="Segoe UI"/>
              </a:rPr>
              <a:t>. 110 is how much the router trusts the source; 20 is how good this particular path is. Section sec:ad explains why those are two separate numbers.</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via 10.255.0.2</a:t>
            </a:r>
            <a:r>
              <a:rPr sz="2000" b="0" i="0">
                <a:solidFill>
                  <a:srgbClr val="1C252B"/>
                </a:solidFill>
                <a:latin typeface="Segoe UI"/>
              </a:rPr>
              <a:t> — the </a:t>
            </a:r>
            <a:r>
              <a:rPr sz="2000" b="1" i="0">
                <a:solidFill>
                  <a:srgbClr val="1C252B"/>
                </a:solidFill>
                <a:latin typeface="Segoe UI"/>
              </a:rPr>
              <a:t>next hop</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One line, before twenty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2418079"/>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00:14:22</a:t>
            </a:r>
            <a:r>
              <a:rPr sz="2000" b="0" i="0">
                <a:solidFill>
                  <a:srgbClr val="1C252B"/>
                </a:solidFill>
                <a:latin typeface="Segoe UI"/>
              </a:rPr>
              <a:t> — how long the route has been known.</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GigabitEthernet0/1</a:t>
            </a:r>
            <a:r>
              <a:rPr sz="2000" b="0" i="0">
                <a:solidFill>
                  <a:srgbClr val="1C252B"/>
                </a:solidFill>
                <a:latin typeface="Segoe UI"/>
              </a:rPr>
              <a:t> — the </a:t>
            </a:r>
            <a:r>
              <a:rPr sz="2000" b="1" i="0">
                <a:solidFill>
                  <a:srgbClr val="1C252B"/>
                </a:solidFill>
                <a:latin typeface="Segoe UI"/>
              </a:rPr>
              <a:t>exit interface</a:t>
            </a:r>
            <a:r>
              <a:rPr sz="2000" b="0" i="0">
                <a:solidFill>
                  <a:srgbClr val="1C252B"/>
                </a:solidFill>
                <a:latin typeface="Segoe UI"/>
              </a:rPr>
              <a:t>.</a:t>
            </a:r>
          </a:p>
        </p:txBody>
      </p:sp>
      <p:sp>
        <p:nvSpPr>
          <p:cNvPr id="9" name="tailbody"/>
          <p:cNvSpPr txBox="1"/>
          <p:nvPr/>
        </p:nvSpPr>
        <p:spPr>
          <a:xfrm>
            <a:off x="978408" y="2909824"/>
            <a:ext cx="10234879" cy="3417824"/>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Connected and local routes have no distance, metric or next hop, because there is nothing between the router and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Reading the table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route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codebg"/>
          <p:cNvSpPr/>
          <p:nvPr/>
        </p:nvSpPr>
        <p:spPr>
          <a:xfrm>
            <a:off x="685800" y="1517904"/>
            <a:ext cx="10820095" cy="465328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1956816"/>
            <a:ext cx="10417759" cy="4159503"/>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Codes: L - local, C - connected, S - static, R - RIP, M - mobile, B - BGP</a:t>
            </a:r>
          </a:p>
          <a:p>
            <a:pPr>
              <a:lnSpc>
                <a:spcPct val="100000"/>
              </a:lnSpc>
              <a:spcAft>
                <a:spcPts val="0"/>
              </a:spcAft>
            </a:pPr>
            <a:r>
              <a:rPr sz="1600">
                <a:solidFill>
                  <a:srgbClr val="E8EEF2"/>
                </a:solidFill>
                <a:latin typeface="Consolas"/>
              </a:rPr>
              <a:t>       O - OSPF, IA - OSPF inter area, N1 - OSPF NSSA external type 1</a:t>
            </a:r>
          </a:p>
          <a:p>
            <a:pPr>
              <a:lnSpc>
                <a:spcPct val="100000"/>
              </a:lnSpc>
              <a:spcAft>
                <a:spcPts val="0"/>
              </a:spcAft>
            </a:pPr>
            <a:r>
              <a:rPr sz="1600">
                <a:solidFill>
                  <a:srgbClr val="E8EEF2"/>
                </a:solidFill>
                <a:latin typeface="Consolas"/>
              </a:rPr>
              <a:t>       E1 - OSPF external type 1, E2 - OSPF external type 2</a:t>
            </a:r>
          </a:p>
          <a:p>
            <a:pPr>
              <a:lnSpc>
                <a:spcPct val="100000"/>
              </a:lnSpc>
              <a:spcAft>
                <a:spcPts val="0"/>
              </a:spcAft>
            </a:pPr>
            <a:r>
              <a:rPr sz="1600">
                <a:solidFill>
                  <a:srgbClr val="E8EEF2"/>
                </a:solidFill>
                <a:latin typeface="Consolas"/>
              </a:rPr>
              <a:t>       * - candidate default, U - per-user static route</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Gateway of last resort is 203.0.113.1 to network 0.0.0.0</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S*    0.0.0.0/0 [1/0] via 203.0.113.1</a:t>
            </a:r>
          </a:p>
          <a:p>
            <a:pPr>
              <a:lnSpc>
                <a:spcPct val="100000"/>
              </a:lnSpc>
              <a:spcAft>
                <a:spcPts val="0"/>
              </a:spcAft>
            </a:pPr>
            <a:r>
              <a:rPr sz="1600">
                <a:solidFill>
                  <a:srgbClr val="E8EEF2"/>
                </a:solidFill>
                <a:latin typeface="Consolas"/>
              </a:rPr>
              <a:t>      10.0.0.0/8 is variably subnetted, 4 subnets, 2 masks</a:t>
            </a:r>
          </a:p>
          <a:p>
            <a:pPr>
              <a:lnSpc>
                <a:spcPct val="100000"/>
              </a:lnSpc>
              <a:spcAft>
                <a:spcPts val="0"/>
              </a:spcAft>
            </a:pPr>
            <a:r>
              <a:rPr sz="1600">
                <a:solidFill>
                  <a:srgbClr val="E8EEF2"/>
                </a:solidFill>
                <a:latin typeface="Consolas"/>
              </a:rPr>
              <a:t>O        10.1.0.0/16 [110/20] via 10.255.0.2, 00:14:22, GigabitEthernet0/1</a:t>
            </a:r>
          </a:p>
          <a:p>
            <a:pPr>
              <a:lnSpc>
                <a:spcPct val="100000"/>
              </a:lnSpc>
              <a:spcAft>
                <a:spcPts val="0"/>
              </a:spcAft>
            </a:pPr>
            <a:r>
              <a:rPr sz="1600">
                <a:solidFill>
                  <a:srgbClr val="E8EEF2"/>
                </a:solidFill>
                <a:latin typeface="Consolas"/>
              </a:rPr>
              <a:t>C        10.255.0.0/30 is directly connected, GigabitEthernet0/1</a:t>
            </a:r>
          </a:p>
          <a:p>
            <a:pPr>
              <a:lnSpc>
                <a:spcPct val="100000"/>
              </a:lnSpc>
              <a:spcAft>
                <a:spcPts val="0"/>
              </a:spcAft>
            </a:pPr>
            <a:r>
              <a:rPr sz="1600">
                <a:solidFill>
                  <a:srgbClr val="E8EEF2"/>
                </a:solidFill>
                <a:latin typeface="Consolas"/>
              </a:rPr>
              <a:t>L        10.255.0.1/32 is directly connected, GigabitEthernet0/1</a:t>
            </a:r>
          </a:p>
          <a:p>
            <a:pPr>
              <a:lnSpc>
                <a:spcPct val="100000"/>
              </a:lnSpc>
              <a:spcAft>
                <a:spcPts val="0"/>
              </a:spcAft>
            </a:pPr>
            <a:r>
              <a:rPr sz="1600">
                <a:solidFill>
                  <a:srgbClr val="E8EEF2"/>
                </a:solidFill>
                <a:latin typeface="Consolas"/>
              </a:rPr>
              <a:t>S        10.9.9.0/24 [1/0] via 10.255.0.2</a:t>
            </a:r>
          </a:p>
          <a:p>
            <a:pPr>
              <a:lnSpc>
                <a:spcPct val="100000"/>
              </a:lnSpc>
              <a:spcAft>
                <a:spcPts val="0"/>
              </a:spcAft>
            </a:pPr>
            <a:r>
              <a:rPr sz="1600">
                <a:solidFill>
                  <a:srgbClr val="E8EEF2"/>
                </a:solidFill>
                <a:latin typeface="Consolas"/>
              </a:rPr>
              <a:t>      192.168.10.0/24 is directly connected, Vlan10</a:t>
            </a:r>
          </a:p>
          <a:p>
            <a:pPr>
              <a:lnSpc>
                <a:spcPct val="100000"/>
              </a:lnSpc>
              <a:spcAft>
                <a:spcPts val="0"/>
              </a:spcAft>
            </a:pPr>
            <a:r>
              <a:rPr sz="1600">
                <a:solidFill>
                  <a:srgbClr val="E8EEF2"/>
                </a:solidFill>
                <a:latin typeface="Consolas"/>
              </a:rPr>
              <a:t>C        192.168.10.0/24 is directly connected, Vlan10</a:t>
            </a:r>
          </a:p>
          <a:p>
            <a:pPr>
              <a:lnSpc>
                <a:spcPct val="100000"/>
              </a:lnSpc>
              <a:spcAft>
                <a:spcPts val="0"/>
              </a:spcAft>
            </a:pPr>
            <a:r>
              <a:rPr sz="1600">
                <a:solidFill>
                  <a:srgbClr val="E8EEF2"/>
                </a:solidFill>
                <a:latin typeface="Consolas"/>
              </a:rPr>
              <a:t>L        192.168.10.1/32 is directly connected, Vlan10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 and L are not the same thing</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C</a:t>
            </a:r>
            <a:r>
              <a:rPr sz="2000" b="0" i="0">
                <a:solidFill>
                  <a:srgbClr val="1C252B"/>
                </a:solidFill>
                <a:latin typeface="Segoe UI"/>
              </a:rPr>
              <a:t> is the </a:t>
            </a:r>
            <a:r>
              <a:rPr sz="2000" b="0" i="1">
                <a:solidFill>
                  <a:srgbClr val="1C252B"/>
                </a:solidFill>
                <a:latin typeface="Segoe UI"/>
              </a:rPr>
              <a:t>subnet</a:t>
            </a:r>
            <a:r>
              <a:rPr sz="2000" b="0" i="0">
                <a:solidFill>
                  <a:srgbClr val="1C252B"/>
                </a:solidFill>
                <a:latin typeface="Segoe UI"/>
              </a:rPr>
              <a:t> on a directly connected interface — the range the router can reach by ARP. </a:t>
            </a:r>
            <a:r>
              <a:rPr sz="1900" b="0" i="0">
                <a:solidFill>
                  <a:srgbClr val="1A5276"/>
                </a:solidFill>
                <a:latin typeface="Consolas"/>
              </a:rPr>
              <a:t>L</a:t>
            </a:r>
            <a:r>
              <a:rPr sz="2000" b="0" i="0">
                <a:solidFill>
                  <a:srgbClr val="1C252B"/>
                </a:solidFill>
                <a:latin typeface="Segoe UI"/>
              </a:rPr>
              <a:t> is a </a:t>
            </a:r>
            <a:r>
              <a:rPr sz="1900" b="0" i="0">
                <a:solidFill>
                  <a:srgbClr val="1A5276"/>
                </a:solidFill>
                <a:latin typeface="Consolas"/>
              </a:rPr>
              <a:t>/32</a:t>
            </a:r>
            <a:r>
              <a:rPr sz="2000" b="0" i="0">
                <a:solidFill>
                  <a:srgbClr val="1C252B"/>
                </a:solidFill>
                <a:latin typeface="Segoe UI"/>
              </a:rPr>
              <a:t> host route for the router’s </a:t>
            </a:r>
            <a:r>
              <a:rPr sz="2000" b="0" i="1">
                <a:solidFill>
                  <a:srgbClr val="1C252B"/>
                </a:solidFill>
                <a:latin typeface="Segoe UI"/>
              </a:rPr>
              <a:t>own</a:t>
            </a:r>
            <a:r>
              <a:rPr sz="2000" b="0" i="0">
                <a:solidFill>
                  <a:srgbClr val="1C252B"/>
                </a:solidFill>
                <a:latin typeface="Segoe UI"/>
              </a:rPr>
              <a:t> address on that interface, so that traffic addressed to the router itself is delivered locally rather than forwarded.</a:t>
            </a:r>
          </a:p>
          <a:p>
            <a:pPr algn="l">
              <a:lnSpc>
                <a:spcPct val="100000"/>
              </a:lnSpc>
              <a:spcAft>
                <a:spcPts val="1000"/>
              </a:spcAft>
            </a:pPr>
            <a:r>
              <a:rPr sz="2000" b="0" i="0">
                <a:solidFill>
                  <a:srgbClr val="1C252B"/>
                </a:solidFill>
                <a:latin typeface="Segoe UI"/>
              </a:rPr>
              <a:t>You do not configure </a:t>
            </a:r>
            <a:r>
              <a:rPr sz="1900" b="0" i="0">
                <a:solidFill>
                  <a:srgbClr val="1A5276"/>
                </a:solidFill>
                <a:latin typeface="Consolas"/>
              </a:rPr>
              <a:t>L</a:t>
            </a:r>
            <a:r>
              <a:rPr sz="2000" b="0" i="0">
                <a:solidFill>
                  <a:srgbClr val="1C252B"/>
                </a:solidFill>
                <a:latin typeface="Segoe UI"/>
              </a:rPr>
              <a:t> routes; the router creates one for every address you give an interface. They appear in every table and are not a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Rule one: longest prefix match</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The most specific route wins, regardless of anything else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When several entries could carry a packet, the router uses the one with the </a:t>
            </a:r>
            <a:r>
              <a:rPr sz="2000" b="1" i="0">
                <a:solidFill>
                  <a:srgbClr val="1C252B"/>
                </a:solidFill>
                <a:latin typeface="Segoe UI"/>
              </a:rPr>
              <a:t>longest prefix</a:t>
            </a:r>
            <a:r>
              <a:rPr sz="2000" b="0" i="0">
                <a:solidFill>
                  <a:srgbClr val="1C252B"/>
                </a:solidFill>
                <a:latin typeface="Segoe UI"/>
              </a:rPr>
              <a:t> — the most 1 bits in the mask. Administrative distance and metric never override this; they only choose between entries with the </a:t>
            </a:r>
            <a:r>
              <a:rPr sz="2000" b="0" i="1">
                <a:solidFill>
                  <a:srgbClr val="1C252B"/>
                </a:solidFill>
                <a:latin typeface="Segoe UI"/>
              </a:rPr>
              <a:t>same</a:t>
            </a:r>
            <a:r>
              <a:rPr sz="2000" b="0" i="0">
                <a:solidFill>
                  <a:srgbClr val="1C252B"/>
                </a:solidFill>
                <a:latin typeface="Segoe UI"/>
              </a:rPr>
              <a:t> prefix length.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Which entry carries the packet?</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Using the table above, a packet for </a:t>
            </a:r>
            <a:r>
              <a:rPr sz="1900" b="0" i="0">
                <a:solidFill>
                  <a:srgbClr val="1A5276"/>
                </a:solidFill>
                <a:latin typeface="Consolas"/>
              </a:rPr>
              <a:t>10.9.9.20</a:t>
            </a:r>
            <a:r>
              <a:rPr sz="2000" b="0" i="0">
                <a:solidFill>
                  <a:srgbClr val="1C252B"/>
                </a:solidFill>
                <a:latin typeface="Segoe UI"/>
              </a:rPr>
              <a:t>:</a:t>
            </a:r>
          </a:p>
        </p:txBody>
      </p:sp>
      <p:sp>
        <p:nvSpPr>
          <p:cNvPr id="8" name="bullets"/>
          <p:cNvSpPr txBox="1"/>
          <p:nvPr/>
        </p:nvSpPr>
        <p:spPr>
          <a:xfrm>
            <a:off x="685800" y="2415032"/>
            <a:ext cx="10820095" cy="396748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0.0.0.0/0</a:t>
            </a:r>
            <a:r>
              <a:rPr sz="2000" b="0" i="0">
                <a:solidFill>
                  <a:srgbClr val="1C252B"/>
                </a:solidFill>
                <a:latin typeface="Segoe UI"/>
              </a:rPr>
              <a:t> — matches everything. Prefix length 0.</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10.1.0.0/16</a:t>
            </a:r>
            <a:r>
              <a:rPr sz="2000" b="0" i="0">
                <a:solidFill>
                  <a:srgbClr val="1C252B"/>
                </a:solidFill>
                <a:latin typeface="Segoe UI"/>
              </a:rPr>
              <a:t> — does </a:t>
            </a:r>
            <a:r>
              <a:rPr sz="1900" b="0" i="0">
                <a:solidFill>
                  <a:srgbClr val="1A5276"/>
                </a:solidFill>
                <a:latin typeface="Consolas"/>
              </a:rPr>
              <a:t>10.9.9.20</a:t>
            </a:r>
            <a:r>
              <a:rPr sz="2000" b="0" i="0">
                <a:solidFill>
                  <a:srgbClr val="1C252B"/>
                </a:solidFill>
                <a:latin typeface="Segoe UI"/>
              </a:rPr>
              <a:t> fall inside? The /16 covers </a:t>
            </a:r>
            <a:r>
              <a:rPr sz="1900" b="0" i="0">
                <a:solidFill>
                  <a:srgbClr val="1A5276"/>
                </a:solidFill>
                <a:latin typeface="Consolas"/>
              </a:rPr>
              <a:t>10.1.0.0</a:t>
            </a:r>
            <a:r>
              <a:rPr sz="2000" b="0" i="0">
                <a:solidFill>
                  <a:srgbClr val="1C252B"/>
                </a:solidFill>
                <a:latin typeface="Segoe UI"/>
              </a:rPr>
              <a:t>–</a:t>
            </a:r>
            <a:r>
              <a:rPr sz="1900" b="0" i="0">
                <a:solidFill>
                  <a:srgbClr val="1A5276"/>
                </a:solidFill>
                <a:latin typeface="Consolas"/>
              </a:rPr>
              <a:t>10.1.255.255</a:t>
            </a:r>
            <a:r>
              <a:rPr sz="2000" b="0" i="0">
                <a:solidFill>
                  <a:srgbClr val="1C252B"/>
                </a:solidFill>
                <a:latin typeface="Segoe UI"/>
              </a:rPr>
              <a:t>. No.</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10.9.9.0/24</a:t>
            </a:r>
            <a:r>
              <a:rPr sz="2000" b="0" i="0">
                <a:solidFill>
                  <a:srgbClr val="1C252B"/>
                </a:solidFill>
                <a:latin typeface="Segoe UI"/>
              </a:rPr>
              <a:t> — covers </a:t>
            </a:r>
            <a:r>
              <a:rPr sz="1900" b="0" i="0">
                <a:solidFill>
                  <a:srgbClr val="1A5276"/>
                </a:solidFill>
                <a:latin typeface="Consolas"/>
              </a:rPr>
              <a:t>10.9.9.0</a:t>
            </a:r>
            <a:r>
              <a:rPr sz="2000" b="0" i="0">
                <a:solidFill>
                  <a:srgbClr val="1C252B"/>
                </a:solidFill>
                <a:latin typeface="Segoe UI"/>
              </a:rPr>
              <a:t>–</a:t>
            </a:r>
            <a:r>
              <a:rPr sz="1900" b="0" i="0">
                <a:solidFill>
                  <a:srgbClr val="1A5276"/>
                </a:solidFill>
                <a:latin typeface="Consolas"/>
              </a:rPr>
              <a:t>10.9.9.255</a:t>
            </a:r>
            <a:r>
              <a:rPr sz="2000" b="0" i="0">
                <a:solidFill>
                  <a:srgbClr val="1C252B"/>
                </a:solidFill>
                <a:latin typeface="Segoe UI"/>
              </a:rPr>
              <a:t>. Yes. Prefix length 24.</a:t>
            </a:r>
          </a:p>
        </p:txBody>
      </p:sp>
      <p:sp>
        <p:nvSpPr>
          <p:cNvPr id="9" name="tailbody"/>
          <p:cNvSpPr txBox="1"/>
          <p:nvPr/>
        </p:nvSpPr>
        <p:spPr>
          <a:xfrm>
            <a:off x="685800" y="4458208"/>
            <a:ext cx="10820095" cy="1869440"/>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Two entries match: the default and the /24. The /24 is longer, so the packet goes </a:t>
            </a:r>
            <a:r>
              <a:rPr sz="1900" b="0" i="0">
                <a:solidFill>
                  <a:srgbClr val="1A5276"/>
                </a:solidFill>
                <a:latin typeface="Consolas"/>
              </a:rPr>
              <a:t>via 10.255.0.2</a:t>
            </a:r>
            <a:r>
              <a:rPr sz="2000" b="0" i="0">
                <a:solidFill>
                  <a:srgbClr val="1C252B"/>
                </a:solidFill>
                <a:latin typeface="Segoe UI"/>
              </a:rPr>
              <a:t>. Note that the default route has a </a:t>
            </a:r>
            <a:r>
              <a:rPr sz="2000" b="0" i="1">
                <a:solidFill>
                  <a:srgbClr val="1C252B"/>
                </a:solidFill>
                <a:latin typeface="Segoe UI"/>
              </a:rPr>
              <a:t>better</a:t>
            </a:r>
            <a:r>
              <a:rPr sz="2000" b="0" i="0">
                <a:solidFill>
                  <a:srgbClr val="1C252B"/>
                </a:solidFill>
                <a:latin typeface="Segoe UI"/>
              </a:rPr>
              <a:t> administrative distance (1 versus 1 — equal here) and it still loses, because prefix length is decided first.</a:t>
            </a:r>
          </a:p>
          <a:p>
            <a:pPr algn="l">
              <a:lnSpc>
                <a:spcPct val="100000"/>
              </a:lnSpc>
              <a:spcAft>
                <a:spcPts val="600"/>
              </a:spcAft>
            </a:pPr>
            <a:r>
              <a:rPr sz="2000" b="0" i="0">
                <a:solidFill>
                  <a:srgbClr val="1C252B"/>
                </a:solidFill>
                <a:latin typeface="Segoe UI"/>
              </a:rPr>
              <a:t>Now a packet for </a:t>
            </a:r>
            <a:r>
              <a:rPr sz="1900" b="0" i="0">
                <a:solidFill>
                  <a:srgbClr val="1A5276"/>
                </a:solidFill>
                <a:latin typeface="Consolas"/>
              </a:rPr>
              <a:t>172.20.5.1</a:t>
            </a:r>
            <a:r>
              <a:rPr sz="2000" b="0" i="0">
                <a:solidFill>
                  <a:srgbClr val="1C252B"/>
                </a:solidFill>
                <a:latin typeface="Segoe UI"/>
              </a:rPr>
              <a:t>: only </a:t>
            </a:r>
            <a:r>
              <a:rPr sz="1900" b="0" i="0">
                <a:solidFill>
                  <a:srgbClr val="1A5276"/>
                </a:solidFill>
                <a:latin typeface="Consolas"/>
              </a:rPr>
              <a:t>0.0.0.0/0</a:t>
            </a:r>
            <a:r>
              <a:rPr sz="2000" b="0" i="0">
                <a:solidFill>
                  <a:srgbClr val="1C252B"/>
                </a:solidFill>
                <a:latin typeface="Segoe UI"/>
              </a:rPr>
              <a:t> matches, so it takes the gateway of last resort.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Rule two: administrative distance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Administrative distance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6C3483"/>
                </a:solidFill>
                <a:latin typeface="Segoe UI"/>
              </a:rPr>
              <a:t>Administrative distance</a:t>
            </a:r>
            <a:r>
              <a:rPr sz="2000" b="0" i="0">
                <a:solidFill>
                  <a:srgbClr val="1C252B"/>
                </a:solidFill>
                <a:latin typeface="Segoe UI"/>
              </a:rPr>
              <a:t> ranks the trustworthiness of a route’s </a:t>
            </a:r>
            <a:r>
              <a:rPr sz="2000" b="0" i="1">
                <a:solidFill>
                  <a:srgbClr val="1C252B"/>
                </a:solidFill>
                <a:latin typeface="Segoe UI"/>
              </a:rPr>
              <a:t>source</a:t>
            </a:r>
            <a:r>
              <a:rPr sz="2000" b="0" i="0">
                <a:solidFill>
                  <a:srgbClr val="1C252B"/>
                </a:solidFill>
                <a:latin typeface="Segoe UI"/>
              </a:rPr>
              <a:t>. When two sources offer the same prefix at the same length, the lower distance is installed and the other is discarded — it does not even appear in the table.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a static route beats OSPF, and when that bites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tint"/>
          <p:cNvSpPr/>
          <p:nvPr/>
        </p:nvSpPr>
        <p:spPr>
          <a:xfrm>
            <a:off x="685800" y="1517904"/>
            <a:ext cx="10820095" cy="34096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static route at distance 1 will always displace an OSPF route at 110 for the same prefix. That is usually what you want — until the static route’s path fails. OSPF would have re-routed; the static route sits there pointing at a dead path, because a static route has no way of knowing anything is wrong beyond the directly connected interface.</a:t>
            </a:r>
          </a:p>
          <a:p>
            <a:pPr algn="l">
              <a:lnSpc>
                <a:spcPct val="100000"/>
              </a:lnSpc>
              <a:spcAft>
                <a:spcPts val="1000"/>
              </a:spcAft>
            </a:pPr>
            <a:r>
              <a:rPr sz="2000" b="0" i="0">
                <a:solidFill>
                  <a:srgbClr val="1C252B"/>
                </a:solidFill>
                <a:latin typeface="Segoe UI"/>
              </a:rPr>
              <a:t>The deliberate use of this is the </a:t>
            </a:r>
            <a:r>
              <a:rPr sz="2000" b="1" i="0">
                <a:solidFill>
                  <a:srgbClr val="6C3483"/>
                </a:solidFill>
                <a:latin typeface="Segoe UI"/>
              </a:rPr>
              <a:t>floating static route</a:t>
            </a:r>
            <a:r>
              <a:rPr sz="2000" b="0" i="0">
                <a:solidFill>
                  <a:srgbClr val="1C252B"/>
                </a:solidFill>
                <a:latin typeface="Segoe UI"/>
              </a:rPr>
              <a:t>: a backup static configured with a distance </a:t>
            </a:r>
            <a:r>
              <a:rPr sz="2000" b="0" i="1">
                <a:solidFill>
                  <a:srgbClr val="1C252B"/>
                </a:solidFill>
                <a:latin typeface="Segoe UI"/>
              </a:rPr>
              <a:t>higher</a:t>
            </a:r>
            <a:r>
              <a:rPr sz="2000" b="0" i="0">
                <a:solidFill>
                  <a:srgbClr val="1C252B"/>
                </a:solidFill>
                <a:latin typeface="Segoe UI"/>
              </a:rPr>
              <a:t> than the dynamic protocol, so it stays out of the table until the dynamic route disappears. That is Chapter 16.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Three ways a packet dies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route in the table is not proof of reachability</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presence of an entry means the router knows where it </a:t>
            </a:r>
            <a:r>
              <a:rPr sz="2000" b="0" i="1">
                <a:solidFill>
                  <a:srgbClr val="1C252B"/>
                </a:solidFill>
                <a:latin typeface="Segoe UI"/>
              </a:rPr>
              <a:t>would</a:t>
            </a:r>
            <a:r>
              <a:rPr sz="2000" b="0" i="0">
                <a:solidFill>
                  <a:srgbClr val="1C252B"/>
                </a:solidFill>
                <a:latin typeface="Segoe UI"/>
              </a:rPr>
              <a:t> send the packet. It says nothing about whether the next hop is alive, whether the far end has a route back, or whether an access list drops it en route.</a:t>
            </a:r>
          </a:p>
          <a:p>
            <a:pPr algn="l">
              <a:lnSpc>
                <a:spcPct val="100000"/>
              </a:lnSpc>
              <a:spcAft>
                <a:spcPts val="1000"/>
              </a:spcAft>
            </a:pPr>
            <a:r>
              <a:rPr sz="2000" b="0" i="0">
                <a:solidFill>
                  <a:srgbClr val="1C252B"/>
                </a:solidFill>
                <a:latin typeface="Segoe UI"/>
              </a:rPr>
              <a:t>Confirm with an extended ping sourced from the relevant interface (Chapter 6) — that tests the return path too, which a route entry never does.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route 10.9.9.20</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Routing entry for 10.9.9.0/24</a:t>
            </a:r>
          </a:p>
          <a:p>
            <a:pPr>
              <a:lnSpc>
                <a:spcPct val="100000"/>
              </a:lnSpc>
              <a:spcAft>
                <a:spcPts val="0"/>
              </a:spcAft>
            </a:pPr>
            <a:r>
              <a:rPr sz="1600">
                <a:solidFill>
                  <a:srgbClr val="E8EEF2"/>
                </a:solidFill>
                <a:latin typeface="Consolas"/>
              </a:rPr>
              <a:t>  Known via "static", distance 1, metric 0</a:t>
            </a:r>
          </a:p>
          <a:p>
            <a:pPr>
              <a:lnSpc>
                <a:spcPct val="100000"/>
              </a:lnSpc>
              <a:spcAft>
                <a:spcPts val="0"/>
              </a:spcAft>
            </a:pPr>
            <a:r>
              <a:rPr sz="1600">
                <a:solidFill>
                  <a:srgbClr val="E8EEF2"/>
                </a:solidFill>
                <a:latin typeface="Consolas"/>
              </a:rPr>
              <a:t>  Routing Descriptor Blocks:</a:t>
            </a:r>
          </a:p>
          <a:p>
            <a:pPr>
              <a:lnSpc>
                <a:spcPct val="100000"/>
              </a:lnSpc>
              <a:spcAft>
                <a:spcPts val="0"/>
              </a:spcAft>
            </a:pPr>
            <a:r>
              <a:rPr sz="1600">
                <a:solidFill>
                  <a:srgbClr val="E8EEF2"/>
                </a:solidFill>
                <a:latin typeface="Consolas"/>
              </a:rPr>
              <a:t>  * 10.255.0.2</a:t>
            </a:r>
          </a:p>
          <a:p>
            <a:pPr>
              <a:lnSpc>
                <a:spcPct val="100000"/>
              </a:lnSpc>
              <a:spcAft>
                <a:spcPts val="0"/>
              </a:spcAft>
            </a:pPr>
            <a:r>
              <a:rPr sz="1600">
                <a:solidFill>
                  <a:srgbClr val="E8EEF2"/>
                </a:solidFill>
                <a:latin typeface="Consolas"/>
              </a:rPr>
              <a:t>      Route metric is 0, traffic share count is 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Three ways a packet dies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Comparing metrics across protocols.</a:t>
            </a:r>
            <a:r>
              <a:rPr sz="2000" b="0" i="0">
                <a:solidFill>
                  <a:srgbClr val="1C252B"/>
                </a:solidFill>
                <a:latin typeface="Segoe UI"/>
              </a:rPr>
              <a:t> An OSPF cost of 20 and a RIP hop count of 2 are not comparable. Administrative distance decides first, and only then does metric compare </a:t>
            </a:r>
            <a:r>
              <a:rPr sz="2000" b="0" i="1">
                <a:solidFill>
                  <a:srgbClr val="1C252B"/>
                </a:solidFill>
                <a:latin typeface="Segoe UI"/>
              </a:rPr>
              <a:t>within</a:t>
            </a:r>
            <a:r>
              <a:rPr sz="2000" b="0" i="0">
                <a:solidFill>
                  <a:srgbClr val="1C252B"/>
                </a:solidFill>
                <a:latin typeface="Segoe UI"/>
              </a:rPr>
              <a:t> one protocol.</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Thinking a better distance beats a longer prefix.</a:t>
            </a:r>
            <a:r>
              <a:rPr sz="2000" b="0" i="0">
                <a:solidFill>
                  <a:srgbClr val="1C252B"/>
                </a:solidFill>
                <a:latin typeface="Segoe UI"/>
              </a:rPr>
              <a:t> It does not. Prefix length is decided first, always.</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Missing the gateway of last resort line.</a:t>
            </a:r>
            <a:r>
              <a:rPr sz="2000" b="0" i="0">
                <a:solidFill>
                  <a:srgbClr val="1C252B"/>
                </a:solidFill>
                <a:latin typeface="Segoe UI"/>
              </a:rPr>
              <a:t> If it says </a:t>
            </a:r>
            <a:r>
              <a:rPr sz="1900" b="0" i="0">
                <a:solidFill>
                  <a:srgbClr val="1A5276"/>
                </a:solidFill>
                <a:latin typeface="Consolas"/>
              </a:rPr>
              <a:t>not set</a:t>
            </a:r>
            <a:r>
              <a:rPr sz="2000" b="0" i="0">
                <a:solidFill>
                  <a:srgbClr val="1C252B"/>
                </a:solidFill>
                <a:latin typeface="Segoe UI"/>
              </a:rPr>
              <a:t>, there is no default and anything unmatched is dropped.</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Reading </a:t>
            </a:r>
            <a:r>
              <a:rPr sz="1900" b="1" i="0">
                <a:solidFill>
                  <a:srgbClr val="1A5276"/>
                </a:solidFill>
                <a:latin typeface="Consolas"/>
              </a:rPr>
              <a:t>L</a:t>
            </a:r>
            <a:r>
              <a:rPr sz="2000" b="1" i="0">
                <a:solidFill>
                  <a:srgbClr val="1C252B"/>
                </a:solidFill>
                <a:latin typeface="Segoe UI"/>
              </a:rPr>
              <a:t> entries as duplicates.</a:t>
            </a:r>
            <a:r>
              <a:rPr sz="2000" b="0" i="0">
                <a:solidFill>
                  <a:srgbClr val="1C252B"/>
                </a:solidFill>
                <a:latin typeface="Segoe UI"/>
              </a:rPr>
              <a:t> They are the router’s own addresses and belong there.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Three ways a packet dies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Assuming symmetry.</a:t>
            </a:r>
            <a:r>
              <a:rPr sz="2000" b="0" i="0">
                <a:solidFill>
                  <a:srgbClr val="1C252B"/>
                </a:solidFill>
                <a:latin typeface="Segoe UI"/>
              </a:rPr>
              <a:t> Traffic reaching a destination does not mean the reply can return. Most one-way faults are a missing reverse route.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route is there and the ping still fails.</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on </a:t>
            </a:r>
            <a:r>
              <a:rPr sz="1800" b="0" i="0">
                <a:solidFill>
                  <a:srgbClr val="1A5276"/>
                </a:solidFill>
                <a:latin typeface="Consolas"/>
              </a:rPr>
              <a:t>192.168.10.0/24</a:t>
            </a:r>
            <a:r>
              <a:rPr sz="1900" b="0" i="0">
                <a:solidFill>
                  <a:srgbClr val="1C252B"/>
                </a:solidFill>
                <a:latin typeface="Segoe UI"/>
              </a:rPr>
              <a:t> cannot reach </a:t>
            </a:r>
            <a:r>
              <a:rPr sz="1800" b="0" i="0">
                <a:solidFill>
                  <a:srgbClr val="1A5276"/>
                </a:solidFill>
                <a:latin typeface="Consolas"/>
              </a:rPr>
              <a:t>10.9.9.0/24</a:t>
            </a:r>
            <a:r>
              <a:rPr sz="1900" b="0" i="0">
                <a:solidFill>
                  <a:srgbClr val="1C252B"/>
                </a:solidFill>
                <a:latin typeface="Segoe UI"/>
              </a:rPr>
              <a:t>. </a:t>
            </a:r>
            <a:r>
              <a:rPr sz="1800" b="0" i="0">
                <a:solidFill>
                  <a:srgbClr val="1A5276"/>
                </a:solidFill>
                <a:latin typeface="Consolas"/>
              </a:rPr>
              <a:t>R1</a:t>
            </a:r>
            <a:r>
              <a:rPr sz="1900" b="0" i="0">
                <a:solidFill>
                  <a:srgbClr val="1C252B"/>
                </a:solidFill>
                <a:latin typeface="Segoe UI"/>
              </a:rPr>
              <a:t> has the route:</a:t>
            </a:r>
          </a:p>
          <a:p>
            <a:pPr algn="l">
              <a:lnSpc>
                <a:spcPct val="100000"/>
              </a:lnSpc>
              <a:spcAft>
                <a:spcPts val="1000"/>
              </a:spcAft>
            </a:pPr>
            <a:r>
              <a:rPr sz="1900" b="0" i="0">
                <a:solidFill>
                  <a:srgbClr val="1C252B"/>
                </a:solidFill>
                <a:latin typeface="Segoe UI"/>
              </a:rPr>
              <a:t>A ping from </a:t>
            </a:r>
            <a:r>
              <a:rPr sz="1800" b="0" i="0">
                <a:solidFill>
                  <a:srgbClr val="1A5276"/>
                </a:solidFill>
                <a:latin typeface="Consolas"/>
              </a:rPr>
              <a:t>R1</a:t>
            </a:r>
            <a:r>
              <a:rPr sz="1900" b="0" i="0">
                <a:solidFill>
                  <a:srgbClr val="1C252B"/>
                </a:solidFill>
                <a:latin typeface="Segoe UI"/>
              </a:rPr>
              <a:t> to </a:t>
            </a:r>
            <a:r>
              <a:rPr sz="1800" b="0" i="0">
                <a:solidFill>
                  <a:srgbClr val="1A5276"/>
                </a:solidFill>
                <a:latin typeface="Consolas"/>
              </a:rPr>
              <a:t>10.9.9.20</a:t>
            </a:r>
            <a:r>
              <a:rPr sz="1900" b="0" i="0">
                <a:solidFill>
                  <a:srgbClr val="1C252B"/>
                </a:solidFill>
                <a:latin typeface="Segoe UI"/>
              </a:rPr>
              <a:t> succeeds. A ping from a user’s PC fails.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route is there and the ping still fails.</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route 10.9.9.0</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Routing entry for 10.9.9.0/24</a:t>
            </a:r>
          </a:p>
          <a:p>
            <a:pPr>
              <a:lnSpc>
                <a:spcPct val="100000"/>
              </a:lnSpc>
              <a:spcAft>
                <a:spcPts val="0"/>
              </a:spcAft>
            </a:pPr>
            <a:r>
              <a:rPr sz="1500">
                <a:solidFill>
                  <a:srgbClr val="E8EEF2"/>
                </a:solidFill>
                <a:latin typeface="Consolas"/>
              </a:rPr>
              <a:t>  Known via "static", distance 1, metric 0</a:t>
            </a:r>
          </a:p>
          <a:p>
            <a:pPr>
              <a:lnSpc>
                <a:spcPct val="100000"/>
              </a:lnSpc>
              <a:spcAft>
                <a:spcPts val="0"/>
              </a:spcAft>
            </a:pPr>
            <a:r>
              <a:rPr sz="1500">
                <a:solidFill>
                  <a:srgbClr val="E8EEF2"/>
                </a:solidFill>
                <a:latin typeface="Consolas"/>
              </a:rPr>
              <a:t>  Routing Descriptor Blocks:</a:t>
            </a:r>
          </a:p>
          <a:p>
            <a:pPr>
              <a:lnSpc>
                <a:spcPct val="100000"/>
              </a:lnSpc>
              <a:spcAft>
                <a:spcPts val="0"/>
              </a:spcAft>
            </a:pPr>
            <a:r>
              <a:rPr sz="1500">
                <a:solidFill>
                  <a:srgbClr val="E8EEF2"/>
                </a:solidFill>
                <a:latin typeface="Consolas"/>
              </a:rPr>
              <a:t>  * 10.255.0.2</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ping 10.9.9.20 source Vlan10</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Sending 5, 100-byte ICMP Echos to 10.9.9.20, timeout is 2 seconds:</a:t>
            </a:r>
          </a:p>
          <a:p>
            <a:pPr>
              <a:lnSpc>
                <a:spcPct val="100000"/>
              </a:lnSpc>
              <a:spcAft>
                <a:spcPts val="0"/>
              </a:spcAft>
            </a:pPr>
            <a:r>
              <a:rPr sz="1500">
                <a:solidFill>
                  <a:srgbClr val="E8EEF2"/>
                </a:solidFill>
                <a:latin typeface="Consolas"/>
              </a:rPr>
              <a:t>Packet sent with a source address of 192.168.10.1</a:t>
            </a:r>
          </a:p>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Success rate is 0 percent (0/5)</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difference between the two pings is the source address. </a:t>
            </a:r>
            <a:r>
              <a:rPr sz="1800" b="0" i="0">
                <a:solidFill>
                  <a:srgbClr val="1A5276"/>
                </a:solidFill>
                <a:latin typeface="Consolas"/>
              </a:rPr>
              <a:t>R1</a:t>
            </a:r>
            <a:r>
              <a:rPr sz="1900" b="0" i="0">
                <a:solidFill>
                  <a:srgbClr val="1C252B"/>
                </a:solidFill>
                <a:latin typeface="Segoe UI"/>
              </a:rPr>
              <a:t>’s own ping is sourced from </a:t>
            </a:r>
            <a:r>
              <a:rPr sz="1800" b="0" i="0">
                <a:solidFill>
                  <a:srgbClr val="1A5276"/>
                </a:solidFill>
                <a:latin typeface="Consolas"/>
              </a:rPr>
              <a:t>10.255.0.1</a:t>
            </a:r>
            <a:r>
              <a:rPr sz="1900" b="0" i="0">
                <a:solidFill>
                  <a:srgbClr val="1C252B"/>
                </a:solidFill>
                <a:latin typeface="Segoe UI"/>
              </a:rPr>
              <a:t>, which the far end knows about because it is the link between them. The PC’s traffic is sourced from </a:t>
            </a:r>
            <a:r>
              <a:rPr sz="1800" b="0" i="0">
                <a:solidFill>
                  <a:srgbClr val="1A5276"/>
                </a:solidFill>
                <a:latin typeface="Consolas"/>
              </a:rPr>
              <a:t>192.168.10.x</a:t>
            </a:r>
            <a:r>
              <a:rPr sz="1900" b="0" i="0">
                <a:solidFill>
                  <a:srgbClr val="1C252B"/>
                </a:solidFill>
                <a:latin typeface="Segoe UI"/>
              </a:rPr>
              <a:t>, and the far router has no route back to that subnet. The forward path is fine; the return path does not exist.</a:t>
            </a:r>
          </a:p>
          <a:p>
            <a:pPr algn="l">
              <a:lnSpc>
                <a:spcPct val="100000"/>
              </a:lnSpc>
              <a:spcAft>
                <a:spcPts val="1000"/>
              </a:spcAft>
            </a:pPr>
            <a:r>
              <a:rPr sz="1900" b="1" i="0">
                <a:solidFill>
                  <a:srgbClr val="1C252B"/>
                </a:solidFill>
                <a:latin typeface="Segoe UI"/>
              </a:rPr>
              <a:t>Confirm it</a:t>
            </a:r>
            <a:r>
              <a:rPr sz="1900" b="0" i="0">
                <a:solidFill>
                  <a:srgbClr val="1C252B"/>
                </a:solidFill>
                <a:latin typeface="Segoe UI"/>
              </a:rPr>
              <a:t> without leaving </a:t>
            </a:r>
            <a:r>
              <a:rPr sz="1800" b="0" i="0">
                <a:solidFill>
                  <a:srgbClr val="1A5276"/>
                </a:solidFill>
                <a:latin typeface="Consolas"/>
              </a:rPr>
              <a:t>R1</a:t>
            </a:r>
            <a:r>
              <a:rPr sz="1900" b="0" i="0">
                <a:solidFill>
                  <a:srgbClr val="1C252B"/>
                </a:solidFill>
                <a:latin typeface="Segoe UI"/>
              </a:rPr>
              <a:t>, using an extended ping that borrows the user’s source address:</a:t>
            </a:r>
          </a:p>
          <a:p>
            <a:pPr algn="l">
              <a:lnSpc>
                <a:spcPct val="100000"/>
              </a:lnSpc>
              <a:spcAft>
                <a:spcPts val="1000"/>
              </a:spcAft>
            </a:pPr>
            <a:r>
              <a:rPr sz="1900" b="0" i="0">
                <a:solidFill>
                  <a:srgbClr val="1C252B"/>
                </a:solidFill>
                <a:latin typeface="Segoe UI"/>
              </a:rPr>
              <a:t>Same destination, different source, opposite result — which is proof, not inference.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Add a route on the far router back to </a:t>
            </a:r>
            <a:r>
              <a:rPr sz="1800" b="0" i="0">
                <a:solidFill>
                  <a:srgbClr val="1A5276"/>
                </a:solidFill>
                <a:latin typeface="Consolas"/>
              </a:rPr>
              <a:t>192.168.10.0/24</a:t>
            </a:r>
            <a:r>
              <a:rPr sz="1900" b="0" i="0">
                <a:solidFill>
                  <a:srgbClr val="1C252B"/>
                </a:solidFill>
                <a:latin typeface="Segoe UI"/>
              </a:rPr>
              <a:t>. Then re-run the same extended ping and expect five exclamation marks.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table, then predict the path</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Topology.</a:t>
            </a:r>
            <a:r>
              <a:rPr sz="1900" b="0" i="0">
                <a:solidFill>
                  <a:srgbClr val="1C252B"/>
                </a:solidFill>
                <a:latin typeface="Segoe UI"/>
              </a:rPr>
              <a:t> Three routers in a line, a LAN on each end, and a second path between the outer two.</a:t>
            </a:r>
          </a:p>
        </p:txBody>
      </p:sp>
      <p:sp>
        <p:nvSpPr>
          <p:cNvPr id="8" name="bullets"/>
          <p:cNvSpPr txBox="1"/>
          <p:nvPr/>
        </p:nvSpPr>
        <p:spPr>
          <a:xfrm>
            <a:off x="685800" y="2328164"/>
            <a:ext cx="10820095" cy="4054348"/>
          </a:xfrm>
          <a:prstGeom prst="rect">
            <a:avLst/>
          </a:prstGeom>
          <a:noFill/>
        </p:spPr>
        <p:txBody>
          <a:bodyPr wrap="square" lIns="0" rIns="0" tIns="0" bIns="0">
            <a:spAutoFit/>
          </a:bodyPr>
          <a:lstStyle/>
          <a:p>
            <a:pPr marL="366776" indent="-366776">
              <a:lnSpc>
                <a:spcPct val="102000"/>
              </a:lnSpc>
              <a:spcAft>
                <a:spcPts val="900"/>
              </a:spcAft>
            </a:pPr>
            <a:r>
              <a:rPr sz="1900" b="1">
                <a:solidFill>
                  <a:srgbClr val="6C3483"/>
                </a:solidFill>
                <a:latin typeface="Segoe UI"/>
              </a:rPr>
              <a:t>1.  </a:t>
            </a:r>
            <a:r>
              <a:rPr sz="1900" b="0" i="0">
                <a:solidFill>
                  <a:srgbClr val="1C252B"/>
                </a:solidFill>
                <a:latin typeface="Segoe UI"/>
              </a:rPr>
              <a:t>Address everything and confirm the connected routes appear. Identify every </a:t>
            </a:r>
            <a:r>
              <a:rPr sz="1800" b="0" i="0">
                <a:solidFill>
                  <a:srgbClr val="1A5276"/>
                </a:solidFill>
                <a:latin typeface="Consolas"/>
              </a:rPr>
              <a:t>C</a:t>
            </a:r>
            <a:r>
              <a:rPr sz="1900" b="0" i="0">
                <a:solidFill>
                  <a:srgbClr val="1C252B"/>
                </a:solidFill>
                <a:latin typeface="Segoe UI"/>
              </a:rPr>
              <a:t> and </a:t>
            </a:r>
            <a:r>
              <a:rPr sz="1800" b="0" i="0">
                <a:solidFill>
                  <a:srgbClr val="1A5276"/>
                </a:solidFill>
                <a:latin typeface="Consolas"/>
              </a:rPr>
              <a:t>L</a:t>
            </a:r>
            <a:r>
              <a:rPr sz="1900" b="0" i="0">
                <a:solidFill>
                  <a:srgbClr val="1C252B"/>
                </a:solidFill>
                <a:latin typeface="Segoe UI"/>
              </a:rPr>
              <a:t> entry and explain each </a:t>
            </a:r>
            <a:r>
              <a:rPr sz="1800" b="0" i="0">
                <a:solidFill>
                  <a:srgbClr val="1A5276"/>
                </a:solidFill>
                <a:latin typeface="Consolas"/>
              </a:rPr>
              <a:t>L</a:t>
            </a:r>
            <a:r>
              <a:rPr sz="1900" b="0" i="0">
                <a:solidFill>
                  <a:srgbClr val="1C252B"/>
                </a:solidFill>
                <a:latin typeface="Segoe UI"/>
              </a:rPr>
              <a:t>.</a:t>
            </a:r>
          </a:p>
          <a:p>
            <a:pPr marL="366776" indent="-366776">
              <a:lnSpc>
                <a:spcPct val="102000"/>
              </a:lnSpc>
              <a:spcAft>
                <a:spcPts val="900"/>
              </a:spcAft>
            </a:pPr>
            <a:r>
              <a:rPr sz="1900" b="1">
                <a:solidFill>
                  <a:srgbClr val="6C3483"/>
                </a:solidFill>
                <a:latin typeface="Segoe UI"/>
              </a:rPr>
              <a:t>2.  </a:t>
            </a:r>
            <a:r>
              <a:rPr sz="1900" b="0" i="0">
                <a:solidFill>
                  <a:srgbClr val="1C252B"/>
                </a:solidFill>
                <a:latin typeface="Segoe UI"/>
              </a:rPr>
              <a:t>Add static routes so the two LANs can reach each other. Record the distance and metric shown.</a:t>
            </a:r>
          </a:p>
          <a:p>
            <a:pPr marL="366776" indent="-366776">
              <a:lnSpc>
                <a:spcPct val="102000"/>
              </a:lnSpc>
              <a:spcAft>
                <a:spcPts val="900"/>
              </a:spcAft>
            </a:pPr>
            <a:r>
              <a:rPr sz="1900" b="1">
                <a:solidFill>
                  <a:srgbClr val="6C3483"/>
                </a:solidFill>
                <a:latin typeface="Segoe UI"/>
              </a:rPr>
              <a:t>3.  </a:t>
            </a:r>
            <a:r>
              <a:rPr sz="1900" b="0" i="0">
                <a:solidFill>
                  <a:srgbClr val="1C252B"/>
                </a:solidFill>
                <a:latin typeface="Segoe UI"/>
              </a:rPr>
              <a:t>Add a default route on one router. Note the </a:t>
            </a:r>
            <a:r>
              <a:rPr sz="1800" b="0" i="0">
                <a:solidFill>
                  <a:srgbClr val="1A5276"/>
                </a:solidFill>
                <a:latin typeface="Consolas"/>
              </a:rPr>
              <a:t>S*</a:t>
            </a:r>
            <a:r>
              <a:rPr sz="1900" b="0" i="0">
                <a:solidFill>
                  <a:srgbClr val="1C252B"/>
                </a:solidFill>
                <a:latin typeface="Segoe UI"/>
              </a:rPr>
              <a:t> and the </a:t>
            </a:r>
            <a:r>
              <a:rPr sz="1900" b="0" i="1">
                <a:solidFill>
                  <a:srgbClr val="1C252B"/>
                </a:solidFill>
                <a:latin typeface="Segoe UI"/>
              </a:rPr>
              <a:t>gateway of last resort</a:t>
            </a:r>
            <a:r>
              <a:rPr sz="1900" b="0" i="0">
                <a:solidFill>
                  <a:srgbClr val="1C252B"/>
                </a:solidFill>
                <a:latin typeface="Segoe UI"/>
              </a:rPr>
              <a:t> line.</a:t>
            </a:r>
          </a:p>
          <a:p>
            <a:pPr marL="366776" indent="-366776">
              <a:lnSpc>
                <a:spcPct val="102000"/>
              </a:lnSpc>
              <a:spcAft>
                <a:spcPts val="900"/>
              </a:spcAft>
            </a:pPr>
            <a:r>
              <a:rPr sz="1900" b="1">
                <a:solidFill>
                  <a:srgbClr val="6C3483"/>
                </a:solidFill>
                <a:latin typeface="Segoe UI"/>
              </a:rPr>
              <a:t>4.  </a:t>
            </a:r>
            <a:r>
              <a:rPr sz="1900" b="0" i="0">
                <a:solidFill>
                  <a:srgbClr val="1C252B"/>
                </a:solidFill>
                <a:latin typeface="Segoe UI"/>
              </a:rPr>
              <a:t>Write down, before testing, which entry a packet to each of four addresses would use. Verify each with </a:t>
            </a:r>
            <a:r>
              <a:rPr sz="1800" b="0" i="0">
                <a:solidFill>
                  <a:srgbClr val="1A5276"/>
                </a:solidFill>
                <a:latin typeface="Consolas"/>
              </a:rPr>
              <a:t>show ip route &lt;address&gt;</a:t>
            </a:r>
            <a:r>
              <a:rPr sz="1900" b="0" i="0">
                <a:solidFill>
                  <a:srgbClr val="1C252B"/>
                </a:solidFill>
                <a:latin typeface="Segoe UI"/>
              </a:rPr>
              <a:t>.</a:t>
            </a:r>
          </a:p>
          <a:p>
            <a:pPr marL="366776" indent="-366776">
              <a:lnSpc>
                <a:spcPct val="102000"/>
              </a:lnSpc>
              <a:spcAft>
                <a:spcPts val="900"/>
              </a:spcAft>
            </a:pPr>
            <a:r>
              <a:rPr sz="1900" b="1">
                <a:solidFill>
                  <a:srgbClr val="6C3483"/>
                </a:solidFill>
                <a:latin typeface="Segoe UI"/>
              </a:rPr>
              <a:t>5.  </a:t>
            </a:r>
            <a:r>
              <a:rPr sz="1900" b="0" i="0">
                <a:solidFill>
                  <a:srgbClr val="1C252B"/>
                </a:solidFill>
                <a:latin typeface="Segoe UI"/>
              </a:rPr>
              <a:t>Add a second, more specific route for one destination and confirm it wins over the less specific one, regardless of distance.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table, then predict the path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6C3483"/>
                </a:solidFill>
                <a:latin typeface="Segoe UI"/>
              </a:rPr>
              <a:t>6.  </a:t>
            </a:r>
            <a:r>
              <a:rPr sz="2000" b="0" i="0">
                <a:solidFill>
                  <a:srgbClr val="1C252B"/>
                </a:solidFill>
                <a:latin typeface="Segoe UI"/>
              </a:rPr>
              <a:t>Remove the reverse route on the far router and reproduce the one-way fault above using </a:t>
            </a:r>
            <a:r>
              <a:rPr sz="1900" b="0" i="0">
                <a:solidFill>
                  <a:srgbClr val="1A5276"/>
                </a:solidFill>
                <a:latin typeface="Consolas"/>
              </a:rPr>
              <a:t>ping ... source</a:t>
            </a:r>
            <a:r>
              <a:rPr sz="2000" b="0" i="0">
                <a:solidFill>
                  <a:srgbClr val="1C252B"/>
                </a:solidFill>
                <a:latin typeface="Segoe UI"/>
              </a:rPr>
              <a:t>.</a:t>
            </a:r>
          </a:p>
          <a:p>
            <a:pPr marL="386080" indent="-386080">
              <a:lnSpc>
                <a:spcPct val="102000"/>
              </a:lnSpc>
              <a:spcAft>
                <a:spcPts val="900"/>
              </a:spcAft>
            </a:pPr>
            <a:r>
              <a:rPr sz="2000" b="1">
                <a:solidFill>
                  <a:srgbClr val="6C3483"/>
                </a:solidFill>
                <a:latin typeface="Segoe UI"/>
              </a:rPr>
              <a:t>7.  </a:t>
            </a:r>
            <a:r>
              <a:rPr sz="2000" b="1" i="0">
                <a:solidFill>
                  <a:srgbClr val="1C252B"/>
                </a:solidFill>
                <a:latin typeface="Segoe UI"/>
              </a:rPr>
              <a:t>Extension.</a:t>
            </a:r>
            <a:r>
              <a:rPr sz="2000" b="0" i="0">
                <a:solidFill>
                  <a:srgbClr val="1C252B"/>
                </a:solidFill>
                <a:latin typeface="Segoe UI"/>
              </a:rPr>
              <a:t> Add a route pointing to </a:t>
            </a:r>
            <a:r>
              <a:rPr sz="1900" b="0" i="0">
                <a:solidFill>
                  <a:srgbClr val="1A5276"/>
                </a:solidFill>
                <a:latin typeface="Consolas"/>
              </a:rPr>
              <a:t>Null0</a:t>
            </a:r>
            <a:r>
              <a:rPr sz="2000" b="0" i="0">
                <a:solidFill>
                  <a:srgbClr val="1C252B"/>
                </a:solidFill>
                <a:latin typeface="Segoe UI"/>
              </a:rPr>
              <a:t> for an unused prefix and observe how traffic to it fails compared with having no route at all.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table contains </a:t>
            </a:r>
            <a:r>
              <a:rPr sz="2900" b="0" i="0">
                <a:solidFill>
                  <a:srgbClr val="FFFFFF"/>
                </a:solidFill>
                <a:latin typeface="Consolas"/>
              </a:rPr>
              <a:t>10.0.0.0/8</a:t>
            </a:r>
            <a:r>
              <a:rPr sz="3000" b="0" i="0">
                <a:solidFill>
                  <a:srgbClr val="FFFFFF"/>
                </a:solidFill>
                <a:latin typeface="Segoe UI"/>
              </a:rPr>
              <a:t> via OSPF and </a:t>
            </a:r>
            <a:r>
              <a:rPr sz="2900" b="0" i="0">
                <a:solidFill>
                  <a:srgbClr val="FFFFFF"/>
                </a:solidFill>
                <a:latin typeface="Consolas"/>
              </a:rPr>
              <a:t>10.5.0.0/16</a:t>
            </a:r>
            <a:r>
              <a:rPr sz="3000" b="0" i="0">
                <a:solidFill>
                  <a:srgbClr val="FFFFFF"/>
                </a:solidFill>
                <a:latin typeface="Segoe UI"/>
              </a:rPr>
              <a:t> via a static route. Which carries a packet to </a:t>
            </a:r>
            <a:r>
              <a:rPr sz="2900" b="0" i="0">
                <a:solidFill>
                  <a:srgbClr val="FFFFFF"/>
                </a:solidFill>
                <a:latin typeface="Consolas"/>
              </a:rPr>
              <a:t>10.5.1.1</a:t>
            </a:r>
            <a:r>
              <a:rPr sz="3000" b="0" i="0">
                <a:solidFill>
                  <a:srgbClr val="FFFFFF"/>
                </a:solidFill>
                <a:latin typeface="Segoe UI"/>
              </a:rPr>
              <a:t>,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table contains </a:t>
            </a:r>
            <a:r>
              <a:rPr sz="1900" b="1" i="0">
                <a:solidFill>
                  <a:srgbClr val="1A5276"/>
                </a:solidFill>
                <a:latin typeface="Consolas"/>
              </a:rPr>
              <a:t>10.0.0.0/8</a:t>
            </a:r>
            <a:r>
              <a:rPr sz="2000" b="1" i="0">
                <a:solidFill>
                  <a:srgbClr val="1A5276"/>
                </a:solidFill>
                <a:latin typeface="Segoe UI"/>
              </a:rPr>
              <a:t> via OSPF and </a:t>
            </a:r>
            <a:r>
              <a:rPr sz="1900" b="1" i="0">
                <a:solidFill>
                  <a:srgbClr val="1A5276"/>
                </a:solidFill>
                <a:latin typeface="Consolas"/>
              </a:rPr>
              <a:t>10.5.0.0/16</a:t>
            </a:r>
            <a:r>
              <a:rPr sz="2000" b="1" i="0">
                <a:solidFill>
                  <a:srgbClr val="1A5276"/>
                </a:solidFill>
                <a:latin typeface="Segoe UI"/>
              </a:rPr>
              <a:t> via a static route. Which carries a packet to </a:t>
            </a:r>
            <a:r>
              <a:rPr sz="1900" b="1" i="0">
                <a:solidFill>
                  <a:srgbClr val="1A5276"/>
                </a:solidFill>
                <a:latin typeface="Consolas"/>
              </a:rPr>
              <a:t>10.5.1.1</a:t>
            </a:r>
            <a:r>
              <a:rPr sz="2000" b="1" i="0">
                <a:solidFill>
                  <a:srgbClr val="1A5276"/>
                </a:solidFill>
                <a:latin typeface="Segoe UI"/>
              </a:rPr>
              <a:t>, and why?</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static </a:t>
            </a:r>
            <a:r>
              <a:rPr sz="1800" b="0" i="0">
                <a:solidFill>
                  <a:srgbClr val="1A5276"/>
                </a:solidFill>
                <a:latin typeface="Consolas"/>
              </a:rPr>
              <a:t>10.5.0.0/16</a:t>
            </a:r>
            <a:r>
              <a:rPr sz="1900" b="0" i="0">
                <a:solidFill>
                  <a:srgbClr val="1C252B"/>
                </a:solidFill>
                <a:latin typeface="Segoe UI"/>
              </a:rPr>
              <a:t>, because it is the longer prefix match. Administrative distance never enters into it — longest prefix match is applied first and decides between </a:t>
            </a:r>
            <a:r>
              <a:rPr sz="1900" b="0" i="1">
                <a:solidFill>
                  <a:srgbClr val="1C252B"/>
                </a:solidFill>
                <a:latin typeface="Segoe UI"/>
              </a:rPr>
              <a:t>entries</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Both OSPF and a static route offer </a:t>
            </a:r>
            <a:r>
              <a:rPr sz="2900" b="0" i="0">
                <a:solidFill>
                  <a:srgbClr val="FFFFFF"/>
                </a:solidFill>
                <a:latin typeface="Consolas"/>
              </a:rPr>
              <a:t>192.168.50.0/24</a:t>
            </a:r>
            <a:r>
              <a:rPr sz="3000" b="0" i="0">
                <a:solidFill>
                  <a:srgbClr val="FFFFFF"/>
                </a:solidFill>
                <a:latin typeface="Segoe UI"/>
              </a:rPr>
              <a:t>. Which is installed, and what happens to the other?</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Both OSPF and a static route offer </a:t>
            </a:r>
            <a:r>
              <a:rPr sz="1900" b="1" i="0">
                <a:solidFill>
                  <a:srgbClr val="1A5276"/>
                </a:solidFill>
                <a:latin typeface="Consolas"/>
              </a:rPr>
              <a:t>192.168.50.0/24</a:t>
            </a:r>
            <a:r>
              <a:rPr sz="2000" b="1" i="0">
                <a:solidFill>
                  <a:srgbClr val="1A5276"/>
                </a:solidFill>
                <a:latin typeface="Segoe UI"/>
              </a:rPr>
              <a:t>. Which is installed, and what happens to the other?</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static route, distance 1 against OSPF’s 110. The OSPF route is not installed in the routing table but remains in the OSPF database, so it will appear if the static route is removed or its next hop becomes unreachable.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route exists but pings fail. Name three causes and the single command that distinguishes the most common one.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route exists but pings fail. Name three causes and the single command that distinguishes the most common one.</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 layer 2 problem on the path; an ACL blocking the traffic; or no return route at the far end. </a:t>
            </a:r>
            <a:r>
              <a:rPr sz="1800" b="0" i="0">
                <a:solidFill>
                  <a:srgbClr val="1A5276"/>
                </a:solidFill>
                <a:latin typeface="Consolas"/>
              </a:rPr>
              <a:t>traceroute</a:t>
            </a:r>
            <a:r>
              <a:rPr sz="1900" b="0" i="0">
                <a:solidFill>
                  <a:srgbClr val="1C252B"/>
                </a:solidFill>
                <a:latin typeface="Segoe UI"/>
              </a:rPr>
              <a:t> distinguishes the most common by showing where the packets stop, and whether they get there and cannot get back.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15. The Routing Table and How a Router Decides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One table, many sources. </a:t>
            </a:r>
            <a:r>
              <a:rPr sz="1900" b="0" i="0">
                <a:solidFill>
                  <a:srgbClr val="1A5276"/>
                </a:solidFill>
                <a:latin typeface="Consolas"/>
              </a:rPr>
              <a:t>C</a:t>
            </a:r>
            <a:r>
              <a:rPr sz="2000" b="0" i="0">
                <a:solidFill>
                  <a:srgbClr val="1C252B"/>
                </a:solidFill>
                <a:latin typeface="Segoe UI"/>
              </a:rPr>
              <a:t> connected, </a:t>
            </a:r>
            <a:r>
              <a:rPr sz="1900" b="0" i="0">
                <a:solidFill>
                  <a:srgbClr val="1A5276"/>
                </a:solidFill>
                <a:latin typeface="Consolas"/>
              </a:rPr>
              <a:t>L</a:t>
            </a:r>
            <a:r>
              <a:rPr sz="2000" b="0" i="0">
                <a:solidFill>
                  <a:srgbClr val="1C252B"/>
                </a:solidFill>
                <a:latin typeface="Segoe UI"/>
              </a:rPr>
              <a:t> the router’s own address, </a:t>
            </a:r>
            <a:r>
              <a:rPr sz="1900" b="0" i="0">
                <a:solidFill>
                  <a:srgbClr val="1A5276"/>
                </a:solidFill>
                <a:latin typeface="Consolas"/>
              </a:rPr>
              <a:t>S</a:t>
            </a:r>
            <a:r>
              <a:rPr sz="2000" b="0" i="0">
                <a:solidFill>
                  <a:srgbClr val="1C252B"/>
                </a:solidFill>
                <a:latin typeface="Segoe UI"/>
              </a:rPr>
              <a:t> static, </a:t>
            </a:r>
            <a:r>
              <a:rPr sz="1900" b="0" i="0">
                <a:solidFill>
                  <a:srgbClr val="1A5276"/>
                </a:solidFill>
                <a:latin typeface="Consolas"/>
              </a:rPr>
              <a:t>O</a:t>
            </a:r>
            <a:r>
              <a:rPr sz="2000" b="0" i="0">
                <a:solidFill>
                  <a:srgbClr val="1C252B"/>
                </a:solidFill>
                <a:latin typeface="Segoe UI"/>
              </a:rPr>
              <a:t> OSPF.</a:t>
            </a:r>
          </a:p>
          <a:p>
            <a:pPr marL="228600" indent="-228600">
              <a:lnSpc>
                <a:spcPct val="102000"/>
              </a:lnSpc>
              <a:spcAft>
                <a:spcPts val="900"/>
              </a:spcAft>
            </a:pPr>
            <a:r>
              <a:rPr sz="2000" b="1">
                <a:solidFill>
                  <a:srgbClr val="6C3483"/>
                </a:solidFill>
                <a:latin typeface="Segoe UI"/>
              </a:rPr>
              <a:t>•  </a:t>
            </a:r>
            <a:r>
              <a:rPr sz="1900" b="0" i="0">
                <a:solidFill>
                  <a:srgbClr val="1A5276"/>
                </a:solidFill>
                <a:latin typeface="Consolas"/>
              </a:rPr>
              <a:t>[distance/metric]</a:t>
            </a:r>
            <a:r>
              <a:rPr sz="2000" b="0" i="0">
                <a:solidFill>
                  <a:srgbClr val="1C252B"/>
                </a:solidFill>
                <a:latin typeface="Segoe UI"/>
              </a:rPr>
              <a:t>. Distance ranks the source; metric ranks paths within one protocol and is never compared across protocols.</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Longest prefix match decides first. Distance only breaks ties between equal-length prefixes.</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Connected 0, static 1, OSPF 110. A static route displaces OSPF and will not fail over unless you make it float.</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A route in the table proves intent, not reachability. Test the return path with an extended ping.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One table, many sources. </a:t>
            </a:r>
            <a:r>
              <a:rPr sz="1800" b="0" i="0">
                <a:solidFill>
                  <a:srgbClr val="FFFFFF"/>
                </a:solidFill>
                <a:latin typeface="Consolas"/>
              </a:rPr>
              <a:t>C</a:t>
            </a:r>
            <a:r>
              <a:rPr sz="1900" b="0" i="0">
                <a:solidFill>
                  <a:srgbClr val="FFFFFF"/>
                </a:solidFill>
                <a:latin typeface="Segoe UI"/>
              </a:rPr>
              <a:t> connected, </a:t>
            </a:r>
            <a:r>
              <a:rPr sz="1800" b="0" i="0">
                <a:solidFill>
                  <a:srgbClr val="FFFFFF"/>
                </a:solidFill>
                <a:latin typeface="Consolas"/>
              </a:rPr>
              <a:t>L</a:t>
            </a:r>
            <a:r>
              <a:rPr sz="1900" b="0" i="0">
                <a:solidFill>
                  <a:srgbClr val="FFFFFF"/>
                </a:solidFill>
                <a:latin typeface="Segoe UI"/>
              </a:rPr>
              <a:t> the router’s own address, </a:t>
            </a:r>
            <a:r>
              <a:rPr sz="1800" b="0" i="0">
                <a:solidFill>
                  <a:srgbClr val="FFFFFF"/>
                </a:solidFill>
                <a:latin typeface="Consolas"/>
              </a:rPr>
              <a:t>S</a:t>
            </a:r>
            <a:r>
              <a:rPr sz="1900" b="0" i="0">
                <a:solidFill>
                  <a:srgbClr val="FFFFFF"/>
                </a:solidFill>
                <a:latin typeface="Segoe UI"/>
              </a:rPr>
              <a:t> static, </a:t>
            </a:r>
            <a:r>
              <a:rPr sz="1800" b="0" i="0">
                <a:solidFill>
                  <a:srgbClr val="FFFFFF"/>
                </a:solidFill>
                <a:latin typeface="Consolas"/>
              </a:rPr>
              <a:t>O</a:t>
            </a:r>
            <a:r>
              <a:rPr sz="1900" b="0" i="0">
                <a:solidFill>
                  <a:srgbClr val="FFFFFF"/>
                </a:solidFill>
                <a:latin typeface="Segoe UI"/>
              </a:rPr>
              <a:t> OSPF.</a:t>
            </a:r>
          </a:p>
          <a:p>
            <a:pPr marL="217169" indent="-217169">
              <a:spcAft>
                <a:spcPts val="900"/>
              </a:spcAft>
            </a:pPr>
            <a:r>
              <a:rPr sz="1900">
                <a:solidFill>
                  <a:srgbClr val="C8D6E5"/>
                </a:solidFill>
              </a:rPr>
              <a:t>•  </a:t>
            </a:r>
            <a:r>
              <a:rPr sz="1800" b="0" i="0">
                <a:solidFill>
                  <a:srgbClr val="FFFFFF"/>
                </a:solidFill>
                <a:latin typeface="Consolas"/>
              </a:rPr>
              <a:t>[distance/metric]</a:t>
            </a:r>
            <a:r>
              <a:rPr sz="1900" b="0" i="0">
                <a:solidFill>
                  <a:srgbClr val="FFFFFF"/>
                </a:solidFill>
                <a:latin typeface="Segoe UI"/>
              </a:rPr>
              <a:t>. Distance ranks the source; metric ranks paths within one protocol and is never compared across protocols.</a:t>
            </a:r>
          </a:p>
          <a:p>
            <a:pPr marL="217169" indent="-217169">
              <a:spcAft>
                <a:spcPts val="900"/>
              </a:spcAft>
            </a:pPr>
            <a:r>
              <a:rPr sz="1900">
                <a:solidFill>
                  <a:srgbClr val="C8D6E5"/>
                </a:solidFill>
              </a:rPr>
              <a:t>•  </a:t>
            </a:r>
            <a:r>
              <a:rPr sz="1900" b="0" i="0">
                <a:solidFill>
                  <a:srgbClr val="FFFFFF"/>
                </a:solidFill>
                <a:latin typeface="Segoe UI"/>
              </a:rPr>
              <a:t>Longest prefix match decides first. Distance only breaks ties between equal-length prefixes.</a:t>
            </a:r>
          </a:p>
          <a:p>
            <a:pPr marL="217169" indent="-217169">
              <a:spcAft>
                <a:spcPts val="900"/>
              </a:spcAft>
            </a:pPr>
            <a:r>
              <a:rPr sz="1900">
                <a:solidFill>
                  <a:srgbClr val="C8D6E5"/>
                </a:solidFill>
              </a:rPr>
              <a:t>•  </a:t>
            </a:r>
            <a:r>
              <a:rPr sz="1900" b="0" i="0">
                <a:solidFill>
                  <a:srgbClr val="FFFFFF"/>
                </a:solidFill>
                <a:latin typeface="Segoe UI"/>
              </a:rPr>
              <a:t>Connected 0, static 1, OSPF 110. A static route displaces OSPF and will not fail over unless you make it float.</a:t>
            </a:r>
          </a:p>
        </p:txBody>
      </p:sp>
      <p:sp>
        <p:nvSpPr>
          <p:cNvPr id="5" name="nextbg"/>
          <p:cNvSpPr/>
          <p:nvPr/>
        </p:nvSpPr>
        <p:spPr>
          <a:xfrm>
            <a:off x="685800" y="5303520"/>
            <a:ext cx="10820095" cy="82296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16 — Static Routing, IPv4 and IPv6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