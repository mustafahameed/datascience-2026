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The Physical Layer and Cable Faults. Blueprint topics: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Layer and Cable Faults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straight-through cable connects pin 1 to pin 1; a crossover swaps the transmit and receive pairs. Historically you needed a crossover between two devices of the same kind — switch to switch, PC to router — and a straight-through between unlike devices. Auto-MDIX makes the switch detect and correct this itself, and it is on by default on every modern platform. It is still examinable because it fails in two situations: when a port has been hard-coded to a speed and duplex (Auto-MDIX requires auto-negotiation to be on), and on older or simulated gear. If a link between two switches will not come up and both ends are hard-coded, the pin-out is a live suspect.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a healthy port: every error counter zero, full duplex, and the speed matching the media. Learn what this looks like, because you diagnose by difference.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1.1 names signal levels. On a fibre link the transceiver reports how much light it is transmitting and receiving, in dBm, and a receive level below the optic’s sensitivity produces exactly the same symptom as a bad copper cable — a link that is up with climbing CRC errors.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receive power of -28.9 dBm against a typical sensitivity of about -23 dBm means the link is starved of light. Causes, in the order worth checking: a dirty or unseated connector, a bend or break in the fibre, too many patch panels, a run longer than the optic supports, or a single-mode optic on multimode fibre.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02</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The Physical Layer and Cable Faults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 — Foundations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1.1"/>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1.1"/>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F618D"/>
                </a:solidFill>
                <a:latin typeface="Segoe UI"/>
              </a:rPr>
              <a:t>1.1</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part1bg"/>
          <p:cNvSpPr/>
          <p:nvPr/>
        </p:nvSpPr>
        <p:spPr>
          <a:xfrm>
            <a:off x="685800" y="1792224"/>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F618D"/>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F618D"/>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Select</a:t>
            </a:r>
            <a:r>
              <a:rPr sz="2000" b="0" i="0">
                <a:solidFill>
                  <a:srgbClr val="1C252B"/>
                </a:solidFill>
                <a:latin typeface="Segoe UI"/>
              </a:rPr>
              <a:t> the right medium — copper, multimode fibre, single-mode fibre — for a given distance and speed.</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Read</a:t>
            </a:r>
            <a:r>
              <a:rPr sz="2000" b="0" i="0">
                <a:solidFill>
                  <a:srgbClr val="1C252B"/>
                </a:solidFill>
                <a:latin typeface="Segoe UI"/>
              </a:rPr>
              <a:t> the interface counters that expose a physical fault, and say which counter implicates which cause.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Diagnose</a:t>
            </a:r>
            <a:r>
              <a:rPr sz="2000" b="0" i="0">
                <a:solidFill>
                  <a:srgbClr val="1C252B"/>
                </a:solidFill>
                <a:latin typeface="Segoe UI"/>
              </a:rPr>
              <a:t> the classic faults: duplex mismatch, speed mismatch, wrong cable type, bad pin-out, dirty or over-long fibre, and a transceiver operating outside its optical budget.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Distinguish</a:t>
            </a:r>
            <a:r>
              <a:rPr sz="2000" b="0" i="0">
                <a:solidFill>
                  <a:srgbClr val="1C252B"/>
                </a:solidFill>
                <a:latin typeface="Segoe UI"/>
              </a:rPr>
              <a:t> a port that is down from a port that is up and damaging traffic — the second is far more dangerous.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int"/>
          <p:cNvSpPr/>
          <p:nvPr/>
        </p:nvSpPr>
        <p:spPr>
          <a:xfrm>
            <a:off x="685800" y="1517904"/>
            <a:ext cx="10820095" cy="10068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1 for the layered model and the idea of a collision domain.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erm-twisted pair"/>
          <p:cNvSpPr/>
          <p:nvPr/>
        </p:nvSpPr>
        <p:spPr>
          <a:xfrm>
            <a:off x="685800" y="1609344"/>
            <a:ext cx="132549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twisted pair"/>
          <p:cNvSpPr/>
          <p:nvPr/>
        </p:nvSpPr>
        <p:spPr>
          <a:xfrm>
            <a:off x="6858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twisted pair"/>
          <p:cNvSpPr txBox="1"/>
          <p:nvPr/>
        </p:nvSpPr>
        <p:spPr>
          <a:xfrm>
            <a:off x="850392" y="1700784"/>
            <a:ext cx="99631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twisted pair</a:t>
            </a:r>
          </a:p>
        </p:txBody>
      </p:sp>
      <p:sp>
        <p:nvSpPr>
          <p:cNvPr id="10" name="term-Cat5e/Cat6"/>
          <p:cNvSpPr/>
          <p:nvPr/>
        </p:nvSpPr>
        <p:spPr>
          <a:xfrm>
            <a:off x="2139315" y="1609344"/>
            <a:ext cx="130454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Cat5e/Cat6"/>
          <p:cNvSpPr/>
          <p:nvPr/>
        </p:nvSpPr>
        <p:spPr>
          <a:xfrm>
            <a:off x="2139315"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Cat5e/Cat6"/>
          <p:cNvSpPr txBox="1"/>
          <p:nvPr/>
        </p:nvSpPr>
        <p:spPr>
          <a:xfrm>
            <a:off x="2303907" y="1700784"/>
            <a:ext cx="97535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Cat5e/Cat6</a:t>
            </a:r>
          </a:p>
        </p:txBody>
      </p:sp>
      <p:sp>
        <p:nvSpPr>
          <p:cNvPr id="13" name="term-multimode"/>
          <p:cNvSpPr/>
          <p:nvPr/>
        </p:nvSpPr>
        <p:spPr>
          <a:xfrm>
            <a:off x="3571874" y="1609344"/>
            <a:ext cx="122453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multimode"/>
          <p:cNvSpPr/>
          <p:nvPr/>
        </p:nvSpPr>
        <p:spPr>
          <a:xfrm>
            <a:off x="357187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multimode"/>
          <p:cNvSpPr txBox="1"/>
          <p:nvPr/>
        </p:nvSpPr>
        <p:spPr>
          <a:xfrm>
            <a:off x="3736466" y="1700784"/>
            <a:ext cx="89534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multimode</a:t>
            </a:r>
          </a:p>
        </p:txBody>
      </p:sp>
      <p:sp>
        <p:nvSpPr>
          <p:cNvPr id="16" name="term-single-mode"/>
          <p:cNvSpPr/>
          <p:nvPr/>
        </p:nvSpPr>
        <p:spPr>
          <a:xfrm>
            <a:off x="4924424" y="1609344"/>
            <a:ext cx="13883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single-mode"/>
          <p:cNvSpPr/>
          <p:nvPr/>
        </p:nvSpPr>
        <p:spPr>
          <a:xfrm>
            <a:off x="492442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single-mode"/>
          <p:cNvSpPr txBox="1"/>
          <p:nvPr/>
        </p:nvSpPr>
        <p:spPr>
          <a:xfrm>
            <a:off x="5089016" y="1700784"/>
            <a:ext cx="105918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single-mode</a:t>
            </a:r>
          </a:p>
        </p:txBody>
      </p:sp>
      <p:sp>
        <p:nvSpPr>
          <p:cNvPr id="19" name="term-SFP"/>
          <p:cNvSpPr/>
          <p:nvPr/>
        </p:nvSpPr>
        <p:spPr>
          <a:xfrm>
            <a:off x="6440804" y="1609344"/>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SFP"/>
          <p:cNvSpPr/>
          <p:nvPr/>
        </p:nvSpPr>
        <p:spPr>
          <a:xfrm>
            <a:off x="644080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SFP"/>
          <p:cNvSpPr txBox="1"/>
          <p:nvPr/>
        </p:nvSpPr>
        <p:spPr>
          <a:xfrm>
            <a:off x="6605396" y="1700784"/>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SFP</a:t>
            </a:r>
          </a:p>
        </p:txBody>
      </p:sp>
      <p:sp>
        <p:nvSpPr>
          <p:cNvPr id="22" name="term-attenuation"/>
          <p:cNvSpPr/>
          <p:nvPr/>
        </p:nvSpPr>
        <p:spPr>
          <a:xfrm>
            <a:off x="7252334" y="1609344"/>
            <a:ext cx="12378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attenuation"/>
          <p:cNvSpPr/>
          <p:nvPr/>
        </p:nvSpPr>
        <p:spPr>
          <a:xfrm>
            <a:off x="725233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attenuation"/>
          <p:cNvSpPr txBox="1"/>
          <p:nvPr/>
        </p:nvSpPr>
        <p:spPr>
          <a:xfrm>
            <a:off x="7416927" y="1700784"/>
            <a:ext cx="9086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attenuation</a:t>
            </a:r>
          </a:p>
        </p:txBody>
      </p:sp>
      <p:sp>
        <p:nvSpPr>
          <p:cNvPr id="25" name="term-auto-negotiation"/>
          <p:cNvSpPr/>
          <p:nvPr/>
        </p:nvSpPr>
        <p:spPr>
          <a:xfrm>
            <a:off x="8618219" y="1609344"/>
            <a:ext cx="168363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auto-negotiation"/>
          <p:cNvSpPr/>
          <p:nvPr/>
        </p:nvSpPr>
        <p:spPr>
          <a:xfrm>
            <a:off x="8618219"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auto-negotiation"/>
          <p:cNvSpPr txBox="1"/>
          <p:nvPr/>
        </p:nvSpPr>
        <p:spPr>
          <a:xfrm>
            <a:off x="8782811" y="1700784"/>
            <a:ext cx="135445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auto-negotiation</a:t>
            </a:r>
          </a:p>
        </p:txBody>
      </p:sp>
      <p:sp>
        <p:nvSpPr>
          <p:cNvPr id="28" name="term-duplex mismatch"/>
          <p:cNvSpPr/>
          <p:nvPr/>
        </p:nvSpPr>
        <p:spPr>
          <a:xfrm>
            <a:off x="685800" y="2212848"/>
            <a:ext cx="176745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duplex mismatch"/>
          <p:cNvSpPr/>
          <p:nvPr/>
        </p:nvSpPr>
        <p:spPr>
          <a:xfrm>
            <a:off x="68580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duplex mismatch"/>
          <p:cNvSpPr txBox="1"/>
          <p:nvPr/>
        </p:nvSpPr>
        <p:spPr>
          <a:xfrm>
            <a:off x="850392" y="2304288"/>
            <a:ext cx="14382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duplex mismatch</a:t>
            </a:r>
          </a:p>
        </p:txBody>
      </p:sp>
      <p:sp>
        <p:nvSpPr>
          <p:cNvPr id="31" name="term-CRC error"/>
          <p:cNvSpPr/>
          <p:nvPr/>
        </p:nvSpPr>
        <p:spPr>
          <a:xfrm>
            <a:off x="2581275" y="2212848"/>
            <a:ext cx="11064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CRC error"/>
          <p:cNvSpPr/>
          <p:nvPr/>
        </p:nvSpPr>
        <p:spPr>
          <a:xfrm>
            <a:off x="258127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CRC error"/>
          <p:cNvSpPr txBox="1"/>
          <p:nvPr/>
        </p:nvSpPr>
        <p:spPr>
          <a:xfrm>
            <a:off x="2745867" y="2304288"/>
            <a:ext cx="77724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CRC error</a:t>
            </a:r>
          </a:p>
        </p:txBody>
      </p:sp>
      <p:sp>
        <p:nvSpPr>
          <p:cNvPr id="34" name="term-runt"/>
          <p:cNvSpPr/>
          <p:nvPr/>
        </p:nvSpPr>
        <p:spPr>
          <a:xfrm>
            <a:off x="3815715" y="2212848"/>
            <a:ext cx="63779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runt"/>
          <p:cNvSpPr/>
          <p:nvPr/>
        </p:nvSpPr>
        <p:spPr>
          <a:xfrm>
            <a:off x="381571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runt"/>
          <p:cNvSpPr txBox="1"/>
          <p:nvPr/>
        </p:nvSpPr>
        <p:spPr>
          <a:xfrm>
            <a:off x="3980306" y="2304288"/>
            <a:ext cx="30861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runt</a:t>
            </a:r>
          </a:p>
        </p:txBody>
      </p:sp>
      <p:sp>
        <p:nvSpPr>
          <p:cNvPr id="37" name="term-giant"/>
          <p:cNvSpPr/>
          <p:nvPr/>
        </p:nvSpPr>
        <p:spPr>
          <a:xfrm>
            <a:off x="4581525" y="2212848"/>
            <a:ext cx="73494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giant"/>
          <p:cNvSpPr/>
          <p:nvPr/>
        </p:nvSpPr>
        <p:spPr>
          <a:xfrm>
            <a:off x="458152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giant"/>
          <p:cNvSpPr txBox="1"/>
          <p:nvPr/>
        </p:nvSpPr>
        <p:spPr>
          <a:xfrm>
            <a:off x="4746117" y="2304288"/>
            <a:ext cx="40576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giant</a:t>
            </a:r>
          </a:p>
        </p:txBody>
      </p:sp>
      <p:sp>
        <p:nvSpPr>
          <p:cNvPr id="40" name="term-late collision"/>
          <p:cNvSpPr/>
          <p:nvPr/>
        </p:nvSpPr>
        <p:spPr>
          <a:xfrm>
            <a:off x="5444490" y="2212848"/>
            <a:ext cx="140931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late collision"/>
          <p:cNvSpPr/>
          <p:nvPr/>
        </p:nvSpPr>
        <p:spPr>
          <a:xfrm>
            <a:off x="544449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late collision"/>
          <p:cNvSpPr txBox="1"/>
          <p:nvPr/>
        </p:nvSpPr>
        <p:spPr>
          <a:xfrm>
            <a:off x="5609082" y="2304288"/>
            <a:ext cx="108013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late collision</a:t>
            </a:r>
          </a:p>
        </p:txBody>
      </p:sp>
      <p:sp>
        <p:nvSpPr>
          <p:cNvPr id="43" name="term-input error"/>
          <p:cNvSpPr/>
          <p:nvPr/>
        </p:nvSpPr>
        <p:spPr>
          <a:xfrm>
            <a:off x="6981824" y="2212848"/>
            <a:ext cx="115785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input error"/>
          <p:cNvSpPr/>
          <p:nvPr/>
        </p:nvSpPr>
        <p:spPr>
          <a:xfrm>
            <a:off x="6981824"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input error"/>
          <p:cNvSpPr txBox="1"/>
          <p:nvPr/>
        </p:nvSpPr>
        <p:spPr>
          <a:xfrm>
            <a:off x="7146416" y="2304288"/>
            <a:ext cx="8286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input error</a:t>
            </a:r>
          </a:p>
        </p:txBody>
      </p:sp>
      <p:sp>
        <p:nvSpPr>
          <p:cNvPr id="46" name="term-pin-out"/>
          <p:cNvSpPr/>
          <p:nvPr/>
        </p:nvSpPr>
        <p:spPr>
          <a:xfrm>
            <a:off x="8267699" y="2212848"/>
            <a:ext cx="92925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b-pin-out"/>
          <p:cNvSpPr/>
          <p:nvPr/>
        </p:nvSpPr>
        <p:spPr>
          <a:xfrm>
            <a:off x="8267699"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t-pin-out"/>
          <p:cNvSpPr txBox="1"/>
          <p:nvPr/>
        </p:nvSpPr>
        <p:spPr>
          <a:xfrm>
            <a:off x="8432292" y="2304288"/>
            <a:ext cx="6000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pin-out</a:t>
            </a:r>
          </a:p>
        </p:txBody>
      </p:sp>
      <p:sp>
        <p:nvSpPr>
          <p:cNvPr id="49" name="term-straight-through"/>
          <p:cNvSpPr/>
          <p:nvPr/>
        </p:nvSpPr>
        <p:spPr>
          <a:xfrm>
            <a:off x="9324975" y="2212848"/>
            <a:ext cx="164363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b-straight-through"/>
          <p:cNvSpPr/>
          <p:nvPr/>
        </p:nvSpPr>
        <p:spPr>
          <a:xfrm>
            <a:off x="932497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t-straight-through"/>
          <p:cNvSpPr txBox="1"/>
          <p:nvPr/>
        </p:nvSpPr>
        <p:spPr>
          <a:xfrm>
            <a:off x="9489567" y="2304288"/>
            <a:ext cx="131444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straight-through</a:t>
            </a:r>
          </a:p>
        </p:txBody>
      </p:sp>
      <p:sp>
        <p:nvSpPr>
          <p:cNvPr id="52" name="term-crossover"/>
          <p:cNvSpPr/>
          <p:nvPr/>
        </p:nvSpPr>
        <p:spPr>
          <a:xfrm>
            <a:off x="685800" y="2816352"/>
            <a:ext cx="11235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b-crossover"/>
          <p:cNvSpPr/>
          <p:nvPr/>
        </p:nvSpPr>
        <p:spPr>
          <a:xfrm>
            <a:off x="685800" y="2816352"/>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t-crossover"/>
          <p:cNvSpPr txBox="1"/>
          <p:nvPr/>
        </p:nvSpPr>
        <p:spPr>
          <a:xfrm>
            <a:off x="850392" y="2907792"/>
            <a:ext cx="7943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crossover</a:t>
            </a:r>
          </a:p>
        </p:txBody>
      </p:sp>
      <p:sp>
        <p:nvSpPr>
          <p:cNvPr id="55" name="term-Auto-MDIX"/>
          <p:cNvSpPr/>
          <p:nvPr/>
        </p:nvSpPr>
        <p:spPr>
          <a:xfrm>
            <a:off x="1937385" y="2816352"/>
            <a:ext cx="125691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b-Auto-MDIX"/>
          <p:cNvSpPr/>
          <p:nvPr/>
        </p:nvSpPr>
        <p:spPr>
          <a:xfrm>
            <a:off x="1937385" y="2816352"/>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t-Auto-MDIX"/>
          <p:cNvSpPr txBox="1"/>
          <p:nvPr/>
        </p:nvSpPr>
        <p:spPr>
          <a:xfrm>
            <a:off x="2101977" y="2907792"/>
            <a:ext cx="92773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Auto-MDIX</a:t>
            </a:r>
          </a:p>
        </p:txBody>
      </p:sp>
      <p:sp>
        <p:nvSpPr>
          <p:cNvPr id="58" name="termnote"/>
          <p:cNvSpPr txBox="1"/>
          <p:nvPr/>
        </p:nvSpPr>
        <p:spPr>
          <a:xfrm>
            <a:off x="685800" y="3566160"/>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topic wording</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F618D"/>
                </a:solidFill>
                <a:latin typeface="Segoe UI"/>
              </a:rPr>
              <a:t> 1.1 </a:t>
            </a:r>
            <a:r>
              <a:rPr sz="2000" b="0" i="0">
                <a:solidFill>
                  <a:srgbClr val="1C252B"/>
                </a:solidFill>
                <a:latin typeface="Segoe UI"/>
              </a:rPr>
              <a:t> says </a:t>
            </a:r>
            <a:r>
              <a:rPr sz="2000" b="0" i="1">
                <a:solidFill>
                  <a:srgbClr val="1C252B"/>
                </a:solidFill>
                <a:latin typeface="Segoe UI"/>
              </a:rPr>
              <a:t>diagnose</a:t>
            </a:r>
            <a:r>
              <a:rPr sz="2000" b="0" i="0">
                <a:solidFill>
                  <a:srgbClr val="1C252B"/>
                </a:solidFill>
                <a:latin typeface="Segoe UI"/>
              </a:rPr>
              <a:t> interface and cable issues, and then names them: “collisions, errors, mismatched duplex, speed, distance, interface, signal levels, pin out, and cable types”. That list is a syllabus in itself. You will not be asked to describe a cable; you will be shown counters and asked what is wrong.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Choosing the medium</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Bits per second, and why it is not bytes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int"/>
          <p:cNvSpPr/>
          <p:nvPr/>
        </p:nvSpPr>
        <p:spPr>
          <a:xfrm>
            <a:off x="685800" y="1517904"/>
            <a:ext cx="10820095" cy="473202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1800" b="0" i="0">
                <a:solidFill>
                  <a:srgbClr val="1C252B"/>
                </a:solidFill>
                <a:latin typeface="Segoe UI"/>
              </a:rPr>
              <a:t>Link speeds are always quoted in </a:t>
            </a:r>
            <a:r>
              <a:rPr sz="1800" b="1" i="0">
                <a:solidFill>
                  <a:srgbClr val="1C252B"/>
                </a:solidFill>
                <a:latin typeface="Segoe UI"/>
              </a:rPr>
              <a:t>bits</a:t>
            </a:r>
            <a:r>
              <a:rPr sz="1800" b="0" i="0">
                <a:solidFill>
                  <a:srgbClr val="1C252B"/>
                </a:solidFill>
                <a:latin typeface="Segoe UI"/>
              </a:rPr>
              <a:t> per second: 1 Gbps is one thousand million </a:t>
            </a:r>
            <a:r>
              <a:rPr sz="1800" b="0" i="1">
                <a:solidFill>
                  <a:srgbClr val="1C252B"/>
                </a:solidFill>
                <a:latin typeface="Segoe UI"/>
              </a:rPr>
              <a:t>bits</a:t>
            </a:r>
            <a:r>
              <a:rPr sz="1800" b="0" i="0">
                <a:solidFill>
                  <a:srgbClr val="1C252B"/>
                </a:solidFill>
                <a:latin typeface="Segoe UI"/>
              </a:rPr>
              <a:t> each second. File sizes are quoted in </a:t>
            </a:r>
            <a:r>
              <a:rPr sz="1800" b="1" i="0">
                <a:solidFill>
                  <a:srgbClr val="1C252B"/>
                </a:solidFill>
                <a:latin typeface="Segoe UI"/>
              </a:rPr>
              <a:t>bytes</a:t>
            </a:r>
            <a:r>
              <a:rPr sz="1800" b="0" i="0">
                <a:solidFill>
                  <a:srgbClr val="1C252B"/>
                </a:solidFill>
                <a:latin typeface="Segoe UI"/>
              </a:rPr>
              <a:t>, and a byte is eight bits.</a:t>
            </a:r>
          </a:p>
          <a:p>
            <a:pPr algn="l">
              <a:lnSpc>
                <a:spcPct val="100000"/>
              </a:lnSpc>
              <a:spcAft>
                <a:spcPts val="1000"/>
              </a:spcAft>
            </a:pPr>
            <a:r>
              <a:rPr sz="1800" b="0" i="0">
                <a:solidFill>
                  <a:srgbClr val="1C252B"/>
                </a:solidFill>
                <a:latin typeface="Segoe UI"/>
              </a:rPr>
              <a:t>So a 1 Gbps link moves at most about 125 megabytes per second, not 1000 — divide by eight. The lower-case </a:t>
            </a:r>
            <a:r>
              <a:rPr sz="1700" b="0" i="0">
                <a:solidFill>
                  <a:srgbClr val="1A5276"/>
                </a:solidFill>
                <a:latin typeface="Consolas"/>
              </a:rPr>
              <a:t>b</a:t>
            </a:r>
            <a:r>
              <a:rPr sz="1800" b="0" i="0">
                <a:solidFill>
                  <a:srgbClr val="1C252B"/>
                </a:solidFill>
                <a:latin typeface="Segoe UI"/>
              </a:rPr>
              <a:t> means bits and the upper-case </a:t>
            </a:r>
            <a:r>
              <a:rPr sz="1700" b="0" i="0">
                <a:solidFill>
                  <a:srgbClr val="1A5276"/>
                </a:solidFill>
                <a:latin typeface="Consolas"/>
              </a:rPr>
              <a:t>B</a:t>
            </a:r>
            <a:r>
              <a:rPr sz="1800" b="0" i="0">
                <a:solidFill>
                  <a:srgbClr val="1C252B"/>
                </a:solidFill>
                <a:latin typeface="Segoe UI"/>
              </a:rPr>
              <a:t> means bytes, which is the entire difference between </a:t>
            </a:r>
            <a:r>
              <a:rPr sz="1700" b="0" i="0">
                <a:solidFill>
                  <a:srgbClr val="1A5276"/>
                </a:solidFill>
                <a:latin typeface="Consolas"/>
              </a:rPr>
              <a:t>Mbps</a:t>
            </a:r>
            <a:r>
              <a:rPr sz="1800" b="0" i="0">
                <a:solidFill>
                  <a:srgbClr val="1C252B"/>
                </a:solidFill>
                <a:latin typeface="Segoe UI"/>
              </a:rPr>
              <a:t> and </a:t>
            </a:r>
            <a:r>
              <a:rPr sz="1700" b="0" i="0">
                <a:solidFill>
                  <a:srgbClr val="1A5276"/>
                </a:solidFill>
                <a:latin typeface="Consolas"/>
              </a:rPr>
              <a:t>MBps</a:t>
            </a:r>
            <a:r>
              <a:rPr sz="1800" b="0" i="0">
                <a:solidFill>
                  <a:srgbClr val="1C252B"/>
                </a:solidFill>
                <a:latin typeface="Segoe UI"/>
              </a:rPr>
              <a:t>.</a:t>
            </a:r>
          </a:p>
          <a:p>
            <a:pPr algn="l">
              <a:lnSpc>
                <a:spcPct val="100000"/>
              </a:lnSpc>
              <a:spcAft>
                <a:spcPts val="1000"/>
              </a:spcAft>
            </a:pPr>
            <a:r>
              <a:rPr sz="1800" b="0" i="0">
                <a:solidFill>
                  <a:srgbClr val="1C252B"/>
                </a:solidFill>
                <a:latin typeface="Segoe UI"/>
              </a:rPr>
              <a:t>Two further distinctions worth having straight from the start:</a:t>
            </a:r>
          </a:p>
        </p:txBody>
      </p:sp>
      <p:sp>
        <p:nvSpPr>
          <p:cNvPr id="9" name="bullets"/>
          <p:cNvSpPr txBox="1"/>
          <p:nvPr/>
        </p:nvSpPr>
        <p:spPr>
          <a:xfrm>
            <a:off x="978408" y="3886200"/>
            <a:ext cx="10234879" cy="2496312"/>
          </a:xfrm>
          <a:prstGeom prst="rect">
            <a:avLst/>
          </a:prstGeom>
          <a:noFill/>
        </p:spPr>
        <p:txBody>
          <a:bodyPr wrap="square" lIns="0" rIns="0" tIns="0" bIns="0">
            <a:spAutoFit/>
          </a:bodyPr>
          <a:lstStyle/>
          <a:p>
            <a:pPr marL="205739" indent="-205739">
              <a:lnSpc>
                <a:spcPct val="102000"/>
              </a:lnSpc>
              <a:spcAft>
                <a:spcPts val="900"/>
              </a:spcAft>
            </a:pPr>
            <a:r>
              <a:rPr sz="1800" b="1">
                <a:solidFill>
                  <a:srgbClr val="1F618D"/>
                </a:solidFill>
                <a:latin typeface="Segoe UI"/>
              </a:rPr>
              <a:t>•  </a:t>
            </a:r>
            <a:r>
              <a:rPr sz="1800" b="1" i="0">
                <a:solidFill>
                  <a:srgbClr val="1F618D"/>
                </a:solidFill>
                <a:latin typeface="Segoe UI"/>
              </a:rPr>
              <a:t>Bandwidth</a:t>
            </a:r>
            <a:r>
              <a:rPr sz="1800" b="0" i="0">
                <a:solidFill>
                  <a:srgbClr val="1C252B"/>
                </a:solidFill>
                <a:latin typeface="Segoe UI"/>
              </a:rPr>
              <a:t> is the rated capacity of the link — what it could carry.</a:t>
            </a:r>
          </a:p>
          <a:p>
            <a:pPr marL="205739" indent="-205739">
              <a:lnSpc>
                <a:spcPct val="102000"/>
              </a:lnSpc>
              <a:spcAft>
                <a:spcPts val="900"/>
              </a:spcAft>
            </a:pPr>
            <a:r>
              <a:rPr sz="1800" b="1">
                <a:solidFill>
                  <a:srgbClr val="1F618D"/>
                </a:solidFill>
                <a:latin typeface="Segoe UI"/>
              </a:rPr>
              <a:t>•  </a:t>
            </a:r>
            <a:r>
              <a:rPr sz="1800" b="1" i="0">
                <a:solidFill>
                  <a:srgbClr val="1F618D"/>
                </a:solidFill>
                <a:latin typeface="Segoe UI"/>
              </a:rPr>
              <a:t>Throughput</a:t>
            </a:r>
            <a:r>
              <a:rPr sz="1800" b="0" i="0">
                <a:solidFill>
                  <a:srgbClr val="1C252B"/>
                </a:solidFill>
                <a:latin typeface="Segoe UI"/>
              </a:rPr>
              <a:t> is what you actually got, after overhead, contention, errors and whatever the far end could manage.</a:t>
            </a:r>
          </a:p>
        </p:txBody>
      </p:sp>
      <p:sp>
        <p:nvSpPr>
          <p:cNvPr id="10" name="tailbody"/>
          <p:cNvSpPr txBox="1"/>
          <p:nvPr/>
        </p:nvSpPr>
        <p:spPr>
          <a:xfrm>
            <a:off x="978408" y="5289804"/>
            <a:ext cx="10234879" cy="1037844"/>
          </a:xfrm>
          <a:prstGeom prst="rect">
            <a:avLst/>
          </a:prstGeom>
          <a:noFill/>
        </p:spPr>
        <p:txBody>
          <a:bodyPr wrap="square" anchor="t" lIns="0" rIns="0" tIns="0" bIns="0">
            <a:spAutoFit/>
          </a:bodyPr>
          <a:lstStyle/>
          <a:p>
            <a:pPr algn="l">
              <a:lnSpc>
                <a:spcPct val="100000"/>
              </a:lnSpc>
              <a:spcAft>
                <a:spcPts val="600"/>
              </a:spcAft>
            </a:pPr>
            <a:r>
              <a:rPr sz="1800" b="0" i="0">
                <a:solidFill>
                  <a:srgbClr val="1C252B"/>
                </a:solidFill>
                <a:latin typeface="Segoe UI"/>
              </a:rPr>
              <a:t>Throughput is always lower, and a user reporting “slow” is reporting throughput. Nothing in this chapter changes bandwidth; several things in it quietly destroy throughput.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Duplex, and attenuation</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int"/>
          <p:cNvSpPr/>
          <p:nvPr/>
        </p:nvSpPr>
        <p:spPr>
          <a:xfrm>
            <a:off x="685800" y="1517904"/>
            <a:ext cx="10820095" cy="2207768"/>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1" i="0">
                <a:solidFill>
                  <a:srgbClr val="1F618D"/>
                </a:solidFill>
                <a:latin typeface="Segoe UI"/>
              </a:rPr>
              <a:t>Duplex</a:t>
            </a:r>
            <a:r>
              <a:rPr sz="2000" b="0" i="0">
                <a:solidFill>
                  <a:srgbClr val="1C252B"/>
                </a:solidFill>
                <a:latin typeface="Segoe UI"/>
              </a:rPr>
              <a:t> is who may transmit, and when.</a:t>
            </a:r>
          </a:p>
        </p:txBody>
      </p:sp>
      <p:sp>
        <p:nvSpPr>
          <p:cNvPr id="9" name="bullets"/>
          <p:cNvSpPr txBox="1"/>
          <p:nvPr/>
        </p:nvSpPr>
        <p:spPr>
          <a:xfrm>
            <a:off x="978408" y="2250440"/>
            <a:ext cx="10234879" cy="41320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Half duplex</a:t>
            </a:r>
            <a:r>
              <a:rPr sz="2000" b="0" i="0">
                <a:solidFill>
                  <a:srgbClr val="1C252B"/>
                </a:solidFill>
                <a:latin typeface="Segoe UI"/>
              </a:rPr>
              <a:t> — one end at a time, like a walkie-talkie. If both transmit at once the signals overlap and the frames are destroyed; that overlap is a </a:t>
            </a:r>
            <a:r>
              <a:rPr sz="2000" b="1" i="0">
                <a:solidFill>
                  <a:srgbClr val="1F618D"/>
                </a:solidFill>
                <a:latin typeface="Segoe UI"/>
              </a:rPr>
              <a:t>collision</a:t>
            </a:r>
            <a:r>
              <a:rPr sz="2000" b="0" i="0">
                <a:solidFill>
                  <a:srgbClr val="1C252B"/>
                </a:solidFill>
                <a:latin typeface="Segoe UI"/>
              </a:rPr>
              <a:t>, and each end is expected to detect it, back off and retry.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Duplex, and attenuation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int"/>
          <p:cNvSpPr/>
          <p:nvPr/>
        </p:nvSpPr>
        <p:spPr>
          <a:xfrm>
            <a:off x="685800" y="1517904"/>
            <a:ext cx="10820095" cy="4610608"/>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Full duplex</a:t>
            </a:r>
            <a:r>
              <a:rPr sz="2000" b="0" i="0">
                <a:solidFill>
                  <a:srgbClr val="1C252B"/>
                </a:solidFill>
                <a:latin typeface="Segoe UI"/>
              </a:rPr>
              <a:t> — both ends at once, on separate pairs of wires, like a telephone call. </a:t>
            </a:r>
            <a:r>
              <a:rPr sz="2000" b="1" i="0">
                <a:solidFill>
                  <a:srgbClr val="1C252B"/>
                </a:solidFill>
                <a:latin typeface="Segoe UI"/>
              </a:rPr>
              <a:t>Collisions are impossible</a:t>
            </a:r>
            <a:r>
              <a:rPr sz="2000" b="0" i="0">
                <a:solidFill>
                  <a:srgbClr val="1C252B"/>
                </a:solidFill>
                <a:latin typeface="Segoe UI"/>
              </a:rPr>
              <a:t>, so a full-duplex port that reports collisions is telling you something is badly wrong. That is the single most useful sentence in this chapter.</a:t>
            </a:r>
          </a:p>
        </p:txBody>
      </p:sp>
      <p:sp>
        <p:nvSpPr>
          <p:cNvPr id="9" name="tailbody"/>
          <p:cNvSpPr txBox="1"/>
          <p:nvPr/>
        </p:nvSpPr>
        <p:spPr>
          <a:xfrm>
            <a:off x="978408" y="3359912"/>
            <a:ext cx="10234879" cy="2967736"/>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Modern switched links are full duplex, and both ends normally agree on it through </a:t>
            </a:r>
            <a:r>
              <a:rPr sz="2000" b="1" i="0">
                <a:solidFill>
                  <a:srgbClr val="1F618D"/>
                </a:solidFill>
                <a:latin typeface="Segoe UI"/>
              </a:rPr>
              <a:t>auto-negotiation</a:t>
            </a:r>
            <a:r>
              <a:rPr sz="2000" b="0" i="0">
                <a:solidFill>
                  <a:srgbClr val="1C252B"/>
                </a:solidFill>
                <a:latin typeface="Segoe UI"/>
              </a:rPr>
              <a:t> — a brief exchange when the link comes up in which each end states what it can do and both pick the best they share.</a:t>
            </a:r>
          </a:p>
          <a:p>
            <a:pPr algn="l">
              <a:lnSpc>
                <a:spcPct val="100000"/>
              </a:lnSpc>
              <a:spcAft>
                <a:spcPts val="600"/>
              </a:spcAft>
            </a:pPr>
            <a:r>
              <a:rPr sz="2000" b="1" i="0">
                <a:solidFill>
                  <a:srgbClr val="1F618D"/>
                </a:solidFill>
                <a:latin typeface="Segoe UI"/>
              </a:rPr>
              <a:t>Attenuation</a:t>
            </a:r>
            <a:r>
              <a:rPr sz="2000" b="0" i="0">
                <a:solidFill>
                  <a:srgbClr val="1C252B"/>
                </a:solidFill>
                <a:latin typeface="Segoe UI"/>
              </a:rPr>
              <a:t> is separate and simpler: a signal loses strength with distance and through material. Every distance limit in the table below is really an attenuation limit — the point at which the far end can no longer reliably tell a 1 from a 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Distance is a fault, not a preference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int"/>
          <p:cNvSpPr/>
          <p:nvPr/>
        </p:nvSpPr>
        <p:spPr>
          <a:xfrm>
            <a:off x="685800" y="1517904"/>
            <a:ext cx="10820095" cy="23276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exam names </a:t>
            </a:r>
            <a:r>
              <a:rPr sz="2000" b="0" i="1">
                <a:solidFill>
                  <a:srgbClr val="1C252B"/>
                </a:solidFill>
                <a:latin typeface="Segoe UI"/>
              </a:rPr>
              <a:t>distance</a:t>
            </a:r>
            <a:r>
              <a:rPr sz="2000" b="0" i="0">
                <a:solidFill>
                  <a:srgbClr val="1C252B"/>
                </a:solidFill>
                <a:latin typeface="Segoe UI"/>
              </a:rPr>
              <a:t> as a diagnosable issue for a reason. Exceed the reach of a medium and the link does not fail cleanly — it comes up and then corrupts frames, which shows as climbing CRC errors rather than a down port. A 95 m run that works in winter and fails in summer is a real phenomenon, and the answer is fibre, not another patch lead.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The counters that name the fault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interfaces GigabitEthernet0/1</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codebg"/>
          <p:cNvSpPr/>
          <p:nvPr/>
        </p:nvSpPr>
        <p:spPr>
          <a:xfrm>
            <a:off x="685800" y="1901952"/>
            <a:ext cx="10820095" cy="364540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315163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GigabitEthernet0/1 is up, line protocol is up (connected)</a:t>
            </a:r>
          </a:p>
          <a:p>
            <a:pPr>
              <a:lnSpc>
                <a:spcPct val="100000"/>
              </a:lnSpc>
              <a:spcAft>
                <a:spcPts val="0"/>
              </a:spcAft>
            </a:pPr>
            <a:r>
              <a:rPr sz="1600">
                <a:solidFill>
                  <a:srgbClr val="E8EEF2"/>
                </a:solidFill>
                <a:latin typeface="Consolas"/>
              </a:rPr>
              <a:t>  Hardware is Gigabit Ethernet, address is 00d0.58a1.0201</a:t>
            </a:r>
          </a:p>
          <a:p>
            <a:pPr>
              <a:lnSpc>
                <a:spcPct val="100000"/>
              </a:lnSpc>
              <a:spcAft>
                <a:spcPts val="0"/>
              </a:spcAft>
            </a:pPr>
            <a:r>
              <a:rPr sz="1600">
                <a:solidFill>
                  <a:srgbClr val="E8EEF2"/>
                </a:solidFill>
                <a:latin typeface="Consolas"/>
              </a:rPr>
              <a:t>  MTU 1500 bytes, BW 1000000 Kbit, DLY 10 usec</a:t>
            </a:r>
          </a:p>
          <a:p>
            <a:pPr>
              <a:lnSpc>
                <a:spcPct val="100000"/>
              </a:lnSpc>
              <a:spcAft>
                <a:spcPts val="0"/>
              </a:spcAft>
            </a:pPr>
            <a:r>
              <a:rPr sz="1600">
                <a:solidFill>
                  <a:srgbClr val="E8EEF2"/>
                </a:solidFill>
                <a:latin typeface="Consolas"/>
              </a:rPr>
              <a:t>  Full-duplex, 1000Mb/s, media type is 10/100/1000BaseTX</a:t>
            </a:r>
          </a:p>
          <a:p>
            <a:pPr>
              <a:lnSpc>
                <a:spcPct val="100000"/>
              </a:lnSpc>
              <a:spcAft>
                <a:spcPts val="0"/>
              </a:spcAft>
            </a:pPr>
            <a:r>
              <a:rPr sz="1600">
                <a:solidFill>
                  <a:srgbClr val="E8EEF2"/>
                </a:solidFill>
                <a:latin typeface="Consolas"/>
              </a:rPr>
              <a:t>  5 minute input rate 41000 bits/sec, 12 packets/sec</a:t>
            </a:r>
          </a:p>
          <a:p>
            <a:pPr>
              <a:lnSpc>
                <a:spcPct val="100000"/>
              </a:lnSpc>
              <a:spcAft>
                <a:spcPts val="0"/>
              </a:spcAft>
            </a:pPr>
            <a:r>
              <a:rPr sz="1600">
                <a:solidFill>
                  <a:srgbClr val="E8EEF2"/>
                </a:solidFill>
                <a:latin typeface="Consolas"/>
              </a:rPr>
              <a:t>     284517 packets input, 39281044 bytes, 0 no buffer</a:t>
            </a:r>
          </a:p>
          <a:p>
            <a:pPr>
              <a:lnSpc>
                <a:spcPct val="100000"/>
              </a:lnSpc>
              <a:spcAft>
                <a:spcPts val="0"/>
              </a:spcAft>
            </a:pPr>
            <a:r>
              <a:rPr sz="1600">
                <a:solidFill>
                  <a:srgbClr val="E8EEF2"/>
                </a:solidFill>
                <a:latin typeface="Consolas"/>
              </a:rPr>
              <a:t>     Received 1204 broadcasts (0 multicasts)</a:t>
            </a:r>
          </a:p>
          <a:p>
            <a:pPr>
              <a:lnSpc>
                <a:spcPct val="100000"/>
              </a:lnSpc>
              <a:spcAft>
                <a:spcPts val="0"/>
              </a:spcAft>
            </a:pPr>
            <a:r>
              <a:rPr sz="1600">
                <a:solidFill>
                  <a:srgbClr val="E8EEF2"/>
                </a:solidFill>
                <a:latin typeface="Consolas"/>
              </a:rPr>
              <a:t>     0 runts, 0 giants, 0 throttles</a:t>
            </a:r>
          </a:p>
          <a:p>
            <a:pPr>
              <a:lnSpc>
                <a:spcPct val="100000"/>
              </a:lnSpc>
              <a:spcAft>
                <a:spcPts val="0"/>
              </a:spcAft>
            </a:pPr>
            <a:r>
              <a:rPr sz="1600">
                <a:solidFill>
                  <a:srgbClr val="E8EEF2"/>
                </a:solidFill>
                <a:latin typeface="Consolas"/>
              </a:rPr>
              <a:t>     0 input errors, 0 CRC, 0 frame, 0 overrun, 0 ignored</a:t>
            </a:r>
          </a:p>
          <a:p>
            <a:pPr>
              <a:lnSpc>
                <a:spcPct val="100000"/>
              </a:lnSpc>
              <a:spcAft>
                <a:spcPts val="0"/>
              </a:spcAft>
            </a:pPr>
            <a:r>
              <a:rPr sz="1600">
                <a:solidFill>
                  <a:srgbClr val="E8EEF2"/>
                </a:solidFill>
                <a:latin typeface="Consolas"/>
              </a:rPr>
              <a:t>     271033 packets output, 33771201 bytes, 0 underruns</a:t>
            </a:r>
          </a:p>
          <a:p>
            <a:pPr>
              <a:lnSpc>
                <a:spcPct val="100000"/>
              </a:lnSpc>
              <a:spcAft>
                <a:spcPts val="0"/>
              </a:spcAft>
            </a:pPr>
            <a:r>
              <a:rPr sz="1600">
                <a:solidFill>
                  <a:srgbClr val="E8EEF2"/>
                </a:solidFill>
                <a:latin typeface="Consolas"/>
              </a:rPr>
              <a:t>     0 output errors, 0 collisions, 0 interface resets</a:t>
            </a:r>
          </a:p>
          <a:p>
            <a:pPr>
              <a:lnSpc>
                <a:spcPct val="100000"/>
              </a:lnSpc>
              <a:spcAft>
                <a:spcPts val="0"/>
              </a:spcAft>
            </a:pPr>
            <a:r>
              <a:rPr sz="1600">
                <a:solidFill>
                  <a:srgbClr val="E8EEF2"/>
                </a:solidFill>
                <a:latin typeface="Consolas"/>
              </a:rPr>
              <a:t>     0 late collision, 0 deferred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duplex mismatch, in one paragraph</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tint"/>
          <p:cNvSpPr/>
          <p:nvPr/>
        </p:nvSpPr>
        <p:spPr>
          <a:xfrm>
            <a:off x="685800" y="1517904"/>
            <a:ext cx="10820095" cy="37398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Auto-negotiation lets two ports agree on speed and duplex. If one end is set to </a:t>
            </a:r>
            <a:r>
              <a:rPr sz="1900" b="0" i="0">
                <a:solidFill>
                  <a:srgbClr val="1A5276"/>
                </a:solidFill>
                <a:latin typeface="Consolas"/>
              </a:rPr>
              <a:t>duplex full</a:t>
            </a:r>
            <a:r>
              <a:rPr sz="2000" b="0" i="0">
                <a:solidFill>
                  <a:srgbClr val="1C252B"/>
                </a:solidFill>
                <a:latin typeface="Segoe UI"/>
              </a:rPr>
              <a:t> by hand and the other is left on auto, the auto end cannot detect duplex, falls back to half, and you have a mismatch. The half-duplex end listens before transmitting and treats simultaneous transmission as a collision; the full-duplex end transmits whenever it likes. The link stays </a:t>
            </a:r>
            <a:r>
              <a:rPr sz="2000" b="0" i="1">
                <a:solidFill>
                  <a:srgbClr val="1C252B"/>
                </a:solidFill>
                <a:latin typeface="Segoe UI"/>
              </a:rPr>
              <a:t>up</a:t>
            </a:r>
            <a:r>
              <a:rPr sz="2000" b="0" i="0">
                <a:solidFill>
                  <a:srgbClr val="1C252B"/>
                </a:solidFill>
                <a:latin typeface="Segoe UI"/>
              </a:rPr>
              <a:t>. It just loses a percentage of every conversation, and the symptom the user reports is “the network is slow”, not “the network is down”.</a:t>
            </a:r>
          </a:p>
          <a:p>
            <a:pPr algn="l">
              <a:lnSpc>
                <a:spcPct val="100000"/>
              </a:lnSpc>
              <a:spcAft>
                <a:spcPts val="1000"/>
              </a:spcAft>
            </a:pPr>
            <a:r>
              <a:rPr sz="2000" b="0" i="0">
                <a:solidFill>
                  <a:srgbClr val="1C252B"/>
                </a:solidFill>
                <a:latin typeface="Segoe UI"/>
              </a:rPr>
              <a:t>The fix is to set both ends the same way. The rule of thumb is: leave both on auto, or hard-code both. Never one of each.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hard-coded access port, both ends matching</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GigabitEthernet0/1</a:t>
            </a:r>
          </a:p>
          <a:p>
            <a:pPr>
              <a:lnSpc>
                <a:spcPct val="100000"/>
              </a:lnSpc>
              <a:spcAft>
                <a:spcPts val="0"/>
              </a:spcAft>
            </a:pPr>
            <a:r>
              <a:rPr sz="1600">
                <a:solidFill>
                  <a:srgbClr val="E8EEF2"/>
                </a:solidFill>
                <a:latin typeface="Consolas"/>
              </a:rPr>
              <a:t> description Link to SW2 - speed and duplex fixed at both ends</a:t>
            </a:r>
          </a:p>
          <a:p>
            <a:pPr>
              <a:lnSpc>
                <a:spcPct val="100000"/>
              </a:lnSpc>
              <a:spcAft>
                <a:spcPts val="0"/>
              </a:spcAft>
            </a:pPr>
            <a:r>
              <a:rPr sz="1600">
                <a:solidFill>
                  <a:srgbClr val="E8EEF2"/>
                </a:solidFill>
                <a:latin typeface="Consolas"/>
              </a:rPr>
              <a:t> speed 1000</a:t>
            </a:r>
          </a:p>
          <a:p>
            <a:pPr>
              <a:lnSpc>
                <a:spcPct val="100000"/>
              </a:lnSpc>
              <a:spcAft>
                <a:spcPts val="0"/>
              </a:spcAft>
            </a:pPr>
            <a:r>
              <a:rPr sz="1600">
                <a:solidFill>
                  <a:srgbClr val="E8EEF2"/>
                </a:solidFill>
                <a:latin typeface="Consolas"/>
              </a:rPr>
              <a:t> duplex full</a:t>
            </a:r>
          </a:p>
          <a:p>
            <a:pPr>
              <a:lnSpc>
                <a:spcPct val="100000"/>
              </a:lnSpc>
              <a:spcAft>
                <a:spcPts val="0"/>
              </a:spcAft>
            </a:pPr>
            <a:r>
              <a:rPr sz="1600">
                <a:solidFill>
                  <a:srgbClr val="E8EEF2"/>
                </a:solidFill>
                <a:latin typeface="Consolas"/>
              </a:rPr>
              <a:t> no shutdown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interfaces GigabitEthernet0/25 transceiver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Optical   Optical</a:t>
            </a:r>
          </a:p>
          <a:p>
            <a:pPr>
              <a:lnSpc>
                <a:spcPct val="100000"/>
              </a:lnSpc>
              <a:spcAft>
                <a:spcPts val="0"/>
              </a:spcAft>
            </a:pPr>
            <a:r>
              <a:rPr sz="1600">
                <a:solidFill>
                  <a:srgbClr val="E8EEF2"/>
                </a:solidFill>
                <a:latin typeface="Consolas"/>
              </a:rPr>
              <a:t>           Temperature  Voltage  Tx Power  Rx Power</a:t>
            </a:r>
          </a:p>
          <a:p>
            <a:pPr>
              <a:lnSpc>
                <a:spcPct val="100000"/>
              </a:lnSpc>
              <a:spcAft>
                <a:spcPts val="0"/>
              </a:spcAft>
            </a:pPr>
            <a:r>
              <a:rPr sz="1600">
                <a:solidFill>
                  <a:srgbClr val="E8EEF2"/>
                </a:solidFill>
                <a:latin typeface="Consolas"/>
              </a:rPr>
              <a:t>Port       (Celsius)    (Volts)  (dBm)     (dBm)</a:t>
            </a:r>
          </a:p>
          <a:p>
            <a:pPr>
              <a:lnSpc>
                <a:spcPct val="100000"/>
              </a:lnSpc>
              <a:spcAft>
                <a:spcPts val="0"/>
              </a:spcAft>
            </a:pPr>
            <a:r>
              <a:rPr sz="1600">
                <a:solidFill>
                  <a:srgbClr val="E8EEF2"/>
                </a:solidFill>
                <a:latin typeface="Consolas"/>
              </a:rPr>
              <a:t>---------  -----------  -------  --------  --------</a:t>
            </a:r>
          </a:p>
          <a:p>
            <a:pPr>
              <a:lnSpc>
                <a:spcPct val="100000"/>
              </a:lnSpc>
              <a:spcAft>
                <a:spcPts val="0"/>
              </a:spcAft>
            </a:pPr>
            <a:r>
              <a:rPr sz="1600">
                <a:solidFill>
                  <a:srgbClr val="E8EEF2"/>
                </a:solidFill>
                <a:latin typeface="Consolas"/>
              </a:rPr>
              <a:t>Gi0/25       33.2         3.31     -2.4     -28.9</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Fibre and signal levels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Replacing the cable first.</a:t>
            </a:r>
            <a:r>
              <a:rPr sz="2000" b="0" i="0">
                <a:solidFill>
                  <a:srgbClr val="1C252B"/>
                </a:solidFill>
                <a:latin typeface="Segoe UI"/>
              </a:rPr>
              <a:t> It is the most expensive check in time and the least likely single cause on a link that has been working. Read the counters first: they tell you which of six causes it is.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Treating “up/up” as healthy.</a:t>
            </a:r>
            <a:r>
              <a:rPr sz="2000" b="0" i="0">
                <a:solidFill>
                  <a:srgbClr val="1C252B"/>
                </a:solidFill>
                <a:latin typeface="Segoe UI"/>
              </a:rPr>
              <a:t> A port can be up, passing traffic, and corrupting five per cent of it. The exam will show you exactly this and expect you not to declare it fine.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Hard-coding one end.</a:t>
            </a:r>
            <a:r>
              <a:rPr sz="2000" b="0" i="0">
                <a:solidFill>
                  <a:srgbClr val="1C252B"/>
                </a:solidFill>
                <a:latin typeface="Segoe UI"/>
              </a:rPr>
              <a:t> The commonest way to create a duplex mismatch is to fix one side “to be safe”.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Reading raw totals instead of a rate.</a:t>
            </a:r>
            <a:r>
              <a:rPr sz="2000" b="0" i="0">
                <a:solidFill>
                  <a:srgbClr val="1C252B"/>
                </a:solidFill>
                <a:latin typeface="Segoe UI"/>
              </a:rPr>
              <a:t> Counters accumulate since the last clear. Ten thousand CRC errors over two years is noise; ten thousand since yesterday is a fault. Use </a:t>
            </a:r>
            <a:r>
              <a:rPr sz="1900" b="0" i="0">
                <a:solidFill>
                  <a:srgbClr val="1A5276"/>
                </a:solidFill>
                <a:latin typeface="Consolas"/>
              </a:rPr>
              <a:t>clear counters</a:t>
            </a:r>
            <a:r>
              <a:rPr sz="2000" b="0" i="0">
                <a:solidFill>
                  <a:srgbClr val="1C252B"/>
                </a:solidFill>
                <a:latin typeface="Segoe UI"/>
              </a:rPr>
              <a:t> and watch.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“The file server is slow, but it is not down”.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user copies a large file and gets a fraction of the expected throughput. Ping succeeds with no loss. You look at the access port: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“The file server is slow, but it is not down”.</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show interfaces GigabitEthernet0/7 | include duplex|collision|CRC</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Half-duplex, 100Mb/s, media type is 10/100/1000BaseTX</a:t>
            </a:r>
          </a:p>
          <a:p>
            <a:pPr>
              <a:lnSpc>
                <a:spcPct val="100000"/>
              </a:lnSpc>
              <a:spcAft>
                <a:spcPts val="0"/>
              </a:spcAft>
            </a:pPr>
            <a:r>
              <a:rPr sz="1500">
                <a:solidFill>
                  <a:srgbClr val="E8EEF2"/>
                </a:solidFill>
                <a:latin typeface="Consolas"/>
              </a:rPr>
              <a:t>     14432 input errors, 118 CRC, 0 frame, 0 overrun, 0 ignored</a:t>
            </a:r>
          </a:p>
          <a:p>
            <a:pPr>
              <a:lnSpc>
                <a:spcPct val="100000"/>
              </a:lnSpc>
              <a:spcAft>
                <a:spcPts val="0"/>
              </a:spcAft>
            </a:pPr>
            <a:r>
              <a:rPr sz="1500">
                <a:solidFill>
                  <a:srgbClr val="E8EEF2"/>
                </a:solidFill>
                <a:latin typeface="Consolas"/>
              </a:rPr>
              <a:t>     0 output errors, 89211 collisions, 0 interface resets</a:t>
            </a:r>
          </a:p>
          <a:p>
            <a:pPr>
              <a:lnSpc>
                <a:spcPct val="100000"/>
              </a:lnSpc>
              <a:spcAft>
                <a:spcPts val="0"/>
              </a:spcAft>
            </a:pPr>
            <a:r>
              <a:rPr sz="1500">
                <a:solidFill>
                  <a:srgbClr val="E8EEF2"/>
                </a:solidFill>
                <a:latin typeface="Consolas"/>
              </a:rPr>
              <a:t>     2244 late collision, 0 deferred</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port is half duplex at 100 Mbps on gigabit-capable media, with a very large collision count and — decisively — </a:t>
            </a:r>
            <a:r>
              <a:rPr sz="1900" b="0" i="1">
                <a:solidFill>
                  <a:srgbClr val="1C252B"/>
                </a:solidFill>
                <a:latin typeface="Segoe UI"/>
              </a:rPr>
              <a:t>late</a:t>
            </a:r>
            <a:r>
              <a:rPr sz="1900" b="0" i="0">
                <a:solidFill>
                  <a:srgbClr val="1C252B"/>
                </a:solidFill>
                <a:latin typeface="Segoe UI"/>
              </a:rPr>
              <a:t> collisions. Late collisions on a modern switched link are the signature of a duplex mismatch: the far end is transmitting full duplex while this end still listens before sending. The small CRC count is a consequence of the collisions, not a separate cable fault.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Find the server NIC setting. It has almost certainly been hard-coded to full duplex while the switch port was left on auto. Set both ends to auto, or both to </a:t>
            </a:r>
            <a:r>
              <a:rPr sz="1800" b="0" i="0">
                <a:solidFill>
                  <a:srgbClr val="1A5276"/>
                </a:solidFill>
                <a:latin typeface="Consolas"/>
              </a:rPr>
              <a:t>speed 1000</a:t>
            </a:r>
            <a:r>
              <a:rPr sz="1900" b="0" i="0">
                <a:solidFill>
                  <a:srgbClr val="1C252B"/>
                </a:solidFill>
                <a:latin typeface="Segoe UI"/>
              </a:rPr>
              <a:t> / </a:t>
            </a:r>
            <a:r>
              <a:rPr sz="1800" b="0" i="0">
                <a:solidFill>
                  <a:srgbClr val="1A5276"/>
                </a:solidFill>
                <a:latin typeface="Consolas"/>
              </a:rPr>
              <a:t>duplex full</a:t>
            </a:r>
            <a:r>
              <a:rPr sz="1900" b="0" i="0">
                <a:solidFill>
                  <a:srgbClr val="1C252B"/>
                </a:solidFill>
                <a:latin typeface="Segoe UI"/>
              </a:rPr>
              <a:t>, then </a:t>
            </a:r>
            <a:r>
              <a:rPr sz="1800" b="0" i="0">
                <a:solidFill>
                  <a:srgbClr val="1A5276"/>
                </a:solidFill>
                <a:latin typeface="Consolas"/>
              </a:rPr>
              <a:t>clear counters</a:t>
            </a:r>
            <a:r>
              <a:rPr sz="1900" b="0" i="0">
                <a:solidFill>
                  <a:srgbClr val="1C252B"/>
                </a:solidFill>
                <a:latin typeface="Segoe UI"/>
              </a:rPr>
              <a:t> and confirm the errors stop climbing. If they do not, </a:t>
            </a:r>
            <a:r>
              <a:rPr sz="1900" b="0" i="1">
                <a:solidFill>
                  <a:srgbClr val="1C252B"/>
                </a:solidFill>
                <a:latin typeface="Segoe UI"/>
              </a:rPr>
              <a:t>now</a:t>
            </a:r>
            <a:r>
              <a:rPr sz="1900" b="0" i="0">
                <a:solidFill>
                  <a:srgbClr val="1C252B"/>
                </a:solidFill>
                <a:latin typeface="Segoe UI"/>
              </a:rPr>
              <a:t> suspect the cable.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Reading a broken link</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Topology.</a:t>
            </a:r>
            <a:r>
              <a:rPr sz="2000" b="0" i="0">
                <a:solidFill>
                  <a:srgbClr val="1C252B"/>
                </a:solidFill>
                <a:latin typeface="Segoe UI"/>
              </a:rPr>
              <a:t> Two 2960 switches connected by one link; a PC on each.</a:t>
            </a:r>
          </a:p>
        </p:txBody>
      </p:sp>
      <p:sp>
        <p:nvSpPr>
          <p:cNvPr id="8" name="bullets"/>
          <p:cNvSpPr txBox="1"/>
          <p:nvPr/>
        </p:nvSpPr>
        <p:spPr>
          <a:xfrm>
            <a:off x="685800" y="2415032"/>
            <a:ext cx="10820095" cy="3967480"/>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1.  </a:t>
            </a:r>
            <a:r>
              <a:rPr sz="2000" b="0" i="0">
                <a:solidFill>
                  <a:srgbClr val="1C252B"/>
                </a:solidFill>
                <a:latin typeface="Segoe UI"/>
              </a:rPr>
              <a:t>Cable </a:t>
            </a:r>
            <a:r>
              <a:rPr sz="1900" b="0" i="0">
                <a:solidFill>
                  <a:srgbClr val="1A5276"/>
                </a:solidFill>
                <a:latin typeface="Consolas"/>
              </a:rPr>
              <a:t>SW1 Gi0/1</a:t>
            </a:r>
            <a:r>
              <a:rPr sz="2000" b="0" i="0">
                <a:solidFill>
                  <a:srgbClr val="1C252B"/>
                </a:solidFill>
                <a:latin typeface="Segoe UI"/>
              </a:rPr>
              <a:t> to </a:t>
            </a:r>
            <a:r>
              <a:rPr sz="1900" b="0" i="0">
                <a:solidFill>
                  <a:srgbClr val="1A5276"/>
                </a:solidFill>
                <a:latin typeface="Consolas"/>
              </a:rPr>
              <a:t>SW2 Gi0/1</a:t>
            </a:r>
            <a:r>
              <a:rPr sz="2000" b="0" i="0">
                <a:solidFill>
                  <a:srgbClr val="1C252B"/>
                </a:solidFill>
                <a:latin typeface="Segoe UI"/>
              </a:rPr>
              <a:t>. Confirm both PCs can ping each other, then run </a:t>
            </a:r>
            <a:r>
              <a:rPr sz="1900" b="0" i="0">
                <a:solidFill>
                  <a:srgbClr val="1A5276"/>
                </a:solidFill>
                <a:latin typeface="Consolas"/>
              </a:rPr>
              <a:t>show interfaces Gi0/1</a:t>
            </a:r>
            <a:r>
              <a:rPr sz="2000" b="0" i="0">
                <a:solidFill>
                  <a:srgbClr val="1C252B"/>
                </a:solidFill>
                <a:latin typeface="Segoe UI"/>
              </a:rPr>
              <a:t> on both and record the speed, duplex and every error counter while the link is healthy.</a:t>
            </a:r>
          </a:p>
          <a:p>
            <a:pPr marL="386080" indent="-386080">
              <a:lnSpc>
                <a:spcPct val="102000"/>
              </a:lnSpc>
              <a:spcAft>
                <a:spcPts val="900"/>
              </a:spcAft>
            </a:pPr>
            <a:r>
              <a:rPr sz="2000" b="1">
                <a:solidFill>
                  <a:srgbClr val="1F618D"/>
                </a:solidFill>
                <a:latin typeface="Segoe UI"/>
              </a:rPr>
              <a:t>2.  </a:t>
            </a:r>
            <a:r>
              <a:rPr sz="2000" b="0" i="0">
                <a:solidFill>
                  <a:srgbClr val="1C252B"/>
                </a:solidFill>
                <a:latin typeface="Segoe UI"/>
              </a:rPr>
              <a:t>On </a:t>
            </a:r>
            <a:r>
              <a:rPr sz="1900" b="0" i="0">
                <a:solidFill>
                  <a:srgbClr val="1A5276"/>
                </a:solidFill>
                <a:latin typeface="Consolas"/>
              </a:rPr>
              <a:t>SW1</a:t>
            </a:r>
            <a:r>
              <a:rPr sz="2000" b="0" i="0">
                <a:solidFill>
                  <a:srgbClr val="1C252B"/>
                </a:solidFill>
                <a:latin typeface="Segoe UI"/>
              </a:rPr>
              <a:t> only, set </a:t>
            </a:r>
            <a:r>
              <a:rPr sz="1900" b="0" i="0">
                <a:solidFill>
                  <a:srgbClr val="1A5276"/>
                </a:solidFill>
                <a:latin typeface="Consolas"/>
              </a:rPr>
              <a:t>speed 100</a:t>
            </a:r>
            <a:r>
              <a:rPr sz="2000" b="0" i="0">
                <a:solidFill>
                  <a:srgbClr val="1C252B"/>
                </a:solidFill>
                <a:latin typeface="Segoe UI"/>
              </a:rPr>
              <a:t> and </a:t>
            </a:r>
            <a:r>
              <a:rPr sz="1900" b="0" i="0">
                <a:solidFill>
                  <a:srgbClr val="1A5276"/>
                </a:solidFill>
                <a:latin typeface="Consolas"/>
              </a:rPr>
              <a:t>duplex half</a:t>
            </a:r>
            <a:r>
              <a:rPr sz="2000" b="0" i="0">
                <a:solidFill>
                  <a:srgbClr val="1C252B"/>
                </a:solidFill>
                <a:latin typeface="Segoe UI"/>
              </a:rPr>
              <a:t>. Leave </a:t>
            </a:r>
            <a:r>
              <a:rPr sz="1900" b="0" i="0">
                <a:solidFill>
                  <a:srgbClr val="1A5276"/>
                </a:solidFill>
                <a:latin typeface="Consolas"/>
              </a:rPr>
              <a:t>SW2</a:t>
            </a:r>
            <a:r>
              <a:rPr sz="2000" b="0" i="0">
                <a:solidFill>
                  <a:srgbClr val="1C252B"/>
                </a:solidFill>
                <a:latin typeface="Segoe UI"/>
              </a:rPr>
              <a:t> on auto.</a:t>
            </a:r>
          </a:p>
          <a:p>
            <a:pPr marL="386080" indent="-386080">
              <a:lnSpc>
                <a:spcPct val="102000"/>
              </a:lnSpc>
              <a:spcAft>
                <a:spcPts val="900"/>
              </a:spcAft>
            </a:pPr>
            <a:r>
              <a:rPr sz="2000" b="1">
                <a:solidFill>
                  <a:srgbClr val="1F618D"/>
                </a:solidFill>
                <a:latin typeface="Segoe UI"/>
              </a:rPr>
              <a:t>3.  </a:t>
            </a:r>
            <a:r>
              <a:rPr sz="2000" b="0" i="0">
                <a:solidFill>
                  <a:srgbClr val="1C252B"/>
                </a:solidFill>
                <a:latin typeface="Segoe UI"/>
              </a:rPr>
              <a:t>Generate traffic between the PCs. Record what changes on each side. Which counter moved first?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Reading a broken link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4.  </a:t>
            </a:r>
            <a:r>
              <a:rPr sz="2000" b="0" i="0">
                <a:solidFill>
                  <a:srgbClr val="1C252B"/>
                </a:solidFill>
                <a:latin typeface="Segoe UI"/>
              </a:rPr>
              <a:t>Repeat with </a:t>
            </a:r>
            <a:r>
              <a:rPr sz="1900" b="0" i="0">
                <a:solidFill>
                  <a:srgbClr val="1A5276"/>
                </a:solidFill>
                <a:latin typeface="Consolas"/>
              </a:rPr>
              <a:t>SW1</a:t>
            </a:r>
            <a:r>
              <a:rPr sz="2000" b="0" i="0">
                <a:solidFill>
                  <a:srgbClr val="1C252B"/>
                </a:solidFill>
                <a:latin typeface="Segoe UI"/>
              </a:rPr>
              <a:t> at </a:t>
            </a:r>
            <a:r>
              <a:rPr sz="1900" b="0" i="0">
                <a:solidFill>
                  <a:srgbClr val="1A5276"/>
                </a:solidFill>
                <a:latin typeface="Consolas"/>
              </a:rPr>
              <a:t>duplex full</a:t>
            </a:r>
            <a:r>
              <a:rPr sz="2000" b="0" i="0">
                <a:solidFill>
                  <a:srgbClr val="1C252B"/>
                </a:solidFill>
                <a:latin typeface="Segoe UI"/>
              </a:rPr>
              <a:t> and </a:t>
            </a:r>
            <a:r>
              <a:rPr sz="1900" b="0" i="0">
                <a:solidFill>
                  <a:srgbClr val="1A5276"/>
                </a:solidFill>
                <a:latin typeface="Consolas"/>
              </a:rPr>
              <a:t>SW2</a:t>
            </a:r>
            <a:r>
              <a:rPr sz="2000" b="0" i="0">
                <a:solidFill>
                  <a:srgbClr val="1C252B"/>
                </a:solidFill>
                <a:latin typeface="Segoe UI"/>
              </a:rPr>
              <a:t> on auto — the classic mismatch. Note that the link stays up.</a:t>
            </a:r>
          </a:p>
          <a:p>
            <a:pPr marL="386080" indent="-386080">
              <a:lnSpc>
                <a:spcPct val="102000"/>
              </a:lnSpc>
              <a:spcAft>
                <a:spcPts val="900"/>
              </a:spcAft>
            </a:pPr>
            <a:r>
              <a:rPr sz="2000" b="1">
                <a:solidFill>
                  <a:srgbClr val="1F618D"/>
                </a:solidFill>
                <a:latin typeface="Segoe UI"/>
              </a:rPr>
              <a:t>5.  </a:t>
            </a:r>
            <a:r>
              <a:rPr sz="2000" b="1" i="0">
                <a:solidFill>
                  <a:srgbClr val="1C252B"/>
                </a:solidFill>
                <a:latin typeface="Segoe UI"/>
              </a:rPr>
              <a:t>Extension.</a:t>
            </a:r>
            <a:r>
              <a:rPr sz="2000" b="0" i="0">
                <a:solidFill>
                  <a:srgbClr val="1C252B"/>
                </a:solidFill>
                <a:latin typeface="Segoe UI"/>
              </a:rPr>
              <a:t> Without looking at your own configuration, hand the topology to a partner, have them introduce one fault from this chapter, and diagnose it from </a:t>
            </a:r>
            <a:r>
              <a:rPr sz="1900" b="0" i="0">
                <a:solidFill>
                  <a:srgbClr val="1A5276"/>
                </a:solidFill>
                <a:latin typeface="Consolas"/>
              </a:rPr>
              <a:t>show</a:t>
            </a:r>
            <a:r>
              <a:rPr sz="2000" b="0" i="0">
                <a:solidFill>
                  <a:srgbClr val="1C252B"/>
                </a:solidFill>
                <a:latin typeface="Segoe UI"/>
              </a:rPr>
              <a:t> output alone in under three minutes.</a:t>
            </a:r>
          </a:p>
        </p:txBody>
      </p:sp>
      <p:sp>
        <p:nvSpPr>
          <p:cNvPr id="8" name="tailbody"/>
          <p:cNvSpPr txBox="1"/>
          <p:nvPr/>
        </p:nvSpPr>
        <p:spPr>
          <a:xfrm>
            <a:off x="685800" y="4065015"/>
            <a:ext cx="10820095" cy="2262632"/>
          </a:xfrm>
          <a:prstGeom prst="rect">
            <a:avLst/>
          </a:prstGeom>
          <a:noFill/>
        </p:spPr>
        <p:txBody>
          <a:bodyPr wrap="square" anchor="t" lIns="0" rIns="0" tIns="0" bIns="0">
            <a:spAutoFit/>
          </a:bodyPr>
          <a:lstStyle/>
          <a:p>
            <a:pPr algn="l">
              <a:lnSpc>
                <a:spcPct val="100000"/>
              </a:lnSpc>
              <a:spcAft>
                <a:spcPts val="600"/>
              </a:spcAft>
            </a:pPr>
            <a:r>
              <a:rPr sz="2000" b="1" i="0">
                <a:solidFill>
                  <a:srgbClr val="1C252B"/>
                </a:solidFill>
                <a:latin typeface="Segoe UI"/>
              </a:rPr>
              <a:t>Verification.</a:t>
            </a:r>
            <a:r>
              <a:rPr sz="2000" b="0" i="0">
                <a:solidFill>
                  <a:srgbClr val="1C252B"/>
                </a:solidFill>
                <a:latin typeface="Segoe UI"/>
              </a:rPr>
              <a:t> You should be able to state, from counters only, whether a link is healthy, mismatched, or physically damaged.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gigabit link is up. </a:t>
            </a:r>
            <a:r>
              <a:rPr sz="2900" b="0" i="0">
                <a:solidFill>
                  <a:srgbClr val="FFFFFF"/>
                </a:solidFill>
                <a:latin typeface="Consolas"/>
              </a:rPr>
              <a:t>collisions</a:t>
            </a:r>
            <a:r>
              <a:rPr sz="3000" b="0" i="0">
                <a:solidFill>
                  <a:srgbClr val="FFFFFF"/>
                </a:solidFill>
                <a:latin typeface="Segoe UI"/>
              </a:rPr>
              <a:t> is increasing and the interface reports full duplex. What single conclusion can you draw, and why is it certain?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gigabit link is up. </a:t>
            </a:r>
            <a:r>
              <a:rPr sz="1900" b="1" i="0">
                <a:solidFill>
                  <a:srgbClr val="1A5276"/>
                </a:solidFill>
                <a:latin typeface="Consolas"/>
              </a:rPr>
              <a:t>collisions</a:t>
            </a:r>
            <a:r>
              <a:rPr sz="2000" b="1" i="0">
                <a:solidFill>
                  <a:srgbClr val="1A5276"/>
                </a:solidFill>
                <a:latin typeface="Segoe UI"/>
              </a:rPr>
              <a:t> is increasing and the interface reports full duplex. What single conclusion can you draw, and why is it certain?</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That the two ends disagree about duplex. It is certain because a full duplex link </a:t>
            </a:r>
            <a:r>
              <a:rPr sz="1900" b="0" i="1">
                <a:solidFill>
                  <a:srgbClr val="1C252B"/>
                </a:solidFill>
                <a:latin typeface="Segoe UI"/>
              </a:rPr>
              <a:t>cannot</a:t>
            </a:r>
            <a:r>
              <a:rPr sz="1900" b="0" i="0">
                <a:solidFill>
                  <a:srgbClr val="1C252B"/>
                </a:solidFill>
                <a:latin typeface="Segoe UI"/>
              </a:rPr>
              <a:t> have collisions — there is no shared medium to collide on. The counter can only be incrementing because the local end is actually running half duplex, or because the far end is and is causing them.</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fibre link shows Rx power of -31 dBm against a sensitivity of -23 dBm. Give three causes in the order you would check them.</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fibre link shows Rx power of -31 dBm against a sensitivity of -23 dBm. Give three causes in the order you would check them.</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In order: a dirty or damaged connector; the wrong optic or wavelength for the distance; and excessive length or a bad splice. Check the cheapest first — clean the connector before ordering hardware.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a port that is administratively down easier to deal with than one that is up with rising CRC errors?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a port that is administratively down easier to deal with than one that is up with rising CRC errors?</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it is unambiguous. Administratively down is a decision somebody made, recorded in the configuration, and reversible with one command. A port that is up with rising CRC errors is intermittently working, so traffic is partly passing, users report “slow” rather than “down”, and the cause could be cable, connector, optic, EMI or duplex.</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Copper is 100 m, full stop. Multimode reaches a campus; single-mode reaches a city. Exceeding a medium’s reach corrupts frames rather than dropping the link.</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Diagnose from counters, not from intuition. CRC without collisions points at the cable; collisions on a full-duplex link point at duplex; late collisions are close to proof of a duplex mismatch.</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Set both ends of a link the same way — both auto, or both fixed.</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“Up/up” does not mean healthy. The dangerous fault is the one that passes most traffic and damages the rest.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 The Physical Layer and Cable Faults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1.1</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On fibre, read </a:t>
            </a:r>
            <a:r>
              <a:rPr sz="1900" b="0" i="0">
                <a:solidFill>
                  <a:srgbClr val="1A5276"/>
                </a:solidFill>
                <a:latin typeface="Consolas"/>
              </a:rPr>
              <a:t>show interfaces …{} transceiver</a:t>
            </a:r>
            <a:r>
              <a:rPr sz="2000" b="0" i="0">
                <a:solidFill>
                  <a:srgbClr val="1C252B"/>
                </a:solidFill>
                <a:latin typeface="Segoe UI"/>
              </a:rPr>
              <a:t>. Light levels are a diagnosable fault the blueprint names explicitly.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Copper is 100 m, full stop. Multimode reaches a campus; single-mode reaches a city. Exceeding a medium’s reach corrupts frames rather than dropping the link.</a:t>
            </a:r>
          </a:p>
          <a:p>
            <a:pPr marL="217169" indent="-217169">
              <a:spcAft>
                <a:spcPts val="900"/>
              </a:spcAft>
            </a:pPr>
            <a:r>
              <a:rPr sz="1900">
                <a:solidFill>
                  <a:srgbClr val="C8D6E5"/>
                </a:solidFill>
              </a:rPr>
              <a:t>•  </a:t>
            </a:r>
            <a:r>
              <a:rPr sz="1900" b="0" i="0">
                <a:solidFill>
                  <a:srgbClr val="FFFFFF"/>
                </a:solidFill>
                <a:latin typeface="Segoe UI"/>
              </a:rPr>
              <a:t>Diagnose from counters, not from intuition. CRC without collisions points at the cable; collisions on a full-duplex link point at duplex; late collisions are close to proof of a duplex mismatch.</a:t>
            </a:r>
          </a:p>
          <a:p>
            <a:pPr marL="217169" indent="-217169">
              <a:spcAft>
                <a:spcPts val="900"/>
              </a:spcAft>
            </a:pPr>
            <a:r>
              <a:rPr sz="1900">
                <a:solidFill>
                  <a:srgbClr val="C8D6E5"/>
                </a:solidFill>
              </a:rPr>
              <a:t>•  </a:t>
            </a:r>
            <a:r>
              <a:rPr sz="1900" b="0" i="0">
                <a:solidFill>
                  <a:srgbClr val="FFFFFF"/>
                </a:solidFill>
                <a:latin typeface="Segoe UI"/>
              </a:rPr>
              <a:t>Set both ends of a link the same way — both auto, or both fixed.</a:t>
            </a:r>
          </a:p>
          <a:p>
            <a:pPr marL="217169" indent="-217169">
              <a:spcAft>
                <a:spcPts val="900"/>
              </a:spcAft>
            </a:pPr>
            <a:r>
              <a:rPr sz="1900">
                <a:solidFill>
                  <a:srgbClr val="C8D6E5"/>
                </a:solidFill>
              </a:rPr>
              <a:t>•  </a:t>
            </a:r>
            <a:r>
              <a:rPr sz="1900" b="0" i="0">
                <a:solidFill>
                  <a:srgbClr val="FFFFFF"/>
                </a:solidFill>
                <a:latin typeface="Segoe UI"/>
              </a:rPr>
              <a:t>“Up/up” does not mean healthy. The dangerous fault is the one that passes most traffic and damages the rest.</a:t>
            </a:r>
          </a:p>
        </p:txBody>
      </p:sp>
      <p:sp>
        <p:nvSpPr>
          <p:cNvPr id="5" name="nextbg"/>
          <p:cNvSpPr/>
          <p:nvPr/>
        </p:nvSpPr>
        <p:spPr>
          <a:xfrm>
            <a:off x="685800" y="5303520"/>
            <a:ext cx="10820095" cy="82296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3 — Ethernet, Frames and Switching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