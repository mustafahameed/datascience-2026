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14: Troubleshooting Layer 2. Blueprint topics: 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Troubleshooting Layer 2 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screen, four different faults visible. Gi0/6 notconnect — nothing plugged in, or a dead cable. Gi0/7 err-disabled — a protection feature fired; find out which. Gi0/8 is in VLAN 15, which may or may not be intended — compare against the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14</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Troubleshooting Layer 2</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II — Switching and Network Access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2.4"/>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2.4"/>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17864"/>
                </a:solidFill>
                <a:latin typeface="Segoe UI"/>
              </a:rPr>
              <a:t>2.4</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17864"/>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117864"/>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Apply</a:t>
            </a:r>
            <a:r>
              <a:rPr sz="2000" b="0" i="0">
                <a:solidFill>
                  <a:srgbClr val="1C252B"/>
                </a:solidFill>
                <a:latin typeface="Segoe UI"/>
              </a:rPr>
              <a:t> a repeatable order of checks to a layer 2 fault instead of guessing.</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Select</a:t>
            </a:r>
            <a:r>
              <a:rPr sz="2000" b="0" i="0">
                <a:solidFill>
                  <a:srgbClr val="1C252B"/>
                </a:solidFill>
                <a:latin typeface="Segoe UI"/>
              </a:rPr>
              <a:t> the right </a:t>
            </a:r>
            <a:r>
              <a:rPr sz="1900" b="0" i="0">
                <a:solidFill>
                  <a:srgbClr val="1A5276"/>
                </a:solidFill>
                <a:latin typeface="Consolas"/>
              </a:rPr>
              <a:t>show</a:t>
            </a:r>
            <a:r>
              <a:rPr sz="2000" b="0" i="0">
                <a:solidFill>
                  <a:srgbClr val="1C252B"/>
                </a:solidFill>
                <a:latin typeface="Segoe UI"/>
              </a:rPr>
              <a:t> command for a symptom, and read what it returns.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Use</a:t>
            </a:r>
            <a:r>
              <a:rPr sz="2000" b="0" i="0">
                <a:solidFill>
                  <a:srgbClr val="1C252B"/>
                </a:solidFill>
                <a:latin typeface="Segoe UI"/>
              </a:rPr>
              <a:t> </a:t>
            </a:r>
            <a:r>
              <a:rPr sz="1900" b="0" i="0">
                <a:solidFill>
                  <a:srgbClr val="1A5276"/>
                </a:solidFill>
                <a:latin typeface="Consolas"/>
              </a:rPr>
              <a:t>show logging</a:t>
            </a:r>
            <a:r>
              <a:rPr sz="2000" b="0" i="0">
                <a:solidFill>
                  <a:srgbClr val="1C252B"/>
                </a:solidFill>
                <a:latin typeface="Segoe UI"/>
              </a:rPr>
              <a:t>, ping, extended ping and capture output together to localise a fault.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Diagnose</a:t>
            </a:r>
            <a:r>
              <a:rPr sz="2000" b="0" i="0">
                <a:solidFill>
                  <a:srgbClr val="1C252B"/>
                </a:solidFill>
                <a:latin typeface="Segoe UI"/>
              </a:rPr>
              <a:t> the six faults that account for most switched-network problems.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int"/>
          <p:cNvSpPr/>
          <p:nvPr/>
        </p:nvSpPr>
        <p:spPr>
          <a:xfrm>
            <a:off x="685800" y="1517904"/>
            <a:ext cx="10820095" cy="10068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All of Part II. This chapter assembles Chapter 8 to Chapter 13 into a method.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erm-symptom"/>
          <p:cNvSpPr/>
          <p:nvPr/>
        </p:nvSpPr>
        <p:spPr>
          <a:xfrm>
            <a:off x="685800" y="1609344"/>
            <a:ext cx="11623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symptom"/>
          <p:cNvSpPr/>
          <p:nvPr/>
        </p:nvSpPr>
        <p:spPr>
          <a:xfrm>
            <a:off x="68580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symptom"/>
          <p:cNvSpPr txBox="1"/>
          <p:nvPr/>
        </p:nvSpPr>
        <p:spPr>
          <a:xfrm>
            <a:off x="850392" y="1700784"/>
            <a:ext cx="83311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symptom</a:t>
            </a:r>
          </a:p>
        </p:txBody>
      </p:sp>
      <p:sp>
        <p:nvSpPr>
          <p:cNvPr id="10" name="term-hypothesis"/>
          <p:cNvSpPr/>
          <p:nvPr/>
        </p:nvSpPr>
        <p:spPr>
          <a:xfrm>
            <a:off x="1976119" y="1609344"/>
            <a:ext cx="128016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hypothesis"/>
          <p:cNvSpPr/>
          <p:nvPr/>
        </p:nvSpPr>
        <p:spPr>
          <a:xfrm>
            <a:off x="1976119"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hypothesis"/>
          <p:cNvSpPr txBox="1"/>
          <p:nvPr/>
        </p:nvSpPr>
        <p:spPr>
          <a:xfrm>
            <a:off x="2140712" y="1700784"/>
            <a:ext cx="95097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hypothesis</a:t>
            </a:r>
          </a:p>
        </p:txBody>
      </p:sp>
      <p:sp>
        <p:nvSpPr>
          <p:cNvPr id="13" name="term-scope"/>
          <p:cNvSpPr/>
          <p:nvPr/>
        </p:nvSpPr>
        <p:spPr>
          <a:xfrm>
            <a:off x="3384296" y="1609344"/>
            <a:ext cx="84734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scope"/>
          <p:cNvSpPr/>
          <p:nvPr/>
        </p:nvSpPr>
        <p:spPr>
          <a:xfrm>
            <a:off x="3384296"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scope"/>
          <p:cNvSpPr txBox="1"/>
          <p:nvPr/>
        </p:nvSpPr>
        <p:spPr>
          <a:xfrm>
            <a:off x="3548888" y="1700784"/>
            <a:ext cx="518160"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scope</a:t>
            </a:r>
          </a:p>
        </p:txBody>
      </p:sp>
      <p:sp>
        <p:nvSpPr>
          <p:cNvPr id="16" name="term-errdisable"/>
          <p:cNvSpPr/>
          <p:nvPr/>
        </p:nvSpPr>
        <p:spPr>
          <a:xfrm>
            <a:off x="4359656" y="1609344"/>
            <a:ext cx="119481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errdisable"/>
          <p:cNvSpPr/>
          <p:nvPr/>
        </p:nvSpPr>
        <p:spPr>
          <a:xfrm>
            <a:off x="4359656"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errdisable"/>
          <p:cNvSpPr txBox="1"/>
          <p:nvPr/>
        </p:nvSpPr>
        <p:spPr>
          <a:xfrm>
            <a:off x="4524248" y="1700784"/>
            <a:ext cx="86563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errdisable</a:t>
            </a:r>
          </a:p>
        </p:txBody>
      </p:sp>
      <p:sp>
        <p:nvSpPr>
          <p:cNvPr id="19" name="term-show logging"/>
          <p:cNvSpPr/>
          <p:nvPr/>
        </p:nvSpPr>
        <p:spPr>
          <a:xfrm>
            <a:off x="5682488" y="1609344"/>
            <a:ext cx="151993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show logging"/>
          <p:cNvSpPr/>
          <p:nvPr/>
        </p:nvSpPr>
        <p:spPr>
          <a:xfrm>
            <a:off x="5682488"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show logging"/>
          <p:cNvSpPr txBox="1"/>
          <p:nvPr/>
        </p:nvSpPr>
        <p:spPr>
          <a:xfrm>
            <a:off x="5847079" y="1700784"/>
            <a:ext cx="119075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show logging</a:t>
            </a:r>
          </a:p>
        </p:txBody>
      </p:sp>
      <p:sp>
        <p:nvSpPr>
          <p:cNvPr id="22" name="term-severity"/>
          <p:cNvSpPr/>
          <p:nvPr/>
        </p:nvSpPr>
        <p:spPr>
          <a:xfrm>
            <a:off x="7330439" y="1609344"/>
            <a:ext cx="103022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severity"/>
          <p:cNvSpPr/>
          <p:nvPr/>
        </p:nvSpPr>
        <p:spPr>
          <a:xfrm>
            <a:off x="7330439"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severity"/>
          <p:cNvSpPr txBox="1"/>
          <p:nvPr/>
        </p:nvSpPr>
        <p:spPr>
          <a:xfrm>
            <a:off x="7495031" y="1700784"/>
            <a:ext cx="70103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severity</a:t>
            </a:r>
          </a:p>
        </p:txBody>
      </p:sp>
      <p:sp>
        <p:nvSpPr>
          <p:cNvPr id="25" name="term-divide and conquer"/>
          <p:cNvSpPr/>
          <p:nvPr/>
        </p:nvSpPr>
        <p:spPr>
          <a:xfrm>
            <a:off x="8488679" y="1609344"/>
            <a:ext cx="19811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divide and conquer"/>
          <p:cNvSpPr/>
          <p:nvPr/>
        </p:nvSpPr>
        <p:spPr>
          <a:xfrm>
            <a:off x="8488679"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divide and conquer"/>
          <p:cNvSpPr txBox="1"/>
          <p:nvPr/>
        </p:nvSpPr>
        <p:spPr>
          <a:xfrm>
            <a:off x="8653271" y="1700784"/>
            <a:ext cx="165201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divide and conquer</a:t>
            </a:r>
          </a:p>
        </p:txBody>
      </p:sp>
      <p:sp>
        <p:nvSpPr>
          <p:cNvPr id="28" name="term-bottom-up"/>
          <p:cNvSpPr/>
          <p:nvPr/>
        </p:nvSpPr>
        <p:spPr>
          <a:xfrm>
            <a:off x="685800" y="2212848"/>
            <a:ext cx="125171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bottom-up"/>
          <p:cNvSpPr/>
          <p:nvPr/>
        </p:nvSpPr>
        <p:spPr>
          <a:xfrm>
            <a:off x="685800"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bottom-up"/>
          <p:cNvSpPr txBox="1"/>
          <p:nvPr/>
        </p:nvSpPr>
        <p:spPr>
          <a:xfrm>
            <a:off x="850392" y="2304288"/>
            <a:ext cx="92252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bottom-up</a:t>
            </a:r>
          </a:p>
        </p:txBody>
      </p:sp>
      <p:sp>
        <p:nvSpPr>
          <p:cNvPr id="31" name="term-baseline"/>
          <p:cNvSpPr/>
          <p:nvPr/>
        </p:nvSpPr>
        <p:spPr>
          <a:xfrm>
            <a:off x="2065528" y="2212848"/>
            <a:ext cx="107289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baseline"/>
          <p:cNvSpPr/>
          <p:nvPr/>
        </p:nvSpPr>
        <p:spPr>
          <a:xfrm>
            <a:off x="2065528"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baseline"/>
          <p:cNvSpPr txBox="1"/>
          <p:nvPr/>
        </p:nvSpPr>
        <p:spPr>
          <a:xfrm>
            <a:off x="2230120" y="2304288"/>
            <a:ext cx="74371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baseline</a:t>
            </a:r>
          </a:p>
        </p:txBody>
      </p:sp>
      <p:sp>
        <p:nvSpPr>
          <p:cNvPr id="34"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This chapter is the exam’s heaviest verb</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17864"/>
                </a:solidFill>
                <a:latin typeface="Segoe UI"/>
              </a:rPr>
              <a:t>This is what the blueprint actually asks for</a:t>
            </a:r>
          </a:p>
        </p:txBody>
      </p:sp>
      <p:sp>
        <p:nvSpPr>
          <p:cNvPr id="8" name="body"/>
          <p:cNvSpPr txBox="1"/>
          <p:nvPr/>
        </p:nvSpPr>
        <p:spPr>
          <a:xfrm>
            <a:off x="685800" y="2267712"/>
            <a:ext cx="10820095" cy="411480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117864"/>
                </a:solidFill>
                <a:latin typeface="Segoe UI"/>
              </a:rPr>
              <a:t> 2.4 </a:t>
            </a:r>
            <a:r>
              <a:rPr sz="2000" b="0" i="0">
                <a:solidFill>
                  <a:srgbClr val="1C252B"/>
                </a:solidFill>
                <a:latin typeface="Segoe UI"/>
              </a:rPr>
              <a:t> — “troubleshoot basic Layer 2/Layer 3 connectivity and device operations using show commands (including show logs), ping, extended ping, trace route, and packet capture output” — is one of eight </a:t>
            </a:r>
            <a:r>
              <a:rPr sz="2000" b="0" i="1">
                <a:solidFill>
                  <a:srgbClr val="1C252B"/>
                </a:solidFill>
                <a:latin typeface="Segoe UI"/>
              </a:rPr>
              <a:t>troubleshoot</a:t>
            </a:r>
            <a:r>
              <a:rPr sz="2000" b="0" i="0">
                <a:solidFill>
                  <a:srgbClr val="1C252B"/>
                </a:solidFill>
                <a:latin typeface="Segoe UI"/>
              </a:rPr>
              <a:t> topics. Together with the eight </a:t>
            </a:r>
            <a:r>
              <a:rPr sz="2000" b="0" i="1">
                <a:solidFill>
                  <a:srgbClr val="1C252B"/>
                </a:solidFill>
                <a:latin typeface="Segoe UI"/>
              </a:rPr>
              <a:t>configure</a:t>
            </a:r>
            <a:r>
              <a:rPr sz="2000" b="0" i="0">
                <a:solidFill>
                  <a:srgbClr val="1C252B"/>
                </a:solidFill>
                <a:latin typeface="Segoe UI"/>
              </a:rPr>
              <a:t> topics they are 55% of the paper. The method below is worth more marks than any single technology in this book.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Scope first, then layers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Ask “how many?” before you ask “why?”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int"/>
          <p:cNvSpPr/>
          <p:nvPr/>
        </p:nvSpPr>
        <p:spPr>
          <a:xfrm>
            <a:off x="685800" y="1517904"/>
            <a:ext cx="10820095" cy="486460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single most useful question is how much is broken, because it tells you where to look before you have run a command.</a:t>
            </a:r>
          </a:p>
        </p:txBody>
      </p:sp>
      <p:sp>
        <p:nvSpPr>
          <p:cNvPr id="9" name="bullets"/>
          <p:cNvSpPr txBox="1"/>
          <p:nvPr/>
        </p:nvSpPr>
        <p:spPr>
          <a:xfrm>
            <a:off x="978408" y="2580639"/>
            <a:ext cx="10234879" cy="380187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One device</a:t>
            </a:r>
            <a:r>
              <a:rPr sz="2000" b="0" i="0">
                <a:solidFill>
                  <a:srgbClr val="1C252B"/>
                </a:solidFill>
                <a:latin typeface="Segoe UI"/>
              </a:rPr>
              <a:t> → that port, that cable, that host’s configuration.</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One VLAN, everywhere</a:t>
            </a:r>
            <a:r>
              <a:rPr sz="2000" b="0" i="0">
                <a:solidFill>
                  <a:srgbClr val="1C252B"/>
                </a:solidFill>
                <a:latin typeface="Segoe UI"/>
              </a:rPr>
              <a:t> → the VLAN itself: does it exist, is it shut, is it allowed on the trunks, does its SVI have an address?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Everything on one switch</a:t>
            </a:r>
            <a:r>
              <a:rPr sz="2000" b="0" i="0">
                <a:solidFill>
                  <a:srgbClr val="1C252B"/>
                </a:solidFill>
                <a:latin typeface="Segoe UI"/>
              </a:rPr>
              <a:t> → that switch’s uplink, or spanning tree.</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Everything, everywhere</a:t>
            </a:r>
            <a:r>
              <a:rPr sz="2000" b="0" i="0">
                <a:solidFill>
                  <a:srgbClr val="1C252B"/>
                </a:solidFill>
                <a:latin typeface="Segoe UI"/>
              </a:rPr>
              <a:t> → a loop, the root bridge, or a routing or gateway failure.</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Intermittent, under load</a:t>
            </a:r>
            <a:r>
              <a:rPr sz="2000" b="0" i="0">
                <a:solidFill>
                  <a:srgbClr val="1C252B"/>
                </a:solidFill>
                <a:latin typeface="Segoe UI"/>
              </a:rPr>
              <a:t> → physical layer, duplex, or a saturated link. Almost never a VLAN.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Then work bottom-up</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int"/>
          <p:cNvSpPr/>
          <p:nvPr/>
        </p:nvSpPr>
        <p:spPr>
          <a:xfrm>
            <a:off x="685800" y="1517904"/>
            <a:ext cx="10820095" cy="45801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Once you know the scope, walk the layers from the bottom. Each step is one command and rules out a whole class of cause.</a:t>
            </a:r>
          </a:p>
        </p:txBody>
      </p:sp>
      <p:sp>
        <p:nvSpPr>
          <p:cNvPr id="9" name="bullets"/>
          <p:cNvSpPr txBox="1"/>
          <p:nvPr/>
        </p:nvSpPr>
        <p:spPr>
          <a:xfrm>
            <a:off x="978408" y="2580639"/>
            <a:ext cx="10234879" cy="380187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Is the port up?</a:t>
            </a:r>
            <a:r>
              <a:rPr sz="2000" b="0" i="0">
                <a:solidFill>
                  <a:srgbClr val="1C252B"/>
                </a:solidFill>
                <a:latin typeface="Segoe UI"/>
              </a:rPr>
              <a:t> </a:t>
            </a:r>
            <a:r>
              <a:rPr sz="1900" b="0" i="0">
                <a:solidFill>
                  <a:srgbClr val="1A5276"/>
                </a:solidFill>
                <a:latin typeface="Consolas"/>
              </a:rPr>
              <a:t>show interfaces status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Is it clean?</a:t>
            </a:r>
            <a:r>
              <a:rPr sz="2000" b="0" i="0">
                <a:solidFill>
                  <a:srgbClr val="1C252B"/>
                </a:solidFill>
                <a:latin typeface="Segoe UI"/>
              </a:rPr>
              <a:t> </a:t>
            </a:r>
            <a:r>
              <a:rPr sz="1900" b="0" i="0">
                <a:solidFill>
                  <a:srgbClr val="1A5276"/>
                </a:solidFill>
                <a:latin typeface="Consolas"/>
              </a:rPr>
              <a:t>show interfaces</a:t>
            </a:r>
            <a:r>
              <a:rPr sz="2000" b="0" i="0">
                <a:solidFill>
                  <a:srgbClr val="1C252B"/>
                </a:solidFill>
                <a:latin typeface="Segoe UI"/>
              </a:rPr>
              <a:t> — errors, duplex, speed</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Is it in the right VLAN?</a:t>
            </a:r>
            <a:r>
              <a:rPr sz="2000" b="0" i="0">
                <a:solidFill>
                  <a:srgbClr val="1C252B"/>
                </a:solidFill>
                <a:latin typeface="Segoe UI"/>
              </a:rPr>
              <a:t> </a:t>
            </a:r>
            <a:r>
              <a:rPr sz="1900" b="0" i="0">
                <a:solidFill>
                  <a:srgbClr val="1A5276"/>
                </a:solidFill>
                <a:latin typeface="Consolas"/>
              </a:rPr>
              <a:t>show interfaces switchport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Does the switch see the device?</a:t>
            </a:r>
            <a:r>
              <a:rPr sz="2000" b="0" i="0">
                <a:solidFill>
                  <a:srgbClr val="1C252B"/>
                </a:solidFill>
                <a:latin typeface="Segoe UI"/>
              </a:rPr>
              <a:t> </a:t>
            </a:r>
            <a:r>
              <a:rPr sz="1900" b="0" i="0">
                <a:solidFill>
                  <a:srgbClr val="1A5276"/>
                </a:solidFill>
                <a:latin typeface="Consolas"/>
              </a:rPr>
              <a:t>show mac address-table</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Does the VLAN reach the next switch?</a:t>
            </a:r>
            <a:r>
              <a:rPr sz="2000" b="0" i="0">
                <a:solidFill>
                  <a:srgbClr val="1C252B"/>
                </a:solidFill>
                <a:latin typeface="Segoe UI"/>
              </a:rPr>
              <a:t> </a:t>
            </a:r>
            <a:r>
              <a:rPr sz="1900" b="0" i="0">
                <a:solidFill>
                  <a:srgbClr val="1A5276"/>
                </a:solidFill>
                <a:latin typeface="Consolas"/>
              </a:rPr>
              <a:t>show interfaces trunk</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Is spanning tree forwarding?</a:t>
            </a:r>
            <a:r>
              <a:rPr sz="2000" b="0" i="0">
                <a:solidFill>
                  <a:srgbClr val="1C252B"/>
                </a:solidFill>
                <a:latin typeface="Segoe UI"/>
              </a:rPr>
              <a:t> </a:t>
            </a:r>
            <a:r>
              <a:rPr sz="1900" b="0" i="0">
                <a:solidFill>
                  <a:srgbClr val="1A5276"/>
                </a:solidFill>
                <a:latin typeface="Consolas"/>
              </a:rPr>
              <a:t>show spanning-tree vlan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Then work bottom-up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int"/>
          <p:cNvSpPr/>
          <p:nvPr/>
        </p:nvSpPr>
        <p:spPr>
          <a:xfrm>
            <a:off x="685800" y="1517904"/>
            <a:ext cx="10820095" cy="154736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ullets"/>
          <p:cNvSpPr txBox="1"/>
          <p:nvPr/>
        </p:nvSpPr>
        <p:spPr>
          <a:xfrm>
            <a:off x="978408" y="1737360"/>
            <a:ext cx="10234879" cy="464515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Is there a gateway?</a:t>
            </a:r>
            <a:r>
              <a:rPr sz="2000" b="0" i="0">
                <a:solidFill>
                  <a:srgbClr val="1C252B"/>
                </a:solidFill>
                <a:latin typeface="Segoe UI"/>
              </a:rPr>
              <a:t> </a:t>
            </a:r>
            <a:r>
              <a:rPr sz="1900" b="0" i="0">
                <a:solidFill>
                  <a:srgbClr val="1A5276"/>
                </a:solidFill>
                <a:latin typeface="Consolas"/>
              </a:rPr>
              <a:t>show ip interface brief</a:t>
            </a:r>
          </a:p>
        </p:txBody>
      </p:sp>
      <p:sp>
        <p:nvSpPr>
          <p:cNvPr id="9" name="tailbody"/>
          <p:cNvSpPr txBox="1"/>
          <p:nvPr/>
        </p:nvSpPr>
        <p:spPr>
          <a:xfrm>
            <a:off x="978408" y="2369312"/>
            <a:ext cx="10234879" cy="3958336"/>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Resist starting at step 7 because the user said “I cannot reach the internet”.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The first three commands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interfaces status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codebg"/>
          <p:cNvSpPr/>
          <p:nvPr/>
        </p:nvSpPr>
        <p:spPr>
          <a:xfrm>
            <a:off x="685800" y="1901952"/>
            <a:ext cx="10820095" cy="2133599"/>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1639824"/>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Port      Name               Status       Vlan       Duplex  Speed Type</a:t>
            </a:r>
          </a:p>
          <a:p>
            <a:pPr>
              <a:lnSpc>
                <a:spcPct val="100000"/>
              </a:lnSpc>
              <a:spcAft>
                <a:spcPts val="0"/>
              </a:spcAft>
            </a:pPr>
            <a:r>
              <a:rPr sz="1600">
                <a:solidFill>
                  <a:srgbClr val="E8EEF2"/>
                </a:solidFill>
                <a:latin typeface="Consolas"/>
              </a:rPr>
              <a:t>Gi0/1     Uplink to SW2      connected    trunk      a-full a-1000 10/100/1000</a:t>
            </a:r>
          </a:p>
          <a:p>
            <a:pPr>
              <a:lnSpc>
                <a:spcPct val="100000"/>
              </a:lnSpc>
              <a:spcAft>
                <a:spcPts val="0"/>
              </a:spcAft>
            </a:pPr>
            <a:r>
              <a:rPr sz="1600">
                <a:solidFill>
                  <a:srgbClr val="E8EEF2"/>
                </a:solidFill>
                <a:latin typeface="Consolas"/>
              </a:rPr>
              <a:t>Gi0/5     Desk 5             connected    10         a-full  a-100 10/100/1000</a:t>
            </a:r>
          </a:p>
          <a:p>
            <a:pPr>
              <a:lnSpc>
                <a:spcPct val="100000"/>
              </a:lnSpc>
              <a:spcAft>
                <a:spcPts val="0"/>
              </a:spcAft>
            </a:pPr>
            <a:r>
              <a:rPr sz="1600">
                <a:solidFill>
                  <a:srgbClr val="E8EEF2"/>
                </a:solidFill>
                <a:latin typeface="Consolas"/>
              </a:rPr>
              <a:t>Gi0/6     Desk 6             notconnect   10           auto   auto 10/100/1000</a:t>
            </a:r>
          </a:p>
          <a:p>
            <a:pPr>
              <a:lnSpc>
                <a:spcPct val="100000"/>
              </a:lnSpc>
              <a:spcAft>
                <a:spcPts val="0"/>
              </a:spcAft>
            </a:pPr>
            <a:r>
              <a:rPr sz="1600">
                <a:solidFill>
                  <a:srgbClr val="E8EEF2"/>
                </a:solidFill>
                <a:latin typeface="Consolas"/>
              </a:rPr>
              <a:t>Gi0/7     Desk 7             err-disabled 10           auto   auto 10/100/1000</a:t>
            </a:r>
          </a:p>
          <a:p>
            <a:pPr>
              <a:lnSpc>
                <a:spcPct val="100000"/>
              </a:lnSpc>
              <a:spcAft>
                <a:spcPts val="0"/>
              </a:spcAft>
            </a:pPr>
            <a:r>
              <a:rPr sz="1600">
                <a:solidFill>
                  <a:srgbClr val="E8EEF2"/>
                </a:solidFill>
                <a:latin typeface="Consolas"/>
              </a:rPr>
              <a:t>Gi0/8     Desk 8             connected    15         a-full a-1000 10/100/1000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logging | include LINK|LINEPROTO|ERR|SPANTREE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codebg"/>
          <p:cNvSpPr/>
          <p:nvPr/>
        </p:nvSpPr>
        <p:spPr>
          <a:xfrm>
            <a:off x="685800" y="1901952"/>
            <a:ext cx="10820095" cy="238556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1891792"/>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%LINK-3-UPDOWN: Interface GigabitEthernet0/6, changed state to down</a:t>
            </a:r>
          </a:p>
          <a:p>
            <a:pPr>
              <a:lnSpc>
                <a:spcPct val="100000"/>
              </a:lnSpc>
              <a:spcAft>
                <a:spcPts val="0"/>
              </a:spcAft>
            </a:pPr>
            <a:r>
              <a:rPr sz="1600">
                <a:solidFill>
                  <a:srgbClr val="E8EEF2"/>
                </a:solidFill>
                <a:latin typeface="Consolas"/>
              </a:rPr>
              <a:t>%SPANTREE-2-BLOCK_BPDUGUARD: Received BPDU on port Gi0/7 with BPDU Guard</a:t>
            </a:r>
          </a:p>
          <a:p>
            <a:pPr>
              <a:lnSpc>
                <a:spcPct val="100000"/>
              </a:lnSpc>
              <a:spcAft>
                <a:spcPts val="0"/>
              </a:spcAft>
            </a:pPr>
            <a:r>
              <a:rPr sz="1600">
                <a:solidFill>
                  <a:srgbClr val="E8EEF2"/>
                </a:solidFill>
                <a:latin typeface="Consolas"/>
              </a:rPr>
              <a:t>   enabled. Disabling port.</a:t>
            </a:r>
          </a:p>
          <a:p>
            <a:pPr>
              <a:lnSpc>
                <a:spcPct val="100000"/>
              </a:lnSpc>
              <a:spcAft>
                <a:spcPts val="0"/>
              </a:spcAft>
            </a:pPr>
            <a:r>
              <a:rPr sz="1600">
                <a:solidFill>
                  <a:srgbClr val="E8EEF2"/>
                </a:solidFill>
                <a:latin typeface="Consolas"/>
              </a:rPr>
              <a:t>%PM-4-ERR_DISABLE: bpduguard error detected on Gi0/7, putting Gi0/7 in</a:t>
            </a:r>
          </a:p>
          <a:p>
            <a:pPr>
              <a:lnSpc>
                <a:spcPct val="100000"/>
              </a:lnSpc>
              <a:spcAft>
                <a:spcPts val="0"/>
              </a:spcAft>
            </a:pPr>
            <a:r>
              <a:rPr sz="1600">
                <a:solidFill>
                  <a:srgbClr val="E8EEF2"/>
                </a:solidFill>
                <a:latin typeface="Consolas"/>
              </a:rPr>
              <a:t>   err-disable state</a:t>
            </a:r>
          </a:p>
          <a:p>
            <a:pPr>
              <a:lnSpc>
                <a:spcPct val="100000"/>
              </a:lnSpc>
              <a:spcAft>
                <a:spcPts val="0"/>
              </a:spcAft>
            </a:pPr>
            <a:r>
              <a:rPr sz="1600">
                <a:solidFill>
                  <a:srgbClr val="E8EEF2"/>
                </a:solidFill>
                <a:latin typeface="Consolas"/>
              </a:rPr>
              <a:t>%CDP-4-NATIVE_VLAN_MISMATCH: Native VLAN mismatch discovered on</a:t>
            </a:r>
          </a:p>
          <a:p>
            <a:pPr>
              <a:lnSpc>
                <a:spcPct val="100000"/>
              </a:lnSpc>
              <a:spcAft>
                <a:spcPts val="0"/>
              </a:spcAft>
            </a:pPr>
            <a:r>
              <a:rPr sz="1600">
                <a:solidFill>
                  <a:srgbClr val="E8EEF2"/>
                </a:solidFill>
                <a:latin typeface="Consolas"/>
              </a:rPr>
              <a:t>   GigabitEthernet0/1 (999), with SW2 GigabitEthernet0/1 (1).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Read the log before you read anything else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log frequently contains the answer in plain English, timestamped. Above, it names the errdisable cause and a native VLAN mismatch nobody had reported — a fault that is silently bridging VLAN 999 and VLAN 1 between two switches.</a:t>
            </a:r>
          </a:p>
          <a:p>
            <a:pPr algn="l">
              <a:lnSpc>
                <a:spcPct val="100000"/>
              </a:lnSpc>
              <a:spcAft>
                <a:spcPts val="1000"/>
              </a:spcAft>
            </a:pPr>
            <a:r>
              <a:rPr sz="2000" b="0" i="0">
                <a:solidFill>
                  <a:srgbClr val="1C252B"/>
                </a:solidFill>
                <a:latin typeface="Segoe UI"/>
              </a:rPr>
              <a:t>Filter it. </a:t>
            </a:r>
            <a:r>
              <a:rPr sz="1900" b="0" i="0">
                <a:solidFill>
                  <a:srgbClr val="1A5276"/>
                </a:solidFill>
                <a:latin typeface="Consolas"/>
              </a:rPr>
              <a:t>show logging | include</a:t>
            </a:r>
            <a:r>
              <a:rPr sz="2000" b="0" i="0">
                <a:solidFill>
                  <a:srgbClr val="1C252B"/>
                </a:solidFill>
                <a:latin typeface="Segoe UI"/>
              </a:rPr>
              <a:t> with the keywords above turns hundreds of lines into the handful that matter.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The six faults, and what each looks like</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WORKED EXAMPLE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Working a fault end to end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Symptom.</a:t>
            </a:r>
            <a:r>
              <a:rPr sz="2000" b="0" i="0">
                <a:solidFill>
                  <a:srgbClr val="1C252B"/>
                </a:solidFill>
                <a:latin typeface="Segoe UI"/>
              </a:rPr>
              <a:t> “Nobody in accounts can reach the file server since this morning. Sales are fine.”</a:t>
            </a:r>
          </a:p>
          <a:p>
            <a:pPr algn="l">
              <a:lnSpc>
                <a:spcPct val="100000"/>
              </a:lnSpc>
              <a:spcAft>
                <a:spcPts val="1000"/>
              </a:spcAft>
            </a:pPr>
            <a:r>
              <a:rPr sz="2000" b="1" i="0">
                <a:solidFill>
                  <a:srgbClr val="1C252B"/>
                </a:solidFill>
                <a:latin typeface="Segoe UI"/>
              </a:rPr>
              <a:t>Scope.</a:t>
            </a:r>
            <a:r>
              <a:rPr sz="2000" b="0" i="0">
                <a:solidFill>
                  <a:srgbClr val="1C252B"/>
                </a:solidFill>
                <a:latin typeface="Segoe UI"/>
              </a:rPr>
              <a:t> One VLAN, multiple users, more than one switch. That rules out a single cable and points at the VLAN or its path.</a:t>
            </a:r>
          </a:p>
        </p:txBody>
      </p:sp>
      <p:sp>
        <p:nvSpPr>
          <p:cNvPr id="8" name="bullets"/>
          <p:cNvSpPr txBox="1"/>
          <p:nvPr/>
        </p:nvSpPr>
        <p:spPr>
          <a:xfrm>
            <a:off x="685800" y="3113024"/>
            <a:ext cx="10820095" cy="326948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1900" b="0" i="0">
                <a:solidFill>
                  <a:srgbClr val="1A5276"/>
                </a:solidFill>
                <a:latin typeface="Consolas"/>
              </a:rPr>
              <a:t>show interfaces status</a:t>
            </a:r>
            <a:r>
              <a:rPr sz="2000" b="0" i="0">
                <a:solidFill>
                  <a:srgbClr val="1C252B"/>
                </a:solidFill>
                <a:latin typeface="Segoe UI"/>
              </a:rPr>
              <a:t> on the access switch — accounts ports are </a:t>
            </a:r>
            <a:r>
              <a:rPr sz="1900" b="0" i="0">
                <a:solidFill>
                  <a:srgbClr val="1A5276"/>
                </a:solidFill>
                <a:latin typeface="Consolas"/>
              </a:rPr>
              <a:t>connected</a:t>
            </a:r>
            <a:r>
              <a:rPr sz="2000" b="0" i="0">
                <a:solidFill>
                  <a:srgbClr val="1C252B"/>
                </a:solidFill>
                <a:latin typeface="Segoe UI"/>
              </a:rPr>
              <a:t> in VLAN 30. Not a port problem.</a:t>
            </a:r>
          </a:p>
          <a:p>
            <a:pPr marL="228600" indent="-228600">
              <a:lnSpc>
                <a:spcPct val="102000"/>
              </a:lnSpc>
              <a:spcAft>
                <a:spcPts val="900"/>
              </a:spcAft>
            </a:pPr>
            <a:r>
              <a:rPr sz="2000" b="1">
                <a:solidFill>
                  <a:srgbClr val="117864"/>
                </a:solidFill>
                <a:latin typeface="Segoe UI"/>
              </a:rPr>
              <a:t>•  </a:t>
            </a:r>
            <a:r>
              <a:rPr sz="1900" b="0" i="0">
                <a:solidFill>
                  <a:srgbClr val="1A5276"/>
                </a:solidFill>
                <a:latin typeface="Consolas"/>
              </a:rPr>
              <a:t>show mac address-table vlan 30</a:t>
            </a:r>
            <a:r>
              <a:rPr sz="2000" b="0" i="0">
                <a:solidFill>
                  <a:srgbClr val="1C252B"/>
                </a:solidFill>
                <a:latin typeface="Segoe UI"/>
              </a:rPr>
              <a:t> — addresses are being learned locally. The devices are alive and the switch sees them.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WORKED EXAMPLE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Working a fault end to end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1900" b="0" i="0">
                <a:solidFill>
                  <a:srgbClr val="1A5276"/>
                </a:solidFill>
                <a:latin typeface="Consolas"/>
              </a:rPr>
              <a:t>show interfaces trunk</a:t>
            </a:r>
            <a:r>
              <a:rPr sz="2000" b="0" i="0">
                <a:solidFill>
                  <a:srgbClr val="1C252B"/>
                </a:solidFill>
                <a:latin typeface="Segoe UI"/>
              </a:rPr>
              <a:t> on the uplink — VLAN 30 appears in “allowed” but </a:t>
            </a:r>
            <a:r>
              <a:rPr sz="2000" b="0" i="1">
                <a:solidFill>
                  <a:srgbClr val="1C252B"/>
                </a:solidFill>
                <a:latin typeface="Segoe UI"/>
              </a:rPr>
              <a:t>not</a:t>
            </a:r>
            <a:r>
              <a:rPr sz="2000" b="0" i="0">
                <a:solidFill>
                  <a:srgbClr val="1C252B"/>
                </a:solidFill>
                <a:latin typeface="Segoe UI"/>
              </a:rPr>
              <a:t> in “forwarding and not pruned”.</a:t>
            </a:r>
          </a:p>
          <a:p>
            <a:pPr marL="228600" indent="-228600">
              <a:lnSpc>
                <a:spcPct val="102000"/>
              </a:lnSpc>
              <a:spcAft>
                <a:spcPts val="900"/>
              </a:spcAft>
            </a:pPr>
            <a:r>
              <a:rPr sz="2000" b="1">
                <a:solidFill>
                  <a:srgbClr val="117864"/>
                </a:solidFill>
                <a:latin typeface="Segoe UI"/>
              </a:rPr>
              <a:t>•  </a:t>
            </a:r>
            <a:r>
              <a:rPr sz="1900" b="0" i="0">
                <a:solidFill>
                  <a:srgbClr val="1A5276"/>
                </a:solidFill>
                <a:latin typeface="Consolas"/>
              </a:rPr>
              <a:t>show spanning-tree vlan 30</a:t>
            </a:r>
            <a:r>
              <a:rPr sz="2000" b="0" i="0">
                <a:solidFill>
                  <a:srgbClr val="1C252B"/>
                </a:solidFill>
                <a:latin typeface="Segoe UI"/>
              </a:rPr>
              <a:t> — the uplink is </a:t>
            </a:r>
            <a:r>
              <a:rPr sz="1900" b="0" i="0">
                <a:solidFill>
                  <a:srgbClr val="1A5276"/>
                </a:solidFill>
                <a:latin typeface="Consolas"/>
              </a:rPr>
              <a:t>Altn BLK</a:t>
            </a:r>
            <a:r>
              <a:rPr sz="20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WORKED EXAMPLE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Working a fault end to end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1900" b="0" i="0">
                <a:solidFill>
                  <a:srgbClr val="1A5276"/>
                </a:solidFill>
                <a:latin typeface="Consolas"/>
              </a:rPr>
              <a:t>show logging | include SPANTREE</a:t>
            </a:r>
            <a:r>
              <a:rPr sz="2000" b="0" i="0">
                <a:solidFill>
                  <a:srgbClr val="1C252B"/>
                </a:solidFill>
                <a:latin typeface="Segoe UI"/>
              </a:rPr>
              <a:t> — a topology change overnight; a second switch was added and won the root election for VLAN 30.</a:t>
            </a:r>
          </a:p>
        </p:txBody>
      </p:sp>
      <p:sp>
        <p:nvSpPr>
          <p:cNvPr id="8" name="tailbody"/>
          <p:cNvSpPr txBox="1"/>
          <p:nvPr/>
        </p:nvSpPr>
        <p:spPr>
          <a:xfrm>
            <a:off x="685800" y="2864104"/>
            <a:ext cx="10820095" cy="3463544"/>
          </a:xfrm>
          <a:prstGeom prst="rect">
            <a:avLst/>
          </a:prstGeom>
          <a:noFill/>
        </p:spPr>
        <p:txBody>
          <a:bodyPr wrap="square" anchor="t" lIns="0" rIns="0" tIns="0" bIns="0">
            <a:spAutoFit/>
          </a:bodyPr>
          <a:lstStyle/>
          <a:p>
            <a:pPr algn="l">
              <a:lnSpc>
                <a:spcPct val="100000"/>
              </a:lnSpc>
              <a:spcAft>
                <a:spcPts val="600"/>
              </a:spcAft>
            </a:pPr>
            <a:r>
              <a:rPr sz="2000" b="1" i="0">
                <a:solidFill>
                  <a:srgbClr val="1C252B"/>
                </a:solidFill>
                <a:latin typeface="Segoe UI"/>
              </a:rPr>
              <a:t>Cause.</a:t>
            </a:r>
            <a:r>
              <a:rPr sz="2000" b="0" i="0">
                <a:solidFill>
                  <a:srgbClr val="1C252B"/>
                </a:solidFill>
                <a:latin typeface="Segoe UI"/>
              </a:rPr>
              <a:t> Not a VLAN fault at all. The new switch became root for VLAN 30 only, which moved the tree and put the accounts uplink into blocking. Sales, in VLAN 20, still had the old root and were unaffected — which is exactly why only one VLAN broke.</a:t>
            </a:r>
          </a:p>
          <a:p>
            <a:pPr algn="l">
              <a:lnSpc>
                <a:spcPct val="100000"/>
              </a:lnSpc>
              <a:spcAft>
                <a:spcPts val="600"/>
              </a:spcAft>
            </a:pPr>
            <a:r>
              <a:rPr sz="2000" b="1" i="0">
                <a:solidFill>
                  <a:srgbClr val="1C252B"/>
                </a:solidFill>
                <a:latin typeface="Segoe UI"/>
              </a:rPr>
              <a:t>Fix.</a:t>
            </a:r>
            <a:r>
              <a:rPr sz="2000" b="0" i="0">
                <a:solidFill>
                  <a:srgbClr val="1C252B"/>
                </a:solidFill>
                <a:latin typeface="Segoe UI"/>
              </a:rPr>
              <a:t> Set the intended root explicitly for all VLANs, add root guard on the ports facing access switches, and confirm the uplink returns to </a:t>
            </a:r>
            <a:r>
              <a:rPr sz="1900" b="0" i="0">
                <a:solidFill>
                  <a:srgbClr val="1A5276"/>
                </a:solidFill>
                <a:latin typeface="Consolas"/>
              </a:rPr>
              <a:t>Desg FWD</a:t>
            </a:r>
            <a:r>
              <a:rPr sz="20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The six faults, and what each looks like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Changing something before you have measured.</a:t>
            </a:r>
            <a:r>
              <a:rPr sz="2000" b="0" i="0">
                <a:solidFill>
                  <a:srgbClr val="1C252B"/>
                </a:solidFill>
                <a:latin typeface="Segoe UI"/>
              </a:rPr>
              <a:t> If you reconfigure before capturing the current state you can no longer tell whether you fixed it or moved it.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Changing more than one thing at once.</a:t>
            </a:r>
            <a:r>
              <a:rPr sz="2000" b="0" i="0">
                <a:solidFill>
                  <a:srgbClr val="1C252B"/>
                </a:solidFill>
                <a:latin typeface="Segoe UI"/>
              </a:rPr>
              <a:t> Then you do not know which change worked, and you cannot write it up.</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Believing the reporter’s diagnosis.</a:t>
            </a:r>
            <a:r>
              <a:rPr sz="2000" b="0" i="0">
                <a:solidFill>
                  <a:srgbClr val="1C252B"/>
                </a:solidFill>
                <a:latin typeface="Segoe UI"/>
              </a:rPr>
              <a:t> “The switch is broken” usually means “my thing does not work”. Take the symptom, discard the theory.</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Ignoring what still works.</a:t>
            </a:r>
            <a:r>
              <a:rPr sz="2000" b="0" i="0">
                <a:solidFill>
                  <a:srgbClr val="1C252B"/>
                </a:solidFill>
                <a:latin typeface="Segoe UI"/>
              </a:rPr>
              <a:t> The working half of the network is evidence. Sales working and accounts failing localised the fault above faster than any command did.</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Skipping the log.</a:t>
            </a:r>
            <a:r>
              <a:rPr sz="2000" b="0" i="0">
                <a:solidFill>
                  <a:srgbClr val="1C252B"/>
                </a:solidFill>
                <a:latin typeface="Segoe UI"/>
              </a:rPr>
              <a:t> It is timestamped and often explicit.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Two symptoms, one cause, and a misleading first look.</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Users report intermittent slowness. One user cannot connect at all. Both started after a contractor visited the comms room.</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Two symptoms, one cause, and a misleading first look.</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interfaces status | exclude connected</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Port      Name               Status       Vlan       Duplex  Speed Type</a:t>
            </a:r>
          </a:p>
          <a:p>
            <a:pPr>
              <a:lnSpc>
                <a:spcPct val="100000"/>
              </a:lnSpc>
              <a:spcAft>
                <a:spcPts val="0"/>
              </a:spcAft>
            </a:pPr>
            <a:r>
              <a:rPr sz="1500">
                <a:solidFill>
                  <a:srgbClr val="E8EEF2"/>
                </a:solidFill>
                <a:latin typeface="Consolas"/>
              </a:rPr>
              <a:t>Gi0/7     Desk 7             err-disabled 10           auto   auto 10/100/1000</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logging | include ERR_DISABLE|MACFLAP</a:t>
            </a:r>
          </a:p>
        </p:txBody>
      </p:sp>
      <p:sp>
        <p:nvSpPr>
          <p:cNvPr id="6" name="bfcodebg"/>
          <p:cNvSpPr/>
          <p:nvPr/>
        </p:nvSpPr>
        <p:spPr>
          <a:xfrm>
            <a:off x="685800" y="2011680"/>
            <a:ext cx="10820095" cy="154838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107289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%PM-4-ERR_DISABLE: bpduguard error detected on Gi0/7, putting Gi0/7 in</a:t>
            </a:r>
          </a:p>
          <a:p>
            <a:pPr>
              <a:lnSpc>
                <a:spcPct val="100000"/>
              </a:lnSpc>
              <a:spcAft>
                <a:spcPts val="0"/>
              </a:spcAft>
            </a:pPr>
            <a:r>
              <a:rPr sz="1500">
                <a:solidFill>
                  <a:srgbClr val="E8EEF2"/>
                </a:solidFill>
                <a:latin typeface="Consolas"/>
              </a:rPr>
              <a:t>   err-disable state</a:t>
            </a:r>
          </a:p>
          <a:p>
            <a:pPr>
              <a:lnSpc>
                <a:spcPct val="100000"/>
              </a:lnSpc>
              <a:spcAft>
                <a:spcPts val="0"/>
              </a:spcAft>
            </a:pPr>
            <a:r>
              <a:rPr sz="1500">
                <a:solidFill>
                  <a:srgbClr val="E8EEF2"/>
                </a:solidFill>
                <a:latin typeface="Consolas"/>
              </a:rPr>
              <a:t>%SW_MATM-4-MACFLAP_NOTIF: Host 0011.2233.4455 in vlan 10 is flapping</a:t>
            </a:r>
          </a:p>
          <a:p>
            <a:pPr>
              <a:lnSpc>
                <a:spcPct val="100000"/>
              </a:lnSpc>
              <a:spcAft>
                <a:spcPts val="0"/>
              </a:spcAft>
            </a:pPr>
            <a:r>
              <a:rPr sz="1500">
                <a:solidFill>
                  <a:srgbClr val="E8EEF2"/>
                </a:solidFill>
                <a:latin typeface="Consolas"/>
              </a:rPr>
              <a:t>   between port Gi0/7 and port Gi0/12</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Both symptoms are one event. The contractor plugged an unmanaged switch into </a:t>
            </a:r>
            <a:r>
              <a:rPr sz="1800" b="0" i="0">
                <a:solidFill>
                  <a:srgbClr val="1A5276"/>
                </a:solidFill>
                <a:latin typeface="Consolas"/>
              </a:rPr>
              <a:t>Gi0/7</a:t>
            </a:r>
            <a:r>
              <a:rPr sz="1900" b="0" i="0">
                <a:solidFill>
                  <a:srgbClr val="1C252B"/>
                </a:solidFill>
                <a:latin typeface="Segoe UI"/>
              </a:rPr>
              <a:t> and, to “make sure it worked”, also patched it into </a:t>
            </a:r>
            <a:r>
              <a:rPr sz="1800" b="0" i="0">
                <a:solidFill>
                  <a:srgbClr val="1A5276"/>
                </a:solidFill>
                <a:latin typeface="Consolas"/>
              </a:rPr>
              <a:t>Gi0/12</a:t>
            </a:r>
            <a:r>
              <a:rPr sz="1900" b="0" i="0">
                <a:solidFill>
                  <a:srgbClr val="1C252B"/>
                </a:solidFill>
                <a:latin typeface="Segoe UI"/>
              </a:rPr>
              <a:t>. That created a loop: the MAC flap is the loop being seen from two ports, and the intermittent slowness is the resulting flooding. BPDU guard then errdisabled </a:t>
            </a:r>
            <a:r>
              <a:rPr sz="1800" b="0" i="0">
                <a:solidFill>
                  <a:srgbClr val="1A5276"/>
                </a:solidFill>
                <a:latin typeface="Consolas"/>
              </a:rPr>
              <a:t>Gi0/7</a:t>
            </a:r>
            <a:r>
              <a:rPr sz="1900" b="0" i="0">
                <a:solidFill>
                  <a:srgbClr val="1C252B"/>
                </a:solidFill>
                <a:latin typeface="Segoe UI"/>
              </a:rPr>
              <a:t>, which is the one port that is definitively dead — and which, by shutting, largely saved the network.</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Remove the second patch lead. Confirm the flapping stops. Then recover the port with </a:t>
            </a:r>
            <a:r>
              <a:rPr sz="1800" b="0" i="0">
                <a:solidFill>
                  <a:srgbClr val="1A5276"/>
                </a:solidFill>
                <a:latin typeface="Consolas"/>
              </a:rPr>
              <a:t>shutdown</a:t>
            </a:r>
            <a:r>
              <a:rPr sz="1900" b="0" i="0">
                <a:solidFill>
                  <a:srgbClr val="1C252B"/>
                </a:solidFill>
                <a:latin typeface="Segoe UI"/>
              </a:rPr>
              <a:t> / </a:t>
            </a:r>
            <a:r>
              <a:rPr sz="1800" b="0" i="0">
                <a:solidFill>
                  <a:srgbClr val="1A5276"/>
                </a:solidFill>
                <a:latin typeface="Consolas"/>
              </a:rPr>
              <a:t>no shutdown</a:t>
            </a:r>
            <a:r>
              <a:rPr sz="1900" b="0" i="0">
                <a:solidFill>
                  <a:srgbClr val="1C252B"/>
                </a:solidFill>
                <a:latin typeface="Segoe UI"/>
              </a:rPr>
              <a:t> — </a:t>
            </a:r>
            <a:r>
              <a:rPr sz="1900" b="0" i="1">
                <a:solidFill>
                  <a:srgbClr val="1C252B"/>
                </a:solidFill>
                <a:latin typeface="Segoe UI"/>
              </a:rPr>
              <a:t>after</a:t>
            </a:r>
            <a:r>
              <a:rPr sz="1900" b="0" i="0">
                <a:solidFill>
                  <a:srgbClr val="1C252B"/>
                </a:solidFill>
                <a:latin typeface="Segoe UI"/>
              </a:rPr>
              <a:t> the cause is gone, not before, or it will simply errdisable again. Finally, note that BPDU guard did its job: without it this would have been a full broadcast storm rather than one dead port.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Fix five faults against the clock</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Topology.</a:t>
            </a:r>
            <a:r>
              <a:rPr sz="2000" b="0" i="0">
                <a:solidFill>
                  <a:srgbClr val="1C252B"/>
                </a:solidFill>
                <a:latin typeface="Segoe UI"/>
              </a:rPr>
              <a:t> Three switches, one router, six PCs across three VLANs — built, working, and then broken by a partner.</a:t>
            </a:r>
          </a:p>
        </p:txBody>
      </p:sp>
      <p:sp>
        <p:nvSpPr>
          <p:cNvPr id="8" name="bullets"/>
          <p:cNvSpPr txBox="1"/>
          <p:nvPr/>
        </p:nvSpPr>
        <p:spPr>
          <a:xfrm>
            <a:off x="685800" y="2361184"/>
            <a:ext cx="10820095" cy="4021328"/>
          </a:xfrm>
          <a:prstGeom prst="rect">
            <a:avLst/>
          </a:prstGeom>
          <a:noFill/>
        </p:spPr>
        <p:txBody>
          <a:bodyPr wrap="square" lIns="0" rIns="0" tIns="0" bIns="0">
            <a:spAutoFit/>
          </a:bodyPr>
          <a:lstStyle/>
          <a:p>
            <a:pPr marL="386080" indent="-386080">
              <a:lnSpc>
                <a:spcPct val="102000"/>
              </a:lnSpc>
              <a:spcAft>
                <a:spcPts val="900"/>
              </a:spcAft>
            </a:pPr>
            <a:r>
              <a:rPr sz="2000" b="1">
                <a:solidFill>
                  <a:srgbClr val="117864"/>
                </a:solidFill>
                <a:latin typeface="Segoe UI"/>
              </a:rPr>
              <a:t>1.  </a:t>
            </a:r>
            <a:r>
              <a:rPr sz="2000" b="0" i="0">
                <a:solidFill>
                  <a:srgbClr val="1C252B"/>
                </a:solidFill>
                <a:latin typeface="Segoe UI"/>
              </a:rPr>
              <a:t>Build the network and confirm it works fully. </a:t>
            </a:r>
            <a:r>
              <a:rPr sz="2000" b="1" i="0">
                <a:solidFill>
                  <a:srgbClr val="1C252B"/>
                </a:solidFill>
                <a:latin typeface="Segoe UI"/>
              </a:rPr>
              <a:t>Capture a baseline</a:t>
            </a:r>
            <a:r>
              <a:rPr sz="2000" b="0" i="0">
                <a:solidFill>
                  <a:srgbClr val="1C252B"/>
                </a:solidFill>
                <a:latin typeface="Segoe UI"/>
              </a:rPr>
              <a:t>: </a:t>
            </a:r>
            <a:r>
              <a:rPr sz="1900" b="0" i="0">
                <a:solidFill>
                  <a:srgbClr val="1A5276"/>
                </a:solidFill>
                <a:latin typeface="Consolas"/>
              </a:rPr>
              <a:t>show interfaces status</a:t>
            </a:r>
            <a:r>
              <a:rPr sz="2000" b="0" i="0">
                <a:solidFill>
                  <a:srgbClr val="1C252B"/>
                </a:solidFill>
                <a:latin typeface="Segoe UI"/>
              </a:rPr>
              <a:t>, </a:t>
            </a:r>
            <a:r>
              <a:rPr sz="1900" b="0" i="0">
                <a:solidFill>
                  <a:srgbClr val="1A5276"/>
                </a:solidFill>
                <a:latin typeface="Consolas"/>
              </a:rPr>
              <a:t>show interfaces trunk</a:t>
            </a:r>
            <a:r>
              <a:rPr sz="2000" b="0" i="0">
                <a:solidFill>
                  <a:srgbClr val="1C252B"/>
                </a:solidFill>
                <a:latin typeface="Segoe UI"/>
              </a:rPr>
              <a:t>, </a:t>
            </a:r>
            <a:r>
              <a:rPr sz="1900" b="0" i="0">
                <a:solidFill>
                  <a:srgbClr val="1A5276"/>
                </a:solidFill>
                <a:latin typeface="Consolas"/>
              </a:rPr>
              <a:t>show spanning-tree vlan</a:t>
            </a:r>
            <a:r>
              <a:rPr sz="2000" b="0" i="0">
                <a:solidFill>
                  <a:srgbClr val="1C252B"/>
                </a:solidFill>
                <a:latin typeface="Segoe UI"/>
              </a:rPr>
              <a:t> and </a:t>
            </a:r>
            <a:r>
              <a:rPr sz="1900" b="0" i="0">
                <a:solidFill>
                  <a:srgbClr val="1A5276"/>
                </a:solidFill>
                <a:latin typeface="Consolas"/>
              </a:rPr>
              <a:t>show ip interface brief</a:t>
            </a:r>
            <a:r>
              <a:rPr sz="2000" b="0" i="0">
                <a:solidFill>
                  <a:srgbClr val="1C252B"/>
                </a:solidFill>
                <a:latin typeface="Segoe UI"/>
              </a:rPr>
              <a:t> from every device. You cannot troubleshoot without knowing what right looks like.</a:t>
            </a:r>
          </a:p>
          <a:p>
            <a:pPr marL="386080" indent="-386080">
              <a:lnSpc>
                <a:spcPct val="102000"/>
              </a:lnSpc>
              <a:spcAft>
                <a:spcPts val="900"/>
              </a:spcAft>
            </a:pPr>
            <a:r>
              <a:rPr sz="2000" b="1">
                <a:solidFill>
                  <a:srgbClr val="117864"/>
                </a:solidFill>
                <a:latin typeface="Segoe UI"/>
              </a:rPr>
              <a:t>2.  </a:t>
            </a:r>
            <a:r>
              <a:rPr sz="2000" b="0" i="0">
                <a:solidFill>
                  <a:srgbClr val="1C252B"/>
                </a:solidFill>
                <a:latin typeface="Segoe UI"/>
              </a:rPr>
              <a:t>Hand the network to a partner, who introduces </a:t>
            </a:r>
            <a:r>
              <a:rPr sz="2000" b="1" i="0">
                <a:solidFill>
                  <a:srgbClr val="1C252B"/>
                </a:solidFill>
                <a:latin typeface="Segoe UI"/>
              </a:rPr>
              <a:t>five</a:t>
            </a:r>
            <a:r>
              <a:rPr sz="2000" b="0" i="0">
                <a:solidFill>
                  <a:srgbClr val="1C252B"/>
                </a:solidFill>
                <a:latin typeface="Segoe UI"/>
              </a:rPr>
              <a:t> faults from the table above without telling you which.</a:t>
            </a:r>
          </a:p>
          <a:p>
            <a:pPr marL="386080" indent="-386080">
              <a:lnSpc>
                <a:spcPct val="102000"/>
              </a:lnSpc>
              <a:spcAft>
                <a:spcPts val="900"/>
              </a:spcAft>
            </a:pPr>
            <a:r>
              <a:rPr sz="2000" b="1">
                <a:solidFill>
                  <a:srgbClr val="117864"/>
                </a:solidFill>
                <a:latin typeface="Segoe UI"/>
              </a:rPr>
              <a:t>3.  </a:t>
            </a:r>
            <a:r>
              <a:rPr sz="2000" b="0" i="0">
                <a:solidFill>
                  <a:srgbClr val="1C252B"/>
                </a:solidFill>
                <a:latin typeface="Segoe UI"/>
              </a:rPr>
              <a:t>Find and fix them, writing down for each: the symptom, the scope, the command that proved it, and the fix. Give yourself twenty minutes.</a:t>
            </a:r>
          </a:p>
          <a:p>
            <a:pPr marL="386080" indent="-386080">
              <a:lnSpc>
                <a:spcPct val="102000"/>
              </a:lnSpc>
              <a:spcAft>
                <a:spcPts val="900"/>
              </a:spcAft>
            </a:pPr>
            <a:r>
              <a:rPr sz="2000" b="1">
                <a:solidFill>
                  <a:srgbClr val="117864"/>
                </a:solidFill>
                <a:latin typeface="Segoe UI"/>
              </a:rPr>
              <a:t>4.  </a:t>
            </a:r>
            <a:r>
              <a:rPr sz="2000" b="0" i="0">
                <a:solidFill>
                  <a:srgbClr val="1C252B"/>
                </a:solidFill>
                <a:latin typeface="Segoe UI"/>
              </a:rPr>
              <a:t>Swap roles.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Fix five faults against the clock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117864"/>
                </a:solidFill>
                <a:latin typeface="Segoe UI"/>
              </a:rPr>
              <a:t>5.  </a:t>
            </a:r>
            <a:r>
              <a:rPr sz="2000" b="0" i="0">
                <a:solidFill>
                  <a:srgbClr val="1C252B"/>
                </a:solidFill>
                <a:latin typeface="Segoe UI"/>
              </a:rPr>
              <a:t>Compare notes: which fault took longest, and would starting with scope rather than commands have found it faster?</a:t>
            </a:r>
          </a:p>
          <a:p>
            <a:pPr marL="386080" indent="-386080">
              <a:lnSpc>
                <a:spcPct val="102000"/>
              </a:lnSpc>
              <a:spcAft>
                <a:spcPts val="900"/>
              </a:spcAft>
            </a:pPr>
            <a:r>
              <a:rPr sz="2000" b="1">
                <a:solidFill>
                  <a:srgbClr val="117864"/>
                </a:solidFill>
                <a:latin typeface="Segoe UI"/>
              </a:rPr>
              <a:t>6.  </a:t>
            </a:r>
            <a:r>
              <a:rPr sz="2000" b="1" i="0">
                <a:solidFill>
                  <a:srgbClr val="1C252B"/>
                </a:solidFill>
                <a:latin typeface="Segoe UI"/>
              </a:rPr>
              <a:t>Extension.</a:t>
            </a:r>
            <a:r>
              <a:rPr sz="2000" b="0" i="0">
                <a:solidFill>
                  <a:srgbClr val="1C252B"/>
                </a:solidFill>
                <a:latin typeface="Segoe UI"/>
              </a:rPr>
              <a:t> Introduce a fault that produces </a:t>
            </a:r>
            <a:r>
              <a:rPr sz="2000" b="0" i="1">
                <a:solidFill>
                  <a:srgbClr val="1C252B"/>
                </a:solidFill>
                <a:latin typeface="Segoe UI"/>
              </a:rPr>
              <a:t>no</a:t>
            </a:r>
            <a:r>
              <a:rPr sz="2000" b="0" i="0">
                <a:solidFill>
                  <a:srgbClr val="1C252B"/>
                </a:solidFill>
                <a:latin typeface="Segoe UI"/>
              </a:rPr>
              <a:t> log message — a wrong access VLAN is a good one — and discuss why the log is a first stop rather than a complete answer.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Users on one VLAN across three switches lose connectivity; other VLANs are fine. What are the two most likely causes, and which command separates them?</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Users on one VLAN across three switches lose connectivity; other VLANs are fine. What are the two most likely causes, and which command separates them?</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Either the VLAN is missing from a trunk’s allowed list, or it has been deleted or shut down on one switch. </a:t>
            </a:r>
            <a:r>
              <a:rPr sz="1800" b="0" i="0">
                <a:solidFill>
                  <a:srgbClr val="1A5276"/>
                </a:solidFill>
                <a:latin typeface="Consolas"/>
              </a:rPr>
              <a:t>show interfaces trunk</a:t>
            </a:r>
            <a:r>
              <a:rPr sz="1900" b="0" i="0">
                <a:solidFill>
                  <a:srgbClr val="1C252B"/>
                </a:solidFill>
                <a:latin typeface="Segoe UI"/>
              </a:rPr>
              <a:t> separates them — read </a:t>
            </a:r>
            <a:r>
              <a:rPr sz="1800" b="0" i="0">
                <a:solidFill>
                  <a:srgbClr val="1A5276"/>
                </a:solidFill>
                <a:latin typeface="Consolas"/>
              </a:rPr>
              <a:t>Vlans allowed and active</a:t>
            </a:r>
            <a:r>
              <a:rPr sz="1900" b="0" i="0">
                <a:solidFill>
                  <a:srgbClr val="1C252B"/>
                </a:solidFill>
                <a:latin typeface="Segoe UI"/>
              </a:rPr>
              <a:t>, which reflects both the allowed list and whether the VLAN exists.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port is errdisabled. You issue </a:t>
            </a:r>
            <a:r>
              <a:rPr sz="2900" b="0" i="0">
                <a:solidFill>
                  <a:srgbClr val="FFFFFF"/>
                </a:solidFill>
                <a:latin typeface="Consolas"/>
              </a:rPr>
              <a:t>no shutdown</a:t>
            </a:r>
            <a:r>
              <a:rPr sz="3000" b="0" i="0">
                <a:solidFill>
                  <a:srgbClr val="FFFFFF"/>
                </a:solidFill>
                <a:latin typeface="Segoe UI"/>
              </a:rPr>
              <a:t> and it errdisables again within seconds. What have you forgotten?</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port is errdisabled. You issue </a:t>
            </a:r>
            <a:r>
              <a:rPr sz="1900" b="1" i="0">
                <a:solidFill>
                  <a:srgbClr val="1A5276"/>
                </a:solidFill>
                <a:latin typeface="Consolas"/>
              </a:rPr>
              <a:t>no shutdown</a:t>
            </a:r>
            <a:r>
              <a:rPr sz="2000" b="1" i="0">
                <a:solidFill>
                  <a:srgbClr val="1A5276"/>
                </a:solidFill>
                <a:latin typeface="Segoe UI"/>
              </a:rPr>
              <a:t> and it errdisables again within seconds. What have you forgotten?</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To fix the cause. Err-disable is a symptom; whatever triggered it — a port security violation, a BPDU on a PortFast port — is still there and will trigger again the moment the port comes up.</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does knowing what </a:t>
            </a:r>
            <a:r>
              <a:rPr sz="3000" b="0" i="1">
                <a:solidFill>
                  <a:srgbClr val="FFFFFF"/>
                </a:solidFill>
                <a:latin typeface="Segoe UI"/>
              </a:rPr>
              <a:t>still works</a:t>
            </a:r>
            <a:r>
              <a:rPr sz="3000" b="0" i="0">
                <a:solidFill>
                  <a:srgbClr val="FFFFFF"/>
                </a:solidFill>
                <a:latin typeface="Segoe UI"/>
              </a:rPr>
              <a:t> narrow a fault faster than knowing what is broken?</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does knowing what </a:t>
            </a:r>
            <a:r>
              <a:rPr sz="2000" b="1" i="1">
                <a:solidFill>
                  <a:srgbClr val="1A5276"/>
                </a:solidFill>
                <a:latin typeface="Segoe UI"/>
              </a:rPr>
              <a:t>still works</a:t>
            </a:r>
            <a:r>
              <a:rPr sz="2000" b="1" i="0">
                <a:solidFill>
                  <a:srgbClr val="1A5276"/>
                </a:solidFill>
                <a:latin typeface="Segoe UI"/>
              </a:rPr>
              <a:t> narrow a fault faster than knowing what is broken?</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everything that still works is evidence you can trust, and it eliminates whole layers and paths at once. A user’s report tells you one thing is broken; knowing that four similar things are fine tells you where the fault </a:t>
            </a:r>
            <a:r>
              <a:rPr sz="1900" b="0" i="1">
                <a:solidFill>
                  <a:srgbClr val="1C252B"/>
                </a:solidFill>
                <a:latin typeface="Segoe UI"/>
              </a:rPr>
              <a:t>cannot</a:t>
            </a:r>
            <a:r>
              <a:rPr sz="1900" b="0" i="0">
                <a:solidFill>
                  <a:srgbClr val="1C252B"/>
                </a:solidFill>
                <a:latin typeface="Segoe UI"/>
              </a:rPr>
              <a:t> be, which is a much larger reduction in the search space.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14. Troubleshooting Layer 2</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Establish scope first — one device, one VLAN, one switch, or everything. Scope points at the layer before you type anything.</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Then work bottom-up: port up, port clean, right VLAN, MAC learned, VLAN on the trunk, spanning tree forwarding, gateway present.</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Read </a:t>
            </a:r>
            <a:r>
              <a:rPr sz="1900" b="0" i="0">
                <a:solidFill>
                  <a:srgbClr val="1A5276"/>
                </a:solidFill>
                <a:latin typeface="Consolas"/>
              </a:rPr>
              <a:t>show logging</a:t>
            </a:r>
            <a:r>
              <a:rPr sz="2000" b="0" i="0">
                <a:solidFill>
                  <a:srgbClr val="1C252B"/>
                </a:solidFill>
                <a:latin typeface="Segoe UI"/>
              </a:rPr>
              <a:t> early. It is timestamped and often explicit.</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Six faults cover most cases: wrong VLAN, VLAN missing from a trunk, native VLAN mismatch, errdisable, spanning tree blocking, duplex mismatch.</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Capture a baseline while the network works. Change one thing at a time, and remove the cause before recovering an errdisabled port.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Establish scope first — one device, one VLAN, one switch, or everything. Scope points at the layer before you type anything.</a:t>
            </a:r>
          </a:p>
          <a:p>
            <a:pPr marL="217169" indent="-217169">
              <a:spcAft>
                <a:spcPts val="900"/>
              </a:spcAft>
            </a:pPr>
            <a:r>
              <a:rPr sz="1900">
                <a:solidFill>
                  <a:srgbClr val="C8D6E5"/>
                </a:solidFill>
              </a:rPr>
              <a:t>•  </a:t>
            </a:r>
            <a:r>
              <a:rPr sz="1900" b="0" i="0">
                <a:solidFill>
                  <a:srgbClr val="FFFFFF"/>
                </a:solidFill>
                <a:latin typeface="Segoe UI"/>
              </a:rPr>
              <a:t>Then work bottom-up: port up, port clean, right VLAN, MAC learned, VLAN on the trunk, spanning tree forwarding, gateway present.</a:t>
            </a:r>
          </a:p>
          <a:p>
            <a:pPr marL="217169" indent="-217169">
              <a:spcAft>
                <a:spcPts val="900"/>
              </a:spcAft>
            </a:pPr>
            <a:r>
              <a:rPr sz="1900">
                <a:solidFill>
                  <a:srgbClr val="C8D6E5"/>
                </a:solidFill>
              </a:rPr>
              <a:t>•  </a:t>
            </a:r>
            <a:r>
              <a:rPr sz="1900" b="0" i="0">
                <a:solidFill>
                  <a:srgbClr val="FFFFFF"/>
                </a:solidFill>
                <a:latin typeface="Segoe UI"/>
              </a:rPr>
              <a:t>Read </a:t>
            </a:r>
            <a:r>
              <a:rPr sz="1800" b="0" i="0">
                <a:solidFill>
                  <a:srgbClr val="FFFFFF"/>
                </a:solidFill>
                <a:latin typeface="Consolas"/>
              </a:rPr>
              <a:t>show logging</a:t>
            </a:r>
            <a:r>
              <a:rPr sz="1900" b="0" i="0">
                <a:solidFill>
                  <a:srgbClr val="FFFFFF"/>
                </a:solidFill>
                <a:latin typeface="Segoe UI"/>
              </a:rPr>
              <a:t> early. It is timestamped and often explicit.</a:t>
            </a:r>
          </a:p>
          <a:p>
            <a:pPr marL="217169" indent="-217169">
              <a:spcAft>
                <a:spcPts val="900"/>
              </a:spcAft>
            </a:pPr>
            <a:r>
              <a:rPr sz="1900">
                <a:solidFill>
                  <a:srgbClr val="C8D6E5"/>
                </a:solidFill>
              </a:rPr>
              <a:t>•  </a:t>
            </a:r>
            <a:r>
              <a:rPr sz="1900" b="0" i="0">
                <a:solidFill>
                  <a:srgbClr val="FFFFFF"/>
                </a:solidFill>
                <a:latin typeface="Segoe UI"/>
              </a:rPr>
              <a:t>Six faults cover most cases: wrong VLAN, VLAN missing from a trunk, native VLAN mismatch, errdisable, spanning tree blocking, duplex mismatch.</a:t>
            </a:r>
          </a:p>
        </p:txBody>
      </p:sp>
      <p:sp>
        <p:nvSpPr>
          <p:cNvPr id="5" name="nextbg"/>
          <p:cNvSpPr/>
          <p:nvPr/>
        </p:nvSpPr>
        <p:spPr>
          <a:xfrm>
            <a:off x="685800" y="5303520"/>
            <a:ext cx="10820095" cy="82296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15 — The Routing Table and How a Router Decides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