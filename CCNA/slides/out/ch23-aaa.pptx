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23: Device Access, AAA and Secure File Transfer. Blueprint topics: 4.1, 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Device Access, AAA and Secure File Transfer 4.14.2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server is involved, get the device itself right. Everything in this section should be on every device you build, including the ones that later use AAA — because AAA servers fail, and this is what you fall back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 list is an ordered list of ways to answer one of those questions. The device tries them left to right and moves on only when a method is unreachable, not when it returns a refusal.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AAA protocols and they are not interchangeable. This table is examinable more or less as it stands.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TFTP has no user authentication, no encryption, and runs over UDP with no integrity protection beyond a checksum. Anyone who can reach the server can read any file whose name they can guess, and a configuration file in flight is readable by anyone on the path — including the shared secrets in it. That is the case for its removal from the blueprint. SCP runs over SSH, so it inherits SSH’s authentication and encryption. The device can act as an SCP server, letting you pull and push files from a workstation.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that in place, from a workstation: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IOS is an SFTP client but not an SFTP server. So the direction of travel is the device fetching from, or sending to, a server you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23</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Device Access, AAA and Secure File Transfer</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4.1</a:t>
            </a:r>
          </a:p>
        </p:txBody>
      </p:sp>
      <p:sp>
        <p:nvSpPr>
          <p:cNvPr id="11" name="chip-4.2"/>
          <p:cNvSpPr/>
          <p:nvPr/>
        </p:nvSpPr>
        <p:spPr>
          <a:xfrm>
            <a:off x="3136391"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iptx-4.2"/>
          <p:cNvSpPr txBox="1"/>
          <p:nvPr/>
        </p:nvSpPr>
        <p:spPr>
          <a:xfrm>
            <a:off x="3136391"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4.2</a:t>
            </a:r>
          </a:p>
        </p:txBody>
      </p:sp>
      <p:sp>
        <p:nvSpPr>
          <p:cNvPr id="13"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4"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5"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local usernames, enable secrets and SSH-only access to the console and VTY lines.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a router or switch as an AAA client against TACACS+ and against RADIUS, with a local fallback that cannot lock you out.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Compare</a:t>
            </a:r>
            <a:r>
              <a:rPr sz="2000" b="0" i="0">
                <a:solidFill>
                  <a:srgbClr val="1C252B"/>
                </a:solidFill>
                <a:latin typeface="Segoe UI"/>
              </a:rPr>
              <a:t> TACACS+ and RADIUS and choose correctly between them.</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Manage</a:t>
            </a:r>
            <a:r>
              <a:rPr sz="2000" b="0" i="0">
                <a:solidFill>
                  <a:srgbClr val="1C252B"/>
                </a:solidFill>
                <a:latin typeface="Segoe UI"/>
              </a:rPr>
              <a:t> configuration and image files over SCP and SFTP, and say why v2.0 replaced TFTP with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7 for line configuration and privilege levels. Chapter 21 for </a:t>
            </a:r>
            <a:r>
              <a:rPr sz="1900" b="0" i="0">
                <a:solidFill>
                  <a:srgbClr val="1A5276"/>
                </a:solidFill>
                <a:latin typeface="Consolas"/>
              </a:rPr>
              <a:t>ip domain name</a:t>
            </a:r>
            <a:r>
              <a:rPr sz="2000" b="0" i="0">
                <a:solidFill>
                  <a:srgbClr val="1C252B"/>
                </a:solidFill>
                <a:latin typeface="Segoe UI"/>
              </a:rPr>
              <a:t>, which SSH key generation requires. Chapter 6 for the difference between TCP and UDP, which is one of the real distinctions between TACACS+ and RADIUS.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erm-AAA"/>
          <p:cNvSpPr/>
          <p:nvPr/>
        </p:nvSpPr>
        <p:spPr>
          <a:xfrm>
            <a:off x="685800" y="1609344"/>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AAA"/>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AAA"/>
          <p:cNvSpPr txBox="1"/>
          <p:nvPr/>
        </p:nvSpPr>
        <p:spPr>
          <a:xfrm>
            <a:off x="850392" y="1700784"/>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AAA</a:t>
            </a:r>
          </a:p>
        </p:txBody>
      </p:sp>
      <p:sp>
        <p:nvSpPr>
          <p:cNvPr id="10" name="term-authentication"/>
          <p:cNvSpPr/>
          <p:nvPr/>
        </p:nvSpPr>
        <p:spPr>
          <a:xfrm>
            <a:off x="1520952" y="1609344"/>
            <a:ext cx="156667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authentication"/>
          <p:cNvSpPr/>
          <p:nvPr/>
        </p:nvSpPr>
        <p:spPr>
          <a:xfrm>
            <a:off x="1520952"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authentication"/>
          <p:cNvSpPr txBox="1"/>
          <p:nvPr/>
        </p:nvSpPr>
        <p:spPr>
          <a:xfrm>
            <a:off x="1685544" y="1700784"/>
            <a:ext cx="123748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authentication</a:t>
            </a:r>
          </a:p>
        </p:txBody>
      </p:sp>
      <p:sp>
        <p:nvSpPr>
          <p:cNvPr id="13" name="term-authorization"/>
          <p:cNvSpPr/>
          <p:nvPr/>
        </p:nvSpPr>
        <p:spPr>
          <a:xfrm>
            <a:off x="3215640" y="1609344"/>
            <a:ext cx="14630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authorization"/>
          <p:cNvSpPr/>
          <p:nvPr/>
        </p:nvSpPr>
        <p:spPr>
          <a:xfrm>
            <a:off x="321564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authorization"/>
          <p:cNvSpPr txBox="1"/>
          <p:nvPr/>
        </p:nvSpPr>
        <p:spPr>
          <a:xfrm>
            <a:off x="3380232" y="1700784"/>
            <a:ext cx="113385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authorization</a:t>
            </a:r>
          </a:p>
        </p:txBody>
      </p:sp>
      <p:sp>
        <p:nvSpPr>
          <p:cNvPr id="16" name="term-accounting"/>
          <p:cNvSpPr/>
          <p:nvPr/>
        </p:nvSpPr>
        <p:spPr>
          <a:xfrm>
            <a:off x="4806695" y="1609344"/>
            <a:ext cx="128016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accounting"/>
          <p:cNvSpPr/>
          <p:nvPr/>
        </p:nvSpPr>
        <p:spPr>
          <a:xfrm>
            <a:off x="4806695"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accounting"/>
          <p:cNvSpPr txBox="1"/>
          <p:nvPr/>
        </p:nvSpPr>
        <p:spPr>
          <a:xfrm>
            <a:off x="4971287" y="1700784"/>
            <a:ext cx="95097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accounting</a:t>
            </a:r>
          </a:p>
        </p:txBody>
      </p:sp>
      <p:sp>
        <p:nvSpPr>
          <p:cNvPr id="19" name="term-TACACS+"/>
          <p:cNvSpPr/>
          <p:nvPr/>
        </p:nvSpPr>
        <p:spPr>
          <a:xfrm>
            <a:off x="6214871" y="1609344"/>
            <a:ext cx="118872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TACACS+"/>
          <p:cNvSpPr/>
          <p:nvPr/>
        </p:nvSpPr>
        <p:spPr>
          <a:xfrm>
            <a:off x="6214871"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TACACS+"/>
          <p:cNvSpPr txBox="1"/>
          <p:nvPr/>
        </p:nvSpPr>
        <p:spPr>
          <a:xfrm>
            <a:off x="6379463" y="1700784"/>
            <a:ext cx="85953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TACACS+</a:t>
            </a:r>
          </a:p>
        </p:txBody>
      </p:sp>
      <p:sp>
        <p:nvSpPr>
          <p:cNvPr id="22" name="term-RADIUS"/>
          <p:cNvSpPr/>
          <p:nvPr/>
        </p:nvSpPr>
        <p:spPr>
          <a:xfrm>
            <a:off x="7531608" y="1609344"/>
            <a:ext cx="10200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RADIUS"/>
          <p:cNvSpPr/>
          <p:nvPr/>
        </p:nvSpPr>
        <p:spPr>
          <a:xfrm>
            <a:off x="7531608"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RADIUS"/>
          <p:cNvSpPr txBox="1"/>
          <p:nvPr/>
        </p:nvSpPr>
        <p:spPr>
          <a:xfrm>
            <a:off x="7696199" y="1700784"/>
            <a:ext cx="6908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RADIUS</a:t>
            </a:r>
          </a:p>
        </p:txBody>
      </p:sp>
      <p:sp>
        <p:nvSpPr>
          <p:cNvPr id="25" name="term-method list"/>
          <p:cNvSpPr/>
          <p:nvPr/>
        </p:nvSpPr>
        <p:spPr>
          <a:xfrm>
            <a:off x="8679687" y="1609344"/>
            <a:ext cx="13309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method list"/>
          <p:cNvSpPr/>
          <p:nvPr/>
        </p:nvSpPr>
        <p:spPr>
          <a:xfrm>
            <a:off x="8679687"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method list"/>
          <p:cNvSpPr txBox="1"/>
          <p:nvPr/>
        </p:nvSpPr>
        <p:spPr>
          <a:xfrm>
            <a:off x="8844279" y="1700784"/>
            <a:ext cx="100177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method list</a:t>
            </a:r>
          </a:p>
        </p:txBody>
      </p:sp>
      <p:sp>
        <p:nvSpPr>
          <p:cNvPr id="28" name="term-fallback"/>
          <p:cNvSpPr/>
          <p:nvPr/>
        </p:nvSpPr>
        <p:spPr>
          <a:xfrm>
            <a:off x="10138664" y="1609344"/>
            <a:ext cx="10302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fallback"/>
          <p:cNvSpPr/>
          <p:nvPr/>
        </p:nvSpPr>
        <p:spPr>
          <a:xfrm>
            <a:off x="10138664"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fallback"/>
          <p:cNvSpPr txBox="1"/>
          <p:nvPr/>
        </p:nvSpPr>
        <p:spPr>
          <a:xfrm>
            <a:off x="10303256" y="1700784"/>
            <a:ext cx="70104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fallback</a:t>
            </a:r>
          </a:p>
        </p:txBody>
      </p:sp>
      <p:sp>
        <p:nvSpPr>
          <p:cNvPr id="31" name="term-enable secret"/>
          <p:cNvSpPr/>
          <p:nvPr/>
        </p:nvSpPr>
        <p:spPr>
          <a:xfrm>
            <a:off x="685800" y="2212848"/>
            <a:ext cx="150571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enable secret"/>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enable secret"/>
          <p:cNvSpPr txBox="1"/>
          <p:nvPr/>
        </p:nvSpPr>
        <p:spPr>
          <a:xfrm>
            <a:off x="850392" y="2304288"/>
            <a:ext cx="117652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enable secret</a:t>
            </a:r>
          </a:p>
        </p:txBody>
      </p:sp>
      <p:sp>
        <p:nvSpPr>
          <p:cNvPr id="34" name="term-SCP"/>
          <p:cNvSpPr/>
          <p:nvPr/>
        </p:nvSpPr>
        <p:spPr>
          <a:xfrm>
            <a:off x="2319527" y="2212848"/>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CP"/>
          <p:cNvSpPr/>
          <p:nvPr/>
        </p:nvSpPr>
        <p:spPr>
          <a:xfrm>
            <a:off x="2319527"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CP"/>
          <p:cNvSpPr txBox="1"/>
          <p:nvPr/>
        </p:nvSpPr>
        <p:spPr>
          <a:xfrm>
            <a:off x="2484119" y="2304288"/>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SCP</a:t>
            </a:r>
          </a:p>
        </p:txBody>
      </p:sp>
      <p:sp>
        <p:nvSpPr>
          <p:cNvPr id="37" name="term-SFTP"/>
          <p:cNvSpPr/>
          <p:nvPr/>
        </p:nvSpPr>
        <p:spPr>
          <a:xfrm>
            <a:off x="3154679" y="2212848"/>
            <a:ext cx="83312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SFTP"/>
          <p:cNvSpPr/>
          <p:nvPr/>
        </p:nvSpPr>
        <p:spPr>
          <a:xfrm>
            <a:off x="3154679"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SFTP"/>
          <p:cNvSpPr txBox="1"/>
          <p:nvPr/>
        </p:nvSpPr>
        <p:spPr>
          <a:xfrm>
            <a:off x="3319271" y="2304288"/>
            <a:ext cx="50393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SFTP</a:t>
            </a:r>
          </a:p>
        </p:txBody>
      </p:sp>
      <p:sp>
        <p:nvSpPr>
          <p:cNvPr id="40" name="term-privilege level"/>
          <p:cNvSpPr/>
          <p:nvPr/>
        </p:nvSpPr>
        <p:spPr>
          <a:xfrm>
            <a:off x="4115815" y="2212848"/>
            <a:ext cx="15849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privilege level"/>
          <p:cNvSpPr/>
          <p:nvPr/>
        </p:nvSpPr>
        <p:spPr>
          <a:xfrm>
            <a:off x="4115815"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privilege level"/>
          <p:cNvSpPr txBox="1"/>
          <p:nvPr/>
        </p:nvSpPr>
        <p:spPr>
          <a:xfrm>
            <a:off x="4280407" y="2304288"/>
            <a:ext cx="125577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privilege level</a:t>
            </a:r>
          </a:p>
        </p:txBody>
      </p:sp>
      <p:sp>
        <p:nvSpPr>
          <p:cNvPr id="43"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Two topics, one chapter, and a v2.0 change worth noticing</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4.1 </a:t>
            </a:r>
            <a:r>
              <a:rPr sz="2000" b="0" i="0">
                <a:solidFill>
                  <a:srgbClr val="1C252B"/>
                </a:solidFill>
                <a:latin typeface="Segoe UI"/>
              </a:rPr>
              <a:t> is </a:t>
            </a:r>
            <a:r>
              <a:rPr sz="2000" b="0" i="1">
                <a:solidFill>
                  <a:srgbClr val="1C252B"/>
                </a:solidFill>
                <a:latin typeface="Segoe UI"/>
              </a:rPr>
              <a:t>configure network devices with local usernames and as an AAA client (TACACS+ and RADIUS) for management</a:t>
            </a:r>
            <a:r>
              <a:rPr sz="2000" b="0" i="0">
                <a:solidFill>
                  <a:srgbClr val="1C252B"/>
                </a:solidFill>
                <a:latin typeface="Segoe UI"/>
              </a:rPr>
              <a:t>. Topic </a:t>
            </a:r>
            <a:r>
              <a:rPr sz="1600" b="1">
                <a:solidFill>
                  <a:srgbClr val="922B21"/>
                </a:solidFill>
                <a:latin typeface="Segoe UI"/>
              </a:rPr>
              <a:t> 4.2 </a:t>
            </a:r>
            <a:r>
              <a:rPr sz="2000" b="0" i="0">
                <a:solidFill>
                  <a:srgbClr val="1C252B"/>
                </a:solidFill>
                <a:latin typeface="Segoe UI"/>
              </a:rPr>
              <a:t> is </a:t>
            </a:r>
            <a:r>
              <a:rPr sz="2000" b="0" i="1">
                <a:solidFill>
                  <a:srgbClr val="1C252B"/>
                </a:solidFill>
                <a:latin typeface="Segoe UI"/>
              </a:rPr>
              <a:t>manage device configuration and software files using secure file transfer operations with SFTP/SCP</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They sit together because they are the same job: getting onto a device safely, and moving files onto it safely. And </a:t>
            </a:r>
            <a:r>
              <a:rPr sz="1600" b="1">
                <a:solidFill>
                  <a:srgbClr val="922B21"/>
                </a:solidFill>
                <a:latin typeface="Segoe UI"/>
              </a:rPr>
              <a:t> 4.2 </a:t>
            </a:r>
            <a:r>
              <a:rPr sz="2000" b="0" i="0">
                <a:solidFill>
                  <a:srgbClr val="1C252B"/>
                </a:solidFill>
                <a:latin typeface="Segoe UI"/>
              </a:rPr>
              <a:t> is a genuine v2.0 change — v1.1 examined TFTP. TFTP is UDP, has no authentication of any kind, and sends everything in clear text. It has been removed from the blueprint and replaced by two protocols that fix all three problems. If a practice question offers TFTP as the secure answer, the question predates your exam.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Baseline secure access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517904"/>
            <a:ext cx="10820095" cy="451154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17771"/>
          </a:xfrm>
          <a:prstGeom prst="rect">
            <a:avLst/>
          </a:prstGeom>
          <a:noFill/>
        </p:spPr>
        <p:txBody>
          <a:bodyPr wrap="none" lIns="0" rIns="0" tIns="0" bIns="0">
            <a:spAutoFit/>
          </a:bodyPr>
          <a:lstStyle/>
          <a:p>
            <a:pPr>
              <a:lnSpc>
                <a:spcPct val="100000"/>
              </a:lnSpc>
              <a:spcAft>
                <a:spcPts val="0"/>
              </a:spcAft>
            </a:pPr>
            <a:r>
              <a:rPr sz="1300">
                <a:solidFill>
                  <a:srgbClr val="E8EEF2"/>
                </a:solidFill>
                <a:latin typeface="Consolas"/>
              </a:rPr>
              <a:t>hostname CAMPUS-SW1</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A domain name is required before RSA keys can be generated: the key</a:t>
            </a:r>
          </a:p>
          <a:p>
            <a:pPr>
              <a:lnSpc>
                <a:spcPct val="100000"/>
              </a:lnSpc>
              <a:spcAft>
                <a:spcPts val="0"/>
              </a:spcAft>
            </a:pPr>
            <a:r>
              <a:rPr sz="1300" i="1">
                <a:solidFill>
                  <a:srgbClr val="6E8BA0"/>
                </a:solidFill>
                <a:latin typeface="Consolas"/>
              </a:rPr>
              <a:t>! is named host.domain.</a:t>
            </a:r>
          </a:p>
          <a:p>
            <a:pPr>
              <a:lnSpc>
                <a:spcPct val="100000"/>
              </a:lnSpc>
              <a:spcAft>
                <a:spcPts val="0"/>
              </a:spcAft>
            </a:pPr>
            <a:r>
              <a:rPr sz="1300">
                <a:solidFill>
                  <a:srgbClr val="E8EEF2"/>
                </a:solidFill>
                <a:latin typeface="Consolas"/>
              </a:rPr>
              <a:t>ip domain name campus.example.edu</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scrypt is type 9. Use it where the platform offers it. Never use</a:t>
            </a:r>
          </a:p>
          <a:p>
            <a:pPr>
              <a:lnSpc>
                <a:spcPct val="100000"/>
              </a:lnSpc>
              <a:spcAft>
                <a:spcPts val="0"/>
              </a:spcAft>
            </a:pPr>
            <a:r>
              <a:rPr sz="1300" i="1">
                <a:solidFill>
                  <a:srgbClr val="6E8BA0"/>
                </a:solidFill>
                <a:latin typeface="Consolas"/>
              </a:rPr>
              <a:t>! "username ... password", which stores type 0 or type 7.</a:t>
            </a:r>
          </a:p>
          <a:p>
            <a:pPr>
              <a:lnSpc>
                <a:spcPct val="100000"/>
              </a:lnSpc>
              <a:spcAft>
                <a:spcPts val="0"/>
              </a:spcAft>
            </a:pPr>
            <a:r>
              <a:rPr sz="1300">
                <a:solidFill>
                  <a:srgbClr val="E8EEF2"/>
                </a:solidFill>
                <a:latin typeface="Consolas"/>
              </a:rPr>
              <a:t>username netadmin privilege 15 algorithm-type scrypt secret S0me-Long-Passphrase</a:t>
            </a:r>
          </a:p>
          <a:p>
            <a:pPr>
              <a:lnSpc>
                <a:spcPct val="100000"/>
              </a:lnSpc>
              <a:spcAft>
                <a:spcPts val="0"/>
              </a:spcAft>
            </a:pPr>
            <a:r>
              <a:rPr sz="1300">
                <a:solidFill>
                  <a:srgbClr val="E8EEF2"/>
                </a:solidFill>
                <a:latin typeface="Consolas"/>
              </a:rPr>
              <a:t>username helpdesk privilege 1  algorithm-type scrypt secret An0ther-Passphrase</a:t>
            </a:r>
          </a:p>
          <a:p>
            <a:pPr>
              <a:lnSpc>
                <a:spcPct val="100000"/>
              </a:lnSpc>
              <a:spcAft>
                <a:spcPts val="0"/>
              </a:spcAft>
            </a:pPr>
            <a:r>
              <a:rPr sz="1300" i="1">
                <a:solidFill>
                  <a:srgbClr val="6E8BA0"/>
                </a:solidFill>
                <a:latin typeface="Consolas"/>
              </a:rPr>
              <a:t>!</a:t>
            </a:r>
          </a:p>
          <a:p>
            <a:pPr>
              <a:lnSpc>
                <a:spcPct val="100000"/>
              </a:lnSpc>
              <a:spcAft>
                <a:spcPts val="0"/>
              </a:spcAft>
            </a:pPr>
            <a:r>
              <a:rPr sz="1300">
                <a:solidFill>
                  <a:srgbClr val="E8EEF2"/>
                </a:solidFill>
                <a:latin typeface="Consolas"/>
              </a:rPr>
              <a:t>enable algorithm-type scrypt secret Enable-Passphrase-Here</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2048 is the practical minimum; below 768 the device will refuse to</a:t>
            </a:r>
          </a:p>
          <a:p>
            <a:pPr>
              <a:lnSpc>
                <a:spcPct val="100000"/>
              </a:lnSpc>
              <a:spcAft>
                <a:spcPts val="0"/>
              </a:spcAft>
            </a:pPr>
            <a:r>
              <a:rPr sz="1300" i="1">
                <a:solidFill>
                  <a:srgbClr val="6E8BA0"/>
                </a:solidFill>
                <a:latin typeface="Consolas"/>
              </a:rPr>
              <a:t>! run SSH version 2 at all.</a:t>
            </a:r>
          </a:p>
          <a:p>
            <a:pPr>
              <a:lnSpc>
                <a:spcPct val="100000"/>
              </a:lnSpc>
              <a:spcAft>
                <a:spcPts val="0"/>
              </a:spcAft>
            </a:pPr>
            <a:r>
              <a:rPr sz="1300">
                <a:solidFill>
                  <a:srgbClr val="E8EEF2"/>
                </a:solidFill>
                <a:latin typeface="Consolas"/>
              </a:rPr>
              <a:t>crypto key generate rsa modulus 2048</a:t>
            </a:r>
          </a:p>
          <a:p>
            <a:pPr>
              <a:lnSpc>
                <a:spcPct val="100000"/>
              </a:lnSpc>
              <a:spcAft>
                <a:spcPts val="0"/>
              </a:spcAft>
            </a:pPr>
            <a:r>
              <a:rPr sz="1300">
                <a:solidFill>
                  <a:srgbClr val="E8EEF2"/>
                </a:solidFill>
                <a:latin typeface="Consolas"/>
              </a:rPr>
              <a:t>ip ssh version 2</a:t>
            </a:r>
          </a:p>
          <a:p>
            <a:pPr>
              <a:lnSpc>
                <a:spcPct val="100000"/>
              </a:lnSpc>
              <a:spcAft>
                <a:spcPts val="0"/>
              </a:spcAft>
            </a:pPr>
            <a:r>
              <a:rPr sz="1300">
                <a:solidFill>
                  <a:srgbClr val="E8EEF2"/>
                </a:solidFill>
                <a:latin typeface="Consolas"/>
              </a:rPr>
              <a:t>ip ssh time-out 60</a:t>
            </a:r>
          </a:p>
          <a:p>
            <a:pPr>
              <a:lnSpc>
                <a:spcPct val="100000"/>
              </a:lnSpc>
              <a:spcAft>
                <a:spcPts val="0"/>
              </a:spcAft>
            </a:pPr>
            <a:r>
              <a:rPr sz="1300">
                <a:solidFill>
                  <a:srgbClr val="E8EEF2"/>
                </a:solidFill>
                <a:latin typeface="Consolas"/>
              </a:rPr>
              <a:t>ip ssh authentication-retries 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Baseline secure access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line console 0</a:t>
            </a:r>
          </a:p>
          <a:p>
            <a:pPr>
              <a:lnSpc>
                <a:spcPct val="100000"/>
              </a:lnSpc>
              <a:spcAft>
                <a:spcPts val="0"/>
              </a:spcAft>
            </a:pPr>
            <a:r>
              <a:rPr sz="1600">
                <a:solidFill>
                  <a:srgbClr val="E8EEF2"/>
                </a:solidFill>
                <a:latin typeface="Consolas"/>
              </a:rPr>
              <a:t> login local</a:t>
            </a:r>
          </a:p>
          <a:p>
            <a:pPr>
              <a:lnSpc>
                <a:spcPct val="100000"/>
              </a:lnSpc>
              <a:spcAft>
                <a:spcPts val="0"/>
              </a:spcAft>
            </a:pPr>
            <a:r>
              <a:rPr sz="1600">
                <a:solidFill>
                  <a:srgbClr val="E8EEF2"/>
                </a:solidFill>
                <a:latin typeface="Consolas"/>
              </a:rPr>
              <a:t> exec-timeout 10 0</a:t>
            </a:r>
          </a:p>
          <a:p>
            <a:pPr>
              <a:lnSpc>
                <a:spcPct val="100000"/>
              </a:lnSpc>
              <a:spcAft>
                <a:spcPts val="0"/>
              </a:spcAft>
            </a:pPr>
            <a:r>
              <a:rPr sz="1600">
                <a:solidFill>
                  <a:srgbClr val="E8EEF2"/>
                </a:solidFill>
                <a:latin typeface="Consolas"/>
              </a:rPr>
              <a:t> logging synchronous</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line vty 0 15</a:t>
            </a:r>
          </a:p>
          <a:p>
            <a:pPr>
              <a:lnSpc>
                <a:spcPct val="100000"/>
              </a:lnSpc>
              <a:spcAft>
                <a:spcPts val="0"/>
              </a:spcAft>
            </a:pPr>
            <a:r>
              <a:rPr sz="1600">
                <a:solidFill>
                  <a:srgbClr val="E8EEF2"/>
                </a:solidFill>
                <a:latin typeface="Consolas"/>
              </a:rPr>
              <a:t> login local</a:t>
            </a:r>
          </a:p>
          <a:p>
            <a:pPr>
              <a:lnSpc>
                <a:spcPct val="100000"/>
              </a:lnSpc>
              <a:spcAft>
                <a:spcPts val="0"/>
              </a:spcAft>
            </a:pPr>
            <a:r>
              <a:rPr sz="1600">
                <a:solidFill>
                  <a:srgbClr val="E8EEF2"/>
                </a:solidFill>
                <a:latin typeface="Consolas"/>
              </a:rPr>
              <a:t> transport input ssh</a:t>
            </a:r>
          </a:p>
          <a:p>
            <a:pPr>
              <a:lnSpc>
                <a:spcPct val="100000"/>
              </a:lnSpc>
              <a:spcAft>
                <a:spcPts val="0"/>
              </a:spcAft>
            </a:pPr>
            <a:r>
              <a:rPr sz="1600">
                <a:solidFill>
                  <a:srgbClr val="E8EEF2"/>
                </a:solidFill>
                <a:latin typeface="Consolas"/>
              </a:rPr>
              <a:t> exec-timeout 10 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transport input ssh is the line that matters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Generating keys and enabling SSH does not disable Telnet. Until you say </a:t>
            </a:r>
            <a:r>
              <a:rPr sz="1900" b="0" i="0">
                <a:solidFill>
                  <a:srgbClr val="1A5276"/>
                </a:solidFill>
                <a:latin typeface="Consolas"/>
              </a:rPr>
              <a:t>transport input ssh</a:t>
            </a:r>
            <a:r>
              <a:rPr sz="2000" b="0" i="0">
                <a:solidFill>
                  <a:srgbClr val="1C252B"/>
                </a:solidFill>
                <a:latin typeface="Segoe UI"/>
              </a:rPr>
              <a:t>, the device still accepts plain-text logins on port 23, and an auditor will find it. The default on many platforms is </a:t>
            </a:r>
            <a:r>
              <a:rPr sz="1900" b="0" i="0">
                <a:solidFill>
                  <a:srgbClr val="1A5276"/>
                </a:solidFill>
                <a:latin typeface="Consolas"/>
              </a:rPr>
              <a:t>transport input all</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The reverse mistake is worse: typing </a:t>
            </a:r>
            <a:r>
              <a:rPr sz="1900" b="0" i="0">
                <a:solidFill>
                  <a:srgbClr val="1A5276"/>
                </a:solidFill>
                <a:latin typeface="Consolas"/>
              </a:rPr>
              <a:t>transport input ssh</a:t>
            </a:r>
            <a:r>
              <a:rPr sz="2000" b="0" i="0">
                <a:solidFill>
                  <a:srgbClr val="1C252B"/>
                </a:solidFill>
                <a:latin typeface="Segoe UI"/>
              </a:rPr>
              <a:t> </a:t>
            </a:r>
            <a:r>
              <a:rPr sz="2000" b="0" i="1">
                <a:solidFill>
                  <a:srgbClr val="1C252B"/>
                </a:solidFill>
                <a:latin typeface="Segoe UI"/>
              </a:rPr>
              <a:t>before</a:t>
            </a:r>
            <a:r>
              <a:rPr sz="2000" b="0" i="0">
                <a:solidFill>
                  <a:srgbClr val="1C252B"/>
                </a:solidFill>
                <a:latin typeface="Segoe UI"/>
              </a:rPr>
              <a:t> the keys exist locks you out of a remote device completely. Generate keys first, prove SSH works from a second window, then restrict the transport.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600" b="1" i="0">
                <a:solidFill>
                  <a:srgbClr val="1A5276"/>
                </a:solidFill>
                <a:latin typeface="Segoe UI"/>
              </a:rPr>
              <a:t>Password types, and why service password-encryption is not enough</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int"/>
          <p:cNvSpPr/>
          <p:nvPr/>
        </p:nvSpPr>
        <p:spPr>
          <a:xfrm>
            <a:off x="685800" y="1517904"/>
            <a:ext cx="10820095" cy="2235199"/>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Type 0</a:t>
            </a:r>
            <a:r>
              <a:rPr sz="2000" b="0" i="0">
                <a:solidFill>
                  <a:srgbClr val="1C252B"/>
                </a:solidFill>
                <a:latin typeface="Segoe UI"/>
              </a:rPr>
              <a:t> — plain text. Visible in the configuration.</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Type 7</a:t>
            </a:r>
            <a:r>
              <a:rPr sz="2000" b="0" i="0">
                <a:solidFill>
                  <a:srgbClr val="1C252B"/>
                </a:solidFill>
                <a:latin typeface="Segoe UI"/>
              </a:rPr>
              <a:t> — Cisco’s reversible obfuscation, applied by </a:t>
            </a:r>
            <a:r>
              <a:rPr sz="1900" b="0" i="0">
                <a:solidFill>
                  <a:srgbClr val="1A5276"/>
                </a:solidFill>
                <a:latin typeface="Consolas"/>
              </a:rPr>
              <a:t>service password-encryption</a:t>
            </a:r>
            <a:r>
              <a:rPr sz="2000" b="0" i="0">
                <a:solidFill>
                  <a:srgbClr val="1C252B"/>
                </a:solidFill>
                <a:latin typeface="Segoe UI"/>
              </a:rPr>
              <a:t>. It is trivially reversed by tools that have existed for decades. It stops shoulder-surfing and nothing else.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Password types, and why service password-encryption is not enough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int"/>
          <p:cNvSpPr/>
          <p:nvPr/>
        </p:nvSpPr>
        <p:spPr>
          <a:xfrm>
            <a:off x="685800" y="1517904"/>
            <a:ext cx="10820095" cy="3830320"/>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Type 5</a:t>
            </a:r>
            <a:r>
              <a:rPr sz="2000" b="0" i="0">
                <a:solidFill>
                  <a:srgbClr val="1C252B"/>
                </a:solidFill>
                <a:latin typeface="Segoe UI"/>
              </a:rPr>
              <a:t> — salted MD5. A real hash, but MD5 is old.</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Type 8 (PBKDF2) and type 9 (scrypt)</a:t>
            </a:r>
            <a:r>
              <a:rPr sz="2000" b="0" i="0">
                <a:solidFill>
                  <a:srgbClr val="1C252B"/>
                </a:solidFill>
                <a:latin typeface="Segoe UI"/>
              </a:rPr>
              <a:t> — current. Use </a:t>
            </a:r>
            <a:r>
              <a:rPr sz="1900" b="0" i="0">
                <a:solidFill>
                  <a:srgbClr val="1A5276"/>
                </a:solidFill>
                <a:latin typeface="Consolas"/>
              </a:rPr>
              <a:t>algorithm-type sha256</a:t>
            </a:r>
            <a:r>
              <a:rPr sz="2000" b="0" i="0">
                <a:solidFill>
                  <a:srgbClr val="1C252B"/>
                </a:solidFill>
                <a:latin typeface="Segoe UI"/>
              </a:rPr>
              <a:t> or </a:t>
            </a:r>
            <a:r>
              <a:rPr sz="1900" b="0" i="0">
                <a:solidFill>
                  <a:srgbClr val="1A5276"/>
                </a:solidFill>
                <a:latin typeface="Consolas"/>
              </a:rPr>
              <a:t>algorithm-type scrypt</a:t>
            </a:r>
            <a:r>
              <a:rPr sz="2000" b="0" i="0">
                <a:solidFill>
                  <a:srgbClr val="1C252B"/>
                </a:solidFill>
                <a:latin typeface="Segoe UI"/>
              </a:rPr>
              <a:t>.</a:t>
            </a:r>
          </a:p>
        </p:txBody>
      </p:sp>
      <p:sp>
        <p:nvSpPr>
          <p:cNvPr id="9" name="tailbody"/>
          <p:cNvSpPr txBox="1"/>
          <p:nvPr/>
        </p:nvSpPr>
        <p:spPr>
          <a:xfrm>
            <a:off x="978408" y="3240024"/>
            <a:ext cx="10234879" cy="3087624"/>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So </a:t>
            </a:r>
            <a:r>
              <a:rPr sz="1900" b="0" i="0">
                <a:solidFill>
                  <a:srgbClr val="1A5276"/>
                </a:solidFill>
                <a:latin typeface="Consolas"/>
              </a:rPr>
              <a:t>service password-encryption</a:t>
            </a:r>
            <a:r>
              <a:rPr sz="2000" b="0" i="0">
                <a:solidFill>
                  <a:srgbClr val="1C252B"/>
                </a:solidFill>
                <a:latin typeface="Segoe UI"/>
              </a:rPr>
              <a:t> is still worth enabling — it covers things that can only be type 7, such as line passwords and TACACS+ keys — but it is not a substitute for storing user passwords as type 8 or 9.</a:t>
            </a:r>
          </a:p>
          <a:p>
            <a:pPr algn="l">
              <a:lnSpc>
                <a:spcPct val="100000"/>
              </a:lnSpc>
              <a:spcAft>
                <a:spcPts val="600"/>
              </a:spcAft>
            </a:pPr>
            <a:r>
              <a:rPr sz="1900" b="0" i="0">
                <a:solidFill>
                  <a:srgbClr val="1A5276"/>
                </a:solidFill>
                <a:latin typeface="Consolas"/>
              </a:rPr>
              <a:t>enable secret</a:t>
            </a:r>
            <a:r>
              <a:rPr sz="2000" b="0" i="0">
                <a:solidFill>
                  <a:srgbClr val="1C252B"/>
                </a:solidFill>
                <a:latin typeface="Segoe UI"/>
              </a:rPr>
              <a:t> is hashed; </a:t>
            </a:r>
            <a:r>
              <a:rPr sz="1900" b="0" i="0">
                <a:solidFill>
                  <a:srgbClr val="1A5276"/>
                </a:solidFill>
                <a:latin typeface="Consolas"/>
              </a:rPr>
              <a:t>enable password</a:t>
            </a:r>
            <a:r>
              <a:rPr sz="2000" b="0" i="0">
                <a:solidFill>
                  <a:srgbClr val="1C252B"/>
                </a:solidFill>
                <a:latin typeface="Segoe UI"/>
              </a:rPr>
              <a:t> is not. If both exist, the secret wins and the password is dead configuration that leaks a credential. Delete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AAA</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922B21"/>
                </a:solidFill>
                <a:latin typeface="Segoe UI"/>
              </a:rPr>
              <a:t>Authentication</a:t>
            </a:r>
            <a:r>
              <a:rPr sz="2000" b="0" i="0">
                <a:solidFill>
                  <a:srgbClr val="1C252B"/>
                </a:solidFill>
                <a:latin typeface="Segoe UI"/>
              </a:rPr>
              <a:t> — who are you? </a:t>
            </a:r>
            <a:r>
              <a:rPr sz="2000" b="1" i="0">
                <a:solidFill>
                  <a:srgbClr val="922B21"/>
                </a:solidFill>
                <a:latin typeface="Segoe UI"/>
              </a:rPr>
              <a:t>Authorization</a:t>
            </a:r>
            <a:r>
              <a:rPr sz="2000" b="0" i="0">
                <a:solidFill>
                  <a:srgbClr val="1C252B"/>
                </a:solidFill>
                <a:latin typeface="Segoe UI"/>
              </a:rPr>
              <a:t> — what are you allowed to do? </a:t>
            </a:r>
            <a:r>
              <a:rPr sz="2000" b="1" i="0">
                <a:solidFill>
                  <a:srgbClr val="922B21"/>
                </a:solidFill>
                <a:latin typeface="Segoe UI"/>
              </a:rPr>
              <a:t>Accounting</a:t>
            </a:r>
            <a:r>
              <a:rPr sz="2000" b="0" i="0">
                <a:solidFill>
                  <a:srgbClr val="1C252B"/>
                </a:solidFill>
                <a:latin typeface="Segoe UI"/>
              </a:rPr>
              <a:t> — what did you actually do? Three distinct questions, answered by method lists that a device consults in order.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700" b="1" i="0">
                <a:solidFill>
                  <a:srgbClr val="1A5276"/>
                </a:solidFill>
                <a:latin typeface="Segoe UI"/>
              </a:rPr>
              <a:t>The distinction that saves you and the one that locks you out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ody"/>
          <p:cNvSpPr txBox="1"/>
          <p:nvPr/>
        </p:nvSpPr>
        <p:spPr>
          <a:xfrm>
            <a:off x="685800" y="2600306"/>
            <a:ext cx="10820095" cy="3782205"/>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If the TACACS+ server answers “no, wrong password”, that is an answer. The device stops there and rejects you — it does not fall through to the local database. Fallback happens only when the server does not respond at all.</a:t>
            </a:r>
          </a:p>
          <a:p>
            <a:pPr algn="l">
              <a:lnSpc>
                <a:spcPct val="100000"/>
              </a:lnSpc>
              <a:spcAft>
                <a:spcPts val="1000"/>
              </a:spcAft>
            </a:pPr>
            <a:r>
              <a:rPr sz="2000" b="0" i="0">
                <a:solidFill>
                  <a:srgbClr val="1C252B"/>
                </a:solidFill>
                <a:latin typeface="Segoe UI"/>
              </a:rPr>
              <a:t>This is correct behaviour and it surprises people. A fallback method is protection against a </a:t>
            </a:r>
            <a:r>
              <a:rPr sz="2000" b="0" i="1">
                <a:solidFill>
                  <a:srgbClr val="1C252B"/>
                </a:solidFill>
                <a:latin typeface="Segoe UI"/>
              </a:rPr>
              <a:t>dead server</a:t>
            </a:r>
            <a:r>
              <a:rPr sz="2000" b="0" i="0">
                <a:solidFill>
                  <a:srgbClr val="1C252B"/>
                </a:solidFill>
                <a:latin typeface="Segoe UI"/>
              </a:rPr>
              <a:t>, not against a forgotten password.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AAA against TACACS+, with a local fallback</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200">
                <a:solidFill>
                  <a:srgbClr val="E8EEF2"/>
                </a:solidFill>
                <a:latin typeface="Consolas"/>
              </a:rPr>
              <a:t>aaa new-model</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The server. This is the IOS 15 / IOS XE syntax; older configurations</a:t>
            </a:r>
          </a:p>
          <a:p>
            <a:pPr>
              <a:lnSpc>
                <a:spcPct val="100000"/>
              </a:lnSpc>
              <a:spcAft>
                <a:spcPts val="0"/>
              </a:spcAft>
            </a:pPr>
            <a:r>
              <a:rPr sz="1200" i="1">
                <a:solidFill>
                  <a:srgbClr val="6E8BA0"/>
                </a:solidFill>
                <a:latin typeface="Consolas"/>
              </a:rPr>
              <a:t>! used a single "tacacs-server host" line.</a:t>
            </a:r>
          </a:p>
          <a:p>
            <a:pPr>
              <a:lnSpc>
                <a:spcPct val="100000"/>
              </a:lnSpc>
              <a:spcAft>
                <a:spcPts val="0"/>
              </a:spcAft>
            </a:pPr>
            <a:r>
              <a:rPr sz="1200">
                <a:solidFill>
                  <a:srgbClr val="E8EEF2"/>
                </a:solidFill>
                <a:latin typeface="Consolas"/>
              </a:rPr>
              <a:t>tacacs server TAC1</a:t>
            </a:r>
          </a:p>
          <a:p>
            <a:pPr>
              <a:lnSpc>
                <a:spcPct val="100000"/>
              </a:lnSpc>
              <a:spcAft>
                <a:spcPts val="0"/>
              </a:spcAft>
            </a:pPr>
            <a:r>
              <a:rPr sz="1200">
                <a:solidFill>
                  <a:srgbClr val="E8EEF2"/>
                </a:solidFill>
                <a:latin typeface="Consolas"/>
              </a:rPr>
              <a:t> address ipv4 10.0.0.20</a:t>
            </a:r>
          </a:p>
          <a:p>
            <a:pPr>
              <a:lnSpc>
                <a:spcPct val="100000"/>
              </a:lnSpc>
              <a:spcAft>
                <a:spcPts val="0"/>
              </a:spcAft>
            </a:pPr>
            <a:r>
              <a:rPr sz="1200">
                <a:solidFill>
                  <a:srgbClr val="E8EEF2"/>
                </a:solidFill>
                <a:latin typeface="Consolas"/>
              </a:rPr>
              <a:t> key SharedSecretHere</a:t>
            </a:r>
          </a:p>
          <a:p>
            <a:pPr>
              <a:lnSpc>
                <a:spcPct val="100000"/>
              </a:lnSpc>
              <a:spcAft>
                <a:spcPts val="0"/>
              </a:spcAft>
            </a:pPr>
            <a:r>
              <a:rPr sz="1200" i="1">
                <a:solidFill>
                  <a:srgbClr val="6E8BA0"/>
                </a:solidFill>
                <a:latin typeface="Consolas"/>
              </a:rPr>
              <a:t>!</a:t>
            </a:r>
          </a:p>
          <a:p>
            <a:pPr>
              <a:lnSpc>
                <a:spcPct val="100000"/>
              </a:lnSpc>
              <a:spcAft>
                <a:spcPts val="0"/>
              </a:spcAft>
            </a:pPr>
            <a:r>
              <a:rPr sz="1200">
                <a:solidFill>
                  <a:srgbClr val="E8EEF2"/>
                </a:solidFill>
                <a:latin typeface="Consolas"/>
              </a:rPr>
              <a:t>tacacs server TAC2</a:t>
            </a:r>
          </a:p>
          <a:p>
            <a:pPr>
              <a:lnSpc>
                <a:spcPct val="100000"/>
              </a:lnSpc>
              <a:spcAft>
                <a:spcPts val="0"/>
              </a:spcAft>
            </a:pPr>
            <a:r>
              <a:rPr sz="1200">
                <a:solidFill>
                  <a:srgbClr val="E8EEF2"/>
                </a:solidFill>
                <a:latin typeface="Consolas"/>
              </a:rPr>
              <a:t> address ipv4 10.0.0.21</a:t>
            </a:r>
          </a:p>
          <a:p>
            <a:pPr>
              <a:lnSpc>
                <a:spcPct val="100000"/>
              </a:lnSpc>
              <a:spcAft>
                <a:spcPts val="0"/>
              </a:spcAft>
            </a:pPr>
            <a:r>
              <a:rPr sz="1200">
                <a:solidFill>
                  <a:srgbClr val="E8EEF2"/>
                </a:solidFill>
                <a:latin typeface="Consolas"/>
              </a:rPr>
              <a:t> key SharedSecretHere</a:t>
            </a:r>
          </a:p>
          <a:p>
            <a:pPr>
              <a:lnSpc>
                <a:spcPct val="100000"/>
              </a:lnSpc>
              <a:spcAft>
                <a:spcPts val="0"/>
              </a:spcAft>
            </a:pPr>
            <a:r>
              <a:rPr sz="1200" i="1">
                <a:solidFill>
                  <a:srgbClr val="6E8BA0"/>
                </a:solidFill>
                <a:latin typeface="Consolas"/>
              </a:rPr>
              <a:t>!</a:t>
            </a:r>
          </a:p>
          <a:p>
            <a:pPr>
              <a:lnSpc>
                <a:spcPct val="100000"/>
              </a:lnSpc>
              <a:spcAft>
                <a:spcPts val="0"/>
              </a:spcAft>
            </a:pPr>
            <a:r>
              <a:rPr sz="1200">
                <a:solidFill>
                  <a:srgbClr val="E8EEF2"/>
                </a:solidFill>
                <a:latin typeface="Consolas"/>
              </a:rPr>
              <a:t>aaa group server tacacs+ TACGROUP</a:t>
            </a:r>
          </a:p>
          <a:p>
            <a:pPr>
              <a:lnSpc>
                <a:spcPct val="100000"/>
              </a:lnSpc>
              <a:spcAft>
                <a:spcPts val="0"/>
              </a:spcAft>
            </a:pPr>
            <a:r>
              <a:rPr sz="1200">
                <a:solidFill>
                  <a:srgbClr val="E8EEF2"/>
                </a:solidFill>
                <a:latin typeface="Consolas"/>
              </a:rPr>
              <a:t> server name TAC1</a:t>
            </a:r>
          </a:p>
          <a:p>
            <a:pPr>
              <a:lnSpc>
                <a:spcPct val="100000"/>
              </a:lnSpc>
              <a:spcAft>
                <a:spcPts val="0"/>
              </a:spcAft>
            </a:pPr>
            <a:r>
              <a:rPr sz="1200">
                <a:solidFill>
                  <a:srgbClr val="E8EEF2"/>
                </a:solidFill>
                <a:latin typeface="Consolas"/>
              </a:rPr>
              <a:t> server name TAC2</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Authentication: try the group, then the local database if no server</a:t>
            </a:r>
          </a:p>
          <a:p>
            <a:pPr>
              <a:lnSpc>
                <a:spcPct val="100000"/>
              </a:lnSpc>
              <a:spcAft>
                <a:spcPts val="0"/>
              </a:spcAft>
            </a:pPr>
            <a:r>
              <a:rPr sz="1200" i="1">
                <a:solidFill>
                  <a:srgbClr val="6E8BA0"/>
                </a:solidFill>
                <a:latin typeface="Consolas"/>
              </a:rPr>
              <a:t>! answers. The trailing "local" is not optional in any network you</a:t>
            </a:r>
          </a:p>
          <a:p>
            <a:pPr>
              <a:lnSpc>
                <a:spcPct val="100000"/>
              </a:lnSpc>
              <a:spcAft>
                <a:spcPts val="0"/>
              </a:spcAft>
            </a:pPr>
            <a:r>
              <a:rPr sz="1200" i="1">
                <a:solidFill>
                  <a:srgbClr val="6E8BA0"/>
                </a:solidFill>
                <a:latin typeface="Consolas"/>
              </a:rPr>
              <a:t>! intend to keep working.</a:t>
            </a:r>
          </a:p>
          <a:p>
            <a:pPr>
              <a:lnSpc>
                <a:spcPct val="100000"/>
              </a:lnSpc>
              <a:spcAft>
                <a:spcPts val="0"/>
              </a:spcAft>
            </a:pPr>
            <a:r>
              <a:rPr sz="1200">
                <a:solidFill>
                  <a:srgbClr val="E8EEF2"/>
                </a:solidFill>
                <a:latin typeface="Consolas"/>
              </a:rPr>
              <a:t>aaa authentication login default group TACGROUP local</a:t>
            </a:r>
          </a:p>
          <a:p>
            <a:pPr>
              <a:lnSpc>
                <a:spcPct val="100000"/>
              </a:lnSpc>
              <a:spcAft>
                <a:spcPts val="0"/>
              </a:spcAft>
            </a:pPr>
            <a:r>
              <a:rPr sz="1200">
                <a:solidFill>
                  <a:srgbClr val="E8EEF2"/>
                </a:solidFill>
                <a:latin typeface="Consolas"/>
              </a:rPr>
              <a:t>aaa authentication enable default group TACGROUP enable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AAA against TACACS+, with a local fallback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Authorization: what privilege level does this user get on login?</a:t>
            </a:r>
          </a:p>
          <a:p>
            <a:pPr>
              <a:lnSpc>
                <a:spcPct val="100000"/>
              </a:lnSpc>
              <a:spcAft>
                <a:spcPts val="0"/>
              </a:spcAft>
            </a:pPr>
            <a:r>
              <a:rPr sz="1600">
                <a:solidFill>
                  <a:srgbClr val="E8EEF2"/>
                </a:solidFill>
                <a:latin typeface="Consolas"/>
              </a:rPr>
              <a:t>aaa authorization exec default group TACGROUP local if-authenticated</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Accounting: a record of every session and every command at level 15.</a:t>
            </a:r>
          </a:p>
          <a:p>
            <a:pPr>
              <a:lnSpc>
                <a:spcPct val="100000"/>
              </a:lnSpc>
              <a:spcAft>
                <a:spcPts val="0"/>
              </a:spcAft>
            </a:pPr>
            <a:r>
              <a:rPr sz="1600">
                <a:solidFill>
                  <a:srgbClr val="E8EEF2"/>
                </a:solidFill>
                <a:latin typeface="Consolas"/>
              </a:rPr>
              <a:t>aaa accounting exec default start-stop group TACGROUP</a:t>
            </a:r>
          </a:p>
          <a:p>
            <a:pPr>
              <a:lnSpc>
                <a:spcPct val="100000"/>
              </a:lnSpc>
              <a:spcAft>
                <a:spcPts val="0"/>
              </a:spcAft>
            </a:pPr>
            <a:r>
              <a:rPr sz="1600">
                <a:solidFill>
                  <a:srgbClr val="E8EEF2"/>
                </a:solidFill>
                <a:latin typeface="Consolas"/>
              </a:rPr>
              <a:t>aaa accounting commands 15 default start-stop group TACGROUP</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Source the packets from a stable address so the server's client</a:t>
            </a:r>
          </a:p>
          <a:p>
            <a:pPr>
              <a:lnSpc>
                <a:spcPct val="100000"/>
              </a:lnSpc>
              <a:spcAft>
                <a:spcPts val="0"/>
              </a:spcAft>
            </a:pPr>
            <a:r>
              <a:rPr sz="1600" i="1">
                <a:solidFill>
                  <a:srgbClr val="6E8BA0"/>
                </a:solidFill>
                <a:latin typeface="Consolas"/>
              </a:rPr>
              <a:t>! entry always matches, whichever interface the traffic leaves by.</a:t>
            </a:r>
          </a:p>
          <a:p>
            <a:pPr>
              <a:lnSpc>
                <a:spcPct val="100000"/>
              </a:lnSpc>
              <a:spcAft>
                <a:spcPts val="0"/>
              </a:spcAft>
            </a:pPr>
            <a:r>
              <a:rPr sz="1600">
                <a:solidFill>
                  <a:srgbClr val="E8EEF2"/>
                </a:solidFill>
                <a:latin typeface="Consolas"/>
              </a:rPr>
              <a:t>ip tacacs source-interface Loopback0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device as a RADIUS client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radius server RAD1</a:t>
            </a:r>
          </a:p>
          <a:p>
            <a:pPr>
              <a:lnSpc>
                <a:spcPct val="100000"/>
              </a:lnSpc>
              <a:spcAft>
                <a:spcPts val="0"/>
              </a:spcAft>
            </a:pPr>
            <a:r>
              <a:rPr sz="1600">
                <a:solidFill>
                  <a:srgbClr val="E8EEF2"/>
                </a:solidFill>
                <a:latin typeface="Consolas"/>
              </a:rPr>
              <a:t> address ipv4 10.0.0.30 auth-port 1812 acct-port 1813</a:t>
            </a:r>
          </a:p>
          <a:p>
            <a:pPr>
              <a:lnSpc>
                <a:spcPct val="100000"/>
              </a:lnSpc>
              <a:spcAft>
                <a:spcPts val="0"/>
              </a:spcAft>
            </a:pPr>
            <a:r>
              <a:rPr sz="1600">
                <a:solidFill>
                  <a:srgbClr val="E8EEF2"/>
                </a:solidFill>
                <a:latin typeface="Consolas"/>
              </a:rPr>
              <a:t> key AnotherSharedSecret</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aaa group server radius RADGROUP</a:t>
            </a:r>
          </a:p>
          <a:p>
            <a:pPr>
              <a:lnSpc>
                <a:spcPct val="100000"/>
              </a:lnSpc>
              <a:spcAft>
                <a:spcPts val="0"/>
              </a:spcAft>
            </a:pPr>
            <a:r>
              <a:rPr sz="1600">
                <a:solidFill>
                  <a:srgbClr val="E8EEF2"/>
                </a:solidFill>
                <a:latin typeface="Consolas"/>
              </a:rPr>
              <a:t> server name RAD1</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aaa authentication login default group RADGROUP local</a:t>
            </a:r>
          </a:p>
          <a:p>
            <a:pPr>
              <a:lnSpc>
                <a:spcPct val="100000"/>
              </a:lnSpc>
              <a:spcAft>
                <a:spcPts val="0"/>
              </a:spcAft>
            </a:pPr>
            <a:r>
              <a:rPr sz="1600">
                <a:solidFill>
                  <a:srgbClr val="E8EEF2"/>
                </a:solidFill>
                <a:latin typeface="Consolas"/>
              </a:rPr>
              <a:t>aaa authorization exec default group RADGROUP local</a:t>
            </a:r>
          </a:p>
          <a:p>
            <a:pPr>
              <a:lnSpc>
                <a:spcPct val="100000"/>
              </a:lnSpc>
              <a:spcAft>
                <a:spcPts val="0"/>
              </a:spcAft>
            </a:pPr>
            <a:r>
              <a:rPr sz="1600">
                <a:solidFill>
                  <a:srgbClr val="E8EEF2"/>
                </a:solidFill>
                <a:latin typeface="Consolas"/>
              </a:rPr>
              <a:t>ip radius source-interface Loopback0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aaa servers | include host|state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112572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CAMPUS-SW1#</a:t>
            </a:r>
          </a:p>
        </p:txBody>
      </p:sp>
      <p:sp>
        <p:nvSpPr>
          <p:cNvPr id="10" name="code"/>
          <p:cNvSpPr txBox="1"/>
          <p:nvPr/>
        </p:nvSpPr>
        <p:spPr>
          <a:xfrm>
            <a:off x="886968" y="2340864"/>
            <a:ext cx="10417759" cy="63195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RADIUS: id 1, priority 1, host 10.0.0.30, auth-port 1812, acct-port 1813</a:t>
            </a:r>
          </a:p>
          <a:p>
            <a:pPr>
              <a:lnSpc>
                <a:spcPct val="100000"/>
              </a:lnSpc>
              <a:spcAft>
                <a:spcPts val="0"/>
              </a:spcAft>
            </a:pPr>
            <a:r>
              <a:rPr sz="1600">
                <a:solidFill>
                  <a:srgbClr val="E8EEF2"/>
                </a:solidFill>
                <a:latin typeface="Consolas"/>
              </a:rPr>
              <a:t>     State: current UP, duration 43112s, previous duration 0s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one-sentence version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835438"/>
            <a:ext cx="10820095" cy="3547073"/>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TACACS+ manages administrators; RADIUS manages users.</a:t>
            </a:r>
            <a:r>
              <a:rPr sz="2000" b="0" i="0">
                <a:solidFill>
                  <a:srgbClr val="1C252B"/>
                </a:solidFill>
                <a:latin typeface="Segoe UI"/>
              </a:rPr>
              <a:t> If a question is about who may configure a switch, the answer is TACACS+. If it is about a laptop authenticating onto a wireless network, the answer is RADIUS.</a:t>
            </a:r>
          </a:p>
          <a:p>
            <a:pPr algn="l">
              <a:lnSpc>
                <a:spcPct val="100000"/>
              </a:lnSpc>
              <a:spcAft>
                <a:spcPts val="1000"/>
              </a:spcAft>
            </a:pPr>
            <a:r>
              <a:rPr sz="2000" b="0" i="0">
                <a:solidFill>
                  <a:srgbClr val="1C252B"/>
                </a:solidFill>
                <a:latin typeface="Segoe UI"/>
              </a:rPr>
              <a:t>Two supporting facts worth memorising because they are asked directly: TACACS+ is TCP 49 and encrypts the whole payload; RADIUS is UDP and encrypts only the password.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Enabling the SCP server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2637535"/>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143759"/>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SCP will not start without all three of these. The authorization</a:t>
            </a:r>
          </a:p>
          <a:p>
            <a:pPr>
              <a:lnSpc>
                <a:spcPct val="100000"/>
              </a:lnSpc>
              <a:spcAft>
                <a:spcPts val="0"/>
              </a:spcAft>
            </a:pPr>
            <a:r>
              <a:rPr sz="1600" i="1">
                <a:solidFill>
                  <a:srgbClr val="6E8BA0"/>
                </a:solidFill>
                <a:latin typeface="Consolas"/>
              </a:rPr>
              <a:t>! line in particular is easy to miss, and its absence produces a</a:t>
            </a:r>
          </a:p>
          <a:p>
            <a:pPr>
              <a:lnSpc>
                <a:spcPct val="100000"/>
              </a:lnSpc>
              <a:spcAft>
                <a:spcPts val="0"/>
              </a:spcAft>
            </a:pPr>
            <a:r>
              <a:rPr sz="1600" i="1">
                <a:solidFill>
                  <a:srgbClr val="6E8BA0"/>
                </a:solidFill>
                <a:latin typeface="Consolas"/>
              </a:rPr>
              <a:t>! connection that authenticates and then refuses every transfer.</a:t>
            </a:r>
          </a:p>
          <a:p>
            <a:pPr>
              <a:lnSpc>
                <a:spcPct val="100000"/>
              </a:lnSpc>
              <a:spcAft>
                <a:spcPts val="0"/>
              </a:spcAft>
            </a:pPr>
            <a:r>
              <a:rPr sz="1600">
                <a:solidFill>
                  <a:srgbClr val="E8EEF2"/>
                </a:solidFill>
                <a:latin typeface="Consolas"/>
              </a:rPr>
              <a:t>aaa new-model</a:t>
            </a:r>
          </a:p>
          <a:p>
            <a:pPr>
              <a:lnSpc>
                <a:spcPct val="100000"/>
              </a:lnSpc>
              <a:spcAft>
                <a:spcPts val="0"/>
              </a:spcAft>
            </a:pPr>
            <a:r>
              <a:rPr sz="1600">
                <a:solidFill>
                  <a:srgbClr val="E8EEF2"/>
                </a:solidFill>
                <a:latin typeface="Consolas"/>
              </a:rPr>
              <a:t>aaa authentication login default local</a:t>
            </a:r>
          </a:p>
          <a:p>
            <a:pPr>
              <a:lnSpc>
                <a:spcPct val="100000"/>
              </a:lnSpc>
              <a:spcAft>
                <a:spcPts val="0"/>
              </a:spcAft>
            </a:pPr>
            <a:r>
              <a:rPr sz="1600">
                <a:solidFill>
                  <a:srgbClr val="E8EEF2"/>
                </a:solidFill>
                <a:latin typeface="Consolas"/>
              </a:rPr>
              <a:t>aaa authorization exec default local</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ip scp server enable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scp netadmin@10.0.0.1:running-config ./sw1-backup.cfg</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112572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 or macOS</a:t>
            </a:r>
          </a:p>
        </p:txBody>
      </p:sp>
      <p:sp>
        <p:nvSpPr>
          <p:cNvPr id="10" name="code"/>
          <p:cNvSpPr txBox="1"/>
          <p:nvPr/>
        </p:nvSpPr>
        <p:spPr>
          <a:xfrm>
            <a:off x="886968" y="2340864"/>
            <a:ext cx="10417759" cy="63195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netadmin@10.0.0.1's password:</a:t>
            </a:r>
          </a:p>
          <a:p>
            <a:pPr>
              <a:lnSpc>
                <a:spcPct val="100000"/>
              </a:lnSpc>
              <a:spcAft>
                <a:spcPts val="0"/>
              </a:spcAft>
            </a:pPr>
            <a:r>
              <a:rPr sz="1600">
                <a:solidFill>
                  <a:srgbClr val="E8EEF2"/>
                </a:solidFill>
                <a:latin typeface="Consolas"/>
              </a:rPr>
              <a:t>running-config                       100%  8241     1.2MB/s   00:00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copy sftp: flash:</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238556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CAMPUS-SW1#</a:t>
            </a:r>
          </a:p>
        </p:txBody>
      </p:sp>
      <p:sp>
        <p:nvSpPr>
          <p:cNvPr id="10" name="code"/>
          <p:cNvSpPr txBox="1"/>
          <p:nvPr/>
        </p:nvSpPr>
        <p:spPr>
          <a:xfrm>
            <a:off x="886968" y="2340864"/>
            <a:ext cx="10417759" cy="1891792"/>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Address or name of remote host []? 10.0.0.40</a:t>
            </a:r>
          </a:p>
          <a:p>
            <a:pPr>
              <a:lnSpc>
                <a:spcPct val="100000"/>
              </a:lnSpc>
              <a:spcAft>
                <a:spcPts val="0"/>
              </a:spcAft>
            </a:pPr>
            <a:r>
              <a:rPr sz="1600">
                <a:solidFill>
                  <a:srgbClr val="E8EEF2"/>
                </a:solidFill>
                <a:latin typeface="Consolas"/>
              </a:rPr>
              <a:t>Source username [netadmin]? images</a:t>
            </a:r>
          </a:p>
          <a:p>
            <a:pPr>
              <a:lnSpc>
                <a:spcPct val="100000"/>
              </a:lnSpc>
              <a:spcAft>
                <a:spcPts val="0"/>
              </a:spcAft>
            </a:pPr>
            <a:r>
              <a:rPr sz="1600">
                <a:solidFill>
                  <a:srgbClr val="E8EEF2"/>
                </a:solidFill>
                <a:latin typeface="Consolas"/>
              </a:rPr>
              <a:t>Source filename []? cat9k_iosxe.17.12.04.SPA.bin</a:t>
            </a:r>
          </a:p>
          <a:p>
            <a:pPr>
              <a:lnSpc>
                <a:spcPct val="100000"/>
              </a:lnSpc>
              <a:spcAft>
                <a:spcPts val="0"/>
              </a:spcAft>
            </a:pPr>
            <a:r>
              <a:rPr sz="1600">
                <a:solidFill>
                  <a:srgbClr val="E8EEF2"/>
                </a:solidFill>
                <a:latin typeface="Consolas"/>
              </a:rPr>
              <a:t>Destination filename [cat9k_iosxe.17.12.04.SPA.bin]?</a:t>
            </a:r>
          </a:p>
          <a:p>
            <a:pPr>
              <a:lnSpc>
                <a:spcPct val="100000"/>
              </a:lnSpc>
              <a:spcAft>
                <a:spcPts val="0"/>
              </a:spcAft>
            </a:pPr>
            <a:r>
              <a:rPr sz="1600">
                <a:solidFill>
                  <a:srgbClr val="E8EEF2"/>
                </a:solidFill>
                <a:latin typeface="Consolas"/>
              </a:rPr>
              <a:t>Accessing sftp://images@10.0.0.40/cat9k_iosxe.17.12.04.SPA.bin...</a:t>
            </a:r>
          </a:p>
          <a:p>
            <a:pPr>
              <a:lnSpc>
                <a:spcPct val="100000"/>
              </a:lnSpc>
              <a:spcAft>
                <a:spcPts val="0"/>
              </a:spcAft>
            </a:pPr>
            <a:r>
              <a:rPr sz="1600">
                <a:solidFill>
                  <a:srgbClr val="E8EEF2"/>
                </a:solidFill>
                <a:latin typeface="Consolas"/>
              </a:rPr>
              <a:t>Loading file ! [OK - 1103237120 bytes]</a:t>
            </a:r>
          </a:p>
          <a:p>
            <a:pPr>
              <a:lnSpc>
                <a:spcPct val="100000"/>
              </a:lnSpc>
              <a:spcAft>
                <a:spcPts val="0"/>
              </a:spcAft>
            </a:pPr>
            <a:r>
              <a:rPr sz="1600">
                <a:solidFill>
                  <a:srgbClr val="E8EEF2"/>
                </a:solidFill>
                <a:latin typeface="Consolas"/>
              </a:rPr>
              <a:t>1103237120 bytes copied in 412.338 secs (2675281 bytes/sec)</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Backing the configuration up on a schedule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codebg"/>
          <p:cNvSpPr/>
          <p:nvPr/>
        </p:nvSpPr>
        <p:spPr>
          <a:xfrm>
            <a:off x="685800" y="1901952"/>
            <a:ext cx="10820095" cy="28895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395728"/>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One-off, non-interactive form. The password appears on the command</a:t>
            </a:r>
          </a:p>
          <a:p>
            <a:pPr>
              <a:lnSpc>
                <a:spcPct val="100000"/>
              </a:lnSpc>
              <a:spcAft>
                <a:spcPts val="0"/>
              </a:spcAft>
            </a:pPr>
            <a:r>
              <a:rPr sz="1600" i="1">
                <a:solidFill>
                  <a:srgbClr val="6E8BA0"/>
                </a:solidFill>
                <a:latin typeface="Consolas"/>
              </a:rPr>
              <a:t>! line, so prefer key-based SCP where the platform supports it.</a:t>
            </a:r>
          </a:p>
          <a:p>
            <a:pPr>
              <a:lnSpc>
                <a:spcPct val="100000"/>
              </a:lnSpc>
              <a:spcAft>
                <a:spcPts val="0"/>
              </a:spcAft>
            </a:pPr>
            <a:r>
              <a:rPr sz="1600" i="1">
                <a:solidFill>
                  <a:srgbClr val="6E8BA0"/>
                </a:solidFill>
                <a:latin typeface="Consolas"/>
              </a:rPr>
              <a:t>! do copy running-config scp://netadmin@10.0.0.40/CAMPUS-SW1.cfg</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Automatic archive: a copy every time someone saves, kept off-box.</a:t>
            </a:r>
          </a:p>
          <a:p>
            <a:pPr>
              <a:lnSpc>
                <a:spcPct val="100000"/>
              </a:lnSpc>
              <a:spcAft>
                <a:spcPts val="0"/>
              </a:spcAft>
            </a:pPr>
            <a:r>
              <a:rPr sz="1600">
                <a:solidFill>
                  <a:srgbClr val="E8EEF2"/>
                </a:solidFill>
                <a:latin typeface="Consolas"/>
              </a:rPr>
              <a:t>archive</a:t>
            </a:r>
          </a:p>
          <a:p>
            <a:pPr>
              <a:lnSpc>
                <a:spcPct val="100000"/>
              </a:lnSpc>
              <a:spcAft>
                <a:spcPts val="0"/>
              </a:spcAft>
            </a:pPr>
            <a:r>
              <a:rPr sz="1600">
                <a:solidFill>
                  <a:srgbClr val="E8EEF2"/>
                </a:solidFill>
                <a:latin typeface="Consolas"/>
              </a:rPr>
              <a:t> path scp://netadmin@10.0.0.40/archive/$h-</a:t>
            </a:r>
          </a:p>
          <a:p>
            <a:pPr>
              <a:lnSpc>
                <a:spcPct val="100000"/>
              </a:lnSpc>
              <a:spcAft>
                <a:spcPts val="0"/>
              </a:spcAft>
            </a:pPr>
            <a:r>
              <a:rPr sz="1600">
                <a:solidFill>
                  <a:srgbClr val="E8EEF2"/>
                </a:solidFill>
                <a:latin typeface="Consolas"/>
              </a:rPr>
              <a:t> write-memory</a:t>
            </a:r>
          </a:p>
          <a:p>
            <a:pPr>
              <a:lnSpc>
                <a:spcPct val="100000"/>
              </a:lnSpc>
              <a:spcAft>
                <a:spcPts val="0"/>
              </a:spcAft>
            </a:pPr>
            <a:r>
              <a:rPr sz="1600">
                <a:solidFill>
                  <a:srgbClr val="E8EEF2"/>
                </a:solidFill>
                <a:latin typeface="Consolas"/>
              </a:rPr>
              <a:t> maximum 14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Verify the image before you reload onto it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tint"/>
          <p:cNvSpPr/>
          <p:nvPr/>
        </p:nvSpPr>
        <p:spPr>
          <a:xfrm>
            <a:off x="685800" y="1517904"/>
            <a:ext cx="10820095" cy="3618991"/>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transfer that reports </a:t>
            </a:r>
            <a:r>
              <a:rPr sz="1900" b="0" i="0">
                <a:solidFill>
                  <a:srgbClr val="1A5276"/>
                </a:solidFill>
                <a:latin typeface="Consolas"/>
              </a:rPr>
              <a:t>[OK]</a:t>
            </a:r>
            <a:r>
              <a:rPr sz="2000" b="0" i="0">
                <a:solidFill>
                  <a:srgbClr val="1C252B"/>
                </a:solidFill>
                <a:latin typeface="Segoe UI"/>
              </a:rPr>
              <a:t> has moved the bytes it was given. It has not told you the file is the image Cisco shipped. Before reloading:</a:t>
            </a:r>
          </a:p>
        </p:txBody>
      </p:sp>
      <p:sp>
        <p:nvSpPr>
          <p:cNvPr id="9" name="bullets"/>
          <p:cNvSpPr txBox="1"/>
          <p:nvPr/>
        </p:nvSpPr>
        <p:spPr>
          <a:xfrm>
            <a:off x="978408" y="2580639"/>
            <a:ext cx="10234879" cy="38018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verify /md5 flash:cat9k_iosxe.17.12.04.SPA.bin</a:t>
            </a:r>
            <a:r>
              <a:rPr sz="2000" b="0" i="0">
                <a:solidFill>
                  <a:srgbClr val="1C252B"/>
                </a:solidFill>
                <a:latin typeface="Segoe UI"/>
              </a:rPr>
              <a:t> and compare against the hash published with the download.</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show flash:</a:t>
            </a:r>
            <a:r>
              <a:rPr sz="2000" b="0" i="0">
                <a:solidFill>
                  <a:srgbClr val="1C252B"/>
                </a:solidFill>
                <a:latin typeface="Segoe UI"/>
              </a:rPr>
              <a:t> to confirm the size matches.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Confirm free space </a:t>
            </a:r>
            <a:r>
              <a:rPr sz="2000" b="0" i="1">
                <a:solidFill>
                  <a:srgbClr val="1C252B"/>
                </a:solidFill>
                <a:latin typeface="Segoe UI"/>
              </a:rPr>
              <a:t>before</a:t>
            </a:r>
            <a:r>
              <a:rPr sz="2000" b="0" i="0">
                <a:solidFill>
                  <a:srgbClr val="1C252B"/>
                </a:solidFill>
                <a:latin typeface="Segoe UI"/>
              </a:rPr>
              <a:t> the copy, not after — a partial copy that filled flash can leave a device unable to boot.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SFTP — the device as a client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17169" indent="-217169">
              <a:lnSpc>
                <a:spcPct val="102000"/>
              </a:lnSpc>
              <a:spcAft>
                <a:spcPts val="900"/>
              </a:spcAft>
            </a:pPr>
            <a:r>
              <a:rPr sz="1900" b="1">
                <a:solidFill>
                  <a:srgbClr val="922B21"/>
                </a:solidFill>
                <a:latin typeface="Segoe UI"/>
              </a:rPr>
              <a:t>•  </a:t>
            </a:r>
            <a:r>
              <a:rPr sz="1800" b="1" i="0">
                <a:solidFill>
                  <a:srgbClr val="1A5276"/>
                </a:solidFill>
                <a:latin typeface="Consolas"/>
              </a:rPr>
              <a:t>aaa authentication login default group TACGROUP</a:t>
            </a:r>
            <a:r>
              <a:rPr sz="1900" b="1" i="0">
                <a:solidFill>
                  <a:srgbClr val="1C252B"/>
                </a:solidFill>
                <a:latin typeface="Segoe UI"/>
              </a:rPr>
              <a:t> with no </a:t>
            </a:r>
            <a:r>
              <a:rPr sz="1800" b="1" i="0">
                <a:solidFill>
                  <a:srgbClr val="1A5276"/>
                </a:solidFill>
                <a:latin typeface="Consolas"/>
              </a:rPr>
              <a:t>local</a:t>
            </a:r>
            <a:r>
              <a:rPr sz="1900" b="1" i="0">
                <a:solidFill>
                  <a:srgbClr val="1C252B"/>
                </a:solidFill>
                <a:latin typeface="Segoe UI"/>
              </a:rPr>
              <a:t>.</a:t>
            </a:r>
            <a:r>
              <a:rPr sz="1900" b="0" i="0">
                <a:solidFill>
                  <a:srgbClr val="1C252B"/>
                </a:solidFill>
                <a:latin typeface="Segoe UI"/>
              </a:rPr>
              <a:t> When the server is unreachable, nobody can log in — not even at the console. This is the classic lock-out.</a:t>
            </a:r>
          </a:p>
          <a:p>
            <a:pPr marL="217169" indent="-217169">
              <a:lnSpc>
                <a:spcPct val="102000"/>
              </a:lnSpc>
              <a:spcAft>
                <a:spcPts val="900"/>
              </a:spcAft>
            </a:pPr>
            <a:r>
              <a:rPr sz="1900" b="1">
                <a:solidFill>
                  <a:srgbClr val="922B21"/>
                </a:solidFill>
                <a:latin typeface="Segoe UI"/>
              </a:rPr>
              <a:t>•  </a:t>
            </a:r>
            <a:r>
              <a:rPr sz="1900" b="1" i="0">
                <a:solidFill>
                  <a:srgbClr val="1C252B"/>
                </a:solidFill>
                <a:latin typeface="Segoe UI"/>
              </a:rPr>
              <a:t>Testing AAA by closing your session.</a:t>
            </a:r>
            <a:r>
              <a:rPr sz="1900" b="0" i="0">
                <a:solidFill>
                  <a:srgbClr val="1C252B"/>
                </a:solidFill>
                <a:latin typeface="Segoe UI"/>
              </a:rPr>
              <a:t> Always open a second session and prove it works before closing the first.</a:t>
            </a:r>
          </a:p>
          <a:p>
            <a:pPr marL="217169" indent="-217169">
              <a:lnSpc>
                <a:spcPct val="102000"/>
              </a:lnSpc>
              <a:spcAft>
                <a:spcPts val="900"/>
              </a:spcAft>
            </a:pPr>
            <a:r>
              <a:rPr sz="1900" b="1">
                <a:solidFill>
                  <a:srgbClr val="922B21"/>
                </a:solidFill>
                <a:latin typeface="Segoe UI"/>
              </a:rPr>
              <a:t>•  </a:t>
            </a:r>
            <a:r>
              <a:rPr sz="1900" b="1" i="0">
                <a:solidFill>
                  <a:srgbClr val="1C252B"/>
                </a:solidFill>
                <a:latin typeface="Segoe UI"/>
              </a:rPr>
              <a:t>Mismatched shared key.</a:t>
            </a:r>
            <a:r>
              <a:rPr sz="1900" b="0" i="0">
                <a:solidFill>
                  <a:srgbClr val="1C252B"/>
                </a:solidFill>
                <a:latin typeface="Segoe UI"/>
              </a:rPr>
              <a:t> Authentication fails with no useful message on the client. Check the server’s logs, not the switch’s.</a:t>
            </a:r>
          </a:p>
          <a:p>
            <a:pPr marL="217169" indent="-217169">
              <a:lnSpc>
                <a:spcPct val="102000"/>
              </a:lnSpc>
              <a:spcAft>
                <a:spcPts val="900"/>
              </a:spcAft>
            </a:pPr>
            <a:r>
              <a:rPr sz="1900" b="1">
                <a:solidFill>
                  <a:srgbClr val="922B21"/>
                </a:solidFill>
                <a:latin typeface="Segoe UI"/>
              </a:rPr>
              <a:t>•  </a:t>
            </a:r>
            <a:r>
              <a:rPr sz="1900" b="1" i="0">
                <a:solidFill>
                  <a:srgbClr val="1C252B"/>
                </a:solidFill>
                <a:latin typeface="Segoe UI"/>
              </a:rPr>
              <a:t>No </a:t>
            </a:r>
            <a:r>
              <a:rPr sz="1800" b="1" i="0">
                <a:solidFill>
                  <a:srgbClr val="1A5276"/>
                </a:solidFill>
                <a:latin typeface="Consolas"/>
              </a:rPr>
              <a:t>ip tacacs source-interface</a:t>
            </a:r>
            <a:r>
              <a:rPr sz="1900" b="1" i="0">
                <a:solidFill>
                  <a:srgbClr val="1C252B"/>
                </a:solidFill>
                <a:latin typeface="Segoe UI"/>
              </a:rPr>
              <a:t>.</a:t>
            </a:r>
            <a:r>
              <a:rPr sz="1900" b="0" i="0">
                <a:solidFill>
                  <a:srgbClr val="1C252B"/>
                </a:solidFill>
                <a:latin typeface="Segoe UI"/>
              </a:rPr>
              <a:t> Packets leave by whichever interface routing picks, the server does not recognise the source, and the failure is intermittent by design.</a:t>
            </a:r>
          </a:p>
          <a:p>
            <a:pPr marL="217169" indent="-217169">
              <a:lnSpc>
                <a:spcPct val="102000"/>
              </a:lnSpc>
              <a:spcAft>
                <a:spcPts val="900"/>
              </a:spcAft>
            </a:pPr>
            <a:r>
              <a:rPr sz="1900" b="1">
                <a:solidFill>
                  <a:srgbClr val="922B21"/>
                </a:solidFill>
                <a:latin typeface="Segoe UI"/>
              </a:rPr>
              <a:t>•  </a:t>
            </a:r>
            <a:r>
              <a:rPr sz="1800" b="1" i="0">
                <a:solidFill>
                  <a:srgbClr val="1A5276"/>
                </a:solidFill>
                <a:latin typeface="Consolas"/>
              </a:rPr>
              <a:t>transport input ssh</a:t>
            </a:r>
            <a:r>
              <a:rPr sz="1900" b="1" i="0">
                <a:solidFill>
                  <a:srgbClr val="1C252B"/>
                </a:solidFill>
                <a:latin typeface="Segoe UI"/>
              </a:rPr>
              <a:t> before the keys exist.</a:t>
            </a:r>
            <a:r>
              <a:rPr sz="1900" b="0" i="0">
                <a:solidFill>
                  <a:srgbClr val="1C252B"/>
                </a:solidFill>
                <a:latin typeface="Segoe UI"/>
              </a:rPr>
              <a:t> Instant remote lock-out.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SFTP — the device as a client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2685578"/>
            <a:ext cx="10820095" cy="3696933"/>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Enabling SCP without </a:t>
            </a:r>
            <a:r>
              <a:rPr sz="1900" b="1" i="0">
                <a:solidFill>
                  <a:srgbClr val="1A5276"/>
                </a:solidFill>
                <a:latin typeface="Consolas"/>
              </a:rPr>
              <a:t>aaa authorization exec</a:t>
            </a:r>
            <a:r>
              <a:rPr sz="2000" b="1" i="0">
                <a:solidFill>
                  <a:srgbClr val="1C252B"/>
                </a:solidFill>
                <a:latin typeface="Segoe UI"/>
              </a:rPr>
              <a:t>.</a:t>
            </a:r>
            <a:r>
              <a:rPr sz="2000" b="0" i="0">
                <a:solidFill>
                  <a:srgbClr val="1C252B"/>
                </a:solidFill>
                <a:latin typeface="Segoe UI"/>
              </a:rPr>
              <a:t> Logs in, transfers nothing.</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Believing </a:t>
            </a:r>
            <a:r>
              <a:rPr sz="1900" b="1" i="0">
                <a:solidFill>
                  <a:srgbClr val="1A5276"/>
                </a:solidFill>
                <a:latin typeface="Consolas"/>
              </a:rPr>
              <a:t>service password-encryption</a:t>
            </a:r>
            <a:r>
              <a:rPr sz="2000" b="1" i="0">
                <a:solidFill>
                  <a:srgbClr val="1C252B"/>
                </a:solidFill>
                <a:latin typeface="Segoe UI"/>
              </a:rPr>
              <a:t> protects anything.</a:t>
            </a:r>
            <a:r>
              <a:rPr sz="2000" b="0" i="0">
                <a:solidFill>
                  <a:srgbClr val="1C252B"/>
                </a:solidFill>
                <a:latin typeface="Segoe UI"/>
              </a:rPr>
              <a:t> Type 7 is reversible.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Reaching for TFTP out of habit.</a:t>
            </a:r>
            <a:r>
              <a:rPr sz="2000" b="0" i="0">
                <a:solidFill>
                  <a:srgbClr val="1C252B"/>
                </a:solidFill>
                <a:latin typeface="Segoe UI"/>
              </a:rPr>
              <a:t> It is off the blueprint and it was off the good-practice list long before that.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100" b="1" i="0">
                <a:solidFill>
                  <a:srgbClr val="1C252B"/>
                </a:solidFill>
                <a:latin typeface="Segoe UI"/>
              </a:rPr>
              <a:t>Nobody can log in to any switch. The AAA server is up and other services work.</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campus of forty switches, all authenticating to TACACS+. Overnight, logins begin failing everywhere. The TACACS+ server is running, responds to ping from a workstation, and is authenticating VPN users normally. Console access fails as well as SSH.</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100" b="1" i="0">
                <a:solidFill>
                  <a:srgbClr val="1C252B"/>
                </a:solidFill>
                <a:latin typeface="Segoe UI"/>
              </a:rPr>
              <a:t>Nobody can log in to any switch. The AAA server is up and other services work.</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run | include aaa authentication</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CAMPUS-SW1#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aaa authentication login default group TACGROUP local</a:t>
            </a:r>
          </a:p>
          <a:p>
            <a:pPr>
              <a:lnSpc>
                <a:spcPct val="100000"/>
              </a:lnSpc>
              <a:spcAft>
                <a:spcPts val="0"/>
              </a:spcAft>
            </a:pPr>
            <a:r>
              <a:rPr sz="1500">
                <a:solidFill>
                  <a:srgbClr val="E8EEF2"/>
                </a:solidFill>
                <a:latin typeface="Consolas"/>
              </a:rPr>
              <a:t>aaa authentication enable default group TACGROUP enable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aaa servers | include host|state</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CAMPUS-SW1#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TACACS+: id 1, priority 1, host 10.0.0.20, auth-port 49</a:t>
            </a:r>
          </a:p>
          <a:p>
            <a:pPr>
              <a:lnSpc>
                <a:spcPct val="100000"/>
              </a:lnSpc>
              <a:spcAft>
                <a:spcPts val="0"/>
              </a:spcAft>
            </a:pPr>
            <a:r>
              <a:rPr sz="1500">
                <a:solidFill>
                  <a:srgbClr val="E8EEF2"/>
                </a:solidFill>
                <a:latin typeface="Consolas"/>
              </a:rPr>
              <a:t>     State: current UP, duration 61204s</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1627632"/>
            <a:ext cx="10820095" cy="472744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configuration has a correct fallback and the server is reachable and marked </a:t>
            </a:r>
            <a:r>
              <a:rPr sz="1800" b="0" i="0">
                <a:solidFill>
                  <a:srgbClr val="1A5276"/>
                </a:solidFill>
                <a:latin typeface="Consolas"/>
              </a:rPr>
              <a:t>UP</a:t>
            </a:r>
            <a:r>
              <a:rPr sz="1900" b="0" i="0">
                <a:solidFill>
                  <a:srgbClr val="1C252B"/>
                </a:solidFill>
                <a:latin typeface="Segoe UI"/>
              </a:rPr>
              <a:t>. That combination rules out both of the usual suspects at once — and it is the clue.</a:t>
            </a:r>
          </a:p>
          <a:p>
            <a:pPr algn="l">
              <a:lnSpc>
                <a:spcPct val="100000"/>
              </a:lnSpc>
              <a:spcAft>
                <a:spcPts val="1000"/>
              </a:spcAft>
            </a:pPr>
            <a:r>
              <a:rPr sz="1900" b="0" i="0">
                <a:solidFill>
                  <a:srgbClr val="1C252B"/>
                </a:solidFill>
                <a:latin typeface="Segoe UI"/>
              </a:rPr>
              <a:t>Because the server is reachable, the device sends the request and gets an </a:t>
            </a:r>
            <a:r>
              <a:rPr sz="1900" b="0" i="1">
                <a:solidFill>
                  <a:srgbClr val="1C252B"/>
                </a:solidFill>
                <a:latin typeface="Segoe UI"/>
              </a:rPr>
              <a:t>answer</a:t>
            </a:r>
            <a:r>
              <a:rPr sz="1900" b="0" i="0">
                <a:solidFill>
                  <a:srgbClr val="1C252B"/>
                </a:solidFill>
                <a:latin typeface="Segoe UI"/>
              </a:rPr>
              <a:t>. The answer is a rejection. Fallback to </a:t>
            </a:r>
            <a:r>
              <a:rPr sz="1800" b="0" i="0">
                <a:solidFill>
                  <a:srgbClr val="1A5276"/>
                </a:solidFill>
                <a:latin typeface="Consolas"/>
              </a:rPr>
              <a:t>local</a:t>
            </a:r>
            <a:r>
              <a:rPr sz="1900" b="0" i="0">
                <a:solidFill>
                  <a:srgbClr val="1C252B"/>
                </a:solidFill>
                <a:latin typeface="Segoe UI"/>
              </a:rPr>
              <a:t> never fires, because fallback happens on silence, not on refusal. The fault is therefore on the server: overnight, the group that grants network-device administration was changed, and the server is now correctly refusing everyone.</a:t>
            </a:r>
          </a:p>
          <a:p>
            <a:pPr algn="l">
              <a:lnSpc>
                <a:spcPct val="100000"/>
              </a:lnSpc>
              <a:spcAft>
                <a:spcPts val="1000"/>
              </a:spcAft>
            </a:pPr>
            <a:r>
              <a:rPr sz="1900" b="0" i="0">
                <a:solidFill>
                  <a:srgbClr val="1C252B"/>
                </a:solidFill>
                <a:latin typeface="Segoe UI"/>
              </a:rPr>
              <a:t>The tell is that console access fails too. A network-side or transport-side fault would leave the console working, because the console does not depend on the network. A fault that follows you to the console is in the authentication decision itself.</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1627632"/>
            <a:ext cx="10820095" cy="472744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Immediate recovery.</a:t>
            </a:r>
            <a:r>
              <a:rPr sz="1900" b="0" i="0">
                <a:solidFill>
                  <a:srgbClr val="1C252B"/>
                </a:solidFill>
                <a:latin typeface="Segoe UI"/>
              </a:rPr>
              <a:t> You need an account the switch can validate without the server. If a local account exists, use it — but the method list consults TACACS+ first and TACACS+ is answering, so it will not be reached. Break the server’s reachability from the switch deliberately, or use the password-recovery procedure on one switch, restore local access, and work from there.</a:t>
            </a:r>
          </a:p>
          <a:p>
            <a:pPr algn="l">
              <a:lnSpc>
                <a:spcPct val="100000"/>
              </a:lnSpc>
              <a:spcAft>
                <a:spcPts val="1000"/>
              </a:spcAft>
            </a:pPr>
            <a:r>
              <a:rPr sz="1900" b="1" i="0">
                <a:solidFill>
                  <a:srgbClr val="1C252B"/>
                </a:solidFill>
                <a:latin typeface="Segoe UI"/>
              </a:rPr>
              <a:t>The lasting fix</a:t>
            </a:r>
            <a:r>
              <a:rPr sz="1900" b="0" i="0">
                <a:solidFill>
                  <a:srgbClr val="1C252B"/>
                </a:solidFill>
                <a:latin typeface="Segoe UI"/>
              </a:rPr>
              <a:t> is on the server, not the switches. Restore the administration group.</a:t>
            </a:r>
          </a:p>
          <a:p>
            <a:pPr algn="l">
              <a:lnSpc>
                <a:spcPct val="100000"/>
              </a:lnSpc>
              <a:spcAft>
                <a:spcPts val="1000"/>
              </a:spcAft>
            </a:pPr>
            <a:r>
              <a:rPr sz="1900" b="1" i="0">
                <a:solidFill>
                  <a:srgbClr val="1C252B"/>
                </a:solidFill>
                <a:latin typeface="Segoe UI"/>
              </a:rPr>
              <a:t>And the lesson to write down.</a:t>
            </a:r>
            <a:r>
              <a:rPr sz="1900" b="0" i="0">
                <a:solidFill>
                  <a:srgbClr val="1C252B"/>
                </a:solidFill>
                <a:latin typeface="Segoe UI"/>
              </a:rPr>
              <a:t> A local fallback protects you from an unreachable server. It does not protect you from a reachable server that says no. Sites that care about this keep a break-glass local account and test it on a schedule — and keep at least one device out of AAA entirely, reachable out-of-band, as the way back in.</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TACACS+ OR RADIUS SERVER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Secure access, AAA, and a backup you can restore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700" b="1" i="0">
                <a:solidFill>
                  <a:srgbClr val="1C252B"/>
                </a:solidFill>
                <a:latin typeface="Segoe UI"/>
              </a:rPr>
              <a:t>Platform note.</a:t>
            </a:r>
            <a:r>
              <a:rPr sz="1700" b="0" i="0">
                <a:solidFill>
                  <a:srgbClr val="1C252B"/>
                </a:solidFill>
                <a:latin typeface="Segoe UI"/>
              </a:rPr>
              <a:t> Packet Tracer models a simplified AAA server and will carry tasks 1–4. Tasks 5–8 need a real server (</a:t>
            </a:r>
            <a:r>
              <a:rPr sz="1600" b="0" i="0">
                <a:solidFill>
                  <a:srgbClr val="1A5276"/>
                </a:solidFill>
                <a:latin typeface="Consolas"/>
              </a:rPr>
              <a:t>tac_plus</a:t>
            </a:r>
            <a:r>
              <a:rPr sz="1700" b="0" i="0">
                <a:solidFill>
                  <a:srgbClr val="1C252B"/>
                </a:solidFill>
                <a:latin typeface="Segoe UI"/>
              </a:rPr>
              <a:t> or FreeRADIUS) and a real SSH stack, so use CML or GNS3.</a:t>
            </a:r>
          </a:p>
          <a:p>
            <a:pPr algn="l">
              <a:lnSpc>
                <a:spcPct val="100000"/>
              </a:lnSpc>
              <a:spcAft>
                <a:spcPts val="1000"/>
              </a:spcAft>
            </a:pPr>
            <a:r>
              <a:rPr sz="1700" b="1" i="0">
                <a:solidFill>
                  <a:srgbClr val="1C252B"/>
                </a:solidFill>
                <a:latin typeface="Segoe UI"/>
              </a:rPr>
              <a:t>Topology.</a:t>
            </a:r>
            <a:r>
              <a:rPr sz="1700" b="0" i="0">
                <a:solidFill>
                  <a:srgbClr val="1C252B"/>
                </a:solidFill>
                <a:latin typeface="Segoe UI"/>
              </a:rPr>
              <a:t> Two switches and a router, a management VLAN, a Linux host running the AAA server and an SFTP server, and your own workstation.</a:t>
            </a:r>
          </a:p>
        </p:txBody>
      </p:sp>
      <p:sp>
        <p:nvSpPr>
          <p:cNvPr id="8" name="bullets"/>
          <p:cNvSpPr txBox="1"/>
          <p:nvPr/>
        </p:nvSpPr>
        <p:spPr>
          <a:xfrm>
            <a:off x="685800" y="2914904"/>
            <a:ext cx="10820095" cy="3467608"/>
          </a:xfrm>
          <a:prstGeom prst="rect">
            <a:avLst/>
          </a:prstGeom>
          <a:noFill/>
        </p:spPr>
        <p:txBody>
          <a:bodyPr wrap="square" lIns="0" rIns="0" tIns="0" bIns="0">
            <a:spAutoFit/>
          </a:bodyPr>
          <a:lstStyle/>
          <a:p>
            <a:pPr marL="328168" indent="-328168">
              <a:lnSpc>
                <a:spcPct val="102000"/>
              </a:lnSpc>
              <a:spcAft>
                <a:spcPts val="900"/>
              </a:spcAft>
            </a:pPr>
            <a:r>
              <a:rPr sz="1700" b="1">
                <a:solidFill>
                  <a:srgbClr val="922B21"/>
                </a:solidFill>
                <a:latin typeface="Segoe UI"/>
              </a:rPr>
              <a:t>1.  </a:t>
            </a:r>
            <a:r>
              <a:rPr sz="1700" b="0" i="0">
                <a:solidFill>
                  <a:srgbClr val="1C252B"/>
                </a:solidFill>
                <a:latin typeface="Segoe UI"/>
              </a:rPr>
              <a:t>Build baseline access on all three devices: hostname, domain name, two local users at different privilege levels, enable secret, RSA keys, SSH version 2, </a:t>
            </a:r>
            <a:r>
              <a:rPr sz="1600" b="0" i="0">
                <a:solidFill>
                  <a:srgbClr val="1A5276"/>
                </a:solidFill>
                <a:latin typeface="Consolas"/>
              </a:rPr>
              <a:t>transport input ssh</a:t>
            </a:r>
            <a:r>
              <a:rPr sz="1700" b="0" i="0">
                <a:solidFill>
                  <a:srgbClr val="1C252B"/>
                </a:solidFill>
                <a:latin typeface="Segoe UI"/>
              </a:rPr>
              <a:t>. Verify by SSH and confirm Telnet is refused.</a:t>
            </a:r>
          </a:p>
          <a:p>
            <a:pPr marL="328168" indent="-328168">
              <a:lnSpc>
                <a:spcPct val="102000"/>
              </a:lnSpc>
              <a:spcAft>
                <a:spcPts val="900"/>
              </a:spcAft>
            </a:pPr>
            <a:r>
              <a:rPr sz="1700" b="1">
                <a:solidFill>
                  <a:srgbClr val="922B21"/>
                </a:solidFill>
                <a:latin typeface="Segoe UI"/>
              </a:rPr>
              <a:t>2.  </a:t>
            </a:r>
            <a:r>
              <a:rPr sz="1700" b="0" i="0">
                <a:solidFill>
                  <a:srgbClr val="1C252B"/>
                </a:solidFill>
                <a:latin typeface="Segoe UI"/>
              </a:rPr>
              <a:t>Prove the password types. Run </a:t>
            </a:r>
            <a:r>
              <a:rPr sz="1600" b="0" i="0">
                <a:solidFill>
                  <a:srgbClr val="1A5276"/>
                </a:solidFill>
                <a:latin typeface="Consolas"/>
              </a:rPr>
              <a:t>show run | include username</a:t>
            </a:r>
            <a:r>
              <a:rPr sz="1700" b="0" i="0">
                <a:solidFill>
                  <a:srgbClr val="1C252B"/>
                </a:solidFill>
                <a:latin typeface="Segoe UI"/>
              </a:rPr>
              <a:t> and identify the type number on each. Add one user with </a:t>
            </a:r>
            <a:r>
              <a:rPr sz="1600" b="0" i="0">
                <a:solidFill>
                  <a:srgbClr val="1A5276"/>
                </a:solidFill>
                <a:latin typeface="Consolas"/>
              </a:rPr>
              <a:t>password</a:t>
            </a:r>
            <a:r>
              <a:rPr sz="1700" b="0" i="0">
                <a:solidFill>
                  <a:srgbClr val="1C252B"/>
                </a:solidFill>
                <a:latin typeface="Segoe UI"/>
              </a:rPr>
              <a:t> instead of </a:t>
            </a:r>
            <a:r>
              <a:rPr sz="1600" b="0" i="0">
                <a:solidFill>
                  <a:srgbClr val="1A5276"/>
                </a:solidFill>
                <a:latin typeface="Consolas"/>
              </a:rPr>
              <a:t>secret</a:t>
            </a:r>
            <a:r>
              <a:rPr sz="1700" b="0" i="0">
                <a:solidFill>
                  <a:srgbClr val="1C252B"/>
                </a:solidFill>
                <a:latin typeface="Segoe UI"/>
              </a:rPr>
              <a:t> and compare, then remove it.</a:t>
            </a:r>
          </a:p>
          <a:p>
            <a:pPr marL="328168" indent="-328168">
              <a:lnSpc>
                <a:spcPct val="102000"/>
              </a:lnSpc>
              <a:spcAft>
                <a:spcPts val="900"/>
              </a:spcAft>
            </a:pPr>
            <a:r>
              <a:rPr sz="1700" b="1">
                <a:solidFill>
                  <a:srgbClr val="922B21"/>
                </a:solidFill>
                <a:latin typeface="Segoe UI"/>
              </a:rPr>
              <a:t>3.  </a:t>
            </a:r>
            <a:r>
              <a:rPr sz="1700" b="0" i="0">
                <a:solidFill>
                  <a:srgbClr val="1C252B"/>
                </a:solidFill>
                <a:latin typeface="Segoe UI"/>
              </a:rPr>
              <a:t>Configure AAA against the server with a local fallback. </a:t>
            </a:r>
            <a:r>
              <a:rPr sz="1700" b="1" i="0">
                <a:solidFill>
                  <a:srgbClr val="1C252B"/>
                </a:solidFill>
                <a:latin typeface="Segoe UI"/>
              </a:rPr>
              <a:t>Open a second SSH session before you test</a:t>
            </a:r>
            <a:r>
              <a:rPr sz="1700" b="0" i="0">
                <a:solidFill>
                  <a:srgbClr val="1C252B"/>
                </a:solidFill>
                <a:latin typeface="Segoe UI"/>
              </a:rPr>
              <a:t>, and keep it open throughout.</a:t>
            </a:r>
          </a:p>
          <a:p>
            <a:pPr marL="328168" indent="-328168">
              <a:lnSpc>
                <a:spcPct val="102000"/>
              </a:lnSpc>
              <a:spcAft>
                <a:spcPts val="900"/>
              </a:spcAft>
            </a:pPr>
            <a:r>
              <a:rPr sz="1700" b="1">
                <a:solidFill>
                  <a:srgbClr val="922B21"/>
                </a:solidFill>
                <a:latin typeface="Segoe UI"/>
              </a:rPr>
              <a:t>4.  </a:t>
            </a:r>
            <a:r>
              <a:rPr sz="1700" b="0" i="0">
                <a:solidFill>
                  <a:srgbClr val="1C252B"/>
                </a:solidFill>
                <a:latin typeface="Segoe UI"/>
              </a:rPr>
              <a:t>Verify with </a:t>
            </a:r>
            <a:r>
              <a:rPr sz="1600" b="0" i="0">
                <a:solidFill>
                  <a:srgbClr val="1A5276"/>
                </a:solidFill>
                <a:latin typeface="Consolas"/>
              </a:rPr>
              <a:t>show aaa servers</a:t>
            </a:r>
            <a:r>
              <a:rPr sz="1700" b="0" i="0">
                <a:solidFill>
                  <a:srgbClr val="1C252B"/>
                </a:solidFill>
                <a:latin typeface="Segoe UI"/>
              </a:rPr>
              <a:t> and by logging in as a server-defined user. Confirm the privilege level you land 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TACACS+ OR RADIUS SERVER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Secure access, AAA, and a backup you can restore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1.  </a:t>
            </a:r>
            <a:r>
              <a:rPr sz="2000" b="1" i="0">
                <a:solidFill>
                  <a:srgbClr val="1C252B"/>
                </a:solidFill>
                <a:latin typeface="Segoe UI"/>
              </a:rPr>
              <a:t>Break 1.</a:t>
            </a:r>
            <a:r>
              <a:rPr sz="2000" b="0" i="0">
                <a:solidFill>
                  <a:srgbClr val="1C252B"/>
                </a:solidFill>
                <a:latin typeface="Segoe UI"/>
              </a:rPr>
              <a:t> Stop the AAA server. Log in again and confirm the local fallback works. Record how long the device waits before falling back.</a:t>
            </a:r>
          </a:p>
          <a:p>
            <a:pPr marL="386080" indent="-386080">
              <a:lnSpc>
                <a:spcPct val="102000"/>
              </a:lnSpc>
              <a:spcAft>
                <a:spcPts val="900"/>
              </a:spcAft>
            </a:pPr>
            <a:r>
              <a:rPr sz="2000" b="1">
                <a:solidFill>
                  <a:srgbClr val="922B21"/>
                </a:solidFill>
                <a:latin typeface="Segoe UI"/>
              </a:rPr>
              <a:t>2.  </a:t>
            </a:r>
            <a:r>
              <a:rPr sz="2000" b="1" i="0">
                <a:solidFill>
                  <a:srgbClr val="1C252B"/>
                </a:solidFill>
                <a:latin typeface="Segoe UI"/>
              </a:rPr>
              <a:t>Break 2.</a:t>
            </a:r>
            <a:r>
              <a:rPr sz="2000" b="0" i="0">
                <a:solidFill>
                  <a:srgbClr val="1C252B"/>
                </a:solidFill>
                <a:latin typeface="Segoe UI"/>
              </a:rPr>
              <a:t> Restart the server and disable your test account on it. Attempt to log in. Explain why the local fallback does </a:t>
            </a:r>
            <a:r>
              <a:rPr sz="2000" b="0" i="1">
                <a:solidFill>
                  <a:srgbClr val="1C252B"/>
                </a:solidFill>
                <a:latin typeface="Segoe UI"/>
              </a:rPr>
              <a:t>not</a:t>
            </a:r>
            <a:r>
              <a:rPr sz="2000" b="0" i="0">
                <a:solidFill>
                  <a:srgbClr val="1C252B"/>
                </a:solidFill>
                <a:latin typeface="Segoe UI"/>
              </a:rPr>
              <a:t> rescue you, and relate this to the Break &amp; Fix above.</a:t>
            </a:r>
          </a:p>
          <a:p>
            <a:pPr marL="386080" indent="-386080">
              <a:lnSpc>
                <a:spcPct val="102000"/>
              </a:lnSpc>
              <a:spcAft>
                <a:spcPts val="900"/>
              </a:spcAft>
            </a:pPr>
            <a:r>
              <a:rPr sz="2000" b="1">
                <a:solidFill>
                  <a:srgbClr val="922B21"/>
                </a:solidFill>
                <a:latin typeface="Segoe UI"/>
              </a:rPr>
              <a:t>3.  </a:t>
            </a:r>
            <a:r>
              <a:rPr sz="2000" b="1" i="0">
                <a:solidFill>
                  <a:srgbClr val="1C252B"/>
                </a:solidFill>
                <a:latin typeface="Segoe UI"/>
              </a:rPr>
              <a:t>Break 3.</a:t>
            </a:r>
            <a:r>
              <a:rPr sz="2000" b="0" i="0">
                <a:solidFill>
                  <a:srgbClr val="1C252B"/>
                </a:solidFill>
                <a:latin typeface="Segoe UI"/>
              </a:rPr>
              <a:t> Remove </a:t>
            </a:r>
            <a:r>
              <a:rPr sz="1900" b="0" i="0">
                <a:solidFill>
                  <a:srgbClr val="1A5276"/>
                </a:solidFill>
                <a:latin typeface="Consolas"/>
              </a:rPr>
              <a:t>local</a:t>
            </a:r>
            <a:r>
              <a:rPr sz="2000" b="0" i="0">
                <a:solidFill>
                  <a:srgbClr val="1C252B"/>
                </a:solidFill>
                <a:latin typeface="Segoe UI"/>
              </a:rPr>
              <a:t> from the method list, stop the server, and log out of every session. Recover the device. Write down how long it took and what you would have done differently.</a:t>
            </a:r>
          </a:p>
          <a:p>
            <a:pPr marL="386080" indent="-386080">
              <a:lnSpc>
                <a:spcPct val="102000"/>
              </a:lnSpc>
              <a:spcAft>
                <a:spcPts val="900"/>
              </a:spcAft>
            </a:pPr>
            <a:r>
              <a:rPr sz="2000" b="1">
                <a:solidFill>
                  <a:srgbClr val="922B21"/>
                </a:solidFill>
                <a:latin typeface="Segoe UI"/>
              </a:rPr>
              <a:t>4.  </a:t>
            </a:r>
            <a:r>
              <a:rPr sz="2000" b="0" i="0">
                <a:solidFill>
                  <a:srgbClr val="1C252B"/>
                </a:solidFill>
                <a:latin typeface="Segoe UI"/>
              </a:rPr>
              <a:t>Enable the SCP server and copy the running configuration to your workstation. Then omit </a:t>
            </a:r>
            <a:r>
              <a:rPr sz="1900" b="0" i="0">
                <a:solidFill>
                  <a:srgbClr val="1A5276"/>
                </a:solidFill>
                <a:latin typeface="Consolas"/>
              </a:rPr>
              <a:t>aaa authorization exec</a:t>
            </a:r>
            <a:r>
              <a:rPr sz="2000" b="0" i="0">
                <a:solidFill>
                  <a:srgbClr val="1C252B"/>
                </a:solidFill>
                <a:latin typeface="Segoe UI"/>
              </a:rPr>
              <a:t> and observe the different failure.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TACACS+ OR RADIUS SERVER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Secure access, AAA, and a backup you can restore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2718235"/>
            <a:ext cx="10820095" cy="3664276"/>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1.  </a:t>
            </a:r>
            <a:r>
              <a:rPr sz="2000" b="0" i="0">
                <a:solidFill>
                  <a:srgbClr val="1C252B"/>
                </a:solidFill>
                <a:latin typeface="Segoe UI"/>
              </a:rPr>
              <a:t>Configure </a:t>
            </a:r>
            <a:r>
              <a:rPr sz="1900" b="0" i="0">
                <a:solidFill>
                  <a:srgbClr val="1A5276"/>
                </a:solidFill>
                <a:latin typeface="Consolas"/>
              </a:rPr>
              <a:t>archive</a:t>
            </a:r>
            <a:r>
              <a:rPr sz="2000" b="0" i="0">
                <a:solidFill>
                  <a:srgbClr val="1C252B"/>
                </a:solidFill>
                <a:latin typeface="Segoe UI"/>
              </a:rPr>
              <a:t> to write to SFTP on every </a:t>
            </a:r>
            <a:r>
              <a:rPr sz="1900" b="0" i="0">
                <a:solidFill>
                  <a:srgbClr val="1A5276"/>
                </a:solidFill>
                <a:latin typeface="Consolas"/>
              </a:rPr>
              <a:t>write memory</a:t>
            </a:r>
            <a:r>
              <a:rPr sz="2000" b="0" i="0">
                <a:solidFill>
                  <a:srgbClr val="1C252B"/>
                </a:solidFill>
                <a:latin typeface="Segoe UI"/>
              </a:rPr>
              <a:t>. Make a change, save, and confirm the archived file appears.</a:t>
            </a:r>
          </a:p>
          <a:p>
            <a:pPr marL="386080" indent="-386080">
              <a:lnSpc>
                <a:spcPct val="102000"/>
              </a:lnSpc>
              <a:spcAft>
                <a:spcPts val="900"/>
              </a:spcAft>
            </a:pPr>
            <a:r>
              <a:rPr sz="2000" b="1">
                <a:solidFill>
                  <a:srgbClr val="922B21"/>
                </a:solidFill>
                <a:latin typeface="Segoe UI"/>
              </a:rPr>
              <a:t>2.  </a:t>
            </a:r>
            <a:r>
              <a:rPr sz="2000" b="1" i="0">
                <a:solidFill>
                  <a:srgbClr val="1C252B"/>
                </a:solidFill>
                <a:latin typeface="Segoe UI"/>
              </a:rPr>
              <a:t>Extension.</a:t>
            </a:r>
            <a:r>
              <a:rPr sz="2000" b="0" i="0">
                <a:solidFill>
                  <a:srgbClr val="1C252B"/>
                </a:solidFill>
                <a:latin typeface="Segoe UI"/>
              </a:rPr>
              <a:t> Copy an image by SFTP, verify its MD5 against the published hash, and deliberately truncate a copy to see what </a:t>
            </a:r>
            <a:r>
              <a:rPr sz="1900" b="0" i="0">
                <a:solidFill>
                  <a:srgbClr val="1A5276"/>
                </a:solidFill>
                <a:latin typeface="Consolas"/>
              </a:rPr>
              <a:t>verify</a:t>
            </a:r>
            <a:r>
              <a:rPr sz="2000" b="0" i="0">
                <a:solidFill>
                  <a:srgbClr val="1C252B"/>
                </a:solidFill>
                <a:latin typeface="Segoe UI"/>
              </a:rPr>
              <a:t> reports.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In </a:t>
            </a:r>
            <a:r>
              <a:rPr sz="2900" b="0" i="0">
                <a:solidFill>
                  <a:srgbClr val="FFFFFF"/>
                </a:solidFill>
                <a:latin typeface="Consolas"/>
              </a:rPr>
              <a:t>aaa authentication login default group TACGROUP local</a:t>
            </a:r>
            <a:r>
              <a:rPr sz="3000" b="0" i="0">
                <a:solidFill>
                  <a:srgbClr val="FFFFFF"/>
                </a:solidFill>
                <a:latin typeface="Segoe UI"/>
              </a:rPr>
              <a:t>, when is </a:t>
            </a:r>
            <a:r>
              <a:rPr sz="2900" b="0" i="0">
                <a:solidFill>
                  <a:srgbClr val="FFFFFF"/>
                </a:solidFill>
                <a:latin typeface="Consolas"/>
              </a:rPr>
              <a:t>local</a:t>
            </a:r>
            <a:r>
              <a:rPr sz="3000" b="0" i="0">
                <a:solidFill>
                  <a:srgbClr val="FFFFFF"/>
                </a:solidFill>
                <a:latin typeface="Segoe UI"/>
              </a:rPr>
              <a:t> used and when is it not?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In </a:t>
            </a:r>
            <a:r>
              <a:rPr sz="1900" b="1" i="0">
                <a:solidFill>
                  <a:srgbClr val="1A5276"/>
                </a:solidFill>
                <a:latin typeface="Consolas"/>
              </a:rPr>
              <a:t>aaa authentication login default group TACGROUP local</a:t>
            </a:r>
            <a:r>
              <a:rPr sz="2000" b="1" i="0">
                <a:solidFill>
                  <a:srgbClr val="1A5276"/>
                </a:solidFill>
                <a:latin typeface="Segoe UI"/>
              </a:rPr>
              <a:t>, when is </a:t>
            </a:r>
            <a:r>
              <a:rPr sz="1900" b="1" i="0">
                <a:solidFill>
                  <a:srgbClr val="1A5276"/>
                </a:solidFill>
                <a:latin typeface="Consolas"/>
              </a:rPr>
              <a:t>local</a:t>
            </a:r>
            <a:r>
              <a:rPr sz="2000" b="1" i="0">
                <a:solidFill>
                  <a:srgbClr val="1A5276"/>
                </a:solidFill>
                <a:latin typeface="Segoe UI"/>
              </a:rPr>
              <a:t> used and when is it not?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local</a:t>
            </a:r>
            <a:r>
              <a:rPr sz="1900" b="0" i="0">
                <a:solidFill>
                  <a:srgbClr val="1C252B"/>
                </a:solidFill>
                <a:latin typeface="Segoe UI"/>
              </a:rPr>
              <a:t> is used only when the TACACS+ group </a:t>
            </a:r>
            <a:r>
              <a:rPr sz="1900" b="0" i="1">
                <a:solidFill>
                  <a:srgbClr val="1C252B"/>
                </a:solidFill>
                <a:latin typeface="Segoe UI"/>
              </a:rPr>
              <a:t>does not respond at all</a:t>
            </a:r>
            <a:r>
              <a:rPr sz="1900" b="0" i="0">
                <a:solidFill>
                  <a:srgbClr val="1C252B"/>
                </a:solidFill>
                <a:latin typeface="Segoe UI"/>
              </a:rPr>
              <a:t>. If a server answers and rejects the credentials, that is an answer, the list ends, and the local database is never consulted. Fallback protects against a dead server, not a forgotten password.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the transport, port and encryption scope of TACACS+ and of RADIUS, and say which you would choose for controlling switch administrators.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the transport, port and encryption scope of TACACS+ and of RADIUS, and say which you would choose for controlling switch administrators.</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TACACS+ is TCP 49 and encrypts the entire packet body; RADIUS is UDP 1812/1813 and encrypts only the password field. Choose </a:t>
            </a:r>
            <a:r>
              <a:rPr sz="1900" b="1" i="0">
                <a:solidFill>
                  <a:srgbClr val="1C252B"/>
                </a:solidFill>
                <a:latin typeface="Segoe UI"/>
              </a:rPr>
              <a:t>TACACS+</a:t>
            </a:r>
            <a:r>
              <a:rPr sz="1900" b="0" i="0">
                <a:solidFill>
                  <a:srgbClr val="1C252B"/>
                </a:solidFill>
                <a:latin typeface="Segoe UI"/>
              </a:rPr>
              <a:t> for switch administrators — it separates authorization fully and supports per-command control.</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must </a:t>
            </a:r>
            <a:r>
              <a:rPr sz="2900" b="0" i="0">
                <a:solidFill>
                  <a:srgbClr val="FFFFFF"/>
                </a:solidFill>
                <a:latin typeface="Consolas"/>
              </a:rPr>
              <a:t>ip domain name</a:t>
            </a:r>
            <a:r>
              <a:rPr sz="3000" b="0" i="0">
                <a:solidFill>
                  <a:srgbClr val="FFFFFF"/>
                </a:solidFill>
                <a:latin typeface="Segoe UI"/>
              </a:rPr>
              <a:t> be set before generating RSA keys?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must </a:t>
            </a:r>
            <a:r>
              <a:rPr sz="1900" b="1" i="0">
                <a:solidFill>
                  <a:srgbClr val="1A5276"/>
                </a:solidFill>
                <a:latin typeface="Consolas"/>
              </a:rPr>
              <a:t>ip domain name</a:t>
            </a:r>
            <a:r>
              <a:rPr sz="2000" b="1" i="0">
                <a:solidFill>
                  <a:srgbClr val="1A5276"/>
                </a:solidFill>
                <a:latin typeface="Segoe UI"/>
              </a:rPr>
              <a:t> be set before generating RSA keys?</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RSA key pair is named </a:t>
            </a:r>
            <a:r>
              <a:rPr sz="1800" b="0" i="0">
                <a:solidFill>
                  <a:srgbClr val="1A5276"/>
                </a:solidFill>
                <a:latin typeface="Consolas"/>
              </a:rPr>
              <a:t>hostname.domain</a:t>
            </a:r>
            <a:r>
              <a:rPr sz="1900" b="0" i="0">
                <a:solidFill>
                  <a:srgbClr val="1C252B"/>
                </a:solidFill>
                <a:latin typeface="Segoe UI"/>
              </a:rPr>
              <a:t>. Without a domain name the device has no full name to label the key with and refuses.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three commands does the IOS SCP server require, and what is the symptom when the authorization line is missing?</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three commands does the IOS SCP server require, and what is the symptom when the authorization line is missing?</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aaa new-model</a:t>
            </a:r>
            <a:r>
              <a:rPr sz="1900" b="0" i="0">
                <a:solidFill>
                  <a:srgbClr val="1C252B"/>
                </a:solidFill>
                <a:latin typeface="Segoe UI"/>
              </a:rPr>
              <a:t>, an </a:t>
            </a:r>
            <a:r>
              <a:rPr sz="1800" b="0" i="0">
                <a:solidFill>
                  <a:srgbClr val="1A5276"/>
                </a:solidFill>
                <a:latin typeface="Consolas"/>
              </a:rPr>
              <a:t>aaa authentication login</a:t>
            </a:r>
            <a:r>
              <a:rPr sz="1900" b="0" i="0">
                <a:solidFill>
                  <a:srgbClr val="1C252B"/>
                </a:solidFill>
                <a:latin typeface="Segoe UI"/>
              </a:rPr>
              <a:t> method, and </a:t>
            </a:r>
            <a:r>
              <a:rPr sz="1800" b="0" i="0">
                <a:solidFill>
                  <a:srgbClr val="1A5276"/>
                </a:solidFill>
                <a:latin typeface="Consolas"/>
              </a:rPr>
              <a:t>aaa authorization exec</a:t>
            </a:r>
            <a:r>
              <a:rPr sz="1900" b="0" i="0">
                <a:solidFill>
                  <a:srgbClr val="1C252B"/>
                </a:solidFill>
                <a:latin typeface="Segoe UI"/>
              </a:rPr>
              <a:t> — plus </a:t>
            </a:r>
            <a:r>
              <a:rPr sz="1800" b="0" i="0">
                <a:solidFill>
                  <a:srgbClr val="1A5276"/>
                </a:solidFill>
                <a:latin typeface="Consolas"/>
              </a:rPr>
              <a:t>ip scp server enable</a:t>
            </a:r>
            <a:r>
              <a:rPr sz="1900" b="0" i="0">
                <a:solidFill>
                  <a:srgbClr val="1C252B"/>
                </a:solidFill>
                <a:latin typeface="Segoe UI"/>
              </a:rPr>
              <a:t> itself. Without the authorization line, users authenticate successfully and every transfer is then refused.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did v2.0 replace TFTP with SFTP and SCP? Give three reasons.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did v2.0 replace TFTP with SFTP and SCP? Give three reasons.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TFTP has no user authentication, sends everything in clear text, and runs over UDP with no integrity protection. A configuration file in flight — including its shared secrets — is readable by anyone on the path, and anyone who can reach the server can fetch any file whose name they guess.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Baseline first: hostname, domain name, local users with </a:t>
            </a:r>
            <a:r>
              <a:rPr sz="1900" b="0" i="0">
                <a:solidFill>
                  <a:srgbClr val="1A5276"/>
                </a:solidFill>
                <a:latin typeface="Consolas"/>
              </a:rPr>
              <a:t>algorithm-type scrypt secret</a:t>
            </a:r>
            <a:r>
              <a:rPr sz="2000" b="0" i="0">
                <a:solidFill>
                  <a:srgbClr val="1C252B"/>
                </a:solidFill>
                <a:latin typeface="Segoe UI"/>
              </a:rPr>
              <a:t>, </a:t>
            </a:r>
            <a:r>
              <a:rPr sz="1900" b="0" i="0">
                <a:solidFill>
                  <a:srgbClr val="1A5276"/>
                </a:solidFill>
                <a:latin typeface="Consolas"/>
              </a:rPr>
              <a:t>enable secret</a:t>
            </a:r>
            <a:r>
              <a:rPr sz="2000" b="0" i="0">
                <a:solidFill>
                  <a:srgbClr val="1C252B"/>
                </a:solidFill>
                <a:latin typeface="Segoe UI"/>
              </a:rPr>
              <a:t>, RSA keys, </a:t>
            </a:r>
            <a:r>
              <a:rPr sz="1900" b="0" i="0">
                <a:solidFill>
                  <a:srgbClr val="1A5276"/>
                </a:solidFill>
                <a:latin typeface="Consolas"/>
              </a:rPr>
              <a:t>ip ssh version 2</a:t>
            </a:r>
            <a:r>
              <a:rPr sz="2000" b="0" i="0">
                <a:solidFill>
                  <a:srgbClr val="1C252B"/>
                </a:solidFill>
                <a:latin typeface="Segoe UI"/>
              </a:rPr>
              <a:t>, </a:t>
            </a:r>
            <a:r>
              <a:rPr sz="1900" b="0" i="0">
                <a:solidFill>
                  <a:srgbClr val="1A5276"/>
                </a:solidFill>
                <a:latin typeface="Consolas"/>
              </a:rPr>
              <a:t>login local</a:t>
            </a:r>
            <a:r>
              <a:rPr sz="2000" b="0" i="0">
                <a:solidFill>
                  <a:srgbClr val="1C252B"/>
                </a:solidFill>
                <a:latin typeface="Segoe UI"/>
              </a:rPr>
              <a:t>, </a:t>
            </a:r>
            <a:r>
              <a:rPr sz="1900" b="0" i="0">
                <a:solidFill>
                  <a:srgbClr val="1A5276"/>
                </a:solidFill>
                <a:latin typeface="Consolas"/>
              </a:rPr>
              <a:t>transport input ssh</a:t>
            </a:r>
            <a:r>
              <a:rPr sz="2000" b="0" i="0">
                <a:solidFill>
                  <a:srgbClr val="1C252B"/>
                </a:solidFill>
                <a:latin typeface="Segoe UI"/>
              </a:rPr>
              <a: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Type 7 is obfuscation, not encryption. Type 8 and 9 are the current choices. </a:t>
            </a:r>
            <a:r>
              <a:rPr sz="1900" b="0" i="0">
                <a:solidFill>
                  <a:srgbClr val="1A5276"/>
                </a:solidFill>
                <a:latin typeface="Consolas"/>
              </a:rPr>
              <a:t>enable password</a:t>
            </a:r>
            <a:r>
              <a:rPr sz="2000" b="0" i="0">
                <a:solidFill>
                  <a:srgbClr val="1C252B"/>
                </a:solidFill>
                <a:latin typeface="Segoe UI"/>
              </a:rPr>
              <a:t> should not exist.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AAA answers three separate questions through ordered method lists. A method is skipped only when it does not respond — a rejection ends the list.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Always end an authentication method list with </a:t>
            </a:r>
            <a:r>
              <a:rPr sz="1900" b="0" i="0">
                <a:solidFill>
                  <a:srgbClr val="1A5276"/>
                </a:solidFill>
                <a:latin typeface="Consolas"/>
              </a:rPr>
              <a:t>local</a:t>
            </a:r>
            <a:r>
              <a:rPr sz="2000" b="0" i="0">
                <a:solidFill>
                  <a:srgbClr val="1C252B"/>
                </a:solidFill>
                <a:latin typeface="Segoe UI"/>
              </a:rPr>
              <a:t>, and always test from a second session.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23. Device Access, AAA and Secure File Transfer</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4.1  4.2</a:t>
            </a:r>
          </a:p>
        </p:txBody>
      </p:sp>
      <p:sp>
        <p:nvSpPr>
          <p:cNvPr id="7" name="bullets"/>
          <p:cNvSpPr txBox="1"/>
          <p:nvPr/>
        </p:nvSpPr>
        <p:spPr>
          <a:xfrm>
            <a:off x="685800" y="2449721"/>
            <a:ext cx="10820095" cy="393279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TACACS+: TCP 49, whole packet encrypted, full AAA separation, per-command authorization, device administration. RADIUS: UDP 1812/1813, password only encrypted, combined authentication and authorization, network access.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SCP puts file transfer inside SSH; IOS can be an SCP server and an SFTP client. Both replace TFTP, which authenticates nobody and encrypts nothing.</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Verify an image’s hash before reloading onto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Baseline first: hostname, domain name, local users with </a:t>
            </a:r>
            <a:r>
              <a:rPr sz="1800" b="0" i="0">
                <a:solidFill>
                  <a:srgbClr val="FFFFFF"/>
                </a:solidFill>
                <a:latin typeface="Consolas"/>
              </a:rPr>
              <a:t>algorithm-type scrypt secret</a:t>
            </a:r>
            <a:r>
              <a:rPr sz="1900" b="0" i="0">
                <a:solidFill>
                  <a:srgbClr val="FFFFFF"/>
                </a:solidFill>
                <a:latin typeface="Segoe UI"/>
              </a:rPr>
              <a:t>, </a:t>
            </a:r>
            <a:r>
              <a:rPr sz="1800" b="0" i="0">
                <a:solidFill>
                  <a:srgbClr val="FFFFFF"/>
                </a:solidFill>
                <a:latin typeface="Consolas"/>
              </a:rPr>
              <a:t>enable secret</a:t>
            </a:r>
            <a:r>
              <a:rPr sz="1900" b="0" i="0">
                <a:solidFill>
                  <a:srgbClr val="FFFFFF"/>
                </a:solidFill>
                <a:latin typeface="Segoe UI"/>
              </a:rPr>
              <a:t>, RSA keys, </a:t>
            </a:r>
            <a:r>
              <a:rPr sz="1800" b="0" i="0">
                <a:solidFill>
                  <a:srgbClr val="FFFFFF"/>
                </a:solidFill>
                <a:latin typeface="Consolas"/>
              </a:rPr>
              <a:t>ip ssh version 2</a:t>
            </a:r>
            <a:r>
              <a:rPr sz="1900" b="0" i="0">
                <a:solidFill>
                  <a:srgbClr val="FFFFFF"/>
                </a:solidFill>
                <a:latin typeface="Segoe UI"/>
              </a:rPr>
              <a:t>, </a:t>
            </a:r>
            <a:r>
              <a:rPr sz="1800" b="0" i="0">
                <a:solidFill>
                  <a:srgbClr val="FFFFFF"/>
                </a:solidFill>
                <a:latin typeface="Consolas"/>
              </a:rPr>
              <a:t>login local</a:t>
            </a:r>
            <a:r>
              <a:rPr sz="1900" b="0" i="0">
                <a:solidFill>
                  <a:srgbClr val="FFFFFF"/>
                </a:solidFill>
                <a:latin typeface="Segoe UI"/>
              </a:rPr>
              <a:t>, </a:t>
            </a:r>
            <a:r>
              <a:rPr sz="1800" b="0" i="0">
                <a:solidFill>
                  <a:srgbClr val="FFFFFF"/>
                </a:solidFill>
                <a:latin typeface="Consolas"/>
              </a:rPr>
              <a:t>transport input ssh</a:t>
            </a:r>
            <a:r>
              <a:rPr sz="1900" b="0" i="0">
                <a:solidFill>
                  <a:srgbClr val="FFFFFF"/>
                </a:solidFill>
                <a:latin typeface="Segoe UI"/>
              </a:rPr>
              <a:t>.</a:t>
            </a:r>
          </a:p>
          <a:p>
            <a:pPr marL="217169" indent="-217169">
              <a:spcAft>
                <a:spcPts val="900"/>
              </a:spcAft>
            </a:pPr>
            <a:r>
              <a:rPr sz="1900">
                <a:solidFill>
                  <a:srgbClr val="C8D6E5"/>
                </a:solidFill>
              </a:rPr>
              <a:t>•  </a:t>
            </a:r>
            <a:r>
              <a:rPr sz="1900" b="0" i="0">
                <a:solidFill>
                  <a:srgbClr val="FFFFFF"/>
                </a:solidFill>
                <a:latin typeface="Segoe UI"/>
              </a:rPr>
              <a:t>Type 7 is obfuscation, not encryption. Type 8 and 9 are the current choices. </a:t>
            </a:r>
            <a:r>
              <a:rPr sz="1800" b="0" i="0">
                <a:solidFill>
                  <a:srgbClr val="FFFFFF"/>
                </a:solidFill>
                <a:latin typeface="Consolas"/>
              </a:rPr>
              <a:t>enable password</a:t>
            </a:r>
            <a:r>
              <a:rPr sz="1900" b="0" i="0">
                <a:solidFill>
                  <a:srgbClr val="FFFFFF"/>
                </a:solidFill>
                <a:latin typeface="Segoe UI"/>
              </a:rPr>
              <a:t> should not exist.</a:t>
            </a:r>
          </a:p>
          <a:p>
            <a:pPr marL="217169" indent="-217169">
              <a:spcAft>
                <a:spcPts val="900"/>
              </a:spcAft>
            </a:pPr>
            <a:r>
              <a:rPr sz="1900">
                <a:solidFill>
                  <a:srgbClr val="C8D6E5"/>
                </a:solidFill>
              </a:rPr>
              <a:t>•  </a:t>
            </a:r>
            <a:r>
              <a:rPr sz="1900" b="0" i="0">
                <a:solidFill>
                  <a:srgbClr val="FFFFFF"/>
                </a:solidFill>
                <a:latin typeface="Segoe UI"/>
              </a:rPr>
              <a:t>AAA answers three separate questions through ordered method lists. A method is skipped only when it does not respond — a rejection ends the list.</a:t>
            </a:r>
          </a:p>
          <a:p>
            <a:pPr marL="217169" indent="-217169">
              <a:spcAft>
                <a:spcPts val="900"/>
              </a:spcAft>
            </a:pPr>
            <a:r>
              <a:rPr sz="1900">
                <a:solidFill>
                  <a:srgbClr val="C8D6E5"/>
                </a:solidFill>
              </a:rPr>
              <a:t>•  </a:t>
            </a:r>
            <a:r>
              <a:rPr sz="1900" b="0" i="0">
                <a:solidFill>
                  <a:srgbClr val="FFFFFF"/>
                </a:solidFill>
                <a:latin typeface="Segoe UI"/>
              </a:rPr>
              <a:t>Always end an authentication method list with </a:t>
            </a:r>
            <a:r>
              <a:rPr sz="1800" b="0" i="0">
                <a:solidFill>
                  <a:srgbClr val="FFFFFF"/>
                </a:solidFill>
                <a:latin typeface="Consolas"/>
              </a:rPr>
              <a:t>local</a:t>
            </a:r>
            <a:r>
              <a:rPr sz="1900" b="0" i="0">
                <a:solidFill>
                  <a:srgbClr val="FFFFFF"/>
                </a:solidFill>
                <a:latin typeface="Segoe UI"/>
              </a:rPr>
              <a:t>, and always test from a second session.</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24 — Access Control Lists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