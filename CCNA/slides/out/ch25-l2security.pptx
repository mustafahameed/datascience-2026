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25: Layer 2 Security. Blueprint topics: 4.7.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2 Security 4.7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features, five abuses, one port. The uplink is trusted; everything facing a user is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is 1, which is almost never right. One device on the port: 1. A PC behind an IP phone: 3. The phone appears in the voice VLAN, the PC in the data VLAN, and the phone commonly registers a second address of its own. Setting 2 here produces violations that come and go with the phone’s firmware — a genuinely miserable fault to chase. A small unmanaged switch or a lab bench: count the devices and add headroom, or do not use port security on that port at all. A virtualisation host: port security is usually the wrong tool. Every VM has its own MAC.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recovery is shutdown then no shutdown on the interface — both, in that order; no shutdown alone does nothing to a port in err-disabled. To recover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non-zero Security Violation Count on a Secure-up port is the useful signal here: the port is working, and something is repeatedly being refused. That is either an attack or — far more often — a maximum set too 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attacker — or a helpful colleague with a home router — who answers DHCP first becomes the default gateway for everyone who believed them. DHCP snooping fixes this by deciding which ports are allowed to send server messages.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ARP has no authentication. Any host can claim any address, and a host that claims to be the default gateway receives everyone’s traffic. DAI checks every ARP message on an untrusted port against the snooping binding table and drops anything that disagrees.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broadcast storm — from a loop, a faulty NIC or a deliberate flood — can saturate a segment. Storm control caps how much of a port’s bandwidth may be broadcast, multicast or unknown unicast.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on the first line: the port suppresses broadcast traffic when it exceeds 5% of bandwidth and resumes when it falls below 3%. The gap prevents the port oscillating on and off at the threshold. action trap sends a notification and keeps suppressing — the usual choice. action shutdown err-disables the port. Decisive, and it turns a performance problem into an outage, so reserve it for ports where that is the right trade. Levels can also be given in pps or bps where a percentage is awkward.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Blocking on Gi1/0/7 means it is suppressing right now. Storm control treats the symptom; a port that blocks repeatedly is telling you to go and find the loop (Chapter 12). In IPv6 there is no DHCP server to impersonate for basic connectivity. Hosts learn their prefix and gateway from router advertisements, so a host that sends RAs — maliciously, or because someone enabled internet sharing on a laptop — becomes the default gateway for the segment. RA guard drops RAs arriving on ports that should not have any.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25</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Layer 2 Security</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IV — Network Services and Security</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4.7"/>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4.7"/>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922B21"/>
                </a:solidFill>
                <a:latin typeface="Segoe UI"/>
              </a:rPr>
              <a:t>4.7</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922B21"/>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922B21"/>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port security with an appropriate maximum, learning method and violation mode.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DHCP snooping, and explain which ports must be trusted and why.</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dynamic ARP inspection, including the case it cannot handle without help.</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Configure</a:t>
            </a:r>
            <a:r>
              <a:rPr sz="2000" b="0" i="0">
                <a:solidFill>
                  <a:srgbClr val="1C252B"/>
                </a:solidFill>
                <a:latin typeface="Segoe UI"/>
              </a:rPr>
              <a:t> storm control and IPv6 RA guard.</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Predict</a:t>
            </a:r>
            <a:r>
              <a:rPr sz="2000" b="0" i="0">
                <a:solidFill>
                  <a:srgbClr val="1C252B"/>
                </a:solidFill>
                <a:latin typeface="Segoe UI"/>
              </a:rPr>
              <a:t> the outage each of these causes when deployed carelessly — which is how they are examined and how they fail in practice.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3 for MAC learning. Chapter 8 for access ports. Chapter 20 — DHCP snooping is unintelligible without DORA. Chapter 5 for router advertisements, which RA guard exists to police.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term-port security"/>
          <p:cNvSpPr/>
          <p:nvPr/>
        </p:nvSpPr>
        <p:spPr>
          <a:xfrm>
            <a:off x="685800" y="1609344"/>
            <a:ext cx="14203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port security"/>
          <p:cNvSpPr/>
          <p:nvPr/>
        </p:nvSpPr>
        <p:spPr>
          <a:xfrm>
            <a:off x="68580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port security"/>
          <p:cNvSpPr txBox="1"/>
          <p:nvPr/>
        </p:nvSpPr>
        <p:spPr>
          <a:xfrm>
            <a:off x="850392" y="1700784"/>
            <a:ext cx="109118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port security</a:t>
            </a:r>
          </a:p>
        </p:txBody>
      </p:sp>
      <p:sp>
        <p:nvSpPr>
          <p:cNvPr id="10" name="term-sticky MAC"/>
          <p:cNvSpPr/>
          <p:nvPr/>
        </p:nvSpPr>
        <p:spPr>
          <a:xfrm>
            <a:off x="2234184" y="1609344"/>
            <a:ext cx="135737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sticky MAC"/>
          <p:cNvSpPr/>
          <p:nvPr/>
        </p:nvSpPr>
        <p:spPr>
          <a:xfrm>
            <a:off x="2234184"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sticky MAC"/>
          <p:cNvSpPr txBox="1"/>
          <p:nvPr/>
        </p:nvSpPr>
        <p:spPr>
          <a:xfrm>
            <a:off x="2398776" y="1700784"/>
            <a:ext cx="102819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sticky MAC</a:t>
            </a:r>
          </a:p>
        </p:txBody>
      </p:sp>
      <p:sp>
        <p:nvSpPr>
          <p:cNvPr id="13" name="term-violation mode"/>
          <p:cNvSpPr/>
          <p:nvPr/>
        </p:nvSpPr>
        <p:spPr>
          <a:xfrm>
            <a:off x="3719576" y="1609344"/>
            <a:ext cx="164185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violation mode"/>
          <p:cNvSpPr/>
          <p:nvPr/>
        </p:nvSpPr>
        <p:spPr>
          <a:xfrm>
            <a:off x="3719576"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violation mode"/>
          <p:cNvSpPr txBox="1"/>
          <p:nvPr/>
        </p:nvSpPr>
        <p:spPr>
          <a:xfrm>
            <a:off x="3884167" y="1700784"/>
            <a:ext cx="131267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violation mode</a:t>
            </a:r>
          </a:p>
        </p:txBody>
      </p:sp>
      <p:sp>
        <p:nvSpPr>
          <p:cNvPr id="16" name="term-err-disabled"/>
          <p:cNvSpPr/>
          <p:nvPr/>
        </p:nvSpPr>
        <p:spPr>
          <a:xfrm>
            <a:off x="5489448" y="1609344"/>
            <a:ext cx="140207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err-disabled"/>
          <p:cNvSpPr/>
          <p:nvPr/>
        </p:nvSpPr>
        <p:spPr>
          <a:xfrm>
            <a:off x="5489448"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err-disabled"/>
          <p:cNvSpPr txBox="1"/>
          <p:nvPr/>
        </p:nvSpPr>
        <p:spPr>
          <a:xfrm>
            <a:off x="5654039" y="1700784"/>
            <a:ext cx="107289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err-disabled</a:t>
            </a:r>
          </a:p>
        </p:txBody>
      </p:sp>
      <p:sp>
        <p:nvSpPr>
          <p:cNvPr id="19" name="term-DHCP snooping"/>
          <p:cNvSpPr/>
          <p:nvPr/>
        </p:nvSpPr>
        <p:spPr>
          <a:xfrm>
            <a:off x="7019543" y="1609344"/>
            <a:ext cx="16804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DHCP snooping"/>
          <p:cNvSpPr/>
          <p:nvPr/>
        </p:nvSpPr>
        <p:spPr>
          <a:xfrm>
            <a:off x="7019543"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DHCP snooping"/>
          <p:cNvSpPr txBox="1"/>
          <p:nvPr/>
        </p:nvSpPr>
        <p:spPr>
          <a:xfrm>
            <a:off x="7184135" y="1700784"/>
            <a:ext cx="13512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DHCP snooping</a:t>
            </a:r>
          </a:p>
        </p:txBody>
      </p:sp>
      <p:sp>
        <p:nvSpPr>
          <p:cNvPr id="22" name="term-trusted port"/>
          <p:cNvSpPr/>
          <p:nvPr/>
        </p:nvSpPr>
        <p:spPr>
          <a:xfrm>
            <a:off x="8828024" y="1609344"/>
            <a:ext cx="131673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trusted port"/>
          <p:cNvSpPr/>
          <p:nvPr/>
        </p:nvSpPr>
        <p:spPr>
          <a:xfrm>
            <a:off x="8828024"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trusted port"/>
          <p:cNvSpPr txBox="1"/>
          <p:nvPr/>
        </p:nvSpPr>
        <p:spPr>
          <a:xfrm>
            <a:off x="8992616" y="1700784"/>
            <a:ext cx="98755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trusted port</a:t>
            </a:r>
          </a:p>
        </p:txBody>
      </p:sp>
      <p:sp>
        <p:nvSpPr>
          <p:cNvPr id="25" name="term-binding database"/>
          <p:cNvSpPr/>
          <p:nvPr/>
        </p:nvSpPr>
        <p:spPr>
          <a:xfrm>
            <a:off x="685800" y="2212848"/>
            <a:ext cx="181660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binding database"/>
          <p:cNvSpPr/>
          <p:nvPr/>
        </p:nvSpPr>
        <p:spPr>
          <a:xfrm>
            <a:off x="68580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binding database"/>
          <p:cNvSpPr txBox="1"/>
          <p:nvPr/>
        </p:nvSpPr>
        <p:spPr>
          <a:xfrm>
            <a:off x="850392" y="2304288"/>
            <a:ext cx="148742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binding database</a:t>
            </a:r>
          </a:p>
        </p:txBody>
      </p:sp>
      <p:sp>
        <p:nvSpPr>
          <p:cNvPr id="28" name="term-dynamic ARP inspec"/>
          <p:cNvSpPr/>
          <p:nvPr/>
        </p:nvSpPr>
        <p:spPr>
          <a:xfrm>
            <a:off x="2630423" y="2212848"/>
            <a:ext cx="249529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dynamic ARP inspec"/>
          <p:cNvSpPr/>
          <p:nvPr/>
        </p:nvSpPr>
        <p:spPr>
          <a:xfrm>
            <a:off x="2630423"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dynamic ARP inspec"/>
          <p:cNvSpPr txBox="1"/>
          <p:nvPr/>
        </p:nvSpPr>
        <p:spPr>
          <a:xfrm>
            <a:off x="2795015" y="2304288"/>
            <a:ext cx="216611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dynamic ARP inspection</a:t>
            </a:r>
          </a:p>
        </p:txBody>
      </p:sp>
      <p:sp>
        <p:nvSpPr>
          <p:cNvPr id="31" name="term-ARP ACL"/>
          <p:cNvSpPr/>
          <p:nvPr/>
        </p:nvSpPr>
        <p:spPr>
          <a:xfrm>
            <a:off x="5253735" y="2212848"/>
            <a:ext cx="114604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ARP ACL"/>
          <p:cNvSpPr/>
          <p:nvPr/>
        </p:nvSpPr>
        <p:spPr>
          <a:xfrm>
            <a:off x="5253735"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ARP ACL"/>
          <p:cNvSpPr txBox="1"/>
          <p:nvPr/>
        </p:nvSpPr>
        <p:spPr>
          <a:xfrm>
            <a:off x="5418327" y="2304288"/>
            <a:ext cx="81686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ARP ACL</a:t>
            </a:r>
          </a:p>
        </p:txBody>
      </p:sp>
      <p:sp>
        <p:nvSpPr>
          <p:cNvPr id="34" name="term-storm control"/>
          <p:cNvSpPr/>
          <p:nvPr/>
        </p:nvSpPr>
        <p:spPr>
          <a:xfrm>
            <a:off x="6527799" y="2212848"/>
            <a:ext cx="14955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storm control"/>
          <p:cNvSpPr/>
          <p:nvPr/>
        </p:nvSpPr>
        <p:spPr>
          <a:xfrm>
            <a:off x="6527799"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storm control"/>
          <p:cNvSpPr txBox="1"/>
          <p:nvPr/>
        </p:nvSpPr>
        <p:spPr>
          <a:xfrm>
            <a:off x="6692391" y="2304288"/>
            <a:ext cx="11663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storm control</a:t>
            </a:r>
          </a:p>
        </p:txBody>
      </p:sp>
      <p:sp>
        <p:nvSpPr>
          <p:cNvPr id="37" name="term-RA guard"/>
          <p:cNvSpPr/>
          <p:nvPr/>
        </p:nvSpPr>
        <p:spPr>
          <a:xfrm>
            <a:off x="8151367" y="2212848"/>
            <a:ext cx="11175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RA guard"/>
          <p:cNvSpPr/>
          <p:nvPr/>
        </p:nvSpPr>
        <p:spPr>
          <a:xfrm>
            <a:off x="8151367"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RA guard"/>
          <p:cNvSpPr txBox="1"/>
          <p:nvPr/>
        </p:nvSpPr>
        <p:spPr>
          <a:xfrm>
            <a:off x="8315959" y="2304288"/>
            <a:ext cx="78841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RA guard</a:t>
            </a:r>
          </a:p>
        </p:txBody>
      </p:sp>
      <p:sp>
        <p:nvSpPr>
          <p:cNvPr id="40"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Five named sub-topics, all configure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922B21"/>
                </a:solidFill>
                <a:latin typeface="Segoe UI"/>
              </a:rPr>
              <a:t> 4.7 </a:t>
            </a:r>
            <a:r>
              <a:rPr sz="2000" b="0" i="0">
                <a:solidFill>
                  <a:srgbClr val="1C252B"/>
                </a:solidFill>
                <a:latin typeface="Segoe UI"/>
              </a:rPr>
              <a:t> enumerates them: </a:t>
            </a:r>
            <a:r>
              <a:rPr sz="1600" b="1">
                <a:solidFill>
                  <a:srgbClr val="922B21"/>
                </a:solidFill>
                <a:latin typeface="Segoe UI"/>
              </a:rPr>
              <a:t> 4.7.a </a:t>
            </a:r>
            <a:r>
              <a:rPr sz="2000" b="0" i="0">
                <a:solidFill>
                  <a:srgbClr val="1C252B"/>
                </a:solidFill>
                <a:latin typeface="Segoe UI"/>
              </a:rPr>
              <a:t> DHCP snooping, </a:t>
            </a:r>
            <a:r>
              <a:rPr sz="1600" b="1">
                <a:solidFill>
                  <a:srgbClr val="922B21"/>
                </a:solidFill>
                <a:latin typeface="Segoe UI"/>
              </a:rPr>
              <a:t> 4.7.b </a:t>
            </a:r>
            <a:r>
              <a:rPr sz="2000" b="0" i="0">
                <a:solidFill>
                  <a:srgbClr val="1C252B"/>
                </a:solidFill>
                <a:latin typeface="Segoe UI"/>
              </a:rPr>
              <a:t> dynamic ARP inspection, </a:t>
            </a:r>
            <a:r>
              <a:rPr sz="1600" b="1">
                <a:solidFill>
                  <a:srgbClr val="922B21"/>
                </a:solidFill>
                <a:latin typeface="Segoe UI"/>
              </a:rPr>
              <a:t> 4.7.c </a:t>
            </a:r>
            <a:r>
              <a:rPr sz="2000" b="0" i="0">
                <a:solidFill>
                  <a:srgbClr val="1C252B"/>
                </a:solidFill>
                <a:latin typeface="Segoe UI"/>
              </a:rPr>
              <a:t> storm control, </a:t>
            </a:r>
            <a:r>
              <a:rPr sz="1600" b="1">
                <a:solidFill>
                  <a:srgbClr val="922B21"/>
                </a:solidFill>
                <a:latin typeface="Segoe UI"/>
              </a:rPr>
              <a:t> 4.7.d </a:t>
            </a:r>
            <a:r>
              <a:rPr sz="2000" b="0" i="0">
                <a:solidFill>
                  <a:srgbClr val="1C252B"/>
                </a:solidFill>
                <a:latin typeface="Segoe UI"/>
              </a:rPr>
              <a:t> RA guard, </a:t>
            </a:r>
            <a:r>
              <a:rPr sz="1600" b="1">
                <a:solidFill>
                  <a:srgbClr val="922B21"/>
                </a:solidFill>
                <a:latin typeface="Segoe UI"/>
              </a:rPr>
              <a:t> 4.7.e </a:t>
            </a:r>
            <a:r>
              <a:rPr sz="2000" b="0" i="0">
                <a:solidFill>
                  <a:srgbClr val="1C252B"/>
                </a:solidFill>
                <a:latin typeface="Segoe UI"/>
              </a:rPr>
              <a:t> port security.</a:t>
            </a:r>
          </a:p>
          <a:p>
            <a:pPr algn="l">
              <a:lnSpc>
                <a:spcPct val="100000"/>
              </a:lnSpc>
              <a:spcAft>
                <a:spcPts val="1000"/>
              </a:spcAft>
            </a:pPr>
            <a:r>
              <a:rPr sz="2000" b="0" i="0">
                <a:solidFill>
                  <a:srgbClr val="1C252B"/>
                </a:solidFill>
                <a:latin typeface="Segoe UI"/>
              </a:rPr>
              <a:t>Five features, one idea: </a:t>
            </a:r>
            <a:r>
              <a:rPr sz="2000" b="1" i="0">
                <a:solidFill>
                  <a:srgbClr val="1C252B"/>
                </a:solidFill>
                <a:latin typeface="Segoe UI"/>
              </a:rPr>
              <a:t>the access port is where the network meets people it does not control</a:t>
            </a:r>
            <a:r>
              <a:rPr sz="2000" b="0" i="0">
                <a:solidFill>
                  <a:srgbClr val="1C252B"/>
                </a:solidFill>
                <a:latin typeface="Segoe UI"/>
              </a:rPr>
              <a:t>, and each of these constrains one thing an attached device could otherwise do — claim many identities, answer as a DHCP server, lie in ARP, flood the segment, or claim to be an IPv6 router.</a:t>
            </a:r>
          </a:p>
          <a:p>
            <a:pPr algn="l">
              <a:lnSpc>
                <a:spcPct val="100000"/>
              </a:lnSpc>
              <a:spcAft>
                <a:spcPts val="1000"/>
              </a:spcAft>
            </a:pPr>
            <a:r>
              <a:rPr sz="2000" b="0" i="0">
                <a:solidFill>
                  <a:srgbClr val="1C252B"/>
                </a:solidFill>
                <a:latin typeface="Segoe UI"/>
              </a:rPr>
              <a:t>Learn them as that list of five abuses and the configuration follows.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Layer 2 Security</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pic>
        <p:nvPicPr>
          <p:cNvPr id="6" name="figure" descr="l2sec-1.png"/>
          <p:cNvPicPr>
            <a:picLocks noChangeAspect="1"/>
          </p:cNvPicPr>
          <p:nvPr/>
        </p:nvPicPr>
        <p:blipFill>
          <a:blip r:embed="rId2"/>
          <a:stretch>
            <a:fillRect/>
          </a:stretch>
        </p:blipFill>
        <p:spPr>
          <a:xfrm>
            <a:off x="685800" y="1729975"/>
            <a:ext cx="10820095" cy="4349025"/>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Layer 2 Security</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pic>
        <p:nvPicPr>
          <p:cNvPr id="6" name="figure" descr="l2sec-2.png"/>
          <p:cNvPicPr>
            <a:picLocks noChangeAspect="1"/>
          </p:cNvPicPr>
          <p:nvPr/>
        </p:nvPicPr>
        <p:blipFill>
          <a:blip r:embed="rId2"/>
          <a:stretch>
            <a:fillRect/>
          </a:stretch>
        </p:blipFill>
        <p:spPr>
          <a:xfrm>
            <a:off x="685800" y="1729975"/>
            <a:ext cx="10820095" cy="4349025"/>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Layer 2 Security</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pic>
        <p:nvPicPr>
          <p:cNvPr id="6" name="figure" descr="l2sec-3.png"/>
          <p:cNvPicPr>
            <a:picLocks noChangeAspect="1"/>
          </p:cNvPicPr>
          <p:nvPr/>
        </p:nvPicPr>
        <p:blipFill>
          <a:blip r:embed="rId2"/>
          <a:stretch>
            <a:fillRect/>
          </a:stretch>
        </p:blipFill>
        <p:spPr>
          <a:xfrm>
            <a:off x="685800" y="1729975"/>
            <a:ext cx="10820095" cy="4349025"/>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Layer 2 Security</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pic>
        <p:nvPicPr>
          <p:cNvPr id="6" name="figure" descr="l2sec-4.png"/>
          <p:cNvPicPr>
            <a:picLocks noChangeAspect="1"/>
          </p:cNvPicPr>
          <p:nvPr/>
        </p:nvPicPr>
        <p:blipFill>
          <a:blip r:embed="rId2"/>
          <a:stretch>
            <a:fillRect/>
          </a:stretch>
        </p:blipFill>
        <p:spPr>
          <a:xfrm>
            <a:off x="685800" y="1729975"/>
            <a:ext cx="10820095" cy="4349025"/>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Layer 2 Security</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pic>
        <p:nvPicPr>
          <p:cNvPr id="6" name="figure" descr="l2sec-5.png"/>
          <p:cNvPicPr>
            <a:picLocks noChangeAspect="1"/>
          </p:cNvPicPr>
          <p:nvPr/>
        </p:nvPicPr>
        <p:blipFill>
          <a:blip r:embed="rId2"/>
          <a:stretch>
            <a:fillRect/>
          </a:stretch>
        </p:blipFill>
        <p:spPr>
          <a:xfrm>
            <a:off x="685800" y="1729975"/>
            <a:ext cx="10820095" cy="4349025"/>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Layer 2 Security</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pic>
        <p:nvPicPr>
          <p:cNvPr id="6" name="figure" descr="l2sec-6.png"/>
          <p:cNvPicPr>
            <a:picLocks noChangeAspect="1"/>
          </p:cNvPicPr>
          <p:nvPr/>
        </p:nvPicPr>
        <p:blipFill>
          <a:blip r:embed="rId2"/>
          <a:stretch>
            <a:fillRect/>
          </a:stretch>
        </p:blipFill>
        <p:spPr>
          <a:xfrm>
            <a:off x="685800" y="1729975"/>
            <a:ext cx="10820095" cy="4349025"/>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Deploy them one at a time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Each of these can black-hole a floor on its own, and two of them — DHCP snooping and dynamic ARP inspection — will do so if the uplink is left untrusted. Turn one on, on one switch, and watch it before doing the next.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300" b="1" i="0">
                <a:solidFill>
                  <a:srgbClr val="FFFFFF"/>
                </a:solidFill>
                <a:latin typeface="Segoe UI"/>
              </a:rPr>
              <a:t>Port security — limiting who may appear on a port</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normal user access port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872331"/>
            <a:ext cx="10820095" cy="389737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872331"/>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27195"/>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11243"/>
            <a:ext cx="10417759" cy="3403600"/>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GigabitEthernet1/0/5</a:t>
            </a:r>
          </a:p>
          <a:p>
            <a:pPr>
              <a:lnSpc>
                <a:spcPct val="100000"/>
              </a:lnSpc>
              <a:spcAft>
                <a:spcPts val="0"/>
              </a:spcAft>
            </a:pPr>
            <a:r>
              <a:rPr sz="1600">
                <a:solidFill>
                  <a:srgbClr val="E8EEF2"/>
                </a:solidFill>
                <a:latin typeface="Consolas"/>
              </a:rPr>
              <a:t> description Desk 5</a:t>
            </a:r>
          </a:p>
          <a:p>
            <a:pPr>
              <a:lnSpc>
                <a:spcPct val="100000"/>
              </a:lnSpc>
              <a:spcAft>
                <a:spcPts val="0"/>
              </a:spcAft>
            </a:pPr>
            <a:r>
              <a:rPr sz="1600">
                <a:solidFill>
                  <a:srgbClr val="E8EEF2"/>
                </a:solidFill>
                <a:latin typeface="Consolas"/>
              </a:rPr>
              <a:t> switchport mode access</a:t>
            </a:r>
          </a:p>
          <a:p>
            <a:pPr>
              <a:lnSpc>
                <a:spcPct val="100000"/>
              </a:lnSpc>
              <a:spcAft>
                <a:spcPts val="0"/>
              </a:spcAft>
            </a:pPr>
            <a:r>
              <a:rPr sz="1600">
                <a:solidFill>
                  <a:srgbClr val="E8EEF2"/>
                </a:solidFill>
                <a:latin typeface="Consolas"/>
              </a:rPr>
              <a:t> switchport access vlan 10</a:t>
            </a:r>
          </a:p>
          <a:p>
            <a:pPr>
              <a:lnSpc>
                <a:spcPct val="100000"/>
              </a:lnSpc>
              <a:spcAft>
                <a:spcPts val="0"/>
              </a:spcAft>
            </a:pPr>
            <a:r>
              <a:rPr sz="1600">
                <a:solidFill>
                  <a:srgbClr val="E8EEF2"/>
                </a:solidFill>
                <a:latin typeface="Consolas"/>
              </a:rPr>
              <a:t> spanning-tree portfast</a:t>
            </a:r>
          </a:p>
          <a:p>
            <a:pPr>
              <a:lnSpc>
                <a:spcPct val="100000"/>
              </a:lnSpc>
              <a:spcAft>
                <a:spcPts val="0"/>
              </a:spcAft>
            </a:pPr>
            <a:r>
              <a:rPr sz="1600">
                <a:solidFill>
                  <a:srgbClr val="E8EEF2"/>
                </a:solidFill>
                <a:latin typeface="Consolas"/>
              </a:rPr>
              <a:t> spanning-tree bpduguard enable</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 switchport port-security</a:t>
            </a:r>
          </a:p>
          <a:p>
            <a:pPr>
              <a:lnSpc>
                <a:spcPct val="100000"/>
              </a:lnSpc>
              <a:spcAft>
                <a:spcPts val="0"/>
              </a:spcAft>
            </a:pPr>
            <a:r>
              <a:rPr sz="1600">
                <a:solidFill>
                  <a:srgbClr val="E8EEF2"/>
                </a:solidFill>
                <a:latin typeface="Consolas"/>
              </a:rPr>
              <a:t> switchport port-security maximum 2</a:t>
            </a:r>
          </a:p>
          <a:p>
            <a:pPr>
              <a:lnSpc>
                <a:spcPct val="100000"/>
              </a:lnSpc>
              <a:spcAft>
                <a:spcPts val="0"/>
              </a:spcAft>
            </a:pPr>
            <a:r>
              <a:rPr sz="1600">
                <a:solidFill>
                  <a:srgbClr val="E8EEF2"/>
                </a:solidFill>
                <a:latin typeface="Consolas"/>
              </a:rPr>
              <a:t> switchport port-security mac-address sticky</a:t>
            </a:r>
          </a:p>
          <a:p>
            <a:pPr>
              <a:lnSpc>
                <a:spcPct val="100000"/>
              </a:lnSpc>
              <a:spcAft>
                <a:spcPts val="0"/>
              </a:spcAft>
            </a:pPr>
            <a:r>
              <a:rPr sz="1600">
                <a:solidFill>
                  <a:srgbClr val="E8EEF2"/>
                </a:solidFill>
                <a:latin typeface="Consolas"/>
              </a:rPr>
              <a:t> switchport port-security violation restrict</a:t>
            </a:r>
          </a:p>
          <a:p>
            <a:pPr>
              <a:lnSpc>
                <a:spcPct val="100000"/>
              </a:lnSpc>
              <a:spcAft>
                <a:spcPts val="0"/>
              </a:spcAft>
            </a:pPr>
            <a:r>
              <a:rPr sz="1600">
                <a:solidFill>
                  <a:srgbClr val="E8EEF2"/>
                </a:solidFill>
                <a:latin typeface="Consolas"/>
              </a:rPr>
              <a:t> switchport port-security aging time 60</a:t>
            </a:r>
          </a:p>
          <a:p>
            <a:pPr>
              <a:lnSpc>
                <a:spcPct val="100000"/>
              </a:lnSpc>
              <a:spcAft>
                <a:spcPts val="0"/>
              </a:spcAft>
            </a:pPr>
            <a:r>
              <a:rPr sz="1600">
                <a:solidFill>
                  <a:srgbClr val="E8EEF2"/>
                </a:solidFill>
                <a:latin typeface="Consolas"/>
              </a:rPr>
              <a:t> switchport port-security aging type inactivity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switchport mode access must come first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Port security cannot be enabled on a port still in dynamic negotiation mode. If you type </a:t>
            </a:r>
            <a:r>
              <a:rPr sz="1900" b="0" i="0">
                <a:solidFill>
                  <a:srgbClr val="1A5276"/>
                </a:solidFill>
                <a:latin typeface="Consolas"/>
              </a:rPr>
              <a:t>switchport port-security</a:t>
            </a:r>
            <a:r>
              <a:rPr sz="2000" b="0" i="0">
                <a:solidFill>
                  <a:srgbClr val="1C252B"/>
                </a:solidFill>
                <a:latin typeface="Segoe UI"/>
              </a:rPr>
              <a:t> on a default port, IOS rejects it. Set the mode, then secure it — the same command-order rule as VLAN assignment in Chapter 8.</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protect is a trap, and the exam knows it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tint"/>
          <p:cNvSpPr/>
          <p:nvPr/>
        </p:nvSpPr>
        <p:spPr>
          <a:xfrm>
            <a:off x="685800" y="1517904"/>
            <a:ext cx="10820095" cy="20888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It sounds like the gentle, sensible option. It is the one mode that gives you no evidence whatsoever: a user whose traffic is being silently discarded reports “the network is slow”, and nothing anywhere records why.</a:t>
            </a:r>
          </a:p>
          <a:p>
            <a:pPr algn="l">
              <a:lnSpc>
                <a:spcPct val="100000"/>
              </a:lnSpc>
              <a:spcAft>
                <a:spcPts val="1000"/>
              </a:spcAft>
            </a:pPr>
            <a:r>
              <a:rPr sz="2000" b="0" i="0">
                <a:solidFill>
                  <a:srgbClr val="1C252B"/>
                </a:solidFill>
                <a:latin typeface="Segoe UI"/>
              </a:rPr>
              <a:t>Prefer </a:t>
            </a:r>
            <a:r>
              <a:rPr sz="1900" b="0" i="0">
                <a:solidFill>
                  <a:srgbClr val="1A5276"/>
                </a:solidFill>
                <a:latin typeface="Consolas"/>
              </a:rPr>
              <a:t>restrict</a:t>
            </a:r>
            <a:r>
              <a:rPr sz="2000" b="0" i="0">
                <a:solidFill>
                  <a:srgbClr val="1C252B"/>
                </a:solidFill>
                <a:latin typeface="Segoe UI"/>
              </a:rPr>
              <a:t> when you do not want to drop the port, and </a:t>
            </a:r>
            <a:r>
              <a:rPr sz="1900" b="0" i="0">
                <a:solidFill>
                  <a:srgbClr val="1A5276"/>
                </a:solidFill>
                <a:latin typeface="Consolas"/>
              </a:rPr>
              <a:t>shutdown</a:t>
            </a:r>
            <a:r>
              <a:rPr sz="2000" b="0" i="0">
                <a:solidFill>
                  <a:srgbClr val="1C252B"/>
                </a:solidFill>
                <a:latin typeface="Segoe UI"/>
              </a:rPr>
              <a:t> when you do.</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Automatic recovery after five minutes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errdisable recovery cause psecure-violation</a:t>
            </a:r>
          </a:p>
          <a:p>
            <a:pPr>
              <a:lnSpc>
                <a:spcPct val="100000"/>
              </a:lnSpc>
              <a:spcAft>
                <a:spcPts val="0"/>
              </a:spcAft>
            </a:pPr>
            <a:r>
              <a:rPr sz="1600">
                <a:solidFill>
                  <a:srgbClr val="E8EEF2"/>
                </a:solidFill>
                <a:latin typeface="Consolas"/>
              </a:rPr>
              <a:t>errdisable recovery cause bpduguard</a:t>
            </a:r>
          </a:p>
          <a:p>
            <a:pPr>
              <a:lnSpc>
                <a:spcPct val="100000"/>
              </a:lnSpc>
              <a:spcAft>
                <a:spcPts val="0"/>
              </a:spcAft>
            </a:pPr>
            <a:r>
              <a:rPr sz="1600">
                <a:solidFill>
                  <a:srgbClr val="E8EEF2"/>
                </a:solidFill>
                <a:latin typeface="Consolas"/>
              </a:rPr>
              <a:t>errdisable recovery interval 300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port-security interface GigabitEthernet1/0/5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901952"/>
            <a:ext cx="10820095" cy="33934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289966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Port Security              : Enabled</a:t>
            </a:r>
          </a:p>
          <a:p>
            <a:pPr>
              <a:lnSpc>
                <a:spcPct val="100000"/>
              </a:lnSpc>
              <a:spcAft>
                <a:spcPts val="0"/>
              </a:spcAft>
            </a:pPr>
            <a:r>
              <a:rPr sz="1600">
                <a:solidFill>
                  <a:srgbClr val="E8EEF2"/>
                </a:solidFill>
                <a:latin typeface="Consolas"/>
              </a:rPr>
              <a:t>Port Status                : Secure-up</a:t>
            </a:r>
          </a:p>
          <a:p>
            <a:pPr>
              <a:lnSpc>
                <a:spcPct val="100000"/>
              </a:lnSpc>
              <a:spcAft>
                <a:spcPts val="0"/>
              </a:spcAft>
            </a:pPr>
            <a:r>
              <a:rPr sz="1600">
                <a:solidFill>
                  <a:srgbClr val="E8EEF2"/>
                </a:solidFill>
                <a:latin typeface="Consolas"/>
              </a:rPr>
              <a:t>Violation Mode             : Restrict</a:t>
            </a:r>
          </a:p>
          <a:p>
            <a:pPr>
              <a:lnSpc>
                <a:spcPct val="100000"/>
              </a:lnSpc>
              <a:spcAft>
                <a:spcPts val="0"/>
              </a:spcAft>
            </a:pPr>
            <a:r>
              <a:rPr sz="1600">
                <a:solidFill>
                  <a:srgbClr val="E8EEF2"/>
                </a:solidFill>
                <a:latin typeface="Consolas"/>
              </a:rPr>
              <a:t>Aging Time                 : 60 mins</a:t>
            </a:r>
          </a:p>
          <a:p>
            <a:pPr>
              <a:lnSpc>
                <a:spcPct val="100000"/>
              </a:lnSpc>
              <a:spcAft>
                <a:spcPts val="0"/>
              </a:spcAft>
            </a:pPr>
            <a:r>
              <a:rPr sz="1600">
                <a:solidFill>
                  <a:srgbClr val="E8EEF2"/>
                </a:solidFill>
                <a:latin typeface="Consolas"/>
              </a:rPr>
              <a:t>Aging Type                 : Inactivity</a:t>
            </a:r>
          </a:p>
          <a:p>
            <a:pPr>
              <a:lnSpc>
                <a:spcPct val="100000"/>
              </a:lnSpc>
              <a:spcAft>
                <a:spcPts val="0"/>
              </a:spcAft>
            </a:pPr>
            <a:r>
              <a:rPr sz="1600">
                <a:solidFill>
                  <a:srgbClr val="E8EEF2"/>
                </a:solidFill>
                <a:latin typeface="Consolas"/>
              </a:rPr>
              <a:t>Maximum MAC Addresses      : 2</a:t>
            </a:r>
          </a:p>
          <a:p>
            <a:pPr>
              <a:lnSpc>
                <a:spcPct val="100000"/>
              </a:lnSpc>
              <a:spcAft>
                <a:spcPts val="0"/>
              </a:spcAft>
            </a:pPr>
            <a:r>
              <a:rPr sz="1600">
                <a:solidFill>
                  <a:srgbClr val="E8EEF2"/>
                </a:solidFill>
                <a:latin typeface="Consolas"/>
              </a:rPr>
              <a:t>Total MAC Addresses        : 2</a:t>
            </a:r>
          </a:p>
          <a:p>
            <a:pPr>
              <a:lnSpc>
                <a:spcPct val="100000"/>
              </a:lnSpc>
              <a:spcAft>
                <a:spcPts val="0"/>
              </a:spcAft>
            </a:pPr>
            <a:r>
              <a:rPr sz="1600">
                <a:solidFill>
                  <a:srgbClr val="E8EEF2"/>
                </a:solidFill>
                <a:latin typeface="Consolas"/>
              </a:rPr>
              <a:t>Configured MAC Addresses   : 0</a:t>
            </a:r>
          </a:p>
          <a:p>
            <a:pPr>
              <a:lnSpc>
                <a:spcPct val="100000"/>
              </a:lnSpc>
              <a:spcAft>
                <a:spcPts val="0"/>
              </a:spcAft>
            </a:pPr>
            <a:r>
              <a:rPr sz="1600">
                <a:solidFill>
                  <a:srgbClr val="E8EEF2"/>
                </a:solidFill>
                <a:latin typeface="Consolas"/>
              </a:rPr>
              <a:t>Sticky MAC Addresses       : 2</a:t>
            </a:r>
          </a:p>
          <a:p>
            <a:pPr>
              <a:lnSpc>
                <a:spcPct val="100000"/>
              </a:lnSpc>
              <a:spcAft>
                <a:spcPts val="0"/>
              </a:spcAft>
            </a:pPr>
            <a:r>
              <a:rPr sz="1600">
                <a:solidFill>
                  <a:srgbClr val="E8EEF2"/>
                </a:solidFill>
                <a:latin typeface="Consolas"/>
              </a:rPr>
              <a:t>Last Source Address:Vlan   : 0050.7966.6800:10</a:t>
            </a:r>
          </a:p>
          <a:p>
            <a:pPr>
              <a:lnSpc>
                <a:spcPct val="100000"/>
              </a:lnSpc>
              <a:spcAft>
                <a:spcPts val="0"/>
              </a:spcAft>
            </a:pPr>
            <a:r>
              <a:rPr sz="1600">
                <a:solidFill>
                  <a:srgbClr val="E8EEF2"/>
                </a:solidFill>
                <a:latin typeface="Consolas"/>
              </a:rPr>
              <a:t>Security Violation Count   : 14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Sticky addresses are learned, not saved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1900" b="0" i="0">
                <a:solidFill>
                  <a:srgbClr val="1A5276"/>
                </a:solidFill>
                <a:latin typeface="Consolas"/>
              </a:rPr>
              <a:t>mac-address sticky</a:t>
            </a:r>
            <a:r>
              <a:rPr sz="2000" b="0" i="0">
                <a:solidFill>
                  <a:srgbClr val="1C252B"/>
                </a:solidFill>
                <a:latin typeface="Segoe UI"/>
              </a:rPr>
              <a:t> converts dynamically learned addresses into running-configuration entries. They are </a:t>
            </a:r>
            <a:r>
              <a:rPr sz="2000" b="0" i="1">
                <a:solidFill>
                  <a:srgbClr val="1C252B"/>
                </a:solidFill>
                <a:latin typeface="Segoe UI"/>
              </a:rPr>
              <a:t>not</a:t>
            </a:r>
            <a:r>
              <a:rPr sz="2000" b="0" i="0">
                <a:solidFill>
                  <a:srgbClr val="1C252B"/>
                </a:solidFill>
                <a:latin typeface="Segoe UI"/>
              </a:rPr>
              <a:t> written to the startup configuration until you save. Reload without saving and the port relearns whatever is plugged in at that moment — which may be the wrong device, now permanently authorised.</a:t>
            </a:r>
          </a:p>
          <a:p>
            <a:pPr algn="l">
              <a:lnSpc>
                <a:spcPct val="100000"/>
              </a:lnSpc>
              <a:spcAft>
                <a:spcPts val="1000"/>
              </a:spcAft>
            </a:pPr>
            <a:r>
              <a:rPr sz="2000" b="0" i="0">
                <a:solidFill>
                  <a:srgbClr val="1C252B"/>
                </a:solidFill>
                <a:latin typeface="Segoe UI"/>
              </a:rPr>
              <a:t>If you use sticky, </a:t>
            </a:r>
            <a:r>
              <a:rPr sz="1900" b="0" i="0">
                <a:solidFill>
                  <a:srgbClr val="1A5276"/>
                </a:solidFill>
                <a:latin typeface="Consolas"/>
              </a:rPr>
              <a:t>write memory</a:t>
            </a:r>
            <a:r>
              <a:rPr sz="2000" b="0" i="0">
                <a:solidFill>
                  <a:srgbClr val="1C252B"/>
                </a:solidFill>
                <a:latin typeface="Segoe UI"/>
              </a:rPr>
              <a:t> is part of the procedure, not an afterthought.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DHCP snooping — stopping rogue servers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Trusted and untrusted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tint"/>
          <p:cNvSpPr/>
          <p:nvPr/>
        </p:nvSpPr>
        <p:spPr>
          <a:xfrm>
            <a:off x="685800" y="1517904"/>
            <a:ext cx="10820095" cy="208889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On an untrusted port, DHCP </a:t>
            </a:r>
            <a:r>
              <a:rPr sz="2000" b="0" i="1">
                <a:solidFill>
                  <a:srgbClr val="1C252B"/>
                </a:solidFill>
                <a:latin typeface="Segoe UI"/>
              </a:rPr>
              <a:t>server</a:t>
            </a:r>
            <a:r>
              <a:rPr sz="2000" b="0" i="0">
                <a:solidFill>
                  <a:srgbClr val="1C252B"/>
                </a:solidFill>
                <a:latin typeface="Segoe UI"/>
              </a:rPr>
              <a:t> messages (OFFER, ACK, NAK) are dropped. Client messages pass. On a trusted port everything passes.</a:t>
            </a:r>
          </a:p>
          <a:p>
            <a:pPr algn="l">
              <a:lnSpc>
                <a:spcPct val="100000"/>
              </a:lnSpc>
              <a:spcAft>
                <a:spcPts val="1000"/>
              </a:spcAft>
            </a:pPr>
            <a:r>
              <a:rPr sz="2000" b="0" i="0">
                <a:solidFill>
                  <a:srgbClr val="1C252B"/>
                </a:solidFill>
                <a:latin typeface="Segoe UI"/>
              </a:rPr>
              <a:t>Every port is untrusted once snooping is enabled on a VLAN. You must explicitly trust the path toward the legitimate server.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DHCP snooping on an access switch</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517904"/>
            <a:ext cx="10820095" cy="46375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14375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ip dhcp snooping</a:t>
            </a:r>
          </a:p>
          <a:p>
            <a:pPr>
              <a:lnSpc>
                <a:spcPct val="100000"/>
              </a:lnSpc>
              <a:spcAft>
                <a:spcPts val="0"/>
              </a:spcAft>
            </a:pPr>
            <a:r>
              <a:rPr sz="1500">
                <a:solidFill>
                  <a:srgbClr val="E8EEF2"/>
                </a:solidFill>
                <a:latin typeface="Consolas"/>
              </a:rPr>
              <a:t>ip dhcp snooping vlan 10,20,30</a:t>
            </a:r>
          </a:p>
          <a:p>
            <a:pPr>
              <a:lnSpc>
                <a:spcPct val="100000"/>
              </a:lnSpc>
              <a:spcAft>
                <a:spcPts val="0"/>
              </a:spcAft>
            </a:pPr>
            <a:r>
              <a:rPr sz="1500" i="1">
                <a:solidFill>
                  <a:srgbClr val="6E8BA0"/>
                </a:solidFill>
                <a:latin typeface="Consolas"/>
              </a:rPr>
              <a:t>!</a:t>
            </a:r>
          </a:p>
          <a:p>
            <a:pPr>
              <a:lnSpc>
                <a:spcPct val="100000"/>
              </a:lnSpc>
              <a:spcAft>
                <a:spcPts val="0"/>
              </a:spcAft>
            </a:pPr>
            <a:r>
              <a:rPr sz="1500" i="1">
                <a:solidFill>
                  <a:srgbClr val="6E8BA0"/>
                </a:solidFill>
                <a:latin typeface="Consolas"/>
              </a:rPr>
              <a:t>! Almost always required. The switch inserts option 82 into relayed</a:t>
            </a:r>
          </a:p>
          <a:p>
            <a:pPr>
              <a:lnSpc>
                <a:spcPct val="100000"/>
              </a:lnSpc>
              <a:spcAft>
                <a:spcPts val="0"/>
              </a:spcAft>
            </a:pPr>
            <a:r>
              <a:rPr sz="1500" i="1">
                <a:solidFill>
                  <a:srgbClr val="6E8BA0"/>
                </a:solidFill>
                <a:latin typeface="Consolas"/>
              </a:rPr>
              <a:t>! requests; a router that is not configured to expect it discards the</a:t>
            </a:r>
          </a:p>
          <a:p>
            <a:pPr>
              <a:lnSpc>
                <a:spcPct val="100000"/>
              </a:lnSpc>
              <a:spcAft>
                <a:spcPts val="0"/>
              </a:spcAft>
            </a:pPr>
            <a:r>
              <a:rPr sz="1500" i="1">
                <a:solidFill>
                  <a:srgbClr val="6E8BA0"/>
                </a:solidFill>
                <a:latin typeface="Consolas"/>
              </a:rPr>
              <a:t>! request, and every client fails. See the alert below.</a:t>
            </a:r>
          </a:p>
          <a:p>
            <a:pPr>
              <a:lnSpc>
                <a:spcPct val="100000"/>
              </a:lnSpc>
              <a:spcAft>
                <a:spcPts val="0"/>
              </a:spcAft>
            </a:pPr>
            <a:r>
              <a:rPr sz="1500">
                <a:solidFill>
                  <a:srgbClr val="E8EEF2"/>
                </a:solidFill>
                <a:latin typeface="Consolas"/>
              </a:rPr>
              <a:t>no ip dhcp snooping information option</a:t>
            </a:r>
          </a:p>
          <a:p>
            <a:pPr>
              <a:lnSpc>
                <a:spcPct val="100000"/>
              </a:lnSpc>
              <a:spcAft>
                <a:spcPts val="0"/>
              </a:spcAft>
            </a:pPr>
            <a:r>
              <a:rPr sz="1500" i="1">
                <a:solidFill>
                  <a:srgbClr val="6E8BA0"/>
                </a:solidFill>
                <a:latin typeface="Consolas"/>
              </a:rPr>
              <a:t>!</a:t>
            </a:r>
          </a:p>
          <a:p>
            <a:pPr>
              <a:lnSpc>
                <a:spcPct val="100000"/>
              </a:lnSpc>
              <a:spcAft>
                <a:spcPts val="0"/>
              </a:spcAft>
            </a:pPr>
            <a:r>
              <a:rPr sz="1500" i="1">
                <a:solidFill>
                  <a:srgbClr val="6E8BA0"/>
                </a:solidFill>
                <a:latin typeface="Consolas"/>
              </a:rPr>
              <a:t>! The uplink carries the server's replies. Trust it.</a:t>
            </a:r>
          </a:p>
          <a:p>
            <a:pPr>
              <a:lnSpc>
                <a:spcPct val="100000"/>
              </a:lnSpc>
              <a:spcAft>
                <a:spcPts val="0"/>
              </a:spcAft>
            </a:pPr>
            <a:r>
              <a:rPr sz="1500">
                <a:solidFill>
                  <a:srgbClr val="E8EEF2"/>
                </a:solidFill>
                <a:latin typeface="Consolas"/>
              </a:rPr>
              <a:t>interface GigabitEthernet1/0/48</a:t>
            </a:r>
          </a:p>
          <a:p>
            <a:pPr>
              <a:lnSpc>
                <a:spcPct val="100000"/>
              </a:lnSpc>
              <a:spcAft>
                <a:spcPts val="0"/>
              </a:spcAft>
            </a:pPr>
            <a:r>
              <a:rPr sz="1500">
                <a:solidFill>
                  <a:srgbClr val="E8EEF2"/>
                </a:solidFill>
                <a:latin typeface="Consolas"/>
              </a:rPr>
              <a:t> description Uplink to distribution</a:t>
            </a:r>
          </a:p>
          <a:p>
            <a:pPr>
              <a:lnSpc>
                <a:spcPct val="100000"/>
              </a:lnSpc>
              <a:spcAft>
                <a:spcPts val="0"/>
              </a:spcAft>
            </a:pPr>
            <a:r>
              <a:rPr sz="1500">
                <a:solidFill>
                  <a:srgbClr val="E8EEF2"/>
                </a:solidFill>
                <a:latin typeface="Consolas"/>
              </a:rPr>
              <a:t> ip dhcp snooping trust</a:t>
            </a:r>
          </a:p>
          <a:p>
            <a:pPr>
              <a:lnSpc>
                <a:spcPct val="100000"/>
              </a:lnSpc>
              <a:spcAft>
                <a:spcPts val="0"/>
              </a:spcAft>
            </a:pPr>
            <a:r>
              <a:rPr sz="1500" i="1">
                <a:solidFill>
                  <a:srgbClr val="6E8BA0"/>
                </a:solidFill>
                <a:latin typeface="Consolas"/>
              </a:rPr>
              <a:t>!</a:t>
            </a:r>
          </a:p>
          <a:p>
            <a:pPr>
              <a:lnSpc>
                <a:spcPct val="100000"/>
              </a:lnSpc>
              <a:spcAft>
                <a:spcPts val="0"/>
              </a:spcAft>
            </a:pPr>
            <a:r>
              <a:rPr sz="1500" i="1">
                <a:solidFill>
                  <a:srgbClr val="6E8BA0"/>
                </a:solidFill>
                <a:latin typeface="Consolas"/>
              </a:rPr>
              <a:t>! User ports stay untrusted, and are rate-limited so a single host</a:t>
            </a:r>
          </a:p>
          <a:p>
            <a:pPr>
              <a:lnSpc>
                <a:spcPct val="100000"/>
              </a:lnSpc>
              <a:spcAft>
                <a:spcPts val="0"/>
              </a:spcAft>
            </a:pPr>
            <a:r>
              <a:rPr sz="1500" i="1">
                <a:solidFill>
                  <a:srgbClr val="6E8BA0"/>
                </a:solidFill>
                <a:latin typeface="Consolas"/>
              </a:rPr>
              <a:t>! cannot exhaust the pool by flooding requests.</a:t>
            </a:r>
          </a:p>
          <a:p>
            <a:pPr>
              <a:lnSpc>
                <a:spcPct val="100000"/>
              </a:lnSpc>
              <a:spcAft>
                <a:spcPts val="0"/>
              </a:spcAft>
            </a:pPr>
            <a:r>
              <a:rPr sz="1500">
                <a:solidFill>
                  <a:srgbClr val="E8EEF2"/>
                </a:solidFill>
                <a:latin typeface="Consolas"/>
              </a:rPr>
              <a:t>interface range GigabitEthernet1/0/1-46</a:t>
            </a:r>
          </a:p>
          <a:p>
            <a:pPr>
              <a:lnSpc>
                <a:spcPct val="100000"/>
              </a:lnSpc>
              <a:spcAft>
                <a:spcPts val="0"/>
              </a:spcAft>
            </a:pPr>
            <a:r>
              <a:rPr sz="1500">
                <a:solidFill>
                  <a:srgbClr val="E8EEF2"/>
                </a:solidFill>
                <a:latin typeface="Consolas"/>
              </a:rPr>
              <a:t> ip dhcp snooping limit rate 10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two faults that make snooping look broken</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The uplink is not trusted.</a:t>
            </a:r>
            <a:r>
              <a:rPr sz="2000" b="0" i="0">
                <a:solidFill>
                  <a:srgbClr val="1C252B"/>
                </a:solidFill>
                <a:latin typeface="Segoe UI"/>
              </a:rPr>
              <a:t> The server’s OFFER arrives on an untrusted port and is dropped. </a:t>
            </a:r>
            <a:r>
              <a:rPr sz="2000" b="0" i="1">
                <a:solidFill>
                  <a:srgbClr val="1C252B"/>
                </a:solidFill>
                <a:latin typeface="Segoe UI"/>
              </a:rPr>
              <a:t>Every</a:t>
            </a:r>
            <a:r>
              <a:rPr sz="2000" b="0" i="0">
                <a:solidFill>
                  <a:srgbClr val="1C252B"/>
                </a:solidFill>
                <a:latin typeface="Segoe UI"/>
              </a:rPr>
              <a:t> client on the switch fails, and the DHCP server logs nothing wrong because it answered.</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Option 82.</a:t>
            </a:r>
            <a:r>
              <a:rPr sz="2000" b="0" i="0">
                <a:solidFill>
                  <a:srgbClr val="1C252B"/>
                </a:solidFill>
                <a:latin typeface="Segoe UI"/>
              </a:rPr>
              <a:t> By default the switch adds option 82 to requests it forwards, but with a </a:t>
            </a:r>
            <a:r>
              <a:rPr sz="1900" b="0" i="0">
                <a:solidFill>
                  <a:srgbClr val="1A5276"/>
                </a:solidFill>
                <a:latin typeface="Consolas"/>
              </a:rPr>
              <a:t>giaddr</a:t>
            </a:r>
            <a:r>
              <a:rPr sz="2000" b="0" i="0">
                <a:solidFill>
                  <a:srgbClr val="1C252B"/>
                </a:solidFill>
                <a:latin typeface="Segoe UI"/>
              </a:rPr>
              <a:t> of </a:t>
            </a:r>
            <a:r>
              <a:rPr sz="1900" b="0" i="0">
                <a:solidFill>
                  <a:srgbClr val="1A5276"/>
                </a:solidFill>
                <a:latin typeface="Consolas"/>
              </a:rPr>
              <a:t>0.0.0.0</a:t>
            </a:r>
            <a:r>
              <a:rPr sz="2000" b="0" i="0">
                <a:solidFill>
                  <a:srgbClr val="1C252B"/>
                </a:solidFill>
                <a:latin typeface="Segoe UI"/>
              </a:rPr>
              <a:t>. Cisco routers discard such packets unless told otherwise. Either </a:t>
            </a:r>
            <a:r>
              <a:rPr sz="1900" b="0" i="0">
                <a:solidFill>
                  <a:srgbClr val="1A5276"/>
                </a:solidFill>
                <a:latin typeface="Consolas"/>
              </a:rPr>
              <a:t>no ip dhcp snooping information option</a:t>
            </a:r>
            <a:r>
              <a:rPr sz="2000" b="0" i="0">
                <a:solidFill>
                  <a:srgbClr val="1C252B"/>
                </a:solidFill>
                <a:latin typeface="Segoe UI"/>
              </a:rPr>
              <a:t> on the switch, or </a:t>
            </a:r>
            <a:r>
              <a:rPr sz="1900" b="0" i="0">
                <a:solidFill>
                  <a:srgbClr val="1A5276"/>
                </a:solidFill>
                <a:latin typeface="Consolas"/>
              </a:rPr>
              <a:t>ip dhcp relay information trust-all</a:t>
            </a:r>
            <a:r>
              <a:rPr sz="2000" b="0" i="0">
                <a:solidFill>
                  <a:srgbClr val="1C252B"/>
                </a:solidFill>
                <a:latin typeface="Segoe UI"/>
              </a:rPr>
              <a:t> on the router.</a:t>
            </a:r>
          </a:p>
        </p:txBody>
      </p:sp>
      <p:sp>
        <p:nvSpPr>
          <p:cNvPr id="8" name="tailbody"/>
          <p:cNvSpPr txBox="1"/>
          <p:nvPr/>
        </p:nvSpPr>
        <p:spPr>
          <a:xfrm>
            <a:off x="685800" y="4725416"/>
            <a:ext cx="10820095" cy="1602232"/>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Both produce the same symptom — a whole switch full of clients with no addresses, immediately after a change that “should have been transparent”.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dhcp snooping binding</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MacAddress          IpAddress        Lease(sec)  Type           VLAN  Interface</a:t>
            </a:r>
          </a:p>
          <a:p>
            <a:pPr>
              <a:lnSpc>
                <a:spcPct val="100000"/>
              </a:lnSpc>
              <a:spcAft>
                <a:spcPts val="0"/>
              </a:spcAft>
            </a:pPr>
            <a:r>
              <a:rPr sz="1600">
                <a:solidFill>
                  <a:srgbClr val="E8EEF2"/>
                </a:solidFill>
                <a:latin typeface="Consolas"/>
              </a:rPr>
              <a:t>------------------  ---------------  ----------  -------------  ----  ---------------</a:t>
            </a:r>
          </a:p>
          <a:p>
            <a:pPr>
              <a:lnSpc>
                <a:spcPct val="100000"/>
              </a:lnSpc>
              <a:spcAft>
                <a:spcPts val="0"/>
              </a:spcAft>
            </a:pPr>
            <a:r>
              <a:rPr sz="1600">
                <a:solidFill>
                  <a:srgbClr val="E8EEF2"/>
                </a:solidFill>
                <a:latin typeface="Consolas"/>
              </a:rPr>
              <a:t>00:50:79:66:68:00   192.168.10.21    27154       dhcp-snooping   10   GigabitEthernet1/0/5</a:t>
            </a:r>
          </a:p>
          <a:p>
            <a:pPr>
              <a:lnSpc>
                <a:spcPct val="100000"/>
              </a:lnSpc>
              <a:spcAft>
                <a:spcPts val="0"/>
              </a:spcAft>
            </a:pPr>
            <a:r>
              <a:rPr sz="1600">
                <a:solidFill>
                  <a:srgbClr val="E8EEF2"/>
                </a:solidFill>
                <a:latin typeface="Consolas"/>
              </a:rPr>
              <a:t>00:50:79:66:68:22   192.168.10.22    27301       dhcp-snooping   10   GigabitEthernet1/0/7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binding table is the point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Stopping rogue servers is useful. Building this table is what makes the next two features possible: it is the switch’s record of </a:t>
            </a:r>
            <a:r>
              <a:rPr sz="2000" b="0" i="1">
                <a:solidFill>
                  <a:srgbClr val="1C252B"/>
                </a:solidFill>
                <a:latin typeface="Segoe UI"/>
              </a:rPr>
              <a:t>which MAC legitimately holds which IP on which port</a:t>
            </a:r>
            <a:r>
              <a:rPr sz="2000" b="0" i="0">
                <a:solidFill>
                  <a:srgbClr val="1C252B"/>
                </a:solidFill>
                <a:latin typeface="Segoe UI"/>
              </a:rPr>
              <a:t>. Dynamic ARP inspection and IP source guard both consult it.</a:t>
            </a:r>
          </a:p>
          <a:p>
            <a:pPr algn="l">
              <a:lnSpc>
                <a:spcPct val="100000"/>
              </a:lnSpc>
              <a:spcAft>
                <a:spcPts val="1000"/>
              </a:spcAft>
            </a:pPr>
            <a:r>
              <a:rPr sz="2000" b="0" i="0">
                <a:solidFill>
                  <a:srgbClr val="1C252B"/>
                </a:solidFill>
                <a:latin typeface="Segoe UI"/>
              </a:rPr>
              <a:t>So DHCP snooping is not an optional extra you turn on afterwards. It is the foundation, and it has to go first.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Dynamic ARP inspection — stopping ARP lies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DAI on the same switch</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517904"/>
            <a:ext cx="10820095" cy="465328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159503"/>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DHCP snooping must already be running on these VLANs.</a:t>
            </a:r>
          </a:p>
          <a:p>
            <a:pPr>
              <a:lnSpc>
                <a:spcPct val="100000"/>
              </a:lnSpc>
              <a:spcAft>
                <a:spcPts val="0"/>
              </a:spcAft>
            </a:pPr>
            <a:r>
              <a:rPr sz="1600">
                <a:solidFill>
                  <a:srgbClr val="E8EEF2"/>
                </a:solidFill>
                <a:latin typeface="Consolas"/>
              </a:rPr>
              <a:t>ip arp inspection vlan 10,20,30</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Optional but recommended: also check that the Ethernet header</a:t>
            </a:r>
          </a:p>
          <a:p>
            <a:pPr>
              <a:lnSpc>
                <a:spcPct val="100000"/>
              </a:lnSpc>
              <a:spcAft>
                <a:spcPts val="0"/>
              </a:spcAft>
            </a:pPr>
            <a:r>
              <a:rPr sz="1600" i="1">
                <a:solidFill>
                  <a:srgbClr val="6E8BA0"/>
                </a:solidFill>
                <a:latin typeface="Consolas"/>
              </a:rPr>
              <a:t>! addresses agree with the ARP payload, and that the IP is sane.</a:t>
            </a:r>
          </a:p>
          <a:p>
            <a:pPr>
              <a:lnSpc>
                <a:spcPct val="100000"/>
              </a:lnSpc>
              <a:spcAft>
                <a:spcPts val="0"/>
              </a:spcAft>
            </a:pPr>
            <a:r>
              <a:rPr sz="1600">
                <a:solidFill>
                  <a:srgbClr val="E8EEF2"/>
                </a:solidFill>
                <a:latin typeface="Consolas"/>
              </a:rPr>
              <a:t>ip arp inspection validate src-mac dst-mac ip</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Trust the uplink, exactly as for snooping. Switch-to-switch links</a:t>
            </a:r>
          </a:p>
          <a:p>
            <a:pPr>
              <a:lnSpc>
                <a:spcPct val="100000"/>
              </a:lnSpc>
              <a:spcAft>
                <a:spcPts val="0"/>
              </a:spcAft>
            </a:pPr>
            <a:r>
              <a:rPr sz="1600" i="1">
                <a:solidFill>
                  <a:srgbClr val="6E8BA0"/>
                </a:solidFill>
                <a:latin typeface="Consolas"/>
              </a:rPr>
              <a:t>! must be trusted or legitimate ARP is dropped between switches.</a:t>
            </a:r>
          </a:p>
          <a:p>
            <a:pPr>
              <a:lnSpc>
                <a:spcPct val="100000"/>
              </a:lnSpc>
              <a:spcAft>
                <a:spcPts val="0"/>
              </a:spcAft>
            </a:pPr>
            <a:r>
              <a:rPr sz="1600">
                <a:solidFill>
                  <a:srgbClr val="E8EEF2"/>
                </a:solidFill>
                <a:latin typeface="Consolas"/>
              </a:rPr>
              <a:t>interface GigabitEthernet1/0/48</a:t>
            </a:r>
          </a:p>
          <a:p>
            <a:pPr>
              <a:lnSpc>
                <a:spcPct val="100000"/>
              </a:lnSpc>
              <a:spcAft>
                <a:spcPts val="0"/>
              </a:spcAft>
            </a:pPr>
            <a:r>
              <a:rPr sz="1600">
                <a:solidFill>
                  <a:srgbClr val="E8EEF2"/>
                </a:solidFill>
                <a:latin typeface="Consolas"/>
              </a:rPr>
              <a:t> ip arp inspection trust</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Rate-limit user ports. The default is 15 packets per second, and</a:t>
            </a:r>
          </a:p>
          <a:p>
            <a:pPr>
              <a:lnSpc>
                <a:spcPct val="100000"/>
              </a:lnSpc>
              <a:spcAft>
                <a:spcPts val="0"/>
              </a:spcAft>
            </a:pPr>
            <a:r>
              <a:rPr sz="1600" i="1">
                <a:solidFill>
                  <a:srgbClr val="6E8BA0"/>
                </a:solidFill>
                <a:latin typeface="Consolas"/>
              </a:rPr>
              <a:t>! exceeding it err-disables the port.</a:t>
            </a:r>
          </a:p>
          <a:p>
            <a:pPr>
              <a:lnSpc>
                <a:spcPct val="100000"/>
              </a:lnSpc>
              <a:spcAft>
                <a:spcPts val="0"/>
              </a:spcAft>
            </a:pPr>
            <a:r>
              <a:rPr sz="1600">
                <a:solidFill>
                  <a:srgbClr val="E8EEF2"/>
                </a:solidFill>
                <a:latin typeface="Consolas"/>
              </a:rPr>
              <a:t>interface range GigabitEthernet1/0/1-46</a:t>
            </a:r>
          </a:p>
          <a:p>
            <a:pPr>
              <a:lnSpc>
                <a:spcPct val="100000"/>
              </a:lnSpc>
              <a:spcAft>
                <a:spcPts val="0"/>
              </a:spcAft>
            </a:pPr>
            <a:r>
              <a:rPr sz="1600">
                <a:solidFill>
                  <a:srgbClr val="E8EEF2"/>
                </a:solidFill>
                <a:latin typeface="Consolas"/>
              </a:rPr>
              <a:t> ip arp inspection limit rate 15</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case DAI cannot handle on its own</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statically addressed device — a server, a printer, a legacy controller — never asks for a DHCP lease, so it has </a:t>
            </a:r>
            <a:r>
              <a:rPr sz="2000" b="1" i="0">
                <a:solidFill>
                  <a:srgbClr val="1C252B"/>
                </a:solidFill>
                <a:latin typeface="Segoe UI"/>
              </a:rPr>
              <a:t>no entry in the binding table</a:t>
            </a:r>
            <a:r>
              <a:rPr sz="2000" b="0" i="0">
                <a:solidFill>
                  <a:srgbClr val="1C252B"/>
                </a:solidFill>
                <a:latin typeface="Segoe UI"/>
              </a:rPr>
              <a:t>. When DAI is enabled, its ARP replies match nothing and are dropped, and the device disappears from the network.</a:t>
            </a:r>
          </a:p>
          <a:p>
            <a:pPr algn="l">
              <a:lnSpc>
                <a:spcPct val="100000"/>
              </a:lnSpc>
              <a:spcAft>
                <a:spcPts val="1000"/>
              </a:spcAft>
            </a:pPr>
            <a:r>
              <a:rPr sz="2000" b="0" i="0">
                <a:solidFill>
                  <a:srgbClr val="1C252B"/>
                </a:solidFill>
                <a:latin typeface="Segoe UI"/>
              </a:rPr>
              <a:t>The fix is an ARP ACL naming the address and MAC explicitly:</a:t>
            </a:r>
          </a:p>
          <a:p>
            <a:pPr algn="l">
              <a:lnSpc>
                <a:spcPct val="100000"/>
              </a:lnSpc>
              <a:spcAft>
                <a:spcPts val="1000"/>
              </a:spcAft>
            </a:pPr>
            <a:r>
              <a:rPr sz="2000" b="0" i="0">
                <a:solidFill>
                  <a:srgbClr val="1C252B"/>
                </a:solidFill>
                <a:latin typeface="Segoe UI"/>
              </a:rPr>
              <a:t>Inventory your static devices </a:t>
            </a:r>
            <a:r>
              <a:rPr sz="2000" b="0" i="1">
                <a:solidFill>
                  <a:srgbClr val="1C252B"/>
                </a:solidFill>
                <a:latin typeface="Segoe UI"/>
              </a:rPr>
              <a:t>before</a:t>
            </a:r>
            <a:r>
              <a:rPr sz="2000" b="0" i="0">
                <a:solidFill>
                  <a:srgbClr val="1C252B"/>
                </a:solidFill>
                <a:latin typeface="Segoe UI"/>
              </a:rPr>
              <a:t> enabling DAI, not after the calls start.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arp inspection statistics vlan 10</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Vlan      Forwarded        Dropped     DHCP Drops      ACL Drops</a:t>
            </a:r>
          </a:p>
          <a:p>
            <a:pPr>
              <a:lnSpc>
                <a:spcPct val="100000"/>
              </a:lnSpc>
              <a:spcAft>
                <a:spcPts val="0"/>
              </a:spcAft>
            </a:pPr>
            <a:r>
              <a:rPr sz="1600">
                <a:solidFill>
                  <a:srgbClr val="E8EEF2"/>
                </a:solidFill>
                <a:latin typeface="Consolas"/>
              </a:rPr>
              <a:t> ----      ---------        -------     ----------      ---------</a:t>
            </a:r>
          </a:p>
          <a:p>
            <a:pPr>
              <a:lnSpc>
                <a:spcPct val="100000"/>
              </a:lnSpc>
              <a:spcAft>
                <a:spcPts val="0"/>
              </a:spcAft>
            </a:pPr>
            <a:r>
              <a:rPr sz="1600">
                <a:solidFill>
                  <a:srgbClr val="E8EEF2"/>
                </a:solidFill>
                <a:latin typeface="Consolas"/>
              </a:rPr>
              <a:t>   10          88214             37             37              0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Storm control — limiting flooding</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Storm control on user ports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range GigabitEthernet1/0/1-46</a:t>
            </a:r>
          </a:p>
          <a:p>
            <a:pPr>
              <a:lnSpc>
                <a:spcPct val="100000"/>
              </a:lnSpc>
              <a:spcAft>
                <a:spcPts val="0"/>
              </a:spcAft>
            </a:pPr>
            <a:r>
              <a:rPr sz="1600">
                <a:solidFill>
                  <a:srgbClr val="E8EEF2"/>
                </a:solidFill>
                <a:latin typeface="Consolas"/>
              </a:rPr>
              <a:t> storm-control broadcast level 5.00 3.00</a:t>
            </a:r>
          </a:p>
          <a:p>
            <a:pPr>
              <a:lnSpc>
                <a:spcPct val="100000"/>
              </a:lnSpc>
              <a:spcAft>
                <a:spcPts val="0"/>
              </a:spcAft>
            </a:pPr>
            <a:r>
              <a:rPr sz="1600">
                <a:solidFill>
                  <a:srgbClr val="E8EEF2"/>
                </a:solidFill>
                <a:latin typeface="Consolas"/>
              </a:rPr>
              <a:t> storm-control multicast level 10.00</a:t>
            </a:r>
          </a:p>
          <a:p>
            <a:pPr>
              <a:lnSpc>
                <a:spcPct val="100000"/>
              </a:lnSpc>
              <a:spcAft>
                <a:spcPts val="0"/>
              </a:spcAft>
            </a:pPr>
            <a:r>
              <a:rPr sz="1600">
                <a:solidFill>
                  <a:srgbClr val="E8EEF2"/>
                </a:solidFill>
                <a:latin typeface="Consolas"/>
              </a:rPr>
              <a:t> storm-control action trap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storm-control broadcast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Filter State   Upper        Lower        Current</a:t>
            </a:r>
          </a:p>
          <a:p>
            <a:pPr>
              <a:lnSpc>
                <a:spcPct val="100000"/>
              </a:lnSpc>
              <a:spcAft>
                <a:spcPts val="0"/>
              </a:spcAft>
            </a:pPr>
            <a:r>
              <a:rPr sz="1600">
                <a:solidFill>
                  <a:srgbClr val="E8EEF2"/>
                </a:solidFill>
                <a:latin typeface="Consolas"/>
              </a:rPr>
              <a:t>---------  -------------  -----------  -----------  ---------</a:t>
            </a:r>
          </a:p>
          <a:p>
            <a:pPr>
              <a:lnSpc>
                <a:spcPct val="100000"/>
              </a:lnSpc>
              <a:spcAft>
                <a:spcPts val="0"/>
              </a:spcAft>
            </a:pPr>
            <a:r>
              <a:rPr sz="1600">
                <a:solidFill>
                  <a:srgbClr val="E8EEF2"/>
                </a:solidFill>
                <a:latin typeface="Consolas"/>
              </a:rPr>
              <a:t>Gi1/0/1    Forwarding     5.00%        3.00%        0.42%</a:t>
            </a:r>
          </a:p>
          <a:p>
            <a:pPr>
              <a:lnSpc>
                <a:spcPct val="100000"/>
              </a:lnSpc>
              <a:spcAft>
                <a:spcPts val="0"/>
              </a:spcAft>
            </a:pPr>
            <a:r>
              <a:rPr sz="1600">
                <a:solidFill>
                  <a:srgbClr val="E8EEF2"/>
                </a:solidFill>
                <a:latin typeface="Consolas"/>
              </a:rPr>
              <a:t>Gi1/0/7    Blocking       5.00%        3.00%        6.11%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RA guard — the IPv6 equivalent</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RA guard on access ports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codebg"/>
          <p:cNvSpPr/>
          <p:nvPr/>
        </p:nvSpPr>
        <p:spPr>
          <a:xfrm>
            <a:off x="685800" y="1901952"/>
            <a:ext cx="10820095" cy="33934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89966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ipv6 nd raguard policy ACCESS-PORTS</a:t>
            </a:r>
          </a:p>
          <a:p>
            <a:pPr>
              <a:lnSpc>
                <a:spcPct val="100000"/>
              </a:lnSpc>
              <a:spcAft>
                <a:spcPts val="0"/>
              </a:spcAft>
            </a:pPr>
            <a:r>
              <a:rPr sz="1600">
                <a:solidFill>
                  <a:srgbClr val="E8EEF2"/>
                </a:solidFill>
                <a:latin typeface="Consolas"/>
              </a:rPr>
              <a:t> device-role host</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ipv6 nd raguard policy UPLINKS</a:t>
            </a:r>
          </a:p>
          <a:p>
            <a:pPr>
              <a:lnSpc>
                <a:spcPct val="100000"/>
              </a:lnSpc>
              <a:spcAft>
                <a:spcPts val="0"/>
              </a:spcAft>
            </a:pPr>
            <a:r>
              <a:rPr sz="1600">
                <a:solidFill>
                  <a:srgbClr val="E8EEF2"/>
                </a:solidFill>
                <a:latin typeface="Consolas"/>
              </a:rPr>
              <a:t> device-role router</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range GigabitEthernet1/0/1-46</a:t>
            </a:r>
          </a:p>
          <a:p>
            <a:pPr>
              <a:lnSpc>
                <a:spcPct val="100000"/>
              </a:lnSpc>
              <a:spcAft>
                <a:spcPts val="0"/>
              </a:spcAft>
            </a:pPr>
            <a:r>
              <a:rPr sz="1600">
                <a:solidFill>
                  <a:srgbClr val="E8EEF2"/>
                </a:solidFill>
                <a:latin typeface="Consolas"/>
              </a:rPr>
              <a:t> ipv6 nd raguard attach-policy ACCESS-PORTS</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interface GigabitEthernet1/0/48</a:t>
            </a:r>
          </a:p>
          <a:p>
            <a:pPr>
              <a:lnSpc>
                <a:spcPct val="100000"/>
              </a:lnSpc>
              <a:spcAft>
                <a:spcPts val="0"/>
              </a:spcAft>
            </a:pPr>
            <a:r>
              <a:rPr sz="1600">
                <a:solidFill>
                  <a:srgbClr val="E8EEF2"/>
                </a:solidFill>
                <a:latin typeface="Consolas"/>
              </a:rPr>
              <a:t> ipv6 nd raguard attach-policy UPLINKS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Map each feature to the abuse it prevents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ullets"/>
          <p:cNvSpPr txBox="1"/>
          <p:nvPr/>
        </p:nvSpPr>
        <p:spPr>
          <a:xfrm>
            <a:off x="685800" y="2267712"/>
            <a:ext cx="10820095" cy="411480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Port security</a:t>
            </a:r>
            <a:r>
              <a:rPr sz="2000" b="0" i="0">
                <a:solidFill>
                  <a:srgbClr val="1C252B"/>
                </a:solidFill>
                <a:latin typeface="Segoe UI"/>
              </a:rPr>
              <a:t> — one device claiming many MAC addresses, or an unauthorised device on a port.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DHCP snooping</a:t>
            </a:r>
            <a:r>
              <a:rPr sz="2000" b="0" i="0">
                <a:solidFill>
                  <a:srgbClr val="1C252B"/>
                </a:solidFill>
                <a:latin typeface="Segoe UI"/>
              </a:rPr>
              <a:t> — a rogue DHCP server handing out gateways.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Dynamic ARP inspection</a:t>
            </a:r>
            <a:r>
              <a:rPr sz="2000" b="0" i="0">
                <a:solidFill>
                  <a:srgbClr val="1C252B"/>
                </a:solidFill>
                <a:latin typeface="Segoe UI"/>
              </a:rPr>
              <a:t> — ARP poisoning, the on-path attack.</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Storm control</a:t>
            </a:r>
            <a:r>
              <a:rPr sz="2000" b="0" i="0">
                <a:solidFill>
                  <a:srgbClr val="1C252B"/>
                </a:solidFill>
                <a:latin typeface="Segoe UI"/>
              </a:rPr>
              <a:t> — flooding, whether hostile or accidental.</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RA guard</a:t>
            </a:r>
            <a:r>
              <a:rPr sz="2000" b="0" i="0">
                <a:solidFill>
                  <a:srgbClr val="1C252B"/>
                </a:solidFill>
                <a:latin typeface="Segoe UI"/>
              </a:rPr>
              <a:t> — a rogue IPv6 router. The v6 counterpart of DHCP snooping.</a:t>
            </a:r>
          </a:p>
        </p:txBody>
      </p:sp>
      <p:sp>
        <p:nvSpPr>
          <p:cNvPr id="9" name="tailbody"/>
          <p:cNvSpPr txBox="1"/>
          <p:nvPr/>
        </p:nvSpPr>
        <p:spPr>
          <a:xfrm>
            <a:off x="685800" y="5391912"/>
            <a:ext cx="10820095" cy="935736"/>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Matching questions on this list are close to free marks. Learn the five pairs.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RA guard — the IPv6 equivalent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Not trusting the uplink</a:t>
            </a:r>
            <a:r>
              <a:rPr sz="2000" b="0" i="0">
                <a:solidFill>
                  <a:srgbClr val="1C252B"/>
                </a:solidFill>
                <a:latin typeface="Segoe UI"/>
              </a:rPr>
              <a:t> for DHCP snooping or DAI. Takes out an entire switch.</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Option 82 left on</a:t>
            </a:r>
            <a:r>
              <a:rPr sz="2000" b="0" i="0">
                <a:solidFill>
                  <a:srgbClr val="1C252B"/>
                </a:solidFill>
                <a:latin typeface="Segoe UI"/>
              </a:rPr>
              <a:t> with a Cisco relay that discards it. Same symptom, different cause.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Enabling DAI before inventorying static hosts.</a:t>
            </a:r>
            <a:r>
              <a:rPr sz="2000" b="0" i="0">
                <a:solidFill>
                  <a:srgbClr val="1C252B"/>
                </a:solidFill>
                <a:latin typeface="Segoe UI"/>
              </a:rPr>
              <a:t> Servers and printers vanish.</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Port security maximum of 2 on a phone port.</a:t>
            </a:r>
            <a:r>
              <a:rPr sz="2000" b="0" i="0">
                <a:solidFill>
                  <a:srgbClr val="1C252B"/>
                </a:solidFill>
                <a:latin typeface="Segoe UI"/>
              </a:rPr>
              <a:t> Should be 3.</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Using </a:t>
            </a:r>
            <a:r>
              <a:rPr sz="1900" b="1" i="0">
                <a:solidFill>
                  <a:srgbClr val="1A5276"/>
                </a:solidFill>
                <a:latin typeface="Consolas"/>
              </a:rPr>
              <a:t>protect</a:t>
            </a:r>
            <a:r>
              <a:rPr sz="2000" b="1" i="0">
                <a:solidFill>
                  <a:srgbClr val="1C252B"/>
                </a:solidFill>
                <a:latin typeface="Segoe UI"/>
              </a:rPr>
              <a:t>.</a:t>
            </a:r>
            <a:r>
              <a:rPr sz="2000" b="0" i="0">
                <a:solidFill>
                  <a:srgbClr val="1C252B"/>
                </a:solidFill>
                <a:latin typeface="Segoe UI"/>
              </a:rPr>
              <a:t> Silent drops and no evidence.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Sticky MACs never saved.</a:t>
            </a:r>
            <a:r>
              <a:rPr sz="2000" b="0" i="0">
                <a:solidFill>
                  <a:srgbClr val="1C252B"/>
                </a:solidFill>
                <a:latin typeface="Segoe UI"/>
              </a:rPr>
              <a:t> A reload re-learns whatever is plugged in.</a:t>
            </a:r>
          </a:p>
          <a:p>
            <a:pPr marL="228600" indent="-228600">
              <a:lnSpc>
                <a:spcPct val="102000"/>
              </a:lnSpc>
              <a:spcAft>
                <a:spcPts val="900"/>
              </a:spcAft>
            </a:pPr>
            <a:r>
              <a:rPr sz="2000" b="1">
                <a:solidFill>
                  <a:srgbClr val="922B21"/>
                </a:solidFill>
                <a:latin typeface="Segoe UI"/>
              </a:rPr>
              <a:t>•  </a:t>
            </a:r>
            <a:r>
              <a:rPr sz="1900" b="1" i="0">
                <a:solidFill>
                  <a:srgbClr val="1A5276"/>
                </a:solidFill>
                <a:latin typeface="Consolas"/>
              </a:rPr>
              <a:t>no shutdown</a:t>
            </a:r>
            <a:r>
              <a:rPr sz="2000" b="1" i="0">
                <a:solidFill>
                  <a:srgbClr val="1C252B"/>
                </a:solidFill>
                <a:latin typeface="Segoe UI"/>
              </a:rPr>
              <a:t> alone on an err-disabled port.</a:t>
            </a:r>
            <a:r>
              <a:rPr sz="2000" b="0" i="0">
                <a:solidFill>
                  <a:srgbClr val="1C252B"/>
                </a:solidFill>
                <a:latin typeface="Segoe UI"/>
              </a:rPr>
              <a:t> You must </a:t>
            </a:r>
            <a:r>
              <a:rPr sz="1900" b="0" i="0">
                <a:solidFill>
                  <a:srgbClr val="1A5276"/>
                </a:solidFill>
                <a:latin typeface="Consolas"/>
              </a:rPr>
              <a:t>shutdown</a:t>
            </a:r>
            <a:r>
              <a:rPr sz="2000" b="0" i="0">
                <a:solidFill>
                  <a:srgbClr val="1C252B"/>
                </a:solidFill>
                <a:latin typeface="Segoe UI"/>
              </a:rPr>
              <a:t> first.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RA guard — the IPv6 equivalent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Storm control with </a:t>
            </a:r>
            <a:r>
              <a:rPr sz="1900" b="1" i="0">
                <a:solidFill>
                  <a:srgbClr val="1A5276"/>
                </a:solidFill>
                <a:latin typeface="Consolas"/>
              </a:rPr>
              <a:t>action shutdown</a:t>
            </a:r>
            <a:r>
              <a:rPr sz="2000" b="1" i="0">
                <a:solidFill>
                  <a:srgbClr val="1C252B"/>
                </a:solidFill>
                <a:latin typeface="Segoe UI"/>
              </a:rPr>
              <a:t> on user ports.</a:t>
            </a:r>
            <a:r>
              <a:rPr sz="2000" b="0" i="0">
                <a:solidFill>
                  <a:srgbClr val="1C252B"/>
                </a:solidFill>
                <a:latin typeface="Segoe UI"/>
              </a:rPr>
              <a:t> Turns a transient into a truck roll.</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Enabling everything at once on a Friday.</a:t>
            </a:r>
            <a:r>
              <a:rPr sz="2000" b="0" i="0">
                <a:solidFill>
                  <a:srgbClr val="1C252B"/>
                </a:solidFill>
                <a:latin typeface="Segoe UI"/>
              </a:rPr>
              <a:t> Each of these features can black-hole a floor. Deploy one at a time, on one switch, and watch.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After a security rollout, two servers and every printer stop responding. PCs are fine.</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DHCP snooping and DAI were enabled across the access layer overnight. In the morning, all DHCP clients work normally — addresses lease, browsing works. But two application servers and every network printer are unreachable from everywhere, including from hosts in their own VLAN. The devices themselves are powered on, their link lights are up, and their switch ports show </a:t>
            </a:r>
            <a:r>
              <a:rPr sz="1800" b="0" i="0">
                <a:solidFill>
                  <a:srgbClr val="1A5276"/>
                </a:solidFill>
                <a:latin typeface="Consolas"/>
              </a:rPr>
              <a:t>connected</a:t>
            </a:r>
            <a:r>
              <a:rPr sz="1900" b="0" i="0">
                <a:solidFill>
                  <a:srgbClr val="1C252B"/>
                </a:solidFill>
                <a:latin typeface="Segoe UI"/>
              </a:rPr>
              <a: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After a security rollout, two servers and every printer stop responding. PCs are fine.</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 arp inspection statistics vlan 20</a:t>
            </a:r>
          </a:p>
        </p:txBody>
      </p:sp>
      <p:sp>
        <p:nvSpPr>
          <p:cNvPr id="6" name="bfcodebg"/>
          <p:cNvSpPr/>
          <p:nvPr/>
        </p:nvSpPr>
        <p:spPr>
          <a:xfrm>
            <a:off x="685800" y="2011680"/>
            <a:ext cx="10820095" cy="131216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83667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 Vlan      Forwarded        Dropped     DHCP Drops      ACL Drops</a:t>
            </a:r>
          </a:p>
          <a:p>
            <a:pPr>
              <a:lnSpc>
                <a:spcPct val="100000"/>
              </a:lnSpc>
              <a:spcAft>
                <a:spcPts val="0"/>
              </a:spcAft>
            </a:pPr>
            <a:r>
              <a:rPr sz="1500">
                <a:solidFill>
                  <a:srgbClr val="E8EEF2"/>
                </a:solidFill>
                <a:latin typeface="Consolas"/>
              </a:rPr>
              <a:t> ----      ---------        -------     ----------      ---------</a:t>
            </a:r>
          </a:p>
          <a:p>
            <a:pPr>
              <a:lnSpc>
                <a:spcPct val="100000"/>
              </a:lnSpc>
              <a:spcAft>
                <a:spcPts val="0"/>
              </a:spcAft>
            </a:pPr>
            <a:r>
              <a:rPr sz="1500">
                <a:solidFill>
                  <a:srgbClr val="E8EEF2"/>
                </a:solidFill>
                <a:latin typeface="Consolas"/>
              </a:rPr>
              <a:t>   20           4471           1902           1902              0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 dhcp snooping binding | include 192.168.20</a:t>
            </a:r>
          </a:p>
        </p:txBody>
      </p:sp>
      <p:sp>
        <p:nvSpPr>
          <p:cNvPr id="6"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7"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binding query returns nothing for the server subnet. The servers and printers are statically addressed, so they never leased anything and never appeared in the snooping binding table.</a:t>
            </a:r>
          </a:p>
          <a:p>
            <a:pPr algn="l">
              <a:lnSpc>
                <a:spcPct val="100000"/>
              </a:lnSpc>
              <a:spcAft>
                <a:spcPts val="1000"/>
              </a:spcAft>
            </a:pPr>
            <a:r>
              <a:rPr sz="1900" b="0" i="0">
                <a:solidFill>
                  <a:srgbClr val="1C252B"/>
                </a:solidFill>
                <a:latin typeface="Segoe UI"/>
              </a:rPr>
              <a:t>DAI validates every ARP message on an untrusted port against that table. With no entry, every ARP reply these devices send is dropped — so no other host can ever resolve their MAC address, and they become unreachable while remaining perfectly healthy. The </a:t>
            </a:r>
            <a:r>
              <a:rPr sz="1800" b="0" i="0">
                <a:solidFill>
                  <a:srgbClr val="1A5276"/>
                </a:solidFill>
                <a:latin typeface="Consolas"/>
              </a:rPr>
              <a:t>DHCP Drops</a:t>
            </a:r>
            <a:r>
              <a:rPr sz="1900" b="0" i="0">
                <a:solidFill>
                  <a:srgbClr val="1C252B"/>
                </a:solidFill>
                <a:latin typeface="Segoe UI"/>
              </a:rPr>
              <a:t> column confirms it: 1902 packets dropped specifically for having no binding, and zero ACL drops because no ARP ACL exists.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Two details make the diagnosis clean. First, DHCP clients are unaffected — they have bindings, so this is not a general layer 2 fault. Second, the devices are unreachable </a:t>
            </a:r>
            <a:r>
              <a:rPr sz="1900" b="0" i="1">
                <a:solidFill>
                  <a:srgbClr val="1C252B"/>
                </a:solidFill>
                <a:latin typeface="Segoe UI"/>
              </a:rPr>
              <a:t>within</a:t>
            </a:r>
            <a:r>
              <a:rPr sz="1900" b="0" i="0">
                <a:solidFill>
                  <a:srgbClr val="1C252B"/>
                </a:solidFill>
                <a:latin typeface="Segoe UI"/>
              </a:rPr>
              <a:t> their own VLAN, which rules out routing entirely: ARP is the only thing that operates there.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 ARP ACL for the static estate</a:t>
            </a:r>
          </a:p>
        </p:txBody>
      </p:sp>
      <p:sp>
        <p:nvSpPr>
          <p:cNvPr id="6" name="bfcodebg"/>
          <p:cNvSpPr/>
          <p:nvPr/>
        </p:nvSpPr>
        <p:spPr>
          <a:xfrm>
            <a:off x="685800" y="2011680"/>
            <a:ext cx="10820095" cy="225704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9" name="bfcode"/>
          <p:cNvSpPr txBox="1"/>
          <p:nvPr/>
        </p:nvSpPr>
        <p:spPr>
          <a:xfrm>
            <a:off x="886968" y="2432304"/>
            <a:ext cx="10417759" cy="178155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arp access-list STATIC-HOSTS</a:t>
            </a:r>
          </a:p>
          <a:p>
            <a:pPr>
              <a:lnSpc>
                <a:spcPct val="100000"/>
              </a:lnSpc>
              <a:spcAft>
                <a:spcPts val="0"/>
              </a:spcAft>
            </a:pPr>
            <a:r>
              <a:rPr sz="1500">
                <a:solidFill>
                  <a:srgbClr val="E8EEF2"/>
                </a:solidFill>
                <a:latin typeface="Consolas"/>
              </a:rPr>
              <a:t> permit ip host 192.168.20.15 mac host 0011.2233.4455</a:t>
            </a:r>
          </a:p>
          <a:p>
            <a:pPr>
              <a:lnSpc>
                <a:spcPct val="100000"/>
              </a:lnSpc>
              <a:spcAft>
                <a:spcPts val="0"/>
              </a:spcAft>
            </a:pPr>
            <a:r>
              <a:rPr sz="1500">
                <a:solidFill>
                  <a:srgbClr val="E8EEF2"/>
                </a:solidFill>
                <a:latin typeface="Consolas"/>
              </a:rPr>
              <a:t> permit ip host 192.168.20.16 mac host 0011.2233.4456</a:t>
            </a:r>
          </a:p>
          <a:p>
            <a:pPr>
              <a:lnSpc>
                <a:spcPct val="100000"/>
              </a:lnSpc>
              <a:spcAft>
                <a:spcPts val="0"/>
              </a:spcAft>
            </a:pPr>
            <a:r>
              <a:rPr sz="1500">
                <a:solidFill>
                  <a:srgbClr val="E8EEF2"/>
                </a:solidFill>
                <a:latin typeface="Consolas"/>
              </a:rPr>
              <a:t> permit ip host 192.168.20.30 mac host 00aa.bbcc.dd01</a:t>
            </a:r>
          </a:p>
          <a:p>
            <a:pPr>
              <a:lnSpc>
                <a:spcPct val="100000"/>
              </a:lnSpc>
              <a:spcAft>
                <a:spcPts val="0"/>
              </a:spcAft>
            </a:pPr>
            <a:r>
              <a:rPr sz="1500">
                <a:solidFill>
                  <a:srgbClr val="E8EEF2"/>
                </a:solidFill>
                <a:latin typeface="Consolas"/>
              </a:rPr>
              <a:t> permit ip host 192.168.20.31 mac host 00aa.bbcc.dd02</a:t>
            </a:r>
          </a:p>
          <a:p>
            <a:pPr>
              <a:lnSpc>
                <a:spcPct val="100000"/>
              </a:lnSpc>
              <a:spcAft>
                <a:spcPts val="0"/>
              </a:spcAft>
            </a:pPr>
            <a:r>
              <a:rPr sz="1500">
                <a:solidFill>
                  <a:srgbClr val="E8EEF2"/>
                </a:solidFill>
                <a:latin typeface="Consolas"/>
              </a:rPr>
              <a:t>!</a:t>
            </a:r>
          </a:p>
          <a:p>
            <a:pPr>
              <a:lnSpc>
                <a:spcPct val="100000"/>
              </a:lnSpc>
              <a:spcAft>
                <a:spcPts val="0"/>
              </a:spcAft>
            </a:pPr>
            <a:r>
              <a:rPr sz="1500">
                <a:solidFill>
                  <a:srgbClr val="E8EEF2"/>
                </a:solidFill>
                <a:latin typeface="Consolas"/>
              </a:rPr>
              <a:t>ip arp inspection filter STATIC-HOSTS vlan 20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25</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Give the static devices explicit permission.</a:t>
            </a:r>
          </a:p>
          <a:p>
            <a:pPr algn="l">
              <a:lnSpc>
                <a:spcPct val="100000"/>
              </a:lnSpc>
              <a:spcAft>
                <a:spcPts val="1000"/>
              </a:spcAft>
            </a:pPr>
            <a:r>
              <a:rPr sz="1900" b="1" i="0">
                <a:solidFill>
                  <a:srgbClr val="1C252B"/>
                </a:solidFill>
                <a:latin typeface="Segoe UI"/>
              </a:rPr>
              <a:t>The process lesson.</a:t>
            </a:r>
            <a:r>
              <a:rPr sz="1900" b="0" i="0">
                <a:solidFill>
                  <a:srgbClr val="1C252B"/>
                </a:solidFill>
                <a:latin typeface="Segoe UI"/>
              </a:rPr>
              <a:t> The rollout was not wrong, it was incomplete. DAI’s dependency on the binding table is documented and predictable, and the work that was skipped was the inventory: every statically addressed device, its address and its MAC, before the feature is enabled. On a site of any size, the alternative is DHCP reservations for those devices instead, so that they build bindings like everyone else — which is the better long-term answer.</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FOR TASKS 1–6; CML FOR RA GUARD</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Securing an access switch, one feature at a time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500" b="1" i="0">
                <a:solidFill>
                  <a:srgbClr val="1C252B"/>
                </a:solidFill>
                <a:latin typeface="Segoe UI"/>
              </a:rPr>
              <a:t>Platform note.</a:t>
            </a:r>
            <a:r>
              <a:rPr sz="1500" b="0" i="0">
                <a:solidFill>
                  <a:srgbClr val="1C252B"/>
                </a:solidFill>
                <a:latin typeface="Segoe UI"/>
              </a:rPr>
              <a:t> Packet Tracer supports port security, DHCP snooping, DAI and storm control. RA guard needs a real IOS image, so task 7 requires CML or GNS3.</a:t>
            </a:r>
          </a:p>
          <a:p>
            <a:pPr algn="l">
              <a:lnSpc>
                <a:spcPct val="100000"/>
              </a:lnSpc>
              <a:spcAft>
                <a:spcPts val="1000"/>
              </a:spcAft>
            </a:pPr>
            <a:r>
              <a:rPr sz="1500" b="1" i="0">
                <a:solidFill>
                  <a:srgbClr val="1C252B"/>
                </a:solidFill>
                <a:latin typeface="Segoe UI"/>
              </a:rPr>
              <a:t>Topology.</a:t>
            </a:r>
            <a:r>
              <a:rPr sz="1500" b="0" i="0">
                <a:solidFill>
                  <a:srgbClr val="1C252B"/>
                </a:solidFill>
                <a:latin typeface="Segoe UI"/>
              </a:rPr>
              <a:t> </a:t>
            </a:r>
            <a:r>
              <a:rPr sz="1400" b="0" i="0">
                <a:solidFill>
                  <a:srgbClr val="1A5276"/>
                </a:solidFill>
                <a:latin typeface="Consolas"/>
              </a:rPr>
              <a:t>SW1</a:t>
            </a:r>
            <a:r>
              <a:rPr sz="1500" b="0" i="0">
                <a:solidFill>
                  <a:srgbClr val="1C252B"/>
                </a:solidFill>
                <a:latin typeface="Segoe UI"/>
              </a:rPr>
              <a:t> with access ports in VLANs 10 and 20, an uplink to </a:t>
            </a:r>
            <a:r>
              <a:rPr sz="1400" b="0" i="0">
                <a:solidFill>
                  <a:srgbClr val="1A5276"/>
                </a:solidFill>
                <a:latin typeface="Consolas"/>
              </a:rPr>
              <a:t>DSW1</a:t>
            </a:r>
            <a:r>
              <a:rPr sz="1500" b="0" i="0">
                <a:solidFill>
                  <a:srgbClr val="1C252B"/>
                </a:solidFill>
                <a:latin typeface="Segoe UI"/>
              </a:rPr>
              <a:t>, a DHCP server beyond it, one statically addressed server in VLAN 20, a laptop you will use as the attacker, and an IP phone with a PC behind it.</a:t>
            </a:r>
          </a:p>
        </p:txBody>
      </p:sp>
      <p:sp>
        <p:nvSpPr>
          <p:cNvPr id="8" name="bullets"/>
          <p:cNvSpPr txBox="1"/>
          <p:nvPr/>
        </p:nvSpPr>
        <p:spPr>
          <a:xfrm>
            <a:off x="685800" y="2782823"/>
            <a:ext cx="10820095" cy="3599688"/>
          </a:xfrm>
          <a:prstGeom prst="rect">
            <a:avLst/>
          </a:prstGeom>
          <a:noFill/>
        </p:spPr>
        <p:txBody>
          <a:bodyPr wrap="square" lIns="0" rIns="0" tIns="0" bIns="0">
            <a:spAutoFit/>
          </a:bodyPr>
          <a:lstStyle/>
          <a:p>
            <a:pPr marL="289560" indent="-289560">
              <a:lnSpc>
                <a:spcPct val="102000"/>
              </a:lnSpc>
              <a:spcAft>
                <a:spcPts val="900"/>
              </a:spcAft>
            </a:pPr>
            <a:r>
              <a:rPr sz="1500" b="1">
                <a:solidFill>
                  <a:srgbClr val="922B21"/>
                </a:solidFill>
                <a:latin typeface="Segoe UI"/>
              </a:rPr>
              <a:t>1.  </a:t>
            </a:r>
            <a:r>
              <a:rPr sz="1500" b="0" i="0">
                <a:solidFill>
                  <a:srgbClr val="1C252B"/>
                </a:solidFill>
                <a:latin typeface="Segoe UI"/>
              </a:rPr>
              <a:t>Baseline: confirm every host has connectivity and can obtain a lease. Record the MAC address of every device — you will need them.</a:t>
            </a:r>
          </a:p>
          <a:p>
            <a:pPr marL="289560" indent="-289560">
              <a:lnSpc>
                <a:spcPct val="102000"/>
              </a:lnSpc>
              <a:spcAft>
                <a:spcPts val="900"/>
              </a:spcAft>
            </a:pPr>
            <a:r>
              <a:rPr sz="1500" b="1">
                <a:solidFill>
                  <a:srgbClr val="922B21"/>
                </a:solidFill>
                <a:latin typeface="Segoe UI"/>
              </a:rPr>
              <a:t>2.  </a:t>
            </a:r>
            <a:r>
              <a:rPr sz="1500" b="0" i="0">
                <a:solidFill>
                  <a:srgbClr val="1C252B"/>
                </a:solidFill>
                <a:latin typeface="Segoe UI"/>
              </a:rPr>
              <a:t>Configure port security on one access port with a maximum of 1 and </a:t>
            </a:r>
            <a:r>
              <a:rPr sz="1400" b="0" i="0">
                <a:solidFill>
                  <a:srgbClr val="1A5276"/>
                </a:solidFill>
                <a:latin typeface="Consolas"/>
              </a:rPr>
              <a:t>violation shutdown</a:t>
            </a:r>
            <a:r>
              <a:rPr sz="1500" b="0" i="0">
                <a:solidFill>
                  <a:srgbClr val="1C252B"/>
                </a:solidFill>
                <a:latin typeface="Segoe UI"/>
              </a:rPr>
              <a:t>. Move the cable to a second device and observe the err-disable. Recover it manually, then configure automatic recovery and repeat.</a:t>
            </a:r>
          </a:p>
          <a:p>
            <a:pPr marL="289560" indent="-289560">
              <a:lnSpc>
                <a:spcPct val="102000"/>
              </a:lnSpc>
              <a:spcAft>
                <a:spcPts val="900"/>
              </a:spcAft>
            </a:pPr>
            <a:r>
              <a:rPr sz="1500" b="1">
                <a:solidFill>
                  <a:srgbClr val="922B21"/>
                </a:solidFill>
                <a:latin typeface="Segoe UI"/>
              </a:rPr>
              <a:t>3.  </a:t>
            </a:r>
            <a:r>
              <a:rPr sz="1500" b="0" i="0">
                <a:solidFill>
                  <a:srgbClr val="1C252B"/>
                </a:solidFill>
                <a:latin typeface="Segoe UI"/>
              </a:rPr>
              <a:t>Set the phone port to a maximum of 2 and confirm the violation. Raise it to 3 and confirm it clears. Explain the third address.</a:t>
            </a:r>
          </a:p>
          <a:p>
            <a:pPr marL="289560" indent="-289560">
              <a:lnSpc>
                <a:spcPct val="102000"/>
              </a:lnSpc>
              <a:spcAft>
                <a:spcPts val="900"/>
              </a:spcAft>
            </a:pPr>
            <a:r>
              <a:rPr sz="1500" b="1">
                <a:solidFill>
                  <a:srgbClr val="922B21"/>
                </a:solidFill>
                <a:latin typeface="Segoe UI"/>
              </a:rPr>
              <a:t>4.  </a:t>
            </a:r>
            <a:r>
              <a:rPr sz="1500" b="0" i="0">
                <a:solidFill>
                  <a:srgbClr val="1C252B"/>
                </a:solidFill>
                <a:latin typeface="Segoe UI"/>
              </a:rPr>
              <a:t>Configure sticky learning, verify with </a:t>
            </a:r>
            <a:r>
              <a:rPr sz="1400" b="0" i="0">
                <a:solidFill>
                  <a:srgbClr val="1A5276"/>
                </a:solidFill>
                <a:latin typeface="Consolas"/>
              </a:rPr>
              <a:t>show run interface</a:t>
            </a:r>
            <a:r>
              <a:rPr sz="1500" b="0" i="0">
                <a:solidFill>
                  <a:srgbClr val="1C252B"/>
                </a:solidFill>
                <a:latin typeface="Segoe UI"/>
              </a:rPr>
              <a:t>, then reload </a:t>
            </a:r>
            <a:r>
              <a:rPr sz="1500" b="0" i="1">
                <a:solidFill>
                  <a:srgbClr val="1C252B"/>
                </a:solidFill>
                <a:latin typeface="Segoe UI"/>
              </a:rPr>
              <a:t>without</a:t>
            </a:r>
            <a:r>
              <a:rPr sz="1500" b="0" i="0">
                <a:solidFill>
                  <a:srgbClr val="1C252B"/>
                </a:solidFill>
                <a:latin typeface="Segoe UI"/>
              </a:rPr>
              <a:t> saving. Explain what you find.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FOR TASKS 1–6; CML FOR RA GUARD</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Securing an access switch, one feature at a time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5.  </a:t>
            </a:r>
            <a:r>
              <a:rPr sz="2000" b="0" i="0">
                <a:solidFill>
                  <a:srgbClr val="1C252B"/>
                </a:solidFill>
                <a:latin typeface="Segoe UI"/>
              </a:rPr>
              <a:t>Attach the laptop running a DHCP server to an access port and confirm it can poison a client. Then enable DHCP snooping — </a:t>
            </a:r>
            <a:r>
              <a:rPr sz="2000" b="1" i="0">
                <a:solidFill>
                  <a:srgbClr val="1C252B"/>
                </a:solidFill>
                <a:latin typeface="Segoe UI"/>
              </a:rPr>
              <a:t>deliberately omitting</a:t>
            </a:r>
            <a:r>
              <a:rPr sz="2000" b="0" i="0">
                <a:solidFill>
                  <a:srgbClr val="1C252B"/>
                </a:solidFill>
                <a:latin typeface="Segoe UI"/>
              </a:rPr>
              <a:t> the trust on the uplink — and record the resulting symptom before fixing it.</a:t>
            </a:r>
          </a:p>
          <a:p>
            <a:pPr marL="386080" indent="-386080">
              <a:lnSpc>
                <a:spcPct val="102000"/>
              </a:lnSpc>
              <a:spcAft>
                <a:spcPts val="900"/>
              </a:spcAft>
            </a:pPr>
            <a:r>
              <a:rPr sz="2000" b="1">
                <a:solidFill>
                  <a:srgbClr val="922B21"/>
                </a:solidFill>
                <a:latin typeface="Segoe UI"/>
              </a:rPr>
              <a:t>6.  </a:t>
            </a:r>
            <a:r>
              <a:rPr sz="2000" b="0" i="0">
                <a:solidFill>
                  <a:srgbClr val="1C252B"/>
                </a:solidFill>
                <a:latin typeface="Segoe UI"/>
              </a:rPr>
              <a:t>Enable DAI. Confirm the statically addressed server becomes unreachable, diagnose it from </a:t>
            </a:r>
            <a:r>
              <a:rPr sz="1900" b="0" i="0">
                <a:solidFill>
                  <a:srgbClr val="1A5276"/>
                </a:solidFill>
                <a:latin typeface="Consolas"/>
              </a:rPr>
              <a:t>show ip arp inspection statistics</a:t>
            </a:r>
            <a:r>
              <a:rPr sz="2000" b="0" i="0">
                <a:solidFill>
                  <a:srgbClr val="1C252B"/>
                </a:solidFill>
                <a:latin typeface="Segoe UI"/>
              </a:rPr>
              <a:t>, and repair it with an ARP ACL.</a:t>
            </a:r>
          </a:p>
          <a:p>
            <a:pPr marL="386080" indent="-386080">
              <a:lnSpc>
                <a:spcPct val="102000"/>
              </a:lnSpc>
              <a:spcAft>
                <a:spcPts val="900"/>
              </a:spcAft>
            </a:pPr>
            <a:r>
              <a:rPr sz="2000" b="1">
                <a:solidFill>
                  <a:srgbClr val="922B21"/>
                </a:solidFill>
                <a:latin typeface="Segoe UI"/>
              </a:rPr>
              <a:t>7.  </a:t>
            </a:r>
            <a:r>
              <a:rPr sz="2000" b="0" i="0">
                <a:solidFill>
                  <a:srgbClr val="1C252B"/>
                </a:solidFill>
                <a:latin typeface="Segoe UI"/>
              </a:rPr>
              <a:t>Configure storm control at 1% with </a:t>
            </a:r>
            <a:r>
              <a:rPr sz="1900" b="0" i="0">
                <a:solidFill>
                  <a:srgbClr val="1A5276"/>
                </a:solidFill>
                <a:latin typeface="Consolas"/>
              </a:rPr>
              <a:t>action trap</a:t>
            </a:r>
            <a:r>
              <a:rPr sz="2000" b="0" i="0">
                <a:solidFill>
                  <a:srgbClr val="1C252B"/>
                </a:solidFill>
                <a:latin typeface="Segoe UI"/>
              </a:rPr>
              <a:t>, generate broadcast traffic, and watch the filter state change. Then change to </a:t>
            </a:r>
            <a:r>
              <a:rPr sz="1900" b="0" i="0">
                <a:solidFill>
                  <a:srgbClr val="1A5276"/>
                </a:solidFill>
                <a:latin typeface="Consolas"/>
              </a:rPr>
              <a:t>action shutdown</a:t>
            </a:r>
            <a:r>
              <a:rPr sz="2000" b="0" i="0">
                <a:solidFill>
                  <a:srgbClr val="1C252B"/>
                </a:solidFill>
                <a:latin typeface="Segoe UI"/>
              </a:rPr>
              <a:t> and compare the consequences.</a:t>
            </a:r>
          </a:p>
          <a:p>
            <a:pPr marL="386080" indent="-386080">
              <a:lnSpc>
                <a:spcPct val="102000"/>
              </a:lnSpc>
              <a:spcAft>
                <a:spcPts val="900"/>
              </a:spcAft>
            </a:pPr>
            <a:r>
              <a:rPr sz="2000" b="1">
                <a:solidFill>
                  <a:srgbClr val="922B21"/>
                </a:solidFill>
                <a:latin typeface="Segoe UI"/>
              </a:rPr>
              <a:t>8.  </a:t>
            </a:r>
            <a:r>
              <a:rPr sz="2000" b="1" i="0">
                <a:solidFill>
                  <a:srgbClr val="1C252B"/>
                </a:solidFill>
                <a:latin typeface="Segoe UI"/>
              </a:rPr>
              <a:t>RA guard (CML).</a:t>
            </a:r>
            <a:r>
              <a:rPr sz="2000" b="0" i="0">
                <a:solidFill>
                  <a:srgbClr val="1C252B"/>
                </a:solidFill>
                <a:latin typeface="Segoe UI"/>
              </a:rPr>
              <a:t> Enable IPv6 on the VLAN, confirm hosts get addresses by SLAAC, then advertise a rogue prefix from the laptop. Observe the hosts move to it. Apply RA guard and confirm the rogue RAs are dropped.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FOR TASKS 1–6; CML FOR RA GUARD</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Securing an access switch, one feature at a time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9.  </a:t>
            </a:r>
            <a:r>
              <a:rPr sz="2000" b="1" i="0">
                <a:solidFill>
                  <a:srgbClr val="1C252B"/>
                </a:solidFill>
                <a:latin typeface="Segoe UI"/>
              </a:rPr>
              <a:t>Extension.</a:t>
            </a:r>
            <a:r>
              <a:rPr sz="2000" b="0" i="0">
                <a:solidFill>
                  <a:srgbClr val="1C252B"/>
                </a:solidFill>
                <a:latin typeface="Segoe UI"/>
              </a:rPr>
              <a:t> Write the deployment runbook you would actually use for this rollout: the order, the pre-checks, what you would verify after each step, and the rollback for each.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Name each of the five features and the specific abuse it prevents.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Name each of the five features and the specific abuse it prevents.</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Port security — one device claiming many MAC addresses or an unauthorised device. DHCP snooping — a rogue DHCP server. Dynamic ARP inspection — ARP poisoning. Storm control — flooding. RA guard — a rogue IPv6 router.</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must DHCP snooping be configured before DAI, and what does DAI consult?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must DHCP snooping be configured before DAI, and what does DAI consult?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DAI validates ARP against the DHCP snooping </a:t>
            </a:r>
            <a:r>
              <a:rPr sz="1900" b="1" i="0">
                <a:solidFill>
                  <a:srgbClr val="1C252B"/>
                </a:solidFill>
                <a:latin typeface="Segoe UI"/>
              </a:rPr>
              <a:t>binding table</a:t>
            </a:r>
            <a:r>
              <a:rPr sz="1900" b="0" i="0">
                <a:solidFill>
                  <a:srgbClr val="1C252B"/>
                </a:solidFill>
                <a:latin typeface="Segoe UI"/>
              </a:rPr>
              <a:t>, which records which MAC legitimately holds which IP on which port. Without snooping running there is no table, and DAI has nothing to validate against.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wrong with </a:t>
            </a:r>
            <a:r>
              <a:rPr sz="2900" b="0" i="0">
                <a:solidFill>
                  <a:srgbClr val="FFFFFF"/>
                </a:solidFill>
                <a:latin typeface="Consolas"/>
              </a:rPr>
              <a:t>violation protect</a:t>
            </a:r>
            <a:r>
              <a:rPr sz="3000" b="0" i="0">
                <a:solidFill>
                  <a:srgbClr val="FFFFFF"/>
                </a:solidFill>
                <a:latin typeface="Segoe UI"/>
              </a:rPr>
              <a: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wrong with </a:t>
            </a:r>
            <a:r>
              <a:rPr sz="1900" b="1" i="0">
                <a:solidFill>
                  <a:srgbClr val="1A5276"/>
                </a:solidFill>
                <a:latin typeface="Consolas"/>
              </a:rPr>
              <a:t>violation protect</a:t>
            </a:r>
            <a:r>
              <a:rPr sz="2000" b="1" i="0">
                <a:solidFill>
                  <a:srgbClr val="1A5276"/>
                </a:solidFill>
                <a:latin typeface="Segoe UI"/>
              </a:rPr>
              <a: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drops offending traffic silently — no counter, no log, no trap. A user whose traffic is being discarded reports “the network is slow” and nothing anywhere records why. Prefer </a:t>
            </a:r>
            <a:r>
              <a:rPr sz="1800" b="0" i="0">
                <a:solidFill>
                  <a:srgbClr val="1A5276"/>
                </a:solidFill>
                <a:latin typeface="Consolas"/>
              </a:rPr>
              <a:t>restrict</a:t>
            </a:r>
            <a:r>
              <a:rPr sz="1900" b="0" i="0">
                <a:solidFill>
                  <a:srgbClr val="1C252B"/>
                </a:solidFill>
                <a:latin typeface="Segoe UI"/>
              </a:rPr>
              <a:t>, which drops and reports.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3 the right port-security maximum on a port with a phone and a PC?</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3 the right port-security maximum on a port with a phone and a PC?</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 phone appears in the voice VLAN, the PC in the data VLAN, and the phone commonly registers a second address of its own. A maximum of 2 produces violations that come and go with phone firmware.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statically addressed printer stops responding after DAI is enabled. Explain the mechanism and give the fix.</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statically addressed printer stops responding after DAI is enabled. Explain the mechanism and give the fix.</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is statically addressed, so it never took a DHCP lease and has no entry in the snooping binding table. DAI therefore drops every ARP reply it sends, so nothing can resolve its MAC address and it becomes unreachable while remaining healthy. Fix with an ARP ACL naming its address and MAC, applied with </a:t>
            </a:r>
            <a:r>
              <a:rPr sz="1800" b="0" i="0">
                <a:solidFill>
                  <a:srgbClr val="1A5276"/>
                </a:solidFill>
                <a:latin typeface="Consolas"/>
              </a:rPr>
              <a:t>ip arp inspection filter</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Which two ports on an access switch almost always need to be trusted, and for which two features?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Which two ports on an access switch almost always need to be trusted, and for which two features?</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uplink toward the distribution layer, for </a:t>
            </a:r>
            <a:r>
              <a:rPr sz="1900" b="1" i="0">
                <a:solidFill>
                  <a:srgbClr val="1C252B"/>
                </a:solidFill>
                <a:latin typeface="Segoe UI"/>
              </a:rPr>
              <a:t>DHCP snooping</a:t>
            </a:r>
            <a:r>
              <a:rPr sz="1900" b="0" i="0">
                <a:solidFill>
                  <a:srgbClr val="1C252B"/>
                </a:solidFill>
                <a:latin typeface="Segoe UI"/>
              </a:rPr>
              <a:t> and for </a:t>
            </a:r>
            <a:r>
              <a:rPr sz="1900" b="1" i="0">
                <a:solidFill>
                  <a:srgbClr val="1C252B"/>
                </a:solidFill>
                <a:latin typeface="Segoe UI"/>
              </a:rPr>
              <a:t>dynamic ARP inspection</a:t>
            </a:r>
            <a:r>
              <a:rPr sz="1900" b="0" i="0">
                <a:solidFill>
                  <a:srgbClr val="1C252B"/>
                </a:solidFill>
                <a:latin typeface="Segoe UI"/>
              </a:rPr>
              <a:t>. Untrusted uplinks take out the whole switch in both cases.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Five features, five abuses: port security (identity), DHCP snooping (rogue server), DAI (ARP poisoning), storm control (flooding), RA guard (rogue IPv6 router).</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Port security needs </a:t>
            </a:r>
            <a:r>
              <a:rPr sz="1900" b="0" i="0">
                <a:solidFill>
                  <a:srgbClr val="1A5276"/>
                </a:solidFill>
                <a:latin typeface="Consolas"/>
              </a:rPr>
              <a:t>switchport mode access</a:t>
            </a:r>
            <a:r>
              <a:rPr sz="2000" b="0" i="0">
                <a:solidFill>
                  <a:srgbClr val="1C252B"/>
                </a:solidFill>
                <a:latin typeface="Segoe UI"/>
              </a:rPr>
              <a:t> first. Maximum 3 for a phone plus PC. </a:t>
            </a:r>
            <a:r>
              <a:rPr sz="1900" b="0" i="0">
                <a:solidFill>
                  <a:srgbClr val="1A5276"/>
                </a:solidFill>
                <a:latin typeface="Consolas"/>
              </a:rPr>
              <a:t>restrict</a:t>
            </a:r>
            <a:r>
              <a:rPr sz="2000" b="0" i="0">
                <a:solidFill>
                  <a:srgbClr val="1C252B"/>
                </a:solidFill>
                <a:latin typeface="Segoe UI"/>
              </a:rPr>
              <a:t> for evidence without an outage, </a:t>
            </a:r>
            <a:r>
              <a:rPr sz="1900" b="0" i="0">
                <a:solidFill>
                  <a:srgbClr val="1A5276"/>
                </a:solidFill>
                <a:latin typeface="Consolas"/>
              </a:rPr>
              <a:t>shutdown</a:t>
            </a:r>
            <a:r>
              <a:rPr sz="2000" b="0" i="0">
                <a:solidFill>
                  <a:srgbClr val="1C252B"/>
                </a:solidFill>
                <a:latin typeface="Segoe UI"/>
              </a:rPr>
              <a:t> for enforcement, </a:t>
            </a:r>
            <a:r>
              <a:rPr sz="1900" b="0" i="0">
                <a:solidFill>
                  <a:srgbClr val="1A5276"/>
                </a:solidFill>
                <a:latin typeface="Consolas"/>
              </a:rPr>
              <a:t>protect</a:t>
            </a:r>
            <a:r>
              <a:rPr sz="2000" b="0" i="0">
                <a:solidFill>
                  <a:srgbClr val="1C252B"/>
                </a:solidFill>
                <a:latin typeface="Segoe UI"/>
              </a:rPr>
              <a:t> essentially never.</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Sticky addresses live in the running configuration only until you save.</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Recover an err-disabled port with </a:t>
            </a:r>
            <a:r>
              <a:rPr sz="1900" b="0" i="0">
                <a:solidFill>
                  <a:srgbClr val="1A5276"/>
                </a:solidFill>
                <a:latin typeface="Consolas"/>
              </a:rPr>
              <a:t>shutdown</a:t>
            </a:r>
            <a:r>
              <a:rPr sz="2000" b="0" i="0">
                <a:solidFill>
                  <a:srgbClr val="1C252B"/>
                </a:solidFill>
                <a:latin typeface="Segoe UI"/>
              </a:rPr>
              <a:t> then </a:t>
            </a:r>
            <a:r>
              <a:rPr sz="1900" b="0" i="0">
                <a:solidFill>
                  <a:srgbClr val="1A5276"/>
                </a:solidFill>
                <a:latin typeface="Consolas"/>
              </a:rPr>
              <a:t>no shutdown</a:t>
            </a:r>
            <a:r>
              <a:rPr sz="2000" b="0" i="0">
                <a:solidFill>
                  <a:srgbClr val="1C252B"/>
                </a:solidFill>
                <a:latin typeface="Segoe UI"/>
              </a:rPr>
              <a:t>, or configure </a:t>
            </a:r>
            <a:r>
              <a:rPr sz="1900" b="0" i="0">
                <a:solidFill>
                  <a:srgbClr val="1A5276"/>
                </a:solidFill>
                <a:latin typeface="Consolas"/>
              </a:rPr>
              <a:t>errdisable recovery</a:t>
            </a:r>
            <a:r>
              <a:rPr sz="2000" b="0" i="0">
                <a:solidFill>
                  <a:srgbClr val="1C252B"/>
                </a:solidFill>
                <a:latin typeface="Segoe UI"/>
              </a:rPr>
              <a:t>.</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DHCP snooping makes every port untrusted; trust the uplink, and expect to disable option 82 insertion.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25. Layer 2 Security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4.7</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Its binding table is what DAI validates against — which is why statically addressed devices need an ARP ACL.</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Storm control has a rising and a falling threshold; </a:t>
            </a:r>
            <a:r>
              <a:rPr sz="1900" b="0" i="0">
                <a:solidFill>
                  <a:srgbClr val="1A5276"/>
                </a:solidFill>
                <a:latin typeface="Consolas"/>
              </a:rPr>
              <a:t>trap</a:t>
            </a:r>
            <a:r>
              <a:rPr sz="2000" b="0" i="0">
                <a:solidFill>
                  <a:srgbClr val="1C252B"/>
                </a:solidFill>
                <a:latin typeface="Segoe UI"/>
              </a:rPr>
              <a:t> suppresses and reports, </a:t>
            </a:r>
            <a:r>
              <a:rPr sz="1900" b="0" i="0">
                <a:solidFill>
                  <a:srgbClr val="1A5276"/>
                </a:solidFill>
                <a:latin typeface="Consolas"/>
              </a:rPr>
              <a:t>shutdown</a:t>
            </a:r>
            <a:r>
              <a:rPr sz="2000" b="0" i="0">
                <a:solidFill>
                  <a:srgbClr val="1C252B"/>
                </a:solidFill>
                <a:latin typeface="Segoe UI"/>
              </a:rPr>
              <a:t> err-disables.</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RA guard classifies ports as </a:t>
            </a:r>
            <a:r>
              <a:rPr sz="1900" b="0" i="0">
                <a:solidFill>
                  <a:srgbClr val="1A5276"/>
                </a:solidFill>
                <a:latin typeface="Consolas"/>
              </a:rPr>
              <a:t>host</a:t>
            </a:r>
            <a:r>
              <a:rPr sz="2000" b="0" i="0">
                <a:solidFill>
                  <a:srgbClr val="1C252B"/>
                </a:solidFill>
                <a:latin typeface="Segoe UI"/>
              </a:rPr>
              <a:t> or </a:t>
            </a:r>
            <a:r>
              <a:rPr sz="1900" b="0" i="0">
                <a:solidFill>
                  <a:srgbClr val="1A5276"/>
                </a:solidFill>
                <a:latin typeface="Consolas"/>
              </a:rPr>
              <a:t>router</a:t>
            </a:r>
            <a:r>
              <a:rPr sz="2000" b="0" i="0">
                <a:solidFill>
                  <a:srgbClr val="1C252B"/>
                </a:solidFill>
                <a:latin typeface="Segoe UI"/>
              </a:rPr>
              <a:t> and drops RAs from hosts.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Five features, five abuses: port security (identity), DHCP snooping (rogue server), DAI (ARP poisoning), storm control (flooding), RA guard (rogue IPv6 router).</a:t>
            </a:r>
          </a:p>
          <a:p>
            <a:pPr marL="217169" indent="-217169">
              <a:spcAft>
                <a:spcPts val="900"/>
              </a:spcAft>
            </a:pPr>
            <a:r>
              <a:rPr sz="1900">
                <a:solidFill>
                  <a:srgbClr val="C8D6E5"/>
                </a:solidFill>
              </a:rPr>
              <a:t>•  </a:t>
            </a:r>
            <a:r>
              <a:rPr sz="1900" b="0" i="0">
                <a:solidFill>
                  <a:srgbClr val="FFFFFF"/>
                </a:solidFill>
                <a:latin typeface="Segoe UI"/>
              </a:rPr>
              <a:t>Port security needs </a:t>
            </a:r>
            <a:r>
              <a:rPr sz="1800" b="0" i="0">
                <a:solidFill>
                  <a:srgbClr val="FFFFFF"/>
                </a:solidFill>
                <a:latin typeface="Consolas"/>
              </a:rPr>
              <a:t>switchport mode access</a:t>
            </a:r>
            <a:r>
              <a:rPr sz="1900" b="0" i="0">
                <a:solidFill>
                  <a:srgbClr val="FFFFFF"/>
                </a:solidFill>
                <a:latin typeface="Segoe UI"/>
              </a:rPr>
              <a:t> first. Maximum 3 for a phone plus PC. </a:t>
            </a:r>
            <a:r>
              <a:rPr sz="1800" b="0" i="0">
                <a:solidFill>
                  <a:srgbClr val="FFFFFF"/>
                </a:solidFill>
                <a:latin typeface="Consolas"/>
              </a:rPr>
              <a:t>restrict</a:t>
            </a:r>
            <a:r>
              <a:rPr sz="1900" b="0" i="0">
                <a:solidFill>
                  <a:srgbClr val="FFFFFF"/>
                </a:solidFill>
                <a:latin typeface="Segoe UI"/>
              </a:rPr>
              <a:t> for evidence without an outage, </a:t>
            </a:r>
            <a:r>
              <a:rPr sz="1800" b="0" i="0">
                <a:solidFill>
                  <a:srgbClr val="FFFFFF"/>
                </a:solidFill>
                <a:latin typeface="Consolas"/>
              </a:rPr>
              <a:t>shutdown</a:t>
            </a:r>
            <a:r>
              <a:rPr sz="1900" b="0" i="0">
                <a:solidFill>
                  <a:srgbClr val="FFFFFF"/>
                </a:solidFill>
                <a:latin typeface="Segoe UI"/>
              </a:rPr>
              <a:t> for enforcement, </a:t>
            </a:r>
            <a:r>
              <a:rPr sz="1800" b="0" i="0">
                <a:solidFill>
                  <a:srgbClr val="FFFFFF"/>
                </a:solidFill>
                <a:latin typeface="Consolas"/>
              </a:rPr>
              <a:t>protect</a:t>
            </a:r>
            <a:r>
              <a:rPr sz="1900" b="0" i="0">
                <a:solidFill>
                  <a:srgbClr val="FFFFFF"/>
                </a:solidFill>
                <a:latin typeface="Segoe UI"/>
              </a:rPr>
              <a:t> essentially never.</a:t>
            </a:r>
          </a:p>
          <a:p>
            <a:pPr marL="217169" indent="-217169">
              <a:spcAft>
                <a:spcPts val="900"/>
              </a:spcAft>
            </a:pPr>
            <a:r>
              <a:rPr sz="1900">
                <a:solidFill>
                  <a:srgbClr val="C8D6E5"/>
                </a:solidFill>
              </a:rPr>
              <a:t>•  </a:t>
            </a:r>
            <a:r>
              <a:rPr sz="1900" b="0" i="0">
                <a:solidFill>
                  <a:srgbClr val="FFFFFF"/>
                </a:solidFill>
                <a:latin typeface="Segoe UI"/>
              </a:rPr>
              <a:t>Sticky addresses live in the running configuration only until you save.</a:t>
            </a:r>
          </a:p>
          <a:p>
            <a:pPr marL="217169" indent="-217169">
              <a:spcAft>
                <a:spcPts val="900"/>
              </a:spcAft>
            </a:pPr>
            <a:r>
              <a:rPr sz="1900">
                <a:solidFill>
                  <a:srgbClr val="C8D6E5"/>
                </a:solidFill>
              </a:rPr>
              <a:t>•  </a:t>
            </a:r>
            <a:r>
              <a:rPr sz="1900" b="0" i="0">
                <a:solidFill>
                  <a:srgbClr val="FFFFFF"/>
                </a:solidFill>
                <a:latin typeface="Segoe UI"/>
              </a:rPr>
              <a:t>Recover an err-disabled port with </a:t>
            </a:r>
            <a:r>
              <a:rPr sz="1800" b="0" i="0">
                <a:solidFill>
                  <a:srgbClr val="FFFFFF"/>
                </a:solidFill>
                <a:latin typeface="Consolas"/>
              </a:rPr>
              <a:t>shutdown</a:t>
            </a:r>
            <a:r>
              <a:rPr sz="1900" b="0" i="0">
                <a:solidFill>
                  <a:srgbClr val="FFFFFF"/>
                </a:solidFill>
                <a:latin typeface="Segoe UI"/>
              </a:rPr>
              <a:t> then </a:t>
            </a:r>
            <a:r>
              <a:rPr sz="1800" b="0" i="0">
                <a:solidFill>
                  <a:srgbClr val="FFFFFF"/>
                </a:solidFill>
                <a:latin typeface="Consolas"/>
              </a:rPr>
              <a:t>no shutdown</a:t>
            </a:r>
            <a:r>
              <a:rPr sz="1900" b="0" i="0">
                <a:solidFill>
                  <a:srgbClr val="FFFFFF"/>
                </a:solidFill>
                <a:latin typeface="Segoe UI"/>
              </a:rPr>
              <a:t>, or configure </a:t>
            </a:r>
            <a:r>
              <a:rPr sz="1800" b="0" i="0">
                <a:solidFill>
                  <a:srgbClr val="FFFFFF"/>
                </a:solidFill>
                <a:latin typeface="Consolas"/>
              </a:rPr>
              <a:t>errdisable recovery</a:t>
            </a:r>
            <a:r>
              <a:rPr sz="1900" b="0" i="0">
                <a:solidFill>
                  <a:srgbClr val="FFFFFF"/>
                </a:solidFill>
                <a:latin typeface="Segoe UI"/>
              </a:rPr>
              <a:t>.</a:t>
            </a:r>
          </a:p>
        </p:txBody>
      </p:sp>
      <p:sp>
        <p:nvSpPr>
          <p:cNvPr id="5" name="nextbg"/>
          <p:cNvSpPr/>
          <p:nvPr/>
        </p:nvSpPr>
        <p:spPr>
          <a:xfrm>
            <a:off x="685800" y="5303520"/>
            <a:ext cx="10820095" cy="82296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26 — IPsec VPNs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