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30: Management Approaches, SNMP and Syslog. Blueprint topics: 5.3, 5.4, 5.6.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Approaches, SNMP and Syslog 5.35.45.6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 fetch one value. GetNext — fetch the next one in the tree, which is how a manager walks a whole table. GetBulk — fetch many at once. Added in v2c, and the reason polling a large switch is not painfully slow. Set — write a value, changing the device’s configuration or state. Powerful, and the reason read-write access needs treating as an administrative credential. Trap — the agent notifies the manager of an event. Fire and forget: sent once, over UDP, never acknowledged. Inform — the same, but acknowledged and retransmitted until it is. Added in v2c.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Syslog is where a device tells you what it did. Reading it fluently is the single most transferable skill in this chapter.</a:t>
            </a:r>
          </a:p>
          <a:p/>
          <a:p>
            <a:r>
              <a:t>Every IOS syslog message has the same four parts after the timestamp. The severity is the single digit between the two hyphens.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2" name="bg"/>
          <p:cNvSpPr/>
          <p:nvPr/>
        </p:nvSpPr>
        <p:spPr>
          <a:xfrm>
            <a:off x="0" y="0"/>
            <a:ext cx="12191695"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5A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30</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Management Approaches, SNMP and Syslog</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5.3"/>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5.3"/>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5.3</a:t>
            </a:r>
          </a:p>
        </p:txBody>
      </p:sp>
      <p:sp>
        <p:nvSpPr>
          <p:cNvPr id="11" name="chip-5.4"/>
          <p:cNvSpPr/>
          <p:nvPr/>
        </p:nvSpPr>
        <p:spPr>
          <a:xfrm>
            <a:off x="3136391"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iptx-5.4"/>
          <p:cNvSpPr txBox="1"/>
          <p:nvPr/>
        </p:nvSpPr>
        <p:spPr>
          <a:xfrm>
            <a:off x="3136391"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5.4</a:t>
            </a:r>
          </a:p>
        </p:txBody>
      </p:sp>
      <p:sp>
        <p:nvSpPr>
          <p:cNvPr id="13" name="chip-5.6"/>
          <p:cNvSpPr/>
          <p:nvPr/>
        </p:nvSpPr>
        <p:spPr>
          <a:xfrm>
            <a:off x="3831335"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iptx-5.6"/>
          <p:cNvSpPr txBox="1"/>
          <p:nvPr/>
        </p:nvSpPr>
        <p:spPr>
          <a:xfrm>
            <a:off x="3831335"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B7950B"/>
                </a:solidFill>
                <a:latin typeface="Segoe UI"/>
              </a:rPr>
              <a:t>5.6</a:t>
            </a:r>
          </a:p>
        </p:txBody>
      </p:sp>
      <p:sp>
        <p:nvSpPr>
          <p:cNvPr id="15"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6"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7"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8"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9"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20"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B7950B"/>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B7950B"/>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Describe</a:t>
            </a:r>
            <a:r>
              <a:rPr sz="2000" b="0" i="0">
                <a:solidFill>
                  <a:srgbClr val="1C252B"/>
                </a:solidFill>
                <a:latin typeface="Segoe UI"/>
              </a:rPr>
              <a:t> the five network management approaches the blueprint names, and tell controller-based from automation-based.</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Describe</a:t>
            </a:r>
            <a:r>
              <a:rPr sz="2000" b="0" i="0">
                <a:solidFill>
                  <a:srgbClr val="1C252B"/>
                </a:solidFill>
                <a:latin typeface="Segoe UI"/>
              </a:rPr>
              <a:t> how SNMP works, what its three versions differ on, and when to use a trap rather than an inform.</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Interpret</a:t>
            </a:r>
            <a:r>
              <a:rPr sz="2000" b="0" i="0">
                <a:solidFill>
                  <a:srgbClr val="1C252B"/>
                </a:solidFill>
                <a:latin typeface="Segoe UI"/>
              </a:rPr>
              <a:t> any IOS syslog message: facility, severity, mnemonic and description.</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Recite</a:t>
            </a:r>
            <a:r>
              <a:rPr sz="2000" b="0" i="0">
                <a:solidFill>
                  <a:srgbClr val="1C252B"/>
                </a:solidFill>
                <a:latin typeface="Segoe UI"/>
              </a:rPr>
              <a:t> the eight severity levels and explain what a logging threshold hides.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23 for secure management access and for why credentials in clear are unacceptable. Chapter 6 for UDP. Chapter 14 — you have already read syslog output there; this chapter makes it systematic.</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erm-device-based"/>
          <p:cNvSpPr/>
          <p:nvPr/>
        </p:nvSpPr>
        <p:spPr>
          <a:xfrm>
            <a:off x="685800" y="1609344"/>
            <a:ext cx="145503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device-based"/>
          <p:cNvSpPr/>
          <p:nvPr/>
        </p:nvSpPr>
        <p:spPr>
          <a:xfrm>
            <a:off x="685800"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device-based"/>
          <p:cNvSpPr txBox="1"/>
          <p:nvPr/>
        </p:nvSpPr>
        <p:spPr>
          <a:xfrm>
            <a:off x="850392" y="1700784"/>
            <a:ext cx="112585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device-based</a:t>
            </a:r>
          </a:p>
        </p:txBody>
      </p:sp>
      <p:sp>
        <p:nvSpPr>
          <p:cNvPr id="10" name="term-controller-based"/>
          <p:cNvSpPr/>
          <p:nvPr/>
        </p:nvSpPr>
        <p:spPr>
          <a:xfrm>
            <a:off x="2268854" y="1609344"/>
            <a:ext cx="168363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controller-based"/>
          <p:cNvSpPr/>
          <p:nvPr/>
        </p:nvSpPr>
        <p:spPr>
          <a:xfrm>
            <a:off x="2268854"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controller-based"/>
          <p:cNvSpPr txBox="1"/>
          <p:nvPr/>
        </p:nvSpPr>
        <p:spPr>
          <a:xfrm>
            <a:off x="2433447" y="1700784"/>
            <a:ext cx="135445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controller-based</a:t>
            </a:r>
          </a:p>
        </p:txBody>
      </p:sp>
      <p:sp>
        <p:nvSpPr>
          <p:cNvPr id="13" name="term-cloud-based"/>
          <p:cNvSpPr/>
          <p:nvPr/>
        </p:nvSpPr>
        <p:spPr>
          <a:xfrm>
            <a:off x="4080509" y="1609344"/>
            <a:ext cx="135788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cloud-based"/>
          <p:cNvSpPr/>
          <p:nvPr/>
        </p:nvSpPr>
        <p:spPr>
          <a:xfrm>
            <a:off x="408050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cloud-based"/>
          <p:cNvSpPr txBox="1"/>
          <p:nvPr/>
        </p:nvSpPr>
        <p:spPr>
          <a:xfrm>
            <a:off x="4245101" y="1700784"/>
            <a:ext cx="102869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cloud-based</a:t>
            </a:r>
          </a:p>
        </p:txBody>
      </p:sp>
      <p:sp>
        <p:nvSpPr>
          <p:cNvPr id="16" name="term-automation-based"/>
          <p:cNvSpPr/>
          <p:nvPr/>
        </p:nvSpPr>
        <p:spPr>
          <a:xfrm>
            <a:off x="5566409" y="1609344"/>
            <a:ext cx="183413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automation-based"/>
          <p:cNvSpPr/>
          <p:nvPr/>
        </p:nvSpPr>
        <p:spPr>
          <a:xfrm>
            <a:off x="556640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automation-based"/>
          <p:cNvSpPr txBox="1"/>
          <p:nvPr/>
        </p:nvSpPr>
        <p:spPr>
          <a:xfrm>
            <a:off x="5731001" y="1700784"/>
            <a:ext cx="150494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automation-based</a:t>
            </a:r>
          </a:p>
        </p:txBody>
      </p:sp>
      <p:sp>
        <p:nvSpPr>
          <p:cNvPr id="19" name="term-infrastructure as "/>
          <p:cNvSpPr/>
          <p:nvPr/>
        </p:nvSpPr>
        <p:spPr>
          <a:xfrm>
            <a:off x="7528559" y="1609344"/>
            <a:ext cx="210654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infrastructure as "/>
          <p:cNvSpPr/>
          <p:nvPr/>
        </p:nvSpPr>
        <p:spPr>
          <a:xfrm>
            <a:off x="7528559"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infrastructure as "/>
          <p:cNvSpPr txBox="1"/>
          <p:nvPr/>
        </p:nvSpPr>
        <p:spPr>
          <a:xfrm>
            <a:off x="7693151" y="1700784"/>
            <a:ext cx="177736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infrastructure as code</a:t>
            </a:r>
          </a:p>
        </p:txBody>
      </p:sp>
      <p:sp>
        <p:nvSpPr>
          <p:cNvPr id="22" name="term-SNMP manager"/>
          <p:cNvSpPr/>
          <p:nvPr/>
        </p:nvSpPr>
        <p:spPr>
          <a:xfrm>
            <a:off x="9763124" y="1609344"/>
            <a:ext cx="16188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SNMP manager"/>
          <p:cNvSpPr/>
          <p:nvPr/>
        </p:nvSpPr>
        <p:spPr>
          <a:xfrm>
            <a:off x="9763124" y="1609344"/>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SNMP manager"/>
          <p:cNvSpPr txBox="1"/>
          <p:nvPr/>
        </p:nvSpPr>
        <p:spPr>
          <a:xfrm>
            <a:off x="9927716" y="1700784"/>
            <a:ext cx="12896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SNMP manager</a:t>
            </a:r>
          </a:p>
        </p:txBody>
      </p:sp>
      <p:sp>
        <p:nvSpPr>
          <p:cNvPr id="25" name="term-agent"/>
          <p:cNvSpPr/>
          <p:nvPr/>
        </p:nvSpPr>
        <p:spPr>
          <a:xfrm>
            <a:off x="685800" y="2212848"/>
            <a:ext cx="77495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agent"/>
          <p:cNvSpPr/>
          <p:nvPr/>
        </p:nvSpPr>
        <p:spPr>
          <a:xfrm>
            <a:off x="68580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agent"/>
          <p:cNvSpPr txBox="1"/>
          <p:nvPr/>
        </p:nvSpPr>
        <p:spPr>
          <a:xfrm>
            <a:off x="850392" y="2304288"/>
            <a:ext cx="44576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agent</a:t>
            </a:r>
          </a:p>
        </p:txBody>
      </p:sp>
      <p:sp>
        <p:nvSpPr>
          <p:cNvPr id="28" name="term-MIB"/>
          <p:cNvSpPr/>
          <p:nvPr/>
        </p:nvSpPr>
        <p:spPr>
          <a:xfrm>
            <a:off x="1588769" y="2212848"/>
            <a:ext cx="67208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MIB"/>
          <p:cNvSpPr/>
          <p:nvPr/>
        </p:nvSpPr>
        <p:spPr>
          <a:xfrm>
            <a:off x="1588769"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MIB"/>
          <p:cNvSpPr txBox="1"/>
          <p:nvPr/>
        </p:nvSpPr>
        <p:spPr>
          <a:xfrm>
            <a:off x="1753361" y="2304288"/>
            <a:ext cx="34289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MIB</a:t>
            </a:r>
          </a:p>
        </p:txBody>
      </p:sp>
      <p:sp>
        <p:nvSpPr>
          <p:cNvPr id="31" name="term-OID"/>
          <p:cNvSpPr/>
          <p:nvPr/>
        </p:nvSpPr>
        <p:spPr>
          <a:xfrm>
            <a:off x="2388870" y="2212848"/>
            <a:ext cx="62255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OID"/>
          <p:cNvSpPr/>
          <p:nvPr/>
        </p:nvSpPr>
        <p:spPr>
          <a:xfrm>
            <a:off x="238887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OID"/>
          <p:cNvSpPr txBox="1"/>
          <p:nvPr/>
        </p:nvSpPr>
        <p:spPr>
          <a:xfrm>
            <a:off x="2553462" y="2304288"/>
            <a:ext cx="29337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OID</a:t>
            </a:r>
          </a:p>
        </p:txBody>
      </p:sp>
      <p:sp>
        <p:nvSpPr>
          <p:cNvPr id="34" name="term-community string"/>
          <p:cNvSpPr/>
          <p:nvPr/>
        </p:nvSpPr>
        <p:spPr>
          <a:xfrm>
            <a:off x="3139440" y="2212848"/>
            <a:ext cx="17846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community string"/>
          <p:cNvSpPr/>
          <p:nvPr/>
        </p:nvSpPr>
        <p:spPr>
          <a:xfrm>
            <a:off x="313944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community string"/>
          <p:cNvSpPr txBox="1"/>
          <p:nvPr/>
        </p:nvSpPr>
        <p:spPr>
          <a:xfrm>
            <a:off x="3304032" y="2304288"/>
            <a:ext cx="145541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community string</a:t>
            </a:r>
          </a:p>
        </p:txBody>
      </p:sp>
      <p:sp>
        <p:nvSpPr>
          <p:cNvPr id="37" name="term-trap"/>
          <p:cNvSpPr/>
          <p:nvPr/>
        </p:nvSpPr>
        <p:spPr>
          <a:xfrm>
            <a:off x="5052059" y="2212848"/>
            <a:ext cx="6377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trap"/>
          <p:cNvSpPr/>
          <p:nvPr/>
        </p:nvSpPr>
        <p:spPr>
          <a:xfrm>
            <a:off x="5052059"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trap"/>
          <p:cNvSpPr txBox="1"/>
          <p:nvPr/>
        </p:nvSpPr>
        <p:spPr>
          <a:xfrm>
            <a:off x="5216651" y="2304288"/>
            <a:ext cx="30861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trap</a:t>
            </a:r>
          </a:p>
        </p:txBody>
      </p:sp>
      <p:sp>
        <p:nvSpPr>
          <p:cNvPr id="40" name="term-inform"/>
          <p:cNvSpPr/>
          <p:nvPr/>
        </p:nvSpPr>
        <p:spPr>
          <a:xfrm>
            <a:off x="5817870" y="2212848"/>
            <a:ext cx="86258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inform"/>
          <p:cNvSpPr/>
          <p:nvPr/>
        </p:nvSpPr>
        <p:spPr>
          <a:xfrm>
            <a:off x="581787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inform"/>
          <p:cNvSpPr txBox="1"/>
          <p:nvPr/>
        </p:nvSpPr>
        <p:spPr>
          <a:xfrm>
            <a:off x="5982462" y="2304288"/>
            <a:ext cx="53340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inform</a:t>
            </a:r>
          </a:p>
        </p:txBody>
      </p:sp>
      <p:sp>
        <p:nvSpPr>
          <p:cNvPr id="43" name="term-facility"/>
          <p:cNvSpPr/>
          <p:nvPr/>
        </p:nvSpPr>
        <p:spPr>
          <a:xfrm>
            <a:off x="6808470" y="2212848"/>
            <a:ext cx="9063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facility"/>
          <p:cNvSpPr/>
          <p:nvPr/>
        </p:nvSpPr>
        <p:spPr>
          <a:xfrm>
            <a:off x="680847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facility"/>
          <p:cNvSpPr txBox="1"/>
          <p:nvPr/>
        </p:nvSpPr>
        <p:spPr>
          <a:xfrm>
            <a:off x="6973061" y="2304288"/>
            <a:ext cx="57721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facility</a:t>
            </a:r>
          </a:p>
        </p:txBody>
      </p:sp>
      <p:sp>
        <p:nvSpPr>
          <p:cNvPr id="46" name="term-severity"/>
          <p:cNvSpPr/>
          <p:nvPr/>
        </p:nvSpPr>
        <p:spPr>
          <a:xfrm>
            <a:off x="7842884" y="2212848"/>
            <a:ext cx="9864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severity"/>
          <p:cNvSpPr/>
          <p:nvPr/>
        </p:nvSpPr>
        <p:spPr>
          <a:xfrm>
            <a:off x="7842884"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severity"/>
          <p:cNvSpPr txBox="1"/>
          <p:nvPr/>
        </p:nvSpPr>
        <p:spPr>
          <a:xfrm>
            <a:off x="8007476" y="2304288"/>
            <a:ext cx="6572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severity</a:t>
            </a:r>
          </a:p>
        </p:txBody>
      </p:sp>
      <p:sp>
        <p:nvSpPr>
          <p:cNvPr id="49" name="term-mnemonic"/>
          <p:cNvSpPr/>
          <p:nvPr/>
        </p:nvSpPr>
        <p:spPr>
          <a:xfrm>
            <a:off x="8957310" y="2212848"/>
            <a:ext cx="120738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b-mnemonic"/>
          <p:cNvSpPr/>
          <p:nvPr/>
        </p:nvSpPr>
        <p:spPr>
          <a:xfrm>
            <a:off x="8957310" y="2212848"/>
            <a:ext cx="32004" cy="4754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t-mnemonic"/>
          <p:cNvSpPr txBox="1"/>
          <p:nvPr/>
        </p:nvSpPr>
        <p:spPr>
          <a:xfrm>
            <a:off x="9121901" y="2304288"/>
            <a:ext cx="87820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mnemonic</a:t>
            </a:r>
          </a:p>
        </p:txBody>
      </p:sp>
      <p:sp>
        <p:nvSpPr>
          <p:cNvPr id="52"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Three topics, three different verbs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B7950B"/>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1600" b="1">
                <a:solidFill>
                  <a:srgbClr val="B7950B"/>
                </a:solidFill>
                <a:latin typeface="Segoe UI"/>
              </a:rPr>
              <a:t> 5.3 </a:t>
            </a:r>
            <a:r>
              <a:rPr sz="2000" b="0" i="0">
                <a:solidFill>
                  <a:srgbClr val="1C252B"/>
                </a:solidFill>
                <a:latin typeface="Segoe UI"/>
              </a:rPr>
              <a:t> </a:t>
            </a:r>
            <a:r>
              <a:rPr sz="2000" b="0" i="1">
                <a:solidFill>
                  <a:srgbClr val="1C252B"/>
                </a:solidFill>
                <a:latin typeface="Segoe UI"/>
              </a:rPr>
              <a:t>describe network management approaches (device-based, cloud-based, controller-based, automation-based, and infrastructure as code)</a:t>
            </a:r>
            <a:r>
              <a:rPr sz="2000" b="0" i="0">
                <a:solidFill>
                  <a:srgbClr val="1C252B"/>
                </a:solidFill>
                <a:latin typeface="Segoe UI"/>
              </a:rPr>
              <a:t> — five named approaches, so expect a matching or scenario question.</a:t>
            </a:r>
          </a:p>
          <a:p>
            <a:pPr algn="l">
              <a:lnSpc>
                <a:spcPct val="100000"/>
              </a:lnSpc>
              <a:spcAft>
                <a:spcPts val="1000"/>
              </a:spcAft>
            </a:pPr>
            <a:r>
              <a:rPr sz="1600" b="1">
                <a:solidFill>
                  <a:srgbClr val="B7950B"/>
                </a:solidFill>
                <a:latin typeface="Segoe UI"/>
              </a:rPr>
              <a:t> 5.4 </a:t>
            </a:r>
            <a:r>
              <a:rPr sz="2000" b="0" i="0">
                <a:solidFill>
                  <a:srgbClr val="1C252B"/>
                </a:solidFill>
                <a:latin typeface="Segoe UI"/>
              </a:rPr>
              <a:t> </a:t>
            </a:r>
            <a:r>
              <a:rPr sz="2000" b="0" i="1">
                <a:solidFill>
                  <a:srgbClr val="1C252B"/>
                </a:solidFill>
                <a:latin typeface="Segoe UI"/>
              </a:rPr>
              <a:t>describe the function of SNMP in network operations</a:t>
            </a:r>
            <a:r>
              <a:rPr sz="2000" b="0" i="0">
                <a:solidFill>
                  <a:srgbClr val="1C252B"/>
                </a:solidFill>
                <a:latin typeface="Segoe UI"/>
              </a:rPr>
              <a:t> — function, not configuration. What it does and how, not how to type it.</a:t>
            </a:r>
          </a:p>
          <a:p>
            <a:pPr algn="l">
              <a:lnSpc>
                <a:spcPct val="100000"/>
              </a:lnSpc>
              <a:spcAft>
                <a:spcPts val="1000"/>
              </a:spcAft>
            </a:pPr>
            <a:r>
              <a:rPr sz="1600" b="1">
                <a:solidFill>
                  <a:srgbClr val="B7950B"/>
                </a:solidFill>
                <a:latin typeface="Segoe UI"/>
              </a:rPr>
              <a:t> 5.6 </a:t>
            </a:r>
            <a:r>
              <a:rPr sz="2000" b="0" i="0">
                <a:solidFill>
                  <a:srgbClr val="1C252B"/>
                </a:solidFill>
                <a:latin typeface="Segoe UI"/>
              </a:rPr>
              <a:t> </a:t>
            </a:r>
            <a:r>
              <a:rPr sz="2000" b="0" i="1">
                <a:solidFill>
                  <a:srgbClr val="1C252B"/>
                </a:solidFill>
                <a:latin typeface="Segoe UI"/>
              </a:rPr>
              <a:t>interpret syslog message content, severity levels, and facilities</a:t>
            </a:r>
            <a:r>
              <a:rPr sz="2000" b="0" i="0">
                <a:solidFill>
                  <a:srgbClr val="1C252B"/>
                </a:solidFill>
                <a:latin typeface="Segoe UI"/>
              </a:rPr>
              <a:t> — </a:t>
            </a:r>
            <a:r>
              <a:rPr sz="2000" b="1" i="0">
                <a:solidFill>
                  <a:srgbClr val="1C252B"/>
                </a:solidFill>
                <a:latin typeface="Segoe UI"/>
              </a:rPr>
              <a:t>interpret</a:t>
            </a:r>
            <a:r>
              <a:rPr sz="2000" b="0" i="0">
                <a:solidFill>
                  <a:srgbClr val="1C252B"/>
                </a:solidFill>
                <a:latin typeface="Segoe UI"/>
              </a:rPr>
              <a:t>. You will be shown a log line and asked what it means. Section sec:syslog-read is built for exactly that and is the highest-value part of this chapter.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Controller-based against automation-based: the distinction that gets tested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They sound similar and are structurally different.</a:t>
            </a:r>
          </a:p>
          <a:p>
            <a:pPr algn="l">
              <a:lnSpc>
                <a:spcPct val="100000"/>
              </a:lnSpc>
              <a:spcAft>
                <a:spcPts val="1000"/>
              </a:spcAft>
            </a:pPr>
            <a:r>
              <a:rPr sz="2000" b="1" i="0">
                <a:solidFill>
                  <a:srgbClr val="1C252B"/>
                </a:solidFill>
                <a:latin typeface="Segoe UI"/>
              </a:rPr>
              <a:t>Controller-based</a:t>
            </a:r>
            <a:r>
              <a:rPr sz="2000" b="0" i="0">
                <a:solidFill>
                  <a:srgbClr val="1C252B"/>
                </a:solidFill>
                <a:latin typeface="Segoe UI"/>
              </a:rPr>
              <a:t> inserts a </a:t>
            </a:r>
            <a:r>
              <a:rPr sz="2000" b="0" i="1">
                <a:solidFill>
                  <a:srgbClr val="1C252B"/>
                </a:solidFill>
                <a:latin typeface="Segoe UI"/>
              </a:rPr>
              <a:t>new system</a:t>
            </a:r>
            <a:r>
              <a:rPr sz="2000" b="0" i="0">
                <a:solidFill>
                  <a:srgbClr val="1C252B"/>
                </a:solidFill>
                <a:latin typeface="Segoe UI"/>
              </a:rPr>
              <a:t> between you and the network. The controller holds the intended state, and it is in the path permanently. Take it away and you lose central management.</a:t>
            </a:r>
          </a:p>
          <a:p>
            <a:pPr algn="l">
              <a:lnSpc>
                <a:spcPct val="100000"/>
              </a:lnSpc>
              <a:spcAft>
                <a:spcPts val="1000"/>
              </a:spcAft>
            </a:pPr>
            <a:r>
              <a:rPr sz="2000" b="1" i="0">
                <a:solidFill>
                  <a:srgbClr val="1C252B"/>
                </a:solidFill>
                <a:latin typeface="Segoe UI"/>
              </a:rPr>
              <a:t>Automation-based</a:t>
            </a:r>
            <a:r>
              <a:rPr sz="2000" b="0" i="0">
                <a:solidFill>
                  <a:srgbClr val="1C252B"/>
                </a:solidFill>
                <a:latin typeface="Segoe UI"/>
              </a:rPr>
              <a:t> adds </a:t>
            </a:r>
            <a:r>
              <a:rPr sz="2000" b="0" i="1">
                <a:solidFill>
                  <a:srgbClr val="1C252B"/>
                </a:solidFill>
                <a:latin typeface="Segoe UI"/>
              </a:rPr>
              <a:t>tooling</a:t>
            </a:r>
            <a:r>
              <a:rPr sz="2000" b="0" i="0">
                <a:solidFill>
                  <a:srgbClr val="1C252B"/>
                </a:solidFill>
                <a:latin typeface="Segoe UI"/>
              </a:rPr>
              <a:t> outside the network. Ansible logs in over SSH and types commands faster and more consistently than you can. Take it away and every device still works exactly as before, because nothing about them changed.</a:t>
            </a:r>
          </a:p>
          <a:p>
            <a:pPr algn="l">
              <a:lnSpc>
                <a:spcPct val="100000"/>
              </a:lnSpc>
              <a:spcAft>
                <a:spcPts val="1000"/>
              </a:spcAft>
            </a:pPr>
            <a:r>
              <a:rPr sz="2000" b="0" i="0">
                <a:solidFill>
                  <a:srgbClr val="1C252B"/>
                </a:solidFill>
                <a:latin typeface="Segoe UI"/>
              </a:rPr>
              <a:t>One-line test: </a:t>
            </a:r>
            <a:r>
              <a:rPr sz="2000" b="1" i="0">
                <a:solidFill>
                  <a:srgbClr val="1C252B"/>
                </a:solidFill>
                <a:latin typeface="Segoe UI"/>
              </a:rPr>
              <a:t>does the network still have a management system when the tool is switched off?</a:t>
            </a:r>
            <a:r>
              <a:rPr sz="2000" b="0" i="0">
                <a:solidFill>
                  <a:srgbClr val="1C252B"/>
                </a:solidFill>
                <a:latin typeface="Segoe UI"/>
              </a:rPr>
              <a:t> Controller, yes — and you have lost it. Automation, no — and you have lost nothing but convenience.</a:t>
            </a:r>
          </a:p>
          <a:p>
            <a:pPr algn="l">
              <a:lnSpc>
                <a:spcPct val="100000"/>
              </a:lnSpc>
              <a:spcAft>
                <a:spcPts val="1000"/>
              </a:spcAft>
            </a:pPr>
            <a:r>
              <a:rPr sz="2000" b="0" i="0">
                <a:solidFill>
                  <a:srgbClr val="1C252B"/>
                </a:solidFill>
                <a:latin typeface="Segoe UI"/>
              </a:rPr>
              <a:t>Infrastructure as code is a step beyond automation: not just </a:t>
            </a:r>
            <a:r>
              <a:rPr sz="2000" b="0" i="1">
                <a:solidFill>
                  <a:srgbClr val="1C252B"/>
                </a:solidFill>
                <a:latin typeface="Segoe UI"/>
              </a:rPr>
              <a:t>running</a:t>
            </a:r>
            <a:r>
              <a:rPr sz="2000" b="0" i="0">
                <a:solidFill>
                  <a:srgbClr val="1C252B"/>
                </a:solidFill>
                <a:latin typeface="Segoe UI"/>
              </a:rPr>
              <a:t> the change, but keeping the intended state in a repository that is reviewed, tested and versioned.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SNMP</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SNMP</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int"/>
          <p:cNvSpPr/>
          <p:nvPr/>
        </p:nvSpPr>
        <p:spPr>
          <a:xfrm>
            <a:off x="685800" y="1517904"/>
            <a:ext cx="10820095" cy="19974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Simple Network Management Protocol. A </a:t>
            </a:r>
            <a:r>
              <a:rPr sz="2000" b="1" i="0">
                <a:solidFill>
                  <a:srgbClr val="B7950B"/>
                </a:solidFill>
                <a:latin typeface="Segoe UI"/>
              </a:rPr>
              <a:t>manager</a:t>
            </a:r>
            <a:r>
              <a:rPr sz="2000" b="0" i="0">
                <a:solidFill>
                  <a:srgbClr val="1C252B"/>
                </a:solidFill>
                <a:latin typeface="Segoe UI"/>
              </a:rPr>
              <a:t> polls </a:t>
            </a:r>
            <a:r>
              <a:rPr sz="2000" b="1" i="0">
                <a:solidFill>
                  <a:srgbClr val="B7950B"/>
                </a:solidFill>
                <a:latin typeface="Segoe UI"/>
              </a:rPr>
              <a:t>agents</a:t>
            </a:r>
            <a:r>
              <a:rPr sz="2000" b="0" i="0">
                <a:solidFill>
                  <a:srgbClr val="1C252B"/>
                </a:solidFill>
                <a:latin typeface="Segoe UI"/>
              </a:rPr>
              <a:t> running on network devices for values held in a </a:t>
            </a:r>
            <a:r>
              <a:rPr sz="2000" b="1" i="0">
                <a:solidFill>
                  <a:srgbClr val="B7950B"/>
                </a:solidFill>
                <a:latin typeface="Segoe UI"/>
              </a:rPr>
              <a:t>MIB</a:t>
            </a:r>
            <a:r>
              <a:rPr sz="2000" b="0" i="0">
                <a:solidFill>
                  <a:srgbClr val="1C252B"/>
                </a:solidFill>
                <a:latin typeface="Segoe UI"/>
              </a:rPr>
              <a:t> — a tree of variables, each identified by a numeric </a:t>
            </a:r>
            <a:r>
              <a:rPr sz="2000" b="1" i="0">
                <a:solidFill>
                  <a:srgbClr val="B7950B"/>
                </a:solidFill>
                <a:latin typeface="Segoe UI"/>
              </a:rPr>
              <a:t>OID</a:t>
            </a:r>
            <a:r>
              <a:rPr sz="2000" b="0" i="0">
                <a:solidFill>
                  <a:srgbClr val="1C252B"/>
                </a:solidFill>
                <a:latin typeface="Segoe UI"/>
              </a:rPr>
              <a:t>. Agents listen on UDP 161; the manager receives unsolicited notifications on UDP 162.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SNMP</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nmp.png"/>
          <p:cNvPicPr>
            <a:picLocks noChangeAspect="1"/>
          </p:cNvPicPr>
          <p:nvPr/>
        </p:nvPicPr>
        <p:blipFill>
          <a:blip r:embed="rId2"/>
          <a:stretch>
            <a:fillRect/>
          </a:stretch>
        </p:blipFill>
        <p:spPr>
          <a:xfrm>
            <a:off x="1883965" y="1517904"/>
            <a:ext cx="8423764" cy="411480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SNMP works in both directions: the manager polls on port 161, and agents report events unprompted to port 162.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Trap or inform</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trap that is lost is lost silently, and the event it described never reaches anyone. An inform costs a round trip and some agent memory, and survives a dropped packet.</a:t>
            </a:r>
          </a:p>
          <a:p>
            <a:pPr algn="l">
              <a:lnSpc>
                <a:spcPct val="100000"/>
              </a:lnSpc>
              <a:spcAft>
                <a:spcPts val="1000"/>
              </a:spcAft>
            </a:pPr>
            <a:r>
              <a:rPr sz="2000" b="0" i="0">
                <a:solidFill>
                  <a:srgbClr val="1C252B"/>
                </a:solidFill>
                <a:latin typeface="Segoe UI"/>
              </a:rPr>
              <a:t>Use informs for anything you would be sorry to miss — a device losing power redundancy, a security event. Use traps for high-volume, low-consequence notifications where losing one does not matter. This is a fair exam question and a real design decision.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“v2c is secure because the community string is not public”</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It is not. The community string travels in clear text in every single polling packet, hundreds of times an hour, and anyone who can capture one packet has it. Renaming it from </a:t>
            </a:r>
            <a:r>
              <a:rPr sz="1900" b="0" i="0">
                <a:solidFill>
                  <a:srgbClr val="1A5276"/>
                </a:solidFill>
                <a:latin typeface="Consolas"/>
              </a:rPr>
              <a:t>public</a:t>
            </a:r>
            <a:r>
              <a:rPr sz="2000" b="0" i="0">
                <a:solidFill>
                  <a:srgbClr val="1C252B"/>
                </a:solidFill>
                <a:latin typeface="Segoe UI"/>
              </a:rPr>
              <a:t> to something obscure changes nothing.</a:t>
            </a:r>
          </a:p>
          <a:p>
            <a:pPr algn="l">
              <a:lnSpc>
                <a:spcPct val="100000"/>
              </a:lnSpc>
              <a:spcAft>
                <a:spcPts val="1000"/>
              </a:spcAft>
            </a:pPr>
            <a:r>
              <a:rPr sz="2000" b="0" i="0">
                <a:solidFill>
                  <a:srgbClr val="1C252B"/>
                </a:solidFill>
                <a:latin typeface="Segoe UI"/>
              </a:rPr>
              <a:t>And a read-write community string is equivalent to an enable password: an attacker holding one can reconfigure the device, and on many platforms can pull the entire running configuration. If SNMP must be v2c for a legacy tool, make it read-only, restrict it with an ACL to the management station’s address, and plan its removal.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SNMPv3, read-only, for a monitoring station</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codebg"/>
          <p:cNvSpPr/>
          <p:nvPr/>
        </p:nvSpPr>
        <p:spPr>
          <a:xfrm>
            <a:off x="685800" y="1775420"/>
            <a:ext cx="10820095" cy="41493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775420"/>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830284"/>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214332"/>
            <a:ext cx="10417759" cy="3655567"/>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snmp-server view OPSVIEW iso included</a:t>
            </a:r>
          </a:p>
          <a:p>
            <a:pPr>
              <a:lnSpc>
                <a:spcPct val="100000"/>
              </a:lnSpc>
              <a:spcAft>
                <a:spcPts val="0"/>
              </a:spcAft>
            </a:pPr>
            <a:r>
              <a:rPr sz="1600">
                <a:solidFill>
                  <a:srgbClr val="E8EEF2"/>
                </a:solidFill>
                <a:latin typeface="Consolas"/>
              </a:rPr>
              <a:t>snmp-server group OPSGROUP v3 priv read OPSVIEW</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auth protects integrity and identity; priv adds encryption.</a:t>
            </a:r>
          </a:p>
          <a:p>
            <a:pPr>
              <a:lnSpc>
                <a:spcPct val="100000"/>
              </a:lnSpc>
              <a:spcAft>
                <a:spcPts val="0"/>
              </a:spcAft>
            </a:pPr>
            <a:r>
              <a:rPr sz="1600" i="1">
                <a:solidFill>
                  <a:srgbClr val="6E8BA0"/>
                </a:solidFill>
                <a:latin typeface="Consolas"/>
              </a:rPr>
              <a:t>! "priv" implies "auth" -- you cannot encrypt without authenticating.</a:t>
            </a:r>
          </a:p>
          <a:p>
            <a:pPr>
              <a:lnSpc>
                <a:spcPct val="100000"/>
              </a:lnSpc>
              <a:spcAft>
                <a:spcPts val="0"/>
              </a:spcAft>
            </a:pPr>
            <a:r>
              <a:rPr sz="1600">
                <a:solidFill>
                  <a:srgbClr val="E8EEF2"/>
                </a:solidFill>
                <a:latin typeface="Consolas"/>
              </a:rPr>
              <a:t>snmp-server user nms OPSGROUP v3 auth sha AuthPassPhrase priv aes 128 PrivPassPhrase</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snmp-server host 10.0.0.45 version 3 priv nms</a:t>
            </a:r>
          </a:p>
          <a:p>
            <a:pPr>
              <a:lnSpc>
                <a:spcPct val="100000"/>
              </a:lnSpc>
              <a:spcAft>
                <a:spcPts val="0"/>
              </a:spcAft>
            </a:pPr>
            <a:r>
              <a:rPr sz="1600">
                <a:solidFill>
                  <a:srgbClr val="E8EEF2"/>
                </a:solidFill>
                <a:latin typeface="Consolas"/>
              </a:rPr>
              <a:t>snmp-server enable traps</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These two are free and save an hour when somebody has to find the</a:t>
            </a:r>
          </a:p>
          <a:p>
            <a:pPr>
              <a:lnSpc>
                <a:spcPct val="100000"/>
              </a:lnSpc>
              <a:spcAft>
                <a:spcPts val="0"/>
              </a:spcAft>
            </a:pPr>
            <a:r>
              <a:rPr sz="1600" i="1">
                <a:solidFill>
                  <a:srgbClr val="6E8BA0"/>
                </a:solidFill>
                <a:latin typeface="Consolas"/>
              </a:rPr>
              <a:t>! device in a building.</a:t>
            </a:r>
          </a:p>
          <a:p>
            <a:pPr>
              <a:lnSpc>
                <a:spcPct val="100000"/>
              </a:lnSpc>
              <a:spcAft>
                <a:spcPts val="0"/>
              </a:spcAft>
            </a:pPr>
            <a:r>
              <a:rPr sz="1600">
                <a:solidFill>
                  <a:srgbClr val="E8EEF2"/>
                </a:solidFill>
                <a:latin typeface="Consolas"/>
              </a:rPr>
              <a:t>snmp-server location Campus Block C, Rack 4, RU 22</a:t>
            </a:r>
          </a:p>
          <a:p>
            <a:pPr>
              <a:lnSpc>
                <a:spcPct val="100000"/>
              </a:lnSpc>
              <a:spcAft>
                <a:spcPts val="0"/>
              </a:spcAft>
            </a:pPr>
            <a:r>
              <a:rPr sz="1600">
                <a:solidFill>
                  <a:srgbClr val="E8EEF2"/>
                </a:solidFill>
                <a:latin typeface="Consolas"/>
              </a:rPr>
              <a:t>snmp-server contact netops@example.edu</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SNMP is actually used for</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int"/>
          <p:cNvSpPr/>
          <p:nvPr/>
        </p:nvSpPr>
        <p:spPr>
          <a:xfrm>
            <a:off x="685800" y="1517904"/>
            <a:ext cx="10820095" cy="4462272"/>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Three jobs, and the exam’s phrase “in network operations” points at them.</a:t>
            </a:r>
          </a:p>
        </p:txBody>
      </p:sp>
      <p:sp>
        <p:nvSpPr>
          <p:cNvPr id="9" name="bullets"/>
          <p:cNvSpPr txBox="1"/>
          <p:nvPr/>
        </p:nvSpPr>
        <p:spPr>
          <a:xfrm>
            <a:off x="978408" y="2250440"/>
            <a:ext cx="10234879" cy="4132072"/>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Performance monitoring</a:t>
            </a:r>
            <a:r>
              <a:rPr sz="2000" b="0" i="0">
                <a:solidFill>
                  <a:srgbClr val="1C252B"/>
                </a:solidFill>
                <a:latin typeface="Segoe UI"/>
              </a:rPr>
              <a:t> — polling interface counters every few minutes to produce the traffic graphs everybody recognises.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Fault notification</a:t>
            </a:r>
            <a:r>
              <a:rPr sz="2000" b="0" i="0">
                <a:solidFill>
                  <a:srgbClr val="1C252B"/>
                </a:solidFill>
                <a:latin typeface="Segoe UI"/>
              </a:rPr>
              <a:t> — traps and informs for events that cannot wait for the next poll.</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Inventory</a:t>
            </a:r>
            <a:r>
              <a:rPr sz="2000" b="0" i="0">
                <a:solidFill>
                  <a:srgbClr val="1C252B"/>
                </a:solidFill>
                <a:latin typeface="Segoe UI"/>
              </a:rPr>
              <a:t> — serial numbers, models, software versions and uptime collected across the estate.</a:t>
            </a:r>
          </a:p>
        </p:txBody>
      </p:sp>
      <p:sp>
        <p:nvSpPr>
          <p:cNvPr id="10" name="tailbody"/>
          <p:cNvSpPr txBox="1"/>
          <p:nvPr/>
        </p:nvSpPr>
        <p:spPr>
          <a:xfrm>
            <a:off x="978408" y="4954016"/>
            <a:ext cx="10234879" cy="1373632"/>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What it is </a:t>
            </a:r>
            <a:r>
              <a:rPr sz="2000" b="0" i="1">
                <a:solidFill>
                  <a:srgbClr val="1C252B"/>
                </a:solidFill>
                <a:latin typeface="Segoe UI"/>
              </a:rPr>
              <a:t>not</a:t>
            </a:r>
            <a:r>
              <a:rPr sz="2000" b="0" i="0">
                <a:solidFill>
                  <a:srgbClr val="1C252B"/>
                </a:solidFill>
                <a:latin typeface="Segoe UI"/>
              </a:rPr>
              <a:t> good at is configuration. </a:t>
            </a:r>
            <a:r>
              <a:rPr sz="1900" b="0" i="0">
                <a:solidFill>
                  <a:srgbClr val="1A5276"/>
                </a:solidFill>
                <a:latin typeface="Consolas"/>
              </a:rPr>
              <a:t>Set</a:t>
            </a:r>
            <a:r>
              <a:rPr sz="2000" b="0" i="0">
                <a:solidFill>
                  <a:srgbClr val="1C252B"/>
                </a:solidFill>
                <a:latin typeface="Segoe UI"/>
              </a:rPr>
              <a:t> exists, but nobody manages configuration by SNMP; that is what Chapters 31 and the automation approaches are for.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Syslog, and how to read a message</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Anatomy of an IOS message</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yslogfmt-1.png"/>
          <p:cNvPicPr>
            <a:picLocks noChangeAspect="1"/>
          </p:cNvPicPr>
          <p:nvPr/>
        </p:nvPicPr>
        <p:blipFill>
          <a:blip r:embed="rId2"/>
          <a:stretch>
            <a:fillRect/>
          </a:stretch>
        </p:blipFill>
        <p:spPr>
          <a:xfrm>
            <a:off x="685800" y="1694006"/>
            <a:ext cx="10820095" cy="442096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Anatomy of an IOS message</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yslogfmt-2.png"/>
          <p:cNvPicPr>
            <a:picLocks noChangeAspect="1"/>
          </p:cNvPicPr>
          <p:nvPr/>
        </p:nvPicPr>
        <p:blipFill>
          <a:blip r:embed="rId2"/>
          <a:stretch>
            <a:fillRect/>
          </a:stretch>
        </p:blipFill>
        <p:spPr>
          <a:xfrm>
            <a:off x="685800" y="1694006"/>
            <a:ext cx="10820095" cy="442096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Anatomy of an IOS message</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yslogfmt-3.png"/>
          <p:cNvPicPr>
            <a:picLocks noChangeAspect="1"/>
          </p:cNvPicPr>
          <p:nvPr/>
        </p:nvPicPr>
        <p:blipFill>
          <a:blip r:embed="rId2"/>
          <a:stretch>
            <a:fillRect/>
          </a:stretch>
        </p:blipFill>
        <p:spPr>
          <a:xfrm>
            <a:off x="685800" y="1694006"/>
            <a:ext cx="10820095" cy="442096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Anatomy of an IOS message</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yslogfmt-4.png"/>
          <p:cNvPicPr>
            <a:picLocks noChangeAspect="1"/>
          </p:cNvPicPr>
          <p:nvPr/>
        </p:nvPicPr>
        <p:blipFill>
          <a:blip r:embed="rId2"/>
          <a:stretch>
            <a:fillRect/>
          </a:stretch>
        </p:blipFill>
        <p:spPr>
          <a:xfrm>
            <a:off x="685800" y="1694006"/>
            <a:ext cx="10820095" cy="442096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Anatomy of an IOS message</a:t>
            </a:r>
          </a:p>
        </p:txBody>
      </p:sp>
      <p:sp>
        <p:nvSpPr>
          <p:cNvPr id="3"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pic>
        <p:nvPicPr>
          <p:cNvPr id="6" name="figure" descr="syslogfmt-5.png"/>
          <p:cNvPicPr>
            <a:picLocks noChangeAspect="1"/>
          </p:cNvPicPr>
          <p:nvPr/>
        </p:nvPicPr>
        <p:blipFill>
          <a:blip r:embed="rId2"/>
          <a:stretch>
            <a:fillRect/>
          </a:stretch>
        </p:blipFill>
        <p:spPr>
          <a:xfrm>
            <a:off x="685800" y="1694006"/>
            <a:ext cx="10820095" cy="4420962"/>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The severity is the digit in the middle, and it is not the number of anything else</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In </a:t>
            </a:r>
            <a:r>
              <a:rPr sz="1900" b="0" i="0">
                <a:solidFill>
                  <a:srgbClr val="1A5276"/>
                </a:solidFill>
                <a:latin typeface="Consolas"/>
              </a:rPr>
              <a:t>%LINEPROTO-5-UPDOWN</a:t>
            </a:r>
            <a:r>
              <a:rPr sz="2000" b="0" i="0">
                <a:solidFill>
                  <a:srgbClr val="1C252B"/>
                </a:solidFill>
                <a:latin typeface="Segoe UI"/>
              </a:rPr>
              <a:t> the </a:t>
            </a:r>
            <a:r>
              <a:rPr sz="1900" b="0" i="0">
                <a:solidFill>
                  <a:srgbClr val="1A5276"/>
                </a:solidFill>
                <a:latin typeface="Consolas"/>
              </a:rPr>
              <a:t>5</a:t>
            </a:r>
            <a:r>
              <a:rPr sz="2000" b="0" i="0">
                <a:solidFill>
                  <a:srgbClr val="1C252B"/>
                </a:solidFill>
                <a:latin typeface="Segoe UI"/>
              </a:rPr>
              <a:t> is the severity level. In </a:t>
            </a:r>
            <a:r>
              <a:rPr sz="1900" b="0" i="0">
                <a:solidFill>
                  <a:srgbClr val="1A5276"/>
                </a:solidFill>
                <a:latin typeface="Consolas"/>
              </a:rPr>
              <a:t>%LINK-3-UPDOWN</a:t>
            </a:r>
            <a:r>
              <a:rPr sz="2000" b="0" i="0">
                <a:solidFill>
                  <a:srgbClr val="1C252B"/>
                </a:solidFill>
                <a:latin typeface="Segoe UI"/>
              </a:rPr>
              <a:t> the </a:t>
            </a:r>
            <a:r>
              <a:rPr sz="1900" b="0" i="0">
                <a:solidFill>
                  <a:srgbClr val="1A5276"/>
                </a:solidFill>
                <a:latin typeface="Consolas"/>
              </a:rPr>
              <a:t>3</a:t>
            </a:r>
            <a:r>
              <a:rPr sz="2000" b="0" i="0">
                <a:solidFill>
                  <a:srgbClr val="1C252B"/>
                </a:solidFill>
                <a:latin typeface="Segoe UI"/>
              </a:rPr>
              <a:t> is the severity level.</a:t>
            </a:r>
          </a:p>
          <a:p>
            <a:pPr algn="l">
              <a:lnSpc>
                <a:spcPct val="100000"/>
              </a:lnSpc>
              <a:spcAft>
                <a:spcPts val="1000"/>
              </a:spcAft>
            </a:pPr>
            <a:r>
              <a:rPr sz="2000" b="0" i="0">
                <a:solidFill>
                  <a:srgbClr val="1C252B"/>
                </a:solidFill>
                <a:latin typeface="Segoe UI"/>
              </a:rPr>
              <a:t>Those two messages describe the same interface going down and carry different severities because they concern different layers. Seeing both together is normal and tells you the physical link dropped, which took the line protocol with it. A </a:t>
            </a:r>
            <a:r>
              <a:rPr sz="1900" b="0" i="0">
                <a:solidFill>
                  <a:srgbClr val="1A5276"/>
                </a:solidFill>
                <a:latin typeface="Consolas"/>
              </a:rPr>
              <a:t>%LINEPROTO-5-UPDOWN</a:t>
            </a:r>
            <a:r>
              <a:rPr sz="2000" b="0" i="0">
                <a:solidFill>
                  <a:srgbClr val="1C252B"/>
                </a:solidFill>
                <a:latin typeface="Segoe UI"/>
              </a:rPr>
              <a:t> </a:t>
            </a:r>
            <a:r>
              <a:rPr sz="2000" b="0" i="1">
                <a:solidFill>
                  <a:srgbClr val="1C252B"/>
                </a:solidFill>
                <a:latin typeface="Segoe UI"/>
              </a:rPr>
              <a:t>without</a:t>
            </a:r>
            <a:r>
              <a:rPr sz="2000" b="0" i="0">
                <a:solidFill>
                  <a:srgbClr val="1C252B"/>
                </a:solidFill>
                <a:latin typeface="Segoe UI"/>
              </a:rPr>
              <a:t> a matching </a:t>
            </a:r>
            <a:r>
              <a:rPr sz="1900" b="0" i="0">
                <a:solidFill>
                  <a:srgbClr val="1A5276"/>
                </a:solidFill>
                <a:latin typeface="Consolas"/>
              </a:rPr>
              <a:t>%LINK-3-UPDOWN</a:t>
            </a:r>
            <a:r>
              <a:rPr sz="2000" b="0" i="0">
                <a:solidFill>
                  <a:srgbClr val="1C252B"/>
                </a:solidFill>
                <a:latin typeface="Segoe UI"/>
              </a:rPr>
              <a:t> means layer 1 stayed up and something above it failed — keepalives, an encapsulation mismatch, or a shutdown of a subinterface.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Remembering the order</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E</a:t>
            </a:r>
            <a:r>
              <a:rPr sz="2000" b="0" i="0">
                <a:solidFill>
                  <a:srgbClr val="1C252B"/>
                </a:solidFill>
                <a:latin typeface="Segoe UI"/>
              </a:rPr>
              <a:t>very </a:t>
            </a:r>
            <a:r>
              <a:rPr sz="2000" b="1" i="0">
                <a:solidFill>
                  <a:srgbClr val="1C252B"/>
                </a:solidFill>
                <a:latin typeface="Segoe UI"/>
              </a:rPr>
              <a:t>A</a:t>
            </a:r>
            <a:r>
              <a:rPr sz="2000" b="0" i="0">
                <a:solidFill>
                  <a:srgbClr val="1C252B"/>
                </a:solidFill>
                <a:latin typeface="Segoe UI"/>
              </a:rPr>
              <a:t>wesome </a:t>
            </a:r>
            <a:r>
              <a:rPr sz="2000" b="1" i="0">
                <a:solidFill>
                  <a:srgbClr val="1C252B"/>
                </a:solidFill>
                <a:latin typeface="Segoe UI"/>
              </a:rPr>
              <a:t>C</a:t>
            </a:r>
            <a:r>
              <a:rPr sz="2000" b="0" i="0">
                <a:solidFill>
                  <a:srgbClr val="1C252B"/>
                </a:solidFill>
                <a:latin typeface="Segoe UI"/>
              </a:rPr>
              <a:t>isco </a:t>
            </a:r>
            <a:r>
              <a:rPr sz="2000" b="1" i="0">
                <a:solidFill>
                  <a:srgbClr val="1C252B"/>
                </a:solidFill>
                <a:latin typeface="Segoe UI"/>
              </a:rPr>
              <a:t>E</a:t>
            </a:r>
            <a:r>
              <a:rPr sz="2000" b="0" i="0">
                <a:solidFill>
                  <a:srgbClr val="1C252B"/>
                </a:solidFill>
                <a:latin typeface="Segoe UI"/>
              </a:rPr>
              <a:t>ngineer </a:t>
            </a:r>
            <a:r>
              <a:rPr sz="2000" b="1" i="0">
                <a:solidFill>
                  <a:srgbClr val="1C252B"/>
                </a:solidFill>
                <a:latin typeface="Segoe UI"/>
              </a:rPr>
              <a:t>W</a:t>
            </a:r>
            <a:r>
              <a:rPr sz="2000" b="0" i="0">
                <a:solidFill>
                  <a:srgbClr val="1C252B"/>
                </a:solidFill>
                <a:latin typeface="Segoe UI"/>
              </a:rPr>
              <a:t>ill </a:t>
            </a:r>
            <a:r>
              <a:rPr sz="2000" b="1" i="0">
                <a:solidFill>
                  <a:srgbClr val="1C252B"/>
                </a:solidFill>
                <a:latin typeface="Segoe UI"/>
              </a:rPr>
              <a:t>N</a:t>
            </a:r>
            <a:r>
              <a:rPr sz="2000" b="0" i="0">
                <a:solidFill>
                  <a:srgbClr val="1C252B"/>
                </a:solidFill>
                <a:latin typeface="Segoe UI"/>
              </a:rPr>
              <a:t>eed </a:t>
            </a:r>
            <a:r>
              <a:rPr sz="2000" b="1" i="0">
                <a:solidFill>
                  <a:srgbClr val="1C252B"/>
                </a:solidFill>
                <a:latin typeface="Segoe UI"/>
              </a:rPr>
              <a:t>I</a:t>
            </a:r>
            <a:r>
              <a:rPr sz="2000" b="0" i="0">
                <a:solidFill>
                  <a:srgbClr val="1C252B"/>
                </a:solidFill>
                <a:latin typeface="Segoe UI"/>
              </a:rPr>
              <a:t>ce-cream </a:t>
            </a:r>
            <a:r>
              <a:rPr sz="2000" b="1" i="0">
                <a:solidFill>
                  <a:srgbClr val="1C252B"/>
                </a:solidFill>
                <a:latin typeface="Segoe UI"/>
              </a:rPr>
              <a:t>D</a:t>
            </a:r>
            <a:r>
              <a:rPr sz="2000" b="0" i="0">
                <a:solidFill>
                  <a:srgbClr val="1C252B"/>
                </a:solidFill>
                <a:latin typeface="Segoe UI"/>
              </a:rPr>
              <a:t>aily — Emergency, Alert, Critical, Error, Warning, Notification, Informational, Debugging.</a:t>
            </a:r>
          </a:p>
          <a:p>
            <a:pPr algn="l">
              <a:lnSpc>
                <a:spcPct val="100000"/>
              </a:lnSpc>
              <a:spcAft>
                <a:spcPts val="1000"/>
              </a:spcAft>
            </a:pPr>
            <a:r>
              <a:rPr sz="2000" b="0" i="0">
                <a:solidFill>
                  <a:srgbClr val="1C252B"/>
                </a:solidFill>
                <a:latin typeface="Segoe UI"/>
              </a:rPr>
              <a:t>Two facts that follow and are examined: </a:t>
            </a:r>
            <a:r>
              <a:rPr sz="2000" b="1" i="0">
                <a:solidFill>
                  <a:srgbClr val="1C252B"/>
                </a:solidFill>
                <a:latin typeface="Segoe UI"/>
              </a:rPr>
              <a:t>0 is the most severe and 7 the least</a:t>
            </a:r>
            <a:r>
              <a:rPr sz="2000" b="0" i="0">
                <a:solidFill>
                  <a:srgbClr val="1C252B"/>
                </a:solidFill>
                <a:latin typeface="Segoe UI"/>
              </a:rPr>
              <a:t>, which is the opposite of most people’s instinct. And configuring a logging destination at level </a:t>
            </a:r>
            <a:r>
              <a:rPr sz="2000" b="0" i="1">
                <a:solidFill>
                  <a:srgbClr val="1C252B"/>
                </a:solidFill>
                <a:latin typeface="Segoe UI"/>
              </a:rPr>
              <a:t>n</a:t>
            </a:r>
            <a:r>
              <a:rPr sz="2000" b="0" i="0">
                <a:solidFill>
                  <a:srgbClr val="1C252B"/>
                </a:solidFill>
                <a:latin typeface="Segoe UI"/>
              </a:rPr>
              <a:t> sends everything from 0 </a:t>
            </a:r>
            <a:r>
              <a:rPr sz="2000" b="0" i="1">
                <a:solidFill>
                  <a:srgbClr val="1C252B"/>
                </a:solidFill>
                <a:latin typeface="Segoe UI"/>
              </a:rPr>
              <a:t>through</a:t>
            </a:r>
            <a:r>
              <a:rPr sz="2000" b="0" i="0">
                <a:solidFill>
                  <a:srgbClr val="1C252B"/>
                </a:solidFill>
                <a:latin typeface="Segoe UI"/>
              </a:rPr>
              <a:t> </a:t>
            </a:r>
            <a:r>
              <a:rPr sz="2000" b="0" i="1">
                <a:solidFill>
                  <a:srgbClr val="1C252B"/>
                </a:solidFill>
                <a:latin typeface="Segoe UI"/>
              </a:rPr>
              <a:t>n</a:t>
            </a:r>
            <a:r>
              <a:rPr sz="2000" b="0" i="0">
                <a:solidFill>
                  <a:srgbClr val="1C252B"/>
                </a:solidFill>
                <a:latin typeface="Segoe UI"/>
              </a:rPr>
              <a:t> — so </a:t>
            </a:r>
            <a:r>
              <a:rPr sz="1900" b="0" i="0">
                <a:solidFill>
                  <a:srgbClr val="1A5276"/>
                </a:solidFill>
                <a:latin typeface="Consolas"/>
              </a:rPr>
              <a:t>logging console warnings</a:t>
            </a:r>
            <a:r>
              <a:rPr sz="2000" b="0" i="0">
                <a:solidFill>
                  <a:srgbClr val="1C252B"/>
                </a:solidFill>
                <a:latin typeface="Segoe UI"/>
              </a:rPr>
              <a:t> (level 4) also delivers levels 0 to 3, and silently discards 5, 6 and 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sensible logging setup</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codebg"/>
          <p:cNvSpPr/>
          <p:nvPr/>
        </p:nvSpPr>
        <p:spPr>
          <a:xfrm>
            <a:off x="685800" y="1517904"/>
            <a:ext cx="10820095" cy="451154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17771"/>
          </a:xfrm>
          <a:prstGeom prst="rect">
            <a:avLst/>
          </a:prstGeom>
          <a:noFill/>
        </p:spPr>
        <p:txBody>
          <a:bodyPr wrap="none" lIns="0" rIns="0" tIns="0" bIns="0">
            <a:spAutoFit/>
          </a:bodyPr>
          <a:lstStyle/>
          <a:p>
            <a:pPr>
              <a:lnSpc>
                <a:spcPct val="100000"/>
              </a:lnSpc>
              <a:spcAft>
                <a:spcPts val="0"/>
              </a:spcAft>
            </a:pPr>
            <a:r>
              <a:rPr sz="1300" i="1">
                <a:solidFill>
                  <a:srgbClr val="6E8BA0"/>
                </a:solidFill>
                <a:latin typeface="Consolas"/>
              </a:rPr>
              <a:t>! Without this every message is stamped only with uptime, which is</a:t>
            </a:r>
          </a:p>
          <a:p>
            <a:pPr>
              <a:lnSpc>
                <a:spcPct val="100000"/>
              </a:lnSpc>
              <a:spcAft>
                <a:spcPts val="0"/>
              </a:spcAft>
            </a:pPr>
            <a:r>
              <a:rPr sz="1300" i="1">
                <a:solidFill>
                  <a:srgbClr val="6E8BA0"/>
                </a:solidFill>
                <a:latin typeface="Consolas"/>
              </a:rPr>
              <a:t>! useless for correlating across devices. Do this first, everywhere.</a:t>
            </a:r>
          </a:p>
          <a:p>
            <a:pPr>
              <a:lnSpc>
                <a:spcPct val="100000"/>
              </a:lnSpc>
              <a:spcAft>
                <a:spcPts val="0"/>
              </a:spcAft>
            </a:pPr>
            <a:r>
              <a:rPr sz="1300">
                <a:solidFill>
                  <a:srgbClr val="E8EEF2"/>
                </a:solidFill>
                <a:latin typeface="Consolas"/>
              </a:rPr>
              <a:t>service timestamps log datetime msec localtime show-timezone</a:t>
            </a:r>
          </a:p>
          <a:p>
            <a:pPr>
              <a:lnSpc>
                <a:spcPct val="100000"/>
              </a:lnSpc>
              <a:spcAft>
                <a:spcPts val="0"/>
              </a:spcAft>
            </a:pPr>
            <a:r>
              <a:rPr sz="1300">
                <a:solidFill>
                  <a:srgbClr val="E8EEF2"/>
                </a:solidFill>
                <a:latin typeface="Consolas"/>
              </a:rPr>
              <a:t>service timestamps debug datetime msec localtime show-timezone</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Keep a generous local buffer at informational, so the evidence is</a:t>
            </a:r>
          </a:p>
          <a:p>
            <a:pPr>
              <a:lnSpc>
                <a:spcPct val="100000"/>
              </a:lnSpc>
              <a:spcAft>
                <a:spcPts val="0"/>
              </a:spcAft>
            </a:pPr>
            <a:r>
              <a:rPr sz="1300" i="1">
                <a:solidFill>
                  <a:srgbClr val="6E8BA0"/>
                </a:solidFill>
                <a:latin typeface="Consolas"/>
              </a:rPr>
              <a:t>! on the device even if the syslog server was unreachable.</a:t>
            </a:r>
          </a:p>
          <a:p>
            <a:pPr>
              <a:lnSpc>
                <a:spcPct val="100000"/>
              </a:lnSpc>
              <a:spcAft>
                <a:spcPts val="0"/>
              </a:spcAft>
            </a:pPr>
            <a:r>
              <a:rPr sz="1300">
                <a:solidFill>
                  <a:srgbClr val="E8EEF2"/>
                </a:solidFill>
                <a:latin typeface="Consolas"/>
              </a:rPr>
              <a:t>logging buffered 65536 informational</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Console logging on a busy device makes the CLI unusable. Turn it</a:t>
            </a:r>
          </a:p>
          <a:p>
            <a:pPr>
              <a:lnSpc>
                <a:spcPct val="100000"/>
              </a:lnSpc>
              <a:spcAft>
                <a:spcPts val="0"/>
              </a:spcAft>
            </a:pPr>
            <a:r>
              <a:rPr sz="1300" i="1">
                <a:solidFill>
                  <a:srgbClr val="6E8BA0"/>
                </a:solidFill>
                <a:latin typeface="Consolas"/>
              </a:rPr>
              <a:t>! down; the buffer and the server still have everything.</a:t>
            </a:r>
          </a:p>
          <a:p>
            <a:pPr>
              <a:lnSpc>
                <a:spcPct val="100000"/>
              </a:lnSpc>
              <a:spcAft>
                <a:spcPts val="0"/>
              </a:spcAft>
            </a:pPr>
            <a:r>
              <a:rPr sz="1300">
                <a:solidFill>
                  <a:srgbClr val="E8EEF2"/>
                </a:solidFill>
                <a:latin typeface="Consolas"/>
              </a:rPr>
              <a:t>logging console warnings</a:t>
            </a:r>
          </a:p>
          <a:p>
            <a:pPr>
              <a:lnSpc>
                <a:spcPct val="100000"/>
              </a:lnSpc>
              <a:spcAft>
                <a:spcPts val="0"/>
              </a:spcAft>
            </a:pPr>
            <a:r>
              <a:rPr sz="1300">
                <a:solidFill>
                  <a:srgbClr val="E8EEF2"/>
                </a:solidFill>
                <a:latin typeface="Consolas"/>
              </a:rPr>
              <a:t>logging monitor informational</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The central server. "trap" here means the syslog severity</a:t>
            </a:r>
          </a:p>
          <a:p>
            <a:pPr>
              <a:lnSpc>
                <a:spcPct val="100000"/>
              </a:lnSpc>
              <a:spcAft>
                <a:spcPts val="0"/>
              </a:spcAft>
            </a:pPr>
            <a:r>
              <a:rPr sz="1300" i="1">
                <a:solidFill>
                  <a:srgbClr val="6E8BA0"/>
                </a:solidFill>
                <a:latin typeface="Consolas"/>
              </a:rPr>
              <a:t>! threshold, NOT an SNMP trap -- an unfortunate collision of terms.</a:t>
            </a:r>
          </a:p>
          <a:p>
            <a:pPr>
              <a:lnSpc>
                <a:spcPct val="100000"/>
              </a:lnSpc>
              <a:spcAft>
                <a:spcPts val="0"/>
              </a:spcAft>
            </a:pPr>
            <a:r>
              <a:rPr sz="1300">
                <a:solidFill>
                  <a:srgbClr val="E8EEF2"/>
                </a:solidFill>
                <a:latin typeface="Consolas"/>
              </a:rPr>
              <a:t>logging host 10.0.0.45</a:t>
            </a:r>
          </a:p>
          <a:p>
            <a:pPr>
              <a:lnSpc>
                <a:spcPct val="100000"/>
              </a:lnSpc>
              <a:spcAft>
                <a:spcPts val="0"/>
              </a:spcAft>
            </a:pPr>
            <a:r>
              <a:rPr sz="1300">
                <a:solidFill>
                  <a:srgbClr val="E8EEF2"/>
                </a:solidFill>
                <a:latin typeface="Consolas"/>
              </a:rPr>
              <a:t>logging trap notifications</a:t>
            </a:r>
          </a:p>
          <a:p>
            <a:pPr>
              <a:lnSpc>
                <a:spcPct val="100000"/>
              </a:lnSpc>
              <a:spcAft>
                <a:spcPts val="0"/>
              </a:spcAft>
            </a:pPr>
            <a:r>
              <a:rPr sz="1300">
                <a:solidFill>
                  <a:srgbClr val="E8EEF2"/>
                </a:solidFill>
                <a:latin typeface="Consolas"/>
              </a:rPr>
              <a:t>logging source-interface Loopback0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sensible logging setup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line con 0</a:t>
            </a:r>
          </a:p>
          <a:p>
            <a:pPr>
              <a:lnSpc>
                <a:spcPct val="100000"/>
              </a:lnSpc>
              <a:spcAft>
                <a:spcPts val="0"/>
              </a:spcAft>
            </a:pPr>
            <a:r>
              <a:rPr sz="1600">
                <a:solidFill>
                  <a:srgbClr val="E8EEF2"/>
                </a:solidFill>
                <a:latin typeface="Consolas"/>
              </a:rPr>
              <a:t> logging synchronous</a:t>
            </a:r>
          </a:p>
          <a:p>
            <a:pPr>
              <a:lnSpc>
                <a:spcPct val="100000"/>
              </a:lnSpc>
              <a:spcAft>
                <a:spcPts val="0"/>
              </a:spcAft>
            </a:pPr>
            <a:r>
              <a:rPr sz="1600">
                <a:solidFill>
                  <a:srgbClr val="E8EEF2"/>
                </a:solidFill>
                <a:latin typeface="Consolas"/>
              </a:rPr>
              <a:t>line vty 0 15</a:t>
            </a:r>
          </a:p>
          <a:p>
            <a:pPr>
              <a:lnSpc>
                <a:spcPct val="100000"/>
              </a:lnSpc>
              <a:spcAft>
                <a:spcPts val="0"/>
              </a:spcAft>
            </a:pPr>
            <a:r>
              <a:rPr sz="1600">
                <a:solidFill>
                  <a:srgbClr val="E8EEF2"/>
                </a:solidFill>
                <a:latin typeface="Consolas"/>
              </a:rPr>
              <a:t> logging synchronous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logging trap has nothing to do with SNMP traps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It sets the </a:t>
            </a:r>
            <a:r>
              <a:rPr sz="2000" b="0" i="1">
                <a:solidFill>
                  <a:srgbClr val="1C252B"/>
                </a:solidFill>
                <a:latin typeface="Segoe UI"/>
              </a:rPr>
              <a:t>severity threshold for messages sent to a syslog server</a:t>
            </a:r>
            <a:r>
              <a:rPr sz="2000" b="0" i="0">
                <a:solidFill>
                  <a:srgbClr val="1C252B"/>
                </a:solidFill>
                <a:latin typeface="Segoe UI"/>
              </a:rPr>
              <a:t>. </a:t>
            </a:r>
            <a:r>
              <a:rPr sz="1900" b="0" i="0">
                <a:solidFill>
                  <a:srgbClr val="1A5276"/>
                </a:solidFill>
                <a:latin typeface="Consolas"/>
              </a:rPr>
              <a:t>logging trap notifications</a:t>
            </a:r>
            <a:r>
              <a:rPr sz="2000" b="0" i="0">
                <a:solidFill>
                  <a:srgbClr val="1C252B"/>
                </a:solidFill>
                <a:latin typeface="Segoe UI"/>
              </a:rPr>
              <a:t> means “send levels 0 to 5 to the host”. The word is a historical accident and it confuses people every year.</a:t>
            </a:r>
          </a:p>
          <a:p>
            <a:pPr algn="l">
              <a:lnSpc>
                <a:spcPct val="100000"/>
              </a:lnSpc>
              <a:spcAft>
                <a:spcPts val="1000"/>
              </a:spcAft>
            </a:pPr>
            <a:r>
              <a:rPr sz="1900" b="0" i="0">
                <a:solidFill>
                  <a:srgbClr val="1A5276"/>
                </a:solidFill>
                <a:latin typeface="Consolas"/>
              </a:rPr>
              <a:t>logging synchronous</a:t>
            </a:r>
            <a:r>
              <a:rPr sz="2000" b="0" i="0">
                <a:solidFill>
                  <a:srgbClr val="1C252B"/>
                </a:solidFill>
                <a:latin typeface="Segoe UI"/>
              </a:rPr>
              <a:t> is unrelated to both: it stops a log message printed mid-command from scrambling what you were typing. It changes nothing about what is logged and it will save your temper.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logging | include Console|Buffer|Trap</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Console logging: level warnings, 2201 messages logged</a:t>
            </a:r>
          </a:p>
          <a:p>
            <a:pPr>
              <a:lnSpc>
                <a:spcPct val="100000"/>
              </a:lnSpc>
              <a:spcAft>
                <a:spcPts val="0"/>
              </a:spcAft>
            </a:pPr>
            <a:r>
              <a:rPr sz="1600">
                <a:solidFill>
                  <a:srgbClr val="E8EEF2"/>
                </a:solidFill>
                <a:latin typeface="Consolas"/>
              </a:rPr>
              <a:t>    Monitor logging: level informational, 0 messages logged</a:t>
            </a:r>
          </a:p>
          <a:p>
            <a:pPr>
              <a:lnSpc>
                <a:spcPct val="100000"/>
              </a:lnSpc>
              <a:spcAft>
                <a:spcPts val="0"/>
              </a:spcAft>
            </a:pPr>
            <a:r>
              <a:rPr sz="1600">
                <a:solidFill>
                  <a:srgbClr val="E8EEF2"/>
                </a:solidFill>
                <a:latin typeface="Consolas"/>
              </a:rPr>
              <a:t>    Buffer logging:  level informational, 88214 messages logged</a:t>
            </a:r>
          </a:p>
          <a:p>
            <a:pPr>
              <a:lnSpc>
                <a:spcPct val="100000"/>
              </a:lnSpc>
              <a:spcAft>
                <a:spcPts val="0"/>
              </a:spcAft>
            </a:pPr>
            <a:r>
              <a:rPr sz="1600">
                <a:solidFill>
                  <a:srgbClr val="E8EEF2"/>
                </a:solidFill>
                <a:latin typeface="Consolas"/>
              </a:rPr>
              <a:t>    Trap logging: level notifications, 41022 message lines logged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Configuring logging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Reading severity backwards.</a:t>
            </a:r>
            <a:r>
              <a:rPr sz="2000" b="0" i="0">
                <a:solidFill>
                  <a:srgbClr val="1C252B"/>
                </a:solidFill>
                <a:latin typeface="Segoe UI"/>
              </a:rPr>
              <a:t> 0 is worst, 7 is least important.</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Setting a threshold too high and concluding nothing is wrong.</a:t>
            </a:r>
            <a:r>
              <a:rPr sz="2000" b="0" i="0">
                <a:solidFill>
                  <a:srgbClr val="1C252B"/>
                </a:solidFill>
                <a:latin typeface="Segoe UI"/>
              </a:rPr>
              <a:t> The message may exist and be filtered. Check the levels before trusting an empty log.</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No </a:t>
            </a:r>
            <a:r>
              <a:rPr sz="1900" b="1" i="0">
                <a:solidFill>
                  <a:srgbClr val="1A5276"/>
                </a:solidFill>
                <a:latin typeface="Consolas"/>
              </a:rPr>
              <a:t>service timestamps</a:t>
            </a:r>
            <a:r>
              <a:rPr sz="2000" b="1" i="0">
                <a:solidFill>
                  <a:srgbClr val="1C252B"/>
                </a:solidFill>
                <a:latin typeface="Segoe UI"/>
              </a:rPr>
              <a:t>.</a:t>
            </a:r>
            <a:r>
              <a:rPr sz="2000" b="0" i="0">
                <a:solidFill>
                  <a:srgbClr val="1C252B"/>
                </a:solidFill>
                <a:latin typeface="Segoe UI"/>
              </a:rPr>
              <a:t> Messages stamped with uptime cannot be correlated across devices or with a user’s report.</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Confusing </a:t>
            </a:r>
            <a:r>
              <a:rPr sz="1900" b="1" i="0">
                <a:solidFill>
                  <a:srgbClr val="1A5276"/>
                </a:solidFill>
                <a:latin typeface="Consolas"/>
              </a:rPr>
              <a:t>logging trap</a:t>
            </a:r>
            <a:r>
              <a:rPr sz="2000" b="1" i="0">
                <a:solidFill>
                  <a:srgbClr val="1C252B"/>
                </a:solidFill>
                <a:latin typeface="Segoe UI"/>
              </a:rPr>
              <a:t> with SNMP traps.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Leaving console logging at debugging on a production device.</a:t>
            </a:r>
            <a:r>
              <a:rPr sz="2000" b="0" i="0">
                <a:solidFill>
                  <a:srgbClr val="1C252B"/>
                </a:solidFill>
                <a:latin typeface="Segoe UI"/>
              </a:rPr>
              <a:t> The CLI becomes unusable exactly when you need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Configuring logging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SNMP v2c with a read-write community string.</a:t>
            </a:r>
            <a:r>
              <a:rPr sz="2000" b="0" i="0">
                <a:solidFill>
                  <a:srgbClr val="1C252B"/>
                </a:solidFill>
                <a:latin typeface="Segoe UI"/>
              </a:rPr>
              <a:t> That is an enable password sent in clear thousands of times a day.</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No </a:t>
            </a:r>
            <a:r>
              <a:rPr sz="1900" b="1" i="0">
                <a:solidFill>
                  <a:srgbClr val="1A5276"/>
                </a:solidFill>
                <a:latin typeface="Consolas"/>
              </a:rPr>
              <a:t>logging source-interface</a:t>
            </a:r>
            <a:r>
              <a:rPr sz="2000" b="1" i="0">
                <a:solidFill>
                  <a:srgbClr val="1C252B"/>
                </a:solidFill>
                <a:latin typeface="Segoe UI"/>
              </a:rPr>
              <a:t>.</a:t>
            </a:r>
            <a:r>
              <a:rPr sz="2000" b="0" i="0">
                <a:solidFill>
                  <a:srgbClr val="1C252B"/>
                </a:solidFill>
                <a:latin typeface="Segoe UI"/>
              </a:rPr>
              <a:t> Messages arrive from whichever interface routing chose, and the server cannot reliably attribute them.</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Relying on traps for events that matter.</a:t>
            </a:r>
            <a:r>
              <a:rPr sz="2000" b="0" i="0">
                <a:solidFill>
                  <a:srgbClr val="1C252B"/>
                </a:solidFill>
                <a:latin typeface="Segoe UI"/>
              </a:rPr>
              <a:t> Use informs.</a:t>
            </a:r>
          </a:p>
          <a:p>
            <a:pPr marL="228600" indent="-228600">
              <a:lnSpc>
                <a:spcPct val="102000"/>
              </a:lnSpc>
              <a:spcAft>
                <a:spcPts val="900"/>
              </a:spcAft>
            </a:pPr>
            <a:r>
              <a:rPr sz="2000" b="1">
                <a:solidFill>
                  <a:srgbClr val="B7950B"/>
                </a:solidFill>
                <a:latin typeface="Segoe UI"/>
              </a:rPr>
              <a:t>•  </a:t>
            </a:r>
            <a:r>
              <a:rPr sz="2000" b="1" i="0">
                <a:solidFill>
                  <a:srgbClr val="1C252B"/>
                </a:solidFill>
                <a:latin typeface="Segoe UI"/>
              </a:rPr>
              <a:t>Calling Ansible “controller-based”.</a:t>
            </a:r>
            <a:r>
              <a:rPr sz="2000" b="0" i="0">
                <a:solidFill>
                  <a:srgbClr val="1C252B"/>
                </a:solidFill>
                <a:latin typeface="Segoe UI"/>
              </a:rPr>
              <a:t> It adds no control plane.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Ports keep going down overnight. The log “shows nothing”.</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An access switch drops several user ports most nights. By morning they are back. The site’s monitoring shows the interfaces bouncing, but the network team reports that the device’s own log contains no explanation.</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Ports keep going down overnight. The log “shows nothing”.</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logging | include level</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Console logging: level errors, 14 messages logged</a:t>
            </a:r>
          </a:p>
          <a:p>
            <a:pPr>
              <a:lnSpc>
                <a:spcPct val="100000"/>
              </a:lnSpc>
              <a:spcAft>
                <a:spcPts val="0"/>
              </a:spcAft>
            </a:pPr>
            <a:r>
              <a:rPr sz="1500">
                <a:solidFill>
                  <a:srgbClr val="E8EEF2"/>
                </a:solidFill>
                <a:latin typeface="Consolas"/>
              </a:rPr>
              <a:t>    Monitor logging: level errors, 0 messages logged</a:t>
            </a:r>
          </a:p>
          <a:p>
            <a:pPr>
              <a:lnSpc>
                <a:spcPct val="100000"/>
              </a:lnSpc>
              <a:spcAft>
                <a:spcPts val="0"/>
              </a:spcAft>
            </a:pPr>
            <a:r>
              <a:rPr sz="1500">
                <a:solidFill>
                  <a:srgbClr val="E8EEF2"/>
                </a:solidFill>
                <a:latin typeface="Consolas"/>
              </a:rPr>
              <a:t>    Buffer logging:  level errors, 14 messages logged</a:t>
            </a:r>
          </a:p>
          <a:p>
            <a:pPr>
              <a:lnSpc>
                <a:spcPct val="100000"/>
              </a:lnSpc>
              <a:spcAft>
                <a:spcPts val="0"/>
              </a:spcAft>
            </a:pPr>
            <a:r>
              <a:rPr sz="1500">
                <a:solidFill>
                  <a:srgbClr val="E8EEF2"/>
                </a:solidFill>
                <a:latin typeface="Consolas"/>
              </a:rPr>
              <a:t>    Trap logging: level errors, 14 message lines logged</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Every destination is set to </a:t>
            </a:r>
            <a:r>
              <a:rPr sz="1800" b="0" i="0">
                <a:solidFill>
                  <a:srgbClr val="1A5276"/>
                </a:solidFill>
                <a:latin typeface="Consolas"/>
              </a:rPr>
              <a:t>errors</a:t>
            </a:r>
            <a:r>
              <a:rPr sz="1900" b="0" i="0">
                <a:solidFill>
                  <a:srgbClr val="1C252B"/>
                </a:solidFill>
                <a:latin typeface="Segoe UI"/>
              </a:rPr>
              <a:t>, which is severity 3. That delivers levels 0 to 3 and </a:t>
            </a:r>
            <a:r>
              <a:rPr sz="1900" b="1" i="0">
                <a:solidFill>
                  <a:srgbClr val="1C252B"/>
                </a:solidFill>
                <a:latin typeface="Segoe UI"/>
              </a:rPr>
              <a:t>discards 4, 5, 6 and 7</a:t>
            </a:r>
            <a:r>
              <a:rPr sz="1900" b="0" i="0">
                <a:solidFill>
                  <a:srgbClr val="1C252B"/>
                </a:solidFill>
                <a:latin typeface="Segoe UI"/>
              </a:rPr>
              <a:t>.</a:t>
            </a:r>
          </a:p>
          <a:p>
            <a:pPr algn="l">
              <a:lnSpc>
                <a:spcPct val="100000"/>
              </a:lnSpc>
              <a:spcAft>
                <a:spcPts val="1000"/>
              </a:spcAft>
            </a:pPr>
            <a:r>
              <a:rPr sz="1900" b="0" i="0">
                <a:solidFill>
                  <a:srgbClr val="1C252B"/>
                </a:solidFill>
                <a:latin typeface="Segoe UI"/>
              </a:rPr>
              <a:t>Look at what lives in the discarded range: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30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Recording enough to diagnose</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service timestamps log datetime msec localtime show-timezone</a:t>
            </a:r>
          </a:p>
          <a:p>
            <a:pPr>
              <a:lnSpc>
                <a:spcPct val="100000"/>
              </a:lnSpc>
              <a:spcAft>
                <a:spcPts val="0"/>
              </a:spcAft>
            </a:pPr>
            <a:r>
              <a:rPr sz="1500">
                <a:solidFill>
                  <a:srgbClr val="E8EEF2"/>
                </a:solidFill>
                <a:latin typeface="Consolas"/>
              </a:rPr>
              <a:t>logging buffered 65536 informational</a:t>
            </a:r>
          </a:p>
          <a:p>
            <a:pPr>
              <a:lnSpc>
                <a:spcPct val="100000"/>
              </a:lnSpc>
              <a:spcAft>
                <a:spcPts val="0"/>
              </a:spcAft>
            </a:pPr>
            <a:r>
              <a:rPr sz="1500">
                <a:solidFill>
                  <a:srgbClr val="E8EEF2"/>
                </a:solidFill>
                <a:latin typeface="Consolas"/>
              </a:rPr>
              <a:t>logging trap notifications</a:t>
            </a:r>
          </a:p>
          <a:p>
            <a:pPr>
              <a:lnSpc>
                <a:spcPct val="100000"/>
              </a:lnSpc>
              <a:spcAft>
                <a:spcPts val="0"/>
              </a:spcAft>
            </a:pPr>
            <a:r>
              <a:rPr sz="1500">
                <a:solidFill>
                  <a:srgbClr val="E8EEF2"/>
                </a:solidFill>
                <a:latin typeface="Consolas"/>
              </a:rPr>
              <a:t>logging console warnings</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SYSLOG; CML FOR SNMPV3</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Making a device tell you what it is doing</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Platform note.</a:t>
            </a:r>
            <a:r>
              <a:rPr sz="2000" b="0" i="0">
                <a:solidFill>
                  <a:srgbClr val="1C252B"/>
                </a:solidFill>
                <a:latin typeface="Segoe UI"/>
              </a:rPr>
              <a:t> Packet Tracer has a syslog server and will carry tasks 1–6. SNMPv3 needs a real image and a real NMS, so tasks 7–9 want CML or GNS3 with an SNMP tool on a Linux host.</a:t>
            </a:r>
          </a:p>
        </p:txBody>
      </p:sp>
      <p:sp>
        <p:nvSpPr>
          <p:cNvPr id="8" name="bullets"/>
          <p:cNvSpPr txBox="1"/>
          <p:nvPr/>
        </p:nvSpPr>
        <p:spPr>
          <a:xfrm>
            <a:off x="685800" y="2691384"/>
            <a:ext cx="10820095" cy="3691128"/>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1.  </a:t>
            </a:r>
            <a:r>
              <a:rPr sz="2000" b="0" i="0">
                <a:solidFill>
                  <a:srgbClr val="1C252B"/>
                </a:solidFill>
                <a:latin typeface="Segoe UI"/>
              </a:rPr>
              <a:t>On a switch with default logging, run </a:t>
            </a:r>
            <a:r>
              <a:rPr sz="1900" b="0" i="0">
                <a:solidFill>
                  <a:srgbClr val="1A5276"/>
                </a:solidFill>
                <a:latin typeface="Consolas"/>
              </a:rPr>
              <a:t>show logging</a:t>
            </a:r>
            <a:r>
              <a:rPr sz="2000" b="0" i="0">
                <a:solidFill>
                  <a:srgbClr val="1C252B"/>
                </a:solidFill>
                <a:latin typeface="Segoe UI"/>
              </a:rPr>
              <a:t> and record every threshold before changing anything.</a:t>
            </a:r>
          </a:p>
          <a:p>
            <a:pPr marL="386080" indent="-386080">
              <a:lnSpc>
                <a:spcPct val="102000"/>
              </a:lnSpc>
              <a:spcAft>
                <a:spcPts val="900"/>
              </a:spcAft>
            </a:pPr>
            <a:r>
              <a:rPr sz="2000" b="1">
                <a:solidFill>
                  <a:srgbClr val="B7950B"/>
                </a:solidFill>
                <a:latin typeface="Segoe UI"/>
              </a:rPr>
              <a:t>2.  </a:t>
            </a:r>
            <a:r>
              <a:rPr sz="2000" b="0" i="0">
                <a:solidFill>
                  <a:srgbClr val="1C252B"/>
                </a:solidFill>
                <a:latin typeface="Segoe UI"/>
              </a:rPr>
              <a:t>Enable </a:t>
            </a:r>
            <a:r>
              <a:rPr sz="1900" b="0" i="0">
                <a:solidFill>
                  <a:srgbClr val="1A5276"/>
                </a:solidFill>
                <a:latin typeface="Consolas"/>
              </a:rPr>
              <a:t>service timestamps</a:t>
            </a:r>
            <a:r>
              <a:rPr sz="2000" b="0" i="0">
                <a:solidFill>
                  <a:srgbClr val="1C252B"/>
                </a:solidFill>
                <a:latin typeface="Segoe UI"/>
              </a:rPr>
              <a:t> with date, time and milliseconds. Shut an interface and compare the message with one logged before the change.</a:t>
            </a:r>
          </a:p>
          <a:p>
            <a:pPr marL="386080" indent="-386080">
              <a:lnSpc>
                <a:spcPct val="102000"/>
              </a:lnSpc>
              <a:spcAft>
                <a:spcPts val="900"/>
              </a:spcAft>
            </a:pPr>
            <a:r>
              <a:rPr sz="2000" b="1">
                <a:solidFill>
                  <a:srgbClr val="B7950B"/>
                </a:solidFill>
                <a:latin typeface="Segoe UI"/>
              </a:rPr>
              <a:t>3.  </a:t>
            </a:r>
            <a:r>
              <a:rPr sz="2000" b="0" i="0">
                <a:solidFill>
                  <a:srgbClr val="1C252B"/>
                </a:solidFill>
                <a:latin typeface="Segoe UI"/>
              </a:rPr>
              <a:t>Shut and unshut an interface and capture both messages. Identify the facility, severity and mnemonic in each, and explain why the two severities differ.</a:t>
            </a:r>
          </a:p>
          <a:p>
            <a:pPr marL="386080" indent="-386080">
              <a:lnSpc>
                <a:spcPct val="102000"/>
              </a:lnSpc>
              <a:spcAft>
                <a:spcPts val="900"/>
              </a:spcAft>
            </a:pPr>
            <a:r>
              <a:rPr sz="2000" b="1">
                <a:solidFill>
                  <a:srgbClr val="B7950B"/>
                </a:solidFill>
                <a:latin typeface="Segoe UI"/>
              </a:rPr>
              <a:t>4.  </a:t>
            </a:r>
            <a:r>
              <a:rPr sz="2000" b="0" i="0">
                <a:solidFill>
                  <a:srgbClr val="1C252B"/>
                </a:solidFill>
                <a:latin typeface="Segoe UI"/>
              </a:rPr>
              <a:t>Set </a:t>
            </a:r>
            <a:r>
              <a:rPr sz="1900" b="0" i="0">
                <a:solidFill>
                  <a:srgbClr val="1A5276"/>
                </a:solidFill>
                <a:latin typeface="Consolas"/>
              </a:rPr>
              <a:t>logging buffered errors</a:t>
            </a:r>
            <a:r>
              <a:rPr sz="2000" b="0" i="0">
                <a:solidFill>
                  <a:srgbClr val="1C252B"/>
                </a:solidFill>
                <a:latin typeface="Segoe UI"/>
              </a:rPr>
              <a:t>. Repeat the shut and unshut. Record which of the two messages survives and explain why — this is the Break &amp; Fix in miniature.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SYSLOG; CML FOR SNMPV3</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Making a device tell you what it is doing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5.  </a:t>
            </a:r>
            <a:r>
              <a:rPr sz="2000" b="0" i="0">
                <a:solidFill>
                  <a:srgbClr val="1C252B"/>
                </a:solidFill>
                <a:latin typeface="Segoe UI"/>
              </a:rPr>
              <a:t>Restore </a:t>
            </a:r>
            <a:r>
              <a:rPr sz="1900" b="0" i="0">
                <a:solidFill>
                  <a:srgbClr val="1A5276"/>
                </a:solidFill>
                <a:latin typeface="Consolas"/>
              </a:rPr>
              <a:t>logging buffered informational</a:t>
            </a:r>
            <a:r>
              <a:rPr sz="2000" b="0" i="0">
                <a:solidFill>
                  <a:srgbClr val="1C252B"/>
                </a:solidFill>
                <a:latin typeface="Segoe UI"/>
              </a:rPr>
              <a:t>, save a configuration change, and find the </a:t>
            </a:r>
            <a:r>
              <a:rPr sz="1900" b="0" i="0">
                <a:solidFill>
                  <a:srgbClr val="1A5276"/>
                </a:solidFill>
                <a:latin typeface="Consolas"/>
              </a:rPr>
              <a:t>%SYS-5-CONFIG_I</a:t>
            </a:r>
            <a:r>
              <a:rPr sz="2000" b="0" i="0">
                <a:solidFill>
                  <a:srgbClr val="1C252B"/>
                </a:solidFill>
                <a:latin typeface="Segoe UI"/>
              </a:rPr>
              <a:t> message. Note that it records </a:t>
            </a:r>
            <a:r>
              <a:rPr sz="2000" b="0" i="1">
                <a:solidFill>
                  <a:srgbClr val="1C252B"/>
                </a:solidFill>
                <a:latin typeface="Segoe UI"/>
              </a:rPr>
              <a:t>that</a:t>
            </a:r>
            <a:r>
              <a:rPr sz="2000" b="0" i="0">
                <a:solidFill>
                  <a:srgbClr val="1C252B"/>
                </a:solidFill>
                <a:latin typeface="Segoe UI"/>
              </a:rPr>
              <a:t> a change was made, not what it was.</a:t>
            </a:r>
          </a:p>
          <a:p>
            <a:pPr marL="386080" indent="-386080">
              <a:lnSpc>
                <a:spcPct val="102000"/>
              </a:lnSpc>
              <a:spcAft>
                <a:spcPts val="900"/>
              </a:spcAft>
            </a:pPr>
            <a:r>
              <a:rPr sz="2000" b="1">
                <a:solidFill>
                  <a:srgbClr val="B7950B"/>
                </a:solidFill>
                <a:latin typeface="Segoe UI"/>
              </a:rPr>
              <a:t>6.  </a:t>
            </a:r>
            <a:r>
              <a:rPr sz="2000" b="0" i="0">
                <a:solidFill>
                  <a:srgbClr val="1C252B"/>
                </a:solidFill>
                <a:latin typeface="Segoe UI"/>
              </a:rPr>
              <a:t>Point </a:t>
            </a:r>
            <a:r>
              <a:rPr sz="1900" b="0" i="0">
                <a:solidFill>
                  <a:srgbClr val="1A5276"/>
                </a:solidFill>
                <a:latin typeface="Consolas"/>
              </a:rPr>
              <a:t>logging host</a:t>
            </a:r>
            <a:r>
              <a:rPr sz="2000" b="0" i="0">
                <a:solidFill>
                  <a:srgbClr val="1C252B"/>
                </a:solidFill>
                <a:latin typeface="Segoe UI"/>
              </a:rPr>
              <a:t> at a syslog server, set </a:t>
            </a:r>
            <a:r>
              <a:rPr sz="1900" b="0" i="0">
                <a:solidFill>
                  <a:srgbClr val="1A5276"/>
                </a:solidFill>
                <a:latin typeface="Consolas"/>
              </a:rPr>
              <a:t>logging trap notifications</a:t>
            </a:r>
            <a:r>
              <a:rPr sz="2000" b="0" i="0">
                <a:solidFill>
                  <a:srgbClr val="1C252B"/>
                </a:solidFill>
                <a:latin typeface="Segoe UI"/>
              </a:rPr>
              <a:t>, and confirm messages arrive. Then set it to </a:t>
            </a:r>
            <a:r>
              <a:rPr sz="1900" b="0" i="0">
                <a:solidFill>
                  <a:srgbClr val="1A5276"/>
                </a:solidFill>
                <a:latin typeface="Consolas"/>
              </a:rPr>
              <a:t>emergencies</a:t>
            </a:r>
            <a:r>
              <a:rPr sz="2000" b="0" i="0">
                <a:solidFill>
                  <a:srgbClr val="1C252B"/>
                </a:solidFill>
                <a:latin typeface="Segoe UI"/>
              </a:rPr>
              <a:t> and confirm they stop.</a:t>
            </a:r>
          </a:p>
          <a:p>
            <a:pPr marL="386080" indent="-386080">
              <a:lnSpc>
                <a:spcPct val="102000"/>
              </a:lnSpc>
              <a:spcAft>
                <a:spcPts val="900"/>
              </a:spcAft>
            </a:pPr>
            <a:r>
              <a:rPr sz="2000" b="1">
                <a:solidFill>
                  <a:srgbClr val="B7950B"/>
                </a:solidFill>
                <a:latin typeface="Segoe UI"/>
              </a:rPr>
              <a:t>7.  </a:t>
            </a:r>
            <a:r>
              <a:rPr sz="2000" b="1" i="0">
                <a:solidFill>
                  <a:srgbClr val="1C252B"/>
                </a:solidFill>
                <a:latin typeface="Segoe UI"/>
              </a:rPr>
              <a:t>SNMP.</a:t>
            </a:r>
            <a:r>
              <a:rPr sz="2000" b="0" i="0">
                <a:solidFill>
                  <a:srgbClr val="1C252B"/>
                </a:solidFill>
                <a:latin typeface="Segoe UI"/>
              </a:rPr>
              <a:t> Configure SNMPv3 with authPriv and poll the device’s interface table from a Linux host. Record the OID you used.</a:t>
            </a:r>
          </a:p>
          <a:p>
            <a:pPr marL="386080" indent="-386080">
              <a:lnSpc>
                <a:spcPct val="102000"/>
              </a:lnSpc>
              <a:spcAft>
                <a:spcPts val="900"/>
              </a:spcAft>
            </a:pPr>
            <a:r>
              <a:rPr sz="2000" b="1">
                <a:solidFill>
                  <a:srgbClr val="B7950B"/>
                </a:solidFill>
                <a:latin typeface="Segoe UI"/>
              </a:rPr>
              <a:t>8.  </a:t>
            </a:r>
            <a:r>
              <a:rPr sz="2000" b="0" i="0">
                <a:solidFill>
                  <a:srgbClr val="1C252B"/>
                </a:solidFill>
                <a:latin typeface="Segoe UI"/>
              </a:rPr>
              <a:t>Capture the polling traffic. Confirm you cannot read it. Then reconfigure for v2c, capture again, and </a:t>
            </a:r>
            <a:r>
              <a:rPr sz="2000" b="1" i="0">
                <a:solidFill>
                  <a:srgbClr val="1C252B"/>
                </a:solidFill>
                <a:latin typeface="Segoe UI"/>
              </a:rPr>
              <a:t>find the community string in the packet</a:t>
            </a:r>
            <a:r>
              <a:rPr sz="2000" b="0" i="0">
                <a:solidFill>
                  <a:srgbClr val="1C252B"/>
                </a:solidFill>
                <a:latin typeface="Segoe UI"/>
              </a:rPr>
              <a:t>. Write down what you saw.</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 FOR SYSLOG; CML FOR SNMPV3</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Making a device tell you what it is doing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B7950B"/>
                </a:solidFill>
                <a:latin typeface="Segoe UI"/>
              </a:rPr>
              <a:t>9.  </a:t>
            </a:r>
            <a:r>
              <a:rPr sz="2000" b="0" i="0">
                <a:solidFill>
                  <a:srgbClr val="1C252B"/>
                </a:solidFill>
                <a:latin typeface="Segoe UI"/>
              </a:rPr>
              <a:t>Configure a trap receiver, generate an event, and confirm receipt. Change the trap to an inform and observe the acknowledgement.</a:t>
            </a:r>
          </a:p>
          <a:p>
            <a:pPr marL="543560" indent="-543560">
              <a:lnSpc>
                <a:spcPct val="102000"/>
              </a:lnSpc>
              <a:spcAft>
                <a:spcPts val="900"/>
              </a:spcAft>
            </a:pPr>
            <a:r>
              <a:rPr sz="2000" b="1">
                <a:solidFill>
                  <a:srgbClr val="B7950B"/>
                </a:solidFill>
                <a:latin typeface="Segoe UI"/>
              </a:rPr>
              <a:t>10.  </a:t>
            </a:r>
            <a:r>
              <a:rPr sz="2000" b="1" i="0">
                <a:solidFill>
                  <a:srgbClr val="1C252B"/>
                </a:solidFill>
                <a:latin typeface="Segoe UI"/>
              </a:rPr>
              <a:t>Extension.</a:t>
            </a:r>
            <a:r>
              <a:rPr sz="2000" b="0" i="0">
                <a:solidFill>
                  <a:srgbClr val="1C252B"/>
                </a:solidFill>
                <a:latin typeface="Segoe UI"/>
              </a:rPr>
              <a:t> Write the logging and SNMP standard your site should apply to every device, with a one-line justification per command, and the one thing you would check first when someone says the log is empty.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the five management approaches and give the one-line test that separates controller-based from automation-based.</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the five management approaches and give the one-line test that separates controller-based from automation-based.</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Device-based, controller-based, cloud-based, automation-based, and infrastructure as code. The test: </a:t>
            </a:r>
            <a:r>
              <a:rPr sz="1900" b="1" i="0">
                <a:solidFill>
                  <a:srgbClr val="1C252B"/>
                </a:solidFill>
                <a:latin typeface="Segoe UI"/>
              </a:rPr>
              <a:t>does the network still have a management system when the tool is switched off?</a:t>
            </a:r>
            <a:r>
              <a:rPr sz="1900" b="0" i="0">
                <a:solidFill>
                  <a:srgbClr val="1C252B"/>
                </a:solidFill>
                <a:latin typeface="Segoe UI"/>
              </a:rPr>
              <a:t> For controller-based, yes — and you have just lost it. For automation-based, no — nothing about the devices changed.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In </a:t>
            </a:r>
            <a:r>
              <a:rPr sz="2900" b="0" i="0">
                <a:solidFill>
                  <a:srgbClr val="FFFFFF"/>
                </a:solidFill>
                <a:latin typeface="Consolas"/>
              </a:rPr>
              <a:t>%PM-4-ERR_DISABLE</a:t>
            </a:r>
            <a:r>
              <a:rPr sz="3000" b="0" i="0">
                <a:solidFill>
                  <a:srgbClr val="FFFFFF"/>
                </a:solidFill>
                <a:latin typeface="Segoe UI"/>
              </a:rPr>
              <a:t>, identify the facility, the severity and the mnemonic, and say what the severity means.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In </a:t>
            </a:r>
            <a:r>
              <a:rPr sz="1900" b="1" i="0">
                <a:solidFill>
                  <a:srgbClr val="1A5276"/>
                </a:solidFill>
                <a:latin typeface="Consolas"/>
              </a:rPr>
              <a:t>%PM-4-ERR_DISABLE</a:t>
            </a:r>
            <a:r>
              <a:rPr sz="2000" b="1" i="0">
                <a:solidFill>
                  <a:srgbClr val="1A5276"/>
                </a:solidFill>
                <a:latin typeface="Segoe UI"/>
              </a:rPr>
              <a:t>, identify the facility, the severity and the mnemonic, and say what the severity means.</a:t>
            </a:r>
          </a:p>
        </p:txBody>
      </p:sp>
      <p:sp>
        <p:nvSpPr>
          <p:cNvPr id="8" name="abar"/>
          <p:cNvSpPr/>
          <p:nvPr/>
        </p:nvSpPr>
        <p:spPr>
          <a:xfrm>
            <a:off x="685800" y="2511044"/>
            <a:ext cx="41148" cy="51485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Facility </a:t>
            </a:r>
            <a:r>
              <a:rPr sz="1800" b="0" i="0">
                <a:solidFill>
                  <a:srgbClr val="1A5276"/>
                </a:solidFill>
                <a:latin typeface="Consolas"/>
              </a:rPr>
              <a:t>%PM</a:t>
            </a:r>
            <a:r>
              <a:rPr sz="1900" b="0" i="0">
                <a:solidFill>
                  <a:srgbClr val="1C252B"/>
                </a:solidFill>
                <a:latin typeface="Segoe UI"/>
              </a:rPr>
              <a:t>, severity </a:t>
            </a:r>
            <a:r>
              <a:rPr sz="1900" b="1" i="0">
                <a:solidFill>
                  <a:srgbClr val="1C252B"/>
                </a:solidFill>
                <a:latin typeface="Segoe UI"/>
              </a:rPr>
              <a:t>4</a:t>
            </a:r>
            <a:r>
              <a:rPr sz="1900" b="0" i="0">
                <a:solidFill>
                  <a:srgbClr val="1C252B"/>
                </a:solidFill>
                <a:latin typeface="Segoe UI"/>
              </a:rPr>
              <a:t>, mnemonic </a:t>
            </a:r>
            <a:r>
              <a:rPr sz="1800" b="0" i="0">
                <a:solidFill>
                  <a:srgbClr val="1A5276"/>
                </a:solidFill>
                <a:latin typeface="Consolas"/>
              </a:rPr>
              <a:t>ERR_DISABLE</a:t>
            </a:r>
            <a:r>
              <a:rPr sz="1900" b="0" i="0">
                <a:solidFill>
                  <a:srgbClr val="1C252B"/>
                </a:solidFill>
                <a:latin typeface="Segoe UI"/>
              </a:rPr>
              <a:t>. Severity 4 is </a:t>
            </a:r>
            <a:r>
              <a:rPr sz="1900" b="0" i="1">
                <a:solidFill>
                  <a:srgbClr val="1C252B"/>
                </a:solidFill>
                <a:latin typeface="Segoe UI"/>
              </a:rPr>
              <a:t>warning</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severity levels does </a:t>
            </a:r>
            <a:r>
              <a:rPr sz="2900" b="0" i="0">
                <a:solidFill>
                  <a:srgbClr val="FFFFFF"/>
                </a:solidFill>
                <a:latin typeface="Consolas"/>
              </a:rPr>
              <a:t>logging buffered warnings</a:t>
            </a:r>
            <a:r>
              <a:rPr sz="3000" b="0" i="0">
                <a:solidFill>
                  <a:srgbClr val="FFFFFF"/>
                </a:solidFill>
                <a:latin typeface="Segoe UI"/>
              </a:rPr>
              <a:t> record, and which does it discard?</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severity levels does </a:t>
            </a:r>
            <a:r>
              <a:rPr sz="1900" b="1" i="0">
                <a:solidFill>
                  <a:srgbClr val="1A5276"/>
                </a:solidFill>
                <a:latin typeface="Consolas"/>
              </a:rPr>
              <a:t>logging buffered warnings</a:t>
            </a:r>
            <a:r>
              <a:rPr sz="2000" b="1" i="0">
                <a:solidFill>
                  <a:srgbClr val="1A5276"/>
                </a:solidFill>
                <a:latin typeface="Segoe UI"/>
              </a:rPr>
              <a:t> record, and which does it discard?</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warnings</a:t>
            </a:r>
            <a:r>
              <a:rPr sz="1900" b="0" i="0">
                <a:solidFill>
                  <a:srgbClr val="1C252B"/>
                </a:solidFill>
                <a:latin typeface="Segoe UI"/>
              </a:rPr>
              <a:t> is severity 4, so it records levels 0 to 4 and </a:t>
            </a:r>
            <a:r>
              <a:rPr sz="1900" b="1" i="0">
                <a:solidFill>
                  <a:srgbClr val="1C252B"/>
                </a:solidFill>
                <a:latin typeface="Segoe UI"/>
              </a:rPr>
              <a:t>discards</a:t>
            </a:r>
            <a:r>
              <a:rPr sz="1900" b="0" i="0">
                <a:solidFill>
                  <a:srgbClr val="1C252B"/>
                </a:solidFill>
                <a:latin typeface="Segoe UI"/>
              </a:rPr>
              <a:t> 5, 6 and 7 — notification, informational and debugging.</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State the difference between an SNMP trap and an inform, and when you would choose each.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State the difference between an SNMP trap and an inform, and when you would choose each.</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 trap is sent once over UDP and never acknowledged, so it can be lost silently. An inform is acknowledged and retransmitted until it is. Use informs for anything you would be sorry to miss, traps for high-volume low-consequence events.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SNMP v2c unsuitable regardless of how obscure the community string is?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SNMP v2c unsuitable regardless of how obscure the community string is?</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community string travels in </a:t>
            </a:r>
            <a:r>
              <a:rPr sz="1900" b="1" i="0">
                <a:solidFill>
                  <a:srgbClr val="1C252B"/>
                </a:solidFill>
                <a:latin typeface="Segoe UI"/>
              </a:rPr>
              <a:t>clear text</a:t>
            </a:r>
            <a:r>
              <a:rPr sz="1900" b="0" i="0">
                <a:solidFill>
                  <a:srgbClr val="1C252B"/>
                </a:solidFill>
                <a:latin typeface="Segoe UI"/>
              </a:rPr>
              <a:t> in every polling packet, hundreds of times an hour. Anyone who can capture one packet has it, so obscurity is irrelevant. A read-write string is equivalent to an enable password.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a:t>
            </a:r>
            <a:r>
              <a:rPr sz="2900" b="0" i="0">
                <a:solidFill>
                  <a:srgbClr val="FFFFFF"/>
                </a:solidFill>
                <a:latin typeface="Consolas"/>
              </a:rPr>
              <a:t>logging trap</a:t>
            </a:r>
            <a:r>
              <a:rPr sz="3000" b="0" i="0">
                <a:solidFill>
                  <a:srgbClr val="FFFFFF"/>
                </a:solidFill>
                <a:latin typeface="Segoe UI"/>
              </a:rPr>
              <a:t> configure, and what does it not?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a:t>
            </a:r>
            <a:r>
              <a:rPr sz="1900" b="1" i="0">
                <a:solidFill>
                  <a:srgbClr val="1A5276"/>
                </a:solidFill>
                <a:latin typeface="Consolas"/>
              </a:rPr>
              <a:t>logging trap</a:t>
            </a:r>
            <a:r>
              <a:rPr sz="2000" b="1" i="0">
                <a:solidFill>
                  <a:srgbClr val="1A5276"/>
                </a:solidFill>
                <a:latin typeface="Segoe UI"/>
              </a:rPr>
              <a:t> configure, and what does it not?</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sets the </a:t>
            </a:r>
            <a:r>
              <a:rPr sz="1900" b="0" i="1">
                <a:solidFill>
                  <a:srgbClr val="1C252B"/>
                </a:solidFill>
                <a:latin typeface="Segoe UI"/>
              </a:rPr>
              <a:t>severity threshold for messages sent to a syslog server</a:t>
            </a:r>
            <a:r>
              <a:rPr sz="1900" b="0" i="0">
                <a:solidFill>
                  <a:srgbClr val="1C252B"/>
                </a:solidFill>
                <a:latin typeface="Segoe UI"/>
              </a:rPr>
              <a:t>. It has nothing whatever to do with SNMP traps, despite the name.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Five approaches: device-based (per box), controller-based (a controller holds intent), cloud-based (vendor-hosted management plane), automation-based (tooling drives existing interfaces), infrastructure as code (state in a reviewed repository).</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Controller-based adds a system to the network; automation-based does not. That is the distinction to be able to state.</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SNMP: manager polls agents on UDP 161 with Get, GetNext, GetBulk and Set; agents send traps and informs to UDP 162. Informs are acknowledged, traps are not.</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v1 and v2c send community strings in clear. Only v3 authenticates and encrypts. Use authPriv.</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30. Management Approaches, SNMP and Syslog</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5.3  5.4  5.6</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An IOS syslog message is </a:t>
            </a:r>
            <a:r>
              <a:rPr sz="1900" b="0" i="0">
                <a:solidFill>
                  <a:srgbClr val="1A5276"/>
                </a:solidFill>
                <a:latin typeface="Consolas"/>
              </a:rPr>
              <a:t>%FACILITY-SEVERITY-MNEMONIC: description</a:t>
            </a:r>
            <a:r>
              <a:rPr sz="2000" b="0" i="0">
                <a:solidFill>
                  <a:srgbClr val="1C252B"/>
                </a:solidFill>
                <a:latin typeface="Segoe UI"/>
              </a:rPr>
              <a:t>. The severity is the digit between the hyphens.</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Levels 0 to 7, emergency to debugging. </a:t>
            </a:r>
            <a:r>
              <a:rPr sz="2000" b="1" i="0">
                <a:solidFill>
                  <a:srgbClr val="1C252B"/>
                </a:solidFill>
                <a:latin typeface="Segoe UI"/>
              </a:rPr>
              <a:t>0 is worst.</a:t>
            </a:r>
            <a:r>
              <a:rPr sz="2000" b="0" i="0">
                <a:solidFill>
                  <a:srgbClr val="1C252B"/>
                </a:solidFill>
                <a:latin typeface="Segoe UI"/>
              </a:rPr>
              <a:t> A threshold of </a:t>
            </a:r>
            <a:r>
              <a:rPr sz="2000" b="0" i="1">
                <a:solidFill>
                  <a:srgbClr val="1C252B"/>
                </a:solidFill>
                <a:latin typeface="Segoe UI"/>
              </a:rPr>
              <a:t>n</a:t>
            </a:r>
            <a:r>
              <a:rPr sz="2000" b="0" i="0">
                <a:solidFill>
                  <a:srgbClr val="1C252B"/>
                </a:solidFill>
                <a:latin typeface="Segoe UI"/>
              </a:rPr>
              <a:t> records 0 through </a:t>
            </a:r>
            <a:r>
              <a:rPr sz="2000" b="0" i="1">
                <a:solidFill>
                  <a:srgbClr val="1C252B"/>
                </a:solidFill>
                <a:latin typeface="Segoe UI"/>
              </a:rPr>
              <a:t>n</a:t>
            </a:r>
            <a:r>
              <a:rPr sz="2000" b="0" i="0">
                <a:solidFill>
                  <a:srgbClr val="1C252B"/>
                </a:solidFill>
                <a:latin typeface="Segoe UI"/>
              </a:rPr>
              <a:t> and discards the rest.</a:t>
            </a:r>
          </a:p>
          <a:p>
            <a:pPr marL="228600" indent="-228600">
              <a:lnSpc>
                <a:spcPct val="102000"/>
              </a:lnSpc>
              <a:spcAft>
                <a:spcPts val="900"/>
              </a:spcAft>
            </a:pPr>
            <a:r>
              <a:rPr sz="2000" b="1">
                <a:solidFill>
                  <a:srgbClr val="B7950B"/>
                </a:solidFill>
                <a:latin typeface="Segoe UI"/>
              </a:rPr>
              <a:t>•  </a:t>
            </a:r>
            <a:r>
              <a:rPr sz="1900" b="0" i="0">
                <a:solidFill>
                  <a:srgbClr val="1A5276"/>
                </a:solidFill>
                <a:latin typeface="Consolas"/>
              </a:rPr>
              <a:t>service timestamps</a:t>
            </a:r>
            <a:r>
              <a:rPr sz="2000" b="0" i="0">
                <a:solidFill>
                  <a:srgbClr val="1C252B"/>
                </a:solidFill>
                <a:latin typeface="Segoe UI"/>
              </a:rPr>
              <a:t> first, always. </a:t>
            </a:r>
            <a:r>
              <a:rPr sz="1900" b="0" i="0">
                <a:solidFill>
                  <a:srgbClr val="1A5276"/>
                </a:solidFill>
                <a:latin typeface="Consolas"/>
              </a:rPr>
              <a:t>logging trap</a:t>
            </a:r>
            <a:r>
              <a:rPr sz="2000" b="0" i="0">
                <a:solidFill>
                  <a:srgbClr val="1C252B"/>
                </a:solidFill>
                <a:latin typeface="Segoe UI"/>
              </a:rPr>
              <a:t> is a syslog severity, not SNMP.</a:t>
            </a:r>
          </a:p>
          <a:p>
            <a:pPr marL="228600" indent="-228600">
              <a:lnSpc>
                <a:spcPct val="102000"/>
              </a:lnSpc>
              <a:spcAft>
                <a:spcPts val="900"/>
              </a:spcAft>
            </a:pPr>
            <a:r>
              <a:rPr sz="2000" b="1">
                <a:solidFill>
                  <a:srgbClr val="B7950B"/>
                </a:solidFill>
                <a:latin typeface="Segoe UI"/>
              </a:rPr>
              <a:t>•  </a:t>
            </a:r>
            <a:r>
              <a:rPr sz="2000" b="0" i="0">
                <a:solidFill>
                  <a:srgbClr val="1C252B"/>
                </a:solidFill>
                <a:latin typeface="Segoe UI"/>
              </a:rPr>
              <a:t>An empty log describes the logging configuration, not the network.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2" name="bg"/>
          <p:cNvSpPr/>
          <p:nvPr/>
        </p:nvSpPr>
        <p:spPr>
          <a:xfrm>
            <a:off x="0" y="0"/>
            <a:ext cx="12191695"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Five approaches: device-based (per box), controller-based (a controller holds intent), cloud-based (vendor-hosted management plane), automation-based (tooling drives existing interfaces), infrastructure as code (state in a reviewed repository).</a:t>
            </a:r>
          </a:p>
          <a:p>
            <a:pPr marL="217169" indent="-217169">
              <a:spcAft>
                <a:spcPts val="900"/>
              </a:spcAft>
            </a:pPr>
            <a:r>
              <a:rPr sz="1900">
                <a:solidFill>
                  <a:srgbClr val="C8D6E5"/>
                </a:solidFill>
              </a:rPr>
              <a:t>•  </a:t>
            </a:r>
            <a:r>
              <a:rPr sz="1900" b="0" i="0">
                <a:solidFill>
                  <a:srgbClr val="FFFFFF"/>
                </a:solidFill>
                <a:latin typeface="Segoe UI"/>
              </a:rPr>
              <a:t>Controller-based adds a system to the network; automation-based does not. That is the distinction to be able to state.</a:t>
            </a:r>
          </a:p>
          <a:p>
            <a:pPr marL="217169" indent="-217169">
              <a:spcAft>
                <a:spcPts val="900"/>
              </a:spcAft>
            </a:pPr>
            <a:r>
              <a:rPr sz="1900">
                <a:solidFill>
                  <a:srgbClr val="C8D6E5"/>
                </a:solidFill>
              </a:rPr>
              <a:t>•  </a:t>
            </a:r>
            <a:r>
              <a:rPr sz="1900" b="0" i="0">
                <a:solidFill>
                  <a:srgbClr val="FFFFFF"/>
                </a:solidFill>
                <a:latin typeface="Segoe UI"/>
              </a:rPr>
              <a:t>SNMP: manager polls agents on UDP 161 with Get, GetNext, GetBulk and Set; agents send traps and informs to UDP 162. Informs are acknowledged, traps are not.</a:t>
            </a:r>
          </a:p>
          <a:p>
            <a:pPr marL="217169" indent="-217169">
              <a:spcAft>
                <a:spcPts val="900"/>
              </a:spcAft>
            </a:pPr>
            <a:r>
              <a:rPr sz="1900">
                <a:solidFill>
                  <a:srgbClr val="C8D6E5"/>
                </a:solidFill>
              </a:rPr>
              <a:t>•  </a:t>
            </a:r>
            <a:r>
              <a:rPr sz="1900" b="0" i="0">
                <a:solidFill>
                  <a:srgbClr val="FFFFFF"/>
                </a:solidFill>
                <a:latin typeface="Segoe UI"/>
              </a:rPr>
              <a:t>v1 and v2c send community strings in clear. Only v3 authenticates and encrypts. Use authPriv.</a:t>
            </a:r>
          </a:p>
        </p:txBody>
      </p:sp>
      <p:sp>
        <p:nvSpPr>
          <p:cNvPr id="5" name="nextbg"/>
          <p:cNvSpPr/>
          <p:nvPr/>
        </p:nvSpPr>
        <p:spPr>
          <a:xfrm>
            <a:off x="685800" y="5303520"/>
            <a:ext cx="10820095" cy="822960"/>
          </a:xfrm>
          <a:prstGeom prst="rect">
            <a:avLst/>
          </a:prstGeom>
          <a:solidFill>
            <a:srgbClr val="5A4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31 — Ansible and Configuration Management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