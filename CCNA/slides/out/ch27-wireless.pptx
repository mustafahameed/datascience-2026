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27: Wireless Principles. Blueprint topics: 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Wireless Principles 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switch port is a private, full-duplex conversation between two devices. A radio channel is a room everybody shouts across. Three consequences shape everything else in this chapter. It is half duplex and shared. Only one device on a channel may transmit at a time. Ten clients on one access point share the airtime between them — the advertised data rate is not per-client bandwidth. Collisions cannot be detected, only avoided. A radio cannot listen while it transmits, so Ethernet’s CSMA/CD is impossible. Wireless uses CSMA/CA: listen, wait a random interval, transmit, and expect an acknowledgement for every frame. The medium is unlicensed and shared with strangers. Your neighbour’s network, a microwave oven and a Bluetooth headset all have the same right to the spectrum that you 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Wider channels carry more data. 802.11n and later can bond adjacent 20 MHz channels into 40, 80 or 160 MHz.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 power spans an enormous range, so it is measured logarithmically. dBm — power relative to 1 milliwatt. 0 dBm is 1 mW. Absolute. dB — a ratio, with no unit of its own. A gain or a loss. dBi — antenna gain relative to a theoretical isotropic radiator.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Microwave ovens — 2.4 GHz, high power, intermittent. Classic symptom: wireless fails in the staff room at 12:30 every day. Bluetooth and wireless headsets — 2.4 GHz frequency hopping, low power, constant. Cordless phones, video senders, wireless cameras, baby monitors — often 2.4 GHz, often continuous, often invisible to Wi-Fi tools because they are not Wi-Fi. Radar — 5 GHz, and triggers DFS events rather than plain interference. Too much of your own network — APs at full transmit power in a dense deployment interfere with each other. Reducing power often improves a busy site. Physical obstruction — not interference strictly, but it presents identically to a user. Lift shafts, fire doors, foil-backed insulation, and fish tanks.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618D"/>
        </a:solidFill>
        <a:effectLst/>
      </p:bgPr>
    </p:bg>
    <p:spTree>
      <p:nvGrpSpPr>
        <p:cNvPr id="1" name=""/>
        <p:cNvGrpSpPr/>
        <p:nvPr/>
      </p:nvGrpSpPr>
      <p:grpSpPr/>
      <p:sp>
        <p:nvSpPr>
          <p:cNvPr id="2" name="bg"/>
          <p:cNvSpPr/>
          <p:nvPr/>
        </p:nvSpPr>
        <p:spPr>
          <a:xfrm>
            <a:off x="0" y="0"/>
            <a:ext cx="12191695" cy="68580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94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27</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Wireless Principles</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V — Wireless, Virtualisation and Operations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1.5"/>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1.5"/>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F618D"/>
                </a:solidFill>
                <a:latin typeface="Segoe UI"/>
              </a:rPr>
              <a:t>1.5</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3"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4"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Select</a:t>
            </a:r>
            <a:r>
              <a:rPr sz="2000" b="0" i="0">
                <a:solidFill>
                  <a:srgbClr val="1C252B"/>
                </a:solidFill>
                <a:latin typeface="Segoe UI"/>
              </a:rPr>
              <a:t> a band and a channel plan, and explain why 2.4 GHz has only three usable channels.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Describe</a:t>
            </a:r>
            <a:r>
              <a:rPr sz="2000" b="0" i="0">
                <a:solidFill>
                  <a:srgbClr val="1C252B"/>
                </a:solidFill>
                <a:latin typeface="Segoe UI"/>
              </a:rPr>
              <a:t> the RF characteristics that decide whether a link works: signal strength, noise, SNR, and what happens to radio waves on the way.</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Compare</a:t>
            </a:r>
            <a:r>
              <a:rPr sz="2000" b="0" i="0">
                <a:solidFill>
                  <a:srgbClr val="1C252B"/>
                </a:solidFill>
                <a:latin typeface="Segoe UI"/>
              </a:rPr>
              <a:t> WEP, WPA, WPA2 and WPA3, and distinguish personal from enterprise authentication.</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Identify</a:t>
            </a:r>
            <a:r>
              <a:rPr sz="2000" b="0" i="0">
                <a:solidFill>
                  <a:srgbClr val="1C252B"/>
                </a:solidFill>
                <a:latin typeface="Segoe UI"/>
              </a:rPr>
              <a:t> causes of interference, and tell co-channel interference apart from adjacent-channel interference.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tint"/>
          <p:cNvSpPr/>
          <p:nvPr/>
        </p:nvSpPr>
        <p:spPr>
          <a:xfrm>
            <a:off x="685800" y="1517904"/>
            <a:ext cx="10820095" cy="19974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3 — wireless is a shared medium with collision </a:t>
            </a:r>
            <a:r>
              <a:rPr sz="2000" b="0" i="1">
                <a:solidFill>
                  <a:srgbClr val="1C252B"/>
                </a:solidFill>
                <a:latin typeface="Segoe UI"/>
              </a:rPr>
              <a:t>avoidance</a:t>
            </a:r>
            <a:r>
              <a:rPr sz="2000" b="0" i="0">
                <a:solidFill>
                  <a:srgbClr val="1C252B"/>
                </a:solidFill>
                <a:latin typeface="Segoe UI"/>
              </a:rPr>
              <a:t> rather than detection, and the contrast is the quickest way in. Chapter 9 for how access points attach to the wired network. Chapter 23 for RADIUS, which is what “enterprise” wireless authenticates against.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term-band"/>
          <p:cNvSpPr/>
          <p:nvPr/>
        </p:nvSpPr>
        <p:spPr>
          <a:xfrm>
            <a:off x="685800" y="1609344"/>
            <a:ext cx="71780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band"/>
          <p:cNvSpPr/>
          <p:nvPr/>
        </p:nvSpPr>
        <p:spPr>
          <a:xfrm>
            <a:off x="68580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band"/>
          <p:cNvSpPr txBox="1"/>
          <p:nvPr/>
        </p:nvSpPr>
        <p:spPr>
          <a:xfrm>
            <a:off x="850392" y="1700784"/>
            <a:ext cx="38862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band</a:t>
            </a:r>
          </a:p>
        </p:txBody>
      </p:sp>
      <p:sp>
        <p:nvSpPr>
          <p:cNvPr id="10" name="term-channel"/>
          <p:cNvSpPr/>
          <p:nvPr/>
        </p:nvSpPr>
        <p:spPr>
          <a:xfrm>
            <a:off x="1531620" y="1609344"/>
            <a:ext cx="9692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channel"/>
          <p:cNvSpPr/>
          <p:nvPr/>
        </p:nvSpPr>
        <p:spPr>
          <a:xfrm>
            <a:off x="153162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channel"/>
          <p:cNvSpPr txBox="1"/>
          <p:nvPr/>
        </p:nvSpPr>
        <p:spPr>
          <a:xfrm>
            <a:off x="1696212" y="1700784"/>
            <a:ext cx="64007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channel</a:t>
            </a:r>
          </a:p>
        </p:txBody>
      </p:sp>
      <p:sp>
        <p:nvSpPr>
          <p:cNvPr id="13" name="term-non-overlapping"/>
          <p:cNvSpPr/>
          <p:nvPr/>
        </p:nvSpPr>
        <p:spPr>
          <a:xfrm>
            <a:off x="2628900" y="1609344"/>
            <a:ext cx="166649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non-overlapping"/>
          <p:cNvSpPr/>
          <p:nvPr/>
        </p:nvSpPr>
        <p:spPr>
          <a:xfrm>
            <a:off x="262890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non-overlapping"/>
          <p:cNvSpPr txBox="1"/>
          <p:nvPr/>
        </p:nvSpPr>
        <p:spPr>
          <a:xfrm>
            <a:off x="2793492" y="1700784"/>
            <a:ext cx="133730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non-overlapping</a:t>
            </a:r>
          </a:p>
        </p:txBody>
      </p:sp>
      <p:sp>
        <p:nvSpPr>
          <p:cNvPr id="16" name="term-channel bonding"/>
          <p:cNvSpPr/>
          <p:nvPr/>
        </p:nvSpPr>
        <p:spPr>
          <a:xfrm>
            <a:off x="4423409" y="1609344"/>
            <a:ext cx="166649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channel bonding"/>
          <p:cNvSpPr/>
          <p:nvPr/>
        </p:nvSpPr>
        <p:spPr>
          <a:xfrm>
            <a:off x="4423409"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channel bonding"/>
          <p:cNvSpPr txBox="1"/>
          <p:nvPr/>
        </p:nvSpPr>
        <p:spPr>
          <a:xfrm>
            <a:off x="4588001" y="1700784"/>
            <a:ext cx="133730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channel bonding</a:t>
            </a:r>
          </a:p>
        </p:txBody>
      </p:sp>
      <p:sp>
        <p:nvSpPr>
          <p:cNvPr id="19" name="term-dBm"/>
          <p:cNvSpPr/>
          <p:nvPr/>
        </p:nvSpPr>
        <p:spPr>
          <a:xfrm>
            <a:off x="6217919" y="1609344"/>
            <a:ext cx="71208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dBm"/>
          <p:cNvSpPr/>
          <p:nvPr/>
        </p:nvSpPr>
        <p:spPr>
          <a:xfrm>
            <a:off x="6217919"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dBm"/>
          <p:cNvSpPr txBox="1"/>
          <p:nvPr/>
        </p:nvSpPr>
        <p:spPr>
          <a:xfrm>
            <a:off x="6382511" y="1700784"/>
            <a:ext cx="38290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dBm</a:t>
            </a:r>
          </a:p>
        </p:txBody>
      </p:sp>
      <p:sp>
        <p:nvSpPr>
          <p:cNvPr id="22" name="term-RSSI"/>
          <p:cNvSpPr/>
          <p:nvPr/>
        </p:nvSpPr>
        <p:spPr>
          <a:xfrm>
            <a:off x="7058024" y="1609344"/>
            <a:ext cx="74066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RSSI"/>
          <p:cNvSpPr/>
          <p:nvPr/>
        </p:nvSpPr>
        <p:spPr>
          <a:xfrm>
            <a:off x="705802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RSSI"/>
          <p:cNvSpPr txBox="1"/>
          <p:nvPr/>
        </p:nvSpPr>
        <p:spPr>
          <a:xfrm>
            <a:off x="7222616" y="1700784"/>
            <a:ext cx="41147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RSSI</a:t>
            </a:r>
          </a:p>
        </p:txBody>
      </p:sp>
      <p:sp>
        <p:nvSpPr>
          <p:cNvPr id="25" name="term-SNR"/>
          <p:cNvSpPr/>
          <p:nvPr/>
        </p:nvSpPr>
        <p:spPr>
          <a:xfrm>
            <a:off x="7926704" y="1609344"/>
            <a:ext cx="68351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SNR"/>
          <p:cNvSpPr/>
          <p:nvPr/>
        </p:nvSpPr>
        <p:spPr>
          <a:xfrm>
            <a:off x="792670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SNR"/>
          <p:cNvSpPr txBox="1"/>
          <p:nvPr/>
        </p:nvSpPr>
        <p:spPr>
          <a:xfrm>
            <a:off x="8091296" y="1700784"/>
            <a:ext cx="3543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SNR</a:t>
            </a:r>
          </a:p>
        </p:txBody>
      </p:sp>
      <p:sp>
        <p:nvSpPr>
          <p:cNvPr id="28" name="term-noise floor"/>
          <p:cNvSpPr/>
          <p:nvPr/>
        </p:nvSpPr>
        <p:spPr>
          <a:xfrm>
            <a:off x="8738234" y="1609344"/>
            <a:ext cx="11978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noise floor"/>
          <p:cNvSpPr/>
          <p:nvPr/>
        </p:nvSpPr>
        <p:spPr>
          <a:xfrm>
            <a:off x="873823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noise floor"/>
          <p:cNvSpPr txBox="1"/>
          <p:nvPr/>
        </p:nvSpPr>
        <p:spPr>
          <a:xfrm>
            <a:off x="8902826" y="1700784"/>
            <a:ext cx="86867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noise floor</a:t>
            </a:r>
          </a:p>
        </p:txBody>
      </p:sp>
      <p:sp>
        <p:nvSpPr>
          <p:cNvPr id="31" name="term-attenuation"/>
          <p:cNvSpPr/>
          <p:nvPr/>
        </p:nvSpPr>
        <p:spPr>
          <a:xfrm>
            <a:off x="10064114" y="1609344"/>
            <a:ext cx="12378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attenuation"/>
          <p:cNvSpPr/>
          <p:nvPr/>
        </p:nvSpPr>
        <p:spPr>
          <a:xfrm>
            <a:off x="1006411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attenuation"/>
          <p:cNvSpPr txBox="1"/>
          <p:nvPr/>
        </p:nvSpPr>
        <p:spPr>
          <a:xfrm>
            <a:off x="10228706" y="1700784"/>
            <a:ext cx="90868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attenuation</a:t>
            </a:r>
          </a:p>
        </p:txBody>
      </p:sp>
      <p:sp>
        <p:nvSpPr>
          <p:cNvPr id="34" name="term-SSID"/>
          <p:cNvSpPr/>
          <p:nvPr/>
        </p:nvSpPr>
        <p:spPr>
          <a:xfrm>
            <a:off x="685800" y="2212848"/>
            <a:ext cx="74066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SSID"/>
          <p:cNvSpPr/>
          <p:nvPr/>
        </p:nvSpPr>
        <p:spPr>
          <a:xfrm>
            <a:off x="68580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SSID"/>
          <p:cNvSpPr txBox="1"/>
          <p:nvPr/>
        </p:nvSpPr>
        <p:spPr>
          <a:xfrm>
            <a:off x="850392" y="2304288"/>
            <a:ext cx="41148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SSID</a:t>
            </a:r>
          </a:p>
        </p:txBody>
      </p:sp>
      <p:sp>
        <p:nvSpPr>
          <p:cNvPr id="37" name="term-BSSID"/>
          <p:cNvSpPr/>
          <p:nvPr/>
        </p:nvSpPr>
        <p:spPr>
          <a:xfrm>
            <a:off x="1554480" y="2212848"/>
            <a:ext cx="85877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BSSID"/>
          <p:cNvSpPr/>
          <p:nvPr/>
        </p:nvSpPr>
        <p:spPr>
          <a:xfrm>
            <a:off x="155448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BSSID"/>
          <p:cNvSpPr txBox="1"/>
          <p:nvPr/>
        </p:nvSpPr>
        <p:spPr>
          <a:xfrm>
            <a:off x="1719072" y="2304288"/>
            <a:ext cx="52959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BSSID</a:t>
            </a:r>
          </a:p>
        </p:txBody>
      </p:sp>
      <p:sp>
        <p:nvSpPr>
          <p:cNvPr id="40" name="term-WPA2"/>
          <p:cNvSpPr/>
          <p:nvPr/>
        </p:nvSpPr>
        <p:spPr>
          <a:xfrm>
            <a:off x="2541270" y="2212848"/>
            <a:ext cx="85115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WPA2"/>
          <p:cNvSpPr/>
          <p:nvPr/>
        </p:nvSpPr>
        <p:spPr>
          <a:xfrm>
            <a:off x="254127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WPA2"/>
          <p:cNvSpPr txBox="1"/>
          <p:nvPr/>
        </p:nvSpPr>
        <p:spPr>
          <a:xfrm>
            <a:off x="2705862" y="2304288"/>
            <a:ext cx="52197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WPA2</a:t>
            </a:r>
          </a:p>
        </p:txBody>
      </p:sp>
      <p:sp>
        <p:nvSpPr>
          <p:cNvPr id="43" name="term-WPA3"/>
          <p:cNvSpPr/>
          <p:nvPr/>
        </p:nvSpPr>
        <p:spPr>
          <a:xfrm>
            <a:off x="3520440" y="2212848"/>
            <a:ext cx="85115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b-WPA3"/>
          <p:cNvSpPr/>
          <p:nvPr/>
        </p:nvSpPr>
        <p:spPr>
          <a:xfrm>
            <a:off x="352044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t-WPA3"/>
          <p:cNvSpPr txBox="1"/>
          <p:nvPr/>
        </p:nvSpPr>
        <p:spPr>
          <a:xfrm>
            <a:off x="3685032" y="2304288"/>
            <a:ext cx="52197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WPA3</a:t>
            </a:r>
          </a:p>
        </p:txBody>
      </p:sp>
      <p:sp>
        <p:nvSpPr>
          <p:cNvPr id="46" name="term-SAE"/>
          <p:cNvSpPr/>
          <p:nvPr/>
        </p:nvSpPr>
        <p:spPr>
          <a:xfrm>
            <a:off x="4499610" y="2212848"/>
            <a:ext cx="68351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b-SAE"/>
          <p:cNvSpPr/>
          <p:nvPr/>
        </p:nvSpPr>
        <p:spPr>
          <a:xfrm>
            <a:off x="449961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t-SAE"/>
          <p:cNvSpPr txBox="1"/>
          <p:nvPr/>
        </p:nvSpPr>
        <p:spPr>
          <a:xfrm>
            <a:off x="4664202" y="2304288"/>
            <a:ext cx="3543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SAE</a:t>
            </a:r>
          </a:p>
        </p:txBody>
      </p:sp>
      <p:sp>
        <p:nvSpPr>
          <p:cNvPr id="49" name="term-802.1X"/>
          <p:cNvSpPr/>
          <p:nvPr/>
        </p:nvSpPr>
        <p:spPr>
          <a:xfrm>
            <a:off x="5311140" y="2212848"/>
            <a:ext cx="97688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b-802.1X"/>
          <p:cNvSpPr/>
          <p:nvPr/>
        </p:nvSpPr>
        <p:spPr>
          <a:xfrm>
            <a:off x="531114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t-802.1X"/>
          <p:cNvSpPr txBox="1"/>
          <p:nvPr/>
        </p:nvSpPr>
        <p:spPr>
          <a:xfrm>
            <a:off x="5475732" y="2304288"/>
            <a:ext cx="64770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802.1X</a:t>
            </a:r>
          </a:p>
        </p:txBody>
      </p:sp>
      <p:sp>
        <p:nvSpPr>
          <p:cNvPr id="52" name="term-co-channel interfe"/>
          <p:cNvSpPr/>
          <p:nvPr/>
        </p:nvSpPr>
        <p:spPr>
          <a:xfrm>
            <a:off x="6416040" y="2212848"/>
            <a:ext cx="228371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b-co-channel interfe"/>
          <p:cNvSpPr/>
          <p:nvPr/>
        </p:nvSpPr>
        <p:spPr>
          <a:xfrm>
            <a:off x="641604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t-co-channel interfe"/>
          <p:cNvSpPr txBox="1"/>
          <p:nvPr/>
        </p:nvSpPr>
        <p:spPr>
          <a:xfrm>
            <a:off x="6580632" y="2304288"/>
            <a:ext cx="19545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co-channel interference</a:t>
            </a:r>
          </a:p>
        </p:txBody>
      </p:sp>
      <p:sp>
        <p:nvSpPr>
          <p:cNvPr id="55"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Four named sub-topics, and the verb is describe</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F618D"/>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1F618D"/>
                </a:solidFill>
                <a:latin typeface="Segoe UI"/>
              </a:rPr>
              <a:t> 1.5 </a:t>
            </a:r>
            <a:r>
              <a:rPr sz="2000" b="0" i="0">
                <a:solidFill>
                  <a:srgbClr val="1C252B"/>
                </a:solidFill>
                <a:latin typeface="Segoe UI"/>
              </a:rPr>
              <a:t> is </a:t>
            </a:r>
            <a:r>
              <a:rPr sz="2000" b="0" i="1">
                <a:solidFill>
                  <a:srgbClr val="1C252B"/>
                </a:solidFill>
                <a:latin typeface="Segoe UI"/>
              </a:rPr>
              <a:t>describe wireless principles</a:t>
            </a:r>
            <a:r>
              <a:rPr sz="2000" b="0" i="0">
                <a:solidFill>
                  <a:srgbClr val="1C252B"/>
                </a:solidFill>
                <a:latin typeface="Segoe UI"/>
              </a:rPr>
              <a:t>, with four sub-topics named explicitly: </a:t>
            </a:r>
            <a:r>
              <a:rPr sz="1600" b="1">
                <a:solidFill>
                  <a:srgbClr val="1F618D"/>
                </a:solidFill>
                <a:latin typeface="Segoe UI"/>
              </a:rPr>
              <a:t> 1.5.a </a:t>
            </a:r>
            <a:r>
              <a:rPr sz="2000" b="0" i="0">
                <a:solidFill>
                  <a:srgbClr val="1C252B"/>
                </a:solidFill>
                <a:latin typeface="Segoe UI"/>
              </a:rPr>
              <a:t> band and channel selection, </a:t>
            </a:r>
            <a:r>
              <a:rPr sz="1600" b="1">
                <a:solidFill>
                  <a:srgbClr val="1F618D"/>
                </a:solidFill>
                <a:latin typeface="Segoe UI"/>
              </a:rPr>
              <a:t> 1.5.b </a:t>
            </a:r>
            <a:r>
              <a:rPr sz="2000" b="0" i="0">
                <a:solidFill>
                  <a:srgbClr val="1C252B"/>
                </a:solidFill>
                <a:latin typeface="Segoe UI"/>
              </a:rPr>
              <a:t> RF characteristics, </a:t>
            </a:r>
            <a:r>
              <a:rPr sz="1600" b="1">
                <a:solidFill>
                  <a:srgbClr val="1F618D"/>
                </a:solidFill>
                <a:latin typeface="Segoe UI"/>
              </a:rPr>
              <a:t> 1.5.c </a:t>
            </a:r>
            <a:r>
              <a:rPr sz="2000" b="0" i="0">
                <a:solidFill>
                  <a:srgbClr val="1C252B"/>
                </a:solidFill>
                <a:latin typeface="Segoe UI"/>
              </a:rPr>
              <a:t> security protocols, </a:t>
            </a:r>
            <a:r>
              <a:rPr sz="1600" b="1">
                <a:solidFill>
                  <a:srgbClr val="1F618D"/>
                </a:solidFill>
                <a:latin typeface="Segoe UI"/>
              </a:rPr>
              <a:t> 1.5.d </a:t>
            </a:r>
            <a:r>
              <a:rPr sz="2000" b="0" i="0">
                <a:solidFill>
                  <a:srgbClr val="1C252B"/>
                </a:solidFill>
                <a:latin typeface="Segoe UI"/>
              </a:rPr>
              <a:t> cause of interference.</a:t>
            </a:r>
          </a:p>
          <a:p>
            <a:pPr algn="l">
              <a:lnSpc>
                <a:spcPct val="100000"/>
              </a:lnSpc>
              <a:spcAft>
                <a:spcPts val="1000"/>
              </a:spcAft>
            </a:pPr>
            <a:r>
              <a:rPr sz="2000" b="0" i="0">
                <a:solidFill>
                  <a:srgbClr val="1C252B"/>
                </a:solidFill>
                <a:latin typeface="Segoe UI"/>
              </a:rPr>
              <a:t>There is </a:t>
            </a:r>
            <a:r>
              <a:rPr sz="2000" b="1" i="0">
                <a:solidFill>
                  <a:srgbClr val="1C252B"/>
                </a:solidFill>
                <a:latin typeface="Segoe UI"/>
              </a:rPr>
              <a:t>no wireless configuration on this blueprint.</a:t>
            </a:r>
            <a:r>
              <a:rPr sz="2000" b="0" i="0">
                <a:solidFill>
                  <a:srgbClr val="1C252B"/>
                </a:solidFill>
                <a:latin typeface="Segoe UI"/>
              </a:rPr>
              <a:t> v1.1 asked you to build a WLAN in a controller GUI; v2.0 does not. Do not spend time learning WLC menus for this exam — spend it on the four lists in this chapter, because that is exactly what is examined.</a:t>
            </a:r>
          </a:p>
          <a:p>
            <a:pPr algn="l">
              <a:lnSpc>
                <a:spcPct val="100000"/>
              </a:lnSpc>
              <a:spcAft>
                <a:spcPts val="1000"/>
              </a:spcAft>
            </a:pPr>
            <a:r>
              <a:rPr sz="2000" b="0" i="0">
                <a:solidFill>
                  <a:srgbClr val="1C252B"/>
                </a:solidFill>
                <a:latin typeface="Segoe UI"/>
              </a:rPr>
              <a:t>Access points do appear elsewhere: </a:t>
            </a:r>
            <a:r>
              <a:rPr sz="1600" b="1">
                <a:solidFill>
                  <a:srgbClr val="117864"/>
                </a:solidFill>
                <a:latin typeface="Segoe UI"/>
              </a:rPr>
              <a:t> 2.2 </a:t>
            </a:r>
            <a:r>
              <a:rPr sz="2000" b="0" i="0">
                <a:solidFill>
                  <a:srgbClr val="1C252B"/>
                </a:solidFill>
                <a:latin typeface="Segoe UI"/>
              </a:rPr>
              <a:t> covers connecting them to a switch port, which is Chapter 9’s material, and </a:t>
            </a:r>
            <a:r>
              <a:rPr sz="1600" b="1">
                <a:solidFill>
                  <a:srgbClr val="1F618D"/>
                </a:solidFill>
                <a:latin typeface="Segoe UI"/>
              </a:rPr>
              <a:t> 1.6 </a:t>
            </a:r>
            <a:r>
              <a:rPr sz="2000" b="0" i="0">
                <a:solidFill>
                  <a:srgbClr val="1C252B"/>
                </a:solidFill>
                <a:latin typeface="Segoe UI"/>
              </a:rPr>
              <a:t> covers the client end, which is Chapter 28’s.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Four names that get confused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tint"/>
          <p:cNvSpPr/>
          <p:nvPr/>
        </p:nvSpPr>
        <p:spPr>
          <a:xfrm>
            <a:off x="685800" y="1517904"/>
            <a:ext cx="10820095" cy="3976623"/>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ullets"/>
          <p:cNvSpPr txBox="1"/>
          <p:nvPr/>
        </p:nvSpPr>
        <p:spPr>
          <a:xfrm>
            <a:off x="978408" y="1737360"/>
            <a:ext cx="10234879" cy="464515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SSID</a:t>
            </a:r>
            <a:r>
              <a:rPr sz="2000" b="0" i="0">
                <a:solidFill>
                  <a:srgbClr val="1C252B"/>
                </a:solidFill>
                <a:latin typeface="Segoe UI"/>
              </a:rPr>
              <a:t> — the network’s name, as a human sees it. Several APs normally share one.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BSSID</a:t>
            </a:r>
            <a:r>
              <a:rPr sz="2000" b="0" i="0">
                <a:solidFill>
                  <a:srgbClr val="1C252B"/>
                </a:solidFill>
                <a:latin typeface="Segoe UI"/>
              </a:rPr>
              <a:t> — the MAC address of one radio on one AP. This is what a client is actually associated </a:t>
            </a:r>
            <a:r>
              <a:rPr sz="2000" b="0" i="1">
                <a:solidFill>
                  <a:srgbClr val="1C252B"/>
                </a:solidFill>
                <a:latin typeface="Segoe UI"/>
              </a:rPr>
              <a:t>to</a:t>
            </a:r>
            <a:r>
              <a:rPr sz="2000" b="0" i="0">
                <a:solidFill>
                  <a:srgbClr val="1C252B"/>
                </a:solidFill>
                <a:latin typeface="Segoe UI"/>
              </a:rPr>
              <a:t>.</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BSS</a:t>
            </a:r>
            <a:r>
              <a:rPr sz="2000" b="0" i="0">
                <a:solidFill>
                  <a:srgbClr val="1C252B"/>
                </a:solidFill>
                <a:latin typeface="Segoe UI"/>
              </a:rPr>
              <a:t> — one AP’s coverage area. </a:t>
            </a:r>
            <a:r>
              <a:rPr sz="2000" b="1" i="0">
                <a:solidFill>
                  <a:srgbClr val="1C252B"/>
                </a:solidFill>
                <a:latin typeface="Segoe UI"/>
              </a:rPr>
              <a:t>ESS</a:t>
            </a:r>
            <a:r>
              <a:rPr sz="2000" b="0" i="0">
                <a:solidFill>
                  <a:srgbClr val="1C252B"/>
                </a:solidFill>
                <a:latin typeface="Segoe UI"/>
              </a:rPr>
              <a:t> — several APs sharing an SSID so a client can roam between them.</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Roaming</a:t>
            </a:r>
            <a:r>
              <a:rPr sz="2000" b="0" i="0">
                <a:solidFill>
                  <a:srgbClr val="1C252B"/>
                </a:solidFill>
                <a:latin typeface="Segoe UI"/>
              </a:rPr>
              <a:t> — a client deciding, on its own, to move from one BSSID to another within the same ESS. </a:t>
            </a:r>
            <a:r>
              <a:rPr sz="2000" b="0" i="1">
                <a:solidFill>
                  <a:srgbClr val="1C252B"/>
                </a:solidFill>
                <a:latin typeface="Segoe UI"/>
              </a:rPr>
              <a:t>The client decides</a:t>
            </a:r>
            <a:r>
              <a:rPr sz="2000" b="0" i="0">
                <a:solidFill>
                  <a:srgbClr val="1C252B"/>
                </a:solidFill>
                <a:latin typeface="Segoe UI"/>
              </a:rPr>
              <a:t>, not the network. This matters in Chapter 28.</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Why 2.4 GHz has only three channels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ody"/>
          <p:cNvSpPr txBox="1"/>
          <p:nvPr/>
        </p:nvSpPr>
        <p:spPr>
          <a:xfrm>
            <a:off x="685800" y="2364449"/>
            <a:ext cx="10820095" cy="401806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band is divided into channels numbered 1 to 11 in North America (1 to 13 in much of the rest of the world), spaced 5 MHz apart. But each channel is </a:t>
            </a:r>
            <a:r>
              <a:rPr sz="2000" b="1" i="0">
                <a:solidFill>
                  <a:srgbClr val="1C252B"/>
                </a:solidFill>
                <a:latin typeface="Segoe UI"/>
              </a:rPr>
              <a:t>20 MHz wide</a:t>
            </a:r>
            <a:r>
              <a:rPr sz="2000" b="0" i="0">
                <a:solidFill>
                  <a:srgbClr val="1C252B"/>
                </a:solidFill>
                <a:latin typeface="Segoe UI"/>
              </a:rPr>
              <a:t>. A 20 MHz signal spaced 5 MHz from its neighbour overlaps it heavily.</a:t>
            </a:r>
          </a:p>
          <a:p>
            <a:pPr algn="l">
              <a:lnSpc>
                <a:spcPct val="100000"/>
              </a:lnSpc>
              <a:spcAft>
                <a:spcPts val="1000"/>
              </a:spcAft>
            </a:pPr>
            <a:r>
              <a:rPr sz="2000" b="0" i="0">
                <a:solidFill>
                  <a:srgbClr val="1C252B"/>
                </a:solidFill>
                <a:latin typeface="Segoe UI"/>
              </a:rPr>
              <a:t>To avoid overlap you need five channel numbers of separation — which in a band of eleven gives you exactly three: </a:t>
            </a:r>
            <a:r>
              <a:rPr sz="2000" b="1" i="0">
                <a:solidFill>
                  <a:srgbClr val="1C252B"/>
                </a:solidFill>
                <a:latin typeface="Segoe UI"/>
              </a:rPr>
              <a:t>1, 6 and 11</a:t>
            </a:r>
            <a:r>
              <a:rPr sz="2000" b="0" i="0">
                <a:solidFill>
                  <a:srgbClr val="1C252B"/>
                </a:solidFill>
                <a:latin typeface="Segoe UI"/>
              </a:rPr>
              <a:t>. Any other plan puts two networks partly on top of each other, which is worse than putting them fully on top of each other. That last point is the one the exam tests, and it is explained below.</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Bands and channels</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pic>
        <p:nvPicPr>
          <p:cNvPr id="6" name="figure" descr="chan24.png"/>
          <p:cNvPicPr>
            <a:picLocks noChangeAspect="1"/>
          </p:cNvPicPr>
          <p:nvPr/>
        </p:nvPicPr>
        <p:blipFill>
          <a:blip r:embed="rId2"/>
          <a:stretch>
            <a:fillRect/>
          </a:stretch>
        </p:blipFill>
        <p:spPr>
          <a:xfrm>
            <a:off x="685800" y="2495903"/>
            <a:ext cx="10820095" cy="2158801"/>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The 2.4 GHz band. Channels 1, 6 and 11 are the only trio that does not overlap; anything between them interferes with two networks instead of sharing 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trade-off, which is examinable</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ody"/>
          <p:cNvSpPr txBox="1"/>
          <p:nvPr/>
        </p:nvSpPr>
        <p:spPr>
          <a:xfrm>
            <a:off x="685800" y="2482378"/>
            <a:ext cx="10820095" cy="3900133"/>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Every doubling of channel width roughly doubles throughput — and </a:t>
            </a:r>
            <a:r>
              <a:rPr sz="2000" b="1" i="0">
                <a:solidFill>
                  <a:srgbClr val="1C252B"/>
                </a:solidFill>
                <a:latin typeface="Segoe UI"/>
              </a:rPr>
              <a:t>halves the number of non-overlapping channels available</a:t>
            </a:r>
            <a:r>
              <a:rPr sz="2000" b="0" i="0">
                <a:solidFill>
                  <a:srgbClr val="1C252B"/>
                </a:solidFill>
                <a:latin typeface="Segoe UI"/>
              </a:rPr>
              <a:t>, and raises the noise floor by about 3 dB because the receiver is listening to twice as much spectrum.</a:t>
            </a:r>
          </a:p>
          <a:p>
            <a:pPr algn="l">
              <a:lnSpc>
                <a:spcPct val="100000"/>
              </a:lnSpc>
              <a:spcAft>
                <a:spcPts val="1000"/>
              </a:spcAft>
            </a:pPr>
            <a:r>
              <a:rPr sz="2000" b="0" i="0">
                <a:solidFill>
                  <a:srgbClr val="1C252B"/>
                </a:solidFill>
                <a:latin typeface="Segoe UI"/>
              </a:rPr>
              <a:t>So: bonding is sensible at 5 and 6 GHz where there is room, and in a low-density deployment. It is </a:t>
            </a:r>
            <a:r>
              <a:rPr sz="2000" b="1" i="0">
                <a:solidFill>
                  <a:srgbClr val="1C252B"/>
                </a:solidFill>
                <a:latin typeface="Segoe UI"/>
              </a:rPr>
              <a:t>never</a:t>
            </a:r>
            <a:r>
              <a:rPr sz="2000" b="0" i="0">
                <a:solidFill>
                  <a:srgbClr val="1C252B"/>
                </a:solidFill>
                <a:latin typeface="Segoe UI"/>
              </a:rPr>
              <a:t> sensible at 2.4 GHz, where a 40 MHz channel consumes most of the band and leaves no clean plan for anyone, including you.</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DFS channels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tint"/>
          <p:cNvSpPr/>
          <p:nvPr/>
        </p:nvSpPr>
        <p:spPr>
          <a:xfrm>
            <a:off x="685800" y="1517904"/>
            <a:ext cx="10820095" cy="30794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Part of the 5 GHz band is shared with weather and military radar. Access points using those channels must run </a:t>
            </a:r>
            <a:r>
              <a:rPr sz="2000" b="1" i="0">
                <a:solidFill>
                  <a:srgbClr val="1F618D"/>
                </a:solidFill>
                <a:latin typeface="Segoe UI"/>
              </a:rPr>
              <a:t>dynamic frequency selection</a:t>
            </a:r>
            <a:r>
              <a:rPr sz="2000" b="0" i="0">
                <a:solidFill>
                  <a:srgbClr val="1C252B"/>
                </a:solidFill>
                <a:latin typeface="Segoe UI"/>
              </a:rPr>
              <a:t>: listen before transmitting, and vacate the channel within seconds if radar appears.</a:t>
            </a:r>
          </a:p>
          <a:p>
            <a:pPr algn="l">
              <a:lnSpc>
                <a:spcPct val="100000"/>
              </a:lnSpc>
              <a:spcAft>
                <a:spcPts val="1000"/>
              </a:spcAft>
            </a:pPr>
            <a:r>
              <a:rPr sz="2000" b="0" i="0">
                <a:solidFill>
                  <a:srgbClr val="1C252B"/>
                </a:solidFill>
                <a:latin typeface="Segoe UI"/>
              </a:rPr>
              <a:t>The practical consequence is a real fault you will meet: a DFS event moves an AP to a different channel and every client on it is briefly disconnected. If a site reports unexplained drops on 5 GHz at irregular intervals — particularly near an airport or a coast — DFS is the first thing to check.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WORKED EXAMPLE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two rules that replace a calculator</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ody"/>
          <p:cNvSpPr txBox="1"/>
          <p:nvPr/>
        </p:nvSpPr>
        <p:spPr>
          <a:xfrm>
            <a:off x="685800" y="2449721"/>
            <a:ext cx="10820095" cy="3932790"/>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The 3 dB rule:</a:t>
            </a:r>
            <a:r>
              <a:rPr sz="2000" b="0" i="0">
                <a:solidFill>
                  <a:srgbClr val="1C252B"/>
                </a:solidFill>
                <a:latin typeface="Segoe UI"/>
              </a:rPr>
              <a:t> +3 dB doubles power, -3 dB halves it. </a:t>
            </a:r>
            <a:r>
              <a:rPr sz="2000" b="1" i="0">
                <a:solidFill>
                  <a:srgbClr val="1C252B"/>
                </a:solidFill>
                <a:latin typeface="Segoe UI"/>
              </a:rPr>
              <a:t>The 10 dB rule:</a:t>
            </a:r>
            <a:r>
              <a:rPr sz="2000" b="0" i="0">
                <a:solidFill>
                  <a:srgbClr val="1C252B"/>
                </a:solidFill>
                <a:latin typeface="Segoe UI"/>
              </a:rPr>
              <a:t> +10 dB multiplies by ten, -10 dB divides by ten.</a:t>
            </a:r>
          </a:p>
          <a:p>
            <a:pPr algn="l">
              <a:lnSpc>
                <a:spcPct val="100000"/>
              </a:lnSpc>
              <a:spcAft>
                <a:spcPts val="1000"/>
              </a:spcAft>
            </a:pPr>
            <a:r>
              <a:rPr sz="2000" b="0" i="0">
                <a:solidFill>
                  <a:srgbClr val="1C252B"/>
                </a:solidFill>
                <a:latin typeface="Segoe UI"/>
              </a:rPr>
              <a:t>So 20 dBm is 10 × 10 × 1,textmW = 100,mW. And 23 dBm is double that again — 200 mW.</a:t>
            </a:r>
          </a:p>
          <a:p>
            <a:pPr algn="l">
              <a:lnSpc>
                <a:spcPct val="100000"/>
              </a:lnSpc>
              <a:spcAft>
                <a:spcPts val="1000"/>
              </a:spcAft>
            </a:pPr>
            <a:r>
              <a:rPr sz="2000" b="0" i="0">
                <a:solidFill>
                  <a:srgbClr val="1C252B"/>
                </a:solidFill>
                <a:latin typeface="Segoe UI"/>
              </a:rPr>
              <a:t>Going the other way: a client receiving -70 dBm is receiving one ten-millionth of a milliwatt. Radio receivers are extraordinarily sensitive, which is why small amounts of noise matter so much.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Signal strength alone tells you almost nothing</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ody"/>
          <p:cNvSpPr txBox="1"/>
          <p:nvPr/>
        </p:nvSpPr>
        <p:spPr>
          <a:xfrm>
            <a:off x="685800" y="2331792"/>
            <a:ext cx="10820095" cy="4050719"/>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client at -65 dBm sounds healthy. If the noise floor on that channel is -70 dBm, the SNR is 5 dB and the link is unusable.</a:t>
            </a:r>
          </a:p>
          <a:p>
            <a:pPr algn="l">
              <a:lnSpc>
                <a:spcPct val="100000"/>
              </a:lnSpc>
              <a:spcAft>
                <a:spcPts val="1000"/>
              </a:spcAft>
            </a:pPr>
            <a:r>
              <a:rPr sz="2000" b="0" i="0">
                <a:solidFill>
                  <a:srgbClr val="1C252B"/>
                </a:solidFill>
                <a:latin typeface="Segoe UI"/>
              </a:rPr>
              <a:t>A client at -75 dBm sounds marginal. With a noise floor of -95 dBm the SNR is 20 dB and it works perfectly well.</a:t>
            </a:r>
          </a:p>
          <a:p>
            <a:pPr algn="l">
              <a:lnSpc>
                <a:spcPct val="100000"/>
              </a:lnSpc>
              <a:spcAft>
                <a:spcPts val="1000"/>
              </a:spcAft>
            </a:pPr>
            <a:r>
              <a:rPr sz="2000" b="1" i="0">
                <a:solidFill>
                  <a:srgbClr val="1C252B"/>
                </a:solidFill>
                <a:latin typeface="Segoe UI"/>
              </a:rPr>
              <a:t>SNR is the number that decides whether a link works.</a:t>
            </a:r>
            <a:r>
              <a:rPr sz="2000" b="0" i="0">
                <a:solidFill>
                  <a:srgbClr val="1C252B"/>
                </a:solidFill>
                <a:latin typeface="Segoe UI"/>
              </a:rPr>
              <a:t> Users and helpdesk tools report bars and RSSI; you should ask for the noise floor before drawing any conclusion. This is the single most useful idea in the chapter and it comes up again in Chapter 28.</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Antennas do not amplify</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tint"/>
          <p:cNvSpPr/>
          <p:nvPr/>
        </p:nvSpPr>
        <p:spPr>
          <a:xfrm>
            <a:off x="685800" y="1517904"/>
            <a:ext cx="10820095" cy="4582159"/>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An antenna with 9 dBi of gain does not create energy. It </a:t>
            </a:r>
            <a:r>
              <a:rPr sz="2000" b="0" i="1">
                <a:solidFill>
                  <a:srgbClr val="1C252B"/>
                </a:solidFill>
                <a:latin typeface="Segoe UI"/>
              </a:rPr>
              <a:t>shapes</a:t>
            </a:r>
            <a:r>
              <a:rPr sz="2000" b="0" i="0">
                <a:solidFill>
                  <a:srgbClr val="1C252B"/>
                </a:solidFill>
                <a:latin typeface="Segoe UI"/>
              </a:rPr>
              <a:t> the same energy into a narrower pattern — more in the direction you want, less everywhere else.</a:t>
            </a:r>
          </a:p>
        </p:txBody>
      </p:sp>
      <p:sp>
        <p:nvSpPr>
          <p:cNvPr id="9" name="bullets"/>
          <p:cNvSpPr txBox="1"/>
          <p:nvPr/>
        </p:nvSpPr>
        <p:spPr>
          <a:xfrm>
            <a:off x="978408" y="2580639"/>
            <a:ext cx="10234879" cy="380187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Omnidirectional</a:t>
            </a:r>
            <a:r>
              <a:rPr sz="2000" b="0" i="0">
                <a:solidFill>
                  <a:srgbClr val="1C252B"/>
                </a:solidFill>
                <a:latin typeface="Segoe UI"/>
              </a:rPr>
              <a:t> — radiates in a doughnut around the antenna. Ceiling APs in offices. Low gain, wide coverage.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Directional</a:t>
            </a:r>
            <a:r>
              <a:rPr sz="2000" b="0" i="0">
                <a:solidFill>
                  <a:srgbClr val="1C252B"/>
                </a:solidFill>
                <a:latin typeface="Segoe UI"/>
              </a:rPr>
              <a:t> (patch, Yagi, parabolic) — radiates into a cone. Point-to-point links, long corridors, lecture theatres, warehouse aisles. High gain, narrow coverage.</a:t>
            </a:r>
          </a:p>
        </p:txBody>
      </p:sp>
      <p:sp>
        <p:nvSpPr>
          <p:cNvPr id="10" name="tailbody"/>
          <p:cNvSpPr txBox="1"/>
          <p:nvPr/>
        </p:nvSpPr>
        <p:spPr>
          <a:xfrm>
            <a:off x="978408" y="4743703"/>
            <a:ext cx="10234879" cy="1583944"/>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A common failure at scale: replacing omnidirectional antennas with high-gain ones to “fix” coverage, and discovering the new pattern misses the floor directly below the AP entirely.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two distinctions to get right</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F618D"/>
                </a:solidFill>
                <a:latin typeface="Segoe UI"/>
              </a:rPr>
              <a:t>This is what the blueprint actually asks for</a:t>
            </a:r>
          </a:p>
        </p:txBody>
      </p:sp>
      <p:sp>
        <p:nvSpPr>
          <p:cNvPr id="8" name="body"/>
          <p:cNvSpPr txBox="1"/>
          <p:nvPr/>
        </p:nvSpPr>
        <p:spPr>
          <a:xfrm>
            <a:off x="685800" y="2684852"/>
            <a:ext cx="10820095" cy="3697659"/>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Personal against Enterprise</a:t>
            </a:r>
            <a:r>
              <a:rPr sz="2000" b="0" i="0">
                <a:solidFill>
                  <a:srgbClr val="1C252B"/>
                </a:solidFill>
                <a:latin typeface="Segoe UI"/>
              </a:rPr>
              <a:t> is about </a:t>
            </a:r>
            <a:r>
              <a:rPr sz="2000" b="0" i="1">
                <a:solidFill>
                  <a:srgbClr val="1C252B"/>
                </a:solidFill>
                <a:latin typeface="Segoe UI"/>
              </a:rPr>
              <a:t>who</a:t>
            </a:r>
            <a:r>
              <a:rPr sz="2000" b="0" i="0">
                <a:solidFill>
                  <a:srgbClr val="1C252B"/>
                </a:solidFill>
                <a:latin typeface="Segoe UI"/>
              </a:rPr>
              <a:t> authenticates.</a:t>
            </a:r>
          </a:p>
        </p:txBody>
      </p:sp>
      <p:sp>
        <p:nvSpPr>
          <p:cNvPr id="9" name="bullets"/>
          <p:cNvSpPr txBox="1"/>
          <p:nvPr/>
        </p:nvSpPr>
        <p:spPr>
          <a:xfrm>
            <a:off x="685800" y="3197932"/>
            <a:ext cx="10820095" cy="3184579"/>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Personal (PSK)</a:t>
            </a:r>
            <a:r>
              <a:rPr sz="2000" b="0" i="0">
                <a:solidFill>
                  <a:srgbClr val="1C252B"/>
                </a:solidFill>
                <a:latin typeface="Segoe UI"/>
              </a:rPr>
              <a:t> — one shared passphrase for everyone. Simple. Nobody is individually identified, and changing it means changing it on every device.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Enterprise (802.1X/EAP)</a:t>
            </a:r>
            <a:r>
              <a:rPr sz="2000" b="0" i="0">
                <a:solidFill>
                  <a:srgbClr val="1C252B"/>
                </a:solidFill>
                <a:latin typeface="Segoe UI"/>
              </a:rPr>
              <a:t> — each user authenticates individually against a RADIUS server (Chapter 23). Revoke one account without touching anyone else. This is what a campus should run.</a:t>
            </a:r>
          </a:p>
        </p:txBody>
      </p:sp>
      <p:sp>
        <p:nvSpPr>
          <p:cNvPr id="10" name="tailbody"/>
          <p:cNvSpPr txBox="1"/>
          <p:nvPr/>
        </p:nvSpPr>
        <p:spPr>
          <a:xfrm>
            <a:off x="685800" y="5360996"/>
            <a:ext cx="10820095" cy="966651"/>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WPA2 against WPA3</a:t>
            </a:r>
            <a:r>
              <a:rPr sz="1400" b="0" i="0">
                <a:solidFill>
                  <a:srgbClr val="1C252B"/>
                </a:solidFill>
                <a:latin typeface="Segoe UI"/>
              </a:rPr>
              <a:t> is about </a:t>
            </a:r>
            <a:r>
              <a:rPr sz="1400" b="0" i="1">
                <a:solidFill>
                  <a:srgbClr val="1C252B"/>
                </a:solidFill>
                <a:latin typeface="Segoe UI"/>
              </a:rPr>
              <a:t>how the key is agreed</a:t>
            </a:r>
            <a:r>
              <a:rPr sz="1400" b="0" i="0">
                <a:solidFill>
                  <a:srgbClr val="1C252B"/>
                </a:solidFill>
                <a:latin typeface="Segoe UI"/>
              </a:rPr>
              <a:t>. WPA2-Personal’s 4-way handshake can be captured and attacked offline, so a weak passphrase falls. WPA3 replaces it with SAE, where an attacker must guess against the live network each time — so offline attack is not possible, and each session has its own key even if the passphrase is later disclosed.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Open networks and OWE</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An open network with no passphrase sends everything in clear. </a:t>
            </a:r>
            <a:r>
              <a:rPr sz="2000" b="1" i="0">
                <a:solidFill>
                  <a:srgbClr val="1F618D"/>
                </a:solidFill>
                <a:latin typeface="Segoe UI"/>
              </a:rPr>
              <a:t>Opportunistic Wireless Encryption</a:t>
            </a:r>
            <a:r>
              <a:rPr sz="2000" b="0" i="0">
                <a:solidFill>
                  <a:srgbClr val="1C252B"/>
                </a:solidFill>
                <a:latin typeface="Segoe UI"/>
              </a:rPr>
              <a:t>, part of the WPA3 family and marketed as “Enhanced Open”, encrypts the traffic anyway using an unauthenticated key agreement.</a:t>
            </a:r>
          </a:p>
          <a:p>
            <a:pPr algn="l">
              <a:lnSpc>
                <a:spcPct val="100000"/>
              </a:lnSpc>
              <a:spcAft>
                <a:spcPts val="1000"/>
              </a:spcAft>
            </a:pPr>
            <a:r>
              <a:rPr sz="2000" b="0" i="0">
                <a:solidFill>
                  <a:srgbClr val="1C252B"/>
                </a:solidFill>
                <a:latin typeface="Segoe UI"/>
              </a:rPr>
              <a:t>It stops passive eavesdropping on a guest network. It does </a:t>
            </a:r>
            <a:r>
              <a:rPr sz="2000" b="1" i="0">
                <a:solidFill>
                  <a:srgbClr val="1C252B"/>
                </a:solidFill>
                <a:latin typeface="Segoe UI"/>
              </a:rPr>
              <a:t>not</a:t>
            </a:r>
            <a:r>
              <a:rPr sz="2000" b="0" i="0">
                <a:solidFill>
                  <a:srgbClr val="1C252B"/>
                </a:solidFill>
                <a:latin typeface="Segoe UI"/>
              </a:rPr>
              <a:t> authenticate the AP, so it does not stop somebody standing up a fake one. Worth deploying on guest SSIDs; not worth mistaking for security.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Counter-intuitive, and a favourite question</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Co-channel interference is better than adjacent-channel interference.</a:t>
            </a:r>
          </a:p>
          <a:p>
            <a:pPr algn="l">
              <a:lnSpc>
                <a:spcPct val="100000"/>
              </a:lnSpc>
              <a:spcAft>
                <a:spcPts val="1000"/>
              </a:spcAft>
            </a:pPr>
            <a:r>
              <a:rPr sz="2000" b="0" i="0">
                <a:solidFill>
                  <a:srgbClr val="1C252B"/>
                </a:solidFill>
                <a:latin typeface="Segoe UI"/>
              </a:rPr>
              <a:t>Two APs on channel 6 can hear one another, so CSMA/CA works: they defer to each other and share the channel. Throughput halves; nothing is corrupted.</a:t>
            </a:r>
          </a:p>
          <a:p>
            <a:pPr algn="l">
              <a:lnSpc>
                <a:spcPct val="100000"/>
              </a:lnSpc>
              <a:spcAft>
                <a:spcPts val="1000"/>
              </a:spcAft>
            </a:pPr>
            <a:r>
              <a:rPr sz="2000" b="0" i="0">
                <a:solidFill>
                  <a:srgbClr val="1C252B"/>
                </a:solidFill>
                <a:latin typeface="Segoe UI"/>
              </a:rPr>
              <a:t>Two APs on channels 6 and 8 cannot decode one another — each sees the other only as raised noise. Neither defers, both transmit, and frames are destroyed and retransmitted. Throughput collapses.</a:t>
            </a:r>
          </a:p>
          <a:p>
            <a:pPr algn="l">
              <a:lnSpc>
                <a:spcPct val="100000"/>
              </a:lnSpc>
              <a:spcAft>
                <a:spcPts val="1000"/>
              </a:spcAft>
            </a:pPr>
            <a:r>
              <a:rPr sz="2000" b="0" i="0">
                <a:solidFill>
                  <a:srgbClr val="1C252B"/>
                </a:solidFill>
                <a:latin typeface="Segoe UI"/>
              </a:rPr>
              <a:t>So a bad channel plan is worse than no channel plan. If you take one thing from this section: </a:t>
            </a:r>
            <a:r>
              <a:rPr sz="2000" b="1" i="0">
                <a:solidFill>
                  <a:srgbClr val="1C252B"/>
                </a:solidFill>
                <a:latin typeface="Segoe UI"/>
              </a:rPr>
              <a:t>overlap, do not straddle.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Non-Wi-Fi interference needs a spectrum analyser</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Wi-Fi analyser on a laptop shows you Wi-Fi. A microwave oven does not appear in it, because it transmits no frames — it just raises the noise floor.</a:t>
            </a:r>
          </a:p>
          <a:p>
            <a:pPr algn="l">
              <a:lnSpc>
                <a:spcPct val="100000"/>
              </a:lnSpc>
              <a:spcAft>
                <a:spcPts val="1000"/>
              </a:spcAft>
            </a:pPr>
            <a:r>
              <a:rPr sz="2000" b="0" i="0">
                <a:solidFill>
                  <a:srgbClr val="1C252B"/>
                </a:solidFill>
                <a:latin typeface="Segoe UI"/>
              </a:rPr>
              <a:t>So a channel that looks empty in a Wi-Fi scan and performs terribly is the signature of a non-Wi-Fi source. Finding it needs a spectrum analyser, which looks at raw RF energy rather than at decoded frames. Knowing </a:t>
            </a:r>
            <a:r>
              <a:rPr sz="2000" b="0" i="1">
                <a:solidFill>
                  <a:srgbClr val="1C252B"/>
                </a:solidFill>
                <a:latin typeface="Segoe UI"/>
              </a:rPr>
              <a:t>that the distinction exists</a:t>
            </a:r>
            <a:r>
              <a:rPr sz="2000" b="0" i="0">
                <a:solidFill>
                  <a:srgbClr val="1C252B"/>
                </a:solidFill>
                <a:latin typeface="Segoe UI"/>
              </a:rPr>
              <a:t> is the examinable part.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Everything else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Using any 2.4 GHz channel other than 1, 6 or 11.</a:t>
            </a:r>
            <a:r>
              <a:rPr sz="2000" b="0" i="0">
                <a:solidFill>
                  <a:srgbClr val="1C252B"/>
                </a:solidFill>
                <a:latin typeface="Segoe UI"/>
              </a:rPr>
              <a:t> Creates ACI for two networks instead of sharing with one.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Bonding channels at 2.4 GHz.</a:t>
            </a:r>
            <a:r>
              <a:rPr sz="2000" b="0" i="0">
                <a:solidFill>
                  <a:srgbClr val="1C252B"/>
                </a:solidFill>
                <a:latin typeface="Segoe UI"/>
              </a:rPr>
              <a:t> Consumes the band.</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Reading RSSI without the noise floor.</a:t>
            </a:r>
            <a:r>
              <a:rPr sz="2000" b="0" i="0">
                <a:solidFill>
                  <a:srgbClr val="1C252B"/>
                </a:solidFill>
                <a:latin typeface="Segoe UI"/>
              </a:rPr>
              <a:t> SNR is the number that matters.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Turning transmit power up to fix coverage.</a:t>
            </a:r>
            <a:r>
              <a:rPr sz="2000" b="0" i="0">
                <a:solidFill>
                  <a:srgbClr val="1C252B"/>
                </a:solidFill>
                <a:latin typeface="Segoe UI"/>
              </a:rPr>
              <a:t> In a dense deployment this usually makes things worse, and it does nothing for the client’s weaker transmitter on the return path.</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Confusing SSID with BSSID.</a:t>
            </a:r>
            <a:r>
              <a:rPr sz="2000" b="0" i="0">
                <a:solidFill>
                  <a:srgbClr val="1C252B"/>
                </a:solidFill>
                <a:latin typeface="Segoe UI"/>
              </a:rPr>
              <a:t> A client roams between BSSIDs while the SSID never changes.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Assuming the AP controls roaming.</a:t>
            </a:r>
            <a:r>
              <a:rPr sz="2000" b="0" i="0">
                <a:solidFill>
                  <a:srgbClr val="1C252B"/>
                </a:solidFill>
                <a:latin typeface="Segoe UI"/>
              </a:rPr>
              <a:t> The client decides.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Everything else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ullets"/>
          <p:cNvSpPr txBox="1"/>
          <p:nvPr/>
        </p:nvSpPr>
        <p:spPr>
          <a:xfrm>
            <a:off x="685800" y="2836164"/>
            <a:ext cx="10820095" cy="354634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Treating WPA2-Personal as adequate for a campus.</a:t>
            </a:r>
            <a:r>
              <a:rPr sz="2000" b="0" i="0">
                <a:solidFill>
                  <a:srgbClr val="1C252B"/>
                </a:solidFill>
                <a:latin typeface="Segoe UI"/>
              </a:rPr>
              <a:t> Use Enterprise; a shared passphrase cannot be revoked for one person.</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Expecting a Wi-Fi scanner to reveal a microwave oven.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27</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600" b="1" i="0">
                <a:solidFill>
                  <a:srgbClr val="1C252B"/>
                </a:solidFill>
                <a:latin typeface="Segoe UI"/>
              </a:rPr>
              <a:t>One lecture theatre is unusable when full and perfect when empty.</a:t>
            </a:r>
          </a:p>
        </p:txBody>
      </p:sp>
      <p:sp>
        <p:nvSpPr>
          <p:cNvPr id="6" name="bfbody"/>
          <p:cNvSpPr txBox="1"/>
          <p:nvPr/>
        </p:nvSpPr>
        <p:spPr>
          <a:xfrm>
            <a:off x="685800" y="2530992"/>
            <a:ext cx="10820095" cy="3824087"/>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 200-seat theatre has four access points and tests clean every morning. During lectures, clients associate but throughput collapses and voice calls fail. The wired network behind the APs shows no errors and no congestion. A survey taken at 08:00 shows every seat at -58 dBm or better.</a:t>
            </a:r>
          </a:p>
          <a:p>
            <a:pPr algn="l">
              <a:lnSpc>
                <a:spcPct val="100000"/>
              </a:lnSpc>
              <a:spcAft>
                <a:spcPts val="1000"/>
              </a:spcAft>
            </a:pPr>
            <a:r>
              <a:rPr sz="1900" b="0" i="0">
                <a:solidFill>
                  <a:srgbClr val="1C252B"/>
                </a:solidFill>
                <a:latin typeface="Segoe UI"/>
              </a:rPr>
              <a:t>% A listing nested inside a breakable box cannot itself be split, so % without this tcolorbox forces it onto the page and reports an overfull % vbox. Break the outer box early instead.</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27</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600" b="1" i="0">
                <a:solidFill>
                  <a:srgbClr val="1C252B"/>
                </a:solidFill>
                <a:latin typeface="Segoe UI"/>
              </a:rPr>
              <a:t>One lecture theatre is unusable when full and perfect when empty.</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27</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wifi scan — summary</a:t>
            </a:r>
          </a:p>
        </p:txBody>
      </p:sp>
      <p:sp>
        <p:nvSpPr>
          <p:cNvPr id="6" name="bfcodebg"/>
          <p:cNvSpPr/>
          <p:nvPr/>
        </p:nvSpPr>
        <p:spPr>
          <a:xfrm>
            <a:off x="685800" y="2011680"/>
            <a:ext cx="10820095" cy="178460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Survey, taken during a full lecture#</a:t>
            </a:r>
          </a:p>
        </p:txBody>
      </p:sp>
      <p:sp>
        <p:nvSpPr>
          <p:cNvPr id="9" name="bfcode"/>
          <p:cNvSpPr txBox="1"/>
          <p:nvPr/>
        </p:nvSpPr>
        <p:spPr>
          <a:xfrm>
            <a:off x="886968" y="2432304"/>
            <a:ext cx="10417759" cy="130911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BSSID              SSID        Chan  Width  RSSI    Noise   SNR</a:t>
            </a:r>
          </a:p>
          <a:p>
            <a:pPr>
              <a:lnSpc>
                <a:spcPct val="100000"/>
              </a:lnSpc>
              <a:spcAft>
                <a:spcPts val="0"/>
              </a:spcAft>
            </a:pPr>
            <a:r>
              <a:rPr sz="1500">
                <a:solidFill>
                  <a:srgbClr val="E8EEF2"/>
                </a:solidFill>
                <a:latin typeface="Consolas"/>
              </a:rPr>
              <a:t>00:11:22:aa:bb:01  CAMPUS      6     20     -61     -73      12</a:t>
            </a:r>
          </a:p>
          <a:p>
            <a:pPr>
              <a:lnSpc>
                <a:spcPct val="100000"/>
              </a:lnSpc>
              <a:spcAft>
                <a:spcPts val="0"/>
              </a:spcAft>
            </a:pPr>
            <a:r>
              <a:rPr sz="1500">
                <a:solidFill>
                  <a:srgbClr val="E8EEF2"/>
                </a:solidFill>
                <a:latin typeface="Consolas"/>
              </a:rPr>
              <a:t>00:11:22:aa:bb:02  CAMPUS      6     20     -64     -73       9</a:t>
            </a:r>
          </a:p>
          <a:p>
            <a:pPr>
              <a:lnSpc>
                <a:spcPct val="100000"/>
              </a:lnSpc>
              <a:spcAft>
                <a:spcPts val="0"/>
              </a:spcAft>
            </a:pPr>
            <a:r>
              <a:rPr sz="1500">
                <a:solidFill>
                  <a:srgbClr val="E8EEF2"/>
                </a:solidFill>
                <a:latin typeface="Consolas"/>
              </a:rPr>
              <a:t>00:11:22:aa:bb:03  CAMPUS      8     20     -59     -73      14</a:t>
            </a:r>
          </a:p>
          <a:p>
            <a:pPr>
              <a:lnSpc>
                <a:spcPct val="100000"/>
              </a:lnSpc>
              <a:spcAft>
                <a:spcPts val="0"/>
              </a:spcAft>
            </a:pPr>
            <a:r>
              <a:rPr sz="1500">
                <a:solidFill>
                  <a:srgbClr val="E8EEF2"/>
                </a:solidFill>
                <a:latin typeface="Consolas"/>
              </a:rPr>
              <a:t>00:11:22:aa:bb:04  CAMPUS      11    20     -66     -73       7</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27</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27</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375173"/>
            <a:ext cx="10820095" cy="3979906"/>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Three faults are visible in that one table, and they compound.</a:t>
            </a:r>
          </a:p>
          <a:p>
            <a:pPr algn="l">
              <a:lnSpc>
                <a:spcPct val="100000"/>
              </a:lnSpc>
              <a:spcAft>
                <a:spcPts val="1000"/>
              </a:spcAft>
            </a:pPr>
            <a:r>
              <a:rPr sz="1900" b="1" i="0">
                <a:solidFill>
                  <a:srgbClr val="1C252B"/>
                </a:solidFill>
                <a:latin typeface="Segoe UI"/>
              </a:rPr>
              <a:t>First, the noise floor is -73 dBm.</a:t>
            </a:r>
            <a:r>
              <a:rPr sz="1900" b="0" i="0">
                <a:solidFill>
                  <a:srgbClr val="1C252B"/>
                </a:solidFill>
                <a:latin typeface="Segoe UI"/>
              </a:rPr>
              <a:t> A clean environment is around -92. Something is raising it by nearly 20 dB, and the strong signal readings are therefore worthless — every SNR here is below the 20 dB minimum for reliable data.</a:t>
            </a:r>
          </a:p>
          <a:p>
            <a:pPr algn="l">
              <a:lnSpc>
                <a:spcPct val="100000"/>
              </a:lnSpc>
              <a:spcAft>
                <a:spcPts val="1000"/>
              </a:spcAft>
            </a:pPr>
            <a:r>
              <a:rPr sz="1900" b="1" i="0">
                <a:solidFill>
                  <a:srgbClr val="1C252B"/>
                </a:solidFill>
                <a:latin typeface="Segoe UI"/>
              </a:rPr>
              <a:t>Second, the channel plan is wrong.</a:t>
            </a:r>
            <a:r>
              <a:rPr sz="1900" b="0" i="0">
                <a:solidFill>
                  <a:srgbClr val="1C252B"/>
                </a:solidFill>
                <a:latin typeface="Segoe UI"/>
              </a:rPr>
              <a:t> Four APs in one room are using channels 6, 6, 8 and 11. The pair on channel 6 is co-channel interference, which is merely wasteful. But </a:t>
            </a:r>
            <a:r>
              <a:rPr sz="1900" b="1" i="0">
                <a:solidFill>
                  <a:srgbClr val="1C252B"/>
                </a:solidFill>
                <a:latin typeface="Segoe UI"/>
              </a:rPr>
              <a:t>channel 8 overlaps both 6 and 11</a:t>
            </a:r>
            <a:r>
              <a:rPr sz="1900" b="0" i="0">
                <a:solidFill>
                  <a:srgbClr val="1C252B"/>
                </a:solidFill>
                <a:latin typeface="Segoe UI"/>
              </a:rPr>
              <a:t> — it is adjacent-channel interference against three other radios simultaneously, and that is corruption rather than sharing.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27</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3048762"/>
            <a:ext cx="10820095" cy="330631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Third, the room is full of people.</a:t>
            </a:r>
            <a:r>
              <a:rPr sz="1900" b="0" i="0">
                <a:solidFill>
                  <a:srgbClr val="1C252B"/>
                </a:solidFill>
                <a:latin typeface="Segoe UI"/>
              </a:rPr>
              <a:t> Bodies are largely water, which absorbs 2.4 GHz strongly. This is why it works when empty: the morning survey measured a room with no attenuation in it and no clients contending.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27</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3290062"/>
            <a:ext cx="10820095" cy="306501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 in order of value.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ANY LAPTOP OR PHONE WITH A WI-FI ANALYSER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survey of somewhere you actually use</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800" b="1" i="0">
                <a:solidFill>
                  <a:srgbClr val="1C252B"/>
                </a:solidFill>
                <a:latin typeface="Segoe UI"/>
              </a:rPr>
              <a:t>Platform note.</a:t>
            </a:r>
            <a:r>
              <a:rPr sz="1800" b="0" i="0">
                <a:solidFill>
                  <a:srgbClr val="1C252B"/>
                </a:solidFill>
                <a:latin typeface="Segoe UI"/>
              </a:rPr>
              <a:t> This topic has no configuration on the blueprint, so this lab is measurement rather than building. Use any Wi-Fi analyser — built-in tools work: </a:t>
            </a:r>
            <a:r>
              <a:rPr sz="1700" b="0" i="0">
                <a:solidFill>
                  <a:srgbClr val="1A5276"/>
                </a:solidFill>
                <a:latin typeface="Consolas"/>
              </a:rPr>
              <a:t>netsh wlan show interfaces</a:t>
            </a:r>
            <a:r>
              <a:rPr sz="1800" b="0" i="0">
                <a:solidFill>
                  <a:srgbClr val="1C252B"/>
                </a:solidFill>
                <a:latin typeface="Segoe UI"/>
              </a:rPr>
              <a:t> on Windows, the option-click Wi-Fi menu on macOS, </a:t>
            </a:r>
            <a:r>
              <a:rPr sz="1700" b="0" i="0">
                <a:solidFill>
                  <a:srgbClr val="1A5276"/>
                </a:solidFill>
                <a:latin typeface="Consolas"/>
              </a:rPr>
              <a:t>iw dev wlan0 scan</a:t>
            </a:r>
            <a:r>
              <a:rPr sz="1800" b="0" i="0">
                <a:solidFill>
                  <a:srgbClr val="1C252B"/>
                </a:solidFill>
                <a:latin typeface="Segoe UI"/>
              </a:rPr>
              <a:t> on Linux.</a:t>
            </a:r>
          </a:p>
          <a:p>
            <a:pPr algn="l">
              <a:lnSpc>
                <a:spcPct val="100000"/>
              </a:lnSpc>
              <a:spcAft>
                <a:spcPts val="1000"/>
              </a:spcAft>
            </a:pPr>
            <a:r>
              <a:rPr sz="1800" b="1" i="0">
                <a:solidFill>
                  <a:srgbClr val="1C252B"/>
                </a:solidFill>
                <a:latin typeface="Segoe UI"/>
              </a:rPr>
              <a:t>Location.</a:t>
            </a:r>
            <a:r>
              <a:rPr sz="1800" b="0" i="0">
                <a:solidFill>
                  <a:srgbClr val="1C252B"/>
                </a:solidFill>
                <a:latin typeface="Segoe UI"/>
              </a:rPr>
              <a:t> A room you can visit twice, ideally once empty and once busy.</a:t>
            </a:r>
          </a:p>
        </p:txBody>
      </p:sp>
      <p:sp>
        <p:nvSpPr>
          <p:cNvPr id="8" name="bullets"/>
          <p:cNvSpPr txBox="1"/>
          <p:nvPr/>
        </p:nvSpPr>
        <p:spPr>
          <a:xfrm>
            <a:off x="685800" y="2980944"/>
            <a:ext cx="10820095" cy="3401568"/>
          </a:xfrm>
          <a:prstGeom prst="rect">
            <a:avLst/>
          </a:prstGeom>
          <a:noFill/>
        </p:spPr>
        <p:txBody>
          <a:bodyPr wrap="square" lIns="0" rIns="0" tIns="0" bIns="0">
            <a:spAutoFit/>
          </a:bodyPr>
          <a:lstStyle/>
          <a:p>
            <a:pPr marL="347472" indent="-347472">
              <a:lnSpc>
                <a:spcPct val="102000"/>
              </a:lnSpc>
              <a:spcAft>
                <a:spcPts val="900"/>
              </a:spcAft>
            </a:pPr>
            <a:r>
              <a:rPr sz="1800" b="1">
                <a:solidFill>
                  <a:srgbClr val="1F618D"/>
                </a:solidFill>
                <a:latin typeface="Segoe UI"/>
              </a:rPr>
              <a:t>1.  </a:t>
            </a:r>
            <a:r>
              <a:rPr sz="1800" b="0" i="0">
                <a:solidFill>
                  <a:srgbClr val="1C252B"/>
                </a:solidFill>
                <a:latin typeface="Segoe UI"/>
              </a:rPr>
              <a:t>Record every visible SSID, its BSSIDs, band, channel and channel width. Draw the channel occupancy of 2.4 GHz as a diagram like the one in this chapter.</a:t>
            </a:r>
          </a:p>
          <a:p>
            <a:pPr marL="347472" indent="-347472">
              <a:lnSpc>
                <a:spcPct val="102000"/>
              </a:lnSpc>
              <a:spcAft>
                <a:spcPts val="900"/>
              </a:spcAft>
            </a:pPr>
            <a:r>
              <a:rPr sz="1800" b="1">
                <a:solidFill>
                  <a:srgbClr val="1F618D"/>
                </a:solidFill>
                <a:latin typeface="Segoe UI"/>
              </a:rPr>
              <a:t>2.  </a:t>
            </a:r>
            <a:r>
              <a:rPr sz="1800" b="0" i="0">
                <a:solidFill>
                  <a:srgbClr val="1C252B"/>
                </a:solidFill>
                <a:latin typeface="Segoe UI"/>
              </a:rPr>
              <a:t>Identify every case of adjacent-channel interference in what you found. For each, name the channel that should have been used instead.</a:t>
            </a:r>
          </a:p>
          <a:p>
            <a:pPr marL="347472" indent="-347472">
              <a:lnSpc>
                <a:spcPct val="102000"/>
              </a:lnSpc>
              <a:spcAft>
                <a:spcPts val="900"/>
              </a:spcAft>
            </a:pPr>
            <a:r>
              <a:rPr sz="1800" b="1">
                <a:solidFill>
                  <a:srgbClr val="1F618D"/>
                </a:solidFill>
                <a:latin typeface="Segoe UI"/>
              </a:rPr>
              <a:t>3.  </a:t>
            </a:r>
            <a:r>
              <a:rPr sz="1800" b="0" i="0">
                <a:solidFill>
                  <a:srgbClr val="1C252B"/>
                </a:solidFill>
                <a:latin typeface="Segoe UI"/>
              </a:rPr>
              <a:t>Record RSSI </a:t>
            </a:r>
            <a:r>
              <a:rPr sz="1800" b="0" i="1">
                <a:solidFill>
                  <a:srgbClr val="1C252B"/>
                </a:solidFill>
                <a:latin typeface="Segoe UI"/>
              </a:rPr>
              <a:t>and</a:t>
            </a:r>
            <a:r>
              <a:rPr sz="1800" b="0" i="0">
                <a:solidFill>
                  <a:srgbClr val="1C252B"/>
                </a:solidFill>
                <a:latin typeface="Segoe UI"/>
              </a:rPr>
              <a:t> noise for your own connection at five points: beside the AP, across the room, behind a wall, around a corner, and at the far edge of coverage. Calculate SNR at each.</a:t>
            </a:r>
          </a:p>
          <a:p>
            <a:pPr marL="347472" indent="-347472">
              <a:lnSpc>
                <a:spcPct val="102000"/>
              </a:lnSpc>
              <a:spcAft>
                <a:spcPts val="900"/>
              </a:spcAft>
            </a:pPr>
            <a:r>
              <a:rPr sz="1800" b="1">
                <a:solidFill>
                  <a:srgbClr val="1F618D"/>
                </a:solidFill>
                <a:latin typeface="Segoe UI"/>
              </a:rPr>
              <a:t>4.  </a:t>
            </a:r>
            <a:r>
              <a:rPr sz="1800" b="0" i="0">
                <a:solidFill>
                  <a:srgbClr val="1C252B"/>
                </a:solidFill>
                <a:latin typeface="Segoe UI"/>
              </a:rPr>
              <a:t>Plot RSSI against distance. Confirm the roughly 6 dB loss per doubling of distance, and identify where your measurements depart from it and why.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ANY LAPTOP OR PHONE WITH A WI-FI ANALYSER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survey of somewhere you actually use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1F618D"/>
                </a:solidFill>
                <a:latin typeface="Segoe UI"/>
              </a:rPr>
              <a:t>1.  </a:t>
            </a:r>
            <a:r>
              <a:rPr sz="2000" b="0" i="0">
                <a:solidFill>
                  <a:srgbClr val="1C252B"/>
                </a:solidFill>
                <a:latin typeface="Segoe UI"/>
              </a:rPr>
              <a:t>Find one place where signal is strong and SNR is poor. Explain what that tells you.</a:t>
            </a:r>
          </a:p>
          <a:p>
            <a:pPr marL="386080" indent="-386080">
              <a:lnSpc>
                <a:spcPct val="102000"/>
              </a:lnSpc>
              <a:spcAft>
                <a:spcPts val="900"/>
              </a:spcAft>
            </a:pPr>
            <a:r>
              <a:rPr sz="2000" b="1">
                <a:solidFill>
                  <a:srgbClr val="1F618D"/>
                </a:solidFill>
                <a:latin typeface="Segoe UI"/>
              </a:rPr>
              <a:t>2.  </a:t>
            </a:r>
            <a:r>
              <a:rPr sz="2000" b="0" i="0">
                <a:solidFill>
                  <a:srgbClr val="1C252B"/>
                </a:solidFill>
                <a:latin typeface="Segoe UI"/>
              </a:rPr>
              <a:t>Identify the security protocol in use on each SSID you can see. Note any still offering WPA or WEP.</a:t>
            </a:r>
          </a:p>
          <a:p>
            <a:pPr marL="386080" indent="-386080">
              <a:lnSpc>
                <a:spcPct val="102000"/>
              </a:lnSpc>
              <a:spcAft>
                <a:spcPts val="900"/>
              </a:spcAft>
            </a:pPr>
            <a:r>
              <a:rPr sz="2000" b="1">
                <a:solidFill>
                  <a:srgbClr val="1F618D"/>
                </a:solidFill>
                <a:latin typeface="Segoe UI"/>
              </a:rPr>
              <a:t>3.  </a:t>
            </a:r>
            <a:r>
              <a:rPr sz="2000" b="0" i="0">
                <a:solidFill>
                  <a:srgbClr val="1C252B"/>
                </a:solidFill>
                <a:latin typeface="Segoe UI"/>
              </a:rPr>
              <a:t>Move between two APs on the same SSID while watching the BSSID. Record the RSSI at which your client chose to roam — and note that you did not choose it and the network did not either.</a:t>
            </a:r>
          </a:p>
          <a:p>
            <a:pPr marL="386080" indent="-386080">
              <a:lnSpc>
                <a:spcPct val="102000"/>
              </a:lnSpc>
              <a:spcAft>
                <a:spcPts val="900"/>
              </a:spcAft>
            </a:pPr>
            <a:r>
              <a:rPr sz="2000" b="1">
                <a:solidFill>
                  <a:srgbClr val="1F618D"/>
                </a:solidFill>
                <a:latin typeface="Segoe UI"/>
              </a:rPr>
              <a:t>4.  </a:t>
            </a:r>
            <a:r>
              <a:rPr sz="2000" b="1" i="0">
                <a:solidFill>
                  <a:srgbClr val="1C252B"/>
                </a:solidFill>
                <a:latin typeface="Segoe UI"/>
              </a:rPr>
              <a:t>If you can:</a:t>
            </a:r>
            <a:r>
              <a:rPr sz="2000" b="0" i="0">
                <a:solidFill>
                  <a:srgbClr val="1C252B"/>
                </a:solidFill>
                <a:latin typeface="Segoe UI"/>
              </a:rPr>
              <a:t> repeat the RSSI and noise measurements with the room occupied. Compare, and quantify the absorption.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ANY LAPTOP OR PHONE WITH A WI-FI ANALYSER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survey of somewhere you actually use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ullets"/>
          <p:cNvSpPr txBox="1"/>
          <p:nvPr/>
        </p:nvSpPr>
        <p:spPr>
          <a:xfrm>
            <a:off x="685800" y="2986749"/>
            <a:ext cx="10820095" cy="3395762"/>
          </a:xfrm>
          <a:prstGeom prst="rect">
            <a:avLst/>
          </a:prstGeom>
          <a:noFill/>
        </p:spPr>
        <p:txBody>
          <a:bodyPr wrap="square" lIns="0" rIns="0" tIns="0" bIns="0">
            <a:spAutoFit/>
          </a:bodyPr>
          <a:lstStyle/>
          <a:p>
            <a:pPr marL="386080" indent="-386080">
              <a:lnSpc>
                <a:spcPct val="102000"/>
              </a:lnSpc>
              <a:spcAft>
                <a:spcPts val="900"/>
              </a:spcAft>
            </a:pPr>
            <a:r>
              <a:rPr sz="2000" b="1">
                <a:solidFill>
                  <a:srgbClr val="1F618D"/>
                </a:solidFill>
                <a:latin typeface="Segoe UI"/>
              </a:rPr>
              <a:t>1.  </a:t>
            </a:r>
            <a:r>
              <a:rPr sz="2000" b="1" i="0">
                <a:solidFill>
                  <a:srgbClr val="1C252B"/>
                </a:solidFill>
                <a:latin typeface="Segoe UI"/>
              </a:rPr>
              <a:t>Extension.</a:t>
            </a:r>
            <a:r>
              <a:rPr sz="2000" b="0" i="0">
                <a:solidFill>
                  <a:srgbClr val="1C252B"/>
                </a:solidFill>
                <a:latin typeface="Segoe UI"/>
              </a:rPr>
              <a:t> Write the one-page recommendation you would give the building’s network team, with the evidence for each point.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does the 2.4 GHz band have only three non-overlapping channels, and which are they?</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does the 2.4 GHz band have only three non-overlapping channels, and which are they?</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channels are numbered 5 MHz apart but each is 20 MHz wide, so five channel numbers of separation are needed to avoid overlap. In a band of eleven usable channels that gives exactly three: </a:t>
            </a:r>
            <a:r>
              <a:rPr sz="1900" b="1" i="0">
                <a:solidFill>
                  <a:srgbClr val="1C252B"/>
                </a:solidFill>
                <a:latin typeface="Segoe UI"/>
              </a:rPr>
              <a:t>1, 6 and 11</a:t>
            </a:r>
            <a:r>
              <a:rPr sz="19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Which is worse, co-channel or adjacent-channel interference, and why?</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Which is worse, co-channel or adjacent-channel interference, and why?</a:t>
            </a:r>
          </a:p>
        </p:txBody>
      </p:sp>
      <p:sp>
        <p:nvSpPr>
          <p:cNvPr id="8" name="abar"/>
          <p:cNvSpPr/>
          <p:nvPr/>
        </p:nvSpPr>
        <p:spPr>
          <a:xfrm>
            <a:off x="685800" y="219735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Adjacent-channel</a:t>
            </a:r>
            <a:r>
              <a:rPr sz="1900" b="0" i="0">
                <a:solidFill>
                  <a:srgbClr val="1C252B"/>
                </a:solidFill>
                <a:latin typeface="Segoe UI"/>
              </a:rPr>
              <a:t> is worse. Two APs on the same channel can hear each other, so CSMA/CA works and they share the airtime — throughput halves but nothing is corrupted. On partly overlapping channels neither can decode the other, so neither defers, both transmit, and frames are destroyed and retransmitted.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client reports -62 dBm and cannot hold a call. What is the next number you ask for, and what would make this normal?</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client reports -62 dBm and cannot hold a call. What is the next number you ask for, and what would make this normal?</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a:t>
            </a:r>
            <a:r>
              <a:rPr sz="1900" b="1" i="0">
                <a:solidFill>
                  <a:srgbClr val="1C252B"/>
                </a:solidFill>
                <a:latin typeface="Segoe UI"/>
              </a:rPr>
              <a:t>noise floor</a:t>
            </a:r>
            <a:r>
              <a:rPr sz="1900" b="0" i="0">
                <a:solidFill>
                  <a:srgbClr val="1C252B"/>
                </a:solidFill>
                <a:latin typeface="Segoe UI"/>
              </a:rPr>
              <a:t>, so you can calculate SNR. A signal of -62 is strong; if the noise floor is around -70 the SNR is only 8 dB, well below the 25 dB voice needs. That would make the report entirely normal.</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State the difference between WPA2-Personal and WPA2-Enterprise, and between WPA2 and WPA3.</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State the difference between WPA2-Personal and WPA2-Enterprise, and between WPA2 and WPA3.</a:t>
            </a:r>
          </a:p>
        </p:txBody>
      </p:sp>
      <p:sp>
        <p:nvSpPr>
          <p:cNvPr id="8" name="abar"/>
          <p:cNvSpPr/>
          <p:nvPr/>
        </p:nvSpPr>
        <p:spPr>
          <a:xfrm>
            <a:off x="685800" y="2511044"/>
            <a:ext cx="41148" cy="176961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Personal shares one passphrase among everyone and identifies nobody; Enterprise authenticates each user individually via 802.1X against a RADIUS server, so one account can be revoked without touching anyone else. WPA2 uses AES-CCMP with a 4-way handshake that can be captured and attacked offline; WPA3 replaces it with SAE, which resists offline attack and adds forward secrecy.</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Give two reasons a room might work when empty and fail when full.</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Give two reasons a room might work when empty and fail when full.</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Bodies are largely water, which absorbs 2.4 GHz strongly — so a full room attenuates far more than an empty one. And a full room means many clients contending for the same airtime on a half-duplex shared medium.</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6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kind of interference is invisible to a Wi-Fi analyser, and what tool finds it?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6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kind of interference is invisible to a Wi-Fi analyser, and what tool finds it?</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Non-Wi-Fi interference — a microwave oven, a video sender, a cordless phone. It transmits no frames, so it never appears in a Wi-Fi scan; it simply raises the noise floor. Finding it needs a </a:t>
            </a:r>
            <a:r>
              <a:rPr sz="1900" b="1" i="0">
                <a:solidFill>
                  <a:srgbClr val="1C252B"/>
                </a:solidFill>
                <a:latin typeface="Segoe UI"/>
              </a:rPr>
              <a:t>spectrum analyser</a:t>
            </a:r>
            <a:r>
              <a:rPr sz="1900" b="0" i="0">
                <a:solidFill>
                  <a:srgbClr val="1C252B"/>
                </a:solidFill>
                <a:latin typeface="Segoe UI"/>
              </a:rPr>
              <a:t>, which looks at raw RF energy rather than decoded frames.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Wireless is half duplex, shared, and uses collision </a:t>
            </a:r>
            <a:r>
              <a:rPr sz="2000" b="0" i="1">
                <a:solidFill>
                  <a:srgbClr val="1C252B"/>
                </a:solidFill>
                <a:latin typeface="Segoe UI"/>
              </a:rPr>
              <a:t>avoidance</a:t>
            </a:r>
            <a:r>
              <a:rPr sz="2000" b="0" i="0">
                <a:solidFill>
                  <a:srgbClr val="1C252B"/>
                </a:solidFill>
                <a:latin typeface="Segoe UI"/>
              </a:rPr>
              <a:t>. The advertised rate is shared between everyone on the channel.</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SSID is the name, BSSID is the radio’s MAC. The </a:t>
            </a:r>
            <a:r>
              <a:rPr sz="2000" b="0" i="1">
                <a:solidFill>
                  <a:srgbClr val="1C252B"/>
                </a:solidFill>
                <a:latin typeface="Segoe UI"/>
              </a:rPr>
              <a:t>client</a:t>
            </a:r>
            <a:r>
              <a:rPr sz="2000" b="0" i="0">
                <a:solidFill>
                  <a:srgbClr val="1C252B"/>
                </a:solidFill>
                <a:latin typeface="Segoe UI"/>
              </a:rPr>
              <a:t> decides when to roam.</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2.4 GHz: three non-overlapping channels, 1, 6 and 11. 5 GHz: around 25, some DFS. 6 GHz: 59, newest clients only.</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Channel bonding doubles throughput, halves the channel count and raises the noise floor. Never at 2.4 GHz.</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+3 dB doubles power, +10 dB multiplies by ten. 0 dBm is 1 mW.</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27. Wireless Principles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SNR decides whether a link works</a:t>
            </a:r>
            <a:r>
              <a:rPr sz="2000" b="0" i="0">
                <a:solidFill>
                  <a:srgbClr val="1C252B"/>
                </a:solidFill>
                <a:latin typeface="Segoe UI"/>
              </a:rPr>
              <a:t>, not RSSI. Aim for 25 dB for voice, 20 dB minimum for data.</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Radio waves are absorbed, reflected, refracted, diffracted and scattered; free-space loss costs about 6 dB per doubling of distance.</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WEP is broken, WPA deprecated, WPA2 uses AES-CCMP with a 4-way handshake, WPA3 uses SAE and resists offline attack. Personal shares a passphrase; Enterprise authenticates each user via RADIUS.</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Co-channel interference shares politely; adjacent-channel interference corrupts. A bad plan is worse than no plan.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F618D"/>
        </a:solidFill>
        <a:effectLst/>
      </p:bgPr>
    </p:bg>
    <p:spTree>
      <p:nvGrpSpPr>
        <p:cNvPr id="1" name=""/>
        <p:cNvGrpSpPr/>
        <p:nvPr/>
      </p:nvGrpSpPr>
      <p:grpSpPr/>
      <p:sp>
        <p:nvSpPr>
          <p:cNvPr id="2" name="bg"/>
          <p:cNvSpPr/>
          <p:nvPr/>
        </p:nvSpPr>
        <p:spPr>
          <a:xfrm>
            <a:off x="0" y="0"/>
            <a:ext cx="12191695" cy="68580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Wireless is half duplex, shared, and uses collision </a:t>
            </a:r>
            <a:r>
              <a:rPr sz="1900" b="0" i="1">
                <a:solidFill>
                  <a:srgbClr val="FFFFFF"/>
                </a:solidFill>
                <a:latin typeface="Segoe UI"/>
              </a:rPr>
              <a:t>avoidance</a:t>
            </a:r>
            <a:r>
              <a:rPr sz="1900" b="0" i="0">
                <a:solidFill>
                  <a:srgbClr val="FFFFFF"/>
                </a:solidFill>
                <a:latin typeface="Segoe UI"/>
              </a:rPr>
              <a:t>. The advertised rate is shared between everyone on the channel.</a:t>
            </a:r>
          </a:p>
          <a:p>
            <a:pPr marL="217169" indent="-217169">
              <a:spcAft>
                <a:spcPts val="900"/>
              </a:spcAft>
            </a:pPr>
            <a:r>
              <a:rPr sz="1900">
                <a:solidFill>
                  <a:srgbClr val="C8D6E5"/>
                </a:solidFill>
              </a:rPr>
              <a:t>•  </a:t>
            </a:r>
            <a:r>
              <a:rPr sz="1900" b="0" i="0">
                <a:solidFill>
                  <a:srgbClr val="FFFFFF"/>
                </a:solidFill>
                <a:latin typeface="Segoe UI"/>
              </a:rPr>
              <a:t>SSID is the name, BSSID is the radio’s MAC. The </a:t>
            </a:r>
            <a:r>
              <a:rPr sz="1900" b="0" i="1">
                <a:solidFill>
                  <a:srgbClr val="FFFFFF"/>
                </a:solidFill>
                <a:latin typeface="Segoe UI"/>
              </a:rPr>
              <a:t>client</a:t>
            </a:r>
            <a:r>
              <a:rPr sz="1900" b="0" i="0">
                <a:solidFill>
                  <a:srgbClr val="FFFFFF"/>
                </a:solidFill>
                <a:latin typeface="Segoe UI"/>
              </a:rPr>
              <a:t> decides when to roam.</a:t>
            </a:r>
          </a:p>
          <a:p>
            <a:pPr marL="217169" indent="-217169">
              <a:spcAft>
                <a:spcPts val="900"/>
              </a:spcAft>
            </a:pPr>
            <a:r>
              <a:rPr sz="1900">
                <a:solidFill>
                  <a:srgbClr val="C8D6E5"/>
                </a:solidFill>
              </a:rPr>
              <a:t>•  </a:t>
            </a:r>
            <a:r>
              <a:rPr sz="1900" b="0" i="0">
                <a:solidFill>
                  <a:srgbClr val="FFFFFF"/>
                </a:solidFill>
                <a:latin typeface="Segoe UI"/>
              </a:rPr>
              <a:t>2.4 GHz: three non-overlapping channels, 1, 6 and 11. 5 GHz: around 25, some DFS. 6 GHz: 59, newest clients only.</a:t>
            </a:r>
          </a:p>
          <a:p>
            <a:pPr marL="217169" indent="-217169">
              <a:spcAft>
                <a:spcPts val="900"/>
              </a:spcAft>
            </a:pPr>
            <a:r>
              <a:rPr sz="1900">
                <a:solidFill>
                  <a:srgbClr val="C8D6E5"/>
                </a:solidFill>
              </a:rPr>
              <a:t>•  </a:t>
            </a:r>
            <a:r>
              <a:rPr sz="1900" b="0" i="0">
                <a:solidFill>
                  <a:srgbClr val="FFFFFF"/>
                </a:solidFill>
                <a:latin typeface="Segoe UI"/>
              </a:rPr>
              <a:t>Channel bonding doubles throughput, halves the channel count and raises the noise floor. Never at 2.4 GHz.</a:t>
            </a:r>
          </a:p>
        </p:txBody>
      </p:sp>
      <p:sp>
        <p:nvSpPr>
          <p:cNvPr id="5" name="nextbg"/>
          <p:cNvSpPr/>
          <p:nvPr/>
        </p:nvSpPr>
        <p:spPr>
          <a:xfrm>
            <a:off x="685800" y="5303520"/>
            <a:ext cx="10820095" cy="822960"/>
          </a:xfrm>
          <a:prstGeom prst="rect">
            <a:avLst/>
          </a:prstGeom>
          <a:solidFill>
            <a:srgbClr val="094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28 — Troubleshooting Client Connectivity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