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13: CDP, LLDP and Documenting a Network. Blueprint topics: 2.3.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CDP, LLDP and Documenting a Network 2.3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 they are defined as they arrive. This slide is for the students' notes.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both in a mixed estate: CDP for the Cisco gear, LLDP for everything else.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as four columns that matter: Device ID (who), Local Intrfce (my port), Port ID (their port), Capability (what kind of device). Those four are the cabling diagram, taken from the devices rather than from a drawing somebody updated in 2019.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 adds the IP address, the software version, the duplex and the native VLAN — which is how a native VLAN mismatch gets caught before it causes a security incident.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Take two or three answers before advancing. The point is the prediction, not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elimination matters as much as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7864"/>
        </a:solidFill>
        <a:effectLst/>
      </p:bgPr>
    </p:bg>
    <p:spTree>
      <p:nvGrpSpPr>
        <p:cNvPr id="1" name=""/>
        <p:cNvGrpSpPr/>
        <p:nvPr/>
      </p:nvGrpSpPr>
      <p:grpSpPr/>
      <p:sp>
        <p:nvSpPr>
          <p:cNvPr id="2" name="bg"/>
          <p:cNvSpPr/>
          <p:nvPr/>
        </p:nvSpPr>
        <p:spPr>
          <a:xfrm>
            <a:off x="0" y="0"/>
            <a:ext cx="12191695" cy="68580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gfoot"/>
          <p:cNvSpPr/>
          <p:nvPr/>
        </p:nvSpPr>
        <p:spPr>
          <a:xfrm>
            <a:off x="0" y="6172200"/>
            <a:ext cx="12191695" cy="685800"/>
          </a:xfrm>
          <a:prstGeom prst="rect">
            <a:avLst/>
          </a:prstGeom>
          <a:solidFill>
            <a:srgbClr val="006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ourse"/>
          <p:cNvSpPr txBox="1"/>
          <p:nvPr/>
        </p:nvSpPr>
        <p:spPr>
          <a:xfrm>
            <a:off x="685800" y="1170432"/>
            <a:ext cx="10820095" cy="310896"/>
          </a:xfrm>
          <a:prstGeom prst="rect">
            <a:avLst/>
          </a:prstGeom>
          <a:noFill/>
        </p:spPr>
        <p:txBody>
          <a:bodyPr wrap="square" anchor="t" lIns="0" rIns="0" tIns="0" bIns="0">
            <a:spAutoFit/>
          </a:bodyPr>
          <a:lstStyle/>
          <a:p>
            <a:pPr algn="l">
              <a:lnSpc>
                <a:spcPct val="100000"/>
              </a:lnSpc>
              <a:spcAft>
                <a:spcPts val="600"/>
              </a:spcAft>
            </a:pPr>
            <a:r>
              <a:rPr sz="1500" b="1" i="0">
                <a:solidFill>
                  <a:srgbClr val="C8D6E5"/>
                </a:solidFill>
                <a:latin typeface="Segoe UI"/>
              </a:rPr>
              <a:t>CCNA 200-301 V2.0</a:t>
            </a:r>
          </a:p>
        </p:txBody>
      </p:sp>
      <p:sp>
        <p:nvSpPr>
          <p:cNvPr id="5" name="chnum"/>
          <p:cNvSpPr txBox="1"/>
          <p:nvPr/>
        </p:nvSpPr>
        <p:spPr>
          <a:xfrm>
            <a:off x="685800" y="1572768"/>
            <a:ext cx="2011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Segoe UI"/>
              </a:rPr>
              <a:t>13</a:t>
            </a:r>
          </a:p>
        </p:txBody>
      </p:sp>
      <p:sp>
        <p:nvSpPr>
          <p:cNvPr id="6" name="chtitle"/>
          <p:cNvSpPr txBox="1"/>
          <p:nvPr/>
        </p:nvSpPr>
        <p:spPr>
          <a:xfrm>
            <a:off x="2423160" y="1700784"/>
            <a:ext cx="9082735" cy="1371600"/>
          </a:xfrm>
          <a:prstGeom prst="rect">
            <a:avLst/>
          </a:prstGeom>
          <a:noFill/>
        </p:spPr>
        <p:txBody>
          <a:bodyPr wrap="square" anchor="t" lIns="0" rIns="0" tIns="0" bIns="0">
            <a:spAutoFit/>
          </a:bodyPr>
          <a:lstStyle/>
          <a:p>
            <a:pPr algn="l">
              <a:lnSpc>
                <a:spcPct val="100000"/>
              </a:lnSpc>
              <a:spcAft>
                <a:spcPts val="600"/>
              </a:spcAft>
            </a:pPr>
            <a:r>
              <a:rPr sz="4000" b="1" i="0">
                <a:solidFill>
                  <a:srgbClr val="FFFFFF"/>
                </a:solidFill>
                <a:latin typeface="Segoe UI"/>
              </a:rPr>
              <a:t>CDP, LLDP and Documenting a Network</a:t>
            </a:r>
          </a:p>
        </p:txBody>
      </p:sp>
      <p:sp>
        <p:nvSpPr>
          <p:cNvPr id="7" name="part"/>
          <p:cNvSpPr txBox="1"/>
          <p:nvPr/>
        </p:nvSpPr>
        <p:spPr>
          <a:xfrm>
            <a:off x="2441448" y="3017520"/>
            <a:ext cx="9082735" cy="292608"/>
          </a:xfrm>
          <a:prstGeom prst="rect">
            <a:avLst/>
          </a:prstGeom>
          <a:noFill/>
        </p:spPr>
        <p:txBody>
          <a:bodyPr wrap="square" anchor="t" lIns="0" rIns="0" tIns="0" bIns="0">
            <a:spAutoFit/>
          </a:bodyPr>
          <a:lstStyle/>
          <a:p>
            <a:pPr algn="l">
              <a:lnSpc>
                <a:spcPct val="100000"/>
              </a:lnSpc>
              <a:spcAft>
                <a:spcPts val="600"/>
              </a:spcAft>
            </a:pPr>
            <a:r>
              <a:rPr sz="1500" b="0" i="0">
                <a:solidFill>
                  <a:srgbClr val="C8D6E5"/>
                </a:solidFill>
                <a:latin typeface="Segoe UI"/>
              </a:rPr>
              <a:t>Part II — Switching and Network Access</a:t>
            </a:r>
          </a:p>
        </p:txBody>
      </p:sp>
      <p:sp>
        <p:nvSpPr>
          <p:cNvPr id="8" name="tlabel"/>
          <p:cNvSpPr txBox="1"/>
          <p:nvPr/>
        </p:nvSpPr>
        <p:spPr>
          <a:xfrm>
            <a:off x="2441448" y="3401568"/>
            <a:ext cx="1828800" cy="237744"/>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EXAM TOPICS</a:t>
            </a:r>
          </a:p>
        </p:txBody>
      </p:sp>
      <p:sp>
        <p:nvSpPr>
          <p:cNvPr id="9" name="chip-2.3"/>
          <p:cNvSpPr/>
          <p:nvPr/>
        </p:nvSpPr>
        <p:spPr>
          <a:xfrm>
            <a:off x="2441448"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hiptx-2.3"/>
          <p:cNvSpPr txBox="1"/>
          <p:nvPr/>
        </p:nvSpPr>
        <p:spPr>
          <a:xfrm>
            <a:off x="2441448"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117864"/>
                </a:solidFill>
                <a:latin typeface="Segoe UI"/>
              </a:rPr>
              <a:t>2.3</a:t>
            </a:r>
          </a:p>
        </p:txBody>
      </p:sp>
      <p:sp>
        <p:nvSpPr>
          <p:cNvPr id="11" name="authlab"/>
          <p:cNvSpPr txBox="1"/>
          <p:nvPr/>
        </p:nvSpPr>
        <p:spPr>
          <a:xfrm>
            <a:off x="685800" y="5138928"/>
            <a:ext cx="6492057" cy="274320"/>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LECTURER</a:t>
            </a:r>
          </a:p>
        </p:txBody>
      </p:sp>
      <p:sp>
        <p:nvSpPr>
          <p:cNvPr id="12" name="author"/>
          <p:cNvSpPr txBox="1"/>
          <p:nvPr/>
        </p:nvSpPr>
        <p:spPr>
          <a:xfrm>
            <a:off x="685800" y="5394960"/>
            <a:ext cx="6492057" cy="329184"/>
          </a:xfrm>
          <a:prstGeom prst="rect">
            <a:avLst/>
          </a:prstGeom>
          <a:noFill/>
        </p:spPr>
        <p:txBody>
          <a:bodyPr wrap="square" anchor="t" lIns="0" rIns="0" tIns="0" bIns="0">
            <a:spAutoFit/>
          </a:bodyPr>
          <a:lstStyle/>
          <a:p>
            <a:pPr algn="l">
              <a:lnSpc>
                <a:spcPct val="100000"/>
              </a:lnSpc>
              <a:spcAft>
                <a:spcPts val="600"/>
              </a:spcAft>
            </a:pPr>
            <a:r>
              <a:rPr sz="1800" b="1" i="0">
                <a:solidFill>
                  <a:srgbClr val="FFFFFF"/>
                </a:solidFill>
                <a:latin typeface="Segoe UI"/>
              </a:rPr>
              <a:t>Dr. Mustafa Hameed</a:t>
            </a:r>
          </a:p>
        </p:txBody>
      </p:sp>
      <p:sp>
        <p:nvSpPr>
          <p:cNvPr id="13" name="lockup1"/>
          <p:cNvSpPr txBox="1"/>
          <p:nvPr/>
        </p:nvSpPr>
        <p:spPr>
          <a:xfrm>
            <a:off x="7939735" y="5175504"/>
            <a:ext cx="3566160"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FFFFFF"/>
                </a:solidFill>
                <a:latin typeface="Segoe UI"/>
              </a:rPr>
              <a:t>THE ISLAMIA UNIVERSITY OF BAHAWALPUR</a:t>
            </a:r>
          </a:p>
        </p:txBody>
      </p:sp>
      <p:sp>
        <p:nvSpPr>
          <p:cNvPr id="14" name="lockup2"/>
          <p:cNvSpPr txBox="1"/>
          <p:nvPr/>
        </p:nvSpPr>
        <p:spPr>
          <a:xfrm>
            <a:off x="7939735" y="5413248"/>
            <a:ext cx="3566160" cy="256032"/>
          </a:xfrm>
          <a:prstGeom prst="rect">
            <a:avLst/>
          </a:prstGeom>
          <a:noFill/>
        </p:spPr>
        <p:txBody>
          <a:bodyPr wrap="square" anchor="t" lIns="0" rIns="0" tIns="0" bIns="0">
            <a:spAutoFit/>
          </a:bodyPr>
          <a:lstStyle/>
          <a:p>
            <a:pPr algn="l">
              <a:lnSpc>
                <a:spcPct val="100000"/>
              </a:lnSpc>
              <a:spcAft>
                <a:spcPts val="600"/>
              </a:spcAft>
            </a:pPr>
            <a:r>
              <a:rPr sz="1100" b="0" i="0">
                <a:solidFill>
                  <a:srgbClr val="C8D6E5"/>
                </a:solidFill>
                <a:latin typeface="Segoe UI"/>
              </a:rPr>
              <a:t>Department of Information Technology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LEARNING OUTCOMES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you will be able to do</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13. CDP, LLDP and Documenting a Network</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2.3</a:t>
            </a:r>
          </a:p>
        </p:txBody>
      </p:sp>
      <p:sp>
        <p:nvSpPr>
          <p:cNvPr id="7" name="bullets"/>
          <p:cNvSpPr txBox="1"/>
          <p:nvPr/>
        </p:nvSpPr>
        <p:spPr>
          <a:xfrm>
            <a:off x="685800" y="2417064"/>
            <a:ext cx="10820095" cy="396544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Explain</a:t>
            </a:r>
            <a:r>
              <a:rPr sz="2000" b="0" i="0">
                <a:solidFill>
                  <a:srgbClr val="1C252B"/>
                </a:solidFill>
                <a:latin typeface="Segoe UI"/>
              </a:rPr>
              <a:t> what discovery protocols advertise and what they cannot tell you.</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Configure</a:t>
            </a:r>
            <a:r>
              <a:rPr sz="2000" b="0" i="0">
                <a:solidFill>
                  <a:srgbClr val="1C252B"/>
                </a:solidFill>
                <a:latin typeface="Segoe UI"/>
              </a:rPr>
              <a:t> CDP and LLDP, including disabling them where they should not run.</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Validate</a:t>
            </a:r>
            <a:r>
              <a:rPr sz="2000" b="0" i="0">
                <a:solidFill>
                  <a:srgbClr val="1C252B"/>
                </a:solidFill>
                <a:latin typeface="Segoe UI"/>
              </a:rPr>
              <a:t> a network diagram against the devices themselves, which is precisely what topic </a:t>
            </a:r>
            <a:r>
              <a:rPr sz="1600" b="1">
                <a:solidFill>
                  <a:srgbClr val="117864"/>
                </a:solidFill>
                <a:latin typeface="Segoe UI"/>
              </a:rPr>
              <a:t> 2.3 </a:t>
            </a:r>
            <a:r>
              <a:rPr sz="2000" b="0" i="0">
                <a:solidFill>
                  <a:srgbClr val="1C252B"/>
                </a:solidFill>
                <a:latin typeface="Segoe UI"/>
              </a:rPr>
              <a:t> asks.</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Use</a:t>
            </a:r>
            <a:r>
              <a:rPr sz="2000" b="0" i="0">
                <a:solidFill>
                  <a:srgbClr val="1C252B"/>
                </a:solidFill>
                <a:latin typeface="Segoe UI"/>
              </a:rPr>
              <a:t> discovery output to find a mismatch — native VLAN, duplex or an undocumented device.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ASSUMED KNOWLEDGE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Before we start</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13. CDP, LLDP and Documenting a Network</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2.3</a:t>
            </a:r>
          </a:p>
        </p:txBody>
      </p:sp>
      <p:sp>
        <p:nvSpPr>
          <p:cNvPr id="7" name="tint"/>
          <p:cNvSpPr/>
          <p:nvPr/>
        </p:nvSpPr>
        <p:spPr>
          <a:xfrm>
            <a:off x="685800" y="1517904"/>
            <a:ext cx="10820095" cy="1337055"/>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Chapter 10 for native VLANs, Chapter 2 for duplex, Chapter 7 for filtering output.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KEY TERMS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Vocabulary for this chapter</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13. CDP, LLDP and Documenting a Network</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2.3</a:t>
            </a:r>
          </a:p>
        </p:txBody>
      </p:sp>
      <p:sp>
        <p:nvSpPr>
          <p:cNvPr id="7" name="term-CDP"/>
          <p:cNvSpPr/>
          <p:nvPr/>
        </p:nvSpPr>
        <p:spPr>
          <a:xfrm>
            <a:off x="685800" y="1609344"/>
            <a:ext cx="707136"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b-CDP"/>
          <p:cNvSpPr/>
          <p:nvPr/>
        </p:nvSpPr>
        <p:spPr>
          <a:xfrm>
            <a:off x="685800"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t-CDP"/>
          <p:cNvSpPr txBox="1"/>
          <p:nvPr/>
        </p:nvSpPr>
        <p:spPr>
          <a:xfrm>
            <a:off x="850392" y="1700784"/>
            <a:ext cx="377952"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CDP</a:t>
            </a:r>
          </a:p>
        </p:txBody>
      </p:sp>
      <p:sp>
        <p:nvSpPr>
          <p:cNvPr id="10" name="term-LLDP"/>
          <p:cNvSpPr/>
          <p:nvPr/>
        </p:nvSpPr>
        <p:spPr>
          <a:xfrm>
            <a:off x="1520952" y="1609344"/>
            <a:ext cx="833120"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b-LLDP"/>
          <p:cNvSpPr/>
          <p:nvPr/>
        </p:nvSpPr>
        <p:spPr>
          <a:xfrm>
            <a:off x="1520952"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t-LLDP"/>
          <p:cNvSpPr txBox="1"/>
          <p:nvPr/>
        </p:nvSpPr>
        <p:spPr>
          <a:xfrm>
            <a:off x="1685544" y="1700784"/>
            <a:ext cx="503936"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LLDP</a:t>
            </a:r>
          </a:p>
        </p:txBody>
      </p:sp>
      <p:sp>
        <p:nvSpPr>
          <p:cNvPr id="13" name="term-LLDP-MED"/>
          <p:cNvSpPr/>
          <p:nvPr/>
        </p:nvSpPr>
        <p:spPr>
          <a:xfrm>
            <a:off x="2482088" y="1609344"/>
            <a:ext cx="1367536"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b-LLDP-MED"/>
          <p:cNvSpPr/>
          <p:nvPr/>
        </p:nvSpPr>
        <p:spPr>
          <a:xfrm>
            <a:off x="2482088"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t-LLDP-MED"/>
          <p:cNvSpPr txBox="1"/>
          <p:nvPr/>
        </p:nvSpPr>
        <p:spPr>
          <a:xfrm>
            <a:off x="2646680" y="1700784"/>
            <a:ext cx="1038352"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LLDP-MED</a:t>
            </a:r>
          </a:p>
        </p:txBody>
      </p:sp>
      <p:sp>
        <p:nvSpPr>
          <p:cNvPr id="16" name="term-neighbour"/>
          <p:cNvSpPr/>
          <p:nvPr/>
        </p:nvSpPr>
        <p:spPr>
          <a:xfrm>
            <a:off x="3977639" y="1609344"/>
            <a:ext cx="1176527"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b-neighbour"/>
          <p:cNvSpPr/>
          <p:nvPr/>
        </p:nvSpPr>
        <p:spPr>
          <a:xfrm>
            <a:off x="3977639"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t-neighbour"/>
          <p:cNvSpPr txBox="1"/>
          <p:nvPr/>
        </p:nvSpPr>
        <p:spPr>
          <a:xfrm>
            <a:off x="4142231" y="1700784"/>
            <a:ext cx="847343"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neighbour</a:t>
            </a:r>
          </a:p>
        </p:txBody>
      </p:sp>
      <p:sp>
        <p:nvSpPr>
          <p:cNvPr id="19" name="term-holdtime"/>
          <p:cNvSpPr/>
          <p:nvPr/>
        </p:nvSpPr>
        <p:spPr>
          <a:xfrm>
            <a:off x="5282183" y="1609344"/>
            <a:ext cx="1105407"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b-holdtime"/>
          <p:cNvSpPr/>
          <p:nvPr/>
        </p:nvSpPr>
        <p:spPr>
          <a:xfrm>
            <a:off x="5282183"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t-holdtime"/>
          <p:cNvSpPr txBox="1"/>
          <p:nvPr/>
        </p:nvSpPr>
        <p:spPr>
          <a:xfrm>
            <a:off x="5446775" y="1700784"/>
            <a:ext cx="776223"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holdtime</a:t>
            </a:r>
          </a:p>
        </p:txBody>
      </p:sp>
      <p:sp>
        <p:nvSpPr>
          <p:cNvPr id="22" name="term-advertisement"/>
          <p:cNvSpPr/>
          <p:nvPr/>
        </p:nvSpPr>
        <p:spPr>
          <a:xfrm>
            <a:off x="6515607" y="1609344"/>
            <a:ext cx="158089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b-advertisement"/>
          <p:cNvSpPr/>
          <p:nvPr/>
        </p:nvSpPr>
        <p:spPr>
          <a:xfrm>
            <a:off x="6515607"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t-advertisement"/>
          <p:cNvSpPr txBox="1"/>
          <p:nvPr/>
        </p:nvSpPr>
        <p:spPr>
          <a:xfrm>
            <a:off x="6680199" y="1700784"/>
            <a:ext cx="1251712"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advertisement</a:t>
            </a:r>
          </a:p>
        </p:txBody>
      </p:sp>
      <p:sp>
        <p:nvSpPr>
          <p:cNvPr id="25" name="term-capability code"/>
          <p:cNvSpPr/>
          <p:nvPr/>
        </p:nvSpPr>
        <p:spPr>
          <a:xfrm>
            <a:off x="8224519" y="1609344"/>
            <a:ext cx="167030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b-capability code"/>
          <p:cNvSpPr/>
          <p:nvPr/>
        </p:nvSpPr>
        <p:spPr>
          <a:xfrm>
            <a:off x="8224519"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t-capability code"/>
          <p:cNvSpPr txBox="1"/>
          <p:nvPr/>
        </p:nvSpPr>
        <p:spPr>
          <a:xfrm>
            <a:off x="8389111" y="1700784"/>
            <a:ext cx="1341119"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capability code</a:t>
            </a:r>
          </a:p>
        </p:txBody>
      </p:sp>
      <p:sp>
        <p:nvSpPr>
          <p:cNvPr id="28" name="term-platform"/>
          <p:cNvSpPr/>
          <p:nvPr/>
        </p:nvSpPr>
        <p:spPr>
          <a:xfrm>
            <a:off x="10022840" y="1609344"/>
            <a:ext cx="1062736"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b-platform"/>
          <p:cNvSpPr/>
          <p:nvPr/>
        </p:nvSpPr>
        <p:spPr>
          <a:xfrm>
            <a:off x="10022840"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t-platform"/>
          <p:cNvSpPr txBox="1"/>
          <p:nvPr/>
        </p:nvSpPr>
        <p:spPr>
          <a:xfrm>
            <a:off x="10187431" y="1700784"/>
            <a:ext cx="733552"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platform</a:t>
            </a:r>
          </a:p>
        </p:txBody>
      </p:sp>
      <p:sp>
        <p:nvSpPr>
          <p:cNvPr id="31" name="term-local interface"/>
          <p:cNvSpPr/>
          <p:nvPr/>
        </p:nvSpPr>
        <p:spPr>
          <a:xfrm>
            <a:off x="685800" y="2212848"/>
            <a:ext cx="158495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b-local interface"/>
          <p:cNvSpPr/>
          <p:nvPr/>
        </p:nvSpPr>
        <p:spPr>
          <a:xfrm>
            <a:off x="685800" y="2212848"/>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t-local interface"/>
          <p:cNvSpPr txBox="1"/>
          <p:nvPr/>
        </p:nvSpPr>
        <p:spPr>
          <a:xfrm>
            <a:off x="850392" y="2304288"/>
            <a:ext cx="1255775"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local interface</a:t>
            </a:r>
          </a:p>
        </p:txBody>
      </p:sp>
      <p:sp>
        <p:nvSpPr>
          <p:cNvPr id="34" name="term-port ID"/>
          <p:cNvSpPr/>
          <p:nvPr/>
        </p:nvSpPr>
        <p:spPr>
          <a:xfrm>
            <a:off x="2398775" y="2212848"/>
            <a:ext cx="906272"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b-port ID"/>
          <p:cNvSpPr/>
          <p:nvPr/>
        </p:nvSpPr>
        <p:spPr>
          <a:xfrm>
            <a:off x="2398775" y="2212848"/>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t-port ID"/>
          <p:cNvSpPr txBox="1"/>
          <p:nvPr/>
        </p:nvSpPr>
        <p:spPr>
          <a:xfrm>
            <a:off x="2563368" y="2304288"/>
            <a:ext cx="577088"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port ID</a:t>
            </a:r>
          </a:p>
        </p:txBody>
      </p:sp>
      <p:sp>
        <p:nvSpPr>
          <p:cNvPr id="37" name="termnote"/>
          <p:cNvSpPr txBox="1"/>
          <p:nvPr/>
        </p:nvSpPr>
        <p:spPr>
          <a:xfrm>
            <a:off x="685800" y="2962656"/>
            <a:ext cx="10820095"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8A959A"/>
                </a:solidFill>
                <a:latin typeface="Segoe UI"/>
              </a:rPr>
              <a:t>Each is defined where it first matters — not 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verb here is validate</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13. CDP, LLDP and Documenting a Network</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2.3</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117864"/>
                </a:solidFill>
                <a:latin typeface="Segoe UI"/>
              </a:rPr>
              <a:t>This is what the blueprint actually asks for</a:t>
            </a:r>
          </a:p>
        </p:txBody>
      </p:sp>
      <p:sp>
        <p:nvSpPr>
          <p:cNvPr id="8" name="body"/>
          <p:cNvSpPr txBox="1"/>
          <p:nvPr/>
        </p:nvSpPr>
        <p:spPr>
          <a:xfrm>
            <a:off x="685800" y="2868095"/>
            <a:ext cx="10820095" cy="3514416"/>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Topic </a:t>
            </a:r>
            <a:r>
              <a:rPr sz="1600" b="1">
                <a:solidFill>
                  <a:srgbClr val="117864"/>
                </a:solidFill>
                <a:latin typeface="Segoe UI"/>
              </a:rPr>
              <a:t> 2.3 </a:t>
            </a:r>
            <a:r>
              <a:rPr sz="2000" b="0" i="0">
                <a:solidFill>
                  <a:srgbClr val="1C252B"/>
                </a:solidFill>
                <a:latin typeface="Segoe UI"/>
              </a:rPr>
              <a:t> is “validate the accuracy of network documentation using CDP and LLDP”. It is not asking you to describe the protocols. It is asking you to take a diagram that claims </a:t>
            </a:r>
            <a:r>
              <a:rPr sz="1900" b="0" i="0">
                <a:solidFill>
                  <a:srgbClr val="1A5276"/>
                </a:solidFill>
                <a:latin typeface="Consolas"/>
              </a:rPr>
              <a:t>SW1 Gi0/1</a:t>
            </a:r>
            <a:r>
              <a:rPr sz="2000" b="0" i="0">
                <a:solidFill>
                  <a:srgbClr val="1C252B"/>
                </a:solidFill>
                <a:latin typeface="Segoe UI"/>
              </a:rPr>
              <a:t> connects to </a:t>
            </a:r>
            <a:r>
              <a:rPr sz="1900" b="0" i="0">
                <a:solidFill>
                  <a:srgbClr val="1A5276"/>
                </a:solidFill>
                <a:latin typeface="Consolas"/>
              </a:rPr>
              <a:t>R1 Gi0/0</a:t>
            </a:r>
            <a:r>
              <a:rPr sz="2000" b="0" i="0">
                <a:solidFill>
                  <a:srgbClr val="1C252B"/>
                </a:solidFill>
                <a:latin typeface="Segoe UI"/>
              </a:rPr>
              <a:t>, and prove from the devices whether that is true. Expect to be shown a diagram and some </a:t>
            </a:r>
            <a:r>
              <a:rPr sz="1900" b="0" i="0">
                <a:solidFill>
                  <a:srgbClr val="1A5276"/>
                </a:solidFill>
                <a:latin typeface="Consolas"/>
              </a:rPr>
              <a:t>show cdp neighbors</a:t>
            </a:r>
            <a:r>
              <a:rPr sz="2000" b="0" i="0">
                <a:solidFill>
                  <a:srgbClr val="1C252B"/>
                </a:solidFill>
                <a:latin typeface="Segoe UI"/>
              </a:rPr>
              <a:t> output that contradicts it.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a neighbour advertisement carries</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13. CDP, LLDP and Documenting a Network</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2.3</a:t>
            </a:r>
          </a:p>
        </p:txBody>
      </p:sp>
      <p:sp>
        <p:nvSpPr>
          <p:cNvPr id="7" name="tint"/>
          <p:cNvSpPr/>
          <p:nvPr/>
        </p:nvSpPr>
        <p:spPr>
          <a:xfrm>
            <a:off x="685800" y="1517904"/>
            <a:ext cx="10820095" cy="2749296"/>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Device identifier, the local and remote interface, the platform and capabilities, and depending on the protocol and platform: IP address, IOS version, native VLAN, duplex and power requirements.</a:t>
            </a:r>
          </a:p>
          <a:p>
            <a:pPr algn="l">
              <a:lnSpc>
                <a:spcPct val="100000"/>
              </a:lnSpc>
              <a:spcAft>
                <a:spcPts val="1000"/>
              </a:spcAft>
            </a:pPr>
            <a:r>
              <a:rPr sz="2000" b="0" i="0">
                <a:solidFill>
                  <a:srgbClr val="1C252B"/>
                </a:solidFill>
                <a:latin typeface="Segoe UI"/>
              </a:rPr>
              <a:t>Crucially, a neighbour is </a:t>
            </a:r>
            <a:r>
              <a:rPr sz="2000" b="1" i="0">
                <a:solidFill>
                  <a:srgbClr val="1C252B"/>
                </a:solidFill>
                <a:latin typeface="Segoe UI"/>
              </a:rPr>
              <a:t>directly connected at layer 2</a:t>
            </a:r>
            <a:r>
              <a:rPr sz="2000" b="0" i="0">
                <a:solidFill>
                  <a:srgbClr val="1C252B"/>
                </a:solidFill>
                <a:latin typeface="Segoe UI"/>
              </a:rPr>
              <a:t>. A device two switches away never appears. That is exactly what makes the output usable as evidence of physical cabling.</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cdp neighbors</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13. CDP, LLDP and Documenting a Network</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2.3</a:t>
            </a:r>
          </a:p>
        </p:txBody>
      </p:sp>
      <p:sp>
        <p:nvSpPr>
          <p:cNvPr id="7" name="codebg"/>
          <p:cNvSpPr/>
          <p:nvPr/>
        </p:nvSpPr>
        <p:spPr>
          <a:xfrm>
            <a:off x="685800" y="1901952"/>
            <a:ext cx="10820095" cy="2637535"/>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10" name="code"/>
          <p:cNvSpPr txBox="1"/>
          <p:nvPr/>
        </p:nvSpPr>
        <p:spPr>
          <a:xfrm>
            <a:off x="886968" y="2340864"/>
            <a:ext cx="10417759" cy="2143759"/>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Capability Codes: R - Router, T - Trans Bridge, B - Source Route Bridge</a:t>
            </a:r>
          </a:p>
          <a:p>
            <a:pPr>
              <a:lnSpc>
                <a:spcPct val="100000"/>
              </a:lnSpc>
              <a:spcAft>
                <a:spcPts val="0"/>
              </a:spcAft>
            </a:pPr>
            <a:r>
              <a:rPr sz="1600">
                <a:solidFill>
                  <a:srgbClr val="E8EEF2"/>
                </a:solidFill>
                <a:latin typeface="Consolas"/>
              </a:rPr>
              <a:t>                  S - Switch, H - Host, I - IGMP, r - Repeater, P - Phone</a:t>
            </a:r>
          </a:p>
          <a:p>
            <a:pPr>
              <a:lnSpc>
                <a:spcPct val="100000"/>
              </a:lnSpc>
              <a:spcAft>
                <a:spcPts val="0"/>
              </a:spcAft>
            </a:pPr>
            <a:r>
              <a:rPr sz="1600">
                <a:solidFill>
                  <a:srgbClr val="E8EEF2"/>
                </a:solidFill>
                <a:latin typeface="Consolas"/>
              </a:rPr>
              <a:t> </a:t>
            </a:r>
          </a:p>
          <a:p>
            <a:pPr>
              <a:lnSpc>
                <a:spcPct val="100000"/>
              </a:lnSpc>
              <a:spcAft>
                <a:spcPts val="0"/>
              </a:spcAft>
            </a:pPr>
            <a:r>
              <a:rPr sz="1600">
                <a:solidFill>
                  <a:srgbClr val="E8EEF2"/>
                </a:solidFill>
                <a:latin typeface="Consolas"/>
              </a:rPr>
              <a:t>Device ID    Local Intrfce   Holdtme   Capability   Platform    Port ID</a:t>
            </a:r>
          </a:p>
          <a:p>
            <a:pPr>
              <a:lnSpc>
                <a:spcPct val="100000"/>
              </a:lnSpc>
              <a:spcAft>
                <a:spcPts val="0"/>
              </a:spcAft>
            </a:pPr>
            <a:r>
              <a:rPr sz="1600">
                <a:solidFill>
                  <a:srgbClr val="E8EEF2"/>
                </a:solidFill>
                <a:latin typeface="Consolas"/>
              </a:rPr>
              <a:t>R1           Gig 0/1          142        R S I      C1111       Gig 0/0/0</a:t>
            </a:r>
          </a:p>
          <a:p>
            <a:pPr>
              <a:lnSpc>
                <a:spcPct val="100000"/>
              </a:lnSpc>
              <a:spcAft>
                <a:spcPts val="0"/>
              </a:spcAft>
            </a:pPr>
            <a:r>
              <a:rPr sz="1600">
                <a:solidFill>
                  <a:srgbClr val="E8EEF2"/>
                </a:solidFill>
                <a:latin typeface="Consolas"/>
              </a:rPr>
              <a:t>SW2          Gig 0/2          167        S I        WS-C2960    Gig 0/1</a:t>
            </a:r>
          </a:p>
          <a:p>
            <a:pPr>
              <a:lnSpc>
                <a:spcPct val="100000"/>
              </a:lnSpc>
              <a:spcAft>
                <a:spcPts val="0"/>
              </a:spcAft>
            </a:pPr>
            <a:r>
              <a:rPr sz="1600">
                <a:solidFill>
                  <a:srgbClr val="E8EEF2"/>
                </a:solidFill>
                <a:latin typeface="Consolas"/>
              </a:rPr>
              <a:t>SW3          Gig 0/3          121        S I        WS-C2960    Gig 0/24</a:t>
            </a:r>
          </a:p>
          <a:p>
            <a:pPr>
              <a:lnSpc>
                <a:spcPct val="100000"/>
              </a:lnSpc>
              <a:spcAft>
                <a:spcPts val="0"/>
              </a:spcAft>
            </a:pPr>
            <a:r>
              <a:rPr sz="1600">
                <a:solidFill>
                  <a:srgbClr val="E8EEF2"/>
                </a:solidFill>
                <a:latin typeface="Consolas"/>
              </a:rPr>
              <a:t>AP-EAST      Gig 0/10         155        H          AIR-AP2802  Gig 0</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cdp neighbors detail</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13. CDP, LLDP and Documenting a Network</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2.3</a:t>
            </a:r>
          </a:p>
        </p:txBody>
      </p:sp>
      <p:sp>
        <p:nvSpPr>
          <p:cNvPr id="7" name="codebg"/>
          <p:cNvSpPr/>
          <p:nvPr/>
        </p:nvSpPr>
        <p:spPr>
          <a:xfrm>
            <a:off x="685800" y="1872331"/>
            <a:ext cx="10820095" cy="3897376"/>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872331"/>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27195"/>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10" name="code"/>
          <p:cNvSpPr txBox="1"/>
          <p:nvPr/>
        </p:nvSpPr>
        <p:spPr>
          <a:xfrm>
            <a:off x="886968" y="2311243"/>
            <a:ext cx="10417759" cy="3403600"/>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a:t>
            </a:r>
          </a:p>
          <a:p>
            <a:pPr>
              <a:lnSpc>
                <a:spcPct val="100000"/>
              </a:lnSpc>
              <a:spcAft>
                <a:spcPts val="0"/>
              </a:spcAft>
            </a:pPr>
            <a:r>
              <a:rPr sz="1600">
                <a:solidFill>
                  <a:srgbClr val="E8EEF2"/>
                </a:solidFill>
                <a:latin typeface="Consolas"/>
              </a:rPr>
              <a:t>Device ID: R1</a:t>
            </a:r>
          </a:p>
          <a:p>
            <a:pPr>
              <a:lnSpc>
                <a:spcPct val="100000"/>
              </a:lnSpc>
              <a:spcAft>
                <a:spcPts val="0"/>
              </a:spcAft>
            </a:pPr>
            <a:r>
              <a:rPr sz="1600">
                <a:solidFill>
                  <a:srgbClr val="E8EEF2"/>
                </a:solidFill>
                <a:latin typeface="Consolas"/>
              </a:rPr>
              <a:t>Entry address(es):</a:t>
            </a:r>
          </a:p>
          <a:p>
            <a:pPr>
              <a:lnSpc>
                <a:spcPct val="100000"/>
              </a:lnSpc>
              <a:spcAft>
                <a:spcPts val="0"/>
              </a:spcAft>
            </a:pPr>
            <a:r>
              <a:rPr sz="1600">
                <a:solidFill>
                  <a:srgbClr val="E8EEF2"/>
                </a:solidFill>
                <a:latin typeface="Consolas"/>
              </a:rPr>
              <a:t>  IP address: 10.0.0.1</a:t>
            </a:r>
          </a:p>
          <a:p>
            <a:pPr>
              <a:lnSpc>
                <a:spcPct val="100000"/>
              </a:lnSpc>
              <a:spcAft>
                <a:spcPts val="0"/>
              </a:spcAft>
            </a:pPr>
            <a:r>
              <a:rPr sz="1600">
                <a:solidFill>
                  <a:srgbClr val="E8EEF2"/>
                </a:solidFill>
                <a:latin typeface="Consolas"/>
              </a:rPr>
              <a:t>Platform: Cisco C1111-4P,  Capabilities: Router Switch IGMP</a:t>
            </a:r>
          </a:p>
          <a:p>
            <a:pPr>
              <a:lnSpc>
                <a:spcPct val="100000"/>
              </a:lnSpc>
              <a:spcAft>
                <a:spcPts val="0"/>
              </a:spcAft>
            </a:pPr>
            <a:r>
              <a:rPr sz="1600">
                <a:solidFill>
                  <a:srgbClr val="E8EEF2"/>
                </a:solidFill>
                <a:latin typeface="Consolas"/>
              </a:rPr>
              <a:t>Interface: GigabitEthernet0/1,  Port ID (outgoing port): GigabitEthernet0/0/0</a:t>
            </a:r>
          </a:p>
          <a:p>
            <a:pPr>
              <a:lnSpc>
                <a:spcPct val="100000"/>
              </a:lnSpc>
              <a:spcAft>
                <a:spcPts val="0"/>
              </a:spcAft>
            </a:pPr>
            <a:r>
              <a:rPr sz="1600">
                <a:solidFill>
                  <a:srgbClr val="E8EEF2"/>
                </a:solidFill>
                <a:latin typeface="Consolas"/>
              </a:rPr>
              <a:t>Holdtime : 142 sec</a:t>
            </a:r>
          </a:p>
          <a:p>
            <a:pPr>
              <a:lnSpc>
                <a:spcPct val="100000"/>
              </a:lnSpc>
              <a:spcAft>
                <a:spcPts val="0"/>
              </a:spcAft>
            </a:pPr>
            <a:r>
              <a:rPr sz="1600">
                <a:solidFill>
                  <a:srgbClr val="E8EEF2"/>
                </a:solidFill>
                <a:latin typeface="Consolas"/>
              </a:rPr>
              <a:t> </a:t>
            </a:r>
          </a:p>
          <a:p>
            <a:pPr>
              <a:lnSpc>
                <a:spcPct val="100000"/>
              </a:lnSpc>
              <a:spcAft>
                <a:spcPts val="0"/>
              </a:spcAft>
            </a:pPr>
            <a:r>
              <a:rPr sz="1600">
                <a:solidFill>
                  <a:srgbClr val="E8EEF2"/>
                </a:solidFill>
                <a:latin typeface="Consolas"/>
              </a:rPr>
              <a:t>Version :</a:t>
            </a:r>
          </a:p>
          <a:p>
            <a:pPr>
              <a:lnSpc>
                <a:spcPct val="100000"/>
              </a:lnSpc>
              <a:spcAft>
                <a:spcPts val="0"/>
              </a:spcAft>
            </a:pPr>
            <a:r>
              <a:rPr sz="1600">
                <a:solidFill>
                  <a:srgbClr val="E8EEF2"/>
                </a:solidFill>
                <a:latin typeface="Consolas"/>
              </a:rPr>
              <a:t>Cisco IOS XE Software, Version 17.09.04a</a:t>
            </a:r>
          </a:p>
          <a:p>
            <a:pPr>
              <a:lnSpc>
                <a:spcPct val="100000"/>
              </a:lnSpc>
              <a:spcAft>
                <a:spcPts val="0"/>
              </a:spcAft>
            </a:pPr>
            <a:r>
              <a:rPr sz="1600">
                <a:solidFill>
                  <a:srgbClr val="E8EEF2"/>
                </a:solidFill>
                <a:latin typeface="Consolas"/>
              </a:rPr>
              <a:t> </a:t>
            </a:r>
          </a:p>
          <a:p>
            <a:pPr>
              <a:lnSpc>
                <a:spcPct val="100000"/>
              </a:lnSpc>
              <a:spcAft>
                <a:spcPts val="0"/>
              </a:spcAft>
            </a:pPr>
            <a:r>
              <a:rPr sz="1600">
                <a:solidFill>
                  <a:srgbClr val="E8EEF2"/>
                </a:solidFill>
                <a:latin typeface="Consolas"/>
              </a:rPr>
              <a:t>Duplex: full</a:t>
            </a:r>
          </a:p>
          <a:p>
            <a:pPr>
              <a:lnSpc>
                <a:spcPct val="100000"/>
              </a:lnSpc>
              <a:spcAft>
                <a:spcPts val="0"/>
              </a:spcAft>
            </a:pPr>
            <a:r>
              <a:rPr sz="1600">
                <a:solidFill>
                  <a:srgbClr val="E8EEF2"/>
                </a:solidFill>
                <a:latin typeface="Consolas"/>
              </a:rPr>
              <a:t>Native VLAN: 999</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300" b="1" i="0">
                <a:solidFill>
                  <a:srgbClr val="1A5276"/>
                </a:solidFill>
                <a:latin typeface="Segoe UI"/>
              </a:rPr>
              <a:t>Running both protocols, and switching them off where they do not belong</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13. CDP, LLDP and Documenting a Network</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2.3</a:t>
            </a:r>
          </a:p>
        </p:txBody>
      </p:sp>
      <p:sp>
        <p:nvSpPr>
          <p:cNvPr id="7" name="codebg"/>
          <p:cNvSpPr/>
          <p:nvPr/>
        </p:nvSpPr>
        <p:spPr>
          <a:xfrm>
            <a:off x="685800" y="1775420"/>
            <a:ext cx="10820095" cy="4149343"/>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775420"/>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830284"/>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214332"/>
            <a:ext cx="10417759" cy="3655567"/>
          </a:xfrm>
          <a:prstGeom prst="rect">
            <a:avLst/>
          </a:prstGeom>
          <a:noFill/>
        </p:spPr>
        <p:txBody>
          <a:bodyPr wrap="none" lIns="0" rIns="0" tIns="0" bIns="0">
            <a:spAutoFit/>
          </a:bodyPr>
          <a:lstStyle/>
          <a:p>
            <a:pPr>
              <a:lnSpc>
                <a:spcPct val="100000"/>
              </a:lnSpc>
              <a:spcAft>
                <a:spcPts val="0"/>
              </a:spcAft>
            </a:pPr>
            <a:r>
              <a:rPr sz="1600" i="1">
                <a:solidFill>
                  <a:srgbClr val="6E8BA0"/>
                </a:solidFill>
                <a:latin typeface="Consolas"/>
              </a:rPr>
              <a:t>! CDP is on by default; LLDP is not.</a:t>
            </a:r>
          </a:p>
          <a:p>
            <a:pPr>
              <a:lnSpc>
                <a:spcPct val="100000"/>
              </a:lnSpc>
              <a:spcAft>
                <a:spcPts val="0"/>
              </a:spcAft>
            </a:pPr>
            <a:r>
              <a:rPr sz="1600">
                <a:solidFill>
                  <a:srgbClr val="E8EEF2"/>
                </a:solidFill>
                <a:latin typeface="Consolas"/>
              </a:rPr>
              <a:t>lldp run</a:t>
            </a:r>
          </a:p>
          <a:p>
            <a:pPr>
              <a:lnSpc>
                <a:spcPct val="100000"/>
              </a:lnSpc>
              <a:spcAft>
                <a:spcPts val="0"/>
              </a:spcAft>
            </a:pPr>
            <a:r>
              <a:rPr sz="1600" i="1">
                <a:solidFill>
                  <a:srgbClr val="6E8BA0"/>
                </a:solidFill>
                <a:latin typeface="Consolas"/>
              </a:rPr>
              <a:t>!</a:t>
            </a:r>
          </a:p>
          <a:p>
            <a:pPr>
              <a:lnSpc>
                <a:spcPct val="100000"/>
              </a:lnSpc>
              <a:spcAft>
                <a:spcPts val="0"/>
              </a:spcAft>
            </a:pPr>
            <a:r>
              <a:rPr sz="1600" i="1">
                <a:solidFill>
                  <a:srgbClr val="6E8BA0"/>
                </a:solidFill>
                <a:latin typeface="Consolas"/>
              </a:rPr>
              <a:t>! Turn CDP off on a port facing anything you do not control.</a:t>
            </a:r>
          </a:p>
          <a:p>
            <a:pPr>
              <a:lnSpc>
                <a:spcPct val="100000"/>
              </a:lnSpc>
              <a:spcAft>
                <a:spcPts val="0"/>
              </a:spcAft>
            </a:pPr>
            <a:r>
              <a:rPr sz="1600" i="1">
                <a:solidFill>
                  <a:srgbClr val="6E8BA0"/>
                </a:solidFill>
                <a:latin typeface="Consolas"/>
              </a:rPr>
              <a:t>! Advertising your platform and IOS version to a guest network,</a:t>
            </a:r>
          </a:p>
          <a:p>
            <a:pPr>
              <a:lnSpc>
                <a:spcPct val="100000"/>
              </a:lnSpc>
              <a:spcAft>
                <a:spcPts val="0"/>
              </a:spcAft>
            </a:pPr>
            <a:r>
              <a:rPr sz="1600" i="1">
                <a:solidFill>
                  <a:srgbClr val="6E8BA0"/>
                </a:solidFill>
                <a:latin typeface="Consolas"/>
              </a:rPr>
              <a:t>! an ISP handoff or an untrusted uplink is free reconnaissance.</a:t>
            </a:r>
          </a:p>
          <a:p>
            <a:pPr>
              <a:lnSpc>
                <a:spcPct val="100000"/>
              </a:lnSpc>
              <a:spcAft>
                <a:spcPts val="0"/>
              </a:spcAft>
            </a:pPr>
            <a:r>
              <a:rPr sz="1600">
                <a:solidFill>
                  <a:srgbClr val="E8EEF2"/>
                </a:solidFill>
                <a:latin typeface="Consolas"/>
              </a:rPr>
              <a:t>interface GigabitEthernet0/24</a:t>
            </a:r>
          </a:p>
          <a:p>
            <a:pPr>
              <a:lnSpc>
                <a:spcPct val="100000"/>
              </a:lnSpc>
              <a:spcAft>
                <a:spcPts val="0"/>
              </a:spcAft>
            </a:pPr>
            <a:r>
              <a:rPr sz="1600">
                <a:solidFill>
                  <a:srgbClr val="E8EEF2"/>
                </a:solidFill>
                <a:latin typeface="Consolas"/>
              </a:rPr>
              <a:t> description ISP handoff - no discovery</a:t>
            </a:r>
          </a:p>
          <a:p>
            <a:pPr>
              <a:lnSpc>
                <a:spcPct val="100000"/>
              </a:lnSpc>
              <a:spcAft>
                <a:spcPts val="0"/>
              </a:spcAft>
            </a:pPr>
            <a:r>
              <a:rPr sz="1600">
                <a:solidFill>
                  <a:srgbClr val="E8EEF2"/>
                </a:solidFill>
                <a:latin typeface="Consolas"/>
              </a:rPr>
              <a:t> no cdp enable</a:t>
            </a:r>
          </a:p>
          <a:p>
            <a:pPr>
              <a:lnSpc>
                <a:spcPct val="100000"/>
              </a:lnSpc>
              <a:spcAft>
                <a:spcPts val="0"/>
              </a:spcAft>
            </a:pPr>
            <a:r>
              <a:rPr sz="1600">
                <a:solidFill>
                  <a:srgbClr val="E8EEF2"/>
                </a:solidFill>
                <a:latin typeface="Consolas"/>
              </a:rPr>
              <a:t> no lldp transmit</a:t>
            </a:r>
          </a:p>
          <a:p>
            <a:pPr>
              <a:lnSpc>
                <a:spcPct val="100000"/>
              </a:lnSpc>
              <a:spcAft>
                <a:spcPts val="0"/>
              </a:spcAft>
            </a:pPr>
            <a:r>
              <a:rPr sz="1600">
                <a:solidFill>
                  <a:srgbClr val="E8EEF2"/>
                </a:solidFill>
                <a:latin typeface="Consolas"/>
              </a:rPr>
              <a:t> no lldp receive</a:t>
            </a:r>
          </a:p>
          <a:p>
            <a:pPr>
              <a:lnSpc>
                <a:spcPct val="100000"/>
              </a:lnSpc>
              <a:spcAft>
                <a:spcPts val="0"/>
              </a:spcAft>
            </a:pPr>
            <a:r>
              <a:rPr sz="1600" i="1">
                <a:solidFill>
                  <a:srgbClr val="6E8BA0"/>
                </a:solidFill>
                <a:latin typeface="Consolas"/>
              </a:rPr>
              <a:t>!</a:t>
            </a:r>
          </a:p>
          <a:p>
            <a:pPr>
              <a:lnSpc>
                <a:spcPct val="100000"/>
              </a:lnSpc>
              <a:spcAft>
                <a:spcPts val="0"/>
              </a:spcAft>
            </a:pPr>
            <a:r>
              <a:rPr sz="1600" i="1">
                <a:solidFill>
                  <a:srgbClr val="6E8BA0"/>
                </a:solidFill>
                <a:latin typeface="Consolas"/>
              </a:rPr>
              <a:t>! Globally, if policy demands it:</a:t>
            </a:r>
          </a:p>
          <a:p>
            <a:pPr>
              <a:lnSpc>
                <a:spcPct val="100000"/>
              </a:lnSpc>
              <a:spcAft>
                <a:spcPts val="0"/>
              </a:spcAft>
            </a:pPr>
            <a:r>
              <a:rPr sz="1600" i="1">
                <a:solidFill>
                  <a:srgbClr val="6E8BA0"/>
                </a:solidFill>
                <a:latin typeface="Consolas"/>
              </a:rPr>
              <a:t>!   no cdp run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Do not disable it everywhere on principle</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13. CDP, LLDP and Documenting a Network</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2.3</a:t>
            </a:r>
          </a:p>
        </p:txBody>
      </p:sp>
      <p:sp>
        <p:nvSpPr>
          <p:cNvPr id="7" name="body"/>
          <p:cNvSpPr txBox="1"/>
          <p:nvPr/>
        </p:nvSpPr>
        <p:spPr>
          <a:xfrm>
            <a:off x="685800" y="2632964"/>
            <a:ext cx="10820095" cy="3749548"/>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There is a reflex to switch CDP off across the estate “for security”. Weigh it properly: internally, CDP and LLDP are how you validate cabling, how phones learn their voice VLAN (Chapter 9), and how native VLAN and duplex mismatches are detected. Disable them on untrusted edges — ISP links, guest ports, DMZ segments — and leave them running inside.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WORKED EXAMPLE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diagram says one thing, the switch says another</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13. CDP, LLDP and Documenting a Network</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2.3</a:t>
            </a:r>
          </a:p>
        </p:txBody>
      </p:sp>
      <p:sp>
        <p:nvSpPr>
          <p:cNvPr id="7" name="body"/>
          <p:cNvSpPr txBox="1"/>
          <p:nvPr/>
        </p:nvSpPr>
        <p:spPr>
          <a:xfrm>
            <a:off x="685800" y="2821196"/>
            <a:ext cx="10820095" cy="3561315"/>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The documentation claims:</a:t>
            </a:r>
          </a:p>
        </p:txBody>
      </p:sp>
      <p:sp>
        <p:nvSpPr>
          <p:cNvPr id="8" name="bullets"/>
          <p:cNvSpPr txBox="1"/>
          <p:nvPr/>
        </p:nvSpPr>
        <p:spPr>
          <a:xfrm>
            <a:off x="685800" y="3317766"/>
            <a:ext cx="10820095" cy="3064745"/>
          </a:xfrm>
          <a:prstGeom prst="rect">
            <a:avLst/>
          </a:prstGeom>
          <a:noFill/>
        </p:spPr>
        <p:txBody>
          <a:bodyPr wrap="square" lIns="0" rIns="0" tIns="0" bIns="0">
            <a:spAutoFit/>
          </a:bodyPr>
          <a:lstStyle/>
          <a:p>
            <a:pPr marL="217169" indent="-217169">
              <a:lnSpc>
                <a:spcPct val="102000"/>
              </a:lnSpc>
              <a:spcAft>
                <a:spcPts val="900"/>
              </a:spcAft>
            </a:pPr>
            <a:r>
              <a:rPr sz="1900" b="1">
                <a:solidFill>
                  <a:srgbClr val="117864"/>
                </a:solidFill>
                <a:latin typeface="Segoe UI"/>
              </a:rPr>
              <a:t>•  </a:t>
            </a:r>
            <a:r>
              <a:rPr sz="1800" b="0" i="0">
                <a:solidFill>
                  <a:srgbClr val="1A5276"/>
                </a:solidFill>
                <a:latin typeface="Consolas"/>
              </a:rPr>
              <a:t>SW1 Gi0/2</a:t>
            </a:r>
            <a:r>
              <a:rPr sz="1900" b="0" i="0">
                <a:solidFill>
                  <a:srgbClr val="1C252B"/>
                </a:solidFill>
                <a:latin typeface="Segoe UI"/>
              </a:rPr>
              <a:t> → </a:t>
            </a:r>
            <a:r>
              <a:rPr sz="1800" b="0" i="0">
                <a:solidFill>
                  <a:srgbClr val="1A5276"/>
                </a:solidFill>
                <a:latin typeface="Consolas"/>
              </a:rPr>
              <a:t>SW2 Gi0/1</a:t>
            </a:r>
          </a:p>
          <a:p>
            <a:pPr marL="217169" indent="-217169">
              <a:lnSpc>
                <a:spcPct val="102000"/>
              </a:lnSpc>
              <a:spcAft>
                <a:spcPts val="900"/>
              </a:spcAft>
            </a:pPr>
            <a:r>
              <a:rPr sz="1900" b="1">
                <a:solidFill>
                  <a:srgbClr val="117864"/>
                </a:solidFill>
                <a:latin typeface="Segoe UI"/>
              </a:rPr>
              <a:t>•  </a:t>
            </a:r>
            <a:r>
              <a:rPr sz="1800" b="0" i="0">
                <a:solidFill>
                  <a:srgbClr val="1A5276"/>
                </a:solidFill>
                <a:latin typeface="Consolas"/>
              </a:rPr>
              <a:t>SW1 Gi0/3</a:t>
            </a:r>
            <a:r>
              <a:rPr sz="1900" b="0" i="0">
                <a:solidFill>
                  <a:srgbClr val="1C252B"/>
                </a:solidFill>
                <a:latin typeface="Segoe UI"/>
              </a:rPr>
              <a:t> → </a:t>
            </a:r>
            <a:r>
              <a:rPr sz="1800" b="0" i="0">
                <a:solidFill>
                  <a:srgbClr val="1A5276"/>
                </a:solidFill>
                <a:latin typeface="Consolas"/>
              </a:rPr>
              <a:t>SW3 Gi0/1</a:t>
            </a:r>
          </a:p>
        </p:txBody>
      </p:sp>
      <p:sp>
        <p:nvSpPr>
          <p:cNvPr id="9" name="tailbody"/>
          <p:cNvSpPr txBox="1"/>
          <p:nvPr/>
        </p:nvSpPr>
        <p:spPr>
          <a:xfrm>
            <a:off x="685800" y="4457210"/>
            <a:ext cx="10820095" cy="1870437"/>
          </a:xfrm>
          <a:prstGeom prst="rect">
            <a:avLst/>
          </a:prstGeom>
          <a:noFill/>
        </p:spPr>
        <p:txBody>
          <a:bodyPr wrap="square" anchor="t" lIns="0" rIns="0" tIns="0" bIns="0">
            <a:spAutoFit/>
          </a:bodyPr>
          <a:lstStyle/>
          <a:p>
            <a:pPr algn="l">
              <a:lnSpc>
                <a:spcPct val="100000"/>
              </a:lnSpc>
              <a:spcAft>
                <a:spcPts val="600"/>
              </a:spcAft>
            </a:pPr>
            <a:r>
              <a:rPr sz="1500" b="0" i="0">
                <a:solidFill>
                  <a:srgbClr val="1C252B"/>
                </a:solidFill>
                <a:latin typeface="Segoe UI"/>
              </a:rPr>
              <a:t>The output above shows </a:t>
            </a:r>
            <a:r>
              <a:rPr sz="1400" b="0" i="0">
                <a:solidFill>
                  <a:srgbClr val="1A5276"/>
                </a:solidFill>
                <a:latin typeface="Consolas"/>
              </a:rPr>
              <a:t>Gi0/2</a:t>
            </a:r>
            <a:r>
              <a:rPr sz="1500" b="0" i="0">
                <a:solidFill>
                  <a:srgbClr val="1C252B"/>
                </a:solidFill>
                <a:latin typeface="Segoe UI"/>
              </a:rPr>
              <a:t> to </a:t>
            </a:r>
            <a:r>
              <a:rPr sz="1400" b="0" i="0">
                <a:solidFill>
                  <a:srgbClr val="1A5276"/>
                </a:solidFill>
                <a:latin typeface="Consolas"/>
              </a:rPr>
              <a:t>SW2 Gi0/1</a:t>
            </a:r>
            <a:r>
              <a:rPr sz="1500" b="0" i="0">
                <a:solidFill>
                  <a:srgbClr val="1C252B"/>
                </a:solidFill>
                <a:latin typeface="Segoe UI"/>
              </a:rPr>
              <a:t> — correct — but </a:t>
            </a:r>
            <a:r>
              <a:rPr sz="1400" b="0" i="0">
                <a:solidFill>
                  <a:srgbClr val="1A5276"/>
                </a:solidFill>
                <a:latin typeface="Consolas"/>
              </a:rPr>
              <a:t>Gi0/3</a:t>
            </a:r>
            <a:r>
              <a:rPr sz="1500" b="0" i="0">
                <a:solidFill>
                  <a:srgbClr val="1C252B"/>
                </a:solidFill>
                <a:latin typeface="Segoe UI"/>
              </a:rPr>
              <a:t> to </a:t>
            </a:r>
            <a:r>
              <a:rPr sz="1400" b="0" i="0">
                <a:solidFill>
                  <a:srgbClr val="1A5276"/>
                </a:solidFill>
                <a:latin typeface="Consolas"/>
              </a:rPr>
              <a:t>SW3 </a:t>
            </a:r>
            <a:r>
              <a:rPr sz="1400" b="1" i="0">
                <a:solidFill>
                  <a:srgbClr val="1A5276"/>
                </a:solidFill>
                <a:latin typeface="Consolas"/>
              </a:rPr>
              <a:t>Gig 0/24</a:t>
            </a:r>
            <a:r>
              <a:rPr sz="1500" b="0" i="0">
                <a:solidFill>
                  <a:srgbClr val="1C252B"/>
                </a:solidFill>
                <a:latin typeface="Segoe UI"/>
              </a:rPr>
              <a:t>, not </a:t>
            </a:r>
            <a:r>
              <a:rPr sz="1400" b="0" i="0">
                <a:solidFill>
                  <a:srgbClr val="1A5276"/>
                </a:solidFill>
                <a:latin typeface="Consolas"/>
              </a:rPr>
              <a:t>Gi0/1</a:t>
            </a:r>
            <a:r>
              <a:rPr sz="1500" b="0" i="0">
                <a:solidFill>
                  <a:srgbClr val="1C252B"/>
                </a:solidFill>
                <a:latin typeface="Segoe UI"/>
              </a:rPr>
              <a:t>.</a:t>
            </a:r>
          </a:p>
          <a:p>
            <a:pPr algn="l">
              <a:lnSpc>
                <a:spcPct val="100000"/>
              </a:lnSpc>
              <a:spcAft>
                <a:spcPts val="600"/>
              </a:spcAft>
            </a:pPr>
            <a:r>
              <a:rPr sz="1500" b="1" i="0">
                <a:solidFill>
                  <a:srgbClr val="1C252B"/>
                </a:solidFill>
                <a:latin typeface="Segoe UI"/>
              </a:rPr>
              <a:t>What that means in practice.</a:t>
            </a:r>
            <a:r>
              <a:rPr sz="1500" b="0" i="0">
                <a:solidFill>
                  <a:srgbClr val="1C252B"/>
                </a:solidFill>
                <a:latin typeface="Segoe UI"/>
              </a:rPr>
              <a:t> Somebody re-patched </a:t>
            </a:r>
            <a:r>
              <a:rPr sz="1400" b="0" i="0">
                <a:solidFill>
                  <a:srgbClr val="1A5276"/>
                </a:solidFill>
                <a:latin typeface="Consolas"/>
              </a:rPr>
              <a:t>SW3</a:t>
            </a:r>
            <a:r>
              <a:rPr sz="1500" b="0" i="0">
                <a:solidFill>
                  <a:srgbClr val="1C252B"/>
                </a:solidFill>
                <a:latin typeface="Segoe UI"/>
              </a:rPr>
              <a:t> and did not update the diagram. It may be harmless. It may not: if </a:t>
            </a:r>
            <a:r>
              <a:rPr sz="1400" b="0" i="0">
                <a:solidFill>
                  <a:srgbClr val="1A5276"/>
                </a:solidFill>
                <a:latin typeface="Consolas"/>
              </a:rPr>
              <a:t>SW3 Gi0/24</a:t>
            </a:r>
            <a:r>
              <a:rPr sz="1500" b="0" i="0">
                <a:solidFill>
                  <a:srgbClr val="1C252B"/>
                </a:solidFill>
                <a:latin typeface="Segoe UI"/>
              </a:rPr>
              <a:t> is configured as an access port while </a:t>
            </a:r>
            <a:r>
              <a:rPr sz="1400" b="0" i="0">
                <a:solidFill>
                  <a:srgbClr val="1A5276"/>
                </a:solidFill>
                <a:latin typeface="Consolas"/>
              </a:rPr>
              <a:t>Gi0/1</a:t>
            </a:r>
            <a:r>
              <a:rPr sz="1500" b="0" i="0">
                <a:solidFill>
                  <a:srgbClr val="1C252B"/>
                </a:solidFill>
                <a:latin typeface="Segoe UI"/>
              </a:rPr>
              <a:t> was the trunk, the uplink is carrying one VLAN instead of all of them, and the fault will surface later as “the new VLAN does not work on the third floor”.</a:t>
            </a:r>
          </a:p>
          <a:p>
            <a:pPr algn="l">
              <a:lnSpc>
                <a:spcPct val="100000"/>
              </a:lnSpc>
              <a:spcAft>
                <a:spcPts val="600"/>
              </a:spcAft>
            </a:pPr>
            <a:r>
              <a:rPr sz="1500" b="1" i="0">
                <a:solidFill>
                  <a:srgbClr val="1C252B"/>
                </a:solidFill>
                <a:latin typeface="Segoe UI"/>
              </a:rPr>
              <a:t>What to do.</a:t>
            </a:r>
            <a:r>
              <a:rPr sz="1500" b="0" i="0">
                <a:solidFill>
                  <a:srgbClr val="1C252B"/>
                </a:solidFill>
                <a:latin typeface="Segoe UI"/>
              </a:rPr>
              <a:t> Correct the diagram, then check that the port actually in use carries the configuration the design intended. Discovery output tells you what is plugged in; it does not tell you whether the port is configured correctly. That is a second check.</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Validating a diagram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13. CDP, LLDP and Documenting a Network</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2.3</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Expecting to see non-adjacent devices.</a:t>
            </a:r>
            <a:r>
              <a:rPr sz="2000" b="0" i="0">
                <a:solidFill>
                  <a:srgbClr val="1C252B"/>
                </a:solidFill>
                <a:latin typeface="Segoe UI"/>
              </a:rPr>
              <a:t> Neighbours are one hop. A device that does not appear may simply be further away.</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Concluding a device is absent when CDP is off.</a:t>
            </a:r>
            <a:r>
              <a:rPr sz="2000" b="0" i="0">
                <a:solidFill>
                  <a:srgbClr val="1C252B"/>
                </a:solidFill>
                <a:latin typeface="Segoe UI"/>
              </a:rPr>
              <a:t> A non-Cisco switch, or one with CDP disabled, is invisible to CDP and may still be there. Cross-check with LLDP and the MAC address table.</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Trusting stale entries.</a:t>
            </a:r>
            <a:r>
              <a:rPr sz="2000" b="0" i="0">
                <a:solidFill>
                  <a:srgbClr val="1C252B"/>
                </a:solidFill>
                <a:latin typeface="Segoe UI"/>
              </a:rPr>
              <a:t> Holdtime counts down from 180 s. An entry can persist for three minutes after a device is unplugged.</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Forgetting </a:t>
            </a:r>
            <a:r>
              <a:rPr sz="1900" b="1" i="0">
                <a:solidFill>
                  <a:srgbClr val="1A5276"/>
                </a:solidFill>
                <a:latin typeface="Consolas"/>
              </a:rPr>
              <a:t>lldp run</a:t>
            </a:r>
            <a:r>
              <a:rPr sz="2000" b="1" i="0">
                <a:solidFill>
                  <a:srgbClr val="1C252B"/>
                </a:solidFill>
                <a:latin typeface="Segoe UI"/>
              </a:rPr>
              <a:t>.</a:t>
            </a:r>
            <a:r>
              <a:rPr sz="2000" b="0" i="0">
                <a:solidFill>
                  <a:srgbClr val="1C252B"/>
                </a:solidFill>
                <a:latin typeface="Segoe UI"/>
              </a:rPr>
              <a:t> Without it, </a:t>
            </a:r>
            <a:r>
              <a:rPr sz="1900" b="0" i="0">
                <a:solidFill>
                  <a:srgbClr val="1A5276"/>
                </a:solidFill>
                <a:latin typeface="Consolas"/>
              </a:rPr>
              <a:t>show lldp neighbors</a:t>
            </a:r>
            <a:r>
              <a:rPr sz="2000" b="0" i="0">
                <a:solidFill>
                  <a:srgbClr val="1C252B"/>
                </a:solidFill>
                <a:latin typeface="Segoe UI"/>
              </a:rPr>
              <a:t> is empty and you may wrongly conclude nothing is connected.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Validating a diagram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 (continued)</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13. CDP, LLDP and Documenting a Network</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2.3</a:t>
            </a:r>
          </a:p>
        </p:txBody>
      </p:sp>
      <p:sp>
        <p:nvSpPr>
          <p:cNvPr id="7" name="bullets"/>
          <p:cNvSpPr txBox="1"/>
          <p:nvPr/>
        </p:nvSpPr>
        <p:spPr>
          <a:xfrm>
            <a:off x="685800" y="3104678"/>
            <a:ext cx="10820095" cy="3277833"/>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Reading the port columns backwards.</a:t>
            </a:r>
            <a:r>
              <a:rPr sz="2000" b="0" i="0">
                <a:solidFill>
                  <a:srgbClr val="1C252B"/>
                </a:solidFill>
                <a:latin typeface="Segoe UI"/>
              </a:rPr>
              <a:t> </a:t>
            </a:r>
            <a:r>
              <a:rPr sz="1900" b="0" i="0">
                <a:solidFill>
                  <a:srgbClr val="1A5276"/>
                </a:solidFill>
                <a:latin typeface="Consolas"/>
              </a:rPr>
              <a:t>Local Intrfce</a:t>
            </a:r>
            <a:r>
              <a:rPr sz="2000" b="0" i="0">
                <a:solidFill>
                  <a:srgbClr val="1C252B"/>
                </a:solidFill>
                <a:latin typeface="Segoe UI"/>
              </a:rPr>
              <a:t> is yours; </a:t>
            </a:r>
            <a:r>
              <a:rPr sz="1900" b="0" i="0">
                <a:solidFill>
                  <a:srgbClr val="1A5276"/>
                </a:solidFill>
                <a:latin typeface="Consolas"/>
              </a:rPr>
              <a:t>Port ID</a:t>
            </a:r>
            <a:r>
              <a:rPr sz="2000" b="0" i="0">
                <a:solidFill>
                  <a:srgbClr val="1C252B"/>
                </a:solidFill>
                <a:latin typeface="Segoe UI"/>
              </a:rPr>
              <a:t> is theirs.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SYMPTOM</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13</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An undocumented switch appears in the discovery table.</a:t>
            </a:r>
          </a:p>
        </p:txBody>
      </p:sp>
      <p:sp>
        <p:nvSpPr>
          <p:cNvPr id="6" name="bfbody"/>
          <p:cNvSpPr txBox="1"/>
          <p:nvPr/>
        </p:nvSpPr>
        <p:spPr>
          <a:xfrm>
            <a:off x="685800" y="3290062"/>
            <a:ext cx="10820095" cy="3065018"/>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An audit of </a:t>
            </a:r>
            <a:r>
              <a:rPr sz="1800" b="0" i="0">
                <a:solidFill>
                  <a:srgbClr val="1A5276"/>
                </a:solidFill>
                <a:latin typeface="Consolas"/>
              </a:rPr>
              <a:t>SW1</a:t>
            </a:r>
            <a:r>
              <a:rPr sz="1900" b="0" i="0">
                <a:solidFill>
                  <a:srgbClr val="1C252B"/>
                </a:solidFill>
                <a:latin typeface="Segoe UI"/>
              </a:rPr>
              <a:t> shows a neighbour that is not on any diagram:</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13. CDP, LLDP and Documenting a Network</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2.3</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13</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An undocumented switch appears in the discovery table.</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would you check first — and what do you expect to see?</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13. CDP, LLDP and Documenting a Network</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2.3</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13</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show cdp neighbors GigabitEthernet0/14 detail</a:t>
            </a:r>
          </a:p>
        </p:txBody>
      </p:sp>
      <p:sp>
        <p:nvSpPr>
          <p:cNvPr id="6" name="bfcodebg"/>
          <p:cNvSpPr/>
          <p:nvPr/>
        </p:nvSpPr>
        <p:spPr>
          <a:xfrm>
            <a:off x="685800" y="2011680"/>
            <a:ext cx="10820095" cy="272948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9" name="bfcode"/>
          <p:cNvSpPr txBox="1"/>
          <p:nvPr/>
        </p:nvSpPr>
        <p:spPr>
          <a:xfrm>
            <a:off x="886968" y="2432304"/>
            <a:ext cx="10417759" cy="225399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a:t>
            </a:r>
          </a:p>
          <a:p>
            <a:pPr>
              <a:lnSpc>
                <a:spcPct val="100000"/>
              </a:lnSpc>
              <a:spcAft>
                <a:spcPts val="0"/>
              </a:spcAft>
            </a:pPr>
            <a:r>
              <a:rPr sz="1500">
                <a:solidFill>
                  <a:srgbClr val="E8EEF2"/>
                </a:solidFill>
                <a:latin typeface="Consolas"/>
              </a:rPr>
              <a:t>Device ID: Switch</a:t>
            </a:r>
          </a:p>
          <a:p>
            <a:pPr>
              <a:lnSpc>
                <a:spcPct val="100000"/>
              </a:lnSpc>
              <a:spcAft>
                <a:spcPts val="0"/>
              </a:spcAft>
            </a:pPr>
            <a:r>
              <a:rPr sz="1500">
                <a:solidFill>
                  <a:srgbClr val="E8EEF2"/>
                </a:solidFill>
                <a:latin typeface="Consolas"/>
              </a:rPr>
              <a:t>Entry address(es):</a:t>
            </a:r>
          </a:p>
          <a:p>
            <a:pPr>
              <a:lnSpc>
                <a:spcPct val="100000"/>
              </a:lnSpc>
              <a:spcAft>
                <a:spcPts val="0"/>
              </a:spcAft>
            </a:pPr>
            <a:r>
              <a:rPr sz="1500">
                <a:solidFill>
                  <a:srgbClr val="E8EEF2"/>
                </a:solidFill>
                <a:latin typeface="Consolas"/>
              </a:rPr>
              <a:t>Platform: cisco WS-C2960-8TC-L,  Capabilities: Switch IGMP</a:t>
            </a:r>
          </a:p>
          <a:p>
            <a:pPr>
              <a:lnSpc>
                <a:spcPct val="100000"/>
              </a:lnSpc>
              <a:spcAft>
                <a:spcPts val="0"/>
              </a:spcAft>
            </a:pPr>
            <a:r>
              <a:rPr sz="1500">
                <a:solidFill>
                  <a:srgbClr val="E8EEF2"/>
                </a:solidFill>
                <a:latin typeface="Consolas"/>
              </a:rPr>
              <a:t>Interface: GigabitEthernet0/14,  Port ID (outgoing port): FastEthernet0/1</a:t>
            </a:r>
          </a:p>
          <a:p>
            <a:pPr>
              <a:lnSpc>
                <a:spcPct val="100000"/>
              </a:lnSpc>
              <a:spcAft>
                <a:spcPts val="0"/>
              </a:spcAft>
            </a:pPr>
            <a:r>
              <a:rPr sz="1500">
                <a:solidFill>
                  <a:srgbClr val="E8EEF2"/>
                </a:solidFill>
                <a:latin typeface="Consolas"/>
              </a:rPr>
              <a:t>Holdtime : 131 sec</a:t>
            </a:r>
          </a:p>
          <a:p>
            <a:pPr>
              <a:lnSpc>
                <a:spcPct val="100000"/>
              </a:lnSpc>
              <a:spcAft>
                <a:spcPts val="0"/>
              </a:spcAft>
            </a:pPr>
            <a:r>
              <a:rPr sz="1500">
                <a:solidFill>
                  <a:srgbClr val="E8EEF2"/>
                </a:solidFill>
                <a:latin typeface="Consolas"/>
              </a:rPr>
              <a:t> </a:t>
            </a:r>
          </a:p>
          <a:p>
            <a:pPr>
              <a:lnSpc>
                <a:spcPct val="100000"/>
              </a:lnSpc>
              <a:spcAft>
                <a:spcPts val="0"/>
              </a:spcAft>
            </a:pPr>
            <a:r>
              <a:rPr sz="1500">
                <a:solidFill>
                  <a:srgbClr val="E8EEF2"/>
                </a:solidFill>
                <a:latin typeface="Consolas"/>
              </a:rPr>
              <a:t>Version :</a:t>
            </a:r>
          </a:p>
          <a:p>
            <a:pPr>
              <a:lnSpc>
                <a:spcPct val="100000"/>
              </a:lnSpc>
              <a:spcAft>
                <a:spcPts val="0"/>
              </a:spcAft>
            </a:pPr>
            <a:r>
              <a:rPr sz="1500">
                <a:solidFill>
                  <a:srgbClr val="E8EEF2"/>
                </a:solidFill>
                <a:latin typeface="Consolas"/>
              </a:rPr>
              <a:t>Cisco IOS Software, C2960 Software, Version 12.2(55)SE</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13. CDP, LLDP and Documenting a Network</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2.3</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13</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is the fault — and what does this output rule out?</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13. CDP, LLDP and Documenting a Network</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2.3</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13</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928111"/>
            <a:ext cx="10820095" cy="342696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Diagnosis.</a:t>
            </a:r>
            <a:r>
              <a:rPr sz="1900" b="0" i="0">
                <a:solidFill>
                  <a:srgbClr val="1C252B"/>
                </a:solidFill>
                <a:latin typeface="Segoe UI"/>
              </a:rPr>
              <a:t> An eight-port switch with the default hostname </a:t>
            </a:r>
            <a:r>
              <a:rPr sz="1800" b="0" i="0">
                <a:solidFill>
                  <a:srgbClr val="1A5276"/>
                </a:solidFill>
                <a:latin typeface="Consolas"/>
              </a:rPr>
              <a:t>Switch</a:t>
            </a:r>
            <a:r>
              <a:rPr sz="1900" b="0" i="0">
                <a:solidFill>
                  <a:srgbClr val="1C252B"/>
                </a:solidFill>
                <a:latin typeface="Segoe UI"/>
              </a:rPr>
              <a:t>, no management address, and a decade-old IOS version, connected to an access port — somebody has plugged a desk switch into a wall socket to get more ports. It is unmanaged, it participates in spanning tree, and it can influence the root election (Chapter 12).</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13. CDP, LLDP and Documenting a Network</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2.3</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13</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And the lesson</a:t>
            </a:r>
          </a:p>
        </p:txBody>
      </p:sp>
      <p:sp>
        <p:nvSpPr>
          <p:cNvPr id="6" name="bfbody"/>
          <p:cNvSpPr txBox="1"/>
          <p:nvPr/>
        </p:nvSpPr>
        <p:spPr>
          <a:xfrm>
            <a:off x="685800" y="2807462"/>
            <a:ext cx="10820095" cy="354761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Fix.</a:t>
            </a:r>
            <a:r>
              <a:rPr sz="1900" b="0" i="0">
                <a:solidFill>
                  <a:srgbClr val="1C252B"/>
                </a:solidFill>
                <a:latin typeface="Segoe UI"/>
              </a:rPr>
              <a:t> Short term: confirm what is downstream of it before unplugging anything, because there are probably users behind it. Long term, this is exactly what </a:t>
            </a:r>
            <a:r>
              <a:rPr sz="1800" b="0" i="0">
                <a:solidFill>
                  <a:srgbClr val="1A5276"/>
                </a:solidFill>
                <a:latin typeface="Consolas"/>
              </a:rPr>
              <a:t>spanning-tree bpduguard</a:t>
            </a:r>
            <a:r>
              <a:rPr sz="1900" b="0" i="0">
                <a:solidFill>
                  <a:srgbClr val="1C252B"/>
                </a:solidFill>
                <a:latin typeface="Segoe UI"/>
              </a:rPr>
              <a:t> on access ports is for — with it configured, the port would have errdisabled the moment the switch was connected and the problem would have announced itself instead of being found in an audit months later.</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13. CDP, LLDP and Documenting a Network</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2.3</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Draw the network from the devices</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13. CDP, LLDP and Documenting a Network</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2.3</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1800" b="1" i="0">
                <a:solidFill>
                  <a:srgbClr val="1C252B"/>
                </a:solidFill>
                <a:latin typeface="Segoe UI"/>
              </a:rPr>
              <a:t>Topology.</a:t>
            </a:r>
            <a:r>
              <a:rPr sz="1800" b="0" i="0">
                <a:solidFill>
                  <a:srgbClr val="1C252B"/>
                </a:solidFill>
                <a:latin typeface="Segoe UI"/>
              </a:rPr>
              <a:t> Four switches and a router, cabled by your instructor or a partner without telling you how, plus a deliberately wrong diagram.</a:t>
            </a:r>
          </a:p>
        </p:txBody>
      </p:sp>
      <p:sp>
        <p:nvSpPr>
          <p:cNvPr id="8" name="bullets"/>
          <p:cNvSpPr txBox="1"/>
          <p:nvPr/>
        </p:nvSpPr>
        <p:spPr>
          <a:xfrm>
            <a:off x="685800" y="2295144"/>
            <a:ext cx="10820095" cy="4087368"/>
          </a:xfrm>
          <a:prstGeom prst="rect">
            <a:avLst/>
          </a:prstGeom>
          <a:noFill/>
        </p:spPr>
        <p:txBody>
          <a:bodyPr wrap="square" lIns="0" rIns="0" tIns="0" bIns="0">
            <a:spAutoFit/>
          </a:bodyPr>
          <a:lstStyle/>
          <a:p>
            <a:pPr marL="347472" indent="-347472">
              <a:lnSpc>
                <a:spcPct val="102000"/>
              </a:lnSpc>
              <a:spcAft>
                <a:spcPts val="900"/>
              </a:spcAft>
            </a:pPr>
            <a:r>
              <a:rPr sz="1800" b="1">
                <a:solidFill>
                  <a:srgbClr val="117864"/>
                </a:solidFill>
                <a:latin typeface="Segoe UI"/>
              </a:rPr>
              <a:t>1.  </a:t>
            </a:r>
            <a:r>
              <a:rPr sz="1800" b="0" i="0">
                <a:solidFill>
                  <a:srgbClr val="1C252B"/>
                </a:solidFill>
                <a:latin typeface="Segoe UI"/>
              </a:rPr>
              <a:t>Using only </a:t>
            </a:r>
            <a:r>
              <a:rPr sz="1700" b="0" i="0">
                <a:solidFill>
                  <a:srgbClr val="1A5276"/>
                </a:solidFill>
                <a:latin typeface="Consolas"/>
              </a:rPr>
              <a:t>show cdp neighbors</a:t>
            </a:r>
            <a:r>
              <a:rPr sz="1800" b="0" i="0">
                <a:solidFill>
                  <a:srgbClr val="1C252B"/>
                </a:solidFill>
                <a:latin typeface="Segoe UI"/>
              </a:rPr>
              <a:t> from each device, draw the physical topology. Do not look at the cables.</a:t>
            </a:r>
          </a:p>
          <a:p>
            <a:pPr marL="347472" indent="-347472">
              <a:lnSpc>
                <a:spcPct val="102000"/>
              </a:lnSpc>
              <a:spcAft>
                <a:spcPts val="900"/>
              </a:spcAft>
            </a:pPr>
            <a:r>
              <a:rPr sz="1800" b="1">
                <a:solidFill>
                  <a:srgbClr val="117864"/>
                </a:solidFill>
                <a:latin typeface="Segoe UI"/>
              </a:rPr>
              <a:t>2.  </a:t>
            </a:r>
            <a:r>
              <a:rPr sz="1800" b="0" i="0">
                <a:solidFill>
                  <a:srgbClr val="1C252B"/>
                </a:solidFill>
                <a:latin typeface="Segoe UI"/>
              </a:rPr>
              <a:t>Compare your drawing with the supplied diagram and list every discrepancy.</a:t>
            </a:r>
          </a:p>
          <a:p>
            <a:pPr marL="347472" indent="-347472">
              <a:lnSpc>
                <a:spcPct val="102000"/>
              </a:lnSpc>
              <a:spcAft>
                <a:spcPts val="900"/>
              </a:spcAft>
            </a:pPr>
            <a:r>
              <a:rPr sz="1800" b="1">
                <a:solidFill>
                  <a:srgbClr val="117864"/>
                </a:solidFill>
                <a:latin typeface="Segoe UI"/>
              </a:rPr>
              <a:t>3.  </a:t>
            </a:r>
            <a:r>
              <a:rPr sz="1800" b="0" i="0">
                <a:solidFill>
                  <a:srgbClr val="1C252B"/>
                </a:solidFill>
                <a:latin typeface="Segoe UI"/>
              </a:rPr>
              <a:t>Run </a:t>
            </a:r>
            <a:r>
              <a:rPr sz="1700" b="0" i="0">
                <a:solidFill>
                  <a:srgbClr val="1A5276"/>
                </a:solidFill>
                <a:latin typeface="Consolas"/>
              </a:rPr>
              <a:t>show cdp neighbors detail</a:t>
            </a:r>
            <a:r>
              <a:rPr sz="1800" b="0" i="0">
                <a:solidFill>
                  <a:srgbClr val="1C252B"/>
                </a:solidFill>
                <a:latin typeface="Segoe UI"/>
              </a:rPr>
              <a:t> on one link and record the IOS version, duplex and native VLAN of the neighbour.</a:t>
            </a:r>
          </a:p>
          <a:p>
            <a:pPr marL="347472" indent="-347472">
              <a:lnSpc>
                <a:spcPct val="102000"/>
              </a:lnSpc>
              <a:spcAft>
                <a:spcPts val="900"/>
              </a:spcAft>
            </a:pPr>
            <a:r>
              <a:rPr sz="1800" b="1">
                <a:solidFill>
                  <a:srgbClr val="117864"/>
                </a:solidFill>
                <a:latin typeface="Segoe UI"/>
              </a:rPr>
              <a:t>4.  </a:t>
            </a:r>
            <a:r>
              <a:rPr sz="1800" b="0" i="0">
                <a:solidFill>
                  <a:srgbClr val="1C252B"/>
                </a:solidFill>
                <a:latin typeface="Segoe UI"/>
              </a:rPr>
              <a:t>Create a native VLAN mismatch on one trunk and find the resulting log message.</a:t>
            </a:r>
          </a:p>
          <a:p>
            <a:pPr marL="347472" indent="-347472">
              <a:lnSpc>
                <a:spcPct val="102000"/>
              </a:lnSpc>
              <a:spcAft>
                <a:spcPts val="900"/>
              </a:spcAft>
            </a:pPr>
            <a:r>
              <a:rPr sz="1800" b="1">
                <a:solidFill>
                  <a:srgbClr val="117864"/>
                </a:solidFill>
                <a:latin typeface="Segoe UI"/>
              </a:rPr>
              <a:t>5.  </a:t>
            </a:r>
            <a:r>
              <a:rPr sz="1800" b="0" i="0">
                <a:solidFill>
                  <a:srgbClr val="1C252B"/>
                </a:solidFill>
                <a:latin typeface="Segoe UI"/>
              </a:rPr>
              <a:t>Enable </a:t>
            </a:r>
            <a:r>
              <a:rPr sz="1700" b="0" i="0">
                <a:solidFill>
                  <a:srgbClr val="1A5276"/>
                </a:solidFill>
                <a:latin typeface="Consolas"/>
              </a:rPr>
              <a:t>lldp run</a:t>
            </a:r>
            <a:r>
              <a:rPr sz="1800" b="0" i="0">
                <a:solidFill>
                  <a:srgbClr val="1C252B"/>
                </a:solidFill>
                <a:latin typeface="Segoe UI"/>
              </a:rPr>
              <a:t> everywhere and compare </a:t>
            </a:r>
            <a:r>
              <a:rPr sz="1700" b="0" i="0">
                <a:solidFill>
                  <a:srgbClr val="1A5276"/>
                </a:solidFill>
                <a:latin typeface="Consolas"/>
              </a:rPr>
              <a:t>show lldp neighbors</a:t>
            </a:r>
            <a:r>
              <a:rPr sz="1800" b="0" i="0">
                <a:solidFill>
                  <a:srgbClr val="1C252B"/>
                </a:solidFill>
                <a:latin typeface="Segoe UI"/>
              </a:rPr>
              <a:t> with the CDP view. Account for any difference.</a:t>
            </a:r>
          </a:p>
          <a:p>
            <a:pPr marL="347472" indent="-347472">
              <a:lnSpc>
                <a:spcPct val="102000"/>
              </a:lnSpc>
              <a:spcAft>
                <a:spcPts val="900"/>
              </a:spcAft>
            </a:pPr>
            <a:r>
              <a:rPr sz="1800" b="1">
                <a:solidFill>
                  <a:srgbClr val="117864"/>
                </a:solidFill>
                <a:latin typeface="Segoe UI"/>
              </a:rPr>
              <a:t>6.  </a:t>
            </a:r>
            <a:r>
              <a:rPr sz="1800" b="0" i="0">
                <a:solidFill>
                  <a:srgbClr val="1C252B"/>
                </a:solidFill>
                <a:latin typeface="Segoe UI"/>
              </a:rPr>
              <a:t>Disable CDP on one port and confirm the neighbour disappears — noting how long it takes.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Draw the network from the devices (continued)</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13. CDP, LLDP and Documenting a Network</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2.3</a:t>
            </a:r>
          </a:p>
        </p:txBody>
      </p:sp>
      <p:sp>
        <p:nvSpPr>
          <p:cNvPr id="7" name="bullets"/>
          <p:cNvSpPr txBox="1"/>
          <p:nvPr/>
        </p:nvSpPr>
        <p:spPr>
          <a:xfrm>
            <a:off x="685800" y="2986749"/>
            <a:ext cx="10820095" cy="3395762"/>
          </a:xfrm>
          <a:prstGeom prst="rect">
            <a:avLst/>
          </a:prstGeom>
          <a:noFill/>
        </p:spPr>
        <p:txBody>
          <a:bodyPr wrap="square" lIns="0" rIns="0" tIns="0" bIns="0">
            <a:spAutoFit/>
          </a:bodyPr>
          <a:lstStyle/>
          <a:p>
            <a:pPr marL="386080" indent="-386080">
              <a:lnSpc>
                <a:spcPct val="102000"/>
              </a:lnSpc>
              <a:spcAft>
                <a:spcPts val="900"/>
              </a:spcAft>
            </a:pPr>
            <a:r>
              <a:rPr sz="2000" b="1">
                <a:solidFill>
                  <a:srgbClr val="117864"/>
                </a:solidFill>
                <a:latin typeface="Segoe UI"/>
              </a:rPr>
              <a:t>1.  </a:t>
            </a:r>
            <a:r>
              <a:rPr sz="2000" b="1" i="0">
                <a:solidFill>
                  <a:srgbClr val="1C252B"/>
                </a:solidFill>
                <a:latin typeface="Segoe UI"/>
              </a:rPr>
              <a:t>Extension.</a:t>
            </a:r>
            <a:r>
              <a:rPr sz="2000" b="0" i="0">
                <a:solidFill>
                  <a:srgbClr val="1C252B"/>
                </a:solidFill>
                <a:latin typeface="Segoe UI"/>
              </a:rPr>
              <a:t> Write a short procedure a junior technician could follow to validate a patching change using discovery output alone.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1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2900" b="0" i="0">
                <a:solidFill>
                  <a:srgbClr val="FFFFFF"/>
                </a:solidFill>
                <a:latin typeface="Consolas"/>
              </a:rPr>
              <a:t>show cdp neighbors</a:t>
            </a:r>
            <a:r>
              <a:rPr sz="3000" b="0" i="0">
                <a:solidFill>
                  <a:srgbClr val="FFFFFF"/>
                </a:solidFill>
                <a:latin typeface="Segoe UI"/>
              </a:rPr>
              <a:t> lists a device you know is three switches away. What must be true?</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1 of 3</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13. CDP, LLDP and Documenting a Network</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2.3</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1900" b="1" i="0">
                <a:solidFill>
                  <a:srgbClr val="1A5276"/>
                </a:solidFill>
                <a:latin typeface="Consolas"/>
              </a:rPr>
              <a:t>show cdp neighbors</a:t>
            </a:r>
            <a:r>
              <a:rPr sz="2000" b="1" i="0">
                <a:solidFill>
                  <a:srgbClr val="1A5276"/>
                </a:solidFill>
                <a:latin typeface="Segoe UI"/>
              </a:rPr>
              <a:t> lists a device you know is three switches away. What must be true?</a:t>
            </a:r>
          </a:p>
        </p:txBody>
      </p:sp>
      <p:sp>
        <p:nvSpPr>
          <p:cNvPr id="8" name="abar"/>
          <p:cNvSpPr/>
          <p:nvPr/>
        </p:nvSpPr>
        <p:spPr>
          <a:xfrm>
            <a:off x="685800" y="2197354"/>
            <a:ext cx="41148" cy="1455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There is no switch between you and it that processes CDP — so the intervening devices are hubs, media converters, or unmanaged switches that pass the frames through. Neighbour discovery only shows </a:t>
            </a:r>
            <a:r>
              <a:rPr sz="1900" b="0" i="1">
                <a:solidFill>
                  <a:srgbClr val="1C252B"/>
                </a:solidFill>
                <a:latin typeface="Segoe UI"/>
              </a:rPr>
              <a:t>directly connected</a:t>
            </a:r>
            <a:r>
              <a:rPr sz="1900" b="0" i="0">
                <a:solidFill>
                  <a:srgbClr val="1C252B"/>
                </a:solidFill>
                <a:latin typeface="Segoe UI"/>
              </a:rPr>
              <a:t> devices, so a distant one appearing means the path is not what the diagram says.</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2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You unplug a device and it still appears in the table. Why, and for how long?</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2 of 3</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13. CDP, LLDP and Documenting a Network</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2.3</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You unplug a device and it still appears in the table. Why, and for how long?</a:t>
            </a:r>
          </a:p>
        </p:txBody>
      </p:sp>
      <p:sp>
        <p:nvSpPr>
          <p:cNvPr id="8" name="abar"/>
          <p:cNvSpPr/>
          <p:nvPr/>
        </p:nvSpPr>
        <p:spPr>
          <a:xfrm>
            <a:off x="685800" y="219735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Because entries persist for the advertised holdtime, 180 seconds by default for CDP. Until it expires, the table describes a neighbour that is no longer there.</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3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Which single command would tell you a neighbour’s IOS version and native VLAN?</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3 of 3</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13. CDP, LLDP and Documenting a Network</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2.3</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Which single command would tell you a neighbour’s IOS version and native VLAN?</a:t>
            </a:r>
          </a:p>
        </p:txBody>
      </p:sp>
      <p:sp>
        <p:nvSpPr>
          <p:cNvPr id="8" name="abar"/>
          <p:cNvSpPr/>
          <p:nvPr/>
        </p:nvSpPr>
        <p:spPr>
          <a:xfrm>
            <a:off x="685800" y="2197354"/>
            <a:ext cx="41148" cy="51485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800" b="0" i="0">
                <a:solidFill>
                  <a:srgbClr val="1A5276"/>
                </a:solidFill>
                <a:latin typeface="Consolas"/>
              </a:rPr>
              <a:t>show cdp neighbors detail</a:t>
            </a:r>
            <a:r>
              <a:rPr sz="1900" b="0" i="0">
                <a:solidFill>
                  <a:srgbClr val="1C252B"/>
                </a:solidFill>
                <a:latin typeface="Segoe UI"/>
              </a:rPr>
              <a:t>. The summary form gives neither.</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13. CDP, LLDP and Documenting a Network</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2.3</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CDP is Cisco and on by default; LLDP is open and off by default. Run both in a mixed estate.</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Neighbours are directly connected only — which is what makes the output evidence of cabling.</a:t>
            </a:r>
          </a:p>
          <a:p>
            <a:pPr marL="228600" indent="-228600">
              <a:lnSpc>
                <a:spcPct val="102000"/>
              </a:lnSpc>
              <a:spcAft>
                <a:spcPts val="900"/>
              </a:spcAft>
            </a:pPr>
            <a:r>
              <a:rPr sz="2000" b="1">
                <a:solidFill>
                  <a:srgbClr val="117864"/>
                </a:solidFill>
                <a:latin typeface="Segoe UI"/>
              </a:rPr>
              <a:t>•  </a:t>
            </a:r>
            <a:r>
              <a:rPr sz="1900" b="0" i="0">
                <a:solidFill>
                  <a:srgbClr val="1A5276"/>
                </a:solidFill>
                <a:latin typeface="Consolas"/>
              </a:rPr>
              <a:t>Local Intrfce</a:t>
            </a:r>
            <a:r>
              <a:rPr sz="2000" b="0" i="0">
                <a:solidFill>
                  <a:srgbClr val="1C252B"/>
                </a:solidFill>
                <a:latin typeface="Segoe UI"/>
              </a:rPr>
              <a:t> is your port, </a:t>
            </a:r>
            <a:r>
              <a:rPr sz="1900" b="0" i="0">
                <a:solidFill>
                  <a:srgbClr val="1A5276"/>
                </a:solidFill>
                <a:latin typeface="Consolas"/>
              </a:rPr>
              <a:t>Port ID</a:t>
            </a:r>
            <a:r>
              <a:rPr sz="2000" b="0" i="0">
                <a:solidFill>
                  <a:srgbClr val="1C252B"/>
                </a:solidFill>
                <a:latin typeface="Segoe UI"/>
              </a:rPr>
              <a:t> is theirs. Those two columns plus the device name are the diagram.</a:t>
            </a:r>
          </a:p>
          <a:p>
            <a:pPr marL="228600" indent="-228600">
              <a:lnSpc>
                <a:spcPct val="102000"/>
              </a:lnSpc>
              <a:spcAft>
                <a:spcPts val="900"/>
              </a:spcAft>
            </a:pPr>
            <a:r>
              <a:rPr sz="2000" b="1">
                <a:solidFill>
                  <a:srgbClr val="117864"/>
                </a:solidFill>
                <a:latin typeface="Segoe UI"/>
              </a:rPr>
              <a:t>•  </a:t>
            </a:r>
            <a:r>
              <a:rPr sz="1900" b="0" i="0">
                <a:solidFill>
                  <a:srgbClr val="1A5276"/>
                </a:solidFill>
                <a:latin typeface="Consolas"/>
              </a:rPr>
              <a:t>detail</a:t>
            </a:r>
            <a:r>
              <a:rPr sz="2000" b="0" i="0">
                <a:solidFill>
                  <a:srgbClr val="1C252B"/>
                </a:solidFill>
                <a:latin typeface="Segoe UI"/>
              </a:rPr>
              <a:t> adds IP, version, duplex and native VLAN, and catches mismatches before they cause incidents.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 (continued)</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13. CDP, LLDP and Documenting a Network</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2.3</a:t>
            </a:r>
          </a:p>
        </p:txBody>
      </p:sp>
      <p:sp>
        <p:nvSpPr>
          <p:cNvPr id="7" name="bullets"/>
          <p:cNvSpPr txBox="1"/>
          <p:nvPr/>
        </p:nvSpPr>
        <p:spPr>
          <a:xfrm>
            <a:off x="685800" y="2986749"/>
            <a:ext cx="10820095" cy="3395762"/>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Disable discovery on untrusted edges, not everywhere. Holdtime means entries persist for minutes after a device is removed.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17864"/>
        </a:solidFill>
        <a:effectLst/>
      </p:bgPr>
    </p:bg>
    <p:spTree>
      <p:nvGrpSpPr>
        <p:cNvPr id="1" name=""/>
        <p:cNvGrpSpPr/>
        <p:nvPr/>
      </p:nvGrpSpPr>
      <p:grpSpPr/>
      <p:sp>
        <p:nvSpPr>
          <p:cNvPr id="2" name="bg"/>
          <p:cNvSpPr/>
          <p:nvPr/>
        </p:nvSpPr>
        <p:spPr>
          <a:xfrm>
            <a:off x="0" y="0"/>
            <a:ext cx="12191695" cy="68580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ltitle"/>
          <p:cNvSpPr txBox="1"/>
          <p:nvPr/>
        </p:nvSpPr>
        <p:spPr>
          <a:xfrm>
            <a:off x="685800" y="1051560"/>
            <a:ext cx="10820095" cy="822960"/>
          </a:xfrm>
          <a:prstGeom prst="rect">
            <a:avLst/>
          </a:prstGeom>
          <a:noFill/>
        </p:spPr>
        <p:txBody>
          <a:bodyPr wrap="square" anchor="t" lIns="0" rIns="0" tIns="0" bIns="0">
            <a:spAutoFit/>
          </a:bodyPr>
          <a:lstStyle/>
          <a:p>
            <a:pPr algn="l">
              <a:lnSpc>
                <a:spcPct val="100000"/>
              </a:lnSpc>
              <a:spcAft>
                <a:spcPts val="600"/>
              </a:spcAft>
            </a:pPr>
            <a:r>
              <a:rPr sz="3400" b="1" i="0">
                <a:solidFill>
                  <a:srgbClr val="FFFFFF"/>
                </a:solidFill>
                <a:latin typeface="Segoe UI"/>
              </a:rPr>
              <a:t>Where we got to</a:t>
            </a:r>
          </a:p>
        </p:txBody>
      </p:sp>
      <p:sp>
        <p:nvSpPr>
          <p:cNvPr id="4" name="cltakeaways"/>
          <p:cNvSpPr txBox="1"/>
          <p:nvPr/>
        </p:nvSpPr>
        <p:spPr>
          <a:xfrm>
            <a:off x="685800" y="2011680"/>
            <a:ext cx="10820095" cy="3063240"/>
          </a:xfrm>
          <a:prstGeom prst="rect">
            <a:avLst/>
          </a:prstGeom>
          <a:noFill/>
        </p:spPr>
        <p:txBody>
          <a:bodyPr wrap="square">
            <a:spAutoFit/>
          </a:bodyPr>
          <a:lstStyle/>
          <a:p>
            <a:pPr marL="217169" indent="-217169">
              <a:spcAft>
                <a:spcPts val="900"/>
              </a:spcAft>
            </a:pPr>
            <a:r>
              <a:rPr sz="1900">
                <a:solidFill>
                  <a:srgbClr val="C8D6E5"/>
                </a:solidFill>
              </a:rPr>
              <a:t>•  </a:t>
            </a:r>
            <a:r>
              <a:rPr sz="1900" b="0" i="0">
                <a:solidFill>
                  <a:srgbClr val="FFFFFF"/>
                </a:solidFill>
                <a:latin typeface="Segoe UI"/>
              </a:rPr>
              <a:t>CDP is Cisco and on by default; LLDP is open and off by default. Run both in a mixed estate.</a:t>
            </a:r>
          </a:p>
          <a:p>
            <a:pPr marL="217169" indent="-217169">
              <a:spcAft>
                <a:spcPts val="900"/>
              </a:spcAft>
            </a:pPr>
            <a:r>
              <a:rPr sz="1900">
                <a:solidFill>
                  <a:srgbClr val="C8D6E5"/>
                </a:solidFill>
              </a:rPr>
              <a:t>•  </a:t>
            </a:r>
            <a:r>
              <a:rPr sz="1900" b="0" i="0">
                <a:solidFill>
                  <a:srgbClr val="FFFFFF"/>
                </a:solidFill>
                <a:latin typeface="Segoe UI"/>
              </a:rPr>
              <a:t>Neighbours are directly connected only — which is what makes the output evidence of cabling.</a:t>
            </a:r>
          </a:p>
          <a:p>
            <a:pPr marL="217169" indent="-217169">
              <a:spcAft>
                <a:spcPts val="900"/>
              </a:spcAft>
            </a:pPr>
            <a:r>
              <a:rPr sz="1900">
                <a:solidFill>
                  <a:srgbClr val="C8D6E5"/>
                </a:solidFill>
              </a:rPr>
              <a:t>•  </a:t>
            </a:r>
            <a:r>
              <a:rPr sz="1800" b="0" i="0">
                <a:solidFill>
                  <a:srgbClr val="FFFFFF"/>
                </a:solidFill>
                <a:latin typeface="Consolas"/>
              </a:rPr>
              <a:t>Local Intrfce</a:t>
            </a:r>
            <a:r>
              <a:rPr sz="1900" b="0" i="0">
                <a:solidFill>
                  <a:srgbClr val="FFFFFF"/>
                </a:solidFill>
                <a:latin typeface="Segoe UI"/>
              </a:rPr>
              <a:t> is your port, </a:t>
            </a:r>
            <a:r>
              <a:rPr sz="1800" b="0" i="0">
                <a:solidFill>
                  <a:srgbClr val="FFFFFF"/>
                </a:solidFill>
                <a:latin typeface="Consolas"/>
              </a:rPr>
              <a:t>Port ID</a:t>
            </a:r>
            <a:r>
              <a:rPr sz="1900" b="0" i="0">
                <a:solidFill>
                  <a:srgbClr val="FFFFFF"/>
                </a:solidFill>
                <a:latin typeface="Segoe UI"/>
              </a:rPr>
              <a:t> is theirs. Those two columns plus the device name are the diagram.</a:t>
            </a:r>
          </a:p>
          <a:p>
            <a:pPr marL="217169" indent="-217169">
              <a:spcAft>
                <a:spcPts val="900"/>
              </a:spcAft>
            </a:pPr>
            <a:r>
              <a:rPr sz="1900">
                <a:solidFill>
                  <a:srgbClr val="C8D6E5"/>
                </a:solidFill>
              </a:rPr>
              <a:t>•  </a:t>
            </a:r>
            <a:r>
              <a:rPr sz="1800" b="0" i="0">
                <a:solidFill>
                  <a:srgbClr val="FFFFFF"/>
                </a:solidFill>
                <a:latin typeface="Consolas"/>
              </a:rPr>
              <a:t>detail</a:t>
            </a:r>
            <a:r>
              <a:rPr sz="1900" b="0" i="0">
                <a:solidFill>
                  <a:srgbClr val="FFFFFF"/>
                </a:solidFill>
                <a:latin typeface="Segoe UI"/>
              </a:rPr>
              <a:t> adds IP, version, duplex and native VLAN, and catches mismatches before they cause incidents.</a:t>
            </a:r>
          </a:p>
        </p:txBody>
      </p:sp>
      <p:sp>
        <p:nvSpPr>
          <p:cNvPr id="5" name="nextbg"/>
          <p:cNvSpPr/>
          <p:nvPr/>
        </p:nvSpPr>
        <p:spPr>
          <a:xfrm>
            <a:off x="685800" y="5303520"/>
            <a:ext cx="10820095" cy="822960"/>
          </a:xfrm>
          <a:prstGeom prst="rect">
            <a:avLst/>
          </a:prstGeom>
          <a:solidFill>
            <a:srgbClr val="006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extlab"/>
          <p:cNvSpPr txBox="1"/>
          <p:nvPr/>
        </p:nvSpPr>
        <p:spPr>
          <a:xfrm>
            <a:off x="960120" y="5449824"/>
            <a:ext cx="10271455"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B8C9DA"/>
                </a:solidFill>
                <a:latin typeface="Segoe UI"/>
              </a:rPr>
              <a:t>NEXT</a:t>
            </a:r>
          </a:p>
        </p:txBody>
      </p:sp>
      <p:sp>
        <p:nvSpPr>
          <p:cNvPr id="7" name="nexttitle"/>
          <p:cNvSpPr txBox="1"/>
          <p:nvPr/>
        </p:nvSpPr>
        <p:spPr>
          <a:xfrm>
            <a:off x="960120" y="5705856"/>
            <a:ext cx="10271455" cy="329184"/>
          </a:xfrm>
          <a:prstGeom prst="rect">
            <a:avLst/>
          </a:prstGeom>
          <a:noFill/>
        </p:spPr>
        <p:txBody>
          <a:bodyPr wrap="square" anchor="t" lIns="0" rIns="0" tIns="0" bIns="0">
            <a:spAutoFit/>
          </a:bodyPr>
          <a:lstStyle/>
          <a:p>
            <a:pPr algn="l">
              <a:lnSpc>
                <a:spcPct val="100000"/>
              </a:lnSpc>
              <a:spcAft>
                <a:spcPts val="600"/>
              </a:spcAft>
            </a:pPr>
            <a:r>
              <a:rPr sz="1900" b="1" i="0">
                <a:solidFill>
                  <a:srgbClr val="FFFFFF"/>
                </a:solidFill>
                <a:latin typeface="Segoe UI"/>
              </a:rPr>
              <a:t>Chapter 14 — Troubleshooting Layer 2</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