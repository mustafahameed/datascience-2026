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18: OSPFv3 for IPv6. Blueprint topics: 3.3.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OSPFv3 for IPv6 3.3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everything conceptual. The link-state mechanism, the database, the shortest-path calculation, areas, the DR and BDR election with its priority-then- router-ID tie-break, the FULL and 2-WAY states, cost as the metric, hello and dead intervals that must match, and the administrative distance of 110 are all identical to Chapter 17. So is the troubleshooting. If an OSPFv3 adjacency will not form, the causes are the same list: area, timers, network type, MTU, duplicate router ID.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neighbour IDs are still IPv4-format. The column that replaces the IPv4 address is Interface ID — the neighbour’s own index for its interface, which matters only when reading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C3483"/>
        </a:solidFill>
        <a:effectLst/>
      </p:bgPr>
    </p:bg>
    <p:spTree>
      <p:nvGrpSpPr>
        <p:cNvPr id="1" name=""/>
        <p:cNvGrpSpPr/>
        <p:nvPr/>
      </p:nvGrpSpPr>
      <p:grpSpPr/>
      <p:sp>
        <p:nvSpPr>
          <p:cNvPr id="2" name="bg"/>
          <p:cNvSpPr/>
          <p:nvPr/>
        </p:nvSpPr>
        <p:spPr>
          <a:xfrm>
            <a:off x="0" y="0"/>
            <a:ext cx="12191695" cy="68580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561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18</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OSPFv3 for IPv6</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III — IP Routing</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3.3"/>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3.3"/>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6C3483"/>
                </a:solidFill>
                <a:latin typeface="Segoe UI"/>
              </a:rPr>
              <a:t>3.3</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3"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4"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5"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6"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part1bg"/>
          <p:cNvSpPr/>
          <p:nvPr/>
        </p:nvSpPr>
        <p:spPr>
          <a:xfrm>
            <a:off x="685800" y="1792224"/>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1–7</a:t>
            </a:r>
          </a:p>
        </p:txBody>
      </p:sp>
      <p:sp>
        <p:nvSpPr>
          <p:cNvPr id="12" name="part2bg"/>
          <p:cNvSpPr/>
          <p:nvPr/>
        </p:nvSpPr>
        <p:spPr>
          <a:xfrm>
            <a:off x="685800" y="2450591"/>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8–14</a:t>
            </a:r>
          </a:p>
        </p:txBody>
      </p:sp>
      <p:sp>
        <p:nvSpPr>
          <p:cNvPr id="17" name="part3bg"/>
          <p:cNvSpPr/>
          <p:nvPr/>
        </p:nvSpPr>
        <p:spPr>
          <a:xfrm>
            <a:off x="685800" y="3108959"/>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6C3483"/>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6C3483"/>
                </a:solidFill>
                <a:latin typeface="Segoe UI"/>
              </a:rPr>
              <a:t>chapters 15–19</a:t>
            </a:r>
          </a:p>
        </p:txBody>
      </p:sp>
      <p:sp>
        <p:nvSpPr>
          <p:cNvPr id="22" name="part4bg"/>
          <p:cNvSpPr/>
          <p:nvPr/>
        </p:nvSpPr>
        <p:spPr>
          <a:xfrm>
            <a:off x="685800" y="3767327"/>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20–26</a:t>
            </a:r>
          </a:p>
        </p:txBody>
      </p:sp>
      <p:sp>
        <p:nvSpPr>
          <p:cNvPr id="27" name="part5bg"/>
          <p:cNvSpPr/>
          <p:nvPr/>
        </p:nvSpPr>
        <p:spPr>
          <a:xfrm>
            <a:off x="685800" y="4425695"/>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27–32</a:t>
            </a:r>
          </a:p>
        </p:txBody>
      </p:sp>
      <p:sp>
        <p:nvSpPr>
          <p:cNvPr id="32" name="part6bg"/>
          <p:cNvSpPr/>
          <p:nvPr/>
        </p:nvSpPr>
        <p:spPr>
          <a:xfrm>
            <a:off x="685800" y="5084063"/>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State</a:t>
            </a:r>
            <a:r>
              <a:rPr sz="2000" b="0" i="0">
                <a:solidFill>
                  <a:srgbClr val="1C252B"/>
                </a:solidFill>
                <a:latin typeface="Segoe UI"/>
              </a:rPr>
              <a:t> what OSPFv3 keeps from OSPFv2 and what it changes.</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Configure</a:t>
            </a:r>
            <a:r>
              <a:rPr sz="2000" b="0" i="0">
                <a:solidFill>
                  <a:srgbClr val="1C252B"/>
                </a:solidFill>
                <a:latin typeface="Segoe UI"/>
              </a:rPr>
              <a:t> single-area OSPFv3 on interfaces rather than with network statements.</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Explain</a:t>
            </a:r>
            <a:r>
              <a:rPr sz="2000" b="0" i="0">
                <a:solidFill>
                  <a:srgbClr val="1C252B"/>
                </a:solidFill>
                <a:latin typeface="Segoe UI"/>
              </a:rPr>
              <a:t> why an IPv6-only router still needs an IPv4-format router ID, and configure one.</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Troubleshoot</a:t>
            </a:r>
            <a:r>
              <a:rPr sz="2000" b="0" i="0">
                <a:solidFill>
                  <a:srgbClr val="1C252B"/>
                </a:solidFill>
                <a:latin typeface="Segoe UI"/>
              </a:rPr>
              <a:t> an OSPFv3 adjacency, including the failure unique to it: a missing router ID.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tint"/>
          <p:cNvSpPr/>
          <p:nvPr/>
        </p:nvSpPr>
        <p:spPr>
          <a:xfrm>
            <a:off x="685800" y="1517904"/>
            <a:ext cx="10820095" cy="133705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17 — this chapter assumes it and covers only the differences. Chapter 5 for link-local addressing.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term-OSPFv3"/>
          <p:cNvSpPr/>
          <p:nvPr/>
        </p:nvSpPr>
        <p:spPr>
          <a:xfrm>
            <a:off x="685800" y="1609344"/>
            <a:ext cx="106273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OSPFv3"/>
          <p:cNvSpPr/>
          <p:nvPr/>
        </p:nvSpPr>
        <p:spPr>
          <a:xfrm>
            <a:off x="685800"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OSPFv3"/>
          <p:cNvSpPr txBox="1"/>
          <p:nvPr/>
        </p:nvSpPr>
        <p:spPr>
          <a:xfrm>
            <a:off x="850392" y="1700784"/>
            <a:ext cx="73355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OSPFv3</a:t>
            </a:r>
          </a:p>
        </p:txBody>
      </p:sp>
      <p:sp>
        <p:nvSpPr>
          <p:cNvPr id="10" name="term-router ID"/>
          <p:cNvSpPr/>
          <p:nvPr/>
        </p:nvSpPr>
        <p:spPr>
          <a:xfrm>
            <a:off x="1876552" y="1609344"/>
            <a:ext cx="107086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router ID"/>
          <p:cNvSpPr/>
          <p:nvPr/>
        </p:nvSpPr>
        <p:spPr>
          <a:xfrm>
            <a:off x="1876552"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router ID"/>
          <p:cNvSpPr txBox="1"/>
          <p:nvPr/>
        </p:nvSpPr>
        <p:spPr>
          <a:xfrm>
            <a:off x="2041144" y="1700784"/>
            <a:ext cx="74167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router ID</a:t>
            </a:r>
          </a:p>
        </p:txBody>
      </p:sp>
      <p:sp>
        <p:nvSpPr>
          <p:cNvPr id="13" name="term-link-local next ho"/>
          <p:cNvSpPr/>
          <p:nvPr/>
        </p:nvSpPr>
        <p:spPr>
          <a:xfrm>
            <a:off x="3075432" y="1609344"/>
            <a:ext cx="199948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link-local next ho"/>
          <p:cNvSpPr/>
          <p:nvPr/>
        </p:nvSpPr>
        <p:spPr>
          <a:xfrm>
            <a:off x="3075432"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link-local next ho"/>
          <p:cNvSpPr txBox="1"/>
          <p:nvPr/>
        </p:nvSpPr>
        <p:spPr>
          <a:xfrm>
            <a:off x="3240024" y="1700784"/>
            <a:ext cx="167030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link-local next hop</a:t>
            </a:r>
          </a:p>
        </p:txBody>
      </p:sp>
      <p:sp>
        <p:nvSpPr>
          <p:cNvPr id="16" name="term-per-interface conf"/>
          <p:cNvSpPr/>
          <p:nvPr/>
        </p:nvSpPr>
        <p:spPr>
          <a:xfrm>
            <a:off x="5202936" y="1609344"/>
            <a:ext cx="265785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per-interface conf"/>
          <p:cNvSpPr/>
          <p:nvPr/>
        </p:nvSpPr>
        <p:spPr>
          <a:xfrm>
            <a:off x="5202936"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per-interface conf"/>
          <p:cNvSpPr txBox="1"/>
          <p:nvPr/>
        </p:nvSpPr>
        <p:spPr>
          <a:xfrm>
            <a:off x="5367527" y="1700784"/>
            <a:ext cx="232867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per-interface configuration</a:t>
            </a:r>
          </a:p>
        </p:txBody>
      </p:sp>
      <p:sp>
        <p:nvSpPr>
          <p:cNvPr id="19" name="term-address family"/>
          <p:cNvSpPr/>
          <p:nvPr/>
        </p:nvSpPr>
        <p:spPr>
          <a:xfrm>
            <a:off x="7988808" y="1609344"/>
            <a:ext cx="164185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address family"/>
          <p:cNvSpPr/>
          <p:nvPr/>
        </p:nvSpPr>
        <p:spPr>
          <a:xfrm>
            <a:off x="7988808"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address family"/>
          <p:cNvSpPr txBox="1"/>
          <p:nvPr/>
        </p:nvSpPr>
        <p:spPr>
          <a:xfrm>
            <a:off x="8153399" y="1700784"/>
            <a:ext cx="131267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address family</a:t>
            </a:r>
          </a:p>
        </p:txBody>
      </p:sp>
      <p:sp>
        <p:nvSpPr>
          <p:cNvPr id="22" name="term-ff02::5"/>
          <p:cNvSpPr/>
          <p:nvPr/>
        </p:nvSpPr>
        <p:spPr>
          <a:xfrm>
            <a:off x="9758679" y="1609344"/>
            <a:ext cx="95097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ff02::5"/>
          <p:cNvSpPr/>
          <p:nvPr/>
        </p:nvSpPr>
        <p:spPr>
          <a:xfrm>
            <a:off x="9758679" y="1609344"/>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ff02::5"/>
          <p:cNvSpPr txBox="1"/>
          <p:nvPr/>
        </p:nvSpPr>
        <p:spPr>
          <a:xfrm>
            <a:off x="9923271" y="1700784"/>
            <a:ext cx="62179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ff02::5</a:t>
            </a:r>
          </a:p>
        </p:txBody>
      </p:sp>
      <p:sp>
        <p:nvSpPr>
          <p:cNvPr id="25" name="term-ff02::6"/>
          <p:cNvSpPr/>
          <p:nvPr/>
        </p:nvSpPr>
        <p:spPr>
          <a:xfrm>
            <a:off x="685800" y="2212848"/>
            <a:ext cx="95097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ff02::6"/>
          <p:cNvSpPr/>
          <p:nvPr/>
        </p:nvSpPr>
        <p:spPr>
          <a:xfrm>
            <a:off x="685800" y="2212848"/>
            <a:ext cx="32004" cy="47548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ff02::6"/>
          <p:cNvSpPr txBox="1"/>
          <p:nvPr/>
        </p:nvSpPr>
        <p:spPr>
          <a:xfrm>
            <a:off x="850392" y="2304288"/>
            <a:ext cx="62179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ff02::6</a:t>
            </a:r>
          </a:p>
        </p:txBody>
      </p:sp>
      <p:sp>
        <p:nvSpPr>
          <p:cNvPr id="28"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One topic, two protocols</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6C3483"/>
                </a:solidFill>
                <a:latin typeface="Segoe UI"/>
              </a:rPr>
              <a:t>This is what the blueprint actually asks for</a:t>
            </a:r>
          </a:p>
        </p:txBody>
      </p:sp>
      <p:sp>
        <p:nvSpPr>
          <p:cNvPr id="8" name="body"/>
          <p:cNvSpPr txBox="1"/>
          <p:nvPr/>
        </p:nvSpPr>
        <p:spPr>
          <a:xfrm>
            <a:off x="685800" y="2267712"/>
            <a:ext cx="10820095" cy="411480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6C3483"/>
                </a:solidFill>
                <a:latin typeface="Segoe UI"/>
              </a:rPr>
              <a:t> 3.3 </a:t>
            </a:r>
            <a:r>
              <a:rPr sz="2000" b="0" i="0">
                <a:solidFill>
                  <a:srgbClr val="1C252B"/>
                </a:solidFill>
                <a:latin typeface="Segoe UI"/>
              </a:rPr>
              <a:t> covers OSPFv2 and OSPFv3 together, and OSPFv3 is new in v2.0 — it was not in the v1.1 blueprint at all. The exam will not ask you to re-learn OSPF; it will ask whether you can configure the v6 version, which means knowing the handful of things that differ.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failure unique to OSPFv3</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router ID is still a 32-bit value written like an IPv4 address, even in a network with no IPv4 at all. If the router has </a:t>
            </a:r>
            <a:r>
              <a:rPr sz="2000" b="0" i="1">
                <a:solidFill>
                  <a:srgbClr val="1C252B"/>
                </a:solidFill>
                <a:latin typeface="Segoe UI"/>
              </a:rPr>
              <a:t>no</a:t>
            </a:r>
            <a:r>
              <a:rPr sz="2000" b="0" i="0">
                <a:solidFill>
                  <a:srgbClr val="1C252B"/>
                </a:solidFill>
                <a:latin typeface="Segoe UI"/>
              </a:rPr>
              <a:t> IPv4 address on any interface and you have not configured </a:t>
            </a:r>
            <a:r>
              <a:rPr sz="1900" b="0" i="0">
                <a:solidFill>
                  <a:srgbClr val="1A5276"/>
                </a:solidFill>
                <a:latin typeface="Consolas"/>
              </a:rPr>
              <a:t>router-id</a:t>
            </a:r>
            <a:r>
              <a:rPr sz="2000" b="0" i="0">
                <a:solidFill>
                  <a:srgbClr val="1C252B"/>
                </a:solidFill>
                <a:latin typeface="Segoe UI"/>
              </a:rPr>
              <a:t>, the process will not start. IOS says so, but the message is easily missed in a long paste:</a:t>
            </a:r>
          </a:p>
          <a:p>
            <a:pPr algn="l">
              <a:lnSpc>
                <a:spcPct val="100000"/>
              </a:lnSpc>
              <a:spcAft>
                <a:spcPts val="1000"/>
              </a:spcAft>
            </a:pPr>
            <a:r>
              <a:rPr sz="2000" b="0" i="0">
                <a:solidFill>
                  <a:srgbClr val="1C252B"/>
                </a:solidFill>
                <a:latin typeface="Segoe UI"/>
              </a:rPr>
              <a:t>% OSPFv3-1-IPV6 Router process 10 could not pick a router-id, please configure manually</a:t>
            </a:r>
          </a:p>
          <a:p>
            <a:pPr algn="l">
              <a:lnSpc>
                <a:spcPct val="100000"/>
              </a:lnSpc>
              <a:spcAft>
                <a:spcPts val="1000"/>
              </a:spcAft>
            </a:pPr>
            <a:r>
              <a:rPr sz="2000" b="0" i="0">
                <a:solidFill>
                  <a:srgbClr val="1C252B"/>
                </a:solidFill>
                <a:latin typeface="Segoe UI"/>
              </a:rPr>
              <a:t>Always configure it explicitly. It costs one line and removes the whole class of problem.</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Configuring it</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Single-area OSPFv3 on R1</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codebg"/>
          <p:cNvSpPr/>
          <p:nvPr/>
        </p:nvSpPr>
        <p:spPr>
          <a:xfrm>
            <a:off x="685800" y="1517904"/>
            <a:ext cx="10820095" cy="4511547"/>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017771"/>
          </a:xfrm>
          <a:prstGeom prst="rect">
            <a:avLst/>
          </a:prstGeom>
          <a:noFill/>
        </p:spPr>
        <p:txBody>
          <a:bodyPr wrap="none" lIns="0" rIns="0" tIns="0" bIns="0">
            <a:spAutoFit/>
          </a:bodyPr>
          <a:lstStyle/>
          <a:p>
            <a:pPr>
              <a:lnSpc>
                <a:spcPct val="100000"/>
              </a:lnSpc>
              <a:spcAft>
                <a:spcPts val="0"/>
              </a:spcAft>
            </a:pPr>
            <a:r>
              <a:rPr sz="1300">
                <a:solidFill>
                  <a:srgbClr val="E8EEF2"/>
                </a:solidFill>
                <a:latin typeface="Consolas"/>
              </a:rPr>
              <a:t>ipv6 unicast-routing</a:t>
            </a:r>
          </a:p>
          <a:p>
            <a:pPr>
              <a:lnSpc>
                <a:spcPct val="100000"/>
              </a:lnSpc>
              <a:spcAft>
                <a:spcPts val="0"/>
              </a:spcAft>
            </a:pPr>
            <a:r>
              <a:rPr sz="1300" i="1">
                <a:solidFill>
                  <a:srgbClr val="6E8BA0"/>
                </a:solidFill>
                <a:latin typeface="Consolas"/>
              </a:rPr>
              <a:t>!</a:t>
            </a:r>
          </a:p>
          <a:p>
            <a:pPr>
              <a:lnSpc>
                <a:spcPct val="100000"/>
              </a:lnSpc>
              <a:spcAft>
                <a:spcPts val="0"/>
              </a:spcAft>
            </a:pPr>
            <a:r>
              <a:rPr sz="1300" i="1">
                <a:solidFill>
                  <a:srgbClr val="6E8BA0"/>
                </a:solidFill>
                <a:latin typeface="Consolas"/>
              </a:rPr>
              <a:t>! The process exists mainly to hold the router ID; interfaces do</a:t>
            </a:r>
          </a:p>
          <a:p>
            <a:pPr>
              <a:lnSpc>
                <a:spcPct val="100000"/>
              </a:lnSpc>
              <a:spcAft>
                <a:spcPts val="0"/>
              </a:spcAft>
            </a:pPr>
            <a:r>
              <a:rPr sz="1300" i="1">
                <a:solidFill>
                  <a:srgbClr val="6E8BA0"/>
                </a:solidFill>
                <a:latin typeface="Consolas"/>
              </a:rPr>
              <a:t>! the rest of the work.</a:t>
            </a:r>
          </a:p>
          <a:p>
            <a:pPr>
              <a:lnSpc>
                <a:spcPct val="100000"/>
              </a:lnSpc>
              <a:spcAft>
                <a:spcPts val="0"/>
              </a:spcAft>
            </a:pPr>
            <a:r>
              <a:rPr sz="1300">
                <a:solidFill>
                  <a:srgbClr val="E8EEF2"/>
                </a:solidFill>
                <a:latin typeface="Consolas"/>
              </a:rPr>
              <a:t>ipv6 router ospf 10</a:t>
            </a:r>
          </a:p>
          <a:p>
            <a:pPr>
              <a:lnSpc>
                <a:spcPct val="100000"/>
              </a:lnSpc>
              <a:spcAft>
                <a:spcPts val="0"/>
              </a:spcAft>
            </a:pPr>
            <a:r>
              <a:rPr sz="1300">
                <a:solidFill>
                  <a:srgbClr val="E8EEF2"/>
                </a:solidFill>
                <a:latin typeface="Consolas"/>
              </a:rPr>
              <a:t> router-id 1.1.1.1</a:t>
            </a:r>
          </a:p>
          <a:p>
            <a:pPr>
              <a:lnSpc>
                <a:spcPct val="100000"/>
              </a:lnSpc>
              <a:spcAft>
                <a:spcPts val="0"/>
              </a:spcAft>
            </a:pPr>
            <a:r>
              <a:rPr sz="1300">
                <a:solidFill>
                  <a:srgbClr val="E8EEF2"/>
                </a:solidFill>
                <a:latin typeface="Consolas"/>
              </a:rPr>
              <a:t> passive-interface Vlan10</a:t>
            </a:r>
          </a:p>
          <a:p>
            <a:pPr>
              <a:lnSpc>
                <a:spcPct val="100000"/>
              </a:lnSpc>
              <a:spcAft>
                <a:spcPts val="0"/>
              </a:spcAft>
            </a:pPr>
            <a:r>
              <a:rPr sz="1300" i="1">
                <a:solidFill>
                  <a:srgbClr val="6E8BA0"/>
                </a:solidFill>
                <a:latin typeface="Consolas"/>
              </a:rPr>
              <a:t>!</a:t>
            </a:r>
          </a:p>
          <a:p>
            <a:pPr>
              <a:lnSpc>
                <a:spcPct val="100000"/>
              </a:lnSpc>
              <a:spcAft>
                <a:spcPts val="0"/>
              </a:spcAft>
            </a:pPr>
            <a:r>
              <a:rPr sz="1300" i="1">
                <a:solidFill>
                  <a:srgbClr val="6E8BA0"/>
                </a:solidFill>
                <a:latin typeface="Consolas"/>
              </a:rPr>
              <a:t>! Enable per interface. Every IPv6 prefix on the interface is</a:t>
            </a:r>
          </a:p>
          <a:p>
            <a:pPr>
              <a:lnSpc>
                <a:spcPct val="100000"/>
              </a:lnSpc>
              <a:spcAft>
                <a:spcPts val="0"/>
              </a:spcAft>
            </a:pPr>
            <a:r>
              <a:rPr sz="1300" i="1">
                <a:solidFill>
                  <a:srgbClr val="6E8BA0"/>
                </a:solidFill>
                <a:latin typeface="Consolas"/>
              </a:rPr>
              <a:t>! advertised -- there is no network statement and no wildcard mask.</a:t>
            </a:r>
          </a:p>
          <a:p>
            <a:pPr>
              <a:lnSpc>
                <a:spcPct val="100000"/>
              </a:lnSpc>
              <a:spcAft>
                <a:spcPts val="0"/>
              </a:spcAft>
            </a:pPr>
            <a:r>
              <a:rPr sz="1300">
                <a:solidFill>
                  <a:srgbClr val="E8EEF2"/>
                </a:solidFill>
                <a:latin typeface="Consolas"/>
              </a:rPr>
              <a:t>interface GigabitEthernet0/1</a:t>
            </a:r>
          </a:p>
          <a:p>
            <a:pPr>
              <a:lnSpc>
                <a:spcPct val="100000"/>
              </a:lnSpc>
              <a:spcAft>
                <a:spcPts val="0"/>
              </a:spcAft>
            </a:pPr>
            <a:r>
              <a:rPr sz="1300">
                <a:solidFill>
                  <a:srgbClr val="E8EEF2"/>
                </a:solidFill>
                <a:latin typeface="Consolas"/>
              </a:rPr>
              <a:t> description Link to R2</a:t>
            </a:r>
          </a:p>
          <a:p>
            <a:pPr>
              <a:lnSpc>
                <a:spcPct val="100000"/>
              </a:lnSpc>
              <a:spcAft>
                <a:spcPts val="0"/>
              </a:spcAft>
            </a:pPr>
            <a:r>
              <a:rPr sz="1300">
                <a:solidFill>
                  <a:srgbClr val="E8EEF2"/>
                </a:solidFill>
                <a:latin typeface="Consolas"/>
              </a:rPr>
              <a:t> ipv6 address 2001:db8:acad:99::1/64</a:t>
            </a:r>
          </a:p>
          <a:p>
            <a:pPr>
              <a:lnSpc>
                <a:spcPct val="100000"/>
              </a:lnSpc>
              <a:spcAft>
                <a:spcPts val="0"/>
              </a:spcAft>
            </a:pPr>
            <a:r>
              <a:rPr sz="1300">
                <a:solidFill>
                  <a:srgbClr val="E8EEF2"/>
                </a:solidFill>
                <a:latin typeface="Consolas"/>
              </a:rPr>
              <a:t> ipv6 ospf 10 area 0</a:t>
            </a:r>
          </a:p>
          <a:p>
            <a:pPr>
              <a:lnSpc>
                <a:spcPct val="100000"/>
              </a:lnSpc>
              <a:spcAft>
                <a:spcPts val="0"/>
              </a:spcAft>
            </a:pPr>
            <a:r>
              <a:rPr sz="1300" i="1">
                <a:solidFill>
                  <a:srgbClr val="6E8BA0"/>
                </a:solidFill>
                <a:latin typeface="Consolas"/>
              </a:rPr>
              <a:t>!</a:t>
            </a:r>
          </a:p>
          <a:p>
            <a:pPr>
              <a:lnSpc>
                <a:spcPct val="100000"/>
              </a:lnSpc>
              <a:spcAft>
                <a:spcPts val="0"/>
              </a:spcAft>
            </a:pPr>
            <a:r>
              <a:rPr sz="1300">
                <a:solidFill>
                  <a:srgbClr val="E8EEF2"/>
                </a:solidFill>
                <a:latin typeface="Consolas"/>
              </a:rPr>
              <a:t>interface Vlan10</a:t>
            </a:r>
          </a:p>
          <a:p>
            <a:pPr>
              <a:lnSpc>
                <a:spcPct val="100000"/>
              </a:lnSpc>
              <a:spcAft>
                <a:spcPts val="0"/>
              </a:spcAft>
            </a:pPr>
            <a:r>
              <a:rPr sz="1300">
                <a:solidFill>
                  <a:srgbClr val="E8EEF2"/>
                </a:solidFill>
                <a:latin typeface="Consolas"/>
              </a:rPr>
              <a:t> ipv6 address 2001:db8:acad:10::1/64</a:t>
            </a:r>
          </a:p>
          <a:p>
            <a:pPr>
              <a:lnSpc>
                <a:spcPct val="100000"/>
              </a:lnSpc>
              <a:spcAft>
                <a:spcPts val="0"/>
              </a:spcAft>
            </a:pPr>
            <a:r>
              <a:rPr sz="1300">
                <a:solidFill>
                  <a:srgbClr val="E8EEF2"/>
                </a:solidFill>
                <a:latin typeface="Consolas"/>
              </a:rPr>
              <a:t> ipv6 ospf 10 area 0</a:t>
            </a:r>
          </a:p>
          <a:p>
            <a:pPr>
              <a:lnSpc>
                <a:spcPct val="100000"/>
              </a:lnSpc>
              <a:spcAft>
                <a:spcPts val="0"/>
              </a:spcAft>
            </a:pPr>
            <a:r>
              <a:rPr sz="1300" i="1">
                <a:solidFill>
                  <a:srgbClr val="6E8BA0"/>
                </a:solidFill>
                <a:latin typeface="Consolas"/>
              </a:rPr>
              <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Single-area OSPFv3 on R1 (continued)</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codebg"/>
          <p:cNvSpPr/>
          <p:nvPr/>
        </p:nvSpPr>
        <p:spPr>
          <a:xfrm>
            <a:off x="685800" y="1901952"/>
            <a:ext cx="10820095" cy="137769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883919"/>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 Point-to-point on a two-router link, exactly as in OSPFv2.</a:t>
            </a:r>
          </a:p>
          <a:p>
            <a:pPr>
              <a:lnSpc>
                <a:spcPct val="100000"/>
              </a:lnSpc>
              <a:spcAft>
                <a:spcPts val="0"/>
              </a:spcAft>
            </a:pPr>
            <a:r>
              <a:rPr sz="1600">
                <a:solidFill>
                  <a:srgbClr val="E8EEF2"/>
                </a:solidFill>
                <a:latin typeface="Consolas"/>
              </a:rPr>
              <a:t>interface GigabitEthernet0/2</a:t>
            </a:r>
          </a:p>
          <a:p>
            <a:pPr>
              <a:lnSpc>
                <a:spcPct val="100000"/>
              </a:lnSpc>
              <a:spcAft>
                <a:spcPts val="0"/>
              </a:spcAft>
            </a:pPr>
            <a:r>
              <a:rPr sz="1600">
                <a:solidFill>
                  <a:srgbClr val="E8EEF2"/>
                </a:solidFill>
                <a:latin typeface="Consolas"/>
              </a:rPr>
              <a:t> ipv6 ospf network point-to-point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No network statements is a simplification, not a trap</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tint"/>
          <p:cNvSpPr/>
          <p:nvPr/>
        </p:nvSpPr>
        <p:spPr>
          <a:xfrm>
            <a:off x="685800" y="1517904"/>
            <a:ext cx="10820095" cy="30794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In OSPFv2 you had to compute a wildcard mask and remember that the statement both enables the interface and advertises the subnet. OSPFv3 drops all of that: enable the interface and every prefix on it is advertised, including additional addresses added later.</a:t>
            </a:r>
          </a:p>
          <a:p>
            <a:pPr algn="l">
              <a:lnSpc>
                <a:spcPct val="100000"/>
              </a:lnSpc>
              <a:spcAft>
                <a:spcPts val="1000"/>
              </a:spcAft>
            </a:pPr>
            <a:r>
              <a:rPr sz="2000" b="0" i="0">
                <a:solidFill>
                  <a:srgbClr val="1C252B"/>
                </a:solidFill>
                <a:latin typeface="Segoe UI"/>
              </a:rPr>
              <a:t>The practical consequence is that </a:t>
            </a:r>
            <a:r>
              <a:rPr sz="1900" b="0" i="0">
                <a:solidFill>
                  <a:srgbClr val="1A5276"/>
                </a:solidFill>
                <a:latin typeface="Consolas"/>
              </a:rPr>
              <a:t>passive-interface</a:t>
            </a:r>
            <a:r>
              <a:rPr sz="2000" b="0" i="0">
                <a:solidFill>
                  <a:srgbClr val="1C252B"/>
                </a:solidFill>
                <a:latin typeface="Segoe UI"/>
              </a:rPr>
              <a:t> becomes more important, not less — it is now the only way to advertise a LAN’s prefix without sending hellos into 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Verifying</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ipv6 ospf neighbor</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codebg"/>
          <p:cNvSpPr/>
          <p:nvPr/>
        </p:nvSpPr>
        <p:spPr>
          <a:xfrm>
            <a:off x="685800" y="1901952"/>
            <a:ext cx="10820095" cy="18816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1387856"/>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            OSPFv3 Router with ID (1.1.1.1) (Process ID 10)</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Neighbor ID     Pri   State           Dead Time   Interface ID    Interface</a:t>
            </a:r>
          </a:p>
          <a:p>
            <a:pPr>
              <a:lnSpc>
                <a:spcPct val="100000"/>
              </a:lnSpc>
              <a:spcAft>
                <a:spcPts val="0"/>
              </a:spcAft>
            </a:pPr>
            <a:r>
              <a:rPr sz="1600">
                <a:solidFill>
                  <a:srgbClr val="E8EEF2"/>
                </a:solidFill>
                <a:latin typeface="Consolas"/>
              </a:rPr>
              <a:t>2.2.2.2           1   FULL/BDR        00:00:31    4               GigabitEthernet0/1</a:t>
            </a:r>
          </a:p>
          <a:p>
            <a:pPr>
              <a:lnSpc>
                <a:spcPct val="100000"/>
              </a:lnSpc>
              <a:spcAft>
                <a:spcPts val="0"/>
              </a:spcAft>
            </a:pPr>
            <a:r>
              <a:rPr sz="1600">
                <a:solidFill>
                  <a:srgbClr val="E8EEF2"/>
                </a:solidFill>
                <a:latin typeface="Consolas"/>
              </a:rPr>
              <a:t>3.3.3.3           1   FULL/DR         00:00:35    4               GigabitEthernet0/1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ipv6 route ospf</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codebg"/>
          <p:cNvSpPr/>
          <p:nvPr/>
        </p:nvSpPr>
        <p:spPr>
          <a:xfrm>
            <a:off x="685800" y="1901952"/>
            <a:ext cx="10820095" cy="2133599"/>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1639824"/>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IPv6 Routing Table - default - 9 entries</a:t>
            </a:r>
          </a:p>
          <a:p>
            <a:pPr>
              <a:lnSpc>
                <a:spcPct val="100000"/>
              </a:lnSpc>
              <a:spcAft>
                <a:spcPts val="0"/>
              </a:spcAft>
            </a:pPr>
            <a:r>
              <a:rPr sz="1600">
                <a:solidFill>
                  <a:srgbClr val="E8EEF2"/>
                </a:solidFill>
                <a:latin typeface="Consolas"/>
              </a:rPr>
              <a:t>Codes: C - Connected, L - Local, S - Static, O - OSPF intra, OI - OSPF inter</a:t>
            </a:r>
          </a:p>
          <a:p>
            <a:pPr>
              <a:lnSpc>
                <a:spcPct val="100000"/>
              </a:lnSpc>
              <a:spcAft>
                <a:spcPts val="0"/>
              </a:spcAft>
            </a:pPr>
            <a:r>
              <a:rPr sz="1600">
                <a:solidFill>
                  <a:srgbClr val="E8EEF2"/>
                </a:solidFill>
                <a:latin typeface="Consolas"/>
              </a:rPr>
              <a:t>O   2001:DB8:ACAD:20::/64 [110/2]</a:t>
            </a:r>
          </a:p>
          <a:p>
            <a:pPr>
              <a:lnSpc>
                <a:spcPct val="100000"/>
              </a:lnSpc>
              <a:spcAft>
                <a:spcPts val="0"/>
              </a:spcAft>
            </a:pPr>
            <a:r>
              <a:rPr sz="1600">
                <a:solidFill>
                  <a:srgbClr val="E8EEF2"/>
                </a:solidFill>
                <a:latin typeface="Consolas"/>
              </a:rPr>
              <a:t>     via FE80::2, GigabitEthernet0/1</a:t>
            </a:r>
          </a:p>
          <a:p>
            <a:pPr>
              <a:lnSpc>
                <a:spcPct val="100000"/>
              </a:lnSpc>
              <a:spcAft>
                <a:spcPts val="0"/>
              </a:spcAft>
            </a:pPr>
            <a:r>
              <a:rPr sz="1600">
                <a:solidFill>
                  <a:srgbClr val="E8EEF2"/>
                </a:solidFill>
                <a:latin typeface="Consolas"/>
              </a:rPr>
              <a:t>O   2001:DB8:ACAD:30::/64 [110/3]</a:t>
            </a:r>
          </a:p>
          <a:p>
            <a:pPr>
              <a:lnSpc>
                <a:spcPct val="100000"/>
              </a:lnSpc>
              <a:spcAft>
                <a:spcPts val="0"/>
              </a:spcAft>
            </a:pPr>
            <a:r>
              <a:rPr sz="1600">
                <a:solidFill>
                  <a:srgbClr val="E8EEF2"/>
                </a:solidFill>
                <a:latin typeface="Consolas"/>
              </a:rPr>
              <a:t>     via FE80::3, GigabitEthernet0/1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900" b="1" i="0">
                <a:solidFill>
                  <a:srgbClr val="1A5276"/>
                </a:solidFill>
                <a:latin typeface="Segoe UI"/>
              </a:rPr>
              <a:t>The next hop is a link-local address, and that is correct</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Every OSPFv3 route resolves to a </a:t>
            </a:r>
            <a:r>
              <a:rPr sz="1900" b="0" i="0">
                <a:solidFill>
                  <a:srgbClr val="1A5276"/>
                </a:solidFill>
                <a:latin typeface="Consolas"/>
              </a:rPr>
              <a:t>fe80::</a:t>
            </a:r>
            <a:r>
              <a:rPr sz="2000" b="0" i="0">
                <a:solidFill>
                  <a:srgbClr val="1C252B"/>
                </a:solidFill>
                <a:latin typeface="Segoe UI"/>
              </a:rPr>
              <a:t> next hop plus an interface. This looks wrong to anyone used to IPv4 and is not: link-local addresses are guaranteed to exist on every IPv6 interface and cannot be renumbered, so they are the stable choice. This is also why the interface must always be named alongside them (Chapter 16).</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ipv6 ospf interface brief</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codebg"/>
          <p:cNvSpPr/>
          <p:nvPr/>
        </p:nvSpPr>
        <p:spPr>
          <a:xfrm>
            <a:off x="685800" y="1901952"/>
            <a:ext cx="10820095" cy="16296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1135888"/>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Interface    PID   Area            Intf ID    Cost  State Nbrs F/C</a:t>
            </a:r>
          </a:p>
          <a:p>
            <a:pPr>
              <a:lnSpc>
                <a:spcPct val="100000"/>
              </a:lnSpc>
              <a:spcAft>
                <a:spcPts val="0"/>
              </a:spcAft>
            </a:pPr>
            <a:r>
              <a:rPr sz="1600">
                <a:solidFill>
                  <a:srgbClr val="E8EEF2"/>
                </a:solidFill>
                <a:latin typeface="Consolas"/>
              </a:rPr>
              <a:t>Gi0/1        10    0               4          1     BDR   2/2</a:t>
            </a:r>
          </a:p>
          <a:p>
            <a:pPr>
              <a:lnSpc>
                <a:spcPct val="100000"/>
              </a:lnSpc>
              <a:spcAft>
                <a:spcPts val="0"/>
              </a:spcAft>
            </a:pPr>
            <a:r>
              <a:rPr sz="1600">
                <a:solidFill>
                  <a:srgbClr val="E8EEF2"/>
                </a:solidFill>
                <a:latin typeface="Consolas"/>
              </a:rPr>
              <a:t>Gi0/2        10    0               5          1     P2P   1/1</a:t>
            </a:r>
          </a:p>
          <a:p>
            <a:pPr>
              <a:lnSpc>
                <a:spcPct val="100000"/>
              </a:lnSpc>
              <a:spcAft>
                <a:spcPts val="0"/>
              </a:spcAft>
            </a:pPr>
            <a:r>
              <a:rPr sz="1600">
                <a:solidFill>
                  <a:srgbClr val="E8EEF2"/>
                </a:solidFill>
                <a:latin typeface="Consolas"/>
              </a:rPr>
              <a:t>Vl10         10    0               8          1     DR    0/0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Verifying</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No router ID on an IPv6-only router.</a:t>
            </a:r>
            <a:r>
              <a:rPr sz="2000" b="0" i="0">
                <a:solidFill>
                  <a:srgbClr val="1C252B"/>
                </a:solidFill>
                <a:latin typeface="Segoe UI"/>
              </a:rPr>
              <a:t> The process will not start. This is the single most common OSPFv3 fault.</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Looking for network statements.</a:t>
            </a:r>
            <a:r>
              <a:rPr sz="2000" b="0" i="0">
                <a:solidFill>
                  <a:srgbClr val="1C252B"/>
                </a:solidFill>
                <a:latin typeface="Segoe UI"/>
              </a:rPr>
              <a:t> There are none; enable the interface.</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Forgetting </a:t>
            </a:r>
            <a:r>
              <a:rPr sz="1900" b="1" i="0">
                <a:solidFill>
                  <a:srgbClr val="1A5276"/>
                </a:solidFill>
                <a:latin typeface="Consolas"/>
              </a:rPr>
              <a:t>ipv6 unicast-routing</a:t>
            </a:r>
            <a:r>
              <a:rPr sz="2000" b="1" i="0">
                <a:solidFill>
                  <a:srgbClr val="1C252B"/>
                </a:solidFill>
                <a:latin typeface="Segoe UI"/>
              </a:rPr>
              <a:t>.</a:t>
            </a:r>
            <a:r>
              <a:rPr sz="2000" b="0" i="0">
                <a:solidFill>
                  <a:srgbClr val="1C252B"/>
                </a:solidFill>
                <a:latin typeface="Segoe UI"/>
              </a:rPr>
              <a:t> As ever. Interfaces come up, OSPFv3 forms adjacencies, and nothing is forwarded.</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Expecting a global next hop in the routing table.</a:t>
            </a:r>
            <a:r>
              <a:rPr sz="2000" b="0" i="0">
                <a:solidFill>
                  <a:srgbClr val="1C252B"/>
                </a:solidFill>
                <a:latin typeface="Segoe UI"/>
              </a:rPr>
              <a:t> Link-local is correct.</a:t>
            </a:r>
          </a:p>
          <a:p>
            <a:pPr marL="228600" indent="-228600">
              <a:lnSpc>
                <a:spcPct val="102000"/>
              </a:lnSpc>
              <a:spcAft>
                <a:spcPts val="900"/>
              </a:spcAft>
            </a:pPr>
            <a:r>
              <a:rPr sz="2000" b="1">
                <a:solidFill>
                  <a:srgbClr val="6C3483"/>
                </a:solidFill>
                <a:latin typeface="Segoe UI"/>
              </a:rPr>
              <a:t>•  </a:t>
            </a:r>
            <a:r>
              <a:rPr sz="2000" b="1" i="0">
                <a:solidFill>
                  <a:srgbClr val="1C252B"/>
                </a:solidFill>
                <a:latin typeface="Segoe UI"/>
              </a:rPr>
              <a:t>Assuming OSPFv2 and OSPFv3 share anything at runtime.</a:t>
            </a:r>
            <a:r>
              <a:rPr sz="2000" b="0" i="0">
                <a:solidFill>
                  <a:srgbClr val="1C252B"/>
                </a:solidFill>
                <a:latin typeface="Segoe UI"/>
              </a:rPr>
              <a:t> They are separate processes with separate databases and separate neighbours. A working v2 adjacency tells you nothing about v3 on the same link.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OSPFv3 configured on both routers; no neighbours at all.</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800" b="0" i="0">
                <a:solidFill>
                  <a:srgbClr val="1A5276"/>
                </a:solidFill>
                <a:latin typeface="Consolas"/>
              </a:rPr>
              <a:t>R1</a:t>
            </a:r>
            <a:r>
              <a:rPr sz="1900" b="0" i="0">
                <a:solidFill>
                  <a:srgbClr val="1C252B"/>
                </a:solidFill>
                <a:latin typeface="Segoe UI"/>
              </a:rPr>
              <a:t> and </a:t>
            </a:r>
            <a:r>
              <a:rPr sz="1800" b="0" i="0">
                <a:solidFill>
                  <a:srgbClr val="1A5276"/>
                </a:solidFill>
                <a:latin typeface="Consolas"/>
              </a:rPr>
              <a:t>R2</a:t>
            </a:r>
            <a:r>
              <a:rPr sz="1900" b="0" i="0">
                <a:solidFill>
                  <a:srgbClr val="1C252B"/>
                </a:solidFill>
                <a:latin typeface="Segoe UI"/>
              </a:rPr>
              <a:t> both have IPv6 addresses on the link, ping each other’s link-local addresses successfully, and have identical-looking OSPFv3 configuration. </a:t>
            </a:r>
            <a:r>
              <a:rPr sz="1800" b="0" i="0">
                <a:solidFill>
                  <a:srgbClr val="1A5276"/>
                </a:solidFill>
                <a:latin typeface="Consolas"/>
              </a:rPr>
              <a:t>show ipv6 ospf neighbor</a:t>
            </a:r>
            <a:r>
              <a:rPr sz="1900" b="0" i="0">
                <a:solidFill>
                  <a:srgbClr val="1C252B"/>
                </a:solidFill>
                <a:latin typeface="Segoe UI"/>
              </a:rPr>
              <a:t> is empty on both.</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OSPFv3 configured on both routers; no neighbours at all.</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ipv6 ospf</a:t>
            </a:r>
          </a:p>
        </p:txBody>
      </p:sp>
      <p:sp>
        <p:nvSpPr>
          <p:cNvPr id="6" name="bfcodebg"/>
          <p:cNvSpPr/>
          <p:nvPr/>
        </p:nvSpPr>
        <p:spPr>
          <a:xfrm>
            <a:off x="685800" y="2011680"/>
            <a:ext cx="10820095" cy="100584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9" name="bfcode"/>
          <p:cNvSpPr txBox="1"/>
          <p:nvPr/>
        </p:nvSpPr>
        <p:spPr>
          <a:xfrm>
            <a:off x="886968" y="2432304"/>
            <a:ext cx="10417759" cy="530352"/>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%OSPFv3: Router process 10 is not running, please configure a router-id</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Neither router has any IPv4 address anywhere — this is an IPv6-only lab — so neither could derive a 32-bit router ID, and the process never started. The interface commands were accepted and are sitting in the configuration doing nothing, which is why the configuration looks right.</a:t>
            </a:r>
          </a:p>
          <a:p>
            <a:pPr algn="l">
              <a:lnSpc>
                <a:spcPct val="100000"/>
              </a:lnSpc>
              <a:spcAft>
                <a:spcPts val="1000"/>
              </a:spcAft>
            </a:pPr>
            <a:r>
              <a:rPr sz="1900" b="0" i="0">
                <a:solidFill>
                  <a:srgbClr val="1C252B"/>
                </a:solidFill>
                <a:latin typeface="Segoe UI"/>
              </a:rPr>
              <a:t>The tell is that </a:t>
            </a:r>
            <a:r>
              <a:rPr sz="1900" b="0" i="1">
                <a:solidFill>
                  <a:srgbClr val="1C252B"/>
                </a:solidFill>
                <a:latin typeface="Segoe UI"/>
              </a:rPr>
              <a:t>both</a:t>
            </a:r>
            <a:r>
              <a:rPr sz="1900" b="0" i="0">
                <a:solidFill>
                  <a:srgbClr val="1C252B"/>
                </a:solidFill>
                <a:latin typeface="Segoe UI"/>
              </a:rPr>
              <a:t> ends are empty. A mismatch of area, timers or MTU usually leaves at least one side reporting something.</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Starting the process</a:t>
            </a:r>
          </a:p>
        </p:txBody>
      </p:sp>
      <p:sp>
        <p:nvSpPr>
          <p:cNvPr id="6" name="bfcodebg"/>
          <p:cNvSpPr/>
          <p:nvPr/>
        </p:nvSpPr>
        <p:spPr>
          <a:xfrm>
            <a:off x="685800" y="2011680"/>
            <a:ext cx="10820095" cy="107594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9" name="bfcode"/>
          <p:cNvSpPr txBox="1"/>
          <p:nvPr/>
        </p:nvSpPr>
        <p:spPr>
          <a:xfrm>
            <a:off x="886968" y="2432304"/>
            <a:ext cx="10417759" cy="60045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ipv6 router ospf 10</a:t>
            </a:r>
          </a:p>
          <a:p>
            <a:pPr>
              <a:lnSpc>
                <a:spcPct val="100000"/>
              </a:lnSpc>
              <a:spcAft>
                <a:spcPts val="0"/>
              </a:spcAft>
            </a:pPr>
            <a:r>
              <a:rPr sz="1500">
                <a:solidFill>
                  <a:srgbClr val="E8EEF2"/>
                </a:solidFill>
                <a:latin typeface="Consolas"/>
              </a:rPr>
              <a:t> router-id 1.1.1.1</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18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Configure a router ID on each router explicitly:</a:t>
            </a:r>
          </a:p>
          <a:p>
            <a:pPr algn="l">
              <a:lnSpc>
                <a:spcPct val="100000"/>
              </a:lnSpc>
              <a:spcAft>
                <a:spcPts val="1000"/>
              </a:spcAft>
            </a:pPr>
            <a:r>
              <a:rPr sz="1900" b="0" i="0">
                <a:solidFill>
                  <a:srgbClr val="1C252B"/>
                </a:solidFill>
                <a:latin typeface="Segoe UI"/>
              </a:rPr>
              <a:t>The process starts immediately and adjacencies form within a hello interval. Configure a distinct ID on </a:t>
            </a:r>
            <a:r>
              <a:rPr sz="1800" b="0" i="0">
                <a:solidFill>
                  <a:srgbClr val="1A5276"/>
                </a:solidFill>
                <a:latin typeface="Consolas"/>
              </a:rPr>
              <a:t>R2</a:t>
            </a:r>
            <a:r>
              <a:rPr sz="1900" b="0" i="0">
                <a:solidFill>
                  <a:srgbClr val="1C252B"/>
                </a:solidFill>
                <a:latin typeface="Segoe UI"/>
              </a:rPr>
              <a:t> — duplicate router IDs are the next fault along, and they produce a flapping adjacency rather than none.</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Dual-stack routing, both protocols side by side</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Topology.</a:t>
            </a:r>
            <a:r>
              <a:rPr sz="2000" b="0" i="0">
                <a:solidFill>
                  <a:srgbClr val="1C252B"/>
                </a:solidFill>
                <a:latin typeface="Segoe UI"/>
              </a:rPr>
              <a:t> The three-router topology from Chapter 17, now addressed for IPv4 and IPv6 simultaneously.</a:t>
            </a:r>
          </a:p>
        </p:txBody>
      </p:sp>
      <p:sp>
        <p:nvSpPr>
          <p:cNvPr id="8" name="bullets"/>
          <p:cNvSpPr txBox="1"/>
          <p:nvPr/>
        </p:nvSpPr>
        <p:spPr>
          <a:xfrm>
            <a:off x="685800" y="2361184"/>
            <a:ext cx="10820095" cy="4021328"/>
          </a:xfrm>
          <a:prstGeom prst="rect">
            <a:avLst/>
          </a:prstGeom>
          <a:noFill/>
        </p:spPr>
        <p:txBody>
          <a:bodyPr wrap="square" lIns="0" rIns="0" tIns="0" bIns="0">
            <a:spAutoFit/>
          </a:bodyPr>
          <a:lstStyle/>
          <a:p>
            <a:pPr marL="386080" indent="-386080">
              <a:lnSpc>
                <a:spcPct val="102000"/>
              </a:lnSpc>
              <a:spcAft>
                <a:spcPts val="900"/>
              </a:spcAft>
            </a:pPr>
            <a:r>
              <a:rPr sz="2000" b="1">
                <a:solidFill>
                  <a:srgbClr val="6C3483"/>
                </a:solidFill>
                <a:latin typeface="Segoe UI"/>
              </a:rPr>
              <a:t>1.  </a:t>
            </a:r>
            <a:r>
              <a:rPr sz="2000" b="0" i="0">
                <a:solidFill>
                  <a:srgbClr val="1C252B"/>
                </a:solidFill>
                <a:latin typeface="Segoe UI"/>
              </a:rPr>
              <a:t>Keep the working OSPFv2 configuration. Add IPv6 addresses to every link and LAN, and </a:t>
            </a:r>
            <a:r>
              <a:rPr sz="1900" b="0" i="0">
                <a:solidFill>
                  <a:srgbClr val="1A5276"/>
                </a:solidFill>
                <a:latin typeface="Consolas"/>
              </a:rPr>
              <a:t>ipv6 unicast-routing</a:t>
            </a:r>
            <a:r>
              <a:rPr sz="2000" b="0" i="0">
                <a:solidFill>
                  <a:srgbClr val="1C252B"/>
                </a:solidFill>
                <a:latin typeface="Segoe UI"/>
              </a:rPr>
              <a:t> everywhere.</a:t>
            </a:r>
          </a:p>
          <a:p>
            <a:pPr marL="386080" indent="-386080">
              <a:lnSpc>
                <a:spcPct val="102000"/>
              </a:lnSpc>
              <a:spcAft>
                <a:spcPts val="900"/>
              </a:spcAft>
            </a:pPr>
            <a:r>
              <a:rPr sz="2000" b="1">
                <a:solidFill>
                  <a:srgbClr val="6C3483"/>
                </a:solidFill>
                <a:latin typeface="Segoe UI"/>
              </a:rPr>
              <a:t>2.  </a:t>
            </a:r>
            <a:r>
              <a:rPr sz="2000" b="0" i="0">
                <a:solidFill>
                  <a:srgbClr val="1C252B"/>
                </a:solidFill>
                <a:latin typeface="Segoe UI"/>
              </a:rPr>
              <a:t>Configure OSPFv3 with explicit router IDs matching the v2 ones. Enable it per interface, LANs passive.</a:t>
            </a:r>
          </a:p>
          <a:p>
            <a:pPr marL="386080" indent="-386080">
              <a:lnSpc>
                <a:spcPct val="102000"/>
              </a:lnSpc>
              <a:spcAft>
                <a:spcPts val="900"/>
              </a:spcAft>
            </a:pPr>
            <a:r>
              <a:rPr sz="2000" b="1">
                <a:solidFill>
                  <a:srgbClr val="6C3483"/>
                </a:solidFill>
                <a:latin typeface="Segoe UI"/>
              </a:rPr>
              <a:t>3.  </a:t>
            </a:r>
            <a:r>
              <a:rPr sz="2000" b="0" i="0">
                <a:solidFill>
                  <a:srgbClr val="1C252B"/>
                </a:solidFill>
                <a:latin typeface="Segoe UI"/>
              </a:rPr>
              <a:t>Confirm </a:t>
            </a:r>
            <a:r>
              <a:rPr sz="1900" b="0" i="0">
                <a:solidFill>
                  <a:srgbClr val="1A5276"/>
                </a:solidFill>
                <a:latin typeface="Consolas"/>
              </a:rPr>
              <a:t>show ipv6 ospf neighbor</a:t>
            </a:r>
            <a:r>
              <a:rPr sz="2000" b="0" i="0">
                <a:solidFill>
                  <a:srgbClr val="1C252B"/>
                </a:solidFill>
                <a:latin typeface="Segoe UI"/>
              </a:rPr>
              <a:t> reaches FULL on every link, and that the DR and BDR are the same routers as for OSPFv2. Explain why they need not have been.</a:t>
            </a:r>
          </a:p>
          <a:p>
            <a:pPr marL="386080" indent="-386080">
              <a:lnSpc>
                <a:spcPct val="102000"/>
              </a:lnSpc>
              <a:spcAft>
                <a:spcPts val="900"/>
              </a:spcAft>
            </a:pPr>
            <a:r>
              <a:rPr sz="2000" b="1">
                <a:solidFill>
                  <a:srgbClr val="6C3483"/>
                </a:solidFill>
                <a:latin typeface="Segoe UI"/>
              </a:rPr>
              <a:t>4.  </a:t>
            </a:r>
            <a:r>
              <a:rPr sz="2000" b="0" i="0">
                <a:solidFill>
                  <a:srgbClr val="1C252B"/>
                </a:solidFill>
                <a:latin typeface="Segoe UI"/>
              </a:rPr>
              <a:t>Compare </a:t>
            </a:r>
            <a:r>
              <a:rPr sz="1900" b="0" i="0">
                <a:solidFill>
                  <a:srgbClr val="1A5276"/>
                </a:solidFill>
                <a:latin typeface="Consolas"/>
              </a:rPr>
              <a:t>show ip route ospf</a:t>
            </a:r>
            <a:r>
              <a:rPr sz="2000" b="0" i="0">
                <a:solidFill>
                  <a:srgbClr val="1C252B"/>
                </a:solidFill>
                <a:latin typeface="Segoe UI"/>
              </a:rPr>
              <a:t> with </a:t>
            </a:r>
            <a:r>
              <a:rPr sz="1900" b="0" i="0">
                <a:solidFill>
                  <a:srgbClr val="1A5276"/>
                </a:solidFill>
                <a:latin typeface="Consolas"/>
              </a:rPr>
              <a:t>show ipv6 route ospf</a:t>
            </a:r>
            <a:r>
              <a:rPr sz="2000" b="0" i="0">
                <a:solidFill>
                  <a:srgbClr val="1C252B"/>
                </a:solidFill>
                <a:latin typeface="Segoe UI"/>
              </a:rPr>
              <a:t>. Note that v4 next hops are global and v6 next hops are link-local.</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800" b="1" i="0">
                <a:solidFill>
                  <a:srgbClr val="1A5276"/>
                </a:solidFill>
                <a:latin typeface="Segoe UI"/>
              </a:rPr>
              <a:t>Dual-stack routing, both protocols side by side (continued)</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6C3483"/>
                </a:solidFill>
                <a:latin typeface="Segoe UI"/>
              </a:rPr>
              <a:t>5.  </a:t>
            </a:r>
            <a:r>
              <a:rPr sz="2000" b="0" i="0">
                <a:solidFill>
                  <a:srgbClr val="1C252B"/>
                </a:solidFill>
                <a:latin typeface="Segoe UI"/>
              </a:rPr>
              <a:t>Remove the router ID from one router and clear the process. Reproduce the “process not running” fault, then fix it.</a:t>
            </a:r>
          </a:p>
          <a:p>
            <a:pPr marL="386080" indent="-386080">
              <a:lnSpc>
                <a:spcPct val="102000"/>
              </a:lnSpc>
              <a:spcAft>
                <a:spcPts val="900"/>
              </a:spcAft>
            </a:pPr>
            <a:r>
              <a:rPr sz="2000" b="1">
                <a:solidFill>
                  <a:srgbClr val="6C3483"/>
                </a:solidFill>
                <a:latin typeface="Segoe UI"/>
              </a:rPr>
              <a:t>6.  </a:t>
            </a:r>
            <a:r>
              <a:rPr sz="2000" b="0" i="0">
                <a:solidFill>
                  <a:srgbClr val="1C252B"/>
                </a:solidFill>
                <a:latin typeface="Segoe UI"/>
              </a:rPr>
              <a:t>Set one link to </a:t>
            </a:r>
            <a:r>
              <a:rPr sz="1900" b="0" i="0">
                <a:solidFill>
                  <a:srgbClr val="1A5276"/>
                </a:solidFill>
                <a:latin typeface="Consolas"/>
              </a:rPr>
              <a:t>ipv6 ospf network point-to-point</a:t>
            </a:r>
            <a:r>
              <a:rPr sz="2000" b="0" i="0">
                <a:solidFill>
                  <a:srgbClr val="1C252B"/>
                </a:solidFill>
                <a:latin typeface="Segoe UI"/>
              </a:rPr>
              <a:t> at one end only and observe the result.</a:t>
            </a:r>
          </a:p>
          <a:p>
            <a:pPr marL="386080" indent="-386080">
              <a:lnSpc>
                <a:spcPct val="102000"/>
              </a:lnSpc>
              <a:spcAft>
                <a:spcPts val="900"/>
              </a:spcAft>
            </a:pPr>
            <a:r>
              <a:rPr sz="2000" b="1">
                <a:solidFill>
                  <a:srgbClr val="6C3483"/>
                </a:solidFill>
                <a:latin typeface="Segoe UI"/>
              </a:rPr>
              <a:t>7.  </a:t>
            </a:r>
            <a:r>
              <a:rPr sz="2000" b="1" i="0">
                <a:solidFill>
                  <a:srgbClr val="1C252B"/>
                </a:solidFill>
                <a:latin typeface="Segoe UI"/>
              </a:rPr>
              <a:t>Extension.</a:t>
            </a:r>
            <a:r>
              <a:rPr sz="2000" b="0" i="0">
                <a:solidFill>
                  <a:srgbClr val="1C252B"/>
                </a:solidFill>
                <a:latin typeface="Segoe UI"/>
              </a:rPr>
              <a:t> Shut a link and time how long each protocol takes to reconverge. They should be comparable — the algorithm is the same.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does an IPv6-only router still need a router ID in IPv4 format, and what happens if it cannot get one?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3</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does an IPv6-only router still need a router ID in IPv4 format, and what happens if it cannot get one?</a:t>
            </a:r>
          </a:p>
        </p:txBody>
      </p:sp>
      <p:sp>
        <p:nvSpPr>
          <p:cNvPr id="8" name="abar"/>
          <p:cNvSpPr/>
          <p:nvPr/>
        </p:nvSpPr>
        <p:spPr>
          <a:xfrm>
            <a:off x="685800" y="251104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the router ID is a 32-bit value written in IPv4 format regardless of the address family, and it is normally derived from an IPv4 address on the device. With no IPv4 anywhere, none can be derived, and the process will not start at all — the interface commands are accepted and do nothing.</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OSPFv2 works on a link and OSPFv3 does not. What does the working v2 adjacency prove about the v3 problem?</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3</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OSPFv2 works on a link and OSPFv3 does not. What does the working v2 adjacency prove about the v3 problem?</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Nothing. They are separate processes with separate databases, neighbours and adjacencies. A working v2 adjacency proves the link and layer 2 are fine, which is useful, but says nothing about v3’s configuration.</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3</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Where is OSPFv3 enabled, and what is advertised as a result?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3</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Where is OSPFv3 enabled, and what is advertised as a result?</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Per interface, with </a:t>
            </a:r>
            <a:r>
              <a:rPr sz="1800" b="0" i="0">
                <a:solidFill>
                  <a:srgbClr val="1A5276"/>
                </a:solidFill>
                <a:latin typeface="Consolas"/>
              </a:rPr>
              <a:t>ipv6 ospf &lt;pid&gt; area &lt;n&gt;</a:t>
            </a:r>
            <a:r>
              <a:rPr sz="1900" b="0" i="0">
                <a:solidFill>
                  <a:srgbClr val="1C252B"/>
                </a:solidFill>
                <a:latin typeface="Segoe UI"/>
              </a:rPr>
              <a:t>. </a:t>
            </a:r>
            <a:r>
              <a:rPr sz="1900" b="0" i="1">
                <a:solidFill>
                  <a:srgbClr val="1C252B"/>
                </a:solidFill>
                <a:latin typeface="Segoe UI"/>
              </a:rPr>
              <a:t>Every</a:t>
            </a:r>
            <a:r>
              <a:rPr sz="1900" b="0" i="0">
                <a:solidFill>
                  <a:srgbClr val="1C252B"/>
                </a:solidFill>
                <a:latin typeface="Segoe UI"/>
              </a:rPr>
              <a:t> IPv6 prefix on that interface is advertised — there are no network statements and no wildcard masks, which is why </a:t>
            </a:r>
            <a:r>
              <a:rPr sz="1800" b="0" i="0">
                <a:solidFill>
                  <a:srgbClr val="1A5276"/>
                </a:solidFill>
                <a:latin typeface="Consolas"/>
              </a:rPr>
              <a:t>passive-interface</a:t>
            </a:r>
            <a:r>
              <a:rPr sz="1900" b="0" i="0">
                <a:solidFill>
                  <a:srgbClr val="1C252B"/>
                </a:solidFill>
                <a:latin typeface="Segoe UI"/>
              </a:rPr>
              <a:t> matters more in OSPFv3 than in OSPFv2.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18. OSPFv3 for IPv6</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3.3</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OSPFv3 is OSPF. The database, the algorithm, the states, the DR election and the troubleshooting are unchanged.</a:t>
            </a:r>
          </a:p>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It is enabled per interface with </a:t>
            </a:r>
            <a:r>
              <a:rPr sz="1900" b="0" i="0">
                <a:solidFill>
                  <a:srgbClr val="1A5276"/>
                </a:solidFill>
                <a:latin typeface="Consolas"/>
              </a:rPr>
              <a:t>ipv6 ospf &lt;pid&gt; area &lt;n&gt;</a:t>
            </a:r>
            <a:r>
              <a:rPr sz="2000" b="0" i="0">
                <a:solidFill>
                  <a:srgbClr val="1C252B"/>
                </a:solidFill>
                <a:latin typeface="Segoe UI"/>
              </a:rPr>
              <a:t>, and every prefix on that interface is advertised. No network statements, no wildcards.</a:t>
            </a:r>
          </a:p>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Neighbours are reached by link-local address, so routes show a </a:t>
            </a:r>
            <a:r>
              <a:rPr sz="1900" b="0" i="0">
                <a:solidFill>
                  <a:srgbClr val="1A5276"/>
                </a:solidFill>
                <a:latin typeface="Consolas"/>
              </a:rPr>
              <a:t>fe80::</a:t>
            </a:r>
            <a:r>
              <a:rPr sz="2000" b="0" i="0">
                <a:solidFill>
                  <a:srgbClr val="1C252B"/>
                </a:solidFill>
                <a:latin typeface="Segoe UI"/>
              </a:rPr>
              <a:t> next hop plus an interface. That is correct.</a:t>
            </a:r>
          </a:p>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The router ID is still 32-bit IPv4 format and </a:t>
            </a:r>
            <a:r>
              <a:rPr sz="2000" b="1" i="0">
                <a:solidFill>
                  <a:srgbClr val="1C252B"/>
                </a:solidFill>
                <a:latin typeface="Segoe UI"/>
              </a:rPr>
              <a:t>must</a:t>
            </a:r>
            <a:r>
              <a:rPr sz="2000" b="0" i="0">
                <a:solidFill>
                  <a:srgbClr val="1C252B"/>
                </a:solidFill>
                <a:latin typeface="Segoe UI"/>
              </a:rPr>
              <a:t> be configured on an IPv6-only router, or the process will not start.</a:t>
            </a:r>
          </a:p>
          <a:p>
            <a:pPr marL="228600" indent="-228600">
              <a:lnSpc>
                <a:spcPct val="102000"/>
              </a:lnSpc>
              <a:spcAft>
                <a:spcPts val="900"/>
              </a:spcAft>
            </a:pPr>
            <a:r>
              <a:rPr sz="2000" b="1">
                <a:solidFill>
                  <a:srgbClr val="6C3483"/>
                </a:solidFill>
                <a:latin typeface="Segoe UI"/>
              </a:rPr>
              <a:t>•  </a:t>
            </a:r>
            <a:r>
              <a:rPr sz="2000" b="0" i="0">
                <a:solidFill>
                  <a:srgbClr val="1C252B"/>
                </a:solidFill>
                <a:latin typeface="Segoe UI"/>
              </a:rPr>
              <a:t>v2 and v3 are independent processes. One working says nothing about the other.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6C3483"/>
        </a:solidFill>
        <a:effectLst/>
      </p:bgPr>
    </p:bg>
    <p:spTree>
      <p:nvGrpSpPr>
        <p:cNvPr id="1" name=""/>
        <p:cNvGrpSpPr/>
        <p:nvPr/>
      </p:nvGrpSpPr>
      <p:grpSpPr/>
      <p:sp>
        <p:nvSpPr>
          <p:cNvPr id="2" name="bg"/>
          <p:cNvSpPr/>
          <p:nvPr/>
        </p:nvSpPr>
        <p:spPr>
          <a:xfrm>
            <a:off x="0" y="0"/>
            <a:ext cx="12191695" cy="68580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OSPFv3 is OSPF. The database, the algorithm, the states, the DR election and the troubleshooting are unchanged.</a:t>
            </a:r>
          </a:p>
          <a:p>
            <a:pPr marL="217169" indent="-217169">
              <a:spcAft>
                <a:spcPts val="900"/>
              </a:spcAft>
            </a:pPr>
            <a:r>
              <a:rPr sz="1900">
                <a:solidFill>
                  <a:srgbClr val="C8D6E5"/>
                </a:solidFill>
              </a:rPr>
              <a:t>•  </a:t>
            </a:r>
            <a:r>
              <a:rPr sz="1900" b="0" i="0">
                <a:solidFill>
                  <a:srgbClr val="FFFFFF"/>
                </a:solidFill>
                <a:latin typeface="Segoe UI"/>
              </a:rPr>
              <a:t>It is enabled per interface with </a:t>
            </a:r>
            <a:r>
              <a:rPr sz="1800" b="0" i="0">
                <a:solidFill>
                  <a:srgbClr val="FFFFFF"/>
                </a:solidFill>
                <a:latin typeface="Consolas"/>
              </a:rPr>
              <a:t>ipv6 ospf &lt;pid&gt; area &lt;n&gt;</a:t>
            </a:r>
            <a:r>
              <a:rPr sz="1900" b="0" i="0">
                <a:solidFill>
                  <a:srgbClr val="FFFFFF"/>
                </a:solidFill>
                <a:latin typeface="Segoe UI"/>
              </a:rPr>
              <a:t>, and every prefix on that interface is advertised. No network statements, no wildcards.</a:t>
            </a:r>
          </a:p>
          <a:p>
            <a:pPr marL="217169" indent="-217169">
              <a:spcAft>
                <a:spcPts val="900"/>
              </a:spcAft>
            </a:pPr>
            <a:r>
              <a:rPr sz="1900">
                <a:solidFill>
                  <a:srgbClr val="C8D6E5"/>
                </a:solidFill>
              </a:rPr>
              <a:t>•  </a:t>
            </a:r>
            <a:r>
              <a:rPr sz="1900" b="0" i="0">
                <a:solidFill>
                  <a:srgbClr val="FFFFFF"/>
                </a:solidFill>
                <a:latin typeface="Segoe UI"/>
              </a:rPr>
              <a:t>Neighbours are reached by link-local address, so routes show a </a:t>
            </a:r>
            <a:r>
              <a:rPr sz="1800" b="0" i="0">
                <a:solidFill>
                  <a:srgbClr val="FFFFFF"/>
                </a:solidFill>
                <a:latin typeface="Consolas"/>
              </a:rPr>
              <a:t>fe80::</a:t>
            </a:r>
            <a:r>
              <a:rPr sz="1900" b="0" i="0">
                <a:solidFill>
                  <a:srgbClr val="FFFFFF"/>
                </a:solidFill>
                <a:latin typeface="Segoe UI"/>
              </a:rPr>
              <a:t> next hop plus an interface. That is correct.</a:t>
            </a:r>
          </a:p>
          <a:p>
            <a:pPr marL="217169" indent="-217169">
              <a:spcAft>
                <a:spcPts val="900"/>
              </a:spcAft>
            </a:pPr>
            <a:r>
              <a:rPr sz="1900">
                <a:solidFill>
                  <a:srgbClr val="C8D6E5"/>
                </a:solidFill>
              </a:rPr>
              <a:t>•  </a:t>
            </a:r>
            <a:r>
              <a:rPr sz="1900" b="0" i="0">
                <a:solidFill>
                  <a:srgbClr val="FFFFFF"/>
                </a:solidFill>
                <a:latin typeface="Segoe UI"/>
              </a:rPr>
              <a:t>The router ID is still 32-bit IPv4 format and </a:t>
            </a:r>
            <a:r>
              <a:rPr sz="1900" b="1" i="0">
                <a:solidFill>
                  <a:srgbClr val="FFFFFF"/>
                </a:solidFill>
                <a:latin typeface="Segoe UI"/>
              </a:rPr>
              <a:t>must</a:t>
            </a:r>
            <a:r>
              <a:rPr sz="1900" b="0" i="0">
                <a:solidFill>
                  <a:srgbClr val="FFFFFF"/>
                </a:solidFill>
                <a:latin typeface="Segoe UI"/>
              </a:rPr>
              <a:t> be configured on an IPv6-only router, or the process will not start.</a:t>
            </a:r>
          </a:p>
        </p:txBody>
      </p:sp>
      <p:sp>
        <p:nvSpPr>
          <p:cNvPr id="5" name="nextbg"/>
          <p:cNvSpPr/>
          <p:nvPr/>
        </p:nvSpPr>
        <p:spPr>
          <a:xfrm>
            <a:off x="685800" y="5303520"/>
            <a:ext cx="10820095" cy="822960"/>
          </a:xfrm>
          <a:prstGeom prst="rect">
            <a:avLst/>
          </a:prstGeom>
          <a:solidFill>
            <a:srgbClr val="561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19 — First Hop Redundancy: HSRP and VRRP</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