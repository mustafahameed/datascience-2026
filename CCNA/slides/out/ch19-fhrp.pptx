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19: First Hop Redundancy: HSRP and VRRP. Blueprint topics: 3.4.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seconds. Students meeting a chapter in week ten cannot place it without being shown.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Hop Redundancy: HSRP and VRRP 3.4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host is configured with one default gateway address. If the router holding that address fails, every host on the subnet is cut off — and no routing protocol helps, because the hosts are not running one. They have a single static address and no way to learn a new one quickly.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column by column. Pri is this router’s priority. P means preemption is configured — its absence is the fault described above. State is the role. Active and Standby name who holds each role, where local means this router. Note that VLAN 10 and VLAN 20 have opposite roles here. That is deliberate load sharing: half the VLANs are active on each core switch, so both boxes carry traffic instead of one sitting idle.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lines to check first: Priority 150 (configured 150) — if the two numbers differ, a tracked interface is down and has decremented it — and Preemption enabled.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6C3483"/>
        </a:solidFill>
        <a:effectLst/>
      </p:bgPr>
    </p:bg>
    <p:spTree>
      <p:nvGrpSpPr>
        <p:cNvPr id="1" name=""/>
        <p:cNvGrpSpPr/>
        <p:nvPr/>
      </p:nvGrpSpPr>
      <p:grpSpPr/>
      <p:sp>
        <p:nvSpPr>
          <p:cNvPr id="2" name="bg"/>
          <p:cNvSpPr/>
          <p:nvPr/>
        </p:nvSpPr>
        <p:spPr>
          <a:xfrm>
            <a:off x="0" y="0"/>
            <a:ext cx="12191695" cy="68580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561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19</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4000" b="1" i="0">
                <a:solidFill>
                  <a:srgbClr val="FFFFFF"/>
                </a:solidFill>
                <a:latin typeface="Segoe UI"/>
              </a:rPr>
              <a:t>First Hop Redundancy: HSRP and VRRP</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III — IP Routing</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3.4"/>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3.4"/>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6C3483"/>
                </a:solidFill>
                <a:latin typeface="Segoe UI"/>
              </a:rPr>
              <a:t>3.4</a:t>
            </a:r>
          </a:p>
        </p:txBody>
      </p:sp>
      <p:sp>
        <p:nvSpPr>
          <p:cNvPr id="11"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2"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pic>
        <p:nvPicPr>
          <p:cNvPr id="13" name="logo-iub-logo-white" descr="iub-logo-white.png"/>
          <p:cNvPicPr>
            <a:picLocks noChangeAspect="1"/>
          </p:cNvPicPr>
          <p:nvPr/>
        </p:nvPicPr>
        <p:blipFill>
          <a:blip r:embed="rId2"/>
          <a:stretch>
            <a:fillRect/>
          </a:stretch>
        </p:blipFill>
        <p:spPr>
          <a:xfrm>
            <a:off x="9131978" y="4443984"/>
            <a:ext cx="1070141" cy="1060704"/>
          </a:xfrm>
          <a:prstGeom prst="rect">
            <a:avLst/>
          </a:prstGeom>
        </p:spPr>
      </p:pic>
      <p:pic>
        <p:nvPicPr>
          <p:cNvPr id="14" name="logo-dit-logo" descr="dit-logo.png"/>
          <p:cNvPicPr>
            <a:picLocks noChangeAspect="1"/>
          </p:cNvPicPr>
          <p:nvPr/>
        </p:nvPicPr>
        <p:blipFill>
          <a:blip r:embed="rId3"/>
          <a:stretch>
            <a:fillRect/>
          </a:stretch>
        </p:blipFill>
        <p:spPr>
          <a:xfrm>
            <a:off x="10476439" y="4443984"/>
            <a:ext cx="1029456" cy="1060704"/>
          </a:xfrm>
          <a:prstGeom prst="rect">
            <a:avLst/>
          </a:prstGeom>
        </p:spPr>
      </p:pic>
      <p:sp>
        <p:nvSpPr>
          <p:cNvPr id="15" name="lockup1"/>
          <p:cNvSpPr txBox="1"/>
          <p:nvPr/>
        </p:nvSpPr>
        <p:spPr>
          <a:xfrm>
            <a:off x="7116775" y="5632704"/>
            <a:ext cx="4389120" cy="274320"/>
          </a:xfrm>
          <a:prstGeom prst="rect">
            <a:avLst/>
          </a:prstGeom>
          <a:noFill/>
        </p:spPr>
        <p:txBody>
          <a:bodyPr wrap="square" anchor="t" lIns="0" rIns="0" tIns="0" bIns="0">
            <a:spAutoFit/>
          </a:bodyPr>
          <a:lstStyle/>
          <a:p>
            <a:pPr algn="r">
              <a:lnSpc>
                <a:spcPct val="100000"/>
              </a:lnSpc>
              <a:spcAft>
                <a:spcPts val="600"/>
              </a:spcAft>
            </a:pPr>
            <a:r>
              <a:rPr sz="1200" b="1" i="0">
                <a:solidFill>
                  <a:srgbClr val="FFFFFF"/>
                </a:solidFill>
                <a:latin typeface="Segoe UI"/>
              </a:rPr>
              <a:t>THE ISLAMIA UNIVERSITY OF BAHAWALPUR</a:t>
            </a:r>
          </a:p>
        </p:txBody>
      </p:sp>
      <p:sp>
        <p:nvSpPr>
          <p:cNvPr id="16" name="lockup2"/>
          <p:cNvSpPr txBox="1"/>
          <p:nvPr/>
        </p:nvSpPr>
        <p:spPr>
          <a:xfrm>
            <a:off x="7116775" y="5870448"/>
            <a:ext cx="4389120" cy="256032"/>
          </a:xfrm>
          <a:prstGeom prst="rect">
            <a:avLst/>
          </a:prstGeom>
          <a:noFill/>
        </p:spPr>
        <p:txBody>
          <a:bodyPr wrap="square" anchor="t" lIns="0" rIns="0" tIns="0" bIns="0">
            <a:spAutoFit/>
          </a:bodyPr>
          <a:lstStyle/>
          <a:p>
            <a:pPr algn="r">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THE COURSE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Where this chapter sits</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
        <p:nvSpPr>
          <p:cNvPr id="7" name="part1bg"/>
          <p:cNvSpPr/>
          <p:nvPr/>
        </p:nvSpPr>
        <p:spPr>
          <a:xfrm>
            <a:off x="685800" y="1792224"/>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t1rule"/>
          <p:cNvSpPr/>
          <p:nvPr/>
        </p:nvSpPr>
        <p:spPr>
          <a:xfrm>
            <a:off x="685800" y="1792224"/>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part1n"/>
          <p:cNvSpPr txBox="1"/>
          <p:nvPr/>
        </p:nvSpPr>
        <p:spPr>
          <a:xfrm>
            <a:off x="941832" y="1938528"/>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a:t>
            </a:r>
          </a:p>
        </p:txBody>
      </p:sp>
      <p:sp>
        <p:nvSpPr>
          <p:cNvPr id="10" name="part1t"/>
          <p:cNvSpPr txBox="1"/>
          <p:nvPr/>
        </p:nvSpPr>
        <p:spPr>
          <a:xfrm>
            <a:off x="2194560" y="1938528"/>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Foundations</a:t>
            </a:r>
          </a:p>
        </p:txBody>
      </p:sp>
      <p:sp>
        <p:nvSpPr>
          <p:cNvPr id="11" name="part1c"/>
          <p:cNvSpPr txBox="1"/>
          <p:nvPr/>
        </p:nvSpPr>
        <p:spPr>
          <a:xfrm>
            <a:off x="9951415" y="1938528"/>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1–7</a:t>
            </a:r>
          </a:p>
        </p:txBody>
      </p:sp>
      <p:sp>
        <p:nvSpPr>
          <p:cNvPr id="12" name="part2bg"/>
          <p:cNvSpPr/>
          <p:nvPr/>
        </p:nvSpPr>
        <p:spPr>
          <a:xfrm>
            <a:off x="685800" y="2450591"/>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art2rule"/>
          <p:cNvSpPr/>
          <p:nvPr/>
        </p:nvSpPr>
        <p:spPr>
          <a:xfrm>
            <a:off x="685800" y="2450591"/>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art2n"/>
          <p:cNvSpPr txBox="1"/>
          <p:nvPr/>
        </p:nvSpPr>
        <p:spPr>
          <a:xfrm>
            <a:off x="941832" y="2596896"/>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a:t>
            </a:r>
          </a:p>
        </p:txBody>
      </p:sp>
      <p:sp>
        <p:nvSpPr>
          <p:cNvPr id="15" name="part2t"/>
          <p:cNvSpPr txBox="1"/>
          <p:nvPr/>
        </p:nvSpPr>
        <p:spPr>
          <a:xfrm>
            <a:off x="2194560" y="2596896"/>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Switching and Network Access</a:t>
            </a:r>
          </a:p>
        </p:txBody>
      </p:sp>
      <p:sp>
        <p:nvSpPr>
          <p:cNvPr id="16" name="part2c"/>
          <p:cNvSpPr txBox="1"/>
          <p:nvPr/>
        </p:nvSpPr>
        <p:spPr>
          <a:xfrm>
            <a:off x="9951415" y="2596896"/>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8–14</a:t>
            </a:r>
          </a:p>
        </p:txBody>
      </p:sp>
      <p:sp>
        <p:nvSpPr>
          <p:cNvPr id="17" name="part3bg"/>
          <p:cNvSpPr/>
          <p:nvPr/>
        </p:nvSpPr>
        <p:spPr>
          <a:xfrm>
            <a:off x="685800" y="3108959"/>
            <a:ext cx="10820095" cy="56692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t3rule"/>
          <p:cNvSpPr/>
          <p:nvPr/>
        </p:nvSpPr>
        <p:spPr>
          <a:xfrm>
            <a:off x="685800" y="3108959"/>
            <a:ext cx="64008" cy="5669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t3n"/>
          <p:cNvSpPr txBox="1"/>
          <p:nvPr/>
        </p:nvSpPr>
        <p:spPr>
          <a:xfrm>
            <a:off x="941832" y="3255263"/>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6C3483"/>
                </a:solidFill>
                <a:latin typeface="Segoe UI"/>
              </a:rPr>
              <a:t>Part III</a:t>
            </a:r>
          </a:p>
        </p:txBody>
      </p:sp>
      <p:sp>
        <p:nvSpPr>
          <p:cNvPr id="20" name="part3t"/>
          <p:cNvSpPr txBox="1"/>
          <p:nvPr/>
        </p:nvSpPr>
        <p:spPr>
          <a:xfrm>
            <a:off x="2194560" y="3255263"/>
            <a:ext cx="7711135"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1C252B"/>
                </a:solidFill>
                <a:latin typeface="Segoe UI"/>
              </a:rPr>
              <a:t>IP Routing</a:t>
            </a:r>
          </a:p>
        </p:txBody>
      </p:sp>
      <p:sp>
        <p:nvSpPr>
          <p:cNvPr id="21" name="part3c"/>
          <p:cNvSpPr txBox="1"/>
          <p:nvPr/>
        </p:nvSpPr>
        <p:spPr>
          <a:xfrm>
            <a:off x="9951415" y="3255263"/>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6C3483"/>
                </a:solidFill>
                <a:latin typeface="Segoe UI"/>
              </a:rPr>
              <a:t>chapters 15–19</a:t>
            </a:r>
          </a:p>
        </p:txBody>
      </p:sp>
      <p:sp>
        <p:nvSpPr>
          <p:cNvPr id="22" name="part4bg"/>
          <p:cNvSpPr/>
          <p:nvPr/>
        </p:nvSpPr>
        <p:spPr>
          <a:xfrm>
            <a:off x="685800" y="3767327"/>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t4rule"/>
          <p:cNvSpPr/>
          <p:nvPr/>
        </p:nvSpPr>
        <p:spPr>
          <a:xfrm>
            <a:off x="685800" y="3767327"/>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art4n"/>
          <p:cNvSpPr txBox="1"/>
          <p:nvPr/>
        </p:nvSpPr>
        <p:spPr>
          <a:xfrm>
            <a:off x="941832" y="3913631"/>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IV</a:t>
            </a:r>
          </a:p>
        </p:txBody>
      </p:sp>
      <p:sp>
        <p:nvSpPr>
          <p:cNvPr id="25" name="part4t"/>
          <p:cNvSpPr txBox="1"/>
          <p:nvPr/>
        </p:nvSpPr>
        <p:spPr>
          <a:xfrm>
            <a:off x="2194560" y="3913631"/>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Network Services and Security</a:t>
            </a:r>
          </a:p>
        </p:txBody>
      </p:sp>
      <p:sp>
        <p:nvSpPr>
          <p:cNvPr id="26" name="part4c"/>
          <p:cNvSpPr txBox="1"/>
          <p:nvPr/>
        </p:nvSpPr>
        <p:spPr>
          <a:xfrm>
            <a:off x="9951415" y="3913631"/>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20–26</a:t>
            </a:r>
          </a:p>
        </p:txBody>
      </p:sp>
      <p:sp>
        <p:nvSpPr>
          <p:cNvPr id="27" name="part5bg"/>
          <p:cNvSpPr/>
          <p:nvPr/>
        </p:nvSpPr>
        <p:spPr>
          <a:xfrm>
            <a:off x="685800" y="4425695"/>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art5rule"/>
          <p:cNvSpPr/>
          <p:nvPr/>
        </p:nvSpPr>
        <p:spPr>
          <a:xfrm>
            <a:off x="685800" y="4425695"/>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part5n"/>
          <p:cNvSpPr txBox="1"/>
          <p:nvPr/>
        </p:nvSpPr>
        <p:spPr>
          <a:xfrm>
            <a:off x="941832" y="4571999"/>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a:t>
            </a:r>
          </a:p>
        </p:txBody>
      </p:sp>
      <p:sp>
        <p:nvSpPr>
          <p:cNvPr id="30" name="part5t"/>
          <p:cNvSpPr txBox="1"/>
          <p:nvPr/>
        </p:nvSpPr>
        <p:spPr>
          <a:xfrm>
            <a:off x="2194560" y="4571999"/>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Wireless, Virtualisation and Operations</a:t>
            </a:r>
          </a:p>
        </p:txBody>
      </p:sp>
      <p:sp>
        <p:nvSpPr>
          <p:cNvPr id="31" name="part5c"/>
          <p:cNvSpPr txBox="1"/>
          <p:nvPr/>
        </p:nvSpPr>
        <p:spPr>
          <a:xfrm>
            <a:off x="9951415" y="4571999"/>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27–32</a:t>
            </a:r>
          </a:p>
        </p:txBody>
      </p:sp>
      <p:sp>
        <p:nvSpPr>
          <p:cNvPr id="32" name="part6bg"/>
          <p:cNvSpPr/>
          <p:nvPr/>
        </p:nvSpPr>
        <p:spPr>
          <a:xfrm>
            <a:off x="685800" y="5084063"/>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part6rule"/>
          <p:cNvSpPr/>
          <p:nvPr/>
        </p:nvSpPr>
        <p:spPr>
          <a:xfrm>
            <a:off x="685800" y="5084063"/>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part6n"/>
          <p:cNvSpPr txBox="1"/>
          <p:nvPr/>
        </p:nvSpPr>
        <p:spPr>
          <a:xfrm>
            <a:off x="941832" y="5230367"/>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VI</a:t>
            </a:r>
          </a:p>
        </p:txBody>
      </p:sp>
      <p:sp>
        <p:nvSpPr>
          <p:cNvPr id="35" name="part6t"/>
          <p:cNvSpPr txBox="1"/>
          <p:nvPr/>
        </p:nvSpPr>
        <p:spPr>
          <a:xfrm>
            <a:off x="2194560" y="5230367"/>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Sitting the Exam</a:t>
            </a:r>
          </a:p>
        </p:txBody>
      </p:sp>
      <p:sp>
        <p:nvSpPr>
          <p:cNvPr id="36" name="part6c"/>
          <p:cNvSpPr txBox="1"/>
          <p:nvPr/>
        </p:nvSpPr>
        <p:spPr>
          <a:xfrm>
            <a:off x="9951415" y="5230367"/>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33–34</a:t>
            </a:r>
          </a:p>
        </p:txBody>
      </p:sp>
      <p:sp>
        <p:nvSpPr>
          <p:cNvPr id="3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3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Explain</a:t>
            </a:r>
            <a:r>
              <a:rPr sz="2000" b="0" i="0">
                <a:solidFill>
                  <a:srgbClr val="1C252B"/>
                </a:solidFill>
                <a:latin typeface="Segoe UI"/>
              </a:rPr>
              <a:t> the problem a first hop redundancy protocol solves, and why routing protocols do not solve it.</a:t>
            </a:r>
          </a:p>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Interpret</a:t>
            </a:r>
            <a:r>
              <a:rPr sz="2000" b="0" i="0">
                <a:solidFill>
                  <a:srgbClr val="1C252B"/>
                </a:solidFill>
                <a:latin typeface="Segoe UI"/>
              </a:rPr>
              <a:t> the operational status of HSRP and VRRP — which the blueprint asks for by name.</a:t>
            </a:r>
          </a:p>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Configure</a:t>
            </a:r>
            <a:r>
              <a:rPr sz="2000" b="0" i="0">
                <a:solidFill>
                  <a:srgbClr val="1C252B"/>
                </a:solidFill>
                <a:latin typeface="Segoe UI"/>
              </a:rPr>
              <a:t> basic HSRP and VRRP with priority and preemption.</a:t>
            </a:r>
          </a:p>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Diagnose</a:t>
            </a:r>
            <a:r>
              <a:rPr sz="2000" b="0" i="0">
                <a:solidFill>
                  <a:srgbClr val="1C252B"/>
                </a:solidFill>
                <a:latin typeface="Segoe UI"/>
              </a:rPr>
              <a:t> the two classic faults: both routers active, and a gateway that fails over but does not fail back.</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
        <p:nvSpPr>
          <p:cNvPr id="7" name="tint"/>
          <p:cNvSpPr/>
          <p:nvPr/>
        </p:nvSpPr>
        <p:spPr>
          <a:xfrm>
            <a:off x="685800" y="1517904"/>
            <a:ext cx="10820095" cy="1337055"/>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Chapter 15 for gateways; Chapter 10 for SVIs, which is where these protocols usually live.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
        <p:nvSpPr>
          <p:cNvPr id="7" name="term-first hop redundan"/>
          <p:cNvSpPr/>
          <p:nvPr/>
        </p:nvSpPr>
        <p:spPr>
          <a:xfrm>
            <a:off x="685800" y="1609344"/>
            <a:ext cx="199224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first hop redundan"/>
          <p:cNvSpPr/>
          <p:nvPr/>
        </p:nvSpPr>
        <p:spPr>
          <a:xfrm>
            <a:off x="685800" y="1609344"/>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first hop redundan"/>
          <p:cNvSpPr txBox="1"/>
          <p:nvPr/>
        </p:nvSpPr>
        <p:spPr>
          <a:xfrm>
            <a:off x="850392" y="1700784"/>
            <a:ext cx="166306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first hop redundancy</a:t>
            </a:r>
          </a:p>
        </p:txBody>
      </p:sp>
      <p:sp>
        <p:nvSpPr>
          <p:cNvPr id="10" name="term-virtual IP"/>
          <p:cNvSpPr/>
          <p:nvPr/>
        </p:nvSpPr>
        <p:spPr>
          <a:xfrm>
            <a:off x="2806064" y="1609344"/>
            <a:ext cx="108165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virtual IP"/>
          <p:cNvSpPr/>
          <p:nvPr/>
        </p:nvSpPr>
        <p:spPr>
          <a:xfrm>
            <a:off x="2806064" y="1609344"/>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virtual IP"/>
          <p:cNvSpPr txBox="1"/>
          <p:nvPr/>
        </p:nvSpPr>
        <p:spPr>
          <a:xfrm>
            <a:off x="2970657" y="1700784"/>
            <a:ext cx="75247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virtual IP</a:t>
            </a:r>
          </a:p>
        </p:txBody>
      </p:sp>
      <p:sp>
        <p:nvSpPr>
          <p:cNvPr id="13" name="term-virtual MAC"/>
          <p:cNvSpPr/>
          <p:nvPr/>
        </p:nvSpPr>
        <p:spPr>
          <a:xfrm>
            <a:off x="4015739" y="1609344"/>
            <a:ext cx="131025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virtual MAC"/>
          <p:cNvSpPr/>
          <p:nvPr/>
        </p:nvSpPr>
        <p:spPr>
          <a:xfrm>
            <a:off x="4015739" y="1609344"/>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virtual MAC"/>
          <p:cNvSpPr txBox="1"/>
          <p:nvPr/>
        </p:nvSpPr>
        <p:spPr>
          <a:xfrm>
            <a:off x="4180331" y="1700784"/>
            <a:ext cx="98107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virtual MAC</a:t>
            </a:r>
          </a:p>
        </p:txBody>
      </p:sp>
      <p:sp>
        <p:nvSpPr>
          <p:cNvPr id="16" name="term-HSRP"/>
          <p:cNvSpPr/>
          <p:nvPr/>
        </p:nvSpPr>
        <p:spPr>
          <a:xfrm>
            <a:off x="5454014" y="1609344"/>
            <a:ext cx="80162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HSRP"/>
          <p:cNvSpPr/>
          <p:nvPr/>
        </p:nvSpPr>
        <p:spPr>
          <a:xfrm>
            <a:off x="5454014" y="1609344"/>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HSRP"/>
          <p:cNvSpPr txBox="1"/>
          <p:nvPr/>
        </p:nvSpPr>
        <p:spPr>
          <a:xfrm>
            <a:off x="5618606" y="1700784"/>
            <a:ext cx="47244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HSRP</a:t>
            </a:r>
          </a:p>
        </p:txBody>
      </p:sp>
      <p:sp>
        <p:nvSpPr>
          <p:cNvPr id="19" name="term-VRRP"/>
          <p:cNvSpPr/>
          <p:nvPr/>
        </p:nvSpPr>
        <p:spPr>
          <a:xfrm>
            <a:off x="6383654" y="1609344"/>
            <a:ext cx="80162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VRRP"/>
          <p:cNvSpPr/>
          <p:nvPr/>
        </p:nvSpPr>
        <p:spPr>
          <a:xfrm>
            <a:off x="6383654" y="1609344"/>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VRRP"/>
          <p:cNvSpPr txBox="1"/>
          <p:nvPr/>
        </p:nvSpPr>
        <p:spPr>
          <a:xfrm>
            <a:off x="6548246" y="1700784"/>
            <a:ext cx="47244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VRRP</a:t>
            </a:r>
          </a:p>
        </p:txBody>
      </p:sp>
      <p:sp>
        <p:nvSpPr>
          <p:cNvPr id="22" name="term-active"/>
          <p:cNvSpPr/>
          <p:nvPr/>
        </p:nvSpPr>
        <p:spPr>
          <a:xfrm>
            <a:off x="7313294" y="1609344"/>
            <a:ext cx="83210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active"/>
          <p:cNvSpPr/>
          <p:nvPr/>
        </p:nvSpPr>
        <p:spPr>
          <a:xfrm>
            <a:off x="7313294" y="1609344"/>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active"/>
          <p:cNvSpPr txBox="1"/>
          <p:nvPr/>
        </p:nvSpPr>
        <p:spPr>
          <a:xfrm>
            <a:off x="7477886" y="1700784"/>
            <a:ext cx="50291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active</a:t>
            </a:r>
          </a:p>
        </p:txBody>
      </p:sp>
      <p:sp>
        <p:nvSpPr>
          <p:cNvPr id="25" name="term-standby"/>
          <p:cNvSpPr/>
          <p:nvPr/>
        </p:nvSpPr>
        <p:spPr>
          <a:xfrm>
            <a:off x="8273414" y="1609344"/>
            <a:ext cx="96926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standby"/>
          <p:cNvSpPr/>
          <p:nvPr/>
        </p:nvSpPr>
        <p:spPr>
          <a:xfrm>
            <a:off x="8273414" y="1609344"/>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standby"/>
          <p:cNvSpPr txBox="1"/>
          <p:nvPr/>
        </p:nvSpPr>
        <p:spPr>
          <a:xfrm>
            <a:off x="8438006" y="1700784"/>
            <a:ext cx="64007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standby</a:t>
            </a:r>
          </a:p>
        </p:txBody>
      </p:sp>
      <p:sp>
        <p:nvSpPr>
          <p:cNvPr id="28" name="term-master"/>
          <p:cNvSpPr/>
          <p:nvPr/>
        </p:nvSpPr>
        <p:spPr>
          <a:xfrm>
            <a:off x="9370694" y="1609344"/>
            <a:ext cx="90258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master"/>
          <p:cNvSpPr/>
          <p:nvPr/>
        </p:nvSpPr>
        <p:spPr>
          <a:xfrm>
            <a:off x="9370694" y="1609344"/>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master"/>
          <p:cNvSpPr txBox="1"/>
          <p:nvPr/>
        </p:nvSpPr>
        <p:spPr>
          <a:xfrm>
            <a:off x="9535286" y="1700784"/>
            <a:ext cx="573405"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master</a:t>
            </a:r>
          </a:p>
        </p:txBody>
      </p:sp>
      <p:sp>
        <p:nvSpPr>
          <p:cNvPr id="31" name="term-backup"/>
          <p:cNvSpPr/>
          <p:nvPr/>
        </p:nvSpPr>
        <p:spPr>
          <a:xfrm>
            <a:off x="10401299" y="1609344"/>
            <a:ext cx="91211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backup"/>
          <p:cNvSpPr/>
          <p:nvPr/>
        </p:nvSpPr>
        <p:spPr>
          <a:xfrm>
            <a:off x="10401299" y="1609344"/>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backup"/>
          <p:cNvSpPr txBox="1"/>
          <p:nvPr/>
        </p:nvSpPr>
        <p:spPr>
          <a:xfrm>
            <a:off x="10565891" y="1700784"/>
            <a:ext cx="58292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backup</a:t>
            </a:r>
          </a:p>
        </p:txBody>
      </p:sp>
      <p:sp>
        <p:nvSpPr>
          <p:cNvPr id="34" name="term-priority"/>
          <p:cNvSpPr/>
          <p:nvPr/>
        </p:nvSpPr>
        <p:spPr>
          <a:xfrm>
            <a:off x="685800" y="2212848"/>
            <a:ext cx="90639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b-priority"/>
          <p:cNvSpPr/>
          <p:nvPr/>
        </p:nvSpPr>
        <p:spPr>
          <a:xfrm>
            <a:off x="685800" y="2212848"/>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t-priority"/>
          <p:cNvSpPr txBox="1"/>
          <p:nvPr/>
        </p:nvSpPr>
        <p:spPr>
          <a:xfrm>
            <a:off x="850392" y="2304288"/>
            <a:ext cx="577215"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priority</a:t>
            </a:r>
          </a:p>
        </p:txBody>
      </p:sp>
      <p:sp>
        <p:nvSpPr>
          <p:cNvPr id="37" name="term-preemption"/>
          <p:cNvSpPr/>
          <p:nvPr/>
        </p:nvSpPr>
        <p:spPr>
          <a:xfrm>
            <a:off x="1720215" y="2212848"/>
            <a:ext cx="125120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b-preemption"/>
          <p:cNvSpPr/>
          <p:nvPr/>
        </p:nvSpPr>
        <p:spPr>
          <a:xfrm>
            <a:off x="1720215" y="2212848"/>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t-preemption"/>
          <p:cNvSpPr txBox="1"/>
          <p:nvPr/>
        </p:nvSpPr>
        <p:spPr>
          <a:xfrm>
            <a:off x="1884807" y="2304288"/>
            <a:ext cx="92202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preemption</a:t>
            </a:r>
          </a:p>
        </p:txBody>
      </p:sp>
      <p:sp>
        <p:nvSpPr>
          <p:cNvPr id="40" name="term-group number"/>
          <p:cNvSpPr/>
          <p:nvPr/>
        </p:nvSpPr>
        <p:spPr>
          <a:xfrm>
            <a:off x="3099435" y="2212848"/>
            <a:ext cx="144551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b-group number"/>
          <p:cNvSpPr/>
          <p:nvPr/>
        </p:nvSpPr>
        <p:spPr>
          <a:xfrm>
            <a:off x="3099435" y="2212848"/>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t-group number"/>
          <p:cNvSpPr txBox="1"/>
          <p:nvPr/>
        </p:nvSpPr>
        <p:spPr>
          <a:xfrm>
            <a:off x="3264027" y="2304288"/>
            <a:ext cx="111633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group number</a:t>
            </a:r>
          </a:p>
        </p:txBody>
      </p:sp>
      <p:sp>
        <p:nvSpPr>
          <p:cNvPr id="43" name="term-tracking"/>
          <p:cNvSpPr/>
          <p:nvPr/>
        </p:nvSpPr>
        <p:spPr>
          <a:xfrm>
            <a:off x="4672965" y="2212848"/>
            <a:ext cx="98640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b-tracking"/>
          <p:cNvSpPr/>
          <p:nvPr/>
        </p:nvSpPr>
        <p:spPr>
          <a:xfrm>
            <a:off x="4672965" y="2212848"/>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t-tracking"/>
          <p:cNvSpPr txBox="1"/>
          <p:nvPr/>
        </p:nvSpPr>
        <p:spPr>
          <a:xfrm>
            <a:off x="4837557" y="2304288"/>
            <a:ext cx="65722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tracking</a:t>
            </a:r>
          </a:p>
        </p:txBody>
      </p:sp>
      <p:sp>
        <p:nvSpPr>
          <p:cNvPr id="46"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verb is interpret, not configure</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6C3483"/>
                </a:solidFill>
                <a:latin typeface="Segoe UI"/>
              </a:rPr>
              <a:t>This is what the blueprint actually asks for</a:t>
            </a:r>
          </a:p>
        </p:txBody>
      </p:sp>
      <p:sp>
        <p:nvSpPr>
          <p:cNvPr id="8" name="body"/>
          <p:cNvSpPr txBox="1"/>
          <p:nvPr/>
        </p:nvSpPr>
        <p:spPr>
          <a:xfrm>
            <a:off x="685800" y="2267712"/>
            <a:ext cx="10820095" cy="411480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Topic </a:t>
            </a:r>
            <a:r>
              <a:rPr sz="1600" b="1">
                <a:solidFill>
                  <a:srgbClr val="6C3483"/>
                </a:solidFill>
                <a:latin typeface="Segoe UI"/>
              </a:rPr>
              <a:t> 3.4 </a:t>
            </a:r>
            <a:r>
              <a:rPr sz="2000" b="0" i="0">
                <a:solidFill>
                  <a:srgbClr val="1C252B"/>
                </a:solidFill>
                <a:latin typeface="Segoe UI"/>
              </a:rPr>
              <a:t> is “interpret the operational status of First Hop Redundancy Protocols (HSRP and VRRP)”. You are far more likely to be shown </a:t>
            </a:r>
            <a:r>
              <a:rPr sz="1900" b="0" i="0">
                <a:solidFill>
                  <a:srgbClr val="1A5276"/>
                </a:solidFill>
                <a:latin typeface="Consolas"/>
              </a:rPr>
              <a:t>show standby brief</a:t>
            </a:r>
            <a:r>
              <a:rPr sz="2000" b="0" i="0">
                <a:solidFill>
                  <a:srgbClr val="1C252B"/>
                </a:solidFill>
                <a:latin typeface="Segoe UI"/>
              </a:rPr>
              <a:t> and asked which router is forwarding, or why a failover did not happen, than to be asked to configure it from scratch. Configuration is here because you cannot interpret what you have never built — but read the verification sections hardest.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The problem</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800" b="1" i="0">
                <a:solidFill>
                  <a:srgbClr val="1A5276"/>
                </a:solidFill>
                <a:latin typeface="Segoe UI"/>
              </a:rPr>
              <a:t>The solution: a gateway address that is not tied to a router</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
        <p:nvSpPr>
          <p:cNvPr id="7" name="tint"/>
          <p:cNvSpPr/>
          <p:nvPr/>
        </p:nvSpPr>
        <p:spPr>
          <a:xfrm>
            <a:off x="685800" y="1517904"/>
            <a:ext cx="10820095" cy="30794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Two routers share a </a:t>
            </a:r>
            <a:r>
              <a:rPr sz="2000" b="1" i="0">
                <a:solidFill>
                  <a:srgbClr val="6C3483"/>
                </a:solidFill>
                <a:latin typeface="Segoe UI"/>
              </a:rPr>
              <a:t>virtual IP address</a:t>
            </a:r>
            <a:r>
              <a:rPr sz="2000" b="0" i="0">
                <a:solidFill>
                  <a:srgbClr val="1C252B"/>
                </a:solidFill>
                <a:latin typeface="Segoe UI"/>
              </a:rPr>
              <a:t> and a </a:t>
            </a:r>
            <a:r>
              <a:rPr sz="2000" b="1" i="0">
                <a:solidFill>
                  <a:srgbClr val="6C3483"/>
                </a:solidFill>
                <a:latin typeface="Segoe UI"/>
              </a:rPr>
              <a:t>virtual MAC address</a:t>
            </a:r>
            <a:r>
              <a:rPr sz="2000" b="0" i="0">
                <a:solidFill>
                  <a:srgbClr val="1C252B"/>
                </a:solidFill>
                <a:latin typeface="Segoe UI"/>
              </a:rPr>
              <a:t>. Hosts are configured with the virtual IP as their gateway and never know that two routers exist. One router is elected to answer for it; the other waits.</a:t>
            </a:r>
          </a:p>
          <a:p>
            <a:pPr algn="l">
              <a:lnSpc>
                <a:spcPct val="100000"/>
              </a:lnSpc>
              <a:spcAft>
                <a:spcPts val="1000"/>
              </a:spcAft>
            </a:pPr>
            <a:r>
              <a:rPr sz="2000" b="0" i="0">
                <a:solidFill>
                  <a:srgbClr val="1C252B"/>
                </a:solidFill>
                <a:latin typeface="Segoe UI"/>
              </a:rPr>
              <a:t>When the active router fails, the standby takes over </a:t>
            </a:r>
            <a:r>
              <a:rPr sz="2000" b="0" i="1">
                <a:solidFill>
                  <a:srgbClr val="1C252B"/>
                </a:solidFill>
                <a:latin typeface="Segoe UI"/>
              </a:rPr>
              <a:t>both</a:t>
            </a:r>
            <a:r>
              <a:rPr sz="2000" b="0" i="0">
                <a:solidFill>
                  <a:srgbClr val="1C252B"/>
                </a:solidFill>
                <a:latin typeface="Segoe UI"/>
              </a:rPr>
              <a:t> the virtual IP and the virtual MAC. Because the MAC does not change, the hosts’ ARP caches stay valid and no host has to do anything at all. That is the whole trick, and it is why the virtual MAC matters as much as the virtual IP.</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problem</a:t>
            </a:r>
          </a:p>
        </p:txBody>
      </p:sp>
      <p:sp>
        <p:nvSpPr>
          <p:cNvPr id="3"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pic>
        <p:nvPicPr>
          <p:cNvPr id="6" name="figure" descr="fhrpvip.png"/>
          <p:cNvPicPr>
            <a:picLocks noChangeAspect="1"/>
          </p:cNvPicPr>
          <p:nvPr/>
        </p:nvPicPr>
        <p:blipFill>
          <a:blip r:embed="rId2"/>
          <a:stretch>
            <a:fillRect/>
          </a:stretch>
        </p:blipFill>
        <p:spPr>
          <a:xfrm>
            <a:off x="1240057" y="1517904"/>
            <a:ext cx="9711579" cy="4114800"/>
          </a:xfrm>
          <a:prstGeom prst="rect">
            <a:avLst/>
          </a:prstGeom>
        </p:spPr>
      </p:pic>
      <p:sp>
        <p:nvSpPr>
          <p:cNvPr id="7" name="figcap"/>
          <p:cNvSpPr txBox="1"/>
          <p:nvPr/>
        </p:nvSpPr>
        <p:spPr>
          <a:xfrm>
            <a:off x="685800" y="5687568"/>
            <a:ext cx="10820095" cy="658368"/>
          </a:xfrm>
          <a:prstGeom prst="rect">
            <a:avLst/>
          </a:prstGeom>
          <a:noFill/>
        </p:spPr>
        <p:txBody>
          <a:bodyPr wrap="square" anchor="t" lIns="0" rIns="0" tIns="0" bIns="0">
            <a:spAutoFit/>
          </a:bodyPr>
          <a:lstStyle/>
          <a:p>
            <a:pPr algn="ctr">
              <a:lnSpc>
                <a:spcPct val="100000"/>
              </a:lnSpc>
              <a:spcAft>
                <a:spcPts val="600"/>
              </a:spcAft>
            </a:pPr>
            <a:r>
              <a:rPr sz="1300" b="0" i="0">
                <a:solidFill>
                  <a:srgbClr val="707B7C"/>
                </a:solidFill>
                <a:latin typeface="Segoe UI"/>
              </a:rPr>
              <a:t>The host is configured once and never reconfigured. Failover moves the virtual IP and the virtual MAC, which is why nothing on the LAN has to re-learn anything.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800" b="1" i="0">
                <a:solidFill>
                  <a:srgbClr val="1A5276"/>
                </a:solidFill>
                <a:latin typeface="Segoe UI"/>
              </a:rPr>
              <a:t>The preemption default is the difference that catches people</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HSRP does </a:t>
            </a:r>
            <a:r>
              <a:rPr sz="2000" b="1" i="0">
                <a:solidFill>
                  <a:srgbClr val="1C252B"/>
                </a:solidFill>
                <a:latin typeface="Segoe UI"/>
              </a:rPr>
              <a:t>not</a:t>
            </a:r>
            <a:r>
              <a:rPr sz="2000" b="0" i="0">
                <a:solidFill>
                  <a:srgbClr val="1C252B"/>
                </a:solidFill>
                <a:latin typeface="Segoe UI"/>
              </a:rPr>
              <a:t> preempt by default. Configure a router with priority 150, reload it, and when it comes back the other router — priority 100 — keeps the active role. Your carefully planned primary is now the standby, and everything still works, so nobody notices until the second failure.</a:t>
            </a:r>
          </a:p>
          <a:p>
            <a:pPr algn="l">
              <a:lnSpc>
                <a:spcPct val="100000"/>
              </a:lnSpc>
              <a:spcAft>
                <a:spcPts val="1000"/>
              </a:spcAft>
            </a:pPr>
            <a:r>
              <a:rPr sz="2000" b="0" i="0">
                <a:solidFill>
                  <a:srgbClr val="1C252B"/>
                </a:solidFill>
                <a:latin typeface="Segoe UI"/>
              </a:rPr>
              <a:t>VRRP preempts by default, so it behaves the way most people expect.</a:t>
            </a:r>
          </a:p>
          <a:p>
            <a:pPr algn="l">
              <a:lnSpc>
                <a:spcPct val="100000"/>
              </a:lnSpc>
              <a:spcAft>
                <a:spcPts val="1000"/>
              </a:spcAft>
            </a:pPr>
            <a:r>
              <a:rPr sz="2000" b="0" i="0">
                <a:solidFill>
                  <a:srgbClr val="1C252B"/>
                </a:solidFill>
                <a:latin typeface="Segoe UI"/>
              </a:rPr>
              <a:t>If you want a specific router to be primary, configure </a:t>
            </a:r>
            <a:r>
              <a:rPr sz="1900" b="0" i="0">
                <a:solidFill>
                  <a:srgbClr val="1A5276"/>
                </a:solidFill>
                <a:latin typeface="Consolas"/>
              </a:rPr>
              <a:t>standby 10 preempt</a:t>
            </a:r>
            <a:r>
              <a:rPr sz="2000" b="0" i="0">
                <a:solidFill>
                  <a:srgbClr val="1C252B"/>
                </a:solidFill>
                <a:latin typeface="Segoe UI"/>
              </a:rPr>
              <a:t> explicitly. This is the single most commonly missed HSRP command.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Configuring HSRP</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HSRP on two multilayer switches, VLAN 10</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
        <p:nvSpPr>
          <p:cNvPr id="7" name="codebg"/>
          <p:cNvSpPr/>
          <p:nvPr/>
        </p:nvSpPr>
        <p:spPr>
          <a:xfrm>
            <a:off x="685800" y="1517904"/>
            <a:ext cx="10820095" cy="4401312"/>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517904"/>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572768"/>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1956816"/>
            <a:ext cx="10417759" cy="3907536"/>
          </a:xfrm>
          <a:prstGeom prst="rect">
            <a:avLst/>
          </a:prstGeom>
          <a:noFill/>
        </p:spPr>
        <p:txBody>
          <a:bodyPr wrap="none" lIns="0" rIns="0" tIns="0" bIns="0">
            <a:spAutoFit/>
          </a:bodyPr>
          <a:lstStyle/>
          <a:p>
            <a:pPr>
              <a:lnSpc>
                <a:spcPct val="100000"/>
              </a:lnSpc>
              <a:spcAft>
                <a:spcPts val="0"/>
              </a:spcAft>
            </a:pPr>
            <a:r>
              <a:rPr sz="1200" i="1">
                <a:solidFill>
                  <a:srgbClr val="6E8BA0"/>
                </a:solidFill>
                <a:latin typeface="Consolas"/>
              </a:rPr>
              <a:t>! ---------- CORE1: the intended primary ----------</a:t>
            </a:r>
          </a:p>
          <a:p>
            <a:pPr>
              <a:lnSpc>
                <a:spcPct val="100000"/>
              </a:lnSpc>
              <a:spcAft>
                <a:spcPts val="0"/>
              </a:spcAft>
            </a:pPr>
            <a:r>
              <a:rPr sz="1200">
                <a:solidFill>
                  <a:srgbClr val="E8EEF2"/>
                </a:solidFill>
                <a:latin typeface="Consolas"/>
              </a:rPr>
              <a:t>interface Vlan10</a:t>
            </a:r>
          </a:p>
          <a:p>
            <a:pPr>
              <a:lnSpc>
                <a:spcPct val="100000"/>
              </a:lnSpc>
              <a:spcAft>
                <a:spcPts val="0"/>
              </a:spcAft>
            </a:pPr>
            <a:r>
              <a:rPr sz="1200">
                <a:solidFill>
                  <a:srgbClr val="E8EEF2"/>
                </a:solidFill>
                <a:latin typeface="Consolas"/>
              </a:rPr>
              <a:t> ip address 192.168.10.2 255.255.255.0</a:t>
            </a:r>
          </a:p>
          <a:p>
            <a:pPr>
              <a:lnSpc>
                <a:spcPct val="100000"/>
              </a:lnSpc>
              <a:spcAft>
                <a:spcPts val="0"/>
              </a:spcAft>
            </a:pPr>
            <a:r>
              <a:rPr sz="1200" i="1">
                <a:solidFill>
                  <a:srgbClr val="6E8BA0"/>
                </a:solidFill>
                <a:latin typeface="Consolas"/>
              </a:rPr>
              <a:t> ! The virtual IP -- this is what hosts use as their gateway.</a:t>
            </a:r>
          </a:p>
          <a:p>
            <a:pPr>
              <a:lnSpc>
                <a:spcPct val="100000"/>
              </a:lnSpc>
              <a:spcAft>
                <a:spcPts val="0"/>
              </a:spcAft>
            </a:pPr>
            <a:r>
              <a:rPr sz="1200">
                <a:solidFill>
                  <a:srgbClr val="E8EEF2"/>
                </a:solidFill>
                <a:latin typeface="Consolas"/>
              </a:rPr>
              <a:t> standby 10 ip 192.168.10.1</a:t>
            </a:r>
          </a:p>
          <a:p>
            <a:pPr>
              <a:lnSpc>
                <a:spcPct val="100000"/>
              </a:lnSpc>
              <a:spcAft>
                <a:spcPts val="0"/>
              </a:spcAft>
            </a:pPr>
            <a:r>
              <a:rPr sz="1200" i="1">
                <a:solidFill>
                  <a:srgbClr val="6E8BA0"/>
                </a:solidFill>
                <a:latin typeface="Consolas"/>
              </a:rPr>
              <a:t> ! Higher priority wins the election.</a:t>
            </a:r>
          </a:p>
          <a:p>
            <a:pPr>
              <a:lnSpc>
                <a:spcPct val="100000"/>
              </a:lnSpc>
              <a:spcAft>
                <a:spcPts val="0"/>
              </a:spcAft>
            </a:pPr>
            <a:r>
              <a:rPr sz="1200">
                <a:solidFill>
                  <a:srgbClr val="E8EEF2"/>
                </a:solidFill>
                <a:latin typeface="Consolas"/>
              </a:rPr>
              <a:t> standby 10 priority 150</a:t>
            </a:r>
          </a:p>
          <a:p>
            <a:pPr>
              <a:lnSpc>
                <a:spcPct val="100000"/>
              </a:lnSpc>
              <a:spcAft>
                <a:spcPts val="0"/>
              </a:spcAft>
            </a:pPr>
            <a:r>
              <a:rPr sz="1200" i="1">
                <a:solidFill>
                  <a:srgbClr val="6E8BA0"/>
                </a:solidFill>
                <a:latin typeface="Consolas"/>
              </a:rPr>
              <a:t> ! Without this, CORE1 will NOT take the role back after a reload.</a:t>
            </a:r>
          </a:p>
          <a:p>
            <a:pPr>
              <a:lnSpc>
                <a:spcPct val="100000"/>
              </a:lnSpc>
              <a:spcAft>
                <a:spcPts val="0"/>
              </a:spcAft>
            </a:pPr>
            <a:r>
              <a:rPr sz="1200">
                <a:solidFill>
                  <a:srgbClr val="E8EEF2"/>
                </a:solidFill>
                <a:latin typeface="Consolas"/>
              </a:rPr>
              <a:t> standby 10 preempt</a:t>
            </a:r>
          </a:p>
          <a:p>
            <a:pPr>
              <a:lnSpc>
                <a:spcPct val="100000"/>
              </a:lnSpc>
              <a:spcAft>
                <a:spcPts val="0"/>
              </a:spcAft>
            </a:pPr>
            <a:r>
              <a:rPr sz="1200" i="1">
                <a:solidFill>
                  <a:srgbClr val="6E8BA0"/>
                </a:solidFill>
                <a:latin typeface="Consolas"/>
              </a:rPr>
              <a:t> ! Give up the role if the uplink dies -- otherwise CORE1 stays</a:t>
            </a:r>
          </a:p>
          <a:p>
            <a:pPr>
              <a:lnSpc>
                <a:spcPct val="100000"/>
              </a:lnSpc>
              <a:spcAft>
                <a:spcPts val="0"/>
              </a:spcAft>
            </a:pPr>
            <a:r>
              <a:rPr sz="1200" i="1">
                <a:solidFill>
                  <a:srgbClr val="6E8BA0"/>
                </a:solidFill>
                <a:latin typeface="Consolas"/>
              </a:rPr>
              <a:t> ! active while having no path to anywhere.</a:t>
            </a:r>
          </a:p>
          <a:p>
            <a:pPr>
              <a:lnSpc>
                <a:spcPct val="100000"/>
              </a:lnSpc>
              <a:spcAft>
                <a:spcPts val="0"/>
              </a:spcAft>
            </a:pPr>
            <a:r>
              <a:rPr sz="1200">
                <a:solidFill>
                  <a:srgbClr val="E8EEF2"/>
                </a:solidFill>
                <a:latin typeface="Consolas"/>
              </a:rPr>
              <a:t> standby 10 track GigabitEthernet0/24 60</a:t>
            </a:r>
          </a:p>
          <a:p>
            <a:pPr>
              <a:lnSpc>
                <a:spcPct val="100000"/>
              </a:lnSpc>
              <a:spcAft>
                <a:spcPts val="0"/>
              </a:spcAft>
            </a:pPr>
            <a:r>
              <a:rPr sz="1200">
                <a:solidFill>
                  <a:srgbClr val="E8EEF2"/>
                </a:solidFill>
                <a:latin typeface="Consolas"/>
              </a:rPr>
              <a:t> standby 10 name VLAN10-GW</a:t>
            </a:r>
          </a:p>
          <a:p>
            <a:pPr>
              <a:lnSpc>
                <a:spcPct val="100000"/>
              </a:lnSpc>
              <a:spcAft>
                <a:spcPts val="0"/>
              </a:spcAft>
            </a:pPr>
            <a:r>
              <a:rPr sz="1200" i="1">
                <a:solidFill>
                  <a:srgbClr val="6E8BA0"/>
                </a:solidFill>
                <a:latin typeface="Consolas"/>
              </a:rPr>
              <a:t>!</a:t>
            </a:r>
          </a:p>
          <a:p>
            <a:pPr>
              <a:lnSpc>
                <a:spcPct val="100000"/>
              </a:lnSpc>
              <a:spcAft>
                <a:spcPts val="0"/>
              </a:spcAft>
            </a:pPr>
            <a:r>
              <a:rPr sz="1200" i="1">
                <a:solidFill>
                  <a:srgbClr val="6E8BA0"/>
                </a:solidFill>
                <a:latin typeface="Consolas"/>
              </a:rPr>
              <a:t>! ---------- CORE2: the standby ----------</a:t>
            </a:r>
          </a:p>
          <a:p>
            <a:pPr>
              <a:lnSpc>
                <a:spcPct val="100000"/>
              </a:lnSpc>
              <a:spcAft>
                <a:spcPts val="0"/>
              </a:spcAft>
            </a:pPr>
            <a:r>
              <a:rPr sz="1200">
                <a:solidFill>
                  <a:srgbClr val="E8EEF2"/>
                </a:solidFill>
                <a:latin typeface="Consolas"/>
              </a:rPr>
              <a:t>interface Vlan10</a:t>
            </a:r>
          </a:p>
          <a:p>
            <a:pPr>
              <a:lnSpc>
                <a:spcPct val="100000"/>
              </a:lnSpc>
              <a:spcAft>
                <a:spcPts val="0"/>
              </a:spcAft>
            </a:pPr>
            <a:r>
              <a:rPr sz="1200">
                <a:solidFill>
                  <a:srgbClr val="E8EEF2"/>
                </a:solidFill>
                <a:latin typeface="Consolas"/>
              </a:rPr>
              <a:t> ip address 192.168.10.3 255.255.255.0</a:t>
            </a:r>
          </a:p>
          <a:p>
            <a:pPr>
              <a:lnSpc>
                <a:spcPct val="100000"/>
              </a:lnSpc>
              <a:spcAft>
                <a:spcPts val="0"/>
              </a:spcAft>
            </a:pPr>
            <a:r>
              <a:rPr sz="1200">
                <a:solidFill>
                  <a:srgbClr val="E8EEF2"/>
                </a:solidFill>
                <a:latin typeface="Consolas"/>
              </a:rPr>
              <a:t> standby 10 ip 192.168.10.1</a:t>
            </a:r>
          </a:p>
          <a:p>
            <a:pPr>
              <a:lnSpc>
                <a:spcPct val="100000"/>
              </a:lnSpc>
              <a:spcAft>
                <a:spcPts val="0"/>
              </a:spcAft>
            </a:pPr>
            <a:r>
              <a:rPr sz="1200">
                <a:solidFill>
                  <a:srgbClr val="E8EEF2"/>
                </a:solidFill>
                <a:latin typeface="Consolas"/>
              </a:rPr>
              <a:t> standby 10 priority 100</a:t>
            </a:r>
          </a:p>
          <a:p>
            <a:pPr>
              <a:lnSpc>
                <a:spcPct val="100000"/>
              </a:lnSpc>
              <a:spcAft>
                <a:spcPts val="0"/>
              </a:spcAft>
            </a:pPr>
            <a:r>
              <a:rPr sz="1200">
                <a:solidFill>
                  <a:srgbClr val="E8EEF2"/>
                </a:solidFill>
                <a:latin typeface="Consolas"/>
              </a:rPr>
              <a:t> standby 10 preempt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Tracking, and why it is not optional</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
        <p:nvSpPr>
          <p:cNvPr id="7" name="tint"/>
          <p:cNvSpPr/>
          <p:nvPr/>
        </p:nvSpPr>
        <p:spPr>
          <a:xfrm>
            <a:off x="685800" y="1517904"/>
            <a:ext cx="10820095" cy="37398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Without tracking, the active router keeps the role as long as its own VLAN interface is up. If its </a:t>
            </a:r>
            <a:r>
              <a:rPr sz="2000" b="0" i="1">
                <a:solidFill>
                  <a:srgbClr val="1C252B"/>
                </a:solidFill>
                <a:latin typeface="Segoe UI"/>
              </a:rPr>
              <a:t>uplink</a:t>
            </a:r>
            <a:r>
              <a:rPr sz="2000" b="0" i="0">
                <a:solidFill>
                  <a:srgbClr val="1C252B"/>
                </a:solidFill>
                <a:latin typeface="Segoe UI"/>
              </a:rPr>
              <a:t> fails, it is still active, still answering for the gateway, and has nowhere to send the traffic — a black hole that the standby router cannot detect, because from its point of view the active router is perfectly healthy.</a:t>
            </a:r>
          </a:p>
          <a:p>
            <a:pPr algn="l">
              <a:lnSpc>
                <a:spcPct val="100000"/>
              </a:lnSpc>
              <a:spcAft>
                <a:spcPts val="1000"/>
              </a:spcAft>
            </a:pPr>
            <a:r>
              <a:rPr sz="1900" b="0" i="0">
                <a:solidFill>
                  <a:srgbClr val="1A5276"/>
                </a:solidFill>
                <a:latin typeface="Consolas"/>
              </a:rPr>
              <a:t>standby 10 track Gi0/24 60</a:t>
            </a:r>
            <a:r>
              <a:rPr sz="2000" b="0" i="0">
                <a:solidFill>
                  <a:srgbClr val="1C252B"/>
                </a:solidFill>
                <a:latin typeface="Segoe UI"/>
              </a:rPr>
              <a:t> decrements the priority by 60 when that interface goes down: 150 becomes 90, which is below CORE2’s 100, so CORE2 preempts and takes over. The decrement must be large enough to cross the gap between the two priorities, or nothing happens.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Interpreting the status</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standby brief</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
        <p:nvSpPr>
          <p:cNvPr id="7" name="codebg"/>
          <p:cNvSpPr/>
          <p:nvPr/>
        </p:nvSpPr>
        <p:spPr>
          <a:xfrm>
            <a:off x="685800" y="1901952"/>
            <a:ext cx="10820095" cy="1881632"/>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CORE1#</a:t>
            </a:r>
          </a:p>
        </p:txBody>
      </p:sp>
      <p:sp>
        <p:nvSpPr>
          <p:cNvPr id="10" name="code"/>
          <p:cNvSpPr txBox="1"/>
          <p:nvPr/>
        </p:nvSpPr>
        <p:spPr>
          <a:xfrm>
            <a:off x="886968" y="2340864"/>
            <a:ext cx="10417759" cy="1387856"/>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                     P indicates configured to preempt.</a:t>
            </a:r>
          </a:p>
          <a:p>
            <a:pPr>
              <a:lnSpc>
                <a:spcPct val="100000"/>
              </a:lnSpc>
              <a:spcAft>
                <a:spcPts val="0"/>
              </a:spcAft>
            </a:pPr>
            <a:r>
              <a:rPr sz="1600">
                <a:solidFill>
                  <a:srgbClr val="E8EEF2"/>
                </a:solidFill>
                <a:latin typeface="Consolas"/>
              </a:rPr>
              <a:t>                     |</a:t>
            </a:r>
          </a:p>
          <a:p>
            <a:pPr>
              <a:lnSpc>
                <a:spcPct val="100000"/>
              </a:lnSpc>
              <a:spcAft>
                <a:spcPts val="0"/>
              </a:spcAft>
            </a:pPr>
            <a:r>
              <a:rPr sz="1600">
                <a:solidFill>
                  <a:srgbClr val="E8EEF2"/>
                </a:solidFill>
                <a:latin typeface="Consolas"/>
              </a:rPr>
              <a:t>Interface   Grp  Pri P State    Active          Standby         Virtual IP</a:t>
            </a:r>
          </a:p>
          <a:p>
            <a:pPr>
              <a:lnSpc>
                <a:spcPct val="100000"/>
              </a:lnSpc>
              <a:spcAft>
                <a:spcPts val="0"/>
              </a:spcAft>
            </a:pPr>
            <a:r>
              <a:rPr sz="1600">
                <a:solidFill>
                  <a:srgbClr val="E8EEF2"/>
                </a:solidFill>
                <a:latin typeface="Consolas"/>
              </a:rPr>
              <a:t>Vl10        10   150 P Active   local           192.168.10.3    192.168.10.1</a:t>
            </a:r>
          </a:p>
          <a:p>
            <a:pPr>
              <a:lnSpc>
                <a:spcPct val="100000"/>
              </a:lnSpc>
              <a:spcAft>
                <a:spcPts val="0"/>
              </a:spcAft>
            </a:pPr>
            <a:r>
              <a:rPr sz="1600">
                <a:solidFill>
                  <a:srgbClr val="E8EEF2"/>
                </a:solidFill>
                <a:latin typeface="Consolas"/>
              </a:rPr>
              <a:t>Vl20        20   100 P Standby  192.168.10.3    local           192.168.20.1</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standby Vlan10</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
        <p:nvSpPr>
          <p:cNvPr id="7" name="codebg"/>
          <p:cNvSpPr/>
          <p:nvPr/>
        </p:nvSpPr>
        <p:spPr>
          <a:xfrm>
            <a:off x="685800" y="1901952"/>
            <a:ext cx="10820095" cy="3645407"/>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CORE1#</a:t>
            </a:r>
          </a:p>
        </p:txBody>
      </p:sp>
      <p:sp>
        <p:nvSpPr>
          <p:cNvPr id="10" name="code"/>
          <p:cNvSpPr txBox="1"/>
          <p:nvPr/>
        </p:nvSpPr>
        <p:spPr>
          <a:xfrm>
            <a:off x="886968" y="2340864"/>
            <a:ext cx="10417759" cy="3151631"/>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Vlan10 - Group 10</a:t>
            </a:r>
          </a:p>
          <a:p>
            <a:pPr>
              <a:lnSpc>
                <a:spcPct val="100000"/>
              </a:lnSpc>
              <a:spcAft>
                <a:spcPts val="0"/>
              </a:spcAft>
            </a:pPr>
            <a:r>
              <a:rPr sz="1600">
                <a:solidFill>
                  <a:srgbClr val="E8EEF2"/>
                </a:solidFill>
                <a:latin typeface="Consolas"/>
              </a:rPr>
              <a:t>  State is Active</a:t>
            </a:r>
          </a:p>
          <a:p>
            <a:pPr>
              <a:lnSpc>
                <a:spcPct val="100000"/>
              </a:lnSpc>
              <a:spcAft>
                <a:spcPts val="0"/>
              </a:spcAft>
            </a:pPr>
            <a:r>
              <a:rPr sz="1600">
                <a:solidFill>
                  <a:srgbClr val="E8EEF2"/>
                </a:solidFill>
                <a:latin typeface="Consolas"/>
              </a:rPr>
              <a:t>    2 state changes, last state change 04:12:19</a:t>
            </a:r>
          </a:p>
          <a:p>
            <a:pPr>
              <a:lnSpc>
                <a:spcPct val="100000"/>
              </a:lnSpc>
              <a:spcAft>
                <a:spcPts val="0"/>
              </a:spcAft>
            </a:pPr>
            <a:r>
              <a:rPr sz="1600">
                <a:solidFill>
                  <a:srgbClr val="E8EEF2"/>
                </a:solidFill>
                <a:latin typeface="Consolas"/>
              </a:rPr>
              <a:t>  Virtual IP address is 192.168.10.1</a:t>
            </a:r>
          </a:p>
          <a:p>
            <a:pPr>
              <a:lnSpc>
                <a:spcPct val="100000"/>
              </a:lnSpc>
              <a:spcAft>
                <a:spcPts val="0"/>
              </a:spcAft>
            </a:pPr>
            <a:r>
              <a:rPr sz="1600">
                <a:solidFill>
                  <a:srgbClr val="E8EEF2"/>
                </a:solidFill>
                <a:latin typeface="Consolas"/>
              </a:rPr>
              <a:t>  Active virtual MAC address is 0000.0c07.ac0a</a:t>
            </a:r>
          </a:p>
          <a:p>
            <a:pPr>
              <a:lnSpc>
                <a:spcPct val="100000"/>
              </a:lnSpc>
              <a:spcAft>
                <a:spcPts val="0"/>
              </a:spcAft>
            </a:pPr>
            <a:r>
              <a:rPr sz="1600">
                <a:solidFill>
                  <a:srgbClr val="E8EEF2"/>
                </a:solidFill>
                <a:latin typeface="Consolas"/>
              </a:rPr>
              <a:t>    Local virtual MAC address is 0000.0c07.ac0a (v1 default)</a:t>
            </a:r>
          </a:p>
          <a:p>
            <a:pPr>
              <a:lnSpc>
                <a:spcPct val="100000"/>
              </a:lnSpc>
              <a:spcAft>
                <a:spcPts val="0"/>
              </a:spcAft>
            </a:pPr>
            <a:r>
              <a:rPr sz="1600">
                <a:solidFill>
                  <a:srgbClr val="E8EEF2"/>
                </a:solidFill>
                <a:latin typeface="Consolas"/>
              </a:rPr>
              <a:t>  Hello time 3 sec, hold time 10 sec</a:t>
            </a:r>
          </a:p>
          <a:p>
            <a:pPr>
              <a:lnSpc>
                <a:spcPct val="100000"/>
              </a:lnSpc>
              <a:spcAft>
                <a:spcPts val="0"/>
              </a:spcAft>
            </a:pPr>
            <a:r>
              <a:rPr sz="1600">
                <a:solidFill>
                  <a:srgbClr val="E8EEF2"/>
                </a:solidFill>
                <a:latin typeface="Consolas"/>
              </a:rPr>
              <a:t>  Preemption enabled</a:t>
            </a:r>
          </a:p>
          <a:p>
            <a:pPr>
              <a:lnSpc>
                <a:spcPct val="100000"/>
              </a:lnSpc>
              <a:spcAft>
                <a:spcPts val="0"/>
              </a:spcAft>
            </a:pPr>
            <a:r>
              <a:rPr sz="1600">
                <a:solidFill>
                  <a:srgbClr val="E8EEF2"/>
                </a:solidFill>
                <a:latin typeface="Consolas"/>
              </a:rPr>
              <a:t>  Active router is local</a:t>
            </a:r>
          </a:p>
          <a:p>
            <a:pPr>
              <a:lnSpc>
                <a:spcPct val="100000"/>
              </a:lnSpc>
              <a:spcAft>
                <a:spcPts val="0"/>
              </a:spcAft>
            </a:pPr>
            <a:r>
              <a:rPr sz="1600">
                <a:solidFill>
                  <a:srgbClr val="E8EEF2"/>
                </a:solidFill>
                <a:latin typeface="Consolas"/>
              </a:rPr>
              <a:t>  Standby router is 192.168.10.3, priority 100 (expires in 8.048 sec)</a:t>
            </a:r>
          </a:p>
          <a:p>
            <a:pPr>
              <a:lnSpc>
                <a:spcPct val="100000"/>
              </a:lnSpc>
              <a:spcAft>
                <a:spcPts val="0"/>
              </a:spcAft>
            </a:pPr>
            <a:r>
              <a:rPr sz="1600">
                <a:solidFill>
                  <a:srgbClr val="E8EEF2"/>
                </a:solidFill>
                <a:latin typeface="Consolas"/>
              </a:rPr>
              <a:t>  Priority 150 (configured 150)</a:t>
            </a:r>
          </a:p>
          <a:p>
            <a:pPr>
              <a:lnSpc>
                <a:spcPct val="100000"/>
              </a:lnSpc>
              <a:spcAft>
                <a:spcPts val="0"/>
              </a:spcAft>
            </a:pPr>
            <a:r>
              <a:rPr sz="1600">
                <a:solidFill>
                  <a:srgbClr val="E8EEF2"/>
                </a:solidFill>
                <a:latin typeface="Consolas"/>
              </a:rPr>
              <a:t>    Track interface GigabitEthernet0/24 state Up decrement 60</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vrrp brief</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
        <p:nvSpPr>
          <p:cNvPr id="7" name="codebg"/>
          <p:cNvSpPr/>
          <p:nvPr/>
        </p:nvSpPr>
        <p:spPr>
          <a:xfrm>
            <a:off x="685800" y="1901952"/>
            <a:ext cx="10820095" cy="1125728"/>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CORE1#</a:t>
            </a:r>
          </a:p>
        </p:txBody>
      </p:sp>
      <p:sp>
        <p:nvSpPr>
          <p:cNvPr id="10" name="code"/>
          <p:cNvSpPr txBox="1"/>
          <p:nvPr/>
        </p:nvSpPr>
        <p:spPr>
          <a:xfrm>
            <a:off x="886968" y="2340864"/>
            <a:ext cx="10417759" cy="631951"/>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Interface          Grp Pri Time    Own Pre State   Master addr     Group addr</a:t>
            </a:r>
          </a:p>
          <a:p>
            <a:pPr>
              <a:lnSpc>
                <a:spcPct val="100000"/>
              </a:lnSpc>
              <a:spcAft>
                <a:spcPts val="0"/>
              </a:spcAft>
            </a:pPr>
            <a:r>
              <a:rPr sz="1600">
                <a:solidFill>
                  <a:srgbClr val="E8EEF2"/>
                </a:solidFill>
                <a:latin typeface="Consolas"/>
              </a:rPr>
              <a:t>Vl30               30  110 3570     Y  Y   Master  192.168.30.2    192.168.30.1</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Interpreting the status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Forgetting </a:t>
            </a:r>
            <a:r>
              <a:rPr sz="1900" b="1" i="0">
                <a:solidFill>
                  <a:srgbClr val="1A5276"/>
                </a:solidFill>
                <a:latin typeface="Consolas"/>
              </a:rPr>
              <a:t>preempt</a:t>
            </a:r>
            <a:r>
              <a:rPr sz="2000" b="1" i="0">
                <a:solidFill>
                  <a:srgbClr val="1C252B"/>
                </a:solidFill>
                <a:latin typeface="Segoe UI"/>
              </a:rPr>
              <a:t> on HSRP.</a:t>
            </a:r>
            <a:r>
              <a:rPr sz="2000" b="0" i="0">
                <a:solidFill>
                  <a:srgbClr val="1C252B"/>
                </a:solidFill>
                <a:latin typeface="Segoe UI"/>
              </a:rPr>
              <a:t> The intended primary never takes the role back.</a:t>
            </a:r>
          </a:p>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Mismatched group numbers.</a:t>
            </a:r>
            <a:r>
              <a:rPr sz="2000" b="0" i="0">
                <a:solidFill>
                  <a:srgbClr val="1C252B"/>
                </a:solidFill>
                <a:latin typeface="Segoe UI"/>
              </a:rPr>
              <a:t> Two routers with different group numbers on the same VLAN both become active, each for its own group. The symptom is intermittent connectivity as hosts ARP for a virtual IP that two devices answer.</a:t>
            </a:r>
          </a:p>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Mismatched virtual IPs.</a:t>
            </a:r>
            <a:r>
              <a:rPr sz="2000" b="0" i="0">
                <a:solidFill>
                  <a:srgbClr val="1C252B"/>
                </a:solidFill>
                <a:latin typeface="Segoe UI"/>
              </a:rPr>
              <a:t> Same result.</a:t>
            </a:r>
          </a:p>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A track decrement too small to matter.</a:t>
            </a:r>
            <a:r>
              <a:rPr sz="2000" b="0" i="0">
                <a:solidFill>
                  <a:srgbClr val="1C252B"/>
                </a:solidFill>
                <a:latin typeface="Segoe UI"/>
              </a:rPr>
              <a:t> 150 with a decrement of 10 still beats 100. Size the decrement against the gap.</a:t>
            </a:r>
          </a:p>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Configuring the virtual IP as a router’s real address in HSRP.</a:t>
            </a:r>
            <a:r>
              <a:rPr sz="2000" b="0" i="0">
                <a:solidFill>
                  <a:srgbClr val="1C252B"/>
                </a:solidFill>
                <a:latin typeface="Segoe UI"/>
              </a:rPr>
              <a:t> Not allowed. VRRP permits it; HSRP does not.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Interpreting the status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 (continued)</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Assuming the gateway works because the routers are up.</a:t>
            </a:r>
            <a:r>
              <a:rPr sz="2000" b="0" i="0">
                <a:solidFill>
                  <a:srgbClr val="1C252B"/>
                </a:solidFill>
                <a:latin typeface="Segoe UI"/>
              </a:rPr>
              <a:t> Test by pinging the </a:t>
            </a:r>
            <a:r>
              <a:rPr sz="2000" b="0" i="1">
                <a:solidFill>
                  <a:srgbClr val="1C252B"/>
                </a:solidFill>
                <a:latin typeface="Segoe UI"/>
              </a:rPr>
              <a:t>virtual</a:t>
            </a:r>
            <a:r>
              <a:rPr sz="2000" b="0" i="0">
                <a:solidFill>
                  <a:srgbClr val="1C252B"/>
                </a:solidFill>
                <a:latin typeface="Segoe UI"/>
              </a:rPr>
              <a:t> address from a host, then failing the active router and pinging again.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19</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Both routers say they are active.</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Users on VLAN 10 report intermittent loss. Both core switches report the active role for group 10.</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19</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Both routers say they are active.</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19</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standby brief</a:t>
            </a:r>
          </a:p>
        </p:txBody>
      </p:sp>
      <p:sp>
        <p:nvSpPr>
          <p:cNvPr id="6" name="bfcodebg"/>
          <p:cNvSpPr/>
          <p:nvPr/>
        </p:nvSpPr>
        <p:spPr>
          <a:xfrm>
            <a:off x="685800" y="2011680"/>
            <a:ext cx="10820095" cy="107594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CORE1#</a:t>
            </a:r>
          </a:p>
        </p:txBody>
      </p:sp>
      <p:sp>
        <p:nvSpPr>
          <p:cNvPr id="9" name="bfcode"/>
          <p:cNvSpPr txBox="1"/>
          <p:nvPr/>
        </p:nvSpPr>
        <p:spPr>
          <a:xfrm>
            <a:off x="886968" y="2432304"/>
            <a:ext cx="10417759" cy="60045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Interface   Grp  Pri P State    Active          Standby         Virtual IP</a:t>
            </a:r>
          </a:p>
          <a:p>
            <a:pPr>
              <a:lnSpc>
                <a:spcPct val="100000"/>
              </a:lnSpc>
              <a:spcAft>
                <a:spcPts val="0"/>
              </a:spcAft>
            </a:pPr>
            <a:r>
              <a:rPr sz="1500">
                <a:solidFill>
                  <a:srgbClr val="E8EEF2"/>
                </a:solidFill>
                <a:latin typeface="Consolas"/>
              </a:rPr>
              <a:t>Vl10        10   150 P Active   local           unknown         192.168.10.1</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19</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standby brief</a:t>
            </a:r>
          </a:p>
        </p:txBody>
      </p:sp>
      <p:sp>
        <p:nvSpPr>
          <p:cNvPr id="6" name="bfcodebg"/>
          <p:cNvSpPr/>
          <p:nvPr/>
        </p:nvSpPr>
        <p:spPr>
          <a:xfrm>
            <a:off x="685800" y="2011680"/>
            <a:ext cx="10820095" cy="107594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CORE2#</a:t>
            </a:r>
          </a:p>
        </p:txBody>
      </p:sp>
      <p:sp>
        <p:nvSpPr>
          <p:cNvPr id="9" name="bfcode"/>
          <p:cNvSpPr txBox="1"/>
          <p:nvPr/>
        </p:nvSpPr>
        <p:spPr>
          <a:xfrm>
            <a:off x="886968" y="2432304"/>
            <a:ext cx="10417759" cy="60045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Interface   Grp  Pri P State    Active          Standby         Virtual IP</a:t>
            </a:r>
          </a:p>
          <a:p>
            <a:pPr>
              <a:lnSpc>
                <a:spcPct val="100000"/>
              </a:lnSpc>
              <a:spcAft>
                <a:spcPts val="0"/>
              </a:spcAft>
            </a:pPr>
            <a:r>
              <a:rPr sz="1500">
                <a:solidFill>
                  <a:srgbClr val="E8EEF2"/>
                </a:solidFill>
                <a:latin typeface="Consolas"/>
              </a:rPr>
              <a:t>Vl10        11   100 P Active   local           unknown         192.168.10.1</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19</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19</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Look at the </a:t>
            </a:r>
            <a:r>
              <a:rPr sz="1800" b="0" i="0">
                <a:solidFill>
                  <a:srgbClr val="1A5276"/>
                </a:solidFill>
                <a:latin typeface="Consolas"/>
              </a:rPr>
              <a:t>Grp</a:t>
            </a:r>
            <a:r>
              <a:rPr sz="1900" b="0" i="0">
                <a:solidFill>
                  <a:srgbClr val="1C252B"/>
                </a:solidFill>
                <a:latin typeface="Segoe UI"/>
              </a:rPr>
              <a:t> column: CORE1 is in group </a:t>
            </a:r>
            <a:r>
              <a:rPr sz="1900" b="1" i="0">
                <a:solidFill>
                  <a:srgbClr val="1C252B"/>
                </a:solidFill>
                <a:latin typeface="Segoe UI"/>
              </a:rPr>
              <a:t>10</a:t>
            </a:r>
            <a:r>
              <a:rPr sz="1900" b="0" i="0">
                <a:solidFill>
                  <a:srgbClr val="1C252B"/>
                </a:solidFill>
                <a:latin typeface="Segoe UI"/>
              </a:rPr>
              <a:t>, CORE2 in group </a:t>
            </a:r>
            <a:r>
              <a:rPr sz="1900" b="1" i="0">
                <a:solidFill>
                  <a:srgbClr val="1C252B"/>
                </a:solidFill>
                <a:latin typeface="Segoe UI"/>
              </a:rPr>
              <a:t>11</a:t>
            </a:r>
            <a:r>
              <a:rPr sz="1900" b="0" i="0">
                <a:solidFill>
                  <a:srgbClr val="1C252B"/>
                </a:solidFill>
                <a:latin typeface="Segoe UI"/>
              </a:rPr>
              <a:t>. They are not peers at all — they are two independent HSRP groups that happen to share a virtual IP address. Each sees no partner, so each elects itself active, and each answers ARP for </a:t>
            </a:r>
            <a:r>
              <a:rPr sz="1800" b="0" i="0">
                <a:solidFill>
                  <a:srgbClr val="1A5276"/>
                </a:solidFill>
                <a:latin typeface="Consolas"/>
              </a:rPr>
              <a:t>192.168.10.1</a:t>
            </a:r>
            <a:r>
              <a:rPr sz="1900" b="0" i="0">
                <a:solidFill>
                  <a:srgbClr val="1C252B"/>
                </a:solidFill>
                <a:latin typeface="Segoe UI"/>
              </a:rPr>
              <a:t> with a </a:t>
            </a:r>
            <a:r>
              <a:rPr sz="1900" b="0" i="1">
                <a:solidFill>
                  <a:srgbClr val="1C252B"/>
                </a:solidFill>
                <a:latin typeface="Segoe UI"/>
              </a:rPr>
              <a:t>different</a:t>
            </a:r>
            <a:r>
              <a:rPr sz="1900" b="0" i="0">
                <a:solidFill>
                  <a:srgbClr val="1C252B"/>
                </a:solidFill>
                <a:latin typeface="Segoe UI"/>
              </a:rPr>
              <a:t> virtual MAC (</a:t>
            </a:r>
            <a:r>
              <a:rPr sz="1800" b="0" i="0">
                <a:solidFill>
                  <a:srgbClr val="1A5276"/>
                </a:solidFill>
                <a:latin typeface="Consolas"/>
              </a:rPr>
              <a:t>0000.0c07.ac0a</a:t>
            </a:r>
            <a:r>
              <a:rPr sz="1900" b="0" i="0">
                <a:solidFill>
                  <a:srgbClr val="1C252B"/>
                </a:solidFill>
                <a:latin typeface="Segoe UI"/>
              </a:rPr>
              <a:t> against </a:t>
            </a:r>
            <a:r>
              <a:rPr sz="1800" b="0" i="0">
                <a:solidFill>
                  <a:srgbClr val="1A5276"/>
                </a:solidFill>
                <a:latin typeface="Consolas"/>
              </a:rPr>
              <a:t>0000.0c07.ac0b</a:t>
            </a:r>
            <a:r>
              <a:rPr sz="1900" b="0" i="0">
                <a:solidFill>
                  <a:srgbClr val="1C252B"/>
                </a:solidFill>
                <a:latin typeface="Segoe UI"/>
              </a:rPr>
              <a:t>). Hosts get whichever reply arrives first, and traffic splits unpredictably between two routers.</a:t>
            </a:r>
          </a:p>
          <a:p>
            <a:pPr algn="l">
              <a:lnSpc>
                <a:spcPct val="100000"/>
              </a:lnSpc>
              <a:spcAft>
                <a:spcPts val="1000"/>
              </a:spcAft>
            </a:pPr>
            <a:r>
              <a:rPr sz="1900" b="0" i="0">
                <a:solidFill>
                  <a:srgbClr val="1C252B"/>
                </a:solidFill>
                <a:latin typeface="Segoe UI"/>
              </a:rPr>
              <a:t>The giveaway is </a:t>
            </a:r>
            <a:r>
              <a:rPr sz="1800" b="0" i="0">
                <a:solidFill>
                  <a:srgbClr val="1A5276"/>
                </a:solidFill>
                <a:latin typeface="Consolas"/>
              </a:rPr>
              <a:t>Standby unknown</a:t>
            </a:r>
            <a:r>
              <a:rPr sz="1900" b="0" i="0">
                <a:solidFill>
                  <a:srgbClr val="1C252B"/>
                </a:solidFill>
                <a:latin typeface="Segoe UI"/>
              </a:rPr>
              <a:t> on both sides. A healthy pair always names its partner.</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19</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And the lesson</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Fix.</a:t>
            </a:r>
            <a:r>
              <a:rPr sz="1900" b="0" i="0">
                <a:solidFill>
                  <a:srgbClr val="1C252B"/>
                </a:solidFill>
                <a:latin typeface="Segoe UI"/>
              </a:rPr>
              <a:t> Correct the group number on CORE2 to 10. Within a hello interval the two will see each other, the priorities decide, and one becomes standby. Confirm that each side names the other in the </a:t>
            </a:r>
            <a:r>
              <a:rPr sz="1800" b="0" i="0">
                <a:solidFill>
                  <a:srgbClr val="1A5276"/>
                </a:solidFill>
                <a:latin typeface="Consolas"/>
              </a:rPr>
              <a:t>Standby</a:t>
            </a:r>
            <a:r>
              <a:rPr sz="1900" b="0" i="0">
                <a:solidFill>
                  <a:srgbClr val="1C252B"/>
                </a:solidFill>
                <a:latin typeface="Segoe UI"/>
              </a:rPr>
              <a:t> column, and that only one virtual MAC is now in use.</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Fail a gateway and watch it survive</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Topology.</a:t>
            </a:r>
            <a:r>
              <a:rPr sz="1900" b="0" i="0">
                <a:solidFill>
                  <a:srgbClr val="1C252B"/>
                </a:solidFill>
                <a:latin typeface="Segoe UI"/>
              </a:rPr>
              <a:t> Two multilayer switches as redundant gateways for VLANs 10 and 20; an access switch; two PCs.</a:t>
            </a:r>
          </a:p>
        </p:txBody>
      </p:sp>
      <p:sp>
        <p:nvSpPr>
          <p:cNvPr id="8" name="bullets"/>
          <p:cNvSpPr txBox="1"/>
          <p:nvPr/>
        </p:nvSpPr>
        <p:spPr>
          <a:xfrm>
            <a:off x="685800" y="2328164"/>
            <a:ext cx="10820095" cy="4054348"/>
          </a:xfrm>
          <a:prstGeom prst="rect">
            <a:avLst/>
          </a:prstGeom>
          <a:noFill/>
        </p:spPr>
        <p:txBody>
          <a:bodyPr wrap="square" lIns="0" rIns="0" tIns="0" bIns="0">
            <a:spAutoFit/>
          </a:bodyPr>
          <a:lstStyle/>
          <a:p>
            <a:pPr marL="366776" indent="-366776">
              <a:lnSpc>
                <a:spcPct val="102000"/>
              </a:lnSpc>
              <a:spcAft>
                <a:spcPts val="900"/>
              </a:spcAft>
            </a:pPr>
            <a:r>
              <a:rPr sz="1900" b="1">
                <a:solidFill>
                  <a:srgbClr val="6C3483"/>
                </a:solidFill>
                <a:latin typeface="Segoe UI"/>
              </a:rPr>
              <a:t>1.  </a:t>
            </a:r>
            <a:r>
              <a:rPr sz="1900" b="0" i="0">
                <a:solidFill>
                  <a:srgbClr val="1C252B"/>
                </a:solidFill>
                <a:latin typeface="Segoe UI"/>
              </a:rPr>
              <a:t>Address both cores in VLAN 10 and configure HSRP group 10 with virtual IP </a:t>
            </a:r>
            <a:r>
              <a:rPr sz="1800" b="0" i="0">
                <a:solidFill>
                  <a:srgbClr val="1A5276"/>
                </a:solidFill>
                <a:latin typeface="Consolas"/>
              </a:rPr>
              <a:t>192.168.10.1</a:t>
            </a:r>
            <a:r>
              <a:rPr sz="1900" b="0" i="0">
                <a:solidFill>
                  <a:srgbClr val="1C252B"/>
                </a:solidFill>
                <a:latin typeface="Segoe UI"/>
              </a:rPr>
              <a:t>, CORE1 at priority 150 with preempt.</a:t>
            </a:r>
          </a:p>
          <a:p>
            <a:pPr marL="366776" indent="-366776">
              <a:lnSpc>
                <a:spcPct val="102000"/>
              </a:lnSpc>
              <a:spcAft>
                <a:spcPts val="900"/>
              </a:spcAft>
            </a:pPr>
            <a:r>
              <a:rPr sz="1900" b="1">
                <a:solidFill>
                  <a:srgbClr val="6C3483"/>
                </a:solidFill>
                <a:latin typeface="Segoe UI"/>
              </a:rPr>
              <a:t>2.  </a:t>
            </a:r>
            <a:r>
              <a:rPr sz="1900" b="0" i="0">
                <a:solidFill>
                  <a:srgbClr val="1C252B"/>
                </a:solidFill>
                <a:latin typeface="Segoe UI"/>
              </a:rPr>
              <a:t>Point the PCs at the virtual IP and confirm they can reach the rest of the network. Record the ARP entry a PC holds for its gateway — note the virtual MAC.</a:t>
            </a:r>
          </a:p>
          <a:p>
            <a:pPr marL="366776" indent="-366776">
              <a:lnSpc>
                <a:spcPct val="102000"/>
              </a:lnSpc>
              <a:spcAft>
                <a:spcPts val="900"/>
              </a:spcAft>
            </a:pPr>
            <a:r>
              <a:rPr sz="1900" b="1">
                <a:solidFill>
                  <a:srgbClr val="6C3483"/>
                </a:solidFill>
                <a:latin typeface="Segoe UI"/>
              </a:rPr>
              <a:t>3.  </a:t>
            </a:r>
            <a:r>
              <a:rPr sz="1900" b="0" i="0">
                <a:solidFill>
                  <a:srgbClr val="1C252B"/>
                </a:solidFill>
                <a:latin typeface="Segoe UI"/>
              </a:rPr>
              <a:t>Run </a:t>
            </a:r>
            <a:r>
              <a:rPr sz="1800" b="0" i="0">
                <a:solidFill>
                  <a:srgbClr val="1A5276"/>
                </a:solidFill>
                <a:latin typeface="Consolas"/>
              </a:rPr>
              <a:t>show standby brief</a:t>
            </a:r>
            <a:r>
              <a:rPr sz="1900" b="0" i="0">
                <a:solidFill>
                  <a:srgbClr val="1C252B"/>
                </a:solidFill>
                <a:latin typeface="Segoe UI"/>
              </a:rPr>
              <a:t> on both. Identify active, standby and the preempt flag.</a:t>
            </a:r>
          </a:p>
          <a:p>
            <a:pPr marL="366776" indent="-366776">
              <a:lnSpc>
                <a:spcPct val="102000"/>
              </a:lnSpc>
              <a:spcAft>
                <a:spcPts val="900"/>
              </a:spcAft>
            </a:pPr>
            <a:r>
              <a:rPr sz="1900" b="1">
                <a:solidFill>
                  <a:srgbClr val="6C3483"/>
                </a:solidFill>
                <a:latin typeface="Segoe UI"/>
              </a:rPr>
              <a:t>4.  </a:t>
            </a:r>
            <a:r>
              <a:rPr sz="1900" b="0" i="0">
                <a:solidFill>
                  <a:srgbClr val="1C252B"/>
                </a:solidFill>
                <a:latin typeface="Segoe UI"/>
              </a:rPr>
              <a:t>Start a continuous ping from a PC, then shut CORE1’s VLAN 10 interface. Count how many pings are lost and confirm the PC’s ARP entry has </a:t>
            </a:r>
            <a:r>
              <a:rPr sz="1900" b="0" i="1">
                <a:solidFill>
                  <a:srgbClr val="1C252B"/>
                </a:solidFill>
                <a:latin typeface="Segoe UI"/>
              </a:rPr>
              <a:t>not</a:t>
            </a:r>
            <a:r>
              <a:rPr sz="1900" b="0" i="0">
                <a:solidFill>
                  <a:srgbClr val="1C252B"/>
                </a:solidFill>
                <a:latin typeface="Segoe UI"/>
              </a:rPr>
              <a:t> changed.</a:t>
            </a:r>
          </a:p>
          <a:p>
            <a:pPr marL="366776" indent="-366776">
              <a:lnSpc>
                <a:spcPct val="102000"/>
              </a:lnSpc>
              <a:spcAft>
                <a:spcPts val="900"/>
              </a:spcAft>
            </a:pPr>
            <a:r>
              <a:rPr sz="1900" b="1">
                <a:solidFill>
                  <a:srgbClr val="6C3483"/>
                </a:solidFill>
                <a:latin typeface="Segoe UI"/>
              </a:rPr>
              <a:t>5.  </a:t>
            </a:r>
            <a:r>
              <a:rPr sz="1900" b="0" i="0">
                <a:solidFill>
                  <a:srgbClr val="1C252B"/>
                </a:solidFill>
                <a:latin typeface="Segoe UI"/>
              </a:rPr>
              <a:t>Bring CORE1 back and confirm it resumes the active role. Then remove </a:t>
            </a:r>
            <a:r>
              <a:rPr sz="1800" b="0" i="0">
                <a:solidFill>
                  <a:srgbClr val="1A5276"/>
                </a:solidFill>
                <a:latin typeface="Consolas"/>
              </a:rPr>
              <a:t>preempt</a:t>
            </a:r>
            <a:r>
              <a:rPr sz="1900" b="0" i="0">
                <a:solidFill>
                  <a:srgbClr val="1C252B"/>
                </a:solidFill>
                <a:latin typeface="Segoe UI"/>
              </a:rPr>
              <a:t>, repeat, and observe that it does not.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Fail a gateway and watch it survive (continued)</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386080" indent="-386080">
              <a:lnSpc>
                <a:spcPct val="102000"/>
              </a:lnSpc>
              <a:spcAft>
                <a:spcPts val="900"/>
              </a:spcAft>
            </a:pPr>
            <a:r>
              <a:rPr sz="2000" b="1">
                <a:solidFill>
                  <a:srgbClr val="6C3483"/>
                </a:solidFill>
                <a:latin typeface="Segoe UI"/>
              </a:rPr>
              <a:t>6.  </a:t>
            </a:r>
            <a:r>
              <a:rPr sz="2000" b="0" i="0">
                <a:solidFill>
                  <a:srgbClr val="1C252B"/>
                </a:solidFill>
                <a:latin typeface="Segoe UI"/>
              </a:rPr>
              <a:t>Configure tracking on CORE1’s uplink with a decrement of 60. Shut the uplink and confirm failover; use a decrement of 10 instead and confirm it does not.</a:t>
            </a:r>
          </a:p>
          <a:p>
            <a:pPr marL="386080" indent="-386080">
              <a:lnSpc>
                <a:spcPct val="102000"/>
              </a:lnSpc>
              <a:spcAft>
                <a:spcPts val="900"/>
              </a:spcAft>
            </a:pPr>
            <a:r>
              <a:rPr sz="2000" b="1">
                <a:solidFill>
                  <a:srgbClr val="6C3483"/>
                </a:solidFill>
                <a:latin typeface="Segoe UI"/>
              </a:rPr>
              <a:t>7.  </a:t>
            </a:r>
            <a:r>
              <a:rPr sz="2000" b="0" i="0">
                <a:solidFill>
                  <a:srgbClr val="1C252B"/>
                </a:solidFill>
                <a:latin typeface="Segoe UI"/>
              </a:rPr>
              <a:t>Configure VLAN 20 with CORE2 as primary, so the two share the load.</a:t>
            </a:r>
          </a:p>
          <a:p>
            <a:pPr marL="386080" indent="-386080">
              <a:lnSpc>
                <a:spcPct val="102000"/>
              </a:lnSpc>
              <a:spcAft>
                <a:spcPts val="900"/>
              </a:spcAft>
            </a:pPr>
            <a:r>
              <a:rPr sz="2000" b="1">
                <a:solidFill>
                  <a:srgbClr val="6C3483"/>
                </a:solidFill>
                <a:latin typeface="Segoe UI"/>
              </a:rPr>
              <a:t>8.  </a:t>
            </a:r>
            <a:r>
              <a:rPr sz="2000" b="1" i="0">
                <a:solidFill>
                  <a:srgbClr val="1C252B"/>
                </a:solidFill>
                <a:latin typeface="Segoe UI"/>
              </a:rPr>
              <a:t>Extension.</a:t>
            </a:r>
            <a:r>
              <a:rPr sz="2000" b="0" i="0">
                <a:solidFill>
                  <a:srgbClr val="1C252B"/>
                </a:solidFill>
                <a:latin typeface="Segoe UI"/>
              </a:rPr>
              <a:t> Repeat the first four steps with VRRP on a third VLAN and note the difference in default preemption behaviour.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does a host not need to update its ARP cache when the active router fails?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3</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does a host not need to update its ARP cache when the active router fails?</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the virtual MAC address moves with the virtual IP. The host’s ARP cache still maps the gateway IP to the same MAC; the new active router simply starts answering to it. The host never learns anything happened, which is the entire point.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2900" b="0" i="0">
                <a:solidFill>
                  <a:srgbClr val="FFFFFF"/>
                </a:solidFill>
                <a:latin typeface="Consolas"/>
              </a:rPr>
              <a:t>show standby brief</a:t>
            </a:r>
            <a:r>
              <a:rPr sz="3000" b="0" i="0">
                <a:solidFill>
                  <a:srgbClr val="FFFFFF"/>
                </a:solidFill>
                <a:latin typeface="Segoe UI"/>
              </a:rPr>
              <a:t> shows </a:t>
            </a:r>
            <a:r>
              <a:rPr sz="2900" b="0" i="0">
                <a:solidFill>
                  <a:srgbClr val="FFFFFF"/>
                </a:solidFill>
                <a:latin typeface="Consolas"/>
              </a:rPr>
              <a:t>Standby unknown</a:t>
            </a:r>
            <a:r>
              <a:rPr sz="3000" b="0" i="0">
                <a:solidFill>
                  <a:srgbClr val="FFFFFF"/>
                </a:solidFill>
                <a:latin typeface="Segoe UI"/>
              </a:rPr>
              <a:t> on both routers. What does that indicate?</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3</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1900" b="1" i="0">
                <a:solidFill>
                  <a:srgbClr val="1A5276"/>
                </a:solidFill>
                <a:latin typeface="Consolas"/>
              </a:rPr>
              <a:t>show standby brief</a:t>
            </a:r>
            <a:r>
              <a:rPr sz="2000" b="1" i="0">
                <a:solidFill>
                  <a:srgbClr val="1A5276"/>
                </a:solidFill>
                <a:latin typeface="Segoe UI"/>
              </a:rPr>
              <a:t> shows </a:t>
            </a:r>
            <a:r>
              <a:rPr sz="1900" b="1" i="0">
                <a:solidFill>
                  <a:srgbClr val="1A5276"/>
                </a:solidFill>
                <a:latin typeface="Consolas"/>
              </a:rPr>
              <a:t>Standby unknown</a:t>
            </a:r>
            <a:r>
              <a:rPr sz="2000" b="1" i="0">
                <a:solidFill>
                  <a:srgbClr val="1A5276"/>
                </a:solidFill>
                <a:latin typeface="Segoe UI"/>
              </a:rPr>
              <a:t> on both routers. What does that indicate?</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That the two routers are not seeing each other’s hellos — so each believes it is alone. Causes: mismatched group numbers, different subnets, a VLAN or trunk fault between them, or an ACL blocking the multicast. Both then claim active, and two devices answer for the same IP.</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 router is configured with priority 150 and a tracked interface with decrement 10. Its peer is at 100. The tracked interface fails. What happens, and is it what was intended?</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3</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 router is configured with priority 150 and a tracked interface with decrement 10. Its peer is at 100. The tracked interface fails. What happens, and is it what was intended?</a:t>
            </a:r>
          </a:p>
        </p:txBody>
      </p:sp>
      <p:sp>
        <p:nvSpPr>
          <p:cNvPr id="8" name="abar"/>
          <p:cNvSpPr/>
          <p:nvPr/>
        </p:nvSpPr>
        <p:spPr>
          <a:xfrm>
            <a:off x="685800" y="2511044"/>
            <a:ext cx="41148" cy="1455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The priority drops to 140, which is still above the peer’s 100, so </a:t>
            </a:r>
            <a:r>
              <a:rPr sz="1900" b="1" i="0">
                <a:solidFill>
                  <a:srgbClr val="1C252B"/>
                </a:solidFill>
                <a:latin typeface="Segoe UI"/>
              </a:rPr>
              <a:t>nothing happens</a:t>
            </a:r>
            <a:r>
              <a:rPr sz="1900" b="0" i="0">
                <a:solidFill>
                  <a:srgbClr val="1C252B"/>
                </a:solidFill>
                <a:latin typeface="Segoe UI"/>
              </a:rPr>
              <a:t> — the router keeps the active role despite having lost the tracked interface. That is almost certainly not what was intended: the decrement must be large enough to take the priority </a:t>
            </a:r>
            <a:r>
              <a:rPr sz="1900" b="0" i="1">
                <a:solidFill>
                  <a:srgbClr val="1C252B"/>
                </a:solidFill>
                <a:latin typeface="Segoe UI"/>
              </a:rPr>
              <a:t>below</a:t>
            </a:r>
            <a:r>
              <a:rPr sz="1900" b="0" i="0">
                <a:solidFill>
                  <a:srgbClr val="1C252B"/>
                </a:solidFill>
                <a:latin typeface="Segoe UI"/>
              </a:rPr>
              <a:t> the peer’s, so 51 or more.</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19. First Hop Redundancy: HSRP and VRRP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3.4</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6C3483"/>
                </a:solidFill>
                <a:latin typeface="Segoe UI"/>
              </a:rPr>
              <a:t>•  </a:t>
            </a:r>
            <a:r>
              <a:rPr sz="2000" b="0" i="0">
                <a:solidFill>
                  <a:srgbClr val="1C252B"/>
                </a:solidFill>
                <a:latin typeface="Segoe UI"/>
              </a:rPr>
              <a:t>Hosts have one static gateway address, so redundancy has to be provided below them: two routers share a virtual IP </a:t>
            </a:r>
            <a:r>
              <a:rPr sz="2000" b="0" i="1">
                <a:solidFill>
                  <a:srgbClr val="1C252B"/>
                </a:solidFill>
                <a:latin typeface="Segoe UI"/>
              </a:rPr>
              <a:t>and</a:t>
            </a:r>
            <a:r>
              <a:rPr sz="2000" b="0" i="0">
                <a:solidFill>
                  <a:srgbClr val="1C252B"/>
                </a:solidFill>
                <a:latin typeface="Segoe UI"/>
              </a:rPr>
              <a:t> a virtual MAC.</a:t>
            </a:r>
          </a:p>
          <a:p>
            <a:pPr marL="228600" indent="-228600">
              <a:lnSpc>
                <a:spcPct val="102000"/>
              </a:lnSpc>
              <a:spcAft>
                <a:spcPts val="900"/>
              </a:spcAft>
            </a:pPr>
            <a:r>
              <a:rPr sz="2000" b="1">
                <a:solidFill>
                  <a:srgbClr val="6C3483"/>
                </a:solidFill>
                <a:latin typeface="Segoe UI"/>
              </a:rPr>
              <a:t>•  </a:t>
            </a:r>
            <a:r>
              <a:rPr sz="2000" b="0" i="0">
                <a:solidFill>
                  <a:srgbClr val="1C252B"/>
                </a:solidFill>
                <a:latin typeface="Segoe UI"/>
              </a:rPr>
              <a:t>HSRP is Cisco, uses active and standby, and </a:t>
            </a:r>
            <a:r>
              <a:rPr sz="2000" b="1" i="0">
                <a:solidFill>
                  <a:srgbClr val="1C252B"/>
                </a:solidFill>
                <a:latin typeface="Segoe UI"/>
              </a:rPr>
              <a:t>does not preempt by default</a:t>
            </a:r>
            <a:r>
              <a:rPr sz="2000" b="0" i="0">
                <a:solidFill>
                  <a:srgbClr val="1C252B"/>
                </a:solidFill>
                <a:latin typeface="Segoe UI"/>
              </a:rPr>
              <a:t>. VRRP is standard, uses master and backup, and does.</a:t>
            </a:r>
          </a:p>
          <a:p>
            <a:pPr marL="228600" indent="-228600">
              <a:lnSpc>
                <a:spcPct val="102000"/>
              </a:lnSpc>
              <a:spcAft>
                <a:spcPts val="900"/>
              </a:spcAft>
            </a:pPr>
            <a:r>
              <a:rPr sz="2000" b="1">
                <a:solidFill>
                  <a:srgbClr val="6C3483"/>
                </a:solidFill>
                <a:latin typeface="Segoe UI"/>
              </a:rPr>
              <a:t>•  </a:t>
            </a:r>
            <a:r>
              <a:rPr sz="2000" b="0" i="0">
                <a:solidFill>
                  <a:srgbClr val="1C252B"/>
                </a:solidFill>
                <a:latin typeface="Segoe UI"/>
              </a:rPr>
              <a:t>Priority decides; preemption decides whether the better router takes the role back.</a:t>
            </a:r>
          </a:p>
          <a:p>
            <a:pPr marL="228600" indent="-228600">
              <a:lnSpc>
                <a:spcPct val="102000"/>
              </a:lnSpc>
              <a:spcAft>
                <a:spcPts val="900"/>
              </a:spcAft>
            </a:pPr>
            <a:r>
              <a:rPr sz="2000" b="1">
                <a:solidFill>
                  <a:srgbClr val="6C3483"/>
                </a:solidFill>
                <a:latin typeface="Segoe UI"/>
              </a:rPr>
              <a:t>•  </a:t>
            </a:r>
            <a:r>
              <a:rPr sz="2000" b="0" i="0">
                <a:solidFill>
                  <a:srgbClr val="1C252B"/>
                </a:solidFill>
                <a:latin typeface="Segoe UI"/>
              </a:rPr>
              <a:t>Track the uplink, with a decrement large enough to cross the priority gap, or the active router can become a black hole.</a:t>
            </a:r>
          </a:p>
          <a:p>
            <a:pPr marL="228600" indent="-228600">
              <a:lnSpc>
                <a:spcPct val="102000"/>
              </a:lnSpc>
              <a:spcAft>
                <a:spcPts val="900"/>
              </a:spcAft>
            </a:pPr>
            <a:r>
              <a:rPr sz="2000" b="1">
                <a:solidFill>
                  <a:srgbClr val="6C3483"/>
                </a:solidFill>
                <a:latin typeface="Segoe UI"/>
              </a:rPr>
              <a:t>•  </a:t>
            </a:r>
            <a:r>
              <a:rPr sz="2000" b="0" i="0">
                <a:solidFill>
                  <a:srgbClr val="1C252B"/>
                </a:solidFill>
                <a:latin typeface="Segoe UI"/>
              </a:rPr>
              <a:t>Interpret </a:t>
            </a:r>
            <a:r>
              <a:rPr sz="1900" b="0" i="0">
                <a:solidFill>
                  <a:srgbClr val="1A5276"/>
                </a:solidFill>
                <a:latin typeface="Consolas"/>
              </a:rPr>
              <a:t>show standby brief</a:t>
            </a:r>
            <a:r>
              <a:rPr sz="2000" b="0" i="0">
                <a:solidFill>
                  <a:srgbClr val="1C252B"/>
                </a:solidFill>
                <a:latin typeface="Segoe UI"/>
              </a:rPr>
              <a:t> by columns: priority, the </a:t>
            </a:r>
            <a:r>
              <a:rPr sz="1900" b="0" i="0">
                <a:solidFill>
                  <a:srgbClr val="1A5276"/>
                </a:solidFill>
                <a:latin typeface="Consolas"/>
              </a:rPr>
              <a:t>P</a:t>
            </a:r>
            <a:r>
              <a:rPr sz="2000" b="0" i="0">
                <a:solidFill>
                  <a:srgbClr val="1C252B"/>
                </a:solidFill>
                <a:latin typeface="Segoe UI"/>
              </a:rPr>
              <a:t> flag, state, and who is named as partner. </a:t>
            </a:r>
            <a:r>
              <a:rPr sz="1900" b="0" i="0">
                <a:solidFill>
                  <a:srgbClr val="1A5276"/>
                </a:solidFill>
                <a:latin typeface="Consolas"/>
              </a:rPr>
              <a:t>Standby unknown</a:t>
            </a:r>
            <a:r>
              <a:rPr sz="2000" b="0" i="0">
                <a:solidFill>
                  <a:srgbClr val="1C252B"/>
                </a:solidFill>
                <a:latin typeface="Segoe UI"/>
              </a:rPr>
              <a:t> means the two are not peering.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6C3483"/>
        </a:solidFill>
        <a:effectLst/>
      </p:bgPr>
    </p:bg>
    <p:spTree>
      <p:nvGrpSpPr>
        <p:cNvPr id="1" name=""/>
        <p:cNvGrpSpPr/>
        <p:nvPr/>
      </p:nvGrpSpPr>
      <p:grpSpPr/>
      <p:sp>
        <p:nvSpPr>
          <p:cNvPr id="2" name="bg"/>
          <p:cNvSpPr/>
          <p:nvPr/>
        </p:nvSpPr>
        <p:spPr>
          <a:xfrm>
            <a:off x="0" y="0"/>
            <a:ext cx="12191695" cy="68580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Hosts have one static gateway address, so redundancy has to be provided below them: two routers share a virtual IP </a:t>
            </a:r>
            <a:r>
              <a:rPr sz="1900" b="0" i="1">
                <a:solidFill>
                  <a:srgbClr val="FFFFFF"/>
                </a:solidFill>
                <a:latin typeface="Segoe UI"/>
              </a:rPr>
              <a:t>and</a:t>
            </a:r>
            <a:r>
              <a:rPr sz="1900" b="0" i="0">
                <a:solidFill>
                  <a:srgbClr val="FFFFFF"/>
                </a:solidFill>
                <a:latin typeface="Segoe UI"/>
              </a:rPr>
              <a:t> a virtual MAC.</a:t>
            </a:r>
          </a:p>
          <a:p>
            <a:pPr marL="217169" indent="-217169">
              <a:spcAft>
                <a:spcPts val="900"/>
              </a:spcAft>
            </a:pPr>
            <a:r>
              <a:rPr sz="1900">
                <a:solidFill>
                  <a:srgbClr val="C8D6E5"/>
                </a:solidFill>
              </a:rPr>
              <a:t>•  </a:t>
            </a:r>
            <a:r>
              <a:rPr sz="1900" b="0" i="0">
                <a:solidFill>
                  <a:srgbClr val="FFFFFF"/>
                </a:solidFill>
                <a:latin typeface="Segoe UI"/>
              </a:rPr>
              <a:t>HSRP is Cisco, uses active and standby, and </a:t>
            </a:r>
            <a:r>
              <a:rPr sz="1900" b="1" i="0">
                <a:solidFill>
                  <a:srgbClr val="FFFFFF"/>
                </a:solidFill>
                <a:latin typeface="Segoe UI"/>
              </a:rPr>
              <a:t>does not preempt by default</a:t>
            </a:r>
            <a:r>
              <a:rPr sz="1900" b="0" i="0">
                <a:solidFill>
                  <a:srgbClr val="FFFFFF"/>
                </a:solidFill>
                <a:latin typeface="Segoe UI"/>
              </a:rPr>
              <a:t>. VRRP is standard, uses master and backup, and does.</a:t>
            </a:r>
          </a:p>
          <a:p>
            <a:pPr marL="217169" indent="-217169">
              <a:spcAft>
                <a:spcPts val="900"/>
              </a:spcAft>
            </a:pPr>
            <a:r>
              <a:rPr sz="1900">
                <a:solidFill>
                  <a:srgbClr val="C8D6E5"/>
                </a:solidFill>
              </a:rPr>
              <a:t>•  </a:t>
            </a:r>
            <a:r>
              <a:rPr sz="1900" b="0" i="0">
                <a:solidFill>
                  <a:srgbClr val="FFFFFF"/>
                </a:solidFill>
                <a:latin typeface="Segoe UI"/>
              </a:rPr>
              <a:t>Priority decides; preemption decides whether the better router takes the role back.</a:t>
            </a:r>
          </a:p>
          <a:p>
            <a:pPr marL="217169" indent="-217169">
              <a:spcAft>
                <a:spcPts val="900"/>
              </a:spcAft>
            </a:pPr>
            <a:r>
              <a:rPr sz="1900">
                <a:solidFill>
                  <a:srgbClr val="C8D6E5"/>
                </a:solidFill>
              </a:rPr>
              <a:t>•  </a:t>
            </a:r>
            <a:r>
              <a:rPr sz="1900" b="0" i="0">
                <a:solidFill>
                  <a:srgbClr val="FFFFFF"/>
                </a:solidFill>
                <a:latin typeface="Segoe UI"/>
              </a:rPr>
              <a:t>Track the uplink, with a decrement large enough to cross the priority gap, or the active router can become a black hole.</a:t>
            </a:r>
          </a:p>
        </p:txBody>
      </p:sp>
      <p:sp>
        <p:nvSpPr>
          <p:cNvPr id="5" name="nextbg"/>
          <p:cNvSpPr/>
          <p:nvPr/>
        </p:nvSpPr>
        <p:spPr>
          <a:xfrm>
            <a:off x="685800" y="5303520"/>
            <a:ext cx="10820095" cy="822960"/>
          </a:xfrm>
          <a:prstGeom prst="rect">
            <a:avLst/>
          </a:prstGeom>
          <a:solidFill>
            <a:srgbClr val="561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20 — DHCP: Client, Server and Relay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