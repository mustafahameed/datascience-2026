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Networks, Models and This Exam. Blueprint topics: none.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seconds. Students meeting a chapter in week ten cannot place it without being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Networks, Models and This Exam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computers in the same room, joined by a cable, can exchange bytes. Everything else in networking exists because that arrangement does not scale. Add a third machine and you need a way to say which machine you mean. Add a building and you need a way to find a machine you cannot see. Add the internet and you need a way to reach a machine whose owner you have never met, over equipment owned by people you will never meet either.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network stack is split into layers so that each layer can be changed without rewriting the others. Wi-Fi replaced the cable without anyone rewriting the web. That is the engineering argument, and it is real, but it is not why the layered model matters to you this year.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two rows are where this exam starts: topic 1.1 is entirely physical-layer diagnosis, and it is examined in Chapter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chapter of this book carries its topic numbers under the title. If you want to revise by blueprint rather than by chapter, Appendix app:coverage maps all twenty-nine topics to the chapters that cover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04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01</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Networks, Models and This Exam</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I — Foundations</a:t>
            </a:r>
          </a:p>
        </p:txBody>
      </p:sp>
      <p:sp>
        <p:nvSpPr>
          <p:cNvPr id="8"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9"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pic>
        <p:nvPicPr>
          <p:cNvPr id="10" name="logo-iub-logo-white" descr="iub-logo-white.png"/>
          <p:cNvPicPr>
            <a:picLocks noChangeAspect="1"/>
          </p:cNvPicPr>
          <p:nvPr/>
        </p:nvPicPr>
        <p:blipFill>
          <a:blip r:embed="rId2"/>
          <a:stretch>
            <a:fillRect/>
          </a:stretch>
        </p:blipFill>
        <p:spPr>
          <a:xfrm>
            <a:off x="9131978" y="4443984"/>
            <a:ext cx="1070141" cy="1060704"/>
          </a:xfrm>
          <a:prstGeom prst="rect">
            <a:avLst/>
          </a:prstGeom>
        </p:spPr>
      </p:pic>
      <p:pic>
        <p:nvPicPr>
          <p:cNvPr id="11" name="logo-dit-logo" descr="dit-logo.png"/>
          <p:cNvPicPr>
            <a:picLocks noChangeAspect="1"/>
          </p:cNvPicPr>
          <p:nvPr/>
        </p:nvPicPr>
        <p:blipFill>
          <a:blip r:embed="rId3"/>
          <a:stretch>
            <a:fillRect/>
          </a:stretch>
        </p:blipFill>
        <p:spPr>
          <a:xfrm>
            <a:off x="10476439" y="4443984"/>
            <a:ext cx="1029456" cy="1060704"/>
          </a:xfrm>
          <a:prstGeom prst="rect">
            <a:avLst/>
          </a:prstGeom>
        </p:spPr>
      </p:pic>
      <p:sp>
        <p:nvSpPr>
          <p:cNvPr id="12" name="lockup1"/>
          <p:cNvSpPr txBox="1"/>
          <p:nvPr/>
        </p:nvSpPr>
        <p:spPr>
          <a:xfrm>
            <a:off x="7116775" y="5632704"/>
            <a:ext cx="4389120" cy="274320"/>
          </a:xfrm>
          <a:prstGeom prst="rect">
            <a:avLst/>
          </a:prstGeom>
          <a:noFill/>
        </p:spPr>
        <p:txBody>
          <a:bodyPr wrap="square" anchor="t" lIns="0" rIns="0" tIns="0" bIns="0">
            <a:spAutoFit/>
          </a:bodyPr>
          <a:lstStyle/>
          <a:p>
            <a:pPr algn="r">
              <a:lnSpc>
                <a:spcPct val="100000"/>
              </a:lnSpc>
              <a:spcAft>
                <a:spcPts val="600"/>
              </a:spcAft>
            </a:pPr>
            <a:r>
              <a:rPr sz="1200" b="1" i="0">
                <a:solidFill>
                  <a:srgbClr val="FFFFFF"/>
                </a:solidFill>
                <a:latin typeface="Segoe UI"/>
              </a:rPr>
              <a:t>THE ISLAMIA UNIVERSITY OF BAHAWALPUR</a:t>
            </a:r>
          </a:p>
        </p:txBody>
      </p:sp>
      <p:sp>
        <p:nvSpPr>
          <p:cNvPr id="13" name="lockup2"/>
          <p:cNvSpPr txBox="1"/>
          <p:nvPr/>
        </p:nvSpPr>
        <p:spPr>
          <a:xfrm>
            <a:off x="7116775" y="5870448"/>
            <a:ext cx="4389120" cy="256032"/>
          </a:xfrm>
          <a:prstGeom prst="rect">
            <a:avLst/>
          </a:prstGeom>
          <a:noFill/>
        </p:spPr>
        <p:txBody>
          <a:bodyPr wrap="square" anchor="t" lIns="0" rIns="0" tIns="0" bIns="0">
            <a:spAutoFit/>
          </a:bodyPr>
          <a:lstStyle/>
          <a:p>
            <a:pPr algn="r">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THE COURSE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Where this chapter sits</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part1bg"/>
          <p:cNvSpPr/>
          <p:nvPr/>
        </p:nvSpPr>
        <p:spPr>
          <a:xfrm>
            <a:off x="685800" y="1792224"/>
            <a:ext cx="10820095" cy="56692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part1rule"/>
          <p:cNvSpPr/>
          <p:nvPr/>
        </p:nvSpPr>
        <p:spPr>
          <a:xfrm>
            <a:off x="685800" y="1792224"/>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art1n"/>
          <p:cNvSpPr txBox="1"/>
          <p:nvPr/>
        </p:nvSpPr>
        <p:spPr>
          <a:xfrm>
            <a:off x="941832" y="1938528"/>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A5276"/>
                </a:solidFill>
                <a:latin typeface="Segoe UI"/>
              </a:rPr>
              <a:t>Part I</a:t>
            </a:r>
          </a:p>
        </p:txBody>
      </p:sp>
      <p:sp>
        <p:nvSpPr>
          <p:cNvPr id="10" name="part1t"/>
          <p:cNvSpPr txBox="1"/>
          <p:nvPr/>
        </p:nvSpPr>
        <p:spPr>
          <a:xfrm>
            <a:off x="2194560" y="1938528"/>
            <a:ext cx="7711135"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1C252B"/>
                </a:solidFill>
                <a:latin typeface="Segoe UI"/>
              </a:rPr>
              <a:t>Foundations</a:t>
            </a:r>
          </a:p>
        </p:txBody>
      </p:sp>
      <p:sp>
        <p:nvSpPr>
          <p:cNvPr id="11" name="part1c"/>
          <p:cNvSpPr txBox="1"/>
          <p:nvPr/>
        </p:nvSpPr>
        <p:spPr>
          <a:xfrm>
            <a:off x="9951415" y="1938528"/>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1A5276"/>
                </a:solidFill>
                <a:latin typeface="Segoe UI"/>
              </a:rPr>
              <a:t>chapters 1–7</a:t>
            </a:r>
          </a:p>
        </p:txBody>
      </p:sp>
      <p:sp>
        <p:nvSpPr>
          <p:cNvPr id="12" name="part2bg"/>
          <p:cNvSpPr/>
          <p:nvPr/>
        </p:nvSpPr>
        <p:spPr>
          <a:xfrm>
            <a:off x="685800" y="2450591"/>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art2rule"/>
          <p:cNvSpPr/>
          <p:nvPr/>
        </p:nvSpPr>
        <p:spPr>
          <a:xfrm>
            <a:off x="685800" y="2450591"/>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art2n"/>
          <p:cNvSpPr txBox="1"/>
          <p:nvPr/>
        </p:nvSpPr>
        <p:spPr>
          <a:xfrm>
            <a:off x="941832" y="2596896"/>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a:t>
            </a:r>
          </a:p>
        </p:txBody>
      </p:sp>
      <p:sp>
        <p:nvSpPr>
          <p:cNvPr id="15" name="part2t"/>
          <p:cNvSpPr txBox="1"/>
          <p:nvPr/>
        </p:nvSpPr>
        <p:spPr>
          <a:xfrm>
            <a:off x="2194560" y="2596896"/>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Switching and Network Access</a:t>
            </a:r>
          </a:p>
        </p:txBody>
      </p:sp>
      <p:sp>
        <p:nvSpPr>
          <p:cNvPr id="16" name="part2c"/>
          <p:cNvSpPr txBox="1"/>
          <p:nvPr/>
        </p:nvSpPr>
        <p:spPr>
          <a:xfrm>
            <a:off x="9951415" y="2596896"/>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8–14</a:t>
            </a:r>
          </a:p>
        </p:txBody>
      </p:sp>
      <p:sp>
        <p:nvSpPr>
          <p:cNvPr id="17" name="part3bg"/>
          <p:cNvSpPr/>
          <p:nvPr/>
        </p:nvSpPr>
        <p:spPr>
          <a:xfrm>
            <a:off x="685800" y="3108959"/>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art3rule"/>
          <p:cNvSpPr/>
          <p:nvPr/>
        </p:nvSpPr>
        <p:spPr>
          <a:xfrm>
            <a:off x="685800" y="3108959"/>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art3n"/>
          <p:cNvSpPr txBox="1"/>
          <p:nvPr/>
        </p:nvSpPr>
        <p:spPr>
          <a:xfrm>
            <a:off x="941832" y="3255263"/>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III</a:t>
            </a:r>
          </a:p>
        </p:txBody>
      </p:sp>
      <p:sp>
        <p:nvSpPr>
          <p:cNvPr id="20" name="part3t"/>
          <p:cNvSpPr txBox="1"/>
          <p:nvPr/>
        </p:nvSpPr>
        <p:spPr>
          <a:xfrm>
            <a:off x="2194560" y="3255263"/>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IP Routing</a:t>
            </a:r>
          </a:p>
        </p:txBody>
      </p:sp>
      <p:sp>
        <p:nvSpPr>
          <p:cNvPr id="21" name="part3c"/>
          <p:cNvSpPr txBox="1"/>
          <p:nvPr/>
        </p:nvSpPr>
        <p:spPr>
          <a:xfrm>
            <a:off x="9951415" y="3255263"/>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15–19</a:t>
            </a:r>
          </a:p>
        </p:txBody>
      </p:sp>
      <p:sp>
        <p:nvSpPr>
          <p:cNvPr id="22" name="part4bg"/>
          <p:cNvSpPr/>
          <p:nvPr/>
        </p:nvSpPr>
        <p:spPr>
          <a:xfrm>
            <a:off x="685800" y="3767327"/>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art4rule"/>
          <p:cNvSpPr/>
          <p:nvPr/>
        </p:nvSpPr>
        <p:spPr>
          <a:xfrm>
            <a:off x="685800" y="3767327"/>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art4n"/>
          <p:cNvSpPr txBox="1"/>
          <p:nvPr/>
        </p:nvSpPr>
        <p:spPr>
          <a:xfrm>
            <a:off x="941832" y="3913631"/>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IV</a:t>
            </a:r>
          </a:p>
        </p:txBody>
      </p:sp>
      <p:sp>
        <p:nvSpPr>
          <p:cNvPr id="25" name="part4t"/>
          <p:cNvSpPr txBox="1"/>
          <p:nvPr/>
        </p:nvSpPr>
        <p:spPr>
          <a:xfrm>
            <a:off x="2194560" y="3913631"/>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Network Services and Security</a:t>
            </a:r>
          </a:p>
        </p:txBody>
      </p:sp>
      <p:sp>
        <p:nvSpPr>
          <p:cNvPr id="26" name="part4c"/>
          <p:cNvSpPr txBox="1"/>
          <p:nvPr/>
        </p:nvSpPr>
        <p:spPr>
          <a:xfrm>
            <a:off x="9951415" y="3913631"/>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20–26</a:t>
            </a:r>
          </a:p>
        </p:txBody>
      </p:sp>
      <p:sp>
        <p:nvSpPr>
          <p:cNvPr id="27" name="part5bg"/>
          <p:cNvSpPr/>
          <p:nvPr/>
        </p:nvSpPr>
        <p:spPr>
          <a:xfrm>
            <a:off x="685800" y="4425695"/>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art5rule"/>
          <p:cNvSpPr/>
          <p:nvPr/>
        </p:nvSpPr>
        <p:spPr>
          <a:xfrm>
            <a:off x="685800" y="4425695"/>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art5n"/>
          <p:cNvSpPr txBox="1"/>
          <p:nvPr/>
        </p:nvSpPr>
        <p:spPr>
          <a:xfrm>
            <a:off x="941832" y="4571999"/>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a:t>
            </a:r>
          </a:p>
        </p:txBody>
      </p:sp>
      <p:sp>
        <p:nvSpPr>
          <p:cNvPr id="30" name="part5t"/>
          <p:cNvSpPr txBox="1"/>
          <p:nvPr/>
        </p:nvSpPr>
        <p:spPr>
          <a:xfrm>
            <a:off x="2194560" y="4571999"/>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Wireless, Virtualisation and Operations</a:t>
            </a:r>
          </a:p>
        </p:txBody>
      </p:sp>
      <p:sp>
        <p:nvSpPr>
          <p:cNvPr id="31" name="part5c"/>
          <p:cNvSpPr txBox="1"/>
          <p:nvPr/>
        </p:nvSpPr>
        <p:spPr>
          <a:xfrm>
            <a:off x="9951415" y="4571999"/>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27–32</a:t>
            </a:r>
          </a:p>
        </p:txBody>
      </p:sp>
      <p:sp>
        <p:nvSpPr>
          <p:cNvPr id="32" name="part6bg"/>
          <p:cNvSpPr/>
          <p:nvPr/>
        </p:nvSpPr>
        <p:spPr>
          <a:xfrm>
            <a:off x="685800" y="5084063"/>
            <a:ext cx="10820095" cy="566928"/>
          </a:xfrm>
          <a:prstGeom prst="rect">
            <a:avLst/>
          </a:prstGeom>
          <a:solidFill>
            <a:srgbClr val="F7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art6rule"/>
          <p:cNvSpPr/>
          <p:nvPr/>
        </p:nvSpPr>
        <p:spPr>
          <a:xfrm>
            <a:off x="685800" y="5084063"/>
            <a:ext cx="64008" cy="566928"/>
          </a:xfrm>
          <a:prstGeom prst="rect">
            <a:avLst/>
          </a:prstGeom>
          <a:solidFill>
            <a:srgbClr val="DDE3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part6n"/>
          <p:cNvSpPr txBox="1"/>
          <p:nvPr/>
        </p:nvSpPr>
        <p:spPr>
          <a:xfrm>
            <a:off x="941832" y="5230367"/>
            <a:ext cx="1371600" cy="274320"/>
          </a:xfrm>
          <a:prstGeom prst="rect">
            <a:avLst/>
          </a:prstGeom>
          <a:noFill/>
        </p:spPr>
        <p:txBody>
          <a:bodyPr wrap="square" anchor="t" lIns="0" rIns="0" tIns="0" bIns="0">
            <a:spAutoFit/>
          </a:bodyPr>
          <a:lstStyle/>
          <a:p>
            <a:pPr algn="l">
              <a:lnSpc>
                <a:spcPct val="100000"/>
              </a:lnSpc>
              <a:spcAft>
                <a:spcPts val="600"/>
              </a:spcAft>
            </a:pPr>
            <a:r>
              <a:rPr sz="1400" b="1" i="0">
                <a:solidFill>
                  <a:srgbClr val="8A959A"/>
                </a:solidFill>
                <a:latin typeface="Segoe UI"/>
              </a:rPr>
              <a:t>Part VI</a:t>
            </a:r>
          </a:p>
        </p:txBody>
      </p:sp>
      <p:sp>
        <p:nvSpPr>
          <p:cNvPr id="35" name="part6t"/>
          <p:cNvSpPr txBox="1"/>
          <p:nvPr/>
        </p:nvSpPr>
        <p:spPr>
          <a:xfrm>
            <a:off x="2194560" y="5230367"/>
            <a:ext cx="7711135" cy="274320"/>
          </a:xfrm>
          <a:prstGeom prst="rect">
            <a:avLst/>
          </a:prstGeom>
          <a:noFill/>
        </p:spPr>
        <p:txBody>
          <a:bodyPr wrap="square" anchor="t" lIns="0" rIns="0" tIns="0" bIns="0">
            <a:spAutoFit/>
          </a:bodyPr>
          <a:lstStyle/>
          <a:p>
            <a:pPr algn="l">
              <a:lnSpc>
                <a:spcPct val="100000"/>
              </a:lnSpc>
              <a:spcAft>
                <a:spcPts val="600"/>
              </a:spcAft>
            </a:pPr>
            <a:r>
              <a:rPr sz="1400" b="0" i="0">
                <a:solidFill>
                  <a:srgbClr val="8A959A"/>
                </a:solidFill>
                <a:latin typeface="Segoe UI"/>
              </a:rPr>
              <a:t>Sitting the Exam</a:t>
            </a:r>
          </a:p>
        </p:txBody>
      </p:sp>
      <p:sp>
        <p:nvSpPr>
          <p:cNvPr id="36" name="part6c"/>
          <p:cNvSpPr txBox="1"/>
          <p:nvPr/>
        </p:nvSpPr>
        <p:spPr>
          <a:xfrm>
            <a:off x="9951415" y="5230367"/>
            <a:ext cx="1371600" cy="274320"/>
          </a:xfrm>
          <a:prstGeom prst="rect">
            <a:avLst/>
          </a:prstGeom>
          <a:noFill/>
        </p:spPr>
        <p:txBody>
          <a:bodyPr wrap="square" anchor="t" lIns="0" rIns="0" tIns="0" bIns="0">
            <a:spAutoFit/>
          </a:bodyPr>
          <a:lstStyle/>
          <a:p>
            <a:pPr algn="r">
              <a:lnSpc>
                <a:spcPct val="100000"/>
              </a:lnSpc>
              <a:spcAft>
                <a:spcPts val="600"/>
              </a:spcAft>
            </a:pPr>
            <a:r>
              <a:rPr sz="1200" b="0" i="0">
                <a:solidFill>
                  <a:srgbClr val="8A959A"/>
                </a:solidFill>
                <a:latin typeface="Segoe UI"/>
              </a:rPr>
              <a:t>chapters 33–34</a:t>
            </a:r>
          </a:p>
        </p:txBody>
      </p:sp>
      <p:sp>
        <p:nvSpPr>
          <p:cNvPr id="3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3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Describe</a:t>
            </a:r>
            <a:r>
              <a:rPr sz="2000" b="0" i="0">
                <a:solidFill>
                  <a:srgbClr val="1C252B"/>
                </a:solidFill>
                <a:latin typeface="Segoe UI"/>
              </a:rPr>
              <a:t> what a network does, in terms of the four things every network must solve: naming, addressing, forwarding and error handling.</a:t>
            </a:r>
          </a:p>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Explain</a:t>
            </a:r>
            <a:r>
              <a:rPr sz="2000" b="0" i="0">
                <a:solidFill>
                  <a:srgbClr val="1C252B"/>
                </a:solidFill>
                <a:latin typeface="Segoe UI"/>
              </a:rPr>
              <a:t> the layered model well enough to use it as a troubleshooting tool, which is the only reason this exam still cares about it.</a:t>
            </a:r>
          </a:p>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Identify</a:t>
            </a:r>
            <a:r>
              <a:rPr sz="2000" b="0" i="0">
                <a:solidFill>
                  <a:srgbClr val="1C252B"/>
                </a:solidFill>
                <a:latin typeface="Segoe UI"/>
              </a:rPr>
              <a:t> the devices in a small enterprise network and say what each one decides.</a:t>
            </a:r>
          </a:p>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Navigate</a:t>
            </a:r>
            <a:r>
              <a:rPr sz="2000" b="0" i="0">
                <a:solidFill>
                  <a:srgbClr val="1C252B"/>
                </a:solidFill>
                <a:latin typeface="Segoe UI"/>
              </a:rPr>
              <a:t> the CCNA v2.0 blueprint and this book against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int"/>
          <p:cNvSpPr/>
          <p:nvPr/>
        </p:nvSpPr>
        <p:spPr>
          <a:xfrm>
            <a:off x="685800" y="1517904"/>
            <a:ext cx="10820095" cy="10068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Nothing. This is the first chapter, and the course assumes no prior networking.</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erm-host"/>
          <p:cNvSpPr/>
          <p:nvPr/>
        </p:nvSpPr>
        <p:spPr>
          <a:xfrm>
            <a:off x="685800" y="1609344"/>
            <a:ext cx="6777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host"/>
          <p:cNvSpPr/>
          <p:nvPr/>
        </p:nvSpPr>
        <p:spPr>
          <a:xfrm>
            <a:off x="685800"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host"/>
          <p:cNvSpPr txBox="1"/>
          <p:nvPr/>
        </p:nvSpPr>
        <p:spPr>
          <a:xfrm>
            <a:off x="850392" y="1700784"/>
            <a:ext cx="34861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host</a:t>
            </a:r>
          </a:p>
        </p:txBody>
      </p:sp>
      <p:sp>
        <p:nvSpPr>
          <p:cNvPr id="10" name="term-node"/>
          <p:cNvSpPr/>
          <p:nvPr/>
        </p:nvSpPr>
        <p:spPr>
          <a:xfrm>
            <a:off x="1491615" y="1609344"/>
            <a:ext cx="71780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node"/>
          <p:cNvSpPr/>
          <p:nvPr/>
        </p:nvSpPr>
        <p:spPr>
          <a:xfrm>
            <a:off x="149161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node"/>
          <p:cNvSpPr txBox="1"/>
          <p:nvPr/>
        </p:nvSpPr>
        <p:spPr>
          <a:xfrm>
            <a:off x="1656207" y="1700784"/>
            <a:ext cx="38862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node</a:t>
            </a:r>
          </a:p>
        </p:txBody>
      </p:sp>
      <p:sp>
        <p:nvSpPr>
          <p:cNvPr id="13" name="term-link"/>
          <p:cNvSpPr/>
          <p:nvPr/>
        </p:nvSpPr>
        <p:spPr>
          <a:xfrm>
            <a:off x="2337435" y="1609344"/>
            <a:ext cx="63779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link"/>
          <p:cNvSpPr/>
          <p:nvPr/>
        </p:nvSpPr>
        <p:spPr>
          <a:xfrm>
            <a:off x="233743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link"/>
          <p:cNvSpPr txBox="1"/>
          <p:nvPr/>
        </p:nvSpPr>
        <p:spPr>
          <a:xfrm>
            <a:off x="2502027" y="1700784"/>
            <a:ext cx="30861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link</a:t>
            </a:r>
          </a:p>
        </p:txBody>
      </p:sp>
      <p:sp>
        <p:nvSpPr>
          <p:cNvPr id="16" name="term-frame"/>
          <p:cNvSpPr/>
          <p:nvPr/>
        </p:nvSpPr>
        <p:spPr>
          <a:xfrm>
            <a:off x="3103245" y="1609344"/>
            <a:ext cx="80543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frame"/>
          <p:cNvSpPr/>
          <p:nvPr/>
        </p:nvSpPr>
        <p:spPr>
          <a:xfrm>
            <a:off x="310324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frame"/>
          <p:cNvSpPr txBox="1"/>
          <p:nvPr/>
        </p:nvSpPr>
        <p:spPr>
          <a:xfrm>
            <a:off x="3267837" y="1700784"/>
            <a:ext cx="476250"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frame</a:t>
            </a:r>
          </a:p>
        </p:txBody>
      </p:sp>
      <p:sp>
        <p:nvSpPr>
          <p:cNvPr id="19" name="term-packet"/>
          <p:cNvSpPr/>
          <p:nvPr/>
        </p:nvSpPr>
        <p:spPr>
          <a:xfrm>
            <a:off x="4036695" y="1609344"/>
            <a:ext cx="8721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packet"/>
          <p:cNvSpPr/>
          <p:nvPr/>
        </p:nvSpPr>
        <p:spPr>
          <a:xfrm>
            <a:off x="403669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packet"/>
          <p:cNvSpPr txBox="1"/>
          <p:nvPr/>
        </p:nvSpPr>
        <p:spPr>
          <a:xfrm>
            <a:off x="4201287" y="1700784"/>
            <a:ext cx="5429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packet</a:t>
            </a:r>
          </a:p>
        </p:txBody>
      </p:sp>
      <p:sp>
        <p:nvSpPr>
          <p:cNvPr id="22" name="term-segment"/>
          <p:cNvSpPr/>
          <p:nvPr/>
        </p:nvSpPr>
        <p:spPr>
          <a:xfrm>
            <a:off x="5036820" y="1609344"/>
            <a:ext cx="103974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segment"/>
          <p:cNvSpPr/>
          <p:nvPr/>
        </p:nvSpPr>
        <p:spPr>
          <a:xfrm>
            <a:off x="5036820"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segment"/>
          <p:cNvSpPr txBox="1"/>
          <p:nvPr/>
        </p:nvSpPr>
        <p:spPr>
          <a:xfrm>
            <a:off x="5201412" y="1700784"/>
            <a:ext cx="71056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segment</a:t>
            </a:r>
          </a:p>
        </p:txBody>
      </p:sp>
      <p:sp>
        <p:nvSpPr>
          <p:cNvPr id="25" name="term-encapsulation"/>
          <p:cNvSpPr/>
          <p:nvPr/>
        </p:nvSpPr>
        <p:spPr>
          <a:xfrm>
            <a:off x="6204585" y="1609344"/>
            <a:ext cx="1472183"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encapsulation"/>
          <p:cNvSpPr/>
          <p:nvPr/>
        </p:nvSpPr>
        <p:spPr>
          <a:xfrm>
            <a:off x="620458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encapsulation"/>
          <p:cNvSpPr txBox="1"/>
          <p:nvPr/>
        </p:nvSpPr>
        <p:spPr>
          <a:xfrm>
            <a:off x="6369176" y="1700784"/>
            <a:ext cx="1142999"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encapsulation</a:t>
            </a:r>
          </a:p>
        </p:txBody>
      </p:sp>
      <p:sp>
        <p:nvSpPr>
          <p:cNvPr id="28" name="term-layer"/>
          <p:cNvSpPr/>
          <p:nvPr/>
        </p:nvSpPr>
        <p:spPr>
          <a:xfrm>
            <a:off x="7804785" y="1609344"/>
            <a:ext cx="73494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layer"/>
          <p:cNvSpPr/>
          <p:nvPr/>
        </p:nvSpPr>
        <p:spPr>
          <a:xfrm>
            <a:off x="780478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layer"/>
          <p:cNvSpPr txBox="1"/>
          <p:nvPr/>
        </p:nvSpPr>
        <p:spPr>
          <a:xfrm>
            <a:off x="7969376" y="1700784"/>
            <a:ext cx="40576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layer</a:t>
            </a:r>
          </a:p>
        </p:txBody>
      </p:sp>
      <p:sp>
        <p:nvSpPr>
          <p:cNvPr id="31" name="term-protocol"/>
          <p:cNvSpPr/>
          <p:nvPr/>
        </p:nvSpPr>
        <p:spPr>
          <a:xfrm>
            <a:off x="8667750" y="1609344"/>
            <a:ext cx="98640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protocol"/>
          <p:cNvSpPr/>
          <p:nvPr/>
        </p:nvSpPr>
        <p:spPr>
          <a:xfrm>
            <a:off x="8667750"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protocol"/>
          <p:cNvSpPr txBox="1"/>
          <p:nvPr/>
        </p:nvSpPr>
        <p:spPr>
          <a:xfrm>
            <a:off x="8832342" y="1700784"/>
            <a:ext cx="65722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protocol</a:t>
            </a:r>
          </a:p>
        </p:txBody>
      </p:sp>
      <p:sp>
        <p:nvSpPr>
          <p:cNvPr id="34" name="term-switch"/>
          <p:cNvSpPr/>
          <p:nvPr/>
        </p:nvSpPr>
        <p:spPr>
          <a:xfrm>
            <a:off x="9782175" y="1609344"/>
            <a:ext cx="90258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switch"/>
          <p:cNvSpPr/>
          <p:nvPr/>
        </p:nvSpPr>
        <p:spPr>
          <a:xfrm>
            <a:off x="9782175" y="1609344"/>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switch"/>
          <p:cNvSpPr txBox="1"/>
          <p:nvPr/>
        </p:nvSpPr>
        <p:spPr>
          <a:xfrm>
            <a:off x="9946767" y="1700784"/>
            <a:ext cx="57340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switch</a:t>
            </a:r>
          </a:p>
        </p:txBody>
      </p:sp>
      <p:sp>
        <p:nvSpPr>
          <p:cNvPr id="37" name="term-router"/>
          <p:cNvSpPr/>
          <p:nvPr/>
        </p:nvSpPr>
        <p:spPr>
          <a:xfrm>
            <a:off x="685800" y="2212848"/>
            <a:ext cx="79209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router"/>
          <p:cNvSpPr/>
          <p:nvPr/>
        </p:nvSpPr>
        <p:spPr>
          <a:xfrm>
            <a:off x="685800" y="2212848"/>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router"/>
          <p:cNvSpPr txBox="1"/>
          <p:nvPr/>
        </p:nvSpPr>
        <p:spPr>
          <a:xfrm>
            <a:off x="850392" y="2304288"/>
            <a:ext cx="46291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router</a:t>
            </a:r>
          </a:p>
        </p:txBody>
      </p:sp>
      <p:sp>
        <p:nvSpPr>
          <p:cNvPr id="40" name="term-access layer"/>
          <p:cNvSpPr/>
          <p:nvPr/>
        </p:nvSpPr>
        <p:spPr>
          <a:xfrm>
            <a:off x="1605915" y="2212848"/>
            <a:ext cx="137502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b-access layer"/>
          <p:cNvSpPr/>
          <p:nvPr/>
        </p:nvSpPr>
        <p:spPr>
          <a:xfrm>
            <a:off x="1605915" y="2212848"/>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t-access layer"/>
          <p:cNvSpPr txBox="1"/>
          <p:nvPr/>
        </p:nvSpPr>
        <p:spPr>
          <a:xfrm>
            <a:off x="1770507" y="2304288"/>
            <a:ext cx="104584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access layer</a:t>
            </a:r>
          </a:p>
        </p:txBody>
      </p:sp>
      <p:sp>
        <p:nvSpPr>
          <p:cNvPr id="43" name="term-distribution layer"/>
          <p:cNvSpPr/>
          <p:nvPr/>
        </p:nvSpPr>
        <p:spPr>
          <a:xfrm>
            <a:off x="3108960" y="2212848"/>
            <a:ext cx="171792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b-distribution layer"/>
          <p:cNvSpPr/>
          <p:nvPr/>
        </p:nvSpPr>
        <p:spPr>
          <a:xfrm>
            <a:off x="3108960" y="2212848"/>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t-distribution layer"/>
          <p:cNvSpPr txBox="1"/>
          <p:nvPr/>
        </p:nvSpPr>
        <p:spPr>
          <a:xfrm>
            <a:off x="3273552" y="2304288"/>
            <a:ext cx="138874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distribution layer</a:t>
            </a:r>
          </a:p>
        </p:txBody>
      </p:sp>
      <p:sp>
        <p:nvSpPr>
          <p:cNvPr id="46" name="term-broadcast domain"/>
          <p:cNvSpPr/>
          <p:nvPr/>
        </p:nvSpPr>
        <p:spPr>
          <a:xfrm>
            <a:off x="4954904" y="2212848"/>
            <a:ext cx="1794128"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b-broadcast domain"/>
          <p:cNvSpPr/>
          <p:nvPr/>
        </p:nvSpPr>
        <p:spPr>
          <a:xfrm>
            <a:off x="4954904" y="2212848"/>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t-broadcast domain"/>
          <p:cNvSpPr txBox="1"/>
          <p:nvPr/>
        </p:nvSpPr>
        <p:spPr>
          <a:xfrm>
            <a:off x="5119496" y="2304288"/>
            <a:ext cx="1464944"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broadcast domain</a:t>
            </a:r>
          </a:p>
        </p:txBody>
      </p:sp>
      <p:sp>
        <p:nvSpPr>
          <p:cNvPr id="49" name="term-collision domain"/>
          <p:cNvSpPr/>
          <p:nvPr/>
        </p:nvSpPr>
        <p:spPr>
          <a:xfrm>
            <a:off x="6877049" y="2212848"/>
            <a:ext cx="171411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b-collision domain"/>
          <p:cNvSpPr/>
          <p:nvPr/>
        </p:nvSpPr>
        <p:spPr>
          <a:xfrm>
            <a:off x="6877049" y="2212848"/>
            <a:ext cx="32004" cy="47548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t-collision domain"/>
          <p:cNvSpPr txBox="1"/>
          <p:nvPr/>
        </p:nvSpPr>
        <p:spPr>
          <a:xfrm>
            <a:off x="7041641" y="2304288"/>
            <a:ext cx="1384935" cy="274320"/>
          </a:xfrm>
          <a:prstGeom prst="rect">
            <a:avLst/>
          </a:prstGeom>
          <a:noFill/>
        </p:spPr>
        <p:txBody>
          <a:bodyPr wrap="none" anchor="t" lIns="0" rIns="0" tIns="0" bIns="0">
            <a:spAutoFit/>
          </a:bodyPr>
          <a:lstStyle/>
          <a:p>
            <a:pPr algn="l">
              <a:lnSpc>
                <a:spcPct val="100000"/>
              </a:lnSpc>
              <a:spcAft>
                <a:spcPts val="600"/>
              </a:spcAft>
            </a:pPr>
            <a:r>
              <a:rPr sz="1500" b="0" i="0">
                <a:solidFill>
                  <a:srgbClr val="1C252B"/>
                </a:solidFill>
                <a:latin typeface="Segoe UI"/>
              </a:rPr>
              <a:t>collision domain</a:t>
            </a:r>
          </a:p>
        </p:txBody>
      </p:sp>
      <p:sp>
        <p:nvSpPr>
          <p:cNvPr id="52"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What a network has to solve</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four problems, and the four answers</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int"/>
          <p:cNvSpPr/>
          <p:nvPr/>
        </p:nvSpPr>
        <p:spPr>
          <a:xfrm>
            <a:off x="685800" y="1517904"/>
            <a:ext cx="10820095" cy="486460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1800" b="0" i="0">
                <a:solidFill>
                  <a:srgbClr val="1C252B"/>
                </a:solidFill>
                <a:latin typeface="Segoe UI"/>
              </a:rPr>
              <a:t>Every network technology in this book is an answer to one of four questions.</a:t>
            </a:r>
          </a:p>
        </p:txBody>
      </p:sp>
      <p:sp>
        <p:nvSpPr>
          <p:cNvPr id="9" name="bullets"/>
          <p:cNvSpPr txBox="1"/>
          <p:nvPr/>
        </p:nvSpPr>
        <p:spPr>
          <a:xfrm>
            <a:off x="978408" y="2217420"/>
            <a:ext cx="10234879" cy="4165092"/>
          </a:xfrm>
          <a:prstGeom prst="rect">
            <a:avLst/>
          </a:prstGeom>
          <a:noFill/>
        </p:spPr>
        <p:txBody>
          <a:bodyPr wrap="square" lIns="0" rIns="0" tIns="0" bIns="0">
            <a:spAutoFit/>
          </a:bodyPr>
          <a:lstStyle/>
          <a:p>
            <a:pPr marL="205739" indent="-205739">
              <a:lnSpc>
                <a:spcPct val="102000"/>
              </a:lnSpc>
              <a:spcAft>
                <a:spcPts val="900"/>
              </a:spcAft>
            </a:pPr>
            <a:r>
              <a:rPr sz="1800" b="1">
                <a:solidFill>
                  <a:srgbClr val="1A5276"/>
                </a:solidFill>
                <a:latin typeface="Segoe UI"/>
              </a:rPr>
              <a:t>•  </a:t>
            </a:r>
            <a:r>
              <a:rPr sz="1800" b="1" i="0">
                <a:solidFill>
                  <a:srgbClr val="1C252B"/>
                </a:solidFill>
                <a:latin typeface="Segoe UI"/>
              </a:rPr>
              <a:t>Who am I talking to?</a:t>
            </a:r>
            <a:r>
              <a:rPr sz="1800" b="0" i="0">
                <a:solidFill>
                  <a:srgbClr val="1C252B"/>
                </a:solidFill>
                <a:latin typeface="Segoe UI"/>
              </a:rPr>
              <a:t> → addressing. MAC addresses locally (Chapter 3), IP addresses globally (Chapter 4).</a:t>
            </a:r>
          </a:p>
          <a:p>
            <a:pPr marL="205739" indent="-205739">
              <a:lnSpc>
                <a:spcPct val="102000"/>
              </a:lnSpc>
              <a:spcAft>
                <a:spcPts val="900"/>
              </a:spcAft>
            </a:pPr>
            <a:r>
              <a:rPr sz="1800" b="1">
                <a:solidFill>
                  <a:srgbClr val="1A5276"/>
                </a:solidFill>
                <a:latin typeface="Segoe UI"/>
              </a:rPr>
              <a:t>•  </a:t>
            </a:r>
            <a:r>
              <a:rPr sz="1800" b="1" i="0">
                <a:solidFill>
                  <a:srgbClr val="1C252B"/>
                </a:solidFill>
                <a:latin typeface="Segoe UI"/>
              </a:rPr>
              <a:t>How do I find them?</a:t>
            </a:r>
            <a:r>
              <a:rPr sz="1800" b="0" i="0">
                <a:solidFill>
                  <a:srgbClr val="1C252B"/>
                </a:solidFill>
                <a:latin typeface="Segoe UI"/>
              </a:rPr>
              <a:t> → forwarding. Switches learn (Chapter 3); routers decide (Chapter 15).</a:t>
            </a:r>
          </a:p>
          <a:p>
            <a:pPr marL="205739" indent="-205739">
              <a:lnSpc>
                <a:spcPct val="102000"/>
              </a:lnSpc>
              <a:spcAft>
                <a:spcPts val="900"/>
              </a:spcAft>
            </a:pPr>
            <a:r>
              <a:rPr sz="1800" b="1">
                <a:solidFill>
                  <a:srgbClr val="1A5276"/>
                </a:solidFill>
                <a:latin typeface="Segoe UI"/>
              </a:rPr>
              <a:t>•  </a:t>
            </a:r>
            <a:r>
              <a:rPr sz="1800" b="1" i="0">
                <a:solidFill>
                  <a:srgbClr val="1C252B"/>
                </a:solidFill>
                <a:latin typeface="Segoe UI"/>
              </a:rPr>
              <a:t>How do we not talk over each other?</a:t>
            </a:r>
            <a:r>
              <a:rPr sz="1800" b="0" i="0">
                <a:solidFill>
                  <a:srgbClr val="1C252B"/>
                </a:solidFill>
                <a:latin typeface="Segoe UI"/>
              </a:rPr>
              <a:t> → media access and loop prevention (Chapter 3, Chapter 12).</a:t>
            </a:r>
          </a:p>
          <a:p>
            <a:pPr marL="205739" indent="-205739">
              <a:lnSpc>
                <a:spcPct val="102000"/>
              </a:lnSpc>
              <a:spcAft>
                <a:spcPts val="900"/>
              </a:spcAft>
            </a:pPr>
            <a:r>
              <a:rPr sz="1800" b="1">
                <a:solidFill>
                  <a:srgbClr val="1A5276"/>
                </a:solidFill>
                <a:latin typeface="Segoe UI"/>
              </a:rPr>
              <a:t>•  </a:t>
            </a:r>
            <a:r>
              <a:rPr sz="1800" b="1" i="0">
                <a:solidFill>
                  <a:srgbClr val="1C252B"/>
                </a:solidFill>
                <a:latin typeface="Segoe UI"/>
              </a:rPr>
              <a:t>What if it goes wrong?</a:t>
            </a:r>
            <a:r>
              <a:rPr sz="1800" b="0" i="0">
                <a:solidFill>
                  <a:srgbClr val="1C252B"/>
                </a:solidFill>
                <a:latin typeface="Segoe UI"/>
              </a:rPr>
              <a:t> → error detection, acknowledgement and retransmission (Chapter 6).</a:t>
            </a:r>
          </a:p>
        </p:txBody>
      </p:sp>
      <p:sp>
        <p:nvSpPr>
          <p:cNvPr id="10" name="tailbody"/>
          <p:cNvSpPr txBox="1"/>
          <p:nvPr/>
        </p:nvSpPr>
        <p:spPr>
          <a:xfrm>
            <a:off x="978408" y="5527548"/>
            <a:ext cx="10234879" cy="800100"/>
          </a:xfrm>
          <a:prstGeom prst="rect">
            <a:avLst/>
          </a:prstGeom>
          <a:noFill/>
        </p:spPr>
        <p:txBody>
          <a:bodyPr wrap="square" anchor="t" lIns="0" rIns="0" tIns="0" bIns="0">
            <a:spAutoFit/>
          </a:bodyPr>
          <a:lstStyle/>
          <a:p>
            <a:pPr algn="l">
              <a:lnSpc>
                <a:spcPct val="100000"/>
              </a:lnSpc>
              <a:spcAft>
                <a:spcPts val="600"/>
              </a:spcAft>
            </a:pPr>
            <a:r>
              <a:rPr sz="1800" b="0" i="0">
                <a:solidFill>
                  <a:srgbClr val="1C252B"/>
                </a:solidFill>
                <a:latin typeface="Segoe UI"/>
              </a:rPr>
              <a:t>When you meet a new protocol, ask which of the four it is answering. It will be one of them.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Protocol</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int"/>
          <p:cNvSpPr/>
          <p:nvPr/>
        </p:nvSpPr>
        <p:spPr>
          <a:xfrm>
            <a:off x="685800" y="1517904"/>
            <a:ext cx="10820095" cy="307949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An agreed set of rules for a conversation: what may be said, in what order, in what format, and what to do when the expected reply does not arrive.</a:t>
            </a:r>
          </a:p>
          <a:p>
            <a:pPr algn="l">
              <a:lnSpc>
                <a:spcPct val="100000"/>
              </a:lnSpc>
              <a:spcAft>
                <a:spcPts val="1000"/>
              </a:spcAft>
            </a:pPr>
            <a:r>
              <a:rPr sz="2000" b="0" i="0">
                <a:solidFill>
                  <a:srgbClr val="1C252B"/>
                </a:solidFill>
                <a:latin typeface="Segoe UI"/>
              </a:rPr>
              <a:t>Two people who both know to say “hello”, wait, then speak, have a protocol. Two computers need theirs written down to the bit, because neither can improvise. Almost every capitalised acronym in this book — ARP, DHCP, OSPF, HSRP — is one such agreement, and each exists because somebody had one of the four problems above.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Layers, and why they survive</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model is a troubleshooting tool</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int"/>
          <p:cNvSpPr/>
          <p:nvPr/>
        </p:nvSpPr>
        <p:spPr>
          <a:xfrm>
            <a:off x="685800" y="1517904"/>
            <a:ext cx="10820095" cy="30794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When something does not work, the layered model tells you </a:t>
            </a:r>
            <a:r>
              <a:rPr sz="2000" b="0" i="1">
                <a:solidFill>
                  <a:srgbClr val="1C252B"/>
                </a:solidFill>
                <a:latin typeface="Segoe UI"/>
              </a:rPr>
              <a:t>what to test next</a:t>
            </a:r>
            <a:r>
              <a:rPr sz="2000" b="0" i="0">
                <a:solidFill>
                  <a:srgbClr val="1C252B"/>
                </a:solidFill>
                <a:latin typeface="Segoe UI"/>
              </a:rPr>
              <a:t>. If a cable is unplugged, checking DNS is a waste of a minute you do not have in the exam. Work up: is the link up? Does it have an address? Can it reach its gateway? Can it resolve a name? Every troubleshooting question in this exam — and there are eight topics’ worth — is answered by walking the layers in order.</a:t>
            </a:r>
          </a:p>
          <a:p>
            <a:pPr algn="l">
              <a:lnSpc>
                <a:spcPct val="100000"/>
              </a:lnSpc>
              <a:spcAft>
                <a:spcPts val="1000"/>
              </a:spcAft>
            </a:pPr>
            <a:r>
              <a:rPr sz="2000" b="0" i="0">
                <a:solidFill>
                  <a:srgbClr val="1C252B"/>
                </a:solidFill>
                <a:latin typeface="Segoe UI"/>
              </a:rPr>
              <a:t>The v2.0 blueprint no longer asks you to </a:t>
            </a:r>
            <a:r>
              <a:rPr sz="2000" b="0" i="1">
                <a:solidFill>
                  <a:srgbClr val="1C252B"/>
                </a:solidFill>
                <a:latin typeface="Segoe UI"/>
              </a:rPr>
              <a:t>describe</a:t>
            </a:r>
            <a:r>
              <a:rPr sz="2000" b="0" i="0">
                <a:solidFill>
                  <a:srgbClr val="1C252B"/>
                </a:solidFill>
                <a:latin typeface="Segoe UI"/>
              </a:rPr>
              <a:t> the OSI model, as v1.1 did. It assumes you use it.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Encapsulation, and the names of things</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int"/>
          <p:cNvSpPr/>
          <p:nvPr/>
        </p:nvSpPr>
        <p:spPr>
          <a:xfrm>
            <a:off x="685800" y="1517904"/>
            <a:ext cx="10820095" cy="4864608"/>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As data moves down the stack each layer wraps it in a header. The wrapped unit gets a different name at each layer, and using the right one is how you show you know which layer you are discussing.</a:t>
            </a:r>
          </a:p>
        </p:txBody>
      </p:sp>
      <p:sp>
        <p:nvSpPr>
          <p:cNvPr id="9" name="bullets"/>
          <p:cNvSpPr txBox="1"/>
          <p:nvPr/>
        </p:nvSpPr>
        <p:spPr>
          <a:xfrm>
            <a:off x="978408" y="2910840"/>
            <a:ext cx="10234879" cy="3471672"/>
          </a:xfrm>
          <a:prstGeom prst="rect">
            <a:avLst/>
          </a:prstGeom>
          <a:noFill/>
        </p:spPr>
        <p:txBody>
          <a:bodyPr wrap="square" lIns="0" rIns="0" tIns="0" bIns="0">
            <a:spAutoFit/>
          </a:bodyPr>
          <a:lstStyle/>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Application data becomes a </a:t>
            </a:r>
            <a:r>
              <a:rPr sz="2000" b="1" i="0">
                <a:solidFill>
                  <a:srgbClr val="1A5276"/>
                </a:solidFill>
                <a:latin typeface="Segoe UI"/>
              </a:rPr>
              <a:t>segment</a:t>
            </a:r>
            <a:r>
              <a:rPr sz="2000" b="0" i="0">
                <a:solidFill>
                  <a:srgbClr val="1C252B"/>
                </a:solidFill>
                <a:latin typeface="Segoe UI"/>
              </a:rPr>
              <a:t> at layer 4 (TCP) or a </a:t>
            </a:r>
            <a:r>
              <a:rPr sz="2000" b="1" i="0">
                <a:solidFill>
                  <a:srgbClr val="1A5276"/>
                </a:solidFill>
                <a:latin typeface="Segoe UI"/>
              </a:rPr>
              <a:t>datagram</a:t>
            </a:r>
            <a:r>
              <a:rPr sz="2000" b="0" i="0">
                <a:solidFill>
                  <a:srgbClr val="1C252B"/>
                </a:solidFill>
                <a:latin typeface="Segoe UI"/>
              </a:rPr>
              <a:t> (UDP), when a port number is attached.</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That becomes a </a:t>
            </a:r>
            <a:r>
              <a:rPr sz="2000" b="1" i="0">
                <a:solidFill>
                  <a:srgbClr val="1A5276"/>
                </a:solidFill>
                <a:latin typeface="Segoe UI"/>
              </a:rPr>
              <a:t>packet</a:t>
            </a:r>
            <a:r>
              <a:rPr sz="2000" b="0" i="0">
                <a:solidFill>
                  <a:srgbClr val="1C252B"/>
                </a:solidFill>
                <a:latin typeface="Segoe UI"/>
              </a:rPr>
              <a:t> at layer 3, when IP addresses are attached.</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That becomes a </a:t>
            </a:r>
            <a:r>
              <a:rPr sz="2000" b="1" i="0">
                <a:solidFill>
                  <a:srgbClr val="1A5276"/>
                </a:solidFill>
                <a:latin typeface="Segoe UI"/>
              </a:rPr>
              <a:t>frame</a:t>
            </a:r>
            <a:r>
              <a:rPr sz="2000" b="0" i="0">
                <a:solidFill>
                  <a:srgbClr val="1C252B"/>
                </a:solidFill>
                <a:latin typeface="Segoe UI"/>
              </a:rPr>
              <a:t> at layer 2, when MAC addresses are attached.</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That becomes </a:t>
            </a:r>
            <a:r>
              <a:rPr sz="2000" b="1" i="0">
                <a:solidFill>
                  <a:srgbClr val="1A5276"/>
                </a:solidFill>
                <a:latin typeface="Segoe UI"/>
              </a:rPr>
              <a:t>bits</a:t>
            </a:r>
            <a:r>
              <a:rPr sz="2000" b="0" i="0">
                <a:solidFill>
                  <a:srgbClr val="1C252B"/>
                </a:solidFill>
                <a:latin typeface="Segoe UI"/>
              </a:rPr>
              <a:t> at layer 1.</a:t>
            </a:r>
          </a:p>
        </p:txBody>
      </p:sp>
      <p:sp>
        <p:nvSpPr>
          <p:cNvPr id="10" name="tailbody"/>
          <p:cNvSpPr txBox="1"/>
          <p:nvPr/>
        </p:nvSpPr>
        <p:spPr>
          <a:xfrm>
            <a:off x="978408" y="5494528"/>
            <a:ext cx="10234879" cy="833120"/>
          </a:xfrm>
          <a:prstGeom prst="rect">
            <a:avLst/>
          </a:prstGeom>
          <a:noFill/>
        </p:spPr>
        <p:txBody>
          <a:bodyPr wrap="square" anchor="t" lIns="0" rIns="0" tIns="0" bIns="0">
            <a:spAutoFit/>
          </a:bodyPr>
          <a:lstStyle/>
          <a:p>
            <a:pPr algn="l">
              <a:lnSpc>
                <a:spcPct val="100000"/>
              </a:lnSpc>
              <a:spcAft>
                <a:spcPts val="600"/>
              </a:spcAft>
            </a:pPr>
            <a:r>
              <a:rPr sz="2000" b="0" i="0">
                <a:solidFill>
                  <a:srgbClr val="1C252B"/>
                </a:solidFill>
                <a:latin typeface="Segoe UI"/>
              </a:rPr>
              <a:t>Switches forward frames. Routers forward packets. That single sentence explains most of the difference between the two devices.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The devices, and what each one decides</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devices, and what each one decides</a:t>
            </a:r>
          </a:p>
        </p:txBody>
      </p:sp>
      <p:sp>
        <p:nvSpPr>
          <p:cNvPr id="3"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pic>
        <p:nvPicPr>
          <p:cNvPr id="6" name="figure" descr="smallent.png"/>
          <p:cNvPicPr>
            <a:picLocks noChangeAspect="1"/>
          </p:cNvPicPr>
          <p:nvPr/>
        </p:nvPicPr>
        <p:blipFill>
          <a:blip r:embed="rId2"/>
          <a:stretch>
            <a:fillRect/>
          </a:stretch>
        </p:blipFill>
        <p:spPr>
          <a:xfrm>
            <a:off x="685800" y="1876648"/>
            <a:ext cx="10820095" cy="3397310"/>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A small enterprise network. Access switches connect end devices; a distribution switch aggregates them and routes between VLANs; the router reaches other networks; the firewall polices what leaves. Every chapter in Parts II to IV configures one piece of this picture.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Two domains worth keeping straight</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tint"/>
          <p:cNvSpPr/>
          <p:nvPr/>
        </p:nvSpPr>
        <p:spPr>
          <a:xfrm>
            <a:off x="685800" y="1517904"/>
            <a:ext cx="10820095" cy="307949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a:t>
            </a:r>
            <a:r>
              <a:rPr sz="2000" b="1" i="0">
                <a:solidFill>
                  <a:srgbClr val="1A5276"/>
                </a:solidFill>
                <a:latin typeface="Segoe UI"/>
              </a:rPr>
              <a:t>collision domain</a:t>
            </a:r>
            <a:r>
              <a:rPr sz="2000" b="0" i="0">
                <a:solidFill>
                  <a:srgbClr val="1C252B"/>
                </a:solidFill>
                <a:latin typeface="Segoe UI"/>
              </a:rPr>
              <a:t> is the set of ports that could transmit at the same instant and interfere. Every switch port is its own collision domain, which is why modern switched networks do not collide — and why a </a:t>
            </a:r>
            <a:r>
              <a:rPr sz="1900" b="0" i="0">
                <a:solidFill>
                  <a:srgbClr val="1A5276"/>
                </a:solidFill>
                <a:latin typeface="Consolas"/>
              </a:rPr>
              <a:t>collisions</a:t>
            </a:r>
            <a:r>
              <a:rPr sz="2000" b="0" i="0">
                <a:solidFill>
                  <a:srgbClr val="1C252B"/>
                </a:solidFill>
                <a:latin typeface="Segoe UI"/>
              </a:rPr>
              <a:t> counter that is climbing means something is badly wrong, usually a duplex mismatch (Chapter 2).</a:t>
            </a:r>
          </a:p>
          <a:p>
            <a:pPr algn="l">
              <a:lnSpc>
                <a:spcPct val="100000"/>
              </a:lnSpc>
              <a:spcAft>
                <a:spcPts val="1000"/>
              </a:spcAft>
            </a:pPr>
            <a:r>
              <a:rPr sz="2000" b="0" i="0">
                <a:solidFill>
                  <a:srgbClr val="1C252B"/>
                </a:solidFill>
                <a:latin typeface="Segoe UI"/>
              </a:rPr>
              <a:t>A </a:t>
            </a:r>
            <a:r>
              <a:rPr sz="2000" b="1" i="0">
                <a:solidFill>
                  <a:srgbClr val="1A5276"/>
                </a:solidFill>
                <a:latin typeface="Segoe UI"/>
              </a:rPr>
              <a:t>broadcast domain</a:t>
            </a:r>
            <a:r>
              <a:rPr sz="2000" b="0" i="0">
                <a:solidFill>
                  <a:srgbClr val="1C252B"/>
                </a:solidFill>
                <a:latin typeface="Segoe UI"/>
              </a:rPr>
              <a:t> is the set of devices that receive each other’s broadcasts. One VLAN is one broadcast domain. Splitting broadcast domains is the entire purpose of Chapter 8, and joining them again is the purpose of Chapter 15.</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2331720"/>
            <a:ext cx="12191695" cy="18288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secheading"/>
          <p:cNvSpPr txBox="1"/>
          <p:nvPr/>
        </p:nvSpPr>
        <p:spPr>
          <a:xfrm>
            <a:off x="685800" y="2670048"/>
            <a:ext cx="9448495" cy="1188720"/>
          </a:xfrm>
          <a:prstGeom prst="rect">
            <a:avLst/>
          </a:prstGeom>
          <a:noFill/>
        </p:spPr>
        <p:txBody>
          <a:bodyPr wrap="square" anchor="ctr" lIns="0" rIns="0" tIns="0" bIns="0">
            <a:spAutoFit/>
          </a:bodyPr>
          <a:lstStyle/>
          <a:p>
            <a:pPr algn="l">
              <a:lnSpc>
                <a:spcPct val="100000"/>
              </a:lnSpc>
              <a:spcAft>
                <a:spcPts val="600"/>
              </a:spcAft>
            </a:pPr>
            <a:r>
              <a:rPr sz="3400" b="1" i="0">
                <a:solidFill>
                  <a:srgbClr val="FFFFFF"/>
                </a:solidFill>
                <a:latin typeface="Segoe UI"/>
              </a:rPr>
              <a:t>This exam, and this book</a:t>
            </a:r>
          </a:p>
        </p:txBody>
      </p:sp>
      <p:pic>
        <p:nvPicPr>
          <p:cNvPr id="4" name="logo-iub-logo-white" descr="iub-logo-white.png"/>
          <p:cNvPicPr>
            <a:picLocks noChangeAspect="1"/>
          </p:cNvPicPr>
          <p:nvPr/>
        </p:nvPicPr>
        <p:blipFill>
          <a:blip r:embed="rId2"/>
          <a:stretch>
            <a:fillRect/>
          </a:stretch>
        </p:blipFill>
        <p:spPr>
          <a:xfrm>
            <a:off x="10343500" y="2670048"/>
            <a:ext cx="1162394" cy="1152144"/>
          </a:xfrm>
          <a:prstGeom prst="rect">
            <a:avLst/>
          </a:prstGeom>
        </p:spPr>
      </p:pic>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the blueprint is built, and how to read it</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1A5276"/>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1800" b="0" i="0">
                <a:solidFill>
                  <a:srgbClr val="1C252B"/>
                </a:solidFill>
                <a:latin typeface="Segoe UI"/>
              </a:rPr>
              <a:t>Cisco publishes twenty-nine numbered topics in five domains. The number is the whole contract: if a technique is not in a topic statement, it is not directly examinable, and if it is, the </a:t>
            </a:r>
            <a:r>
              <a:rPr sz="1800" b="0" i="1">
                <a:solidFill>
                  <a:srgbClr val="1C252B"/>
                </a:solidFill>
                <a:latin typeface="Segoe UI"/>
              </a:rPr>
              <a:t>verb</a:t>
            </a:r>
            <a:r>
              <a:rPr sz="1800" b="0" i="0">
                <a:solidFill>
                  <a:srgbClr val="1C252B"/>
                </a:solidFill>
                <a:latin typeface="Segoe UI"/>
              </a:rPr>
              <a:t> tells you the depth expected.</a:t>
            </a:r>
          </a:p>
        </p:txBody>
      </p:sp>
      <p:sp>
        <p:nvSpPr>
          <p:cNvPr id="9" name="bullets"/>
          <p:cNvSpPr txBox="1"/>
          <p:nvPr/>
        </p:nvSpPr>
        <p:spPr>
          <a:xfrm>
            <a:off x="685800" y="2958084"/>
            <a:ext cx="10820095" cy="3424428"/>
          </a:xfrm>
          <a:prstGeom prst="rect">
            <a:avLst/>
          </a:prstGeom>
          <a:noFill/>
        </p:spPr>
        <p:txBody>
          <a:bodyPr wrap="square" lIns="0" rIns="0" tIns="0" bIns="0">
            <a:spAutoFit/>
          </a:bodyPr>
          <a:lstStyle/>
          <a:p>
            <a:pPr marL="205739" indent="-205739">
              <a:lnSpc>
                <a:spcPct val="102000"/>
              </a:lnSpc>
              <a:spcAft>
                <a:spcPts val="900"/>
              </a:spcAft>
            </a:pPr>
            <a:r>
              <a:rPr sz="1800" b="1">
                <a:solidFill>
                  <a:srgbClr val="1A5276"/>
                </a:solidFill>
                <a:latin typeface="Segoe UI"/>
              </a:rPr>
              <a:t>•  </a:t>
            </a:r>
            <a:r>
              <a:rPr sz="1800" b="0" i="1">
                <a:solidFill>
                  <a:srgbClr val="1C252B"/>
                </a:solidFill>
                <a:latin typeface="Segoe UI"/>
              </a:rPr>
              <a:t>Describe</a:t>
            </a:r>
            <a:r>
              <a:rPr sz="1800" b="0" i="0">
                <a:solidFill>
                  <a:srgbClr val="1C252B"/>
                </a:solidFill>
                <a:latin typeface="Segoe UI"/>
              </a:rPr>
              <a:t> — you must be able to explain it. Six topics.</a:t>
            </a:r>
          </a:p>
          <a:p>
            <a:pPr marL="205739" indent="-205739">
              <a:lnSpc>
                <a:spcPct val="102000"/>
              </a:lnSpc>
              <a:spcAft>
                <a:spcPts val="900"/>
              </a:spcAft>
            </a:pPr>
            <a:r>
              <a:rPr sz="1800" b="1">
                <a:solidFill>
                  <a:srgbClr val="1A5276"/>
                </a:solidFill>
                <a:latin typeface="Segoe UI"/>
              </a:rPr>
              <a:t>•  </a:t>
            </a:r>
            <a:r>
              <a:rPr sz="1800" b="0" i="1">
                <a:solidFill>
                  <a:srgbClr val="1C252B"/>
                </a:solidFill>
                <a:latin typeface="Segoe UI"/>
              </a:rPr>
              <a:t>Interpret</a:t>
            </a:r>
            <a:r>
              <a:rPr sz="1800" b="0" i="0">
                <a:solidFill>
                  <a:srgbClr val="1C252B"/>
                </a:solidFill>
                <a:latin typeface="Segoe UI"/>
              </a:rPr>
              <a:t>, </a:t>
            </a:r>
            <a:r>
              <a:rPr sz="1800" b="0" i="1">
                <a:solidFill>
                  <a:srgbClr val="1C252B"/>
                </a:solidFill>
                <a:latin typeface="Segoe UI"/>
              </a:rPr>
              <a:t>Validate</a:t>
            </a:r>
            <a:r>
              <a:rPr sz="1800" b="0" i="0">
                <a:solidFill>
                  <a:srgbClr val="1C252B"/>
                </a:solidFill>
                <a:latin typeface="Segoe UI"/>
              </a:rPr>
              <a:t>, </a:t>
            </a:r>
            <a:r>
              <a:rPr sz="1800" b="0" i="1">
                <a:solidFill>
                  <a:srgbClr val="1C252B"/>
                </a:solidFill>
                <a:latin typeface="Segoe UI"/>
              </a:rPr>
              <a:t>Select</a:t>
            </a:r>
            <a:r>
              <a:rPr sz="1800" b="0" i="0">
                <a:solidFill>
                  <a:srgbClr val="1C252B"/>
                </a:solidFill>
                <a:latin typeface="Segoe UI"/>
              </a:rPr>
              <a:t>, </a:t>
            </a:r>
            <a:r>
              <a:rPr sz="1800" b="0" i="1">
                <a:solidFill>
                  <a:srgbClr val="1C252B"/>
                </a:solidFill>
                <a:latin typeface="Segoe UI"/>
              </a:rPr>
              <a:t>Use</a:t>
            </a:r>
            <a:r>
              <a:rPr sz="1800" b="0" i="0">
                <a:solidFill>
                  <a:srgbClr val="1C252B"/>
                </a:solidFill>
                <a:latin typeface="Segoe UI"/>
              </a:rPr>
              <a:t>, </a:t>
            </a:r>
            <a:r>
              <a:rPr sz="1800" b="0" i="1">
                <a:solidFill>
                  <a:srgbClr val="1C252B"/>
                </a:solidFill>
                <a:latin typeface="Segoe UI"/>
              </a:rPr>
              <a:t>Manage</a:t>
            </a:r>
            <a:r>
              <a:rPr sz="1800" b="0" i="0">
                <a:solidFill>
                  <a:srgbClr val="1C252B"/>
                </a:solidFill>
                <a:latin typeface="Segoe UI"/>
              </a:rPr>
              <a:t> — you must be able to read output or make a choice. Seven topics.</a:t>
            </a:r>
          </a:p>
          <a:p>
            <a:pPr marL="205739" indent="-205739">
              <a:lnSpc>
                <a:spcPct val="102000"/>
              </a:lnSpc>
              <a:spcAft>
                <a:spcPts val="900"/>
              </a:spcAft>
            </a:pPr>
            <a:r>
              <a:rPr sz="1800" b="1">
                <a:solidFill>
                  <a:srgbClr val="1A5276"/>
                </a:solidFill>
                <a:latin typeface="Segoe UI"/>
              </a:rPr>
              <a:t>•  </a:t>
            </a:r>
            <a:r>
              <a:rPr sz="1800" b="0" i="1">
                <a:solidFill>
                  <a:srgbClr val="1C252B"/>
                </a:solidFill>
                <a:latin typeface="Segoe UI"/>
              </a:rPr>
              <a:t>Configure</a:t>
            </a:r>
            <a:r>
              <a:rPr sz="1800" b="0" i="0">
                <a:solidFill>
                  <a:srgbClr val="1C252B"/>
                </a:solidFill>
                <a:latin typeface="Segoe UI"/>
              </a:rPr>
              <a:t> — you must produce the commands. Eight topics.</a:t>
            </a:r>
          </a:p>
          <a:p>
            <a:pPr marL="205739" indent="-205739">
              <a:lnSpc>
                <a:spcPct val="102000"/>
              </a:lnSpc>
              <a:spcAft>
                <a:spcPts val="900"/>
              </a:spcAft>
            </a:pPr>
            <a:r>
              <a:rPr sz="1800" b="1">
                <a:solidFill>
                  <a:srgbClr val="1A5276"/>
                </a:solidFill>
                <a:latin typeface="Segoe UI"/>
              </a:rPr>
              <a:t>•  </a:t>
            </a:r>
            <a:r>
              <a:rPr sz="1800" b="0" i="1">
                <a:solidFill>
                  <a:srgbClr val="1C252B"/>
                </a:solidFill>
                <a:latin typeface="Segoe UI"/>
              </a:rPr>
              <a:t>Troubleshoot</a:t>
            </a:r>
            <a:r>
              <a:rPr sz="1800" b="0" i="0">
                <a:solidFill>
                  <a:srgbClr val="1C252B"/>
                </a:solidFill>
                <a:latin typeface="Segoe UI"/>
              </a:rPr>
              <a:t> or </a:t>
            </a:r>
            <a:r>
              <a:rPr sz="1800" b="0" i="1">
                <a:solidFill>
                  <a:srgbClr val="1C252B"/>
                </a:solidFill>
                <a:latin typeface="Segoe UI"/>
              </a:rPr>
              <a:t>Diagnose</a:t>
            </a:r>
            <a:r>
              <a:rPr sz="1800" b="0" i="0">
                <a:solidFill>
                  <a:srgbClr val="1C252B"/>
                </a:solidFill>
                <a:latin typeface="Segoe UI"/>
              </a:rPr>
              <a:t> — you must find and fix a fault. Eight topics.</a:t>
            </a:r>
          </a:p>
        </p:txBody>
      </p:sp>
      <p:sp>
        <p:nvSpPr>
          <p:cNvPr id="10" name="tailbody"/>
          <p:cNvSpPr txBox="1"/>
          <p:nvPr/>
        </p:nvSpPr>
        <p:spPr>
          <a:xfrm>
            <a:off x="685800" y="5376672"/>
            <a:ext cx="10820095" cy="950976"/>
          </a:xfrm>
          <a:prstGeom prst="rect">
            <a:avLst/>
          </a:prstGeom>
          <a:noFill/>
        </p:spPr>
        <p:txBody>
          <a:bodyPr wrap="square" anchor="t" lIns="0" rIns="0" tIns="0" bIns="0">
            <a:spAutoFit/>
          </a:bodyPr>
          <a:lstStyle/>
          <a:p>
            <a:pPr algn="l">
              <a:lnSpc>
                <a:spcPct val="100000"/>
              </a:lnSpc>
              <a:spcAft>
                <a:spcPts val="600"/>
              </a:spcAft>
            </a:pPr>
            <a:r>
              <a:rPr sz="1800" b="0" i="0">
                <a:solidFill>
                  <a:srgbClr val="1C252B"/>
                </a:solidFill>
                <a:latin typeface="Segoe UI"/>
              </a:rPr>
              <a:t>Sixteen of twenty-nine are configure-or-fix. That is the single most useful fact about this exam, and it should change how you study: time at a command line beats time with a highlighter, by a wide margin.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This exam, and this book</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bullets"/>
          <p:cNvSpPr txBox="1"/>
          <p:nvPr/>
        </p:nvSpPr>
        <p:spPr>
          <a:xfrm>
            <a:off x="685800" y="1901952"/>
            <a:ext cx="10820095" cy="4480560"/>
          </a:xfrm>
          <a:prstGeom prst="rect">
            <a:avLst/>
          </a:prstGeom>
          <a:noFill/>
        </p:spPr>
        <p:txBody>
          <a:bodyPr wrap="square" lIns="0" rIns="0" tIns="0" bIns="0">
            <a:spAutoFit/>
          </a:bodyPr>
          <a:lstStyle/>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Studying a v1.1 book.</a:t>
            </a:r>
            <a:r>
              <a:rPr sz="2000" b="0" i="0">
                <a:solidFill>
                  <a:srgbClr val="1C252B"/>
                </a:solidFill>
                <a:latin typeface="Segoe UI"/>
              </a:rPr>
              <a:t> The exam number, 200-301, did not change when the blueprint did. A book that teaches QoS, NTP, REST APIs, JSON or Terraform in a CCNA context is written for the old blueprint. Check the version before you trust the contents.</a:t>
            </a:r>
          </a:p>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Learning the OSI layers as a list to recite.</a:t>
            </a:r>
            <a:r>
              <a:rPr sz="2000" b="0" i="0">
                <a:solidFill>
                  <a:srgbClr val="1C252B"/>
                </a:solidFill>
                <a:latin typeface="Segoe UI"/>
              </a:rPr>
              <a:t> Nobody will ask you to name layer 6. They will show you a broken network and expect you to work upwards.</a:t>
            </a:r>
          </a:p>
          <a:p>
            <a:pPr marL="228600" indent="-228600">
              <a:lnSpc>
                <a:spcPct val="102000"/>
              </a:lnSpc>
              <a:spcAft>
                <a:spcPts val="900"/>
              </a:spcAft>
            </a:pPr>
            <a:r>
              <a:rPr sz="2000" b="1">
                <a:solidFill>
                  <a:srgbClr val="1A5276"/>
                </a:solidFill>
                <a:latin typeface="Segoe UI"/>
              </a:rPr>
              <a:t>•  </a:t>
            </a:r>
            <a:r>
              <a:rPr sz="2000" b="1" i="0">
                <a:solidFill>
                  <a:srgbClr val="1C252B"/>
                </a:solidFill>
                <a:latin typeface="Segoe UI"/>
              </a:rPr>
              <a:t>Assuming “switch” means layer 2.</a:t>
            </a:r>
            <a:r>
              <a:rPr sz="2000" b="0" i="0">
                <a:solidFill>
                  <a:srgbClr val="1C252B"/>
                </a:solidFill>
                <a:latin typeface="Segoe UI"/>
              </a:rPr>
              <a:t> Multilayer switches route. Most of the distribution layer in a real network is switches doing routing, and topic </a:t>
            </a:r>
            <a:r>
              <a:rPr sz="1600" b="1">
                <a:solidFill>
                  <a:srgbClr val="117864"/>
                </a:solidFill>
                <a:latin typeface="Segoe UI"/>
              </a:rPr>
              <a:t> 2.1 </a:t>
            </a:r>
            <a:r>
              <a:rPr sz="2000" b="0" i="0">
                <a:solidFill>
                  <a:srgbClr val="1C252B"/>
                </a:solidFill>
                <a:latin typeface="Segoe UI"/>
              </a:rPr>
              <a:t> explicitly includes switch virtual interfaces.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Three reports, three different layers, and no commands yet.</a:t>
            </a:r>
          </a:p>
        </p:txBody>
      </p:sp>
      <p:sp>
        <p:nvSpPr>
          <p:cNvPr id="6" name="bfbody"/>
          <p:cNvSpPr txBox="1"/>
          <p:nvPr/>
        </p:nvSpPr>
        <p:spPr>
          <a:xfrm>
            <a:off x="685800" y="2130552"/>
            <a:ext cx="10820095" cy="4224528"/>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You have not configured anything and cannot yet read a </a:t>
            </a:r>
            <a:r>
              <a:rPr sz="1800" b="0" i="0">
                <a:solidFill>
                  <a:srgbClr val="1A5276"/>
                </a:solidFill>
                <a:latin typeface="Consolas"/>
              </a:rPr>
              <a:t>show</a:t>
            </a:r>
            <a:r>
              <a:rPr sz="1900" b="0" i="0">
                <a:solidFill>
                  <a:srgbClr val="1C252B"/>
                </a:solidFill>
                <a:latin typeface="Segoe UI"/>
              </a:rPr>
              <a:t> command. That is deliberate: this first Break &amp; Fix is about </a:t>
            </a:r>
            <a:r>
              <a:rPr sz="1900" b="0" i="1">
                <a:solidFill>
                  <a:srgbClr val="1C252B"/>
                </a:solidFill>
                <a:latin typeface="Segoe UI"/>
              </a:rPr>
              <a:t>placing</a:t>
            </a:r>
            <a:r>
              <a:rPr sz="1900" b="0" i="0">
                <a:solidFill>
                  <a:srgbClr val="1C252B"/>
                </a:solidFill>
                <a:latin typeface="Segoe UI"/>
              </a:rPr>
              <a:t> a fault, not fixing one, because deciding which layer to investigate is the decision that all the later chapters depend on.</a:t>
            </a:r>
          </a:p>
          <a:p>
            <a:pPr algn="l">
              <a:lnSpc>
                <a:spcPct val="100000"/>
              </a:lnSpc>
              <a:spcAft>
                <a:spcPts val="1000"/>
              </a:spcAft>
            </a:pPr>
            <a:r>
              <a:rPr sz="1900" b="0" i="0">
                <a:solidFill>
                  <a:srgbClr val="1C252B"/>
                </a:solidFill>
                <a:latin typeface="Segoe UI"/>
              </a:rPr>
              <a:t>Three reports arrive within an hour.</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1</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Three reports, three different layers, and no commands yet.</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user reports that a web page will not load. Ping to the server’s IP address succeeds. Which layers have you just ruled out, and which is the first one you should now suspect?</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3</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user reports that a web page will not load. Ping to the server’s IP address succeeds. Which layers have you just ruled out, and which is the first one you should now suspect?</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Layers 1 to 3 are ruled out: something reached the server and came back. Suspect layer 7 first — specifically name resolution or the web service itself. Test the name (Chapter 21) and the port (Chapter 6).</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 switch port shows as up, but the </a:t>
            </a:r>
            <a:r>
              <a:rPr sz="2900" b="0" i="0">
                <a:solidFill>
                  <a:srgbClr val="FFFFFF"/>
                </a:solidFill>
                <a:latin typeface="Consolas"/>
              </a:rPr>
              <a:t>collisions</a:t>
            </a:r>
            <a:r>
              <a:rPr sz="3000" b="0" i="0">
                <a:solidFill>
                  <a:srgbClr val="FFFFFF"/>
                </a:solidFill>
                <a:latin typeface="Segoe UI"/>
              </a:rPr>
              <a:t> counter is increasing steadily. Which layer is at fault, and what is the most likely single cause?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3</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 switch port shows as up, but the </a:t>
            </a:r>
            <a:r>
              <a:rPr sz="1900" b="1" i="0">
                <a:solidFill>
                  <a:srgbClr val="1A5276"/>
                </a:solidFill>
                <a:latin typeface="Consolas"/>
              </a:rPr>
              <a:t>collisions</a:t>
            </a:r>
            <a:r>
              <a:rPr sz="2000" b="1" i="0">
                <a:solidFill>
                  <a:srgbClr val="1A5276"/>
                </a:solidFill>
                <a:latin typeface="Segoe UI"/>
              </a:rPr>
              <a:t> counter is increasing steadily. Which layer is at fault, and what is the most likely single cause?</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Layer 1. Rising collisions on a link that reports full duplex means a duplex mismatch: one end is half duplex and is correctly reporting collisions the other end does not see.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3</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Why does a router drop a packet for an unknown network when a switch floods a frame for an unknown MAC address?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3</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Why does a router drop a packet for an unknown network when a switch floods a frame for an unknown MAC address?</a:t>
            </a:r>
          </a:p>
        </p:txBody>
      </p:sp>
      <p:sp>
        <p:nvSpPr>
          <p:cNvPr id="8" name="abar"/>
          <p:cNvSpPr/>
          <p:nvPr/>
        </p:nvSpPr>
        <p:spPr>
          <a:xfrm>
            <a:off x="685800" y="2511044"/>
            <a:ext cx="41148" cy="1455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Because they are different jobs. A switch’s flooding is a </a:t>
            </a:r>
            <a:r>
              <a:rPr sz="1900" b="0" i="1">
                <a:solidFill>
                  <a:srgbClr val="1C252B"/>
                </a:solidFill>
                <a:latin typeface="Segoe UI"/>
              </a:rPr>
              <a:t>recovery</a:t>
            </a:r>
            <a:r>
              <a:rPr sz="1900" b="0" i="0">
                <a:solidFill>
                  <a:srgbClr val="1C252B"/>
                </a:solidFill>
                <a:latin typeface="Segoe UI"/>
              </a:rPr>
              <a:t> mechanism — the destination is probably on one of those ports and will answer, teaching the switch where it is. A router’s unknown network has no such prospect; flooding a packet to every interface would loop and multiply. So a router drops and reports.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1. Networks, Models and This Exam</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Networks solve four problems: addressing, forwarding, media access and error handling. Every protocol you meet answers one of them.</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Layers matter because they tell you what to test next. Work upwards from the physical layer; do not start at DNS.</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Switches forward frames using MAC addresses and flood when they do not know. Routers forward packets using IP addresses and drop when they do not know.</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One VLAN is one broadcast domain. Every switch port is its own collision domain.</a:t>
            </a:r>
          </a:p>
          <a:p>
            <a:pPr marL="228600" indent="-228600">
              <a:lnSpc>
                <a:spcPct val="102000"/>
              </a:lnSpc>
              <a:spcAft>
                <a:spcPts val="900"/>
              </a:spcAft>
            </a:pPr>
            <a:r>
              <a:rPr sz="2000" b="1">
                <a:solidFill>
                  <a:srgbClr val="1A5276"/>
                </a:solidFill>
                <a:latin typeface="Segoe UI"/>
              </a:rPr>
              <a:t>•  </a:t>
            </a:r>
            <a:r>
              <a:rPr sz="2000" b="0" i="0">
                <a:solidFill>
                  <a:srgbClr val="1C252B"/>
                </a:solidFill>
                <a:latin typeface="Segoe UI"/>
              </a:rPr>
              <a:t>CCNA v2.0 has twenty-nine topics. Sixteen of them ask you to configure or to fix. Study accordingly.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Networks solve four problems: addressing, forwarding, media access and error handling. Every protocol you meet answers one of them.</a:t>
            </a:r>
          </a:p>
          <a:p>
            <a:pPr marL="217169" indent="-217169">
              <a:spcAft>
                <a:spcPts val="900"/>
              </a:spcAft>
            </a:pPr>
            <a:r>
              <a:rPr sz="1900">
                <a:solidFill>
                  <a:srgbClr val="C8D6E5"/>
                </a:solidFill>
              </a:rPr>
              <a:t>•  </a:t>
            </a:r>
            <a:r>
              <a:rPr sz="1900" b="0" i="0">
                <a:solidFill>
                  <a:srgbClr val="FFFFFF"/>
                </a:solidFill>
                <a:latin typeface="Segoe UI"/>
              </a:rPr>
              <a:t>Layers matter because they tell you what to test next. Work upwards from the physical layer; do not start at DNS.</a:t>
            </a:r>
          </a:p>
          <a:p>
            <a:pPr marL="217169" indent="-217169">
              <a:spcAft>
                <a:spcPts val="900"/>
              </a:spcAft>
            </a:pPr>
            <a:r>
              <a:rPr sz="1900">
                <a:solidFill>
                  <a:srgbClr val="C8D6E5"/>
                </a:solidFill>
              </a:rPr>
              <a:t>•  </a:t>
            </a:r>
            <a:r>
              <a:rPr sz="1900" b="0" i="0">
                <a:solidFill>
                  <a:srgbClr val="FFFFFF"/>
                </a:solidFill>
                <a:latin typeface="Segoe UI"/>
              </a:rPr>
              <a:t>Switches forward frames using MAC addresses and flood when they do not know. Routers forward packets using IP addresses and drop when they do not know.</a:t>
            </a:r>
          </a:p>
          <a:p>
            <a:pPr marL="217169" indent="-217169">
              <a:spcAft>
                <a:spcPts val="900"/>
              </a:spcAft>
            </a:pPr>
            <a:r>
              <a:rPr sz="1900">
                <a:solidFill>
                  <a:srgbClr val="C8D6E5"/>
                </a:solidFill>
              </a:rPr>
              <a:t>•  </a:t>
            </a:r>
            <a:r>
              <a:rPr sz="1900" b="0" i="0">
                <a:solidFill>
                  <a:srgbClr val="FFFFFF"/>
                </a:solidFill>
                <a:latin typeface="Segoe UI"/>
              </a:rPr>
              <a:t>One VLAN is one broadcast domain. Every switch port is its own collision domain.</a:t>
            </a:r>
          </a:p>
        </p:txBody>
      </p:sp>
      <p:sp>
        <p:nvSpPr>
          <p:cNvPr id="5" name="nextbg"/>
          <p:cNvSpPr/>
          <p:nvPr/>
        </p:nvSpPr>
        <p:spPr>
          <a:xfrm>
            <a:off x="685800" y="5303520"/>
            <a:ext cx="10820095" cy="822960"/>
          </a:xfrm>
          <a:prstGeom prst="rect">
            <a:avLst/>
          </a:prstGeom>
          <a:solidFill>
            <a:srgbClr val="043C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2 — The Physical Layer and Cable Faults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