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Chapter 1: Networks, Models and This Exam. Blueprint topics: none.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Networks, Models and This Exam</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define these now - they are defined as they arrive. This slide is for the students' notes.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computers in the same room, joined by a cable, can exchange bytes. Everything else in networking exists because that arrangement does not scale. Add a third machine and you need a way to say which machine you mean. Add a building and you need a way to find a machine you cannot see. Add the internet and you need a way to reach a machine whose owner you have never met, over equipment owned by people you will never meet either.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network stack is split into layers so that each layer can be changed without rewriting the others. Wi-Fi replaced the cable without anyone rewriting the web. That is the engineering argument, and it is real, but it is not why the layered model matters to you this year.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bottom two rows are where this exam starts: topic 1.1 is entirely physical-layer diagnosis, and it is examined in Chapter 2.</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chapter of this book carries its topic numbers under the title. If you want to revise by blueprint rather than by chapter, Appendix app:coverage maps all twenty-nine topics to the chapters that cover them.</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here. Take two or three answers before advancing. The point is the prediction, not the command.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somebody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somebody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somebody commits to an answer.</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A5276"/>
        </a:solidFill>
        <a:effectLst/>
      </p:bgPr>
    </p:bg>
    <p:spTree>
      <p:nvGrpSpPr>
        <p:cNvPr id="1" name=""/>
        <p:cNvGrpSpPr/>
        <p:nvPr/>
      </p:nvGrpSpPr>
      <p:grpSpPr/>
      <p:sp>
        <p:nvSpPr>
          <p:cNvPr id="2" name="bg"/>
          <p:cNvSpPr/>
          <p:nvPr/>
        </p:nvSpPr>
        <p:spPr>
          <a:xfrm>
            <a:off x="0" y="0"/>
            <a:ext cx="12191695" cy="6858000"/>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bgfoot"/>
          <p:cNvSpPr/>
          <p:nvPr/>
        </p:nvSpPr>
        <p:spPr>
          <a:xfrm>
            <a:off x="0" y="6172200"/>
            <a:ext cx="12191695" cy="685800"/>
          </a:xfrm>
          <a:prstGeom prst="rect">
            <a:avLst/>
          </a:prstGeom>
          <a:solidFill>
            <a:srgbClr val="043C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course"/>
          <p:cNvSpPr txBox="1"/>
          <p:nvPr/>
        </p:nvSpPr>
        <p:spPr>
          <a:xfrm>
            <a:off x="685800" y="1170432"/>
            <a:ext cx="10820095" cy="310896"/>
          </a:xfrm>
          <a:prstGeom prst="rect">
            <a:avLst/>
          </a:prstGeom>
          <a:noFill/>
        </p:spPr>
        <p:txBody>
          <a:bodyPr wrap="square" anchor="t" lIns="0" rIns="0" tIns="0" bIns="0">
            <a:spAutoFit/>
          </a:bodyPr>
          <a:lstStyle/>
          <a:p>
            <a:pPr algn="l">
              <a:lnSpc>
                <a:spcPct val="100000"/>
              </a:lnSpc>
              <a:spcAft>
                <a:spcPts val="600"/>
              </a:spcAft>
            </a:pPr>
            <a:r>
              <a:rPr sz="1500" b="1" i="0">
                <a:solidFill>
                  <a:srgbClr val="C8D6E5"/>
                </a:solidFill>
                <a:latin typeface="Segoe UI"/>
              </a:rPr>
              <a:t>CCNA 200-301 V2.0</a:t>
            </a:r>
          </a:p>
        </p:txBody>
      </p:sp>
      <p:sp>
        <p:nvSpPr>
          <p:cNvPr id="5" name="chnum"/>
          <p:cNvSpPr txBox="1"/>
          <p:nvPr/>
        </p:nvSpPr>
        <p:spPr>
          <a:xfrm>
            <a:off x="685800" y="1572768"/>
            <a:ext cx="2011680" cy="1371600"/>
          </a:xfrm>
          <a:prstGeom prst="rect">
            <a:avLst/>
          </a:prstGeom>
          <a:noFill/>
        </p:spPr>
        <p:txBody>
          <a:bodyPr wrap="square" anchor="t" lIns="0" rIns="0" tIns="0" bIns="0">
            <a:spAutoFit/>
          </a:bodyPr>
          <a:lstStyle/>
          <a:p>
            <a:pPr algn="l">
              <a:lnSpc>
                <a:spcPct val="100000"/>
              </a:lnSpc>
              <a:spcAft>
                <a:spcPts val="600"/>
              </a:spcAft>
            </a:pPr>
            <a:r>
              <a:rPr sz="7600" b="1" i="0">
                <a:solidFill>
                  <a:srgbClr val="FFFFFF"/>
                </a:solidFill>
                <a:latin typeface="Segoe UI"/>
              </a:rPr>
              <a:t>01</a:t>
            </a:r>
          </a:p>
        </p:txBody>
      </p:sp>
      <p:sp>
        <p:nvSpPr>
          <p:cNvPr id="6" name="chtitle"/>
          <p:cNvSpPr txBox="1"/>
          <p:nvPr/>
        </p:nvSpPr>
        <p:spPr>
          <a:xfrm>
            <a:off x="2423160" y="1700784"/>
            <a:ext cx="9082735" cy="1371600"/>
          </a:xfrm>
          <a:prstGeom prst="rect">
            <a:avLst/>
          </a:prstGeom>
          <a:noFill/>
        </p:spPr>
        <p:txBody>
          <a:bodyPr wrap="square" anchor="t" lIns="0" rIns="0" tIns="0" bIns="0">
            <a:spAutoFit/>
          </a:bodyPr>
          <a:lstStyle/>
          <a:p>
            <a:pPr algn="l">
              <a:lnSpc>
                <a:spcPct val="100000"/>
              </a:lnSpc>
              <a:spcAft>
                <a:spcPts val="600"/>
              </a:spcAft>
            </a:pPr>
            <a:r>
              <a:rPr sz="4000" b="1" i="0">
                <a:solidFill>
                  <a:srgbClr val="FFFFFF"/>
                </a:solidFill>
                <a:latin typeface="Segoe UI"/>
              </a:rPr>
              <a:t>Networks, Models and This Exam</a:t>
            </a:r>
          </a:p>
        </p:txBody>
      </p:sp>
      <p:sp>
        <p:nvSpPr>
          <p:cNvPr id="7" name="part"/>
          <p:cNvSpPr txBox="1"/>
          <p:nvPr/>
        </p:nvSpPr>
        <p:spPr>
          <a:xfrm>
            <a:off x="2441448" y="3017520"/>
            <a:ext cx="9082735" cy="292608"/>
          </a:xfrm>
          <a:prstGeom prst="rect">
            <a:avLst/>
          </a:prstGeom>
          <a:noFill/>
        </p:spPr>
        <p:txBody>
          <a:bodyPr wrap="square" anchor="t" lIns="0" rIns="0" tIns="0" bIns="0">
            <a:spAutoFit/>
          </a:bodyPr>
          <a:lstStyle/>
          <a:p>
            <a:pPr algn="l">
              <a:lnSpc>
                <a:spcPct val="100000"/>
              </a:lnSpc>
              <a:spcAft>
                <a:spcPts val="600"/>
              </a:spcAft>
            </a:pPr>
            <a:r>
              <a:rPr sz="1500" b="0" i="0">
                <a:solidFill>
                  <a:srgbClr val="C8D6E5"/>
                </a:solidFill>
                <a:latin typeface="Segoe UI"/>
              </a:rPr>
              <a:t>Part I — Foundations</a:t>
            </a:r>
          </a:p>
        </p:txBody>
      </p:sp>
      <p:sp>
        <p:nvSpPr>
          <p:cNvPr id="8" name="authlab"/>
          <p:cNvSpPr txBox="1"/>
          <p:nvPr/>
        </p:nvSpPr>
        <p:spPr>
          <a:xfrm>
            <a:off x="685800" y="5138928"/>
            <a:ext cx="6492057" cy="274320"/>
          </a:xfrm>
          <a:prstGeom prst="rect">
            <a:avLst/>
          </a:prstGeom>
          <a:noFill/>
        </p:spPr>
        <p:txBody>
          <a:bodyPr wrap="square" anchor="t" lIns="0" rIns="0" tIns="0" bIns="0">
            <a:spAutoFit/>
          </a:bodyPr>
          <a:lstStyle/>
          <a:p>
            <a:pPr algn="l">
              <a:lnSpc>
                <a:spcPct val="100000"/>
              </a:lnSpc>
              <a:spcAft>
                <a:spcPts val="600"/>
              </a:spcAft>
            </a:pPr>
            <a:r>
              <a:rPr sz="1100" b="1" i="0">
                <a:solidFill>
                  <a:srgbClr val="B8C9DA"/>
                </a:solidFill>
                <a:latin typeface="Segoe UI"/>
              </a:rPr>
              <a:t>LECTURER</a:t>
            </a:r>
          </a:p>
        </p:txBody>
      </p:sp>
      <p:sp>
        <p:nvSpPr>
          <p:cNvPr id="9" name="author"/>
          <p:cNvSpPr txBox="1"/>
          <p:nvPr/>
        </p:nvSpPr>
        <p:spPr>
          <a:xfrm>
            <a:off x="685800" y="5394960"/>
            <a:ext cx="6492057" cy="329184"/>
          </a:xfrm>
          <a:prstGeom prst="rect">
            <a:avLst/>
          </a:prstGeom>
          <a:noFill/>
        </p:spPr>
        <p:txBody>
          <a:bodyPr wrap="square" anchor="t" lIns="0" rIns="0" tIns="0" bIns="0">
            <a:spAutoFit/>
          </a:bodyPr>
          <a:lstStyle/>
          <a:p>
            <a:pPr algn="l">
              <a:lnSpc>
                <a:spcPct val="100000"/>
              </a:lnSpc>
              <a:spcAft>
                <a:spcPts val="600"/>
              </a:spcAft>
            </a:pPr>
            <a:r>
              <a:rPr sz="1800" b="1" i="0">
                <a:solidFill>
                  <a:srgbClr val="FFFFFF"/>
                </a:solidFill>
                <a:latin typeface="Segoe UI"/>
              </a:rPr>
              <a:t>Dr. Mustafa Hameed</a:t>
            </a:r>
          </a:p>
        </p:txBody>
      </p:sp>
      <p:sp>
        <p:nvSpPr>
          <p:cNvPr id="10" name="lockup1"/>
          <p:cNvSpPr txBox="1"/>
          <p:nvPr/>
        </p:nvSpPr>
        <p:spPr>
          <a:xfrm>
            <a:off x="7939735" y="5175504"/>
            <a:ext cx="3566160" cy="274320"/>
          </a:xfrm>
          <a:prstGeom prst="rect">
            <a:avLst/>
          </a:prstGeom>
          <a:noFill/>
        </p:spPr>
        <p:txBody>
          <a:bodyPr wrap="square" anchor="t" lIns="0" rIns="0" tIns="0" bIns="0">
            <a:spAutoFit/>
          </a:bodyPr>
          <a:lstStyle/>
          <a:p>
            <a:pPr algn="l">
              <a:lnSpc>
                <a:spcPct val="100000"/>
              </a:lnSpc>
              <a:spcAft>
                <a:spcPts val="600"/>
              </a:spcAft>
            </a:pPr>
            <a:r>
              <a:rPr sz="1200" b="1" i="0">
                <a:solidFill>
                  <a:srgbClr val="FFFFFF"/>
                </a:solidFill>
                <a:latin typeface="Segoe UI"/>
              </a:rPr>
              <a:t>THE ISLAMIA UNIVERSITY OF BAHAWALPUR</a:t>
            </a:r>
          </a:p>
        </p:txBody>
      </p:sp>
      <p:sp>
        <p:nvSpPr>
          <p:cNvPr id="11" name="lockup2"/>
          <p:cNvSpPr txBox="1"/>
          <p:nvPr/>
        </p:nvSpPr>
        <p:spPr>
          <a:xfrm>
            <a:off x="7939735" y="5413248"/>
            <a:ext cx="3566160" cy="256032"/>
          </a:xfrm>
          <a:prstGeom prst="rect">
            <a:avLst/>
          </a:prstGeom>
          <a:noFill/>
        </p:spPr>
        <p:txBody>
          <a:bodyPr wrap="square" anchor="t" lIns="0" rIns="0" tIns="0" bIns="0">
            <a:spAutoFit/>
          </a:bodyPr>
          <a:lstStyle/>
          <a:p>
            <a:pPr algn="l">
              <a:lnSpc>
                <a:spcPct val="100000"/>
              </a:lnSpc>
              <a:spcAft>
                <a:spcPts val="600"/>
              </a:spcAft>
            </a:pPr>
            <a:r>
              <a:rPr sz="1100" b="0" i="0">
                <a:solidFill>
                  <a:srgbClr val="C8D6E5"/>
                </a:solidFill>
                <a:latin typeface="Segoe UI"/>
              </a:rPr>
              <a:t>Department of Information Technology</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LEARNING OUTCOMES</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What you will be able to do</a:t>
            </a:r>
          </a:p>
        </p:txBody>
      </p:sp>
      <p:sp>
        <p:nvSpPr>
          <p:cNvPr id="4" name="rule"/>
          <p:cNvSpPr/>
          <p:nvPr/>
        </p:nvSpPr>
        <p:spPr>
          <a:xfrm>
            <a:off x="685800" y="1280160"/>
            <a:ext cx="10820095" cy="3200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1. Networks, Models and This Exam</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
            </a:r>
          </a:p>
        </p:txBody>
      </p:sp>
      <p:sp>
        <p:nvSpPr>
          <p:cNvPr id="7" name="bullets"/>
          <p:cNvSpPr txBox="1"/>
          <p:nvPr/>
        </p:nvSpPr>
        <p:spPr>
          <a:xfrm>
            <a:off x="685800" y="2417064"/>
            <a:ext cx="10820095" cy="3965448"/>
          </a:xfrm>
          <a:prstGeom prst="rect">
            <a:avLst/>
          </a:prstGeom>
          <a:noFill/>
        </p:spPr>
        <p:txBody>
          <a:bodyPr wrap="square" lIns="0" rIns="0" tIns="0" bIns="0">
            <a:spAutoFit/>
          </a:bodyPr>
          <a:lstStyle/>
          <a:p>
            <a:pPr marL="228600" indent="-228600">
              <a:lnSpc>
                <a:spcPct val="102000"/>
              </a:lnSpc>
              <a:spcAft>
                <a:spcPts val="900"/>
              </a:spcAft>
            </a:pPr>
            <a:r>
              <a:rPr sz="2000" b="1">
                <a:solidFill>
                  <a:srgbClr val="1A5276"/>
                </a:solidFill>
                <a:latin typeface="Segoe UI"/>
              </a:rPr>
              <a:t>•  </a:t>
            </a:r>
            <a:r>
              <a:rPr sz="2000" b="1" i="0">
                <a:solidFill>
                  <a:srgbClr val="1C252B"/>
                </a:solidFill>
                <a:latin typeface="Segoe UI"/>
              </a:rPr>
              <a:t>Describe</a:t>
            </a:r>
            <a:r>
              <a:rPr sz="2000" b="0" i="0">
                <a:solidFill>
                  <a:srgbClr val="1C252B"/>
                </a:solidFill>
                <a:latin typeface="Segoe UI"/>
              </a:rPr>
              <a:t> what a network does, in terms of the four things every network must solve: naming, addressing, forwarding and error handling.</a:t>
            </a:r>
          </a:p>
          <a:p>
            <a:pPr marL="228600" indent="-228600">
              <a:lnSpc>
                <a:spcPct val="102000"/>
              </a:lnSpc>
              <a:spcAft>
                <a:spcPts val="900"/>
              </a:spcAft>
            </a:pPr>
            <a:r>
              <a:rPr sz="2000" b="1">
                <a:solidFill>
                  <a:srgbClr val="1A5276"/>
                </a:solidFill>
                <a:latin typeface="Segoe UI"/>
              </a:rPr>
              <a:t>•  </a:t>
            </a:r>
            <a:r>
              <a:rPr sz="2000" b="1" i="0">
                <a:solidFill>
                  <a:srgbClr val="1C252B"/>
                </a:solidFill>
                <a:latin typeface="Segoe UI"/>
              </a:rPr>
              <a:t>Explain</a:t>
            </a:r>
            <a:r>
              <a:rPr sz="2000" b="0" i="0">
                <a:solidFill>
                  <a:srgbClr val="1C252B"/>
                </a:solidFill>
                <a:latin typeface="Segoe UI"/>
              </a:rPr>
              <a:t> the layered model well enough to use it as a troubleshooting tool, which is the only reason this exam still cares about it.</a:t>
            </a:r>
          </a:p>
          <a:p>
            <a:pPr marL="228600" indent="-228600">
              <a:lnSpc>
                <a:spcPct val="102000"/>
              </a:lnSpc>
              <a:spcAft>
                <a:spcPts val="900"/>
              </a:spcAft>
            </a:pPr>
            <a:r>
              <a:rPr sz="2000" b="1">
                <a:solidFill>
                  <a:srgbClr val="1A5276"/>
                </a:solidFill>
                <a:latin typeface="Segoe UI"/>
              </a:rPr>
              <a:t>•  </a:t>
            </a:r>
            <a:r>
              <a:rPr sz="2000" b="1" i="0">
                <a:solidFill>
                  <a:srgbClr val="1C252B"/>
                </a:solidFill>
                <a:latin typeface="Segoe UI"/>
              </a:rPr>
              <a:t>Identify</a:t>
            </a:r>
            <a:r>
              <a:rPr sz="2000" b="0" i="0">
                <a:solidFill>
                  <a:srgbClr val="1C252B"/>
                </a:solidFill>
                <a:latin typeface="Segoe UI"/>
              </a:rPr>
              <a:t> the devices in a small enterprise network and say what each one decides.</a:t>
            </a:r>
          </a:p>
          <a:p>
            <a:pPr marL="228600" indent="-228600">
              <a:lnSpc>
                <a:spcPct val="102000"/>
              </a:lnSpc>
              <a:spcAft>
                <a:spcPts val="900"/>
              </a:spcAft>
            </a:pPr>
            <a:r>
              <a:rPr sz="2000" b="1">
                <a:solidFill>
                  <a:srgbClr val="1A5276"/>
                </a:solidFill>
                <a:latin typeface="Segoe UI"/>
              </a:rPr>
              <a:t>•  </a:t>
            </a:r>
            <a:r>
              <a:rPr sz="2000" b="1" i="0">
                <a:solidFill>
                  <a:srgbClr val="1C252B"/>
                </a:solidFill>
                <a:latin typeface="Segoe UI"/>
              </a:rPr>
              <a:t>Navigate</a:t>
            </a:r>
            <a:r>
              <a:rPr sz="2000" b="0" i="0">
                <a:solidFill>
                  <a:srgbClr val="1C252B"/>
                </a:solidFill>
                <a:latin typeface="Segoe UI"/>
              </a:rPr>
              <a:t> the CCNA v2.0 blueprint and this book against it.</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ASSUMED KNOWLEDGE</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Before we start</a:t>
            </a:r>
          </a:p>
        </p:txBody>
      </p:sp>
      <p:sp>
        <p:nvSpPr>
          <p:cNvPr id="4" name="rule"/>
          <p:cNvSpPr/>
          <p:nvPr/>
        </p:nvSpPr>
        <p:spPr>
          <a:xfrm>
            <a:off x="685800" y="1280160"/>
            <a:ext cx="10820095" cy="3200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1. Networks, Models and This Exam</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
            </a:r>
          </a:p>
        </p:txBody>
      </p:sp>
      <p:sp>
        <p:nvSpPr>
          <p:cNvPr id="7" name="tint"/>
          <p:cNvSpPr/>
          <p:nvPr/>
        </p:nvSpPr>
        <p:spPr>
          <a:xfrm>
            <a:off x="685800" y="1517904"/>
            <a:ext cx="10820095" cy="1006856"/>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body"/>
          <p:cNvSpPr txBox="1"/>
          <p:nvPr/>
        </p:nvSpPr>
        <p:spPr>
          <a:xfrm>
            <a:off x="978408" y="1737360"/>
            <a:ext cx="10234879" cy="4645152"/>
          </a:xfrm>
          <a:prstGeom prst="rect">
            <a:avLst/>
          </a:prstGeom>
          <a:noFill/>
        </p:spPr>
        <p:txBody>
          <a:bodyPr wrap="square" anchor="t" lIns="0" rIns="0" tIns="0" bIns="0">
            <a:spAutoFit/>
          </a:bodyPr>
          <a:lstStyle/>
          <a:p>
            <a:pPr algn="l">
              <a:lnSpc>
                <a:spcPct val="100000"/>
              </a:lnSpc>
              <a:spcAft>
                <a:spcPts val="1000"/>
              </a:spcAft>
            </a:pPr>
            <a:r>
              <a:rPr sz="2000" b="0" i="0">
                <a:solidFill>
                  <a:srgbClr val="1C252B"/>
                </a:solidFill>
                <a:latin typeface="Segoe UI"/>
              </a:rPr>
              <a:t>Nothing. This is the first chapter, and the course assumes no prior networking.</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KEY TERMS</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Vocabulary for this chapter</a:t>
            </a:r>
          </a:p>
        </p:txBody>
      </p:sp>
      <p:sp>
        <p:nvSpPr>
          <p:cNvPr id="4" name="rule"/>
          <p:cNvSpPr/>
          <p:nvPr/>
        </p:nvSpPr>
        <p:spPr>
          <a:xfrm>
            <a:off x="685800" y="1280160"/>
            <a:ext cx="10820095" cy="3200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1. Networks, Models and This Exam</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
            </a:r>
          </a:p>
        </p:txBody>
      </p:sp>
      <p:sp>
        <p:nvSpPr>
          <p:cNvPr id="7" name="term-host"/>
          <p:cNvSpPr/>
          <p:nvPr/>
        </p:nvSpPr>
        <p:spPr>
          <a:xfrm>
            <a:off x="685800" y="1609344"/>
            <a:ext cx="677799" cy="475488"/>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b-host"/>
          <p:cNvSpPr/>
          <p:nvPr/>
        </p:nvSpPr>
        <p:spPr>
          <a:xfrm>
            <a:off x="685800" y="1609344"/>
            <a:ext cx="32004" cy="475488"/>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t-host"/>
          <p:cNvSpPr txBox="1"/>
          <p:nvPr/>
        </p:nvSpPr>
        <p:spPr>
          <a:xfrm>
            <a:off x="850392" y="1700784"/>
            <a:ext cx="348615" cy="274320"/>
          </a:xfrm>
          <a:prstGeom prst="rect">
            <a:avLst/>
          </a:prstGeom>
          <a:noFill/>
        </p:spPr>
        <p:txBody>
          <a:bodyPr wrap="none" anchor="t" lIns="0" rIns="0" tIns="0" bIns="0">
            <a:spAutoFit/>
          </a:bodyPr>
          <a:lstStyle/>
          <a:p>
            <a:pPr algn="l">
              <a:lnSpc>
                <a:spcPct val="100000"/>
              </a:lnSpc>
              <a:spcAft>
                <a:spcPts val="600"/>
              </a:spcAft>
            </a:pPr>
            <a:r>
              <a:rPr sz="1500" b="0" i="0">
                <a:solidFill>
                  <a:srgbClr val="1C252B"/>
                </a:solidFill>
                <a:latin typeface="Segoe UI"/>
              </a:rPr>
              <a:t>host</a:t>
            </a:r>
          </a:p>
        </p:txBody>
      </p:sp>
      <p:sp>
        <p:nvSpPr>
          <p:cNvPr id="10" name="term-node"/>
          <p:cNvSpPr/>
          <p:nvPr/>
        </p:nvSpPr>
        <p:spPr>
          <a:xfrm>
            <a:off x="1491615" y="1609344"/>
            <a:ext cx="717804" cy="475488"/>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b-node"/>
          <p:cNvSpPr/>
          <p:nvPr/>
        </p:nvSpPr>
        <p:spPr>
          <a:xfrm>
            <a:off x="1491615" y="1609344"/>
            <a:ext cx="32004" cy="475488"/>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t-node"/>
          <p:cNvSpPr txBox="1"/>
          <p:nvPr/>
        </p:nvSpPr>
        <p:spPr>
          <a:xfrm>
            <a:off x="1656207" y="1700784"/>
            <a:ext cx="388620" cy="274320"/>
          </a:xfrm>
          <a:prstGeom prst="rect">
            <a:avLst/>
          </a:prstGeom>
          <a:noFill/>
        </p:spPr>
        <p:txBody>
          <a:bodyPr wrap="none" anchor="t" lIns="0" rIns="0" tIns="0" bIns="0">
            <a:spAutoFit/>
          </a:bodyPr>
          <a:lstStyle/>
          <a:p>
            <a:pPr algn="l">
              <a:lnSpc>
                <a:spcPct val="100000"/>
              </a:lnSpc>
              <a:spcAft>
                <a:spcPts val="600"/>
              </a:spcAft>
            </a:pPr>
            <a:r>
              <a:rPr sz="1500" b="0" i="0">
                <a:solidFill>
                  <a:srgbClr val="1C252B"/>
                </a:solidFill>
                <a:latin typeface="Segoe UI"/>
              </a:rPr>
              <a:t>node</a:t>
            </a:r>
          </a:p>
        </p:txBody>
      </p:sp>
      <p:sp>
        <p:nvSpPr>
          <p:cNvPr id="13" name="term-link"/>
          <p:cNvSpPr/>
          <p:nvPr/>
        </p:nvSpPr>
        <p:spPr>
          <a:xfrm>
            <a:off x="2337435" y="1609344"/>
            <a:ext cx="637794" cy="475488"/>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b-link"/>
          <p:cNvSpPr/>
          <p:nvPr/>
        </p:nvSpPr>
        <p:spPr>
          <a:xfrm>
            <a:off x="2337435" y="1609344"/>
            <a:ext cx="32004" cy="475488"/>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t-link"/>
          <p:cNvSpPr txBox="1"/>
          <p:nvPr/>
        </p:nvSpPr>
        <p:spPr>
          <a:xfrm>
            <a:off x="2502027" y="1700784"/>
            <a:ext cx="308610" cy="274320"/>
          </a:xfrm>
          <a:prstGeom prst="rect">
            <a:avLst/>
          </a:prstGeom>
          <a:noFill/>
        </p:spPr>
        <p:txBody>
          <a:bodyPr wrap="none" anchor="t" lIns="0" rIns="0" tIns="0" bIns="0">
            <a:spAutoFit/>
          </a:bodyPr>
          <a:lstStyle/>
          <a:p>
            <a:pPr algn="l">
              <a:lnSpc>
                <a:spcPct val="100000"/>
              </a:lnSpc>
              <a:spcAft>
                <a:spcPts val="600"/>
              </a:spcAft>
            </a:pPr>
            <a:r>
              <a:rPr sz="1500" b="0" i="0">
                <a:solidFill>
                  <a:srgbClr val="1C252B"/>
                </a:solidFill>
                <a:latin typeface="Segoe UI"/>
              </a:rPr>
              <a:t>link</a:t>
            </a:r>
          </a:p>
        </p:txBody>
      </p:sp>
      <p:sp>
        <p:nvSpPr>
          <p:cNvPr id="16" name="term-frame"/>
          <p:cNvSpPr/>
          <p:nvPr/>
        </p:nvSpPr>
        <p:spPr>
          <a:xfrm>
            <a:off x="3103245" y="1609344"/>
            <a:ext cx="805434" cy="475488"/>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b-frame"/>
          <p:cNvSpPr/>
          <p:nvPr/>
        </p:nvSpPr>
        <p:spPr>
          <a:xfrm>
            <a:off x="3103245" y="1609344"/>
            <a:ext cx="32004" cy="475488"/>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t-frame"/>
          <p:cNvSpPr txBox="1"/>
          <p:nvPr/>
        </p:nvSpPr>
        <p:spPr>
          <a:xfrm>
            <a:off x="3267837" y="1700784"/>
            <a:ext cx="476250" cy="274320"/>
          </a:xfrm>
          <a:prstGeom prst="rect">
            <a:avLst/>
          </a:prstGeom>
          <a:noFill/>
        </p:spPr>
        <p:txBody>
          <a:bodyPr wrap="none" anchor="t" lIns="0" rIns="0" tIns="0" bIns="0">
            <a:spAutoFit/>
          </a:bodyPr>
          <a:lstStyle/>
          <a:p>
            <a:pPr algn="l">
              <a:lnSpc>
                <a:spcPct val="100000"/>
              </a:lnSpc>
              <a:spcAft>
                <a:spcPts val="600"/>
              </a:spcAft>
            </a:pPr>
            <a:r>
              <a:rPr sz="1500" b="0" i="0">
                <a:solidFill>
                  <a:srgbClr val="1C252B"/>
                </a:solidFill>
                <a:latin typeface="Segoe UI"/>
              </a:rPr>
              <a:t>frame</a:t>
            </a:r>
          </a:p>
        </p:txBody>
      </p:sp>
      <p:sp>
        <p:nvSpPr>
          <p:cNvPr id="19" name="term-packet"/>
          <p:cNvSpPr/>
          <p:nvPr/>
        </p:nvSpPr>
        <p:spPr>
          <a:xfrm>
            <a:off x="4036695" y="1609344"/>
            <a:ext cx="872108" cy="475488"/>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b-packet"/>
          <p:cNvSpPr/>
          <p:nvPr/>
        </p:nvSpPr>
        <p:spPr>
          <a:xfrm>
            <a:off x="4036695" y="1609344"/>
            <a:ext cx="32004" cy="475488"/>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t-packet"/>
          <p:cNvSpPr txBox="1"/>
          <p:nvPr/>
        </p:nvSpPr>
        <p:spPr>
          <a:xfrm>
            <a:off x="4201287" y="1700784"/>
            <a:ext cx="542924" cy="274320"/>
          </a:xfrm>
          <a:prstGeom prst="rect">
            <a:avLst/>
          </a:prstGeom>
          <a:noFill/>
        </p:spPr>
        <p:txBody>
          <a:bodyPr wrap="none" anchor="t" lIns="0" rIns="0" tIns="0" bIns="0">
            <a:spAutoFit/>
          </a:bodyPr>
          <a:lstStyle/>
          <a:p>
            <a:pPr algn="l">
              <a:lnSpc>
                <a:spcPct val="100000"/>
              </a:lnSpc>
              <a:spcAft>
                <a:spcPts val="600"/>
              </a:spcAft>
            </a:pPr>
            <a:r>
              <a:rPr sz="1500" b="0" i="0">
                <a:solidFill>
                  <a:srgbClr val="1C252B"/>
                </a:solidFill>
                <a:latin typeface="Segoe UI"/>
              </a:rPr>
              <a:t>packet</a:t>
            </a:r>
          </a:p>
        </p:txBody>
      </p:sp>
      <p:sp>
        <p:nvSpPr>
          <p:cNvPr id="22" name="term-segment"/>
          <p:cNvSpPr/>
          <p:nvPr/>
        </p:nvSpPr>
        <p:spPr>
          <a:xfrm>
            <a:off x="5036820" y="1609344"/>
            <a:ext cx="1039748" cy="475488"/>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b-segment"/>
          <p:cNvSpPr/>
          <p:nvPr/>
        </p:nvSpPr>
        <p:spPr>
          <a:xfrm>
            <a:off x="5036820" y="1609344"/>
            <a:ext cx="32004" cy="475488"/>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t-segment"/>
          <p:cNvSpPr txBox="1"/>
          <p:nvPr/>
        </p:nvSpPr>
        <p:spPr>
          <a:xfrm>
            <a:off x="5201412" y="1700784"/>
            <a:ext cx="710564" cy="274320"/>
          </a:xfrm>
          <a:prstGeom prst="rect">
            <a:avLst/>
          </a:prstGeom>
          <a:noFill/>
        </p:spPr>
        <p:txBody>
          <a:bodyPr wrap="none" anchor="t" lIns="0" rIns="0" tIns="0" bIns="0">
            <a:spAutoFit/>
          </a:bodyPr>
          <a:lstStyle/>
          <a:p>
            <a:pPr algn="l">
              <a:lnSpc>
                <a:spcPct val="100000"/>
              </a:lnSpc>
              <a:spcAft>
                <a:spcPts val="600"/>
              </a:spcAft>
            </a:pPr>
            <a:r>
              <a:rPr sz="1500" b="0" i="0">
                <a:solidFill>
                  <a:srgbClr val="1C252B"/>
                </a:solidFill>
                <a:latin typeface="Segoe UI"/>
              </a:rPr>
              <a:t>segment</a:t>
            </a:r>
          </a:p>
        </p:txBody>
      </p:sp>
      <p:sp>
        <p:nvSpPr>
          <p:cNvPr id="25" name="term-encapsulation"/>
          <p:cNvSpPr/>
          <p:nvPr/>
        </p:nvSpPr>
        <p:spPr>
          <a:xfrm>
            <a:off x="6204585" y="1609344"/>
            <a:ext cx="1472183" cy="475488"/>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b-encapsulation"/>
          <p:cNvSpPr/>
          <p:nvPr/>
        </p:nvSpPr>
        <p:spPr>
          <a:xfrm>
            <a:off x="6204585" y="1609344"/>
            <a:ext cx="32004" cy="475488"/>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t-encapsulation"/>
          <p:cNvSpPr txBox="1"/>
          <p:nvPr/>
        </p:nvSpPr>
        <p:spPr>
          <a:xfrm>
            <a:off x="6369176" y="1700784"/>
            <a:ext cx="1142999" cy="274320"/>
          </a:xfrm>
          <a:prstGeom prst="rect">
            <a:avLst/>
          </a:prstGeom>
          <a:noFill/>
        </p:spPr>
        <p:txBody>
          <a:bodyPr wrap="none" anchor="t" lIns="0" rIns="0" tIns="0" bIns="0">
            <a:spAutoFit/>
          </a:bodyPr>
          <a:lstStyle/>
          <a:p>
            <a:pPr algn="l">
              <a:lnSpc>
                <a:spcPct val="100000"/>
              </a:lnSpc>
              <a:spcAft>
                <a:spcPts val="600"/>
              </a:spcAft>
            </a:pPr>
            <a:r>
              <a:rPr sz="1500" b="0" i="0">
                <a:solidFill>
                  <a:srgbClr val="1C252B"/>
                </a:solidFill>
                <a:latin typeface="Segoe UI"/>
              </a:rPr>
              <a:t>encapsulation</a:t>
            </a:r>
          </a:p>
        </p:txBody>
      </p:sp>
      <p:sp>
        <p:nvSpPr>
          <p:cNvPr id="28" name="term-layer"/>
          <p:cNvSpPr/>
          <p:nvPr/>
        </p:nvSpPr>
        <p:spPr>
          <a:xfrm>
            <a:off x="7804785" y="1609344"/>
            <a:ext cx="734949" cy="475488"/>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b-layer"/>
          <p:cNvSpPr/>
          <p:nvPr/>
        </p:nvSpPr>
        <p:spPr>
          <a:xfrm>
            <a:off x="7804785" y="1609344"/>
            <a:ext cx="32004" cy="475488"/>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t-layer"/>
          <p:cNvSpPr txBox="1"/>
          <p:nvPr/>
        </p:nvSpPr>
        <p:spPr>
          <a:xfrm>
            <a:off x="7969376" y="1700784"/>
            <a:ext cx="405765" cy="274320"/>
          </a:xfrm>
          <a:prstGeom prst="rect">
            <a:avLst/>
          </a:prstGeom>
          <a:noFill/>
        </p:spPr>
        <p:txBody>
          <a:bodyPr wrap="none" anchor="t" lIns="0" rIns="0" tIns="0" bIns="0">
            <a:spAutoFit/>
          </a:bodyPr>
          <a:lstStyle/>
          <a:p>
            <a:pPr algn="l">
              <a:lnSpc>
                <a:spcPct val="100000"/>
              </a:lnSpc>
              <a:spcAft>
                <a:spcPts val="600"/>
              </a:spcAft>
            </a:pPr>
            <a:r>
              <a:rPr sz="1500" b="0" i="0">
                <a:solidFill>
                  <a:srgbClr val="1C252B"/>
                </a:solidFill>
                <a:latin typeface="Segoe UI"/>
              </a:rPr>
              <a:t>layer</a:t>
            </a:r>
          </a:p>
        </p:txBody>
      </p:sp>
      <p:sp>
        <p:nvSpPr>
          <p:cNvPr id="31" name="term-protocol"/>
          <p:cNvSpPr/>
          <p:nvPr/>
        </p:nvSpPr>
        <p:spPr>
          <a:xfrm>
            <a:off x="8667750" y="1609344"/>
            <a:ext cx="986408" cy="475488"/>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b-protocol"/>
          <p:cNvSpPr/>
          <p:nvPr/>
        </p:nvSpPr>
        <p:spPr>
          <a:xfrm>
            <a:off x="8667750" y="1609344"/>
            <a:ext cx="32004" cy="475488"/>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t-protocol"/>
          <p:cNvSpPr txBox="1"/>
          <p:nvPr/>
        </p:nvSpPr>
        <p:spPr>
          <a:xfrm>
            <a:off x="8832342" y="1700784"/>
            <a:ext cx="657224" cy="274320"/>
          </a:xfrm>
          <a:prstGeom prst="rect">
            <a:avLst/>
          </a:prstGeom>
          <a:noFill/>
        </p:spPr>
        <p:txBody>
          <a:bodyPr wrap="none" anchor="t" lIns="0" rIns="0" tIns="0" bIns="0">
            <a:spAutoFit/>
          </a:bodyPr>
          <a:lstStyle/>
          <a:p>
            <a:pPr algn="l">
              <a:lnSpc>
                <a:spcPct val="100000"/>
              </a:lnSpc>
              <a:spcAft>
                <a:spcPts val="600"/>
              </a:spcAft>
            </a:pPr>
            <a:r>
              <a:rPr sz="1500" b="0" i="0">
                <a:solidFill>
                  <a:srgbClr val="1C252B"/>
                </a:solidFill>
                <a:latin typeface="Segoe UI"/>
              </a:rPr>
              <a:t>protocol</a:t>
            </a:r>
          </a:p>
        </p:txBody>
      </p:sp>
      <p:sp>
        <p:nvSpPr>
          <p:cNvPr id="34" name="term-switch"/>
          <p:cNvSpPr/>
          <p:nvPr/>
        </p:nvSpPr>
        <p:spPr>
          <a:xfrm>
            <a:off x="9782175" y="1609344"/>
            <a:ext cx="902589" cy="475488"/>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b-switch"/>
          <p:cNvSpPr/>
          <p:nvPr/>
        </p:nvSpPr>
        <p:spPr>
          <a:xfrm>
            <a:off x="9782175" y="1609344"/>
            <a:ext cx="32004" cy="475488"/>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t-switch"/>
          <p:cNvSpPr txBox="1"/>
          <p:nvPr/>
        </p:nvSpPr>
        <p:spPr>
          <a:xfrm>
            <a:off x="9946767" y="1700784"/>
            <a:ext cx="573405" cy="274320"/>
          </a:xfrm>
          <a:prstGeom prst="rect">
            <a:avLst/>
          </a:prstGeom>
          <a:noFill/>
        </p:spPr>
        <p:txBody>
          <a:bodyPr wrap="none" anchor="t" lIns="0" rIns="0" tIns="0" bIns="0">
            <a:spAutoFit/>
          </a:bodyPr>
          <a:lstStyle/>
          <a:p>
            <a:pPr algn="l">
              <a:lnSpc>
                <a:spcPct val="100000"/>
              </a:lnSpc>
              <a:spcAft>
                <a:spcPts val="600"/>
              </a:spcAft>
            </a:pPr>
            <a:r>
              <a:rPr sz="1500" b="0" i="0">
                <a:solidFill>
                  <a:srgbClr val="1C252B"/>
                </a:solidFill>
                <a:latin typeface="Segoe UI"/>
              </a:rPr>
              <a:t>switch</a:t>
            </a:r>
          </a:p>
        </p:txBody>
      </p:sp>
      <p:sp>
        <p:nvSpPr>
          <p:cNvPr id="37" name="term-router"/>
          <p:cNvSpPr/>
          <p:nvPr/>
        </p:nvSpPr>
        <p:spPr>
          <a:xfrm>
            <a:off x="685800" y="2212848"/>
            <a:ext cx="792099" cy="475488"/>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b-router"/>
          <p:cNvSpPr/>
          <p:nvPr/>
        </p:nvSpPr>
        <p:spPr>
          <a:xfrm>
            <a:off x="685800" y="2212848"/>
            <a:ext cx="32004" cy="475488"/>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t-router"/>
          <p:cNvSpPr txBox="1"/>
          <p:nvPr/>
        </p:nvSpPr>
        <p:spPr>
          <a:xfrm>
            <a:off x="850392" y="2304288"/>
            <a:ext cx="462915" cy="274320"/>
          </a:xfrm>
          <a:prstGeom prst="rect">
            <a:avLst/>
          </a:prstGeom>
          <a:noFill/>
        </p:spPr>
        <p:txBody>
          <a:bodyPr wrap="none" anchor="t" lIns="0" rIns="0" tIns="0" bIns="0">
            <a:spAutoFit/>
          </a:bodyPr>
          <a:lstStyle/>
          <a:p>
            <a:pPr algn="l">
              <a:lnSpc>
                <a:spcPct val="100000"/>
              </a:lnSpc>
              <a:spcAft>
                <a:spcPts val="600"/>
              </a:spcAft>
            </a:pPr>
            <a:r>
              <a:rPr sz="1500" b="0" i="0">
                <a:solidFill>
                  <a:srgbClr val="1C252B"/>
                </a:solidFill>
                <a:latin typeface="Segoe UI"/>
              </a:rPr>
              <a:t>router</a:t>
            </a:r>
          </a:p>
        </p:txBody>
      </p:sp>
      <p:sp>
        <p:nvSpPr>
          <p:cNvPr id="40" name="term-access layer"/>
          <p:cNvSpPr/>
          <p:nvPr/>
        </p:nvSpPr>
        <p:spPr>
          <a:xfrm>
            <a:off x="1605915" y="2212848"/>
            <a:ext cx="1375028" cy="475488"/>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tb-access layer"/>
          <p:cNvSpPr/>
          <p:nvPr/>
        </p:nvSpPr>
        <p:spPr>
          <a:xfrm>
            <a:off x="1605915" y="2212848"/>
            <a:ext cx="32004" cy="475488"/>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t-access layer"/>
          <p:cNvSpPr txBox="1"/>
          <p:nvPr/>
        </p:nvSpPr>
        <p:spPr>
          <a:xfrm>
            <a:off x="1770507" y="2304288"/>
            <a:ext cx="1045844" cy="274320"/>
          </a:xfrm>
          <a:prstGeom prst="rect">
            <a:avLst/>
          </a:prstGeom>
          <a:noFill/>
        </p:spPr>
        <p:txBody>
          <a:bodyPr wrap="none" anchor="t" lIns="0" rIns="0" tIns="0" bIns="0">
            <a:spAutoFit/>
          </a:bodyPr>
          <a:lstStyle/>
          <a:p>
            <a:pPr algn="l">
              <a:lnSpc>
                <a:spcPct val="100000"/>
              </a:lnSpc>
              <a:spcAft>
                <a:spcPts val="600"/>
              </a:spcAft>
            </a:pPr>
            <a:r>
              <a:rPr sz="1500" b="0" i="0">
                <a:solidFill>
                  <a:srgbClr val="1C252B"/>
                </a:solidFill>
                <a:latin typeface="Segoe UI"/>
              </a:rPr>
              <a:t>access layer</a:t>
            </a:r>
          </a:p>
        </p:txBody>
      </p:sp>
      <p:sp>
        <p:nvSpPr>
          <p:cNvPr id="43" name="term-distribution layer"/>
          <p:cNvSpPr/>
          <p:nvPr/>
        </p:nvSpPr>
        <p:spPr>
          <a:xfrm>
            <a:off x="3108960" y="2212848"/>
            <a:ext cx="1717928" cy="475488"/>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b-distribution layer"/>
          <p:cNvSpPr/>
          <p:nvPr/>
        </p:nvSpPr>
        <p:spPr>
          <a:xfrm>
            <a:off x="3108960" y="2212848"/>
            <a:ext cx="32004" cy="475488"/>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t-distribution layer"/>
          <p:cNvSpPr txBox="1"/>
          <p:nvPr/>
        </p:nvSpPr>
        <p:spPr>
          <a:xfrm>
            <a:off x="3273552" y="2304288"/>
            <a:ext cx="1388744" cy="274320"/>
          </a:xfrm>
          <a:prstGeom prst="rect">
            <a:avLst/>
          </a:prstGeom>
          <a:noFill/>
        </p:spPr>
        <p:txBody>
          <a:bodyPr wrap="none" anchor="t" lIns="0" rIns="0" tIns="0" bIns="0">
            <a:spAutoFit/>
          </a:bodyPr>
          <a:lstStyle/>
          <a:p>
            <a:pPr algn="l">
              <a:lnSpc>
                <a:spcPct val="100000"/>
              </a:lnSpc>
              <a:spcAft>
                <a:spcPts val="600"/>
              </a:spcAft>
            </a:pPr>
            <a:r>
              <a:rPr sz="1500" b="0" i="0">
                <a:solidFill>
                  <a:srgbClr val="1C252B"/>
                </a:solidFill>
                <a:latin typeface="Segoe UI"/>
              </a:rPr>
              <a:t>distribution layer</a:t>
            </a:r>
          </a:p>
        </p:txBody>
      </p:sp>
      <p:sp>
        <p:nvSpPr>
          <p:cNvPr id="46" name="term-broadcast domain"/>
          <p:cNvSpPr/>
          <p:nvPr/>
        </p:nvSpPr>
        <p:spPr>
          <a:xfrm>
            <a:off x="4954904" y="2212848"/>
            <a:ext cx="1794128" cy="475488"/>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tb-broadcast domain"/>
          <p:cNvSpPr/>
          <p:nvPr/>
        </p:nvSpPr>
        <p:spPr>
          <a:xfrm>
            <a:off x="4954904" y="2212848"/>
            <a:ext cx="32004" cy="475488"/>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tt-broadcast domain"/>
          <p:cNvSpPr txBox="1"/>
          <p:nvPr/>
        </p:nvSpPr>
        <p:spPr>
          <a:xfrm>
            <a:off x="5119496" y="2304288"/>
            <a:ext cx="1464944" cy="274320"/>
          </a:xfrm>
          <a:prstGeom prst="rect">
            <a:avLst/>
          </a:prstGeom>
          <a:noFill/>
        </p:spPr>
        <p:txBody>
          <a:bodyPr wrap="none" anchor="t" lIns="0" rIns="0" tIns="0" bIns="0">
            <a:spAutoFit/>
          </a:bodyPr>
          <a:lstStyle/>
          <a:p>
            <a:pPr algn="l">
              <a:lnSpc>
                <a:spcPct val="100000"/>
              </a:lnSpc>
              <a:spcAft>
                <a:spcPts val="600"/>
              </a:spcAft>
            </a:pPr>
            <a:r>
              <a:rPr sz="1500" b="0" i="0">
                <a:solidFill>
                  <a:srgbClr val="1C252B"/>
                </a:solidFill>
                <a:latin typeface="Segoe UI"/>
              </a:rPr>
              <a:t>broadcast domain</a:t>
            </a:r>
          </a:p>
        </p:txBody>
      </p:sp>
      <p:sp>
        <p:nvSpPr>
          <p:cNvPr id="49" name="term-collision domain"/>
          <p:cNvSpPr/>
          <p:nvPr/>
        </p:nvSpPr>
        <p:spPr>
          <a:xfrm>
            <a:off x="6877049" y="2212848"/>
            <a:ext cx="1714119" cy="475488"/>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0" name="tb-collision domain"/>
          <p:cNvSpPr/>
          <p:nvPr/>
        </p:nvSpPr>
        <p:spPr>
          <a:xfrm>
            <a:off x="6877049" y="2212848"/>
            <a:ext cx="32004" cy="475488"/>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tt-collision domain"/>
          <p:cNvSpPr txBox="1"/>
          <p:nvPr/>
        </p:nvSpPr>
        <p:spPr>
          <a:xfrm>
            <a:off x="7041641" y="2304288"/>
            <a:ext cx="1384935" cy="274320"/>
          </a:xfrm>
          <a:prstGeom prst="rect">
            <a:avLst/>
          </a:prstGeom>
          <a:noFill/>
        </p:spPr>
        <p:txBody>
          <a:bodyPr wrap="none" anchor="t" lIns="0" rIns="0" tIns="0" bIns="0">
            <a:spAutoFit/>
          </a:bodyPr>
          <a:lstStyle/>
          <a:p>
            <a:pPr algn="l">
              <a:lnSpc>
                <a:spcPct val="100000"/>
              </a:lnSpc>
              <a:spcAft>
                <a:spcPts val="600"/>
              </a:spcAft>
            </a:pPr>
            <a:r>
              <a:rPr sz="1500" b="0" i="0">
                <a:solidFill>
                  <a:srgbClr val="1C252B"/>
                </a:solidFill>
                <a:latin typeface="Segoe UI"/>
              </a:rPr>
              <a:t>collision domain</a:t>
            </a:r>
          </a:p>
        </p:txBody>
      </p:sp>
      <p:sp>
        <p:nvSpPr>
          <p:cNvPr id="52" name="termnote"/>
          <p:cNvSpPr txBox="1"/>
          <p:nvPr/>
        </p:nvSpPr>
        <p:spPr>
          <a:xfrm>
            <a:off x="685800" y="2962656"/>
            <a:ext cx="10820095" cy="274320"/>
          </a:xfrm>
          <a:prstGeom prst="rect">
            <a:avLst/>
          </a:prstGeom>
          <a:noFill/>
        </p:spPr>
        <p:txBody>
          <a:bodyPr wrap="square" anchor="t" lIns="0" rIns="0" tIns="0" bIns="0">
            <a:spAutoFit/>
          </a:bodyPr>
          <a:lstStyle/>
          <a:p>
            <a:pPr algn="l">
              <a:lnSpc>
                <a:spcPct val="100000"/>
              </a:lnSpc>
              <a:spcAft>
                <a:spcPts val="600"/>
              </a:spcAft>
            </a:pPr>
            <a:r>
              <a:rPr sz="1300" b="0" i="0">
                <a:solidFill>
                  <a:srgbClr val="8A959A"/>
                </a:solidFill>
                <a:latin typeface="Segoe UI"/>
              </a:rPr>
              <a:t>Each is defined where it first matters — not here.</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CONCEPT</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The four problems, and the four answers</a:t>
            </a:r>
          </a:p>
        </p:txBody>
      </p:sp>
      <p:sp>
        <p:nvSpPr>
          <p:cNvPr id="4" name="rule"/>
          <p:cNvSpPr/>
          <p:nvPr/>
        </p:nvSpPr>
        <p:spPr>
          <a:xfrm>
            <a:off x="685800" y="1280160"/>
            <a:ext cx="10820095" cy="3200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1. Networks, Models and This Exam</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
            </a:r>
          </a:p>
        </p:txBody>
      </p:sp>
      <p:sp>
        <p:nvSpPr>
          <p:cNvPr id="7" name="tint"/>
          <p:cNvSpPr/>
          <p:nvPr/>
        </p:nvSpPr>
        <p:spPr>
          <a:xfrm>
            <a:off x="685800" y="1517904"/>
            <a:ext cx="10820095" cy="4864608"/>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body"/>
          <p:cNvSpPr txBox="1"/>
          <p:nvPr/>
        </p:nvSpPr>
        <p:spPr>
          <a:xfrm>
            <a:off x="978408" y="1737360"/>
            <a:ext cx="10234879" cy="4645152"/>
          </a:xfrm>
          <a:prstGeom prst="rect">
            <a:avLst/>
          </a:prstGeom>
          <a:noFill/>
        </p:spPr>
        <p:txBody>
          <a:bodyPr wrap="square" anchor="t" lIns="0" rIns="0" tIns="0" bIns="0">
            <a:spAutoFit/>
          </a:bodyPr>
          <a:lstStyle/>
          <a:p>
            <a:pPr algn="l">
              <a:lnSpc>
                <a:spcPct val="100000"/>
              </a:lnSpc>
              <a:spcAft>
                <a:spcPts val="1000"/>
              </a:spcAft>
            </a:pPr>
            <a:r>
              <a:rPr sz="1800" b="0" i="0">
                <a:solidFill>
                  <a:srgbClr val="1C252B"/>
                </a:solidFill>
                <a:latin typeface="Segoe UI"/>
              </a:rPr>
              <a:t>Every network technology in this book is an answer to one of four questions.</a:t>
            </a:r>
          </a:p>
        </p:txBody>
      </p:sp>
      <p:sp>
        <p:nvSpPr>
          <p:cNvPr id="9" name="bullets"/>
          <p:cNvSpPr txBox="1"/>
          <p:nvPr/>
        </p:nvSpPr>
        <p:spPr>
          <a:xfrm>
            <a:off x="978408" y="2217420"/>
            <a:ext cx="10234879" cy="4165092"/>
          </a:xfrm>
          <a:prstGeom prst="rect">
            <a:avLst/>
          </a:prstGeom>
          <a:noFill/>
        </p:spPr>
        <p:txBody>
          <a:bodyPr wrap="square" lIns="0" rIns="0" tIns="0" bIns="0">
            <a:spAutoFit/>
          </a:bodyPr>
          <a:lstStyle/>
          <a:p>
            <a:pPr marL="205739" indent="-205739">
              <a:lnSpc>
                <a:spcPct val="102000"/>
              </a:lnSpc>
              <a:spcAft>
                <a:spcPts val="900"/>
              </a:spcAft>
            </a:pPr>
            <a:r>
              <a:rPr sz="1800" b="1">
                <a:solidFill>
                  <a:srgbClr val="1A5276"/>
                </a:solidFill>
                <a:latin typeface="Segoe UI"/>
              </a:rPr>
              <a:t>•  </a:t>
            </a:r>
            <a:r>
              <a:rPr sz="1800" b="1" i="0">
                <a:solidFill>
                  <a:srgbClr val="1C252B"/>
                </a:solidFill>
                <a:latin typeface="Segoe UI"/>
              </a:rPr>
              <a:t>Who am I talking to?</a:t>
            </a:r>
            <a:r>
              <a:rPr sz="1800" b="0" i="0">
                <a:solidFill>
                  <a:srgbClr val="1C252B"/>
                </a:solidFill>
                <a:latin typeface="Segoe UI"/>
              </a:rPr>
              <a:t> → addressing. MAC addresses locally (Chapter 3), IP addresses globally (Chapter 4).</a:t>
            </a:r>
          </a:p>
          <a:p>
            <a:pPr marL="205739" indent="-205739">
              <a:lnSpc>
                <a:spcPct val="102000"/>
              </a:lnSpc>
              <a:spcAft>
                <a:spcPts val="900"/>
              </a:spcAft>
            </a:pPr>
            <a:r>
              <a:rPr sz="1800" b="1">
                <a:solidFill>
                  <a:srgbClr val="1A5276"/>
                </a:solidFill>
                <a:latin typeface="Segoe UI"/>
              </a:rPr>
              <a:t>•  </a:t>
            </a:r>
            <a:r>
              <a:rPr sz="1800" b="1" i="0">
                <a:solidFill>
                  <a:srgbClr val="1C252B"/>
                </a:solidFill>
                <a:latin typeface="Segoe UI"/>
              </a:rPr>
              <a:t>How do I find them?</a:t>
            </a:r>
            <a:r>
              <a:rPr sz="1800" b="0" i="0">
                <a:solidFill>
                  <a:srgbClr val="1C252B"/>
                </a:solidFill>
                <a:latin typeface="Segoe UI"/>
              </a:rPr>
              <a:t> → forwarding. Switches learn (Chapter 3); routers decide (Chapter 15).</a:t>
            </a:r>
          </a:p>
          <a:p>
            <a:pPr marL="205739" indent="-205739">
              <a:lnSpc>
                <a:spcPct val="102000"/>
              </a:lnSpc>
              <a:spcAft>
                <a:spcPts val="900"/>
              </a:spcAft>
            </a:pPr>
            <a:r>
              <a:rPr sz="1800" b="1">
                <a:solidFill>
                  <a:srgbClr val="1A5276"/>
                </a:solidFill>
                <a:latin typeface="Segoe UI"/>
              </a:rPr>
              <a:t>•  </a:t>
            </a:r>
            <a:r>
              <a:rPr sz="1800" b="1" i="0">
                <a:solidFill>
                  <a:srgbClr val="1C252B"/>
                </a:solidFill>
                <a:latin typeface="Segoe UI"/>
              </a:rPr>
              <a:t>How do we not talk over each other?</a:t>
            </a:r>
            <a:r>
              <a:rPr sz="1800" b="0" i="0">
                <a:solidFill>
                  <a:srgbClr val="1C252B"/>
                </a:solidFill>
                <a:latin typeface="Segoe UI"/>
              </a:rPr>
              <a:t> → media access and loop prevention (Chapter 3, Chapter 12).</a:t>
            </a:r>
          </a:p>
          <a:p>
            <a:pPr marL="205739" indent="-205739">
              <a:lnSpc>
                <a:spcPct val="102000"/>
              </a:lnSpc>
              <a:spcAft>
                <a:spcPts val="900"/>
              </a:spcAft>
            </a:pPr>
            <a:r>
              <a:rPr sz="1800" b="1">
                <a:solidFill>
                  <a:srgbClr val="1A5276"/>
                </a:solidFill>
                <a:latin typeface="Segoe UI"/>
              </a:rPr>
              <a:t>•  </a:t>
            </a:r>
            <a:r>
              <a:rPr sz="1800" b="1" i="0">
                <a:solidFill>
                  <a:srgbClr val="1C252B"/>
                </a:solidFill>
                <a:latin typeface="Segoe UI"/>
              </a:rPr>
              <a:t>What if it goes wrong?</a:t>
            </a:r>
            <a:r>
              <a:rPr sz="1800" b="0" i="0">
                <a:solidFill>
                  <a:srgbClr val="1C252B"/>
                </a:solidFill>
                <a:latin typeface="Segoe UI"/>
              </a:rPr>
              <a:t> → error detection, acknowledgement and retransmission (Chapter 6).</a:t>
            </a:r>
          </a:p>
        </p:txBody>
      </p:sp>
      <p:sp>
        <p:nvSpPr>
          <p:cNvPr id="10" name="tailbody"/>
          <p:cNvSpPr txBox="1"/>
          <p:nvPr/>
        </p:nvSpPr>
        <p:spPr>
          <a:xfrm>
            <a:off x="978408" y="5527548"/>
            <a:ext cx="10234879" cy="800100"/>
          </a:xfrm>
          <a:prstGeom prst="rect">
            <a:avLst/>
          </a:prstGeom>
          <a:noFill/>
        </p:spPr>
        <p:txBody>
          <a:bodyPr wrap="square" anchor="t" lIns="0" rIns="0" tIns="0" bIns="0">
            <a:spAutoFit/>
          </a:bodyPr>
          <a:lstStyle/>
          <a:p>
            <a:pPr algn="l">
              <a:lnSpc>
                <a:spcPct val="100000"/>
              </a:lnSpc>
              <a:spcAft>
                <a:spcPts val="600"/>
              </a:spcAft>
            </a:pPr>
            <a:r>
              <a:rPr sz="1800" b="0" i="0">
                <a:solidFill>
                  <a:srgbClr val="1C252B"/>
                </a:solidFill>
                <a:latin typeface="Segoe UI"/>
              </a:rPr>
              <a:t>When you meet a new protocol, ask which of the four it is answering. It will be one of them.</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DEFINITION</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Protocol</a:t>
            </a:r>
          </a:p>
        </p:txBody>
      </p:sp>
      <p:sp>
        <p:nvSpPr>
          <p:cNvPr id="4" name="rule"/>
          <p:cNvSpPr/>
          <p:nvPr/>
        </p:nvSpPr>
        <p:spPr>
          <a:xfrm>
            <a:off x="685800" y="1280160"/>
            <a:ext cx="10820095" cy="3200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1. Networks, Models and This Exam</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
            </a:r>
          </a:p>
        </p:txBody>
      </p:sp>
      <p:sp>
        <p:nvSpPr>
          <p:cNvPr id="7" name="tint"/>
          <p:cNvSpPr/>
          <p:nvPr/>
        </p:nvSpPr>
        <p:spPr>
          <a:xfrm>
            <a:off x="685800" y="1517904"/>
            <a:ext cx="10820095" cy="3079496"/>
          </a:xfrm>
          <a:prstGeom prst="rect">
            <a:avLst/>
          </a:prstGeom>
          <a:solidFill>
            <a:srgbClr val="FDF2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body"/>
          <p:cNvSpPr txBox="1"/>
          <p:nvPr/>
        </p:nvSpPr>
        <p:spPr>
          <a:xfrm>
            <a:off x="978408" y="1737360"/>
            <a:ext cx="10234879" cy="4645152"/>
          </a:xfrm>
          <a:prstGeom prst="rect">
            <a:avLst/>
          </a:prstGeom>
          <a:noFill/>
        </p:spPr>
        <p:txBody>
          <a:bodyPr wrap="square" anchor="t" lIns="0" rIns="0" tIns="0" bIns="0">
            <a:spAutoFit/>
          </a:bodyPr>
          <a:lstStyle/>
          <a:p>
            <a:pPr algn="l">
              <a:lnSpc>
                <a:spcPct val="100000"/>
              </a:lnSpc>
              <a:spcAft>
                <a:spcPts val="1000"/>
              </a:spcAft>
            </a:pPr>
            <a:r>
              <a:rPr sz="2000" b="0" i="0">
                <a:solidFill>
                  <a:srgbClr val="1C252B"/>
                </a:solidFill>
                <a:latin typeface="Segoe UI"/>
              </a:rPr>
              <a:t>An agreed set of rules for a conversation: what may be said, in what order, in what format, and what to do when the expected reply does not arrive.</a:t>
            </a:r>
          </a:p>
          <a:p>
            <a:pPr algn="l">
              <a:lnSpc>
                <a:spcPct val="100000"/>
              </a:lnSpc>
              <a:spcAft>
                <a:spcPts val="1000"/>
              </a:spcAft>
            </a:pPr>
            <a:r>
              <a:rPr sz="2000" b="0" i="0">
                <a:solidFill>
                  <a:srgbClr val="1C252B"/>
                </a:solidFill>
                <a:latin typeface="Segoe UI"/>
              </a:rPr>
              <a:t>Two people who both know to say “hello”, wait, then speak, have a protocol. Two computers need theirs written down to the bit, because neither can improvise. Almost every capitalised acronym in this book — ARP, DHCP, OSPF, HSRP — is one such agreement, and each exists because somebody had one of the four problems above.</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CONCEPT</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The model is a troubleshooting tool</a:t>
            </a:r>
          </a:p>
        </p:txBody>
      </p:sp>
      <p:sp>
        <p:nvSpPr>
          <p:cNvPr id="4" name="rule"/>
          <p:cNvSpPr/>
          <p:nvPr/>
        </p:nvSpPr>
        <p:spPr>
          <a:xfrm>
            <a:off x="685800" y="1280160"/>
            <a:ext cx="10820095" cy="3200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1. Networks, Models and This Exam</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
            </a:r>
          </a:p>
        </p:txBody>
      </p:sp>
      <p:sp>
        <p:nvSpPr>
          <p:cNvPr id="7" name="tint"/>
          <p:cNvSpPr/>
          <p:nvPr/>
        </p:nvSpPr>
        <p:spPr>
          <a:xfrm>
            <a:off x="685800" y="1517904"/>
            <a:ext cx="10820095" cy="3079496"/>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body"/>
          <p:cNvSpPr txBox="1"/>
          <p:nvPr/>
        </p:nvSpPr>
        <p:spPr>
          <a:xfrm>
            <a:off x="978408" y="1737360"/>
            <a:ext cx="10234879" cy="4645152"/>
          </a:xfrm>
          <a:prstGeom prst="rect">
            <a:avLst/>
          </a:prstGeom>
          <a:noFill/>
        </p:spPr>
        <p:txBody>
          <a:bodyPr wrap="square" anchor="t" lIns="0" rIns="0" tIns="0" bIns="0">
            <a:spAutoFit/>
          </a:bodyPr>
          <a:lstStyle/>
          <a:p>
            <a:pPr algn="l">
              <a:lnSpc>
                <a:spcPct val="100000"/>
              </a:lnSpc>
              <a:spcAft>
                <a:spcPts val="1000"/>
              </a:spcAft>
            </a:pPr>
            <a:r>
              <a:rPr sz="2000" b="0" i="0">
                <a:solidFill>
                  <a:srgbClr val="1C252B"/>
                </a:solidFill>
                <a:latin typeface="Segoe UI"/>
              </a:rPr>
              <a:t>When something does not work, the layered model tells you </a:t>
            </a:r>
            <a:r>
              <a:rPr sz="2000" b="0" i="1">
                <a:solidFill>
                  <a:srgbClr val="1C252B"/>
                </a:solidFill>
                <a:latin typeface="Segoe UI"/>
              </a:rPr>
              <a:t>what to test next</a:t>
            </a:r>
            <a:r>
              <a:rPr sz="2000" b="0" i="0">
                <a:solidFill>
                  <a:srgbClr val="1C252B"/>
                </a:solidFill>
                <a:latin typeface="Segoe UI"/>
              </a:rPr>
              <a:t>. If a cable is unplugged, checking DNS is a waste of a minute you do not have in the exam. Work up: is the link up? Does it have an address? Can it reach its gateway? Can it resolve a name? Every troubleshooting question in this exam — and there are eight topics’ worth — is answered by walking the layers in order.</a:t>
            </a:r>
          </a:p>
          <a:p>
            <a:pPr algn="l">
              <a:lnSpc>
                <a:spcPct val="100000"/>
              </a:lnSpc>
              <a:spcAft>
                <a:spcPts val="1000"/>
              </a:spcAft>
            </a:pPr>
            <a:r>
              <a:rPr sz="2000" b="0" i="0">
                <a:solidFill>
                  <a:srgbClr val="1C252B"/>
                </a:solidFill>
                <a:latin typeface="Segoe UI"/>
              </a:rPr>
              <a:t>The v2.0 blueprint no longer asks you to </a:t>
            </a:r>
            <a:r>
              <a:rPr sz="2000" b="0" i="1">
                <a:solidFill>
                  <a:srgbClr val="1C252B"/>
                </a:solidFill>
                <a:latin typeface="Segoe UI"/>
              </a:rPr>
              <a:t>describe</a:t>
            </a:r>
            <a:r>
              <a:rPr sz="2000" b="0" i="0">
                <a:solidFill>
                  <a:srgbClr val="1C252B"/>
                </a:solidFill>
                <a:latin typeface="Segoe UI"/>
              </a:rPr>
              <a:t> the OSI model, as v1.1 did. It assumes you use it.</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DEFINITION</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Encapsulation, and the names of things</a:t>
            </a:r>
          </a:p>
        </p:txBody>
      </p:sp>
      <p:sp>
        <p:nvSpPr>
          <p:cNvPr id="4" name="rule"/>
          <p:cNvSpPr/>
          <p:nvPr/>
        </p:nvSpPr>
        <p:spPr>
          <a:xfrm>
            <a:off x="685800" y="1280160"/>
            <a:ext cx="10820095" cy="3200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1. Networks, Models and This Exam</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
            </a:r>
          </a:p>
        </p:txBody>
      </p:sp>
      <p:sp>
        <p:nvSpPr>
          <p:cNvPr id="7" name="tint"/>
          <p:cNvSpPr/>
          <p:nvPr/>
        </p:nvSpPr>
        <p:spPr>
          <a:xfrm>
            <a:off x="685800" y="1517904"/>
            <a:ext cx="10820095" cy="4864608"/>
          </a:xfrm>
          <a:prstGeom prst="rect">
            <a:avLst/>
          </a:prstGeom>
          <a:solidFill>
            <a:srgbClr val="FDF2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body"/>
          <p:cNvSpPr txBox="1"/>
          <p:nvPr/>
        </p:nvSpPr>
        <p:spPr>
          <a:xfrm>
            <a:off x="978408" y="1737360"/>
            <a:ext cx="10234879" cy="4645152"/>
          </a:xfrm>
          <a:prstGeom prst="rect">
            <a:avLst/>
          </a:prstGeom>
          <a:noFill/>
        </p:spPr>
        <p:txBody>
          <a:bodyPr wrap="square" anchor="t" lIns="0" rIns="0" tIns="0" bIns="0">
            <a:spAutoFit/>
          </a:bodyPr>
          <a:lstStyle/>
          <a:p>
            <a:pPr algn="l">
              <a:lnSpc>
                <a:spcPct val="100000"/>
              </a:lnSpc>
              <a:spcAft>
                <a:spcPts val="1000"/>
              </a:spcAft>
            </a:pPr>
            <a:r>
              <a:rPr sz="2000" b="0" i="0">
                <a:solidFill>
                  <a:srgbClr val="1C252B"/>
                </a:solidFill>
                <a:latin typeface="Segoe UI"/>
              </a:rPr>
              <a:t>As data moves down the stack each layer wraps it in a header. The wrapped unit gets a different name at each layer, and using the right one is how you show you know which layer you are discussing.</a:t>
            </a:r>
          </a:p>
        </p:txBody>
      </p:sp>
      <p:sp>
        <p:nvSpPr>
          <p:cNvPr id="9" name="bullets"/>
          <p:cNvSpPr txBox="1"/>
          <p:nvPr/>
        </p:nvSpPr>
        <p:spPr>
          <a:xfrm>
            <a:off x="978408" y="2910840"/>
            <a:ext cx="10234879" cy="3471672"/>
          </a:xfrm>
          <a:prstGeom prst="rect">
            <a:avLst/>
          </a:prstGeom>
          <a:noFill/>
        </p:spPr>
        <p:txBody>
          <a:bodyPr wrap="square" lIns="0" rIns="0" tIns="0" bIns="0">
            <a:spAutoFit/>
          </a:bodyPr>
          <a:lstStyle/>
          <a:p>
            <a:pPr marL="228600" indent="-228600">
              <a:lnSpc>
                <a:spcPct val="102000"/>
              </a:lnSpc>
              <a:spcAft>
                <a:spcPts val="900"/>
              </a:spcAft>
            </a:pPr>
            <a:r>
              <a:rPr sz="2000" b="1">
                <a:solidFill>
                  <a:srgbClr val="1A5276"/>
                </a:solidFill>
                <a:latin typeface="Segoe UI"/>
              </a:rPr>
              <a:t>•  </a:t>
            </a:r>
            <a:r>
              <a:rPr sz="2000" b="0" i="0">
                <a:solidFill>
                  <a:srgbClr val="1C252B"/>
                </a:solidFill>
                <a:latin typeface="Segoe UI"/>
              </a:rPr>
              <a:t>Application data becomes a </a:t>
            </a:r>
            <a:r>
              <a:rPr sz="2000" b="1" i="0">
                <a:solidFill>
                  <a:srgbClr val="1A5276"/>
                </a:solidFill>
                <a:latin typeface="Segoe UI"/>
              </a:rPr>
              <a:t>segment</a:t>
            </a:r>
            <a:r>
              <a:rPr sz="2000" b="0" i="0">
                <a:solidFill>
                  <a:srgbClr val="1C252B"/>
                </a:solidFill>
                <a:latin typeface="Segoe UI"/>
              </a:rPr>
              <a:t> at layer 4 (TCP) or a </a:t>
            </a:r>
            <a:r>
              <a:rPr sz="2000" b="1" i="0">
                <a:solidFill>
                  <a:srgbClr val="1A5276"/>
                </a:solidFill>
                <a:latin typeface="Segoe UI"/>
              </a:rPr>
              <a:t>datagram</a:t>
            </a:r>
            <a:r>
              <a:rPr sz="2000" b="0" i="0">
                <a:solidFill>
                  <a:srgbClr val="1C252B"/>
                </a:solidFill>
                <a:latin typeface="Segoe UI"/>
              </a:rPr>
              <a:t> (UDP), when a port number is attached.</a:t>
            </a:r>
          </a:p>
          <a:p>
            <a:pPr marL="228600" indent="-228600">
              <a:lnSpc>
                <a:spcPct val="102000"/>
              </a:lnSpc>
              <a:spcAft>
                <a:spcPts val="900"/>
              </a:spcAft>
            </a:pPr>
            <a:r>
              <a:rPr sz="2000" b="1">
                <a:solidFill>
                  <a:srgbClr val="1A5276"/>
                </a:solidFill>
                <a:latin typeface="Segoe UI"/>
              </a:rPr>
              <a:t>•  </a:t>
            </a:r>
            <a:r>
              <a:rPr sz="2000" b="0" i="0">
                <a:solidFill>
                  <a:srgbClr val="1C252B"/>
                </a:solidFill>
                <a:latin typeface="Segoe UI"/>
              </a:rPr>
              <a:t>That becomes a </a:t>
            </a:r>
            <a:r>
              <a:rPr sz="2000" b="1" i="0">
                <a:solidFill>
                  <a:srgbClr val="1A5276"/>
                </a:solidFill>
                <a:latin typeface="Segoe UI"/>
              </a:rPr>
              <a:t>packet</a:t>
            </a:r>
            <a:r>
              <a:rPr sz="2000" b="0" i="0">
                <a:solidFill>
                  <a:srgbClr val="1C252B"/>
                </a:solidFill>
                <a:latin typeface="Segoe UI"/>
              </a:rPr>
              <a:t> at layer 3, when IP addresses are attached.</a:t>
            </a:r>
          </a:p>
          <a:p>
            <a:pPr marL="228600" indent="-228600">
              <a:lnSpc>
                <a:spcPct val="102000"/>
              </a:lnSpc>
              <a:spcAft>
                <a:spcPts val="900"/>
              </a:spcAft>
            </a:pPr>
            <a:r>
              <a:rPr sz="2000" b="1">
                <a:solidFill>
                  <a:srgbClr val="1A5276"/>
                </a:solidFill>
                <a:latin typeface="Segoe UI"/>
              </a:rPr>
              <a:t>•  </a:t>
            </a:r>
            <a:r>
              <a:rPr sz="2000" b="0" i="0">
                <a:solidFill>
                  <a:srgbClr val="1C252B"/>
                </a:solidFill>
                <a:latin typeface="Segoe UI"/>
              </a:rPr>
              <a:t>That becomes a </a:t>
            </a:r>
            <a:r>
              <a:rPr sz="2000" b="1" i="0">
                <a:solidFill>
                  <a:srgbClr val="1A5276"/>
                </a:solidFill>
                <a:latin typeface="Segoe UI"/>
              </a:rPr>
              <a:t>frame</a:t>
            </a:r>
            <a:r>
              <a:rPr sz="2000" b="0" i="0">
                <a:solidFill>
                  <a:srgbClr val="1C252B"/>
                </a:solidFill>
                <a:latin typeface="Segoe UI"/>
              </a:rPr>
              <a:t> at layer 2, when MAC addresses are attached.</a:t>
            </a:r>
          </a:p>
          <a:p>
            <a:pPr marL="228600" indent="-228600">
              <a:lnSpc>
                <a:spcPct val="102000"/>
              </a:lnSpc>
              <a:spcAft>
                <a:spcPts val="900"/>
              </a:spcAft>
            </a:pPr>
            <a:r>
              <a:rPr sz="2000" b="1">
                <a:solidFill>
                  <a:srgbClr val="1A5276"/>
                </a:solidFill>
                <a:latin typeface="Segoe UI"/>
              </a:rPr>
              <a:t>•  </a:t>
            </a:r>
            <a:r>
              <a:rPr sz="2000" b="0" i="0">
                <a:solidFill>
                  <a:srgbClr val="1C252B"/>
                </a:solidFill>
                <a:latin typeface="Segoe UI"/>
              </a:rPr>
              <a:t>That becomes </a:t>
            </a:r>
            <a:r>
              <a:rPr sz="2000" b="1" i="0">
                <a:solidFill>
                  <a:srgbClr val="1A5276"/>
                </a:solidFill>
                <a:latin typeface="Segoe UI"/>
              </a:rPr>
              <a:t>bits</a:t>
            </a:r>
            <a:r>
              <a:rPr sz="2000" b="0" i="0">
                <a:solidFill>
                  <a:srgbClr val="1C252B"/>
                </a:solidFill>
                <a:latin typeface="Segoe UI"/>
              </a:rPr>
              <a:t> at layer 1.</a:t>
            </a:r>
          </a:p>
        </p:txBody>
      </p:sp>
      <p:sp>
        <p:nvSpPr>
          <p:cNvPr id="10" name="tailbody"/>
          <p:cNvSpPr txBox="1"/>
          <p:nvPr/>
        </p:nvSpPr>
        <p:spPr>
          <a:xfrm>
            <a:off x="978408" y="5494528"/>
            <a:ext cx="10234879" cy="833120"/>
          </a:xfrm>
          <a:prstGeom prst="rect">
            <a:avLst/>
          </a:prstGeom>
          <a:noFill/>
        </p:spPr>
        <p:txBody>
          <a:bodyPr wrap="square" anchor="t" lIns="0" rIns="0" tIns="0" bIns="0">
            <a:spAutoFit/>
          </a:bodyPr>
          <a:lstStyle/>
          <a:p>
            <a:pPr algn="l">
              <a:lnSpc>
                <a:spcPct val="100000"/>
              </a:lnSpc>
              <a:spcAft>
                <a:spcPts val="600"/>
              </a:spcAft>
            </a:pPr>
            <a:r>
              <a:rPr sz="2000" b="0" i="0">
                <a:solidFill>
                  <a:srgbClr val="1C252B"/>
                </a:solidFill>
                <a:latin typeface="Segoe UI"/>
              </a:rPr>
              <a:t>Switches forward frames. Routers forward packets. That single sentence explains most of the difference between the two devices.</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685800" y="45720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The devices, and what each one decides</a:t>
            </a:r>
          </a:p>
        </p:txBody>
      </p:sp>
      <p:sp>
        <p:nvSpPr>
          <p:cNvPr id="3" name="rule"/>
          <p:cNvSpPr/>
          <p:nvPr/>
        </p:nvSpPr>
        <p:spPr>
          <a:xfrm>
            <a:off x="685800" y="1280160"/>
            <a:ext cx="10820095" cy="3200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1. Networks, Models and This Exam</a:t>
            </a:r>
          </a:p>
        </p:txBody>
      </p:sp>
      <p:sp>
        <p:nvSpPr>
          <p:cNvPr id="5"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
            </a:r>
          </a:p>
        </p:txBody>
      </p:sp>
      <p:pic>
        <p:nvPicPr>
          <p:cNvPr id="6" name="figure" descr="smallent.png"/>
          <p:cNvPicPr>
            <a:picLocks noChangeAspect="1"/>
          </p:cNvPicPr>
          <p:nvPr/>
        </p:nvPicPr>
        <p:blipFill>
          <a:blip r:embed="rId2"/>
          <a:stretch>
            <a:fillRect/>
          </a:stretch>
        </p:blipFill>
        <p:spPr>
          <a:xfrm>
            <a:off x="685800" y="1876648"/>
            <a:ext cx="10820095" cy="3397310"/>
          </a:xfrm>
          <a:prstGeom prst="rect">
            <a:avLst/>
          </a:prstGeom>
        </p:spPr>
      </p:pic>
      <p:sp>
        <p:nvSpPr>
          <p:cNvPr id="7" name="figcap"/>
          <p:cNvSpPr txBox="1"/>
          <p:nvPr/>
        </p:nvSpPr>
        <p:spPr>
          <a:xfrm>
            <a:off x="685800" y="5687568"/>
            <a:ext cx="10820095" cy="658368"/>
          </a:xfrm>
          <a:prstGeom prst="rect">
            <a:avLst/>
          </a:prstGeom>
          <a:noFill/>
        </p:spPr>
        <p:txBody>
          <a:bodyPr wrap="square" anchor="t" lIns="0" rIns="0" tIns="0" bIns="0">
            <a:spAutoFit/>
          </a:bodyPr>
          <a:lstStyle/>
          <a:p>
            <a:pPr algn="ctr">
              <a:lnSpc>
                <a:spcPct val="100000"/>
              </a:lnSpc>
              <a:spcAft>
                <a:spcPts val="600"/>
              </a:spcAft>
            </a:pPr>
            <a:r>
              <a:rPr sz="1300" b="0" i="0">
                <a:solidFill>
                  <a:srgbClr val="707B7C"/>
                </a:solidFill>
                <a:latin typeface="Segoe UI"/>
              </a:rPr>
              <a:t>A small enterprise network. Access switches connect end devices; a distribution switch aggregates them and routes between VLANs; the router reaches other networks; the firewall polices what leaves. Every chapter in Parts II to IV configures one piece of this picture.</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DEFINITION</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Two domains worth keeping straight</a:t>
            </a:r>
          </a:p>
        </p:txBody>
      </p:sp>
      <p:sp>
        <p:nvSpPr>
          <p:cNvPr id="4" name="rule"/>
          <p:cNvSpPr/>
          <p:nvPr/>
        </p:nvSpPr>
        <p:spPr>
          <a:xfrm>
            <a:off x="685800" y="1280160"/>
            <a:ext cx="10820095" cy="3200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1. Networks, Models and This Exam</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
            </a:r>
          </a:p>
        </p:txBody>
      </p:sp>
      <p:sp>
        <p:nvSpPr>
          <p:cNvPr id="7" name="tint"/>
          <p:cNvSpPr/>
          <p:nvPr/>
        </p:nvSpPr>
        <p:spPr>
          <a:xfrm>
            <a:off x="685800" y="1517904"/>
            <a:ext cx="10820095" cy="3079496"/>
          </a:xfrm>
          <a:prstGeom prst="rect">
            <a:avLst/>
          </a:prstGeom>
          <a:solidFill>
            <a:srgbClr val="FDF2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body"/>
          <p:cNvSpPr txBox="1"/>
          <p:nvPr/>
        </p:nvSpPr>
        <p:spPr>
          <a:xfrm>
            <a:off x="978408" y="1737360"/>
            <a:ext cx="10234879" cy="4645152"/>
          </a:xfrm>
          <a:prstGeom prst="rect">
            <a:avLst/>
          </a:prstGeom>
          <a:noFill/>
        </p:spPr>
        <p:txBody>
          <a:bodyPr wrap="square" anchor="t" lIns="0" rIns="0" tIns="0" bIns="0">
            <a:spAutoFit/>
          </a:bodyPr>
          <a:lstStyle/>
          <a:p>
            <a:pPr algn="l">
              <a:lnSpc>
                <a:spcPct val="100000"/>
              </a:lnSpc>
              <a:spcAft>
                <a:spcPts val="1000"/>
              </a:spcAft>
            </a:pPr>
            <a:r>
              <a:rPr sz="2000" b="0" i="0">
                <a:solidFill>
                  <a:srgbClr val="1C252B"/>
                </a:solidFill>
                <a:latin typeface="Segoe UI"/>
              </a:rPr>
              <a:t>A </a:t>
            </a:r>
            <a:r>
              <a:rPr sz="2000" b="1" i="0">
                <a:solidFill>
                  <a:srgbClr val="1A5276"/>
                </a:solidFill>
                <a:latin typeface="Segoe UI"/>
              </a:rPr>
              <a:t>collision domain</a:t>
            </a:r>
            <a:r>
              <a:rPr sz="2000" b="0" i="0">
                <a:solidFill>
                  <a:srgbClr val="1C252B"/>
                </a:solidFill>
                <a:latin typeface="Segoe UI"/>
              </a:rPr>
              <a:t> is the set of ports that could transmit at the same instant and interfere. Every switch port is its own collision domain, which is why modern switched networks do not collide — and why a </a:t>
            </a:r>
            <a:r>
              <a:rPr sz="1900" b="0" i="0">
                <a:solidFill>
                  <a:srgbClr val="1A5276"/>
                </a:solidFill>
                <a:latin typeface="Consolas"/>
              </a:rPr>
              <a:t>collisions</a:t>
            </a:r>
            <a:r>
              <a:rPr sz="2000" b="0" i="0">
                <a:solidFill>
                  <a:srgbClr val="1C252B"/>
                </a:solidFill>
                <a:latin typeface="Segoe UI"/>
              </a:rPr>
              <a:t> counter that is climbing means something is badly wrong, usually a duplex mismatch (Chapter 2).</a:t>
            </a:r>
          </a:p>
          <a:p>
            <a:pPr algn="l">
              <a:lnSpc>
                <a:spcPct val="100000"/>
              </a:lnSpc>
              <a:spcAft>
                <a:spcPts val="1000"/>
              </a:spcAft>
            </a:pPr>
            <a:r>
              <a:rPr sz="2000" b="0" i="0">
                <a:solidFill>
                  <a:srgbClr val="1C252B"/>
                </a:solidFill>
                <a:latin typeface="Segoe UI"/>
              </a:rPr>
              <a:t>A </a:t>
            </a:r>
            <a:r>
              <a:rPr sz="2000" b="1" i="0">
                <a:solidFill>
                  <a:srgbClr val="1A5276"/>
                </a:solidFill>
                <a:latin typeface="Segoe UI"/>
              </a:rPr>
              <a:t>broadcast domain</a:t>
            </a:r>
            <a:r>
              <a:rPr sz="2000" b="0" i="0">
                <a:solidFill>
                  <a:srgbClr val="1C252B"/>
                </a:solidFill>
                <a:latin typeface="Segoe UI"/>
              </a:rPr>
              <a:t> is the set of devices that receive each other’s broadcasts. One VLAN is one broadcast domain. Splitting broadcast domains is the entire purpose of Chapter 8, and joining them again is the purpose of Chapter 15.</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ON THE EXAM</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How the blueprint is built, and how to read it</a:t>
            </a:r>
          </a:p>
        </p:txBody>
      </p:sp>
      <p:sp>
        <p:nvSpPr>
          <p:cNvPr id="4" name="rule"/>
          <p:cNvSpPr/>
          <p:nvPr/>
        </p:nvSpPr>
        <p:spPr>
          <a:xfrm>
            <a:off x="685800" y="1280160"/>
            <a:ext cx="10820095" cy="3200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1. Networks, Models and This Exam</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
            </a:r>
          </a:p>
        </p:txBody>
      </p:sp>
      <p:sp>
        <p:nvSpPr>
          <p:cNvPr id="7" name="icon"/>
          <p:cNvSpPr txBox="1"/>
          <p:nvPr/>
        </p:nvSpPr>
        <p:spPr>
          <a:xfrm>
            <a:off x="685800" y="1517904"/>
            <a:ext cx="10820095" cy="292608"/>
          </a:xfrm>
          <a:prstGeom prst="rect">
            <a:avLst/>
          </a:prstGeom>
          <a:noFill/>
        </p:spPr>
        <p:txBody>
          <a:bodyPr wrap="square" anchor="t" lIns="0" rIns="0" tIns="0" bIns="0">
            <a:spAutoFit/>
          </a:bodyPr>
          <a:lstStyle/>
          <a:p>
            <a:pPr algn="l">
              <a:lnSpc>
                <a:spcPct val="100000"/>
              </a:lnSpc>
              <a:spcAft>
                <a:spcPts val="600"/>
              </a:spcAft>
            </a:pPr>
            <a:r>
              <a:rPr sz="1300" b="1" i="0">
                <a:solidFill>
                  <a:srgbClr val="1A5276"/>
                </a:solidFill>
                <a:latin typeface="Segoe UI"/>
              </a:rPr>
              <a:t>This is what the blueprint actually asks for</a:t>
            </a:r>
          </a:p>
        </p:txBody>
      </p:sp>
      <p:sp>
        <p:nvSpPr>
          <p:cNvPr id="8" name="body"/>
          <p:cNvSpPr txBox="1"/>
          <p:nvPr/>
        </p:nvSpPr>
        <p:spPr>
          <a:xfrm>
            <a:off x="685800" y="1883664"/>
            <a:ext cx="10820095" cy="4498848"/>
          </a:xfrm>
          <a:prstGeom prst="rect">
            <a:avLst/>
          </a:prstGeom>
          <a:noFill/>
        </p:spPr>
        <p:txBody>
          <a:bodyPr wrap="square" anchor="t" lIns="0" rIns="0" tIns="0" bIns="0">
            <a:spAutoFit/>
          </a:bodyPr>
          <a:lstStyle/>
          <a:p>
            <a:pPr algn="l">
              <a:lnSpc>
                <a:spcPct val="100000"/>
              </a:lnSpc>
              <a:spcAft>
                <a:spcPts val="1000"/>
              </a:spcAft>
            </a:pPr>
            <a:r>
              <a:rPr sz="1800" b="0" i="0">
                <a:solidFill>
                  <a:srgbClr val="1C252B"/>
                </a:solidFill>
                <a:latin typeface="Segoe UI"/>
              </a:rPr>
              <a:t>Cisco publishes twenty-nine numbered topics in five domains. The number is the whole contract: if a technique is not in a topic statement, it is not directly examinable, and if it is, the </a:t>
            </a:r>
            <a:r>
              <a:rPr sz="1800" b="0" i="1">
                <a:solidFill>
                  <a:srgbClr val="1C252B"/>
                </a:solidFill>
                <a:latin typeface="Segoe UI"/>
              </a:rPr>
              <a:t>verb</a:t>
            </a:r>
            <a:r>
              <a:rPr sz="1800" b="0" i="0">
                <a:solidFill>
                  <a:srgbClr val="1C252B"/>
                </a:solidFill>
                <a:latin typeface="Segoe UI"/>
              </a:rPr>
              <a:t> tells you the depth expected.</a:t>
            </a:r>
          </a:p>
        </p:txBody>
      </p:sp>
      <p:sp>
        <p:nvSpPr>
          <p:cNvPr id="9" name="bullets"/>
          <p:cNvSpPr txBox="1"/>
          <p:nvPr/>
        </p:nvSpPr>
        <p:spPr>
          <a:xfrm>
            <a:off x="685800" y="2958084"/>
            <a:ext cx="10820095" cy="3424428"/>
          </a:xfrm>
          <a:prstGeom prst="rect">
            <a:avLst/>
          </a:prstGeom>
          <a:noFill/>
        </p:spPr>
        <p:txBody>
          <a:bodyPr wrap="square" lIns="0" rIns="0" tIns="0" bIns="0">
            <a:spAutoFit/>
          </a:bodyPr>
          <a:lstStyle/>
          <a:p>
            <a:pPr marL="205739" indent="-205739">
              <a:lnSpc>
                <a:spcPct val="102000"/>
              </a:lnSpc>
              <a:spcAft>
                <a:spcPts val="900"/>
              </a:spcAft>
            </a:pPr>
            <a:r>
              <a:rPr sz="1800" b="1">
                <a:solidFill>
                  <a:srgbClr val="1A5276"/>
                </a:solidFill>
                <a:latin typeface="Segoe UI"/>
              </a:rPr>
              <a:t>•  </a:t>
            </a:r>
            <a:r>
              <a:rPr sz="1800" b="0" i="1">
                <a:solidFill>
                  <a:srgbClr val="1C252B"/>
                </a:solidFill>
                <a:latin typeface="Segoe UI"/>
              </a:rPr>
              <a:t>Describe</a:t>
            </a:r>
            <a:r>
              <a:rPr sz="1800" b="0" i="0">
                <a:solidFill>
                  <a:srgbClr val="1C252B"/>
                </a:solidFill>
                <a:latin typeface="Segoe UI"/>
              </a:rPr>
              <a:t> — you must be able to explain it. Six topics.</a:t>
            </a:r>
          </a:p>
          <a:p>
            <a:pPr marL="205739" indent="-205739">
              <a:lnSpc>
                <a:spcPct val="102000"/>
              </a:lnSpc>
              <a:spcAft>
                <a:spcPts val="900"/>
              </a:spcAft>
            </a:pPr>
            <a:r>
              <a:rPr sz="1800" b="1">
                <a:solidFill>
                  <a:srgbClr val="1A5276"/>
                </a:solidFill>
                <a:latin typeface="Segoe UI"/>
              </a:rPr>
              <a:t>•  </a:t>
            </a:r>
            <a:r>
              <a:rPr sz="1800" b="0" i="1">
                <a:solidFill>
                  <a:srgbClr val="1C252B"/>
                </a:solidFill>
                <a:latin typeface="Segoe UI"/>
              </a:rPr>
              <a:t>Interpret</a:t>
            </a:r>
            <a:r>
              <a:rPr sz="1800" b="0" i="0">
                <a:solidFill>
                  <a:srgbClr val="1C252B"/>
                </a:solidFill>
                <a:latin typeface="Segoe UI"/>
              </a:rPr>
              <a:t>, </a:t>
            </a:r>
            <a:r>
              <a:rPr sz="1800" b="0" i="1">
                <a:solidFill>
                  <a:srgbClr val="1C252B"/>
                </a:solidFill>
                <a:latin typeface="Segoe UI"/>
              </a:rPr>
              <a:t>Validate</a:t>
            </a:r>
            <a:r>
              <a:rPr sz="1800" b="0" i="0">
                <a:solidFill>
                  <a:srgbClr val="1C252B"/>
                </a:solidFill>
                <a:latin typeface="Segoe UI"/>
              </a:rPr>
              <a:t>, </a:t>
            </a:r>
            <a:r>
              <a:rPr sz="1800" b="0" i="1">
                <a:solidFill>
                  <a:srgbClr val="1C252B"/>
                </a:solidFill>
                <a:latin typeface="Segoe UI"/>
              </a:rPr>
              <a:t>Select</a:t>
            </a:r>
            <a:r>
              <a:rPr sz="1800" b="0" i="0">
                <a:solidFill>
                  <a:srgbClr val="1C252B"/>
                </a:solidFill>
                <a:latin typeface="Segoe UI"/>
              </a:rPr>
              <a:t>, </a:t>
            </a:r>
            <a:r>
              <a:rPr sz="1800" b="0" i="1">
                <a:solidFill>
                  <a:srgbClr val="1C252B"/>
                </a:solidFill>
                <a:latin typeface="Segoe UI"/>
              </a:rPr>
              <a:t>Use</a:t>
            </a:r>
            <a:r>
              <a:rPr sz="1800" b="0" i="0">
                <a:solidFill>
                  <a:srgbClr val="1C252B"/>
                </a:solidFill>
                <a:latin typeface="Segoe UI"/>
              </a:rPr>
              <a:t>, </a:t>
            </a:r>
            <a:r>
              <a:rPr sz="1800" b="0" i="1">
                <a:solidFill>
                  <a:srgbClr val="1C252B"/>
                </a:solidFill>
                <a:latin typeface="Segoe UI"/>
              </a:rPr>
              <a:t>Manage</a:t>
            </a:r>
            <a:r>
              <a:rPr sz="1800" b="0" i="0">
                <a:solidFill>
                  <a:srgbClr val="1C252B"/>
                </a:solidFill>
                <a:latin typeface="Segoe UI"/>
              </a:rPr>
              <a:t> — you must be able to read output or make a choice. Seven topics.</a:t>
            </a:r>
          </a:p>
          <a:p>
            <a:pPr marL="205739" indent="-205739">
              <a:lnSpc>
                <a:spcPct val="102000"/>
              </a:lnSpc>
              <a:spcAft>
                <a:spcPts val="900"/>
              </a:spcAft>
            </a:pPr>
            <a:r>
              <a:rPr sz="1800" b="1">
                <a:solidFill>
                  <a:srgbClr val="1A5276"/>
                </a:solidFill>
                <a:latin typeface="Segoe UI"/>
              </a:rPr>
              <a:t>•  </a:t>
            </a:r>
            <a:r>
              <a:rPr sz="1800" b="0" i="1">
                <a:solidFill>
                  <a:srgbClr val="1C252B"/>
                </a:solidFill>
                <a:latin typeface="Segoe UI"/>
              </a:rPr>
              <a:t>Configure</a:t>
            </a:r>
            <a:r>
              <a:rPr sz="1800" b="0" i="0">
                <a:solidFill>
                  <a:srgbClr val="1C252B"/>
                </a:solidFill>
                <a:latin typeface="Segoe UI"/>
              </a:rPr>
              <a:t> — you must produce the commands. Eight topics.</a:t>
            </a:r>
          </a:p>
          <a:p>
            <a:pPr marL="205739" indent="-205739">
              <a:lnSpc>
                <a:spcPct val="102000"/>
              </a:lnSpc>
              <a:spcAft>
                <a:spcPts val="900"/>
              </a:spcAft>
            </a:pPr>
            <a:r>
              <a:rPr sz="1800" b="1">
                <a:solidFill>
                  <a:srgbClr val="1A5276"/>
                </a:solidFill>
                <a:latin typeface="Segoe UI"/>
              </a:rPr>
              <a:t>•  </a:t>
            </a:r>
            <a:r>
              <a:rPr sz="1800" b="0" i="1">
                <a:solidFill>
                  <a:srgbClr val="1C252B"/>
                </a:solidFill>
                <a:latin typeface="Segoe UI"/>
              </a:rPr>
              <a:t>Troubleshoot</a:t>
            </a:r>
            <a:r>
              <a:rPr sz="1800" b="0" i="0">
                <a:solidFill>
                  <a:srgbClr val="1C252B"/>
                </a:solidFill>
                <a:latin typeface="Segoe UI"/>
              </a:rPr>
              <a:t> or </a:t>
            </a:r>
            <a:r>
              <a:rPr sz="1800" b="0" i="1">
                <a:solidFill>
                  <a:srgbClr val="1C252B"/>
                </a:solidFill>
                <a:latin typeface="Segoe UI"/>
              </a:rPr>
              <a:t>Diagnose</a:t>
            </a:r>
            <a:r>
              <a:rPr sz="1800" b="0" i="0">
                <a:solidFill>
                  <a:srgbClr val="1C252B"/>
                </a:solidFill>
                <a:latin typeface="Segoe UI"/>
              </a:rPr>
              <a:t> — you must find and fix a fault. Eight topics.</a:t>
            </a:r>
          </a:p>
        </p:txBody>
      </p:sp>
      <p:sp>
        <p:nvSpPr>
          <p:cNvPr id="10" name="tailbody"/>
          <p:cNvSpPr txBox="1"/>
          <p:nvPr/>
        </p:nvSpPr>
        <p:spPr>
          <a:xfrm>
            <a:off x="685800" y="5376672"/>
            <a:ext cx="10820095" cy="950976"/>
          </a:xfrm>
          <a:prstGeom prst="rect">
            <a:avLst/>
          </a:prstGeom>
          <a:noFill/>
        </p:spPr>
        <p:txBody>
          <a:bodyPr wrap="square" anchor="t" lIns="0" rIns="0" tIns="0" bIns="0">
            <a:spAutoFit/>
          </a:bodyPr>
          <a:lstStyle/>
          <a:p>
            <a:pPr algn="l">
              <a:lnSpc>
                <a:spcPct val="100000"/>
              </a:lnSpc>
              <a:spcAft>
                <a:spcPts val="600"/>
              </a:spcAft>
            </a:pPr>
            <a:r>
              <a:rPr sz="1800" b="0" i="0">
                <a:solidFill>
                  <a:srgbClr val="1C252B"/>
                </a:solidFill>
                <a:latin typeface="Segoe UI"/>
              </a:rPr>
              <a:t>Sixteen of twenty-nine are configure-or-fix. That is the single most useful fact about this exam, and it should change how you study: time at a command line beats time with a highlighter, by a wide margin.</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COMMON PITFALLS  ·  This exam, and this book</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Common pitfalls</a:t>
            </a:r>
          </a:p>
        </p:txBody>
      </p:sp>
      <p:sp>
        <p:nvSpPr>
          <p:cNvPr id="4" name="rule"/>
          <p:cNvSpPr/>
          <p:nvPr/>
        </p:nvSpPr>
        <p:spPr>
          <a:xfrm>
            <a:off x="685800" y="1280160"/>
            <a:ext cx="10820095" cy="3200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1. Networks, Models and This Exam</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
            </a:r>
          </a:p>
        </p:txBody>
      </p:sp>
      <p:sp>
        <p:nvSpPr>
          <p:cNvPr id="7" name="bullets"/>
          <p:cNvSpPr txBox="1"/>
          <p:nvPr/>
        </p:nvSpPr>
        <p:spPr>
          <a:xfrm>
            <a:off x="685800" y="2213864"/>
            <a:ext cx="10820095" cy="4168648"/>
          </a:xfrm>
          <a:prstGeom prst="rect">
            <a:avLst/>
          </a:prstGeom>
          <a:noFill/>
        </p:spPr>
        <p:txBody>
          <a:bodyPr wrap="square" lIns="0" rIns="0" tIns="0" bIns="0">
            <a:spAutoFit/>
          </a:bodyPr>
          <a:lstStyle/>
          <a:p>
            <a:pPr marL="228600" indent="-228600">
              <a:lnSpc>
                <a:spcPct val="102000"/>
              </a:lnSpc>
              <a:spcAft>
                <a:spcPts val="900"/>
              </a:spcAft>
            </a:pPr>
            <a:r>
              <a:rPr sz="2000" b="1">
                <a:solidFill>
                  <a:srgbClr val="1A5276"/>
                </a:solidFill>
                <a:latin typeface="Segoe UI"/>
              </a:rPr>
              <a:t>•  </a:t>
            </a:r>
            <a:r>
              <a:rPr sz="2000" b="1" i="0">
                <a:solidFill>
                  <a:srgbClr val="1C252B"/>
                </a:solidFill>
                <a:latin typeface="Segoe UI"/>
              </a:rPr>
              <a:t>Studying a v1.1 book.</a:t>
            </a:r>
            <a:r>
              <a:rPr sz="2000" b="0" i="0">
                <a:solidFill>
                  <a:srgbClr val="1C252B"/>
                </a:solidFill>
                <a:latin typeface="Segoe UI"/>
              </a:rPr>
              <a:t> The exam number, 200-301, did not change when the blueprint did. A book that teaches QoS, NTP, REST APIs, JSON or Terraform in a CCNA context is written for the old blueprint. Check the version before you trust the contents.</a:t>
            </a:r>
          </a:p>
          <a:p>
            <a:pPr marL="228600" indent="-228600">
              <a:lnSpc>
                <a:spcPct val="102000"/>
              </a:lnSpc>
              <a:spcAft>
                <a:spcPts val="900"/>
              </a:spcAft>
            </a:pPr>
            <a:r>
              <a:rPr sz="2000" b="1">
                <a:solidFill>
                  <a:srgbClr val="1A5276"/>
                </a:solidFill>
                <a:latin typeface="Segoe UI"/>
              </a:rPr>
              <a:t>•  </a:t>
            </a:r>
            <a:r>
              <a:rPr sz="2000" b="1" i="0">
                <a:solidFill>
                  <a:srgbClr val="1C252B"/>
                </a:solidFill>
                <a:latin typeface="Segoe UI"/>
              </a:rPr>
              <a:t>Learning the OSI layers as a list to recite.</a:t>
            </a:r>
            <a:r>
              <a:rPr sz="2000" b="0" i="0">
                <a:solidFill>
                  <a:srgbClr val="1C252B"/>
                </a:solidFill>
                <a:latin typeface="Segoe UI"/>
              </a:rPr>
              <a:t> Nobody will ask you to name layer 6. They will show you a broken network and expect you to work upwards.</a:t>
            </a:r>
          </a:p>
          <a:p>
            <a:pPr marL="228600" indent="-228600">
              <a:lnSpc>
                <a:spcPct val="102000"/>
              </a:lnSpc>
              <a:spcAft>
                <a:spcPts val="900"/>
              </a:spcAft>
            </a:pPr>
            <a:r>
              <a:rPr sz="2000" b="1">
                <a:solidFill>
                  <a:srgbClr val="1A5276"/>
                </a:solidFill>
                <a:latin typeface="Segoe UI"/>
              </a:rPr>
              <a:t>•  </a:t>
            </a:r>
            <a:r>
              <a:rPr sz="2000" b="1" i="0">
                <a:solidFill>
                  <a:srgbClr val="1C252B"/>
                </a:solidFill>
                <a:latin typeface="Segoe UI"/>
              </a:rPr>
              <a:t>Assuming “switch” means layer 2.</a:t>
            </a:r>
            <a:r>
              <a:rPr sz="2000" b="0" i="0">
                <a:solidFill>
                  <a:srgbClr val="1C252B"/>
                </a:solidFill>
                <a:latin typeface="Segoe UI"/>
              </a:rPr>
              <a:t> Multilayer switches route. Most of the distribution layer in a real network is switches doing routing, and topic </a:t>
            </a:r>
            <a:r>
              <a:rPr sz="1600" b="1">
                <a:solidFill>
                  <a:srgbClr val="117864"/>
                </a:solidFill>
                <a:latin typeface="Segoe UI"/>
              </a:rPr>
              <a:t> 2.1 </a:t>
            </a:r>
            <a:r>
              <a:rPr sz="2000" b="0" i="0">
                <a:solidFill>
                  <a:srgbClr val="1C252B"/>
                </a:solidFill>
                <a:latin typeface="Segoe UI"/>
              </a:rPr>
              <a:t> explicitly includes switch virtual interfaces.</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fband"/>
          <p:cNvSpPr/>
          <p:nvPr/>
        </p:nvSpPr>
        <p:spPr>
          <a:xfrm>
            <a:off x="0" y="0"/>
            <a:ext cx="12191695" cy="548640"/>
          </a:xfrm>
          <a:prstGeom prst="rect">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bfstage"/>
          <p:cNvSpPr txBox="1"/>
          <p:nvPr/>
        </p:nvSpPr>
        <p:spPr>
          <a:xfrm>
            <a:off x="685800" y="137160"/>
            <a:ext cx="6492057" cy="292608"/>
          </a:xfrm>
          <a:prstGeom prst="rect">
            <a:avLst/>
          </a:prstGeom>
          <a:noFill/>
        </p:spPr>
        <p:txBody>
          <a:bodyPr wrap="square" anchor="t" lIns="0" rIns="0" tIns="0" bIns="0">
            <a:spAutoFit/>
          </a:bodyPr>
          <a:lstStyle/>
          <a:p>
            <a:pPr algn="l">
              <a:lnSpc>
                <a:spcPct val="100000"/>
              </a:lnSpc>
              <a:spcAft>
                <a:spcPts val="600"/>
              </a:spcAft>
            </a:pPr>
            <a:r>
              <a:rPr sz="1400" b="1" i="0">
                <a:solidFill>
                  <a:srgbClr val="FFFFFF"/>
                </a:solidFill>
                <a:latin typeface="Segoe UI"/>
              </a:rPr>
              <a:t>BREAK &amp; FIX  ·  SYMPTOM</a:t>
            </a:r>
          </a:p>
        </p:txBody>
      </p:sp>
      <p:sp>
        <p:nvSpPr>
          <p:cNvPr id="4" name="bfch"/>
          <p:cNvSpPr txBox="1"/>
          <p:nvPr/>
        </p:nvSpPr>
        <p:spPr>
          <a:xfrm>
            <a:off x="7177857" y="137160"/>
            <a:ext cx="4328038" cy="292608"/>
          </a:xfrm>
          <a:prstGeom prst="rect">
            <a:avLst/>
          </a:prstGeom>
          <a:noFill/>
        </p:spPr>
        <p:txBody>
          <a:bodyPr wrap="square" anchor="t" lIns="0" rIns="0" tIns="0" bIns="0">
            <a:spAutoFit/>
          </a:bodyPr>
          <a:lstStyle/>
          <a:p>
            <a:pPr algn="r">
              <a:lnSpc>
                <a:spcPct val="100000"/>
              </a:lnSpc>
              <a:spcAft>
                <a:spcPts val="600"/>
              </a:spcAft>
            </a:pPr>
            <a:r>
              <a:rPr sz="1300" b="0" i="0">
                <a:solidFill>
                  <a:srgbClr val="F2D7D5"/>
                </a:solidFill>
                <a:latin typeface="Segoe UI"/>
              </a:rPr>
              <a:t>Chapter 1</a:t>
            </a:r>
          </a:p>
        </p:txBody>
      </p:sp>
      <p:sp>
        <p:nvSpPr>
          <p:cNvPr id="5" name="bftitle"/>
          <p:cNvSpPr txBox="1"/>
          <p:nvPr/>
        </p:nvSpPr>
        <p:spPr>
          <a:xfrm>
            <a:off x="685800" y="841248"/>
            <a:ext cx="10820095" cy="658368"/>
          </a:xfrm>
          <a:prstGeom prst="rect">
            <a:avLst/>
          </a:prstGeom>
          <a:noFill/>
        </p:spPr>
        <p:txBody>
          <a:bodyPr wrap="square" anchor="t" lIns="0" rIns="0" tIns="0" bIns="0">
            <a:spAutoFit/>
          </a:bodyPr>
          <a:lstStyle/>
          <a:p>
            <a:pPr algn="l">
              <a:lnSpc>
                <a:spcPct val="100000"/>
              </a:lnSpc>
              <a:spcAft>
                <a:spcPts val="600"/>
              </a:spcAft>
            </a:pPr>
            <a:r>
              <a:rPr sz="2700" b="1" i="0">
                <a:solidFill>
                  <a:srgbClr val="1C252B"/>
                </a:solidFill>
                <a:latin typeface="Segoe UI"/>
              </a:rPr>
              <a:t>Three reports, three different layers, and no commands yet.</a:t>
            </a:r>
          </a:p>
        </p:txBody>
      </p:sp>
      <p:sp>
        <p:nvSpPr>
          <p:cNvPr id="6" name="bfbody"/>
          <p:cNvSpPr txBox="1"/>
          <p:nvPr/>
        </p:nvSpPr>
        <p:spPr>
          <a:xfrm>
            <a:off x="685800" y="2892942"/>
            <a:ext cx="10820095" cy="3462137"/>
          </a:xfrm>
          <a:prstGeom prst="rect">
            <a:avLst/>
          </a:prstGeom>
          <a:noFill/>
        </p:spPr>
        <p:txBody>
          <a:bodyPr wrap="square" anchor="t" lIns="0" rIns="0" tIns="0" bIns="0">
            <a:spAutoFit/>
          </a:bodyPr>
          <a:lstStyle/>
          <a:p>
            <a:pPr algn="l">
              <a:lnSpc>
                <a:spcPct val="100000"/>
              </a:lnSpc>
              <a:spcAft>
                <a:spcPts val="1000"/>
              </a:spcAft>
            </a:pPr>
            <a:r>
              <a:rPr sz="1900" b="0" i="0">
                <a:solidFill>
                  <a:srgbClr val="1C252B"/>
                </a:solidFill>
                <a:latin typeface="Segoe UI"/>
              </a:rPr>
              <a:t>You have not configured anything and cannot yet read a </a:t>
            </a:r>
            <a:r>
              <a:rPr sz="1800" b="0" i="0">
                <a:solidFill>
                  <a:srgbClr val="1A5276"/>
                </a:solidFill>
                <a:latin typeface="Consolas"/>
              </a:rPr>
              <a:t>show</a:t>
            </a:r>
            <a:r>
              <a:rPr sz="1900" b="0" i="0">
                <a:solidFill>
                  <a:srgbClr val="1C252B"/>
                </a:solidFill>
                <a:latin typeface="Segoe UI"/>
              </a:rPr>
              <a:t> command. That is deliberate: this first Break &amp; Fix is about </a:t>
            </a:r>
            <a:r>
              <a:rPr sz="1900" b="0" i="1">
                <a:solidFill>
                  <a:srgbClr val="1C252B"/>
                </a:solidFill>
                <a:latin typeface="Segoe UI"/>
              </a:rPr>
              <a:t>placing</a:t>
            </a:r>
            <a:r>
              <a:rPr sz="1900" b="0" i="0">
                <a:solidFill>
                  <a:srgbClr val="1C252B"/>
                </a:solidFill>
                <a:latin typeface="Segoe UI"/>
              </a:rPr>
              <a:t> a fault, not fixing one, because deciding which layer to investigate is the decision that all the later chapters depend on.</a:t>
            </a:r>
          </a:p>
          <a:p>
            <a:pPr algn="l">
              <a:lnSpc>
                <a:spcPct val="100000"/>
              </a:lnSpc>
              <a:spcAft>
                <a:spcPts val="1000"/>
              </a:spcAft>
            </a:pPr>
            <a:r>
              <a:rPr sz="1900" b="0" i="0">
                <a:solidFill>
                  <a:srgbClr val="1C252B"/>
                </a:solidFill>
                <a:latin typeface="Segoe UI"/>
              </a:rPr>
              <a:t>Three reports arrive within an hour.</a:t>
            </a:r>
          </a:p>
        </p:txBody>
      </p:sp>
      <p:sp>
        <p:nvSpPr>
          <p:cNvPr id="7"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1. Networks, Models and This Exam</a:t>
            </a:r>
          </a:p>
        </p:txBody>
      </p:sp>
      <p:sp>
        <p:nvSpPr>
          <p:cNvPr id="8"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
            </a:r>
          </a:p>
        </p:txBody>
      </p:sp>
    </p:spTree>
  </p:cSld>
  <mc:AlternateContent xmlns:mc="http://schemas.openxmlformats.org/markup-compatibility/2006" xmlns:p14="http://schemas.microsoft.com/office/powerpoint/2010/main">
    <mc:Choice Requires="p14">
      <p:transition spd="med" p14:dur="500">
        <p159:morph xmlns:p159="http://schemas.microsoft.com/office/powerpoint/2015/09/main" option="byObject"/>
      </p:transition>
    </mc:Choice>
    <mc:Fallback>
      <p:transition spd="med">
        <p:fade/>
      </p:transition>
    </mc:Fallback>
  </mc:AlternateContent>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fband"/>
          <p:cNvSpPr/>
          <p:nvPr/>
        </p:nvSpPr>
        <p:spPr>
          <a:xfrm>
            <a:off x="0" y="0"/>
            <a:ext cx="12191695" cy="548640"/>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bfstage"/>
          <p:cNvSpPr txBox="1"/>
          <p:nvPr/>
        </p:nvSpPr>
        <p:spPr>
          <a:xfrm>
            <a:off x="685800" y="137160"/>
            <a:ext cx="6492057" cy="292608"/>
          </a:xfrm>
          <a:prstGeom prst="rect">
            <a:avLst/>
          </a:prstGeom>
          <a:noFill/>
        </p:spPr>
        <p:txBody>
          <a:bodyPr wrap="square" anchor="t" lIns="0" rIns="0" tIns="0" bIns="0">
            <a:spAutoFit/>
          </a:bodyPr>
          <a:lstStyle/>
          <a:p>
            <a:pPr algn="l">
              <a:lnSpc>
                <a:spcPct val="100000"/>
              </a:lnSpc>
              <a:spcAft>
                <a:spcPts val="600"/>
              </a:spcAft>
            </a:pPr>
            <a:r>
              <a:rPr sz="1400" b="1" i="0">
                <a:solidFill>
                  <a:srgbClr val="FFFFFF"/>
                </a:solidFill>
                <a:latin typeface="Segoe UI"/>
              </a:rPr>
              <a:t>BREAK &amp; FIX  ·  YOUR MOVE</a:t>
            </a:r>
          </a:p>
        </p:txBody>
      </p:sp>
      <p:sp>
        <p:nvSpPr>
          <p:cNvPr id="4" name="bfch"/>
          <p:cNvSpPr txBox="1"/>
          <p:nvPr/>
        </p:nvSpPr>
        <p:spPr>
          <a:xfrm>
            <a:off x="7177857" y="137160"/>
            <a:ext cx="4328038" cy="292608"/>
          </a:xfrm>
          <a:prstGeom prst="rect">
            <a:avLst/>
          </a:prstGeom>
          <a:noFill/>
        </p:spPr>
        <p:txBody>
          <a:bodyPr wrap="square" anchor="t" lIns="0" rIns="0" tIns="0" bIns="0">
            <a:spAutoFit/>
          </a:bodyPr>
          <a:lstStyle/>
          <a:p>
            <a:pPr algn="r">
              <a:lnSpc>
                <a:spcPct val="100000"/>
              </a:lnSpc>
              <a:spcAft>
                <a:spcPts val="600"/>
              </a:spcAft>
            </a:pPr>
            <a:r>
              <a:rPr sz="1300" b="0" i="0">
                <a:solidFill>
                  <a:srgbClr val="F2D7D5"/>
                </a:solidFill>
                <a:latin typeface="Segoe UI"/>
              </a:rPr>
              <a:t>Chapter 1</a:t>
            </a:r>
          </a:p>
        </p:txBody>
      </p:sp>
      <p:sp>
        <p:nvSpPr>
          <p:cNvPr id="5" name="bftitle"/>
          <p:cNvSpPr txBox="1"/>
          <p:nvPr/>
        </p:nvSpPr>
        <p:spPr>
          <a:xfrm>
            <a:off x="685800" y="841248"/>
            <a:ext cx="10820095" cy="658368"/>
          </a:xfrm>
          <a:prstGeom prst="rect">
            <a:avLst/>
          </a:prstGeom>
          <a:noFill/>
        </p:spPr>
        <p:txBody>
          <a:bodyPr wrap="square" anchor="t" lIns="0" rIns="0" tIns="0" bIns="0">
            <a:spAutoFit/>
          </a:bodyPr>
          <a:lstStyle/>
          <a:p>
            <a:pPr algn="l">
              <a:lnSpc>
                <a:spcPct val="100000"/>
              </a:lnSpc>
              <a:spcAft>
                <a:spcPts val="600"/>
              </a:spcAft>
            </a:pPr>
            <a:r>
              <a:rPr sz="2700" b="1" i="0">
                <a:solidFill>
                  <a:srgbClr val="1C252B"/>
                </a:solidFill>
                <a:latin typeface="Segoe UI"/>
              </a:rPr>
              <a:t>Three reports, three different layers, and no commands yet.</a:t>
            </a:r>
          </a:p>
        </p:txBody>
      </p:sp>
      <p:sp>
        <p:nvSpPr>
          <p:cNvPr id="6" name="promptbg"/>
          <p:cNvSpPr/>
          <p:nvPr/>
        </p:nvSpPr>
        <p:spPr>
          <a:xfrm>
            <a:off x="685800" y="2939796"/>
            <a:ext cx="10820095" cy="841248"/>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prompt"/>
          <p:cNvSpPr txBox="1"/>
          <p:nvPr/>
        </p:nvSpPr>
        <p:spPr>
          <a:xfrm>
            <a:off x="960120" y="3140964"/>
            <a:ext cx="10271455" cy="475488"/>
          </a:xfrm>
          <a:prstGeom prst="rect">
            <a:avLst/>
          </a:prstGeom>
          <a:noFill/>
        </p:spPr>
        <p:txBody>
          <a:bodyPr wrap="square" anchor="t" lIns="0" rIns="0" tIns="0" bIns="0">
            <a:spAutoFit/>
          </a:bodyPr>
          <a:lstStyle/>
          <a:p>
            <a:pPr algn="ctr">
              <a:lnSpc>
                <a:spcPct val="100000"/>
              </a:lnSpc>
              <a:spcAft>
                <a:spcPts val="600"/>
              </a:spcAft>
            </a:pPr>
            <a:r>
              <a:rPr sz="2200" b="1" i="0">
                <a:solidFill>
                  <a:srgbClr val="1A5276"/>
                </a:solidFill>
                <a:latin typeface="Segoe UI"/>
              </a:rPr>
              <a:t>What would you check first — and what do you expect to see?</a:t>
            </a:r>
          </a:p>
        </p:txBody>
      </p:sp>
      <p:sp>
        <p:nvSpPr>
          <p:cNvPr id="8"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1. Networks, Models and This Exam</a:t>
            </a:r>
          </a:p>
        </p:txBody>
      </p:sp>
      <p:sp>
        <p:nvSpPr>
          <p:cNvPr id="9"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
            </a:r>
          </a:p>
        </p:txBody>
      </p:sp>
    </p:spTree>
  </p:cSld>
  <mc:AlternateContent xmlns:mc="http://schemas.openxmlformats.org/markup-compatibility/2006" xmlns:p14="http://schemas.microsoft.com/office/powerpoint/2010/main">
    <mc:Choice Requires="p14">
      <p:transition spd="med" p14:dur="500">
        <p159:morph xmlns:p159="http://schemas.microsoft.com/office/powerpoint/2015/09/main" option="byObject"/>
      </p:transition>
    </mc:Choice>
    <mc:Fallback>
      <p:transition spd="med">
        <p:fade/>
      </p:transition>
    </mc:Fallback>
  </mc:AlternateContent>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A5276"/>
        </a:solidFill>
        <a:effectLst/>
      </p:bgPr>
    </p:bg>
    <p:spTree>
      <p:nvGrpSpPr>
        <p:cNvPr id="1" name=""/>
        <p:cNvGrpSpPr/>
        <p:nvPr/>
      </p:nvGrpSpPr>
      <p:grpSpPr/>
      <p:sp>
        <p:nvSpPr>
          <p:cNvPr id="2" name="qbg"/>
          <p:cNvSpPr/>
          <p:nvPr/>
        </p:nvSpPr>
        <p:spPr>
          <a:xfrm>
            <a:off x="0" y="0"/>
            <a:ext cx="12191695" cy="6858000"/>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qlab"/>
          <p:cNvSpPr txBox="1"/>
          <p:nvPr/>
        </p:nvSpPr>
        <p:spPr>
          <a:xfrm>
            <a:off x="685800" y="1188720"/>
            <a:ext cx="10820095" cy="310896"/>
          </a:xfrm>
          <a:prstGeom prst="rect">
            <a:avLst/>
          </a:prstGeom>
          <a:noFill/>
        </p:spPr>
        <p:txBody>
          <a:bodyPr wrap="square" anchor="t" lIns="0" rIns="0" tIns="0" bIns="0">
            <a:spAutoFit/>
          </a:bodyPr>
          <a:lstStyle/>
          <a:p>
            <a:pPr algn="l">
              <a:lnSpc>
                <a:spcPct val="100000"/>
              </a:lnSpc>
              <a:spcAft>
                <a:spcPts val="600"/>
              </a:spcAft>
            </a:pPr>
            <a:r>
              <a:rPr sz="1400" b="1" i="0">
                <a:solidFill>
                  <a:srgbClr val="9FC5E8"/>
                </a:solidFill>
                <a:latin typeface="Segoe UI"/>
              </a:rPr>
              <a:t>CHECKPOINT  1 of 3</a:t>
            </a:r>
          </a:p>
        </p:txBody>
      </p:sp>
      <p:sp>
        <p:nvSpPr>
          <p:cNvPr id="4" name="qtext"/>
          <p:cNvSpPr txBox="1"/>
          <p:nvPr/>
        </p:nvSpPr>
        <p:spPr>
          <a:xfrm>
            <a:off x="685800" y="1783080"/>
            <a:ext cx="10820095" cy="3017520"/>
          </a:xfrm>
          <a:prstGeom prst="rect">
            <a:avLst/>
          </a:prstGeom>
          <a:noFill/>
        </p:spPr>
        <p:txBody>
          <a:bodyPr wrap="square" anchor="t" lIns="0" rIns="0" tIns="0" bIns="0">
            <a:spAutoFit/>
          </a:bodyPr>
          <a:lstStyle/>
          <a:p>
            <a:pPr algn="l">
              <a:lnSpc>
                <a:spcPct val="100000"/>
              </a:lnSpc>
              <a:spcAft>
                <a:spcPts val="600"/>
              </a:spcAft>
            </a:pPr>
            <a:r>
              <a:rPr sz="3000" b="0" i="0">
                <a:solidFill>
                  <a:srgbClr val="FFFFFF"/>
                </a:solidFill>
                <a:latin typeface="Segoe UI"/>
              </a:rPr>
              <a:t>A user reports that a web page will not load. Ping to the server’s IP address succeeds. Which layers have you just ruled out, and which is the first one you should now suspect?</a:t>
            </a:r>
          </a:p>
        </p:txBody>
      </p:sp>
      <p:sp>
        <p:nvSpPr>
          <p:cNvPr id="5" name="qhint"/>
          <p:cNvSpPr txBox="1"/>
          <p:nvPr/>
        </p:nvSpPr>
        <p:spPr>
          <a:xfrm>
            <a:off x="685800" y="5394960"/>
            <a:ext cx="10820095" cy="310896"/>
          </a:xfrm>
          <a:prstGeom prst="rect">
            <a:avLst/>
          </a:prstGeom>
          <a:noFill/>
        </p:spPr>
        <p:txBody>
          <a:bodyPr wrap="square" anchor="t" lIns="0" rIns="0" tIns="0" bIns="0">
            <a:spAutoFit/>
          </a:bodyPr>
          <a:lstStyle/>
          <a:p>
            <a:pPr algn="l">
              <a:lnSpc>
                <a:spcPct val="100000"/>
              </a:lnSpc>
              <a:spcAft>
                <a:spcPts val="600"/>
              </a:spcAft>
            </a:pPr>
            <a:r>
              <a:rPr sz="1300" b="0" i="0">
                <a:solidFill>
                  <a:srgbClr val="7FA8C9"/>
                </a:solidFill>
                <a:latin typeface="Segoe UI"/>
              </a:rPr>
              <a:t>Discuss · then advance</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ANSWER</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Checkpoint 1 of 3</a:t>
            </a:r>
          </a:p>
        </p:txBody>
      </p:sp>
      <p:sp>
        <p:nvSpPr>
          <p:cNvPr id="4" name="rule"/>
          <p:cNvSpPr/>
          <p:nvPr/>
        </p:nvSpPr>
        <p:spPr>
          <a:xfrm>
            <a:off x="685800" y="1280160"/>
            <a:ext cx="10820095" cy="3200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1. Networks, Models and This Exam</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
            </a:r>
          </a:p>
        </p:txBody>
      </p:sp>
      <p:sp>
        <p:nvSpPr>
          <p:cNvPr id="7" name="qtext"/>
          <p:cNvSpPr txBox="1"/>
          <p:nvPr/>
        </p:nvSpPr>
        <p:spPr>
          <a:xfrm>
            <a:off x="685800" y="1517904"/>
            <a:ext cx="10820095" cy="1371600"/>
          </a:xfrm>
          <a:prstGeom prst="rect">
            <a:avLst/>
          </a:prstGeom>
          <a:noFill/>
        </p:spPr>
        <p:txBody>
          <a:bodyPr wrap="square" anchor="t" lIns="0" rIns="0" tIns="0" bIns="0">
            <a:spAutoFit/>
          </a:bodyPr>
          <a:lstStyle/>
          <a:p>
            <a:pPr algn="l">
              <a:lnSpc>
                <a:spcPct val="100000"/>
              </a:lnSpc>
              <a:spcAft>
                <a:spcPts val="600"/>
              </a:spcAft>
            </a:pPr>
            <a:r>
              <a:rPr sz="2000" b="1" i="0">
                <a:solidFill>
                  <a:srgbClr val="1A5276"/>
                </a:solidFill>
                <a:latin typeface="Segoe UI"/>
              </a:rPr>
              <a:t>A user reports that a web page will not load. Ping to the server’s IP address succeeds. Which layers have you just ruled out, and which is the first one you should now suspect?</a:t>
            </a:r>
          </a:p>
        </p:txBody>
      </p:sp>
      <p:sp>
        <p:nvSpPr>
          <p:cNvPr id="8" name="abar"/>
          <p:cNvSpPr/>
          <p:nvPr/>
        </p:nvSpPr>
        <p:spPr>
          <a:xfrm>
            <a:off x="685800" y="2511044"/>
            <a:ext cx="41148" cy="1142238"/>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atext"/>
          <p:cNvSpPr txBox="1"/>
          <p:nvPr/>
        </p:nvSpPr>
        <p:spPr>
          <a:xfrm>
            <a:off x="941832" y="2511044"/>
            <a:ext cx="10564063" cy="3780028"/>
          </a:xfrm>
          <a:prstGeom prst="rect">
            <a:avLst/>
          </a:prstGeom>
          <a:noFill/>
        </p:spPr>
        <p:txBody>
          <a:bodyPr wrap="square" anchor="t" lIns="0" rIns="0" tIns="0" bIns="0">
            <a:spAutoFit/>
          </a:bodyPr>
          <a:lstStyle/>
          <a:p>
            <a:pPr algn="l">
              <a:lnSpc>
                <a:spcPct val="100000"/>
              </a:lnSpc>
              <a:spcAft>
                <a:spcPts val="600"/>
              </a:spcAft>
            </a:pPr>
            <a:r>
              <a:rPr sz="1900" b="0" i="0">
                <a:solidFill>
                  <a:srgbClr val="1C252B"/>
                </a:solidFill>
                <a:latin typeface="Segoe UI"/>
              </a:rPr>
              <a:t>Layers 1 to 3 are ruled out: something reached the server and came back. Suspect layer 7 first — specifically name resolution or the web service itself. Test the name (Chapter 21) and the port (Chapter 6).</a:t>
            </a:r>
          </a:p>
        </p:txBody>
      </p:sp>
    </p:spTree>
  </p:cSld>
  <mc:AlternateContent xmlns:mc="http://schemas.openxmlformats.org/markup-compatibility/2006" xmlns:p14="http://schemas.microsoft.com/office/powerpoint/2010/main">
    <mc:Choice Requires="p14">
      <p:transition spd="med" p14:dur="500">
        <p159:morph xmlns:p159="http://schemas.microsoft.com/office/powerpoint/2015/09/main" option="byObject"/>
      </p:transition>
    </mc:Choice>
    <mc:Fallback>
      <p:transition spd="med">
        <p:fade/>
      </p:transition>
    </mc:Fallback>
  </mc:AlternateContent>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1A5276"/>
        </a:solidFill>
        <a:effectLst/>
      </p:bgPr>
    </p:bg>
    <p:spTree>
      <p:nvGrpSpPr>
        <p:cNvPr id="1" name=""/>
        <p:cNvGrpSpPr/>
        <p:nvPr/>
      </p:nvGrpSpPr>
      <p:grpSpPr/>
      <p:sp>
        <p:nvSpPr>
          <p:cNvPr id="2" name="qbg"/>
          <p:cNvSpPr/>
          <p:nvPr/>
        </p:nvSpPr>
        <p:spPr>
          <a:xfrm>
            <a:off x="0" y="0"/>
            <a:ext cx="12191695" cy="6858000"/>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qlab"/>
          <p:cNvSpPr txBox="1"/>
          <p:nvPr/>
        </p:nvSpPr>
        <p:spPr>
          <a:xfrm>
            <a:off x="685800" y="1188720"/>
            <a:ext cx="10820095" cy="310896"/>
          </a:xfrm>
          <a:prstGeom prst="rect">
            <a:avLst/>
          </a:prstGeom>
          <a:noFill/>
        </p:spPr>
        <p:txBody>
          <a:bodyPr wrap="square" anchor="t" lIns="0" rIns="0" tIns="0" bIns="0">
            <a:spAutoFit/>
          </a:bodyPr>
          <a:lstStyle/>
          <a:p>
            <a:pPr algn="l">
              <a:lnSpc>
                <a:spcPct val="100000"/>
              </a:lnSpc>
              <a:spcAft>
                <a:spcPts val="600"/>
              </a:spcAft>
            </a:pPr>
            <a:r>
              <a:rPr sz="1400" b="1" i="0">
                <a:solidFill>
                  <a:srgbClr val="9FC5E8"/>
                </a:solidFill>
                <a:latin typeface="Segoe UI"/>
              </a:rPr>
              <a:t>CHECKPOINT  2 of 3</a:t>
            </a:r>
          </a:p>
        </p:txBody>
      </p:sp>
      <p:sp>
        <p:nvSpPr>
          <p:cNvPr id="4" name="qtext"/>
          <p:cNvSpPr txBox="1"/>
          <p:nvPr/>
        </p:nvSpPr>
        <p:spPr>
          <a:xfrm>
            <a:off x="685800" y="1783080"/>
            <a:ext cx="10820095" cy="3017520"/>
          </a:xfrm>
          <a:prstGeom prst="rect">
            <a:avLst/>
          </a:prstGeom>
          <a:noFill/>
        </p:spPr>
        <p:txBody>
          <a:bodyPr wrap="square" anchor="t" lIns="0" rIns="0" tIns="0" bIns="0">
            <a:spAutoFit/>
          </a:bodyPr>
          <a:lstStyle/>
          <a:p>
            <a:pPr algn="l">
              <a:lnSpc>
                <a:spcPct val="100000"/>
              </a:lnSpc>
              <a:spcAft>
                <a:spcPts val="600"/>
              </a:spcAft>
            </a:pPr>
            <a:r>
              <a:rPr sz="3000" b="0" i="0">
                <a:solidFill>
                  <a:srgbClr val="FFFFFF"/>
                </a:solidFill>
                <a:latin typeface="Segoe UI"/>
              </a:rPr>
              <a:t>A switch port shows as up, but the </a:t>
            </a:r>
            <a:r>
              <a:rPr sz="2900" b="0" i="0">
                <a:solidFill>
                  <a:srgbClr val="FFFFFF"/>
                </a:solidFill>
                <a:latin typeface="Consolas"/>
              </a:rPr>
              <a:t>collisions</a:t>
            </a:r>
            <a:r>
              <a:rPr sz="3000" b="0" i="0">
                <a:solidFill>
                  <a:srgbClr val="FFFFFF"/>
                </a:solidFill>
                <a:latin typeface="Segoe UI"/>
              </a:rPr>
              <a:t> counter is increasing steadily. Which layer is at fault, and what is the most likely single cause?</a:t>
            </a:r>
          </a:p>
        </p:txBody>
      </p:sp>
      <p:sp>
        <p:nvSpPr>
          <p:cNvPr id="5" name="qhint"/>
          <p:cNvSpPr txBox="1"/>
          <p:nvPr/>
        </p:nvSpPr>
        <p:spPr>
          <a:xfrm>
            <a:off x="685800" y="5394960"/>
            <a:ext cx="10820095" cy="310896"/>
          </a:xfrm>
          <a:prstGeom prst="rect">
            <a:avLst/>
          </a:prstGeom>
          <a:noFill/>
        </p:spPr>
        <p:txBody>
          <a:bodyPr wrap="square" anchor="t" lIns="0" rIns="0" tIns="0" bIns="0">
            <a:spAutoFit/>
          </a:bodyPr>
          <a:lstStyle/>
          <a:p>
            <a:pPr algn="l">
              <a:lnSpc>
                <a:spcPct val="100000"/>
              </a:lnSpc>
              <a:spcAft>
                <a:spcPts val="600"/>
              </a:spcAft>
            </a:pPr>
            <a:r>
              <a:rPr sz="1300" b="0" i="0">
                <a:solidFill>
                  <a:srgbClr val="7FA8C9"/>
                </a:solidFill>
                <a:latin typeface="Segoe UI"/>
              </a:rPr>
              <a:t>Discuss · then advance</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ANSWER</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Checkpoint 2 of 3</a:t>
            </a:r>
          </a:p>
        </p:txBody>
      </p:sp>
      <p:sp>
        <p:nvSpPr>
          <p:cNvPr id="4" name="rule"/>
          <p:cNvSpPr/>
          <p:nvPr/>
        </p:nvSpPr>
        <p:spPr>
          <a:xfrm>
            <a:off x="685800" y="1280160"/>
            <a:ext cx="10820095" cy="3200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1. Networks, Models and This Exam</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
            </a:r>
          </a:p>
        </p:txBody>
      </p:sp>
      <p:sp>
        <p:nvSpPr>
          <p:cNvPr id="7" name="qtext"/>
          <p:cNvSpPr txBox="1"/>
          <p:nvPr/>
        </p:nvSpPr>
        <p:spPr>
          <a:xfrm>
            <a:off x="685800" y="1517904"/>
            <a:ext cx="10820095" cy="1371600"/>
          </a:xfrm>
          <a:prstGeom prst="rect">
            <a:avLst/>
          </a:prstGeom>
          <a:noFill/>
        </p:spPr>
        <p:txBody>
          <a:bodyPr wrap="square" anchor="t" lIns="0" rIns="0" tIns="0" bIns="0">
            <a:spAutoFit/>
          </a:bodyPr>
          <a:lstStyle/>
          <a:p>
            <a:pPr algn="l">
              <a:lnSpc>
                <a:spcPct val="100000"/>
              </a:lnSpc>
              <a:spcAft>
                <a:spcPts val="600"/>
              </a:spcAft>
            </a:pPr>
            <a:r>
              <a:rPr sz="2000" b="1" i="0">
                <a:solidFill>
                  <a:srgbClr val="1A5276"/>
                </a:solidFill>
                <a:latin typeface="Segoe UI"/>
              </a:rPr>
              <a:t>A switch port shows as up, but the </a:t>
            </a:r>
            <a:r>
              <a:rPr sz="1900" b="1" i="0">
                <a:solidFill>
                  <a:srgbClr val="1A5276"/>
                </a:solidFill>
                <a:latin typeface="Consolas"/>
              </a:rPr>
              <a:t>collisions</a:t>
            </a:r>
            <a:r>
              <a:rPr sz="2000" b="1" i="0">
                <a:solidFill>
                  <a:srgbClr val="1A5276"/>
                </a:solidFill>
                <a:latin typeface="Segoe UI"/>
              </a:rPr>
              <a:t> counter is increasing steadily. Which layer is at fault, and what is the most likely single cause?</a:t>
            </a:r>
          </a:p>
        </p:txBody>
      </p:sp>
      <p:sp>
        <p:nvSpPr>
          <p:cNvPr id="8" name="abar"/>
          <p:cNvSpPr/>
          <p:nvPr/>
        </p:nvSpPr>
        <p:spPr>
          <a:xfrm>
            <a:off x="685800" y="2511044"/>
            <a:ext cx="41148" cy="828548"/>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atext"/>
          <p:cNvSpPr txBox="1"/>
          <p:nvPr/>
        </p:nvSpPr>
        <p:spPr>
          <a:xfrm>
            <a:off x="941832" y="2511044"/>
            <a:ext cx="10564063" cy="3780028"/>
          </a:xfrm>
          <a:prstGeom prst="rect">
            <a:avLst/>
          </a:prstGeom>
          <a:noFill/>
        </p:spPr>
        <p:txBody>
          <a:bodyPr wrap="square" anchor="t" lIns="0" rIns="0" tIns="0" bIns="0">
            <a:spAutoFit/>
          </a:bodyPr>
          <a:lstStyle/>
          <a:p>
            <a:pPr algn="l">
              <a:lnSpc>
                <a:spcPct val="100000"/>
              </a:lnSpc>
              <a:spcAft>
                <a:spcPts val="600"/>
              </a:spcAft>
            </a:pPr>
            <a:r>
              <a:rPr sz="1900" b="0" i="0">
                <a:solidFill>
                  <a:srgbClr val="1C252B"/>
                </a:solidFill>
                <a:latin typeface="Segoe UI"/>
              </a:rPr>
              <a:t>Layer 1. Rising collisions on a link that reports full duplex means a duplex mismatch: one end is half duplex and is correctly reporting collisions the other end does not see.</a:t>
            </a:r>
          </a:p>
        </p:txBody>
      </p:sp>
    </p:spTree>
  </p:cSld>
  <mc:AlternateContent xmlns:mc="http://schemas.openxmlformats.org/markup-compatibility/2006" xmlns:p14="http://schemas.microsoft.com/office/powerpoint/2010/main">
    <mc:Choice Requires="p14">
      <p:transition spd="med" p14:dur="500">
        <p159:morph xmlns:p159="http://schemas.microsoft.com/office/powerpoint/2015/09/main" option="byObject"/>
      </p:transition>
    </mc:Choice>
    <mc:Fallback>
      <p:transition spd="med">
        <p:fade/>
      </p:transition>
    </mc:Fallback>
  </mc:AlternateContent>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1A5276"/>
        </a:solidFill>
        <a:effectLst/>
      </p:bgPr>
    </p:bg>
    <p:spTree>
      <p:nvGrpSpPr>
        <p:cNvPr id="1" name=""/>
        <p:cNvGrpSpPr/>
        <p:nvPr/>
      </p:nvGrpSpPr>
      <p:grpSpPr/>
      <p:sp>
        <p:nvSpPr>
          <p:cNvPr id="2" name="qbg"/>
          <p:cNvSpPr/>
          <p:nvPr/>
        </p:nvSpPr>
        <p:spPr>
          <a:xfrm>
            <a:off x="0" y="0"/>
            <a:ext cx="12191695" cy="6858000"/>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qlab"/>
          <p:cNvSpPr txBox="1"/>
          <p:nvPr/>
        </p:nvSpPr>
        <p:spPr>
          <a:xfrm>
            <a:off x="685800" y="1188720"/>
            <a:ext cx="10820095" cy="310896"/>
          </a:xfrm>
          <a:prstGeom prst="rect">
            <a:avLst/>
          </a:prstGeom>
          <a:noFill/>
        </p:spPr>
        <p:txBody>
          <a:bodyPr wrap="square" anchor="t" lIns="0" rIns="0" tIns="0" bIns="0">
            <a:spAutoFit/>
          </a:bodyPr>
          <a:lstStyle/>
          <a:p>
            <a:pPr algn="l">
              <a:lnSpc>
                <a:spcPct val="100000"/>
              </a:lnSpc>
              <a:spcAft>
                <a:spcPts val="600"/>
              </a:spcAft>
            </a:pPr>
            <a:r>
              <a:rPr sz="1400" b="1" i="0">
                <a:solidFill>
                  <a:srgbClr val="9FC5E8"/>
                </a:solidFill>
                <a:latin typeface="Segoe UI"/>
              </a:rPr>
              <a:t>CHECKPOINT  3 of 3</a:t>
            </a:r>
          </a:p>
        </p:txBody>
      </p:sp>
      <p:sp>
        <p:nvSpPr>
          <p:cNvPr id="4" name="qtext"/>
          <p:cNvSpPr txBox="1"/>
          <p:nvPr/>
        </p:nvSpPr>
        <p:spPr>
          <a:xfrm>
            <a:off x="685800" y="1783080"/>
            <a:ext cx="10820095" cy="3017520"/>
          </a:xfrm>
          <a:prstGeom prst="rect">
            <a:avLst/>
          </a:prstGeom>
          <a:noFill/>
        </p:spPr>
        <p:txBody>
          <a:bodyPr wrap="square" anchor="t" lIns="0" rIns="0" tIns="0" bIns="0">
            <a:spAutoFit/>
          </a:bodyPr>
          <a:lstStyle/>
          <a:p>
            <a:pPr algn="l">
              <a:lnSpc>
                <a:spcPct val="100000"/>
              </a:lnSpc>
              <a:spcAft>
                <a:spcPts val="600"/>
              </a:spcAft>
            </a:pPr>
            <a:r>
              <a:rPr sz="3000" b="0" i="0">
                <a:solidFill>
                  <a:srgbClr val="FFFFFF"/>
                </a:solidFill>
                <a:latin typeface="Segoe UI"/>
              </a:rPr>
              <a:t>Why does a router drop a packet for an unknown network when a switch floods a frame for an unknown MAC address?</a:t>
            </a:r>
          </a:p>
        </p:txBody>
      </p:sp>
      <p:sp>
        <p:nvSpPr>
          <p:cNvPr id="5" name="qhint"/>
          <p:cNvSpPr txBox="1"/>
          <p:nvPr/>
        </p:nvSpPr>
        <p:spPr>
          <a:xfrm>
            <a:off x="685800" y="5394960"/>
            <a:ext cx="10820095" cy="310896"/>
          </a:xfrm>
          <a:prstGeom prst="rect">
            <a:avLst/>
          </a:prstGeom>
          <a:noFill/>
        </p:spPr>
        <p:txBody>
          <a:bodyPr wrap="square" anchor="t" lIns="0" rIns="0" tIns="0" bIns="0">
            <a:spAutoFit/>
          </a:bodyPr>
          <a:lstStyle/>
          <a:p>
            <a:pPr algn="l">
              <a:lnSpc>
                <a:spcPct val="100000"/>
              </a:lnSpc>
              <a:spcAft>
                <a:spcPts val="600"/>
              </a:spcAft>
            </a:pPr>
            <a:r>
              <a:rPr sz="1300" b="0" i="0">
                <a:solidFill>
                  <a:srgbClr val="7FA8C9"/>
                </a:solidFill>
                <a:latin typeface="Segoe UI"/>
              </a:rPr>
              <a:t>Discuss · then advance</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ANSWER</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Checkpoint 3 of 3</a:t>
            </a:r>
          </a:p>
        </p:txBody>
      </p:sp>
      <p:sp>
        <p:nvSpPr>
          <p:cNvPr id="4" name="rule"/>
          <p:cNvSpPr/>
          <p:nvPr/>
        </p:nvSpPr>
        <p:spPr>
          <a:xfrm>
            <a:off x="685800" y="1280160"/>
            <a:ext cx="10820095" cy="3200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1. Networks, Models and This Exam</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
            </a:r>
          </a:p>
        </p:txBody>
      </p:sp>
      <p:sp>
        <p:nvSpPr>
          <p:cNvPr id="7" name="qtext"/>
          <p:cNvSpPr txBox="1"/>
          <p:nvPr/>
        </p:nvSpPr>
        <p:spPr>
          <a:xfrm>
            <a:off x="685800" y="1517904"/>
            <a:ext cx="10820095" cy="1371600"/>
          </a:xfrm>
          <a:prstGeom prst="rect">
            <a:avLst/>
          </a:prstGeom>
          <a:noFill/>
        </p:spPr>
        <p:txBody>
          <a:bodyPr wrap="square" anchor="t" lIns="0" rIns="0" tIns="0" bIns="0">
            <a:spAutoFit/>
          </a:bodyPr>
          <a:lstStyle/>
          <a:p>
            <a:pPr algn="l">
              <a:lnSpc>
                <a:spcPct val="100000"/>
              </a:lnSpc>
              <a:spcAft>
                <a:spcPts val="600"/>
              </a:spcAft>
            </a:pPr>
            <a:r>
              <a:rPr sz="2000" b="1" i="0">
                <a:solidFill>
                  <a:srgbClr val="1A5276"/>
                </a:solidFill>
                <a:latin typeface="Segoe UI"/>
              </a:rPr>
              <a:t>Why does a router drop a packet for an unknown network when a switch floods a frame for an unknown MAC address?</a:t>
            </a:r>
          </a:p>
        </p:txBody>
      </p:sp>
      <p:sp>
        <p:nvSpPr>
          <p:cNvPr id="8" name="abar"/>
          <p:cNvSpPr/>
          <p:nvPr/>
        </p:nvSpPr>
        <p:spPr>
          <a:xfrm>
            <a:off x="685800" y="2511044"/>
            <a:ext cx="41148" cy="1455928"/>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atext"/>
          <p:cNvSpPr txBox="1"/>
          <p:nvPr/>
        </p:nvSpPr>
        <p:spPr>
          <a:xfrm>
            <a:off x="941832" y="2511044"/>
            <a:ext cx="10564063" cy="3780028"/>
          </a:xfrm>
          <a:prstGeom prst="rect">
            <a:avLst/>
          </a:prstGeom>
          <a:noFill/>
        </p:spPr>
        <p:txBody>
          <a:bodyPr wrap="square" anchor="t" lIns="0" rIns="0" tIns="0" bIns="0">
            <a:spAutoFit/>
          </a:bodyPr>
          <a:lstStyle/>
          <a:p>
            <a:pPr algn="l">
              <a:lnSpc>
                <a:spcPct val="100000"/>
              </a:lnSpc>
              <a:spcAft>
                <a:spcPts val="600"/>
              </a:spcAft>
            </a:pPr>
            <a:r>
              <a:rPr sz="1900" b="0" i="0">
                <a:solidFill>
                  <a:srgbClr val="1C252B"/>
                </a:solidFill>
                <a:latin typeface="Segoe UI"/>
              </a:rPr>
              <a:t>Because they are different jobs. A switch’s flooding is a </a:t>
            </a:r>
            <a:r>
              <a:rPr sz="1900" b="0" i="1">
                <a:solidFill>
                  <a:srgbClr val="1C252B"/>
                </a:solidFill>
                <a:latin typeface="Segoe UI"/>
              </a:rPr>
              <a:t>recovery</a:t>
            </a:r>
            <a:r>
              <a:rPr sz="1900" b="0" i="0">
                <a:solidFill>
                  <a:srgbClr val="1C252B"/>
                </a:solidFill>
                <a:latin typeface="Segoe UI"/>
              </a:rPr>
              <a:t> mechanism — the destination is probably on one of those ports and will answer, teaching the switch where it is. A router’s unknown network has no such prospect; flooding a packet to every interface would loop and multiply. So a router drops and reports.</a:t>
            </a:r>
          </a:p>
        </p:txBody>
      </p:sp>
    </p:spTree>
  </p:cSld>
  <mc:AlternateContent xmlns:mc="http://schemas.openxmlformats.org/markup-compatibility/2006" xmlns:p14="http://schemas.microsoft.com/office/powerpoint/2010/main">
    <mc:Choice Requires="p14">
      <p:transition spd="med" p14:dur="500">
        <p159:morph xmlns:p159="http://schemas.microsoft.com/office/powerpoint/2015/09/main" option="byObject"/>
      </p:transition>
    </mc:Choice>
    <mc:Fallback>
      <p:transition spd="med">
        <p:fade/>
      </p:transition>
    </mc:Fallback>
  </mc:AlternateContent>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CHAPTER SUMMARY</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What to take away</a:t>
            </a:r>
          </a:p>
        </p:txBody>
      </p:sp>
      <p:sp>
        <p:nvSpPr>
          <p:cNvPr id="4" name="rule"/>
          <p:cNvSpPr/>
          <p:nvPr/>
        </p:nvSpPr>
        <p:spPr>
          <a:xfrm>
            <a:off x="685800" y="1280160"/>
            <a:ext cx="10820095" cy="3200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1. Networks, Models and This Exam</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
            </a:r>
          </a:p>
        </p:txBody>
      </p:sp>
      <p:sp>
        <p:nvSpPr>
          <p:cNvPr id="7" name="bullets"/>
          <p:cNvSpPr txBox="1"/>
          <p:nvPr/>
        </p:nvSpPr>
        <p:spPr>
          <a:xfrm>
            <a:off x="685800" y="1517904"/>
            <a:ext cx="10820095" cy="4864608"/>
          </a:xfrm>
          <a:prstGeom prst="rect">
            <a:avLst/>
          </a:prstGeom>
          <a:noFill/>
        </p:spPr>
        <p:txBody>
          <a:bodyPr wrap="square" lIns="0" rIns="0" tIns="0" bIns="0">
            <a:spAutoFit/>
          </a:bodyPr>
          <a:lstStyle/>
          <a:p>
            <a:pPr marL="228600" indent="-228600">
              <a:lnSpc>
                <a:spcPct val="102000"/>
              </a:lnSpc>
              <a:spcAft>
                <a:spcPts val="900"/>
              </a:spcAft>
            </a:pPr>
            <a:r>
              <a:rPr sz="2000" b="1">
                <a:solidFill>
                  <a:srgbClr val="1A5276"/>
                </a:solidFill>
                <a:latin typeface="Segoe UI"/>
              </a:rPr>
              <a:t>•  </a:t>
            </a:r>
            <a:r>
              <a:rPr sz="2000" b="0" i="0">
                <a:solidFill>
                  <a:srgbClr val="1C252B"/>
                </a:solidFill>
                <a:latin typeface="Segoe UI"/>
              </a:rPr>
              <a:t>Networks solve four problems: addressing, forwarding, media access and error handling. Every protocol you meet answers one of them.</a:t>
            </a:r>
          </a:p>
          <a:p>
            <a:pPr marL="228600" indent="-228600">
              <a:lnSpc>
                <a:spcPct val="102000"/>
              </a:lnSpc>
              <a:spcAft>
                <a:spcPts val="900"/>
              </a:spcAft>
            </a:pPr>
            <a:r>
              <a:rPr sz="2000" b="1">
                <a:solidFill>
                  <a:srgbClr val="1A5276"/>
                </a:solidFill>
                <a:latin typeface="Segoe UI"/>
              </a:rPr>
              <a:t>•  </a:t>
            </a:r>
            <a:r>
              <a:rPr sz="2000" b="0" i="0">
                <a:solidFill>
                  <a:srgbClr val="1C252B"/>
                </a:solidFill>
                <a:latin typeface="Segoe UI"/>
              </a:rPr>
              <a:t>Layers matter because they tell you what to test next. Work upwards from the physical layer; do not start at DNS.</a:t>
            </a:r>
          </a:p>
          <a:p>
            <a:pPr marL="228600" indent="-228600">
              <a:lnSpc>
                <a:spcPct val="102000"/>
              </a:lnSpc>
              <a:spcAft>
                <a:spcPts val="900"/>
              </a:spcAft>
            </a:pPr>
            <a:r>
              <a:rPr sz="2000" b="1">
                <a:solidFill>
                  <a:srgbClr val="1A5276"/>
                </a:solidFill>
                <a:latin typeface="Segoe UI"/>
              </a:rPr>
              <a:t>•  </a:t>
            </a:r>
            <a:r>
              <a:rPr sz="2000" b="0" i="0">
                <a:solidFill>
                  <a:srgbClr val="1C252B"/>
                </a:solidFill>
                <a:latin typeface="Segoe UI"/>
              </a:rPr>
              <a:t>Switches forward frames using MAC addresses and flood when they do not know. Routers forward packets using IP addresses and drop when they do not know.</a:t>
            </a:r>
          </a:p>
          <a:p>
            <a:pPr marL="228600" indent="-228600">
              <a:lnSpc>
                <a:spcPct val="102000"/>
              </a:lnSpc>
              <a:spcAft>
                <a:spcPts val="900"/>
              </a:spcAft>
            </a:pPr>
            <a:r>
              <a:rPr sz="2000" b="1">
                <a:solidFill>
                  <a:srgbClr val="1A5276"/>
                </a:solidFill>
                <a:latin typeface="Segoe UI"/>
              </a:rPr>
              <a:t>•  </a:t>
            </a:r>
            <a:r>
              <a:rPr sz="2000" b="0" i="0">
                <a:solidFill>
                  <a:srgbClr val="1C252B"/>
                </a:solidFill>
                <a:latin typeface="Segoe UI"/>
              </a:rPr>
              <a:t>One VLAN is one broadcast domain. Every switch port is its own collision domain.</a:t>
            </a:r>
          </a:p>
          <a:p>
            <a:pPr marL="228600" indent="-228600">
              <a:lnSpc>
                <a:spcPct val="102000"/>
              </a:lnSpc>
              <a:spcAft>
                <a:spcPts val="900"/>
              </a:spcAft>
            </a:pPr>
            <a:r>
              <a:rPr sz="2000" b="1">
                <a:solidFill>
                  <a:srgbClr val="1A5276"/>
                </a:solidFill>
                <a:latin typeface="Segoe UI"/>
              </a:rPr>
              <a:t>•  </a:t>
            </a:r>
            <a:r>
              <a:rPr sz="2000" b="0" i="0">
                <a:solidFill>
                  <a:srgbClr val="1C252B"/>
                </a:solidFill>
                <a:latin typeface="Segoe UI"/>
              </a:rPr>
              <a:t>CCNA v2.0 has twenty-nine topics. Sixteen of them ask you to configure or to fix. Study accordingly.</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1A5276"/>
        </a:solidFill>
        <a:effectLst/>
      </p:bgPr>
    </p:bg>
    <p:spTree>
      <p:nvGrpSpPr>
        <p:cNvPr id="1" name=""/>
        <p:cNvGrpSpPr/>
        <p:nvPr/>
      </p:nvGrpSpPr>
      <p:grpSpPr/>
      <p:sp>
        <p:nvSpPr>
          <p:cNvPr id="2" name="bg"/>
          <p:cNvSpPr/>
          <p:nvPr/>
        </p:nvSpPr>
        <p:spPr>
          <a:xfrm>
            <a:off x="0" y="0"/>
            <a:ext cx="12191695" cy="6858000"/>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cltitle"/>
          <p:cNvSpPr txBox="1"/>
          <p:nvPr/>
        </p:nvSpPr>
        <p:spPr>
          <a:xfrm>
            <a:off x="685800" y="1051560"/>
            <a:ext cx="10820095" cy="822960"/>
          </a:xfrm>
          <a:prstGeom prst="rect">
            <a:avLst/>
          </a:prstGeom>
          <a:noFill/>
        </p:spPr>
        <p:txBody>
          <a:bodyPr wrap="square" anchor="t" lIns="0" rIns="0" tIns="0" bIns="0">
            <a:spAutoFit/>
          </a:bodyPr>
          <a:lstStyle/>
          <a:p>
            <a:pPr algn="l">
              <a:lnSpc>
                <a:spcPct val="100000"/>
              </a:lnSpc>
              <a:spcAft>
                <a:spcPts val="600"/>
              </a:spcAft>
            </a:pPr>
            <a:r>
              <a:rPr sz="3400" b="1" i="0">
                <a:solidFill>
                  <a:srgbClr val="FFFFFF"/>
                </a:solidFill>
                <a:latin typeface="Segoe UI"/>
              </a:rPr>
              <a:t>Where we got to</a:t>
            </a:r>
          </a:p>
        </p:txBody>
      </p:sp>
      <p:sp>
        <p:nvSpPr>
          <p:cNvPr id="4" name="cltakeaways"/>
          <p:cNvSpPr txBox="1"/>
          <p:nvPr/>
        </p:nvSpPr>
        <p:spPr>
          <a:xfrm>
            <a:off x="685800" y="2011680"/>
            <a:ext cx="10820095" cy="3063240"/>
          </a:xfrm>
          <a:prstGeom prst="rect">
            <a:avLst/>
          </a:prstGeom>
          <a:noFill/>
        </p:spPr>
        <p:txBody>
          <a:bodyPr wrap="square">
            <a:spAutoFit/>
          </a:bodyPr>
          <a:lstStyle/>
          <a:p>
            <a:pPr marL="217169" indent="-217169">
              <a:spcAft>
                <a:spcPts val="900"/>
              </a:spcAft>
            </a:pPr>
            <a:r>
              <a:rPr sz="1900">
                <a:solidFill>
                  <a:srgbClr val="C8D6E5"/>
                </a:solidFill>
              </a:rPr>
              <a:t>•  </a:t>
            </a:r>
            <a:r>
              <a:rPr sz="1900" b="0" i="0">
                <a:solidFill>
                  <a:srgbClr val="FFFFFF"/>
                </a:solidFill>
                <a:latin typeface="Segoe UI"/>
              </a:rPr>
              <a:t>Networks solve four problems: addressing, forwarding, media access and error handling. Every protocol you meet answers one of them.</a:t>
            </a:r>
          </a:p>
          <a:p>
            <a:pPr marL="217169" indent="-217169">
              <a:spcAft>
                <a:spcPts val="900"/>
              </a:spcAft>
            </a:pPr>
            <a:r>
              <a:rPr sz="1900">
                <a:solidFill>
                  <a:srgbClr val="C8D6E5"/>
                </a:solidFill>
              </a:rPr>
              <a:t>•  </a:t>
            </a:r>
            <a:r>
              <a:rPr sz="1900" b="0" i="0">
                <a:solidFill>
                  <a:srgbClr val="FFFFFF"/>
                </a:solidFill>
                <a:latin typeface="Segoe UI"/>
              </a:rPr>
              <a:t>Layers matter because they tell you what to test next. Work upwards from the physical layer; do not start at DNS.</a:t>
            </a:r>
          </a:p>
          <a:p>
            <a:pPr marL="217169" indent="-217169">
              <a:spcAft>
                <a:spcPts val="900"/>
              </a:spcAft>
            </a:pPr>
            <a:r>
              <a:rPr sz="1900">
                <a:solidFill>
                  <a:srgbClr val="C8D6E5"/>
                </a:solidFill>
              </a:rPr>
              <a:t>•  </a:t>
            </a:r>
            <a:r>
              <a:rPr sz="1900" b="0" i="0">
                <a:solidFill>
                  <a:srgbClr val="FFFFFF"/>
                </a:solidFill>
                <a:latin typeface="Segoe UI"/>
              </a:rPr>
              <a:t>Switches forward frames using MAC addresses and flood when they do not know. Routers forward packets using IP addresses and drop when they do not know.</a:t>
            </a:r>
          </a:p>
          <a:p>
            <a:pPr marL="217169" indent="-217169">
              <a:spcAft>
                <a:spcPts val="900"/>
              </a:spcAft>
            </a:pPr>
            <a:r>
              <a:rPr sz="1900">
                <a:solidFill>
                  <a:srgbClr val="C8D6E5"/>
                </a:solidFill>
              </a:rPr>
              <a:t>•  </a:t>
            </a:r>
            <a:r>
              <a:rPr sz="1900" b="0" i="0">
                <a:solidFill>
                  <a:srgbClr val="FFFFFF"/>
                </a:solidFill>
                <a:latin typeface="Segoe UI"/>
              </a:rPr>
              <a:t>One VLAN is one broadcast domain. Every switch port is its own collision domain.</a:t>
            </a:r>
          </a:p>
        </p:txBody>
      </p:sp>
      <p:sp>
        <p:nvSpPr>
          <p:cNvPr id="5" name="nextbg"/>
          <p:cNvSpPr/>
          <p:nvPr/>
        </p:nvSpPr>
        <p:spPr>
          <a:xfrm>
            <a:off x="685800" y="5303520"/>
            <a:ext cx="10820095" cy="822960"/>
          </a:xfrm>
          <a:prstGeom prst="rect">
            <a:avLst/>
          </a:prstGeom>
          <a:solidFill>
            <a:srgbClr val="043C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nextlab"/>
          <p:cNvSpPr txBox="1"/>
          <p:nvPr/>
        </p:nvSpPr>
        <p:spPr>
          <a:xfrm>
            <a:off x="960120" y="5449824"/>
            <a:ext cx="10271455" cy="274320"/>
          </a:xfrm>
          <a:prstGeom prst="rect">
            <a:avLst/>
          </a:prstGeom>
          <a:noFill/>
        </p:spPr>
        <p:txBody>
          <a:bodyPr wrap="square" anchor="t" lIns="0" rIns="0" tIns="0" bIns="0">
            <a:spAutoFit/>
          </a:bodyPr>
          <a:lstStyle/>
          <a:p>
            <a:pPr algn="l">
              <a:lnSpc>
                <a:spcPct val="100000"/>
              </a:lnSpc>
              <a:spcAft>
                <a:spcPts val="600"/>
              </a:spcAft>
            </a:pPr>
            <a:r>
              <a:rPr sz="1200" b="1" i="0">
                <a:solidFill>
                  <a:srgbClr val="B8C9DA"/>
                </a:solidFill>
                <a:latin typeface="Segoe UI"/>
              </a:rPr>
              <a:t>NEXT</a:t>
            </a:r>
          </a:p>
        </p:txBody>
      </p:sp>
      <p:sp>
        <p:nvSpPr>
          <p:cNvPr id="7" name="nexttitle"/>
          <p:cNvSpPr txBox="1"/>
          <p:nvPr/>
        </p:nvSpPr>
        <p:spPr>
          <a:xfrm>
            <a:off x="960120" y="5705856"/>
            <a:ext cx="10271455" cy="329184"/>
          </a:xfrm>
          <a:prstGeom prst="rect">
            <a:avLst/>
          </a:prstGeom>
          <a:noFill/>
        </p:spPr>
        <p:txBody>
          <a:bodyPr wrap="square" anchor="t" lIns="0" rIns="0" tIns="0" bIns="0">
            <a:spAutoFit/>
          </a:bodyPr>
          <a:lstStyle/>
          <a:p>
            <a:pPr algn="l">
              <a:lnSpc>
                <a:spcPct val="100000"/>
              </a:lnSpc>
              <a:spcAft>
                <a:spcPts val="600"/>
              </a:spcAft>
            </a:pPr>
            <a:r>
              <a:rPr sz="1900" b="1" i="0">
                <a:solidFill>
                  <a:srgbClr val="FFFFFF"/>
                </a:solidFill>
                <a:latin typeface="Segoe UI"/>
              </a:rPr>
              <a:t>Chapter 2 — The Physical Layer and Cable Faults</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