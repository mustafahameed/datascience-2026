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22: NAT and PAT on IOS XE. Blueprint topics: 4.3.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seconds. Students meeting a chapter in week ten cannot place it without being shown.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NAT and PAT on IOS XE 4.3</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 they are defined as they arrive. This slide is for the students' notes.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about 3.7 billion usable public IPv4 addresses and far more devices than that. RFC 1918 set aside three ranges — 10.0.0.0/8, 172.16.0.0/12 and 192.168.0.0/16 — that anyone may use internally and that no router on the internet will forward. NAT is what lets a network built from those addresses reach the internet anyway.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part students get wrong, and it is worth slowing down for. There are two axes, not one. Inside and outside say which host you mean. Local and global say which side of the router you are standing on when you look at the address.</a:t>
            </a:r>
          </a:p>
          <a:p/>
          <a:p>
            <a:r>
              <a:t>The same two hosts, four names. Inside and outside name the host; local and global name the viewpoint.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Used when an internal server must be reachable from outside at a fixed public address.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Internal hosts borrow a public address from a pool for the life of a conversation. When the pool is empty, further hosts get nothing.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PAT (also called NAT overload) translates the port as well as the address, so a single public address serves thousands of internal hosts. Add one keyword.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special case of static NAT that maps a single port rather than the whole address, so one public address can host several internal services.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that output carefully, because it contains the whole idea of PAT in three lines. Rows one and two are two different internal hosts that both happened to choose source port 1055. The router gave the second one 1056 on the outside. That port rewrite is the reason one public address can serve a campus. The Pro column shows tcp, so these are PAT entries. A plain static or dynamic NAT entry has — in that column and no ports. Row three has dashes in both outside columns. That is a static mapping sitting ready with no conversation currently using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order in which a router applies routing, NAT and ACLs is not symmetric, and one exam-favourite consequence falls out of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here. Take two or three answers before advancing. The point is the prediction, not the command.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aloud. Ask what single field decides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aloud. Ask what single field decides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elimination matters as much as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922B21"/>
        </a:solidFill>
        <a:effectLst/>
      </p:bgPr>
    </p:bg>
    <p:spTree>
      <p:nvGrpSpPr>
        <p:cNvPr id="1" name=""/>
        <p:cNvGrpSpPr/>
        <p:nvPr/>
      </p:nvGrpSpPr>
      <p:grpSpPr/>
      <p:sp>
        <p:nvSpPr>
          <p:cNvPr id="2" name="bg"/>
          <p:cNvSpPr/>
          <p:nvPr/>
        </p:nvSpPr>
        <p:spPr>
          <a:xfrm>
            <a:off x="0" y="0"/>
            <a:ext cx="12191695" cy="6858000"/>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gfoot"/>
          <p:cNvSpPr/>
          <p:nvPr/>
        </p:nvSpPr>
        <p:spPr>
          <a:xfrm>
            <a:off x="0" y="6172200"/>
            <a:ext cx="12191695" cy="685800"/>
          </a:xfrm>
          <a:prstGeom prst="rect">
            <a:avLst/>
          </a:prstGeom>
          <a:solidFill>
            <a:srgbClr val="7C1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course"/>
          <p:cNvSpPr txBox="1"/>
          <p:nvPr/>
        </p:nvSpPr>
        <p:spPr>
          <a:xfrm>
            <a:off x="685800" y="1170432"/>
            <a:ext cx="10820095" cy="310896"/>
          </a:xfrm>
          <a:prstGeom prst="rect">
            <a:avLst/>
          </a:prstGeom>
          <a:noFill/>
        </p:spPr>
        <p:txBody>
          <a:bodyPr wrap="square" anchor="t" lIns="0" rIns="0" tIns="0" bIns="0">
            <a:spAutoFit/>
          </a:bodyPr>
          <a:lstStyle/>
          <a:p>
            <a:pPr algn="l">
              <a:lnSpc>
                <a:spcPct val="100000"/>
              </a:lnSpc>
              <a:spcAft>
                <a:spcPts val="600"/>
              </a:spcAft>
            </a:pPr>
            <a:r>
              <a:rPr sz="1500" b="1" i="0">
                <a:solidFill>
                  <a:srgbClr val="C8D6E5"/>
                </a:solidFill>
                <a:latin typeface="Segoe UI"/>
              </a:rPr>
              <a:t>CCNA 200-301 V2.0</a:t>
            </a:r>
          </a:p>
        </p:txBody>
      </p:sp>
      <p:sp>
        <p:nvSpPr>
          <p:cNvPr id="5" name="chnum"/>
          <p:cNvSpPr txBox="1"/>
          <p:nvPr/>
        </p:nvSpPr>
        <p:spPr>
          <a:xfrm>
            <a:off x="685800" y="1572768"/>
            <a:ext cx="2011680" cy="1371600"/>
          </a:xfrm>
          <a:prstGeom prst="rect">
            <a:avLst/>
          </a:prstGeom>
          <a:noFill/>
        </p:spPr>
        <p:txBody>
          <a:bodyPr wrap="square" anchor="t" lIns="0" rIns="0" tIns="0" bIns="0">
            <a:spAutoFit/>
          </a:bodyPr>
          <a:lstStyle/>
          <a:p>
            <a:pPr algn="l">
              <a:lnSpc>
                <a:spcPct val="100000"/>
              </a:lnSpc>
              <a:spcAft>
                <a:spcPts val="600"/>
              </a:spcAft>
            </a:pPr>
            <a:r>
              <a:rPr sz="7600" b="1" i="0">
                <a:solidFill>
                  <a:srgbClr val="FFFFFF"/>
                </a:solidFill>
                <a:latin typeface="Segoe UI"/>
              </a:rPr>
              <a:t>22</a:t>
            </a:r>
          </a:p>
        </p:txBody>
      </p:sp>
      <p:sp>
        <p:nvSpPr>
          <p:cNvPr id="6" name="chtitle"/>
          <p:cNvSpPr txBox="1"/>
          <p:nvPr/>
        </p:nvSpPr>
        <p:spPr>
          <a:xfrm>
            <a:off x="2423160" y="1700784"/>
            <a:ext cx="9082735" cy="1371600"/>
          </a:xfrm>
          <a:prstGeom prst="rect">
            <a:avLst/>
          </a:prstGeom>
          <a:noFill/>
        </p:spPr>
        <p:txBody>
          <a:bodyPr wrap="square" anchor="t" lIns="0" rIns="0" tIns="0" bIns="0">
            <a:spAutoFit/>
          </a:bodyPr>
          <a:lstStyle/>
          <a:p>
            <a:pPr algn="l">
              <a:lnSpc>
                <a:spcPct val="100000"/>
              </a:lnSpc>
              <a:spcAft>
                <a:spcPts val="600"/>
              </a:spcAft>
            </a:pPr>
            <a:r>
              <a:rPr sz="4000" b="1" i="0">
                <a:solidFill>
                  <a:srgbClr val="FFFFFF"/>
                </a:solidFill>
                <a:latin typeface="Segoe UI"/>
              </a:rPr>
              <a:t>NAT and PAT on IOS XE</a:t>
            </a:r>
          </a:p>
        </p:txBody>
      </p:sp>
      <p:sp>
        <p:nvSpPr>
          <p:cNvPr id="7" name="part"/>
          <p:cNvSpPr txBox="1"/>
          <p:nvPr/>
        </p:nvSpPr>
        <p:spPr>
          <a:xfrm>
            <a:off x="2441448" y="3017520"/>
            <a:ext cx="9082735" cy="292608"/>
          </a:xfrm>
          <a:prstGeom prst="rect">
            <a:avLst/>
          </a:prstGeom>
          <a:noFill/>
        </p:spPr>
        <p:txBody>
          <a:bodyPr wrap="square" anchor="t" lIns="0" rIns="0" tIns="0" bIns="0">
            <a:spAutoFit/>
          </a:bodyPr>
          <a:lstStyle/>
          <a:p>
            <a:pPr algn="l">
              <a:lnSpc>
                <a:spcPct val="100000"/>
              </a:lnSpc>
              <a:spcAft>
                <a:spcPts val="600"/>
              </a:spcAft>
            </a:pPr>
            <a:r>
              <a:rPr sz="1500" b="0" i="0">
                <a:solidFill>
                  <a:srgbClr val="C8D6E5"/>
                </a:solidFill>
                <a:latin typeface="Segoe UI"/>
              </a:rPr>
              <a:t>Part IV — Network Services and Security</a:t>
            </a:r>
          </a:p>
        </p:txBody>
      </p:sp>
      <p:sp>
        <p:nvSpPr>
          <p:cNvPr id="8" name="tlabel"/>
          <p:cNvSpPr txBox="1"/>
          <p:nvPr/>
        </p:nvSpPr>
        <p:spPr>
          <a:xfrm>
            <a:off x="2441448" y="3401568"/>
            <a:ext cx="1828800" cy="237744"/>
          </a:xfrm>
          <a:prstGeom prst="rect">
            <a:avLst/>
          </a:prstGeom>
          <a:noFill/>
        </p:spPr>
        <p:txBody>
          <a:bodyPr wrap="square" anchor="t" lIns="0" rIns="0" tIns="0" bIns="0">
            <a:spAutoFit/>
          </a:bodyPr>
          <a:lstStyle/>
          <a:p>
            <a:pPr algn="l">
              <a:lnSpc>
                <a:spcPct val="100000"/>
              </a:lnSpc>
              <a:spcAft>
                <a:spcPts val="600"/>
              </a:spcAft>
            </a:pPr>
            <a:r>
              <a:rPr sz="1100" b="1" i="0">
                <a:solidFill>
                  <a:srgbClr val="B8C9DA"/>
                </a:solidFill>
                <a:latin typeface="Segoe UI"/>
              </a:rPr>
              <a:t>EXAM TOPICS</a:t>
            </a:r>
          </a:p>
        </p:txBody>
      </p:sp>
      <p:sp>
        <p:nvSpPr>
          <p:cNvPr id="9" name="chip-4.3"/>
          <p:cNvSpPr/>
          <p:nvPr/>
        </p:nvSpPr>
        <p:spPr>
          <a:xfrm>
            <a:off x="2441448" y="3657600"/>
            <a:ext cx="566928"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chiptx-4.3"/>
          <p:cNvSpPr txBox="1"/>
          <p:nvPr/>
        </p:nvSpPr>
        <p:spPr>
          <a:xfrm>
            <a:off x="2441448" y="3689604"/>
            <a:ext cx="566928" cy="219456"/>
          </a:xfrm>
          <a:prstGeom prst="rect">
            <a:avLst/>
          </a:prstGeom>
          <a:noFill/>
        </p:spPr>
        <p:txBody>
          <a:bodyPr wrap="square" anchor="t" lIns="0" rIns="0" tIns="0" bIns="0">
            <a:spAutoFit/>
          </a:bodyPr>
          <a:lstStyle/>
          <a:p>
            <a:pPr algn="ctr">
              <a:lnSpc>
                <a:spcPct val="100000"/>
              </a:lnSpc>
              <a:spcAft>
                <a:spcPts val="600"/>
              </a:spcAft>
            </a:pPr>
            <a:r>
              <a:rPr sz="1300" b="1" i="0">
                <a:solidFill>
                  <a:srgbClr val="922B21"/>
                </a:solidFill>
                <a:latin typeface="Segoe UI"/>
              </a:rPr>
              <a:t>4.3</a:t>
            </a:r>
          </a:p>
        </p:txBody>
      </p:sp>
      <p:sp>
        <p:nvSpPr>
          <p:cNvPr id="11" name="authlab"/>
          <p:cNvSpPr txBox="1"/>
          <p:nvPr/>
        </p:nvSpPr>
        <p:spPr>
          <a:xfrm>
            <a:off x="685800" y="5138928"/>
            <a:ext cx="6492057" cy="274320"/>
          </a:xfrm>
          <a:prstGeom prst="rect">
            <a:avLst/>
          </a:prstGeom>
          <a:noFill/>
        </p:spPr>
        <p:txBody>
          <a:bodyPr wrap="square" anchor="t" lIns="0" rIns="0" tIns="0" bIns="0">
            <a:spAutoFit/>
          </a:bodyPr>
          <a:lstStyle/>
          <a:p>
            <a:pPr algn="l">
              <a:lnSpc>
                <a:spcPct val="100000"/>
              </a:lnSpc>
              <a:spcAft>
                <a:spcPts val="600"/>
              </a:spcAft>
            </a:pPr>
            <a:r>
              <a:rPr sz="1100" b="1" i="0">
                <a:solidFill>
                  <a:srgbClr val="B8C9DA"/>
                </a:solidFill>
                <a:latin typeface="Segoe UI"/>
              </a:rPr>
              <a:t>LECTURER</a:t>
            </a:r>
          </a:p>
        </p:txBody>
      </p:sp>
      <p:sp>
        <p:nvSpPr>
          <p:cNvPr id="12" name="author"/>
          <p:cNvSpPr txBox="1"/>
          <p:nvPr/>
        </p:nvSpPr>
        <p:spPr>
          <a:xfrm>
            <a:off x="685800" y="5394960"/>
            <a:ext cx="6492057" cy="329184"/>
          </a:xfrm>
          <a:prstGeom prst="rect">
            <a:avLst/>
          </a:prstGeom>
          <a:noFill/>
        </p:spPr>
        <p:txBody>
          <a:bodyPr wrap="square" anchor="t" lIns="0" rIns="0" tIns="0" bIns="0">
            <a:spAutoFit/>
          </a:bodyPr>
          <a:lstStyle/>
          <a:p>
            <a:pPr algn="l">
              <a:lnSpc>
                <a:spcPct val="100000"/>
              </a:lnSpc>
              <a:spcAft>
                <a:spcPts val="600"/>
              </a:spcAft>
            </a:pPr>
            <a:r>
              <a:rPr sz="1800" b="1" i="0">
                <a:solidFill>
                  <a:srgbClr val="FFFFFF"/>
                </a:solidFill>
                <a:latin typeface="Segoe UI"/>
              </a:rPr>
              <a:t>Dr. Mustafa Hameed</a:t>
            </a:r>
          </a:p>
        </p:txBody>
      </p:sp>
      <p:pic>
        <p:nvPicPr>
          <p:cNvPr id="13" name="logo-iub-logo-white" descr="iub-logo-white.png"/>
          <p:cNvPicPr>
            <a:picLocks noChangeAspect="1"/>
          </p:cNvPicPr>
          <p:nvPr/>
        </p:nvPicPr>
        <p:blipFill>
          <a:blip r:embed="rId2"/>
          <a:stretch>
            <a:fillRect/>
          </a:stretch>
        </p:blipFill>
        <p:spPr>
          <a:xfrm>
            <a:off x="9131978" y="4443984"/>
            <a:ext cx="1070141" cy="1060704"/>
          </a:xfrm>
          <a:prstGeom prst="rect">
            <a:avLst/>
          </a:prstGeom>
        </p:spPr>
      </p:pic>
      <p:pic>
        <p:nvPicPr>
          <p:cNvPr id="14" name="logo-dit-logo" descr="dit-logo.png"/>
          <p:cNvPicPr>
            <a:picLocks noChangeAspect="1"/>
          </p:cNvPicPr>
          <p:nvPr/>
        </p:nvPicPr>
        <p:blipFill>
          <a:blip r:embed="rId3"/>
          <a:stretch>
            <a:fillRect/>
          </a:stretch>
        </p:blipFill>
        <p:spPr>
          <a:xfrm>
            <a:off x="10476439" y="4443984"/>
            <a:ext cx="1029456" cy="1060704"/>
          </a:xfrm>
          <a:prstGeom prst="rect">
            <a:avLst/>
          </a:prstGeom>
        </p:spPr>
      </p:pic>
      <p:sp>
        <p:nvSpPr>
          <p:cNvPr id="15" name="lockup1"/>
          <p:cNvSpPr txBox="1"/>
          <p:nvPr/>
        </p:nvSpPr>
        <p:spPr>
          <a:xfrm>
            <a:off x="7116775" y="5632704"/>
            <a:ext cx="4389120" cy="274320"/>
          </a:xfrm>
          <a:prstGeom prst="rect">
            <a:avLst/>
          </a:prstGeom>
          <a:noFill/>
        </p:spPr>
        <p:txBody>
          <a:bodyPr wrap="square" anchor="t" lIns="0" rIns="0" tIns="0" bIns="0">
            <a:spAutoFit/>
          </a:bodyPr>
          <a:lstStyle/>
          <a:p>
            <a:pPr algn="r">
              <a:lnSpc>
                <a:spcPct val="100000"/>
              </a:lnSpc>
              <a:spcAft>
                <a:spcPts val="600"/>
              </a:spcAft>
            </a:pPr>
            <a:r>
              <a:rPr sz="1200" b="1" i="0">
                <a:solidFill>
                  <a:srgbClr val="FFFFFF"/>
                </a:solidFill>
                <a:latin typeface="Segoe UI"/>
              </a:rPr>
              <a:t>THE ISLAMIA UNIVERSITY OF BAHAWALPUR</a:t>
            </a:r>
          </a:p>
        </p:txBody>
      </p:sp>
      <p:sp>
        <p:nvSpPr>
          <p:cNvPr id="16" name="lockup2"/>
          <p:cNvSpPr txBox="1"/>
          <p:nvPr/>
        </p:nvSpPr>
        <p:spPr>
          <a:xfrm>
            <a:off x="7116775" y="5870448"/>
            <a:ext cx="4389120" cy="256032"/>
          </a:xfrm>
          <a:prstGeom prst="rect">
            <a:avLst/>
          </a:prstGeom>
          <a:noFill/>
        </p:spPr>
        <p:txBody>
          <a:bodyPr wrap="square" anchor="t" lIns="0" rIns="0" tIns="0" bIns="0">
            <a:spAutoFit/>
          </a:bodyPr>
          <a:lstStyle/>
          <a:p>
            <a:pPr algn="r">
              <a:lnSpc>
                <a:spcPct val="100000"/>
              </a:lnSpc>
              <a:spcAft>
                <a:spcPts val="600"/>
              </a:spcAft>
            </a:pPr>
            <a:r>
              <a:rPr sz="1100" b="0" i="0">
                <a:solidFill>
                  <a:srgbClr val="C8D6E5"/>
                </a:solidFill>
                <a:latin typeface="Segoe UI"/>
              </a:rPr>
              <a:t>Department of Information Technology</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THE COURSE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Where this chapter sits</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22. NAT and PAT on IOS XE</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4.3</a:t>
            </a:r>
          </a:p>
        </p:txBody>
      </p:sp>
      <p:sp>
        <p:nvSpPr>
          <p:cNvPr id="7" name="part1bg"/>
          <p:cNvSpPr/>
          <p:nvPr/>
        </p:nvSpPr>
        <p:spPr>
          <a:xfrm>
            <a:off x="685800" y="1792224"/>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t1rule"/>
          <p:cNvSpPr/>
          <p:nvPr/>
        </p:nvSpPr>
        <p:spPr>
          <a:xfrm>
            <a:off x="685800" y="1792224"/>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part1n"/>
          <p:cNvSpPr txBox="1"/>
          <p:nvPr/>
        </p:nvSpPr>
        <p:spPr>
          <a:xfrm>
            <a:off x="941832" y="1938528"/>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I</a:t>
            </a:r>
          </a:p>
        </p:txBody>
      </p:sp>
      <p:sp>
        <p:nvSpPr>
          <p:cNvPr id="10" name="part1t"/>
          <p:cNvSpPr txBox="1"/>
          <p:nvPr/>
        </p:nvSpPr>
        <p:spPr>
          <a:xfrm>
            <a:off x="2194560" y="1938528"/>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Foundations</a:t>
            </a:r>
          </a:p>
        </p:txBody>
      </p:sp>
      <p:sp>
        <p:nvSpPr>
          <p:cNvPr id="11" name="part1c"/>
          <p:cNvSpPr txBox="1"/>
          <p:nvPr/>
        </p:nvSpPr>
        <p:spPr>
          <a:xfrm>
            <a:off x="9951415" y="1938528"/>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1–7</a:t>
            </a:r>
          </a:p>
        </p:txBody>
      </p:sp>
      <p:sp>
        <p:nvSpPr>
          <p:cNvPr id="12" name="part2bg"/>
          <p:cNvSpPr/>
          <p:nvPr/>
        </p:nvSpPr>
        <p:spPr>
          <a:xfrm>
            <a:off x="685800" y="2450591"/>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part2rule"/>
          <p:cNvSpPr/>
          <p:nvPr/>
        </p:nvSpPr>
        <p:spPr>
          <a:xfrm>
            <a:off x="685800" y="2450591"/>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part2n"/>
          <p:cNvSpPr txBox="1"/>
          <p:nvPr/>
        </p:nvSpPr>
        <p:spPr>
          <a:xfrm>
            <a:off x="941832" y="2596896"/>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II</a:t>
            </a:r>
          </a:p>
        </p:txBody>
      </p:sp>
      <p:sp>
        <p:nvSpPr>
          <p:cNvPr id="15" name="part2t"/>
          <p:cNvSpPr txBox="1"/>
          <p:nvPr/>
        </p:nvSpPr>
        <p:spPr>
          <a:xfrm>
            <a:off x="2194560" y="2596896"/>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Switching and Network Access</a:t>
            </a:r>
          </a:p>
        </p:txBody>
      </p:sp>
      <p:sp>
        <p:nvSpPr>
          <p:cNvPr id="16" name="part2c"/>
          <p:cNvSpPr txBox="1"/>
          <p:nvPr/>
        </p:nvSpPr>
        <p:spPr>
          <a:xfrm>
            <a:off x="9951415" y="2596896"/>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8–14</a:t>
            </a:r>
          </a:p>
        </p:txBody>
      </p:sp>
      <p:sp>
        <p:nvSpPr>
          <p:cNvPr id="17" name="part3bg"/>
          <p:cNvSpPr/>
          <p:nvPr/>
        </p:nvSpPr>
        <p:spPr>
          <a:xfrm>
            <a:off x="685800" y="3108959"/>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t3rule"/>
          <p:cNvSpPr/>
          <p:nvPr/>
        </p:nvSpPr>
        <p:spPr>
          <a:xfrm>
            <a:off x="685800" y="3108959"/>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art3n"/>
          <p:cNvSpPr txBox="1"/>
          <p:nvPr/>
        </p:nvSpPr>
        <p:spPr>
          <a:xfrm>
            <a:off x="941832" y="3255263"/>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III</a:t>
            </a:r>
          </a:p>
        </p:txBody>
      </p:sp>
      <p:sp>
        <p:nvSpPr>
          <p:cNvPr id="20" name="part3t"/>
          <p:cNvSpPr txBox="1"/>
          <p:nvPr/>
        </p:nvSpPr>
        <p:spPr>
          <a:xfrm>
            <a:off x="2194560" y="3255263"/>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IP Routing</a:t>
            </a:r>
          </a:p>
        </p:txBody>
      </p:sp>
      <p:sp>
        <p:nvSpPr>
          <p:cNvPr id="21" name="part3c"/>
          <p:cNvSpPr txBox="1"/>
          <p:nvPr/>
        </p:nvSpPr>
        <p:spPr>
          <a:xfrm>
            <a:off x="9951415" y="3255263"/>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15–19</a:t>
            </a:r>
          </a:p>
        </p:txBody>
      </p:sp>
      <p:sp>
        <p:nvSpPr>
          <p:cNvPr id="22" name="part4bg"/>
          <p:cNvSpPr/>
          <p:nvPr/>
        </p:nvSpPr>
        <p:spPr>
          <a:xfrm>
            <a:off x="685800" y="3767327"/>
            <a:ext cx="10820095" cy="56692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t4rule"/>
          <p:cNvSpPr/>
          <p:nvPr/>
        </p:nvSpPr>
        <p:spPr>
          <a:xfrm>
            <a:off x="685800" y="3767327"/>
            <a:ext cx="64008" cy="5669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part4n"/>
          <p:cNvSpPr txBox="1"/>
          <p:nvPr/>
        </p:nvSpPr>
        <p:spPr>
          <a:xfrm>
            <a:off x="941832" y="3913631"/>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922B21"/>
                </a:solidFill>
                <a:latin typeface="Segoe UI"/>
              </a:rPr>
              <a:t>Part IV</a:t>
            </a:r>
          </a:p>
        </p:txBody>
      </p:sp>
      <p:sp>
        <p:nvSpPr>
          <p:cNvPr id="25" name="part4t"/>
          <p:cNvSpPr txBox="1"/>
          <p:nvPr/>
        </p:nvSpPr>
        <p:spPr>
          <a:xfrm>
            <a:off x="2194560" y="3913631"/>
            <a:ext cx="7711135"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1C252B"/>
                </a:solidFill>
                <a:latin typeface="Segoe UI"/>
              </a:rPr>
              <a:t>Network Services and Security</a:t>
            </a:r>
          </a:p>
        </p:txBody>
      </p:sp>
      <p:sp>
        <p:nvSpPr>
          <p:cNvPr id="26" name="part4c"/>
          <p:cNvSpPr txBox="1"/>
          <p:nvPr/>
        </p:nvSpPr>
        <p:spPr>
          <a:xfrm>
            <a:off x="9951415" y="3913631"/>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922B21"/>
                </a:solidFill>
                <a:latin typeface="Segoe UI"/>
              </a:rPr>
              <a:t>chapters 20–26</a:t>
            </a:r>
          </a:p>
        </p:txBody>
      </p:sp>
      <p:sp>
        <p:nvSpPr>
          <p:cNvPr id="27" name="part5bg"/>
          <p:cNvSpPr/>
          <p:nvPr/>
        </p:nvSpPr>
        <p:spPr>
          <a:xfrm>
            <a:off x="685800" y="4425695"/>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part5rule"/>
          <p:cNvSpPr/>
          <p:nvPr/>
        </p:nvSpPr>
        <p:spPr>
          <a:xfrm>
            <a:off x="685800" y="4425695"/>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part5n"/>
          <p:cNvSpPr txBox="1"/>
          <p:nvPr/>
        </p:nvSpPr>
        <p:spPr>
          <a:xfrm>
            <a:off x="941832" y="4571999"/>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V</a:t>
            </a:r>
          </a:p>
        </p:txBody>
      </p:sp>
      <p:sp>
        <p:nvSpPr>
          <p:cNvPr id="30" name="part5t"/>
          <p:cNvSpPr txBox="1"/>
          <p:nvPr/>
        </p:nvSpPr>
        <p:spPr>
          <a:xfrm>
            <a:off x="2194560" y="4571999"/>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Wireless, Virtualisation and Operations</a:t>
            </a:r>
          </a:p>
        </p:txBody>
      </p:sp>
      <p:sp>
        <p:nvSpPr>
          <p:cNvPr id="31" name="part5c"/>
          <p:cNvSpPr txBox="1"/>
          <p:nvPr/>
        </p:nvSpPr>
        <p:spPr>
          <a:xfrm>
            <a:off x="9951415" y="4571999"/>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27–32</a:t>
            </a:r>
          </a:p>
        </p:txBody>
      </p:sp>
      <p:sp>
        <p:nvSpPr>
          <p:cNvPr id="32" name="part6bg"/>
          <p:cNvSpPr/>
          <p:nvPr/>
        </p:nvSpPr>
        <p:spPr>
          <a:xfrm>
            <a:off x="685800" y="5084063"/>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part6rule"/>
          <p:cNvSpPr/>
          <p:nvPr/>
        </p:nvSpPr>
        <p:spPr>
          <a:xfrm>
            <a:off x="685800" y="5084063"/>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part6n"/>
          <p:cNvSpPr txBox="1"/>
          <p:nvPr/>
        </p:nvSpPr>
        <p:spPr>
          <a:xfrm>
            <a:off x="941832" y="5230367"/>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VI</a:t>
            </a:r>
          </a:p>
        </p:txBody>
      </p:sp>
      <p:sp>
        <p:nvSpPr>
          <p:cNvPr id="35" name="part6t"/>
          <p:cNvSpPr txBox="1"/>
          <p:nvPr/>
        </p:nvSpPr>
        <p:spPr>
          <a:xfrm>
            <a:off x="2194560" y="5230367"/>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Sitting the Exam</a:t>
            </a:r>
          </a:p>
        </p:txBody>
      </p:sp>
      <p:sp>
        <p:nvSpPr>
          <p:cNvPr id="36" name="part6c"/>
          <p:cNvSpPr txBox="1"/>
          <p:nvPr/>
        </p:nvSpPr>
        <p:spPr>
          <a:xfrm>
            <a:off x="9951415" y="5230367"/>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33–34</a:t>
            </a:r>
          </a:p>
        </p:txBody>
      </p:sp>
      <p:sp>
        <p:nvSpPr>
          <p:cNvPr id="3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22. NAT and PAT on IOS XE</a:t>
            </a:r>
          </a:p>
        </p:txBody>
      </p:sp>
      <p:sp>
        <p:nvSpPr>
          <p:cNvPr id="3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4.3</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LEARNING OUTCOMES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you will be able to do</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22. NAT and PAT on IOS XE</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4.3</a:t>
            </a:r>
          </a:p>
        </p:txBody>
      </p:sp>
      <p:sp>
        <p:nvSpPr>
          <p:cNvPr id="7" name="bullets"/>
          <p:cNvSpPr txBox="1"/>
          <p:nvPr/>
        </p:nvSpPr>
        <p:spPr>
          <a:xfrm>
            <a:off x="685800" y="1901952"/>
            <a:ext cx="10820095" cy="4480560"/>
          </a:xfrm>
          <a:prstGeom prst="rect">
            <a:avLst/>
          </a:prstGeom>
          <a:noFill/>
        </p:spPr>
        <p:txBody>
          <a:bodyPr wrap="square" lIns="0" rIns="0" tIns="0" bIns="0">
            <a:spAutoFit/>
          </a:bodyPr>
          <a:lstStyle/>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Explain</a:t>
            </a:r>
            <a:r>
              <a:rPr sz="2000" b="0" i="0">
                <a:solidFill>
                  <a:srgbClr val="1C252B"/>
                </a:solidFill>
                <a:latin typeface="Segoe UI"/>
              </a:rPr>
              <a:t> the four NAT address terms and identify each one in a translation table.</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Configure</a:t>
            </a:r>
            <a:r>
              <a:rPr sz="2000" b="0" i="0">
                <a:solidFill>
                  <a:srgbClr val="1C252B"/>
                </a:solidFill>
                <a:latin typeface="Segoe UI"/>
              </a:rPr>
              <a:t> static NAT, dynamic NAT and PAT on an IOS XE router, including port forwarding.</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Interpret</a:t>
            </a:r>
            <a:r>
              <a:rPr sz="2000" b="0" i="0">
                <a:solidFill>
                  <a:srgbClr val="1C252B"/>
                </a:solidFill>
                <a:latin typeface="Segoe UI"/>
              </a:rPr>
              <a:t> </a:t>
            </a:r>
            <a:r>
              <a:rPr sz="1900" b="0" i="0">
                <a:solidFill>
                  <a:srgbClr val="1A5276"/>
                </a:solidFill>
                <a:latin typeface="Consolas"/>
              </a:rPr>
              <a:t>show ip nat translations</a:t>
            </a:r>
            <a:r>
              <a:rPr sz="2000" b="0" i="0">
                <a:solidFill>
                  <a:srgbClr val="1C252B"/>
                </a:solidFill>
                <a:latin typeface="Segoe UI"/>
              </a:rPr>
              <a:t> and </a:t>
            </a:r>
            <a:r>
              <a:rPr sz="1900" b="0" i="0">
                <a:solidFill>
                  <a:srgbClr val="1A5276"/>
                </a:solidFill>
                <a:latin typeface="Consolas"/>
              </a:rPr>
              <a:t>show ip nat statistics</a:t>
            </a:r>
            <a:r>
              <a:rPr sz="2000" b="0" i="0">
                <a:solidFill>
                  <a:srgbClr val="1C252B"/>
                </a:solidFill>
                <a:latin typeface="Segoe UI"/>
              </a:rPr>
              <a:t>.</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Troubleshoot</a:t>
            </a:r>
            <a:r>
              <a:rPr sz="2000" b="0" i="0">
                <a:solidFill>
                  <a:srgbClr val="1C252B"/>
                </a:solidFill>
                <a:latin typeface="Segoe UI"/>
              </a:rPr>
              <a:t> the four faults that account for almost every broken NAT: missing interface markers, a wrong ACL, an exhausted pool, and an order-of-operations misunderstanding.</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ASSUMED KNOWLEDGE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Before we start</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22. NAT and PAT on IOS XE</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4.3</a:t>
            </a:r>
          </a:p>
        </p:txBody>
      </p:sp>
      <p:sp>
        <p:nvSpPr>
          <p:cNvPr id="7" name="tint"/>
          <p:cNvSpPr/>
          <p:nvPr/>
        </p:nvSpPr>
        <p:spPr>
          <a:xfrm>
            <a:off x="685800" y="1517904"/>
            <a:ext cx="10820095" cy="1667256"/>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Chapter 4 for private address ranges. Chapter 15 — NAT does not replace routing, and a router that cannot route to the internet will not be fixed by NAT. Chapter 6 for port numbers, which is what PAT actually manipulates.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KEY TERMS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Vocabulary for this chapter</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22. NAT and PAT on IOS XE</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4.3</a:t>
            </a:r>
          </a:p>
        </p:txBody>
      </p:sp>
      <p:sp>
        <p:nvSpPr>
          <p:cNvPr id="7" name="term-inside local"/>
          <p:cNvSpPr/>
          <p:nvPr/>
        </p:nvSpPr>
        <p:spPr>
          <a:xfrm>
            <a:off x="685800" y="1609344"/>
            <a:ext cx="1359407"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b-inside local"/>
          <p:cNvSpPr/>
          <p:nvPr/>
        </p:nvSpPr>
        <p:spPr>
          <a:xfrm>
            <a:off x="685800" y="1609344"/>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t-inside local"/>
          <p:cNvSpPr txBox="1"/>
          <p:nvPr/>
        </p:nvSpPr>
        <p:spPr>
          <a:xfrm>
            <a:off x="850392" y="1700784"/>
            <a:ext cx="1030223"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inside local</a:t>
            </a:r>
          </a:p>
        </p:txBody>
      </p:sp>
      <p:sp>
        <p:nvSpPr>
          <p:cNvPr id="10" name="term-inside global"/>
          <p:cNvSpPr/>
          <p:nvPr/>
        </p:nvSpPr>
        <p:spPr>
          <a:xfrm>
            <a:off x="2173224" y="1609344"/>
            <a:ext cx="1463039"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b-inside global"/>
          <p:cNvSpPr/>
          <p:nvPr/>
        </p:nvSpPr>
        <p:spPr>
          <a:xfrm>
            <a:off x="2173224" y="1609344"/>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t-inside global"/>
          <p:cNvSpPr txBox="1"/>
          <p:nvPr/>
        </p:nvSpPr>
        <p:spPr>
          <a:xfrm>
            <a:off x="2337816" y="1700784"/>
            <a:ext cx="1133855"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inside global</a:t>
            </a:r>
          </a:p>
        </p:txBody>
      </p:sp>
      <p:sp>
        <p:nvSpPr>
          <p:cNvPr id="13" name="term-outside global"/>
          <p:cNvSpPr/>
          <p:nvPr/>
        </p:nvSpPr>
        <p:spPr>
          <a:xfrm>
            <a:off x="3764279" y="1609344"/>
            <a:ext cx="1566671"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b-outside global"/>
          <p:cNvSpPr/>
          <p:nvPr/>
        </p:nvSpPr>
        <p:spPr>
          <a:xfrm>
            <a:off x="3764279" y="1609344"/>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t-outside global"/>
          <p:cNvSpPr txBox="1"/>
          <p:nvPr/>
        </p:nvSpPr>
        <p:spPr>
          <a:xfrm>
            <a:off x="3928871" y="1700784"/>
            <a:ext cx="1237487"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outside global</a:t>
            </a:r>
          </a:p>
        </p:txBody>
      </p:sp>
      <p:sp>
        <p:nvSpPr>
          <p:cNvPr id="16" name="term-outside local"/>
          <p:cNvSpPr/>
          <p:nvPr/>
        </p:nvSpPr>
        <p:spPr>
          <a:xfrm>
            <a:off x="5458967" y="1609344"/>
            <a:ext cx="1463039"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b-outside local"/>
          <p:cNvSpPr/>
          <p:nvPr/>
        </p:nvSpPr>
        <p:spPr>
          <a:xfrm>
            <a:off x="5458967" y="1609344"/>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t-outside local"/>
          <p:cNvSpPr txBox="1"/>
          <p:nvPr/>
        </p:nvSpPr>
        <p:spPr>
          <a:xfrm>
            <a:off x="5623559" y="1700784"/>
            <a:ext cx="1133855"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outside local</a:t>
            </a:r>
          </a:p>
        </p:txBody>
      </p:sp>
      <p:sp>
        <p:nvSpPr>
          <p:cNvPr id="19" name="term-static NAT"/>
          <p:cNvSpPr/>
          <p:nvPr/>
        </p:nvSpPr>
        <p:spPr>
          <a:xfrm>
            <a:off x="7050023" y="1609344"/>
            <a:ext cx="1261872"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b-static NAT"/>
          <p:cNvSpPr/>
          <p:nvPr/>
        </p:nvSpPr>
        <p:spPr>
          <a:xfrm>
            <a:off x="7050023" y="1609344"/>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t-static NAT"/>
          <p:cNvSpPr txBox="1"/>
          <p:nvPr/>
        </p:nvSpPr>
        <p:spPr>
          <a:xfrm>
            <a:off x="7214615" y="1700784"/>
            <a:ext cx="932688"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static NAT</a:t>
            </a:r>
          </a:p>
        </p:txBody>
      </p:sp>
      <p:sp>
        <p:nvSpPr>
          <p:cNvPr id="22" name="term-dynamic NAT"/>
          <p:cNvSpPr/>
          <p:nvPr/>
        </p:nvSpPr>
        <p:spPr>
          <a:xfrm>
            <a:off x="8439911" y="1609344"/>
            <a:ext cx="1526031"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b-dynamic NAT"/>
          <p:cNvSpPr/>
          <p:nvPr/>
        </p:nvSpPr>
        <p:spPr>
          <a:xfrm>
            <a:off x="8439911" y="1609344"/>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t-dynamic NAT"/>
          <p:cNvSpPr txBox="1"/>
          <p:nvPr/>
        </p:nvSpPr>
        <p:spPr>
          <a:xfrm>
            <a:off x="8604503" y="1700784"/>
            <a:ext cx="1196848"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dynamic NAT</a:t>
            </a:r>
          </a:p>
        </p:txBody>
      </p:sp>
      <p:sp>
        <p:nvSpPr>
          <p:cNvPr id="25" name="term-PAT"/>
          <p:cNvSpPr/>
          <p:nvPr/>
        </p:nvSpPr>
        <p:spPr>
          <a:xfrm>
            <a:off x="10093959" y="1609344"/>
            <a:ext cx="707136"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b-PAT"/>
          <p:cNvSpPr/>
          <p:nvPr/>
        </p:nvSpPr>
        <p:spPr>
          <a:xfrm>
            <a:off x="10093959" y="1609344"/>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t-PAT"/>
          <p:cNvSpPr txBox="1"/>
          <p:nvPr/>
        </p:nvSpPr>
        <p:spPr>
          <a:xfrm>
            <a:off x="10258551" y="1700784"/>
            <a:ext cx="377952"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PAT</a:t>
            </a:r>
          </a:p>
        </p:txBody>
      </p:sp>
      <p:sp>
        <p:nvSpPr>
          <p:cNvPr id="28" name="term-overload"/>
          <p:cNvSpPr/>
          <p:nvPr/>
        </p:nvSpPr>
        <p:spPr>
          <a:xfrm>
            <a:off x="685800" y="2212848"/>
            <a:ext cx="1072895"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b-overload"/>
          <p:cNvSpPr/>
          <p:nvPr/>
        </p:nvSpPr>
        <p:spPr>
          <a:xfrm>
            <a:off x="685800" y="2212848"/>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t-overload"/>
          <p:cNvSpPr txBox="1"/>
          <p:nvPr/>
        </p:nvSpPr>
        <p:spPr>
          <a:xfrm>
            <a:off x="850392" y="2304288"/>
            <a:ext cx="743711"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overload</a:t>
            </a:r>
          </a:p>
        </p:txBody>
      </p:sp>
      <p:sp>
        <p:nvSpPr>
          <p:cNvPr id="31" name="term-translation table"/>
          <p:cNvSpPr/>
          <p:nvPr/>
        </p:nvSpPr>
        <p:spPr>
          <a:xfrm>
            <a:off x="1886711" y="2212848"/>
            <a:ext cx="1749551"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b-translation table"/>
          <p:cNvSpPr/>
          <p:nvPr/>
        </p:nvSpPr>
        <p:spPr>
          <a:xfrm>
            <a:off x="1886711" y="2212848"/>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t-translation table"/>
          <p:cNvSpPr txBox="1"/>
          <p:nvPr/>
        </p:nvSpPr>
        <p:spPr>
          <a:xfrm>
            <a:off x="2051303" y="2304288"/>
            <a:ext cx="1420367"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translation table</a:t>
            </a:r>
          </a:p>
        </p:txBody>
      </p:sp>
      <p:sp>
        <p:nvSpPr>
          <p:cNvPr id="34" name="term-port forwarding"/>
          <p:cNvSpPr/>
          <p:nvPr/>
        </p:nvSpPr>
        <p:spPr>
          <a:xfrm>
            <a:off x="3764279" y="2212848"/>
            <a:ext cx="1660143"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b-port forwarding"/>
          <p:cNvSpPr/>
          <p:nvPr/>
        </p:nvSpPr>
        <p:spPr>
          <a:xfrm>
            <a:off x="3764279" y="2212848"/>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t-port forwarding"/>
          <p:cNvSpPr txBox="1"/>
          <p:nvPr/>
        </p:nvSpPr>
        <p:spPr>
          <a:xfrm>
            <a:off x="3928871" y="2304288"/>
            <a:ext cx="1330959"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port forwarding</a:t>
            </a:r>
          </a:p>
        </p:txBody>
      </p:sp>
      <p:sp>
        <p:nvSpPr>
          <p:cNvPr id="37" name="termnote"/>
          <p:cNvSpPr txBox="1"/>
          <p:nvPr/>
        </p:nvSpPr>
        <p:spPr>
          <a:xfrm>
            <a:off x="685800" y="2962656"/>
            <a:ext cx="10820095" cy="274320"/>
          </a:xfrm>
          <a:prstGeom prst="rect">
            <a:avLst/>
          </a:prstGeom>
          <a:noFill/>
        </p:spPr>
        <p:txBody>
          <a:bodyPr wrap="square" anchor="t" lIns="0" rIns="0" tIns="0" bIns="0">
            <a:spAutoFit/>
          </a:bodyPr>
          <a:lstStyle/>
          <a:p>
            <a:pPr algn="l">
              <a:lnSpc>
                <a:spcPct val="100000"/>
              </a:lnSpc>
              <a:spcAft>
                <a:spcPts val="600"/>
              </a:spcAft>
            </a:pPr>
            <a:r>
              <a:rPr sz="1300" b="0" i="0">
                <a:solidFill>
                  <a:srgbClr val="8A959A"/>
                </a:solidFill>
                <a:latin typeface="Segoe UI"/>
              </a:rPr>
              <a:t>Each is defined where it first matters — not here.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ON THE EXAM</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IOS XE is named in the topic</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22. NAT and PAT on IOS XE</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4.3</a:t>
            </a:r>
          </a:p>
        </p:txBody>
      </p:sp>
      <p:sp>
        <p:nvSpPr>
          <p:cNvPr id="7" name="icon"/>
          <p:cNvSpPr txBox="1"/>
          <p:nvPr/>
        </p:nvSpPr>
        <p:spPr>
          <a:xfrm>
            <a:off x="685800" y="1517904"/>
            <a:ext cx="10820095" cy="292608"/>
          </a:xfrm>
          <a:prstGeom prst="rect">
            <a:avLst/>
          </a:prstGeom>
          <a:noFill/>
        </p:spPr>
        <p:txBody>
          <a:bodyPr wrap="square" anchor="t" lIns="0" rIns="0" tIns="0" bIns="0">
            <a:spAutoFit/>
          </a:bodyPr>
          <a:lstStyle/>
          <a:p>
            <a:pPr algn="l">
              <a:lnSpc>
                <a:spcPct val="100000"/>
              </a:lnSpc>
              <a:spcAft>
                <a:spcPts val="600"/>
              </a:spcAft>
            </a:pPr>
            <a:r>
              <a:rPr sz="1300" b="1" i="0">
                <a:solidFill>
                  <a:srgbClr val="922B21"/>
                </a:solidFill>
                <a:latin typeface="Segoe UI"/>
              </a:rPr>
              <a:t>This is what the blueprint actually asks for</a:t>
            </a:r>
          </a:p>
        </p:txBody>
      </p:sp>
      <p:sp>
        <p:nvSpPr>
          <p:cNvPr id="8" name="body"/>
          <p:cNvSpPr txBox="1"/>
          <p:nvPr/>
        </p:nvSpPr>
        <p:spPr>
          <a:xfrm>
            <a:off x="685800" y="2267712"/>
            <a:ext cx="10820095" cy="4114800"/>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Topic </a:t>
            </a:r>
            <a:r>
              <a:rPr sz="1600" b="1">
                <a:solidFill>
                  <a:srgbClr val="922B21"/>
                </a:solidFill>
                <a:latin typeface="Segoe UI"/>
              </a:rPr>
              <a:t> 4.3 </a:t>
            </a:r>
            <a:r>
              <a:rPr sz="2000" b="0" i="0">
                <a:solidFill>
                  <a:srgbClr val="1C252B"/>
                </a:solidFill>
                <a:latin typeface="Segoe UI"/>
              </a:rPr>
              <a:t> is </a:t>
            </a:r>
            <a:r>
              <a:rPr sz="2000" b="0" i="1">
                <a:solidFill>
                  <a:srgbClr val="1C252B"/>
                </a:solidFill>
                <a:latin typeface="Segoe UI"/>
              </a:rPr>
              <a:t>configure NAT/PAT on IOS XE routers</a:t>
            </a:r>
            <a:r>
              <a:rPr sz="2000" b="0" i="0">
                <a:solidFill>
                  <a:srgbClr val="1C252B"/>
                </a:solidFill>
                <a:latin typeface="Segoe UI"/>
              </a:rPr>
              <a:t>. The NAT configuration syntax is the same on IOS and IOS XE, so nothing here is wasted on either platform — but the interface names differ (</a:t>
            </a:r>
            <a:r>
              <a:rPr sz="1900" b="0" i="0">
                <a:solidFill>
                  <a:srgbClr val="1A5276"/>
                </a:solidFill>
                <a:latin typeface="Consolas"/>
              </a:rPr>
              <a:t>GigabitEthernet0/0/0</a:t>
            </a:r>
            <a:r>
              <a:rPr sz="2000" b="0" i="0">
                <a:solidFill>
                  <a:srgbClr val="1C252B"/>
                </a:solidFill>
                <a:latin typeface="Segoe UI"/>
              </a:rPr>
              <a:t> on XE against </a:t>
            </a:r>
            <a:r>
              <a:rPr sz="1900" b="0" i="0">
                <a:solidFill>
                  <a:srgbClr val="1A5276"/>
                </a:solidFill>
                <a:latin typeface="Consolas"/>
              </a:rPr>
              <a:t>GigabitEthernet0/0</a:t>
            </a:r>
            <a:r>
              <a:rPr sz="2000" b="0" i="0">
                <a:solidFill>
                  <a:srgbClr val="1C252B"/>
                </a:solidFill>
                <a:latin typeface="Segoe UI"/>
              </a:rPr>
              <a:t> on classic IOS), and this chapter uses XE names throughout so that they look normal to you in the exam.</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WATCH OUT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NAT is not a security feature</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22. NAT and PAT on IOS XE</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4.3</a:t>
            </a:r>
          </a:p>
        </p:txBody>
      </p:sp>
      <p:sp>
        <p:nvSpPr>
          <p:cNvPr id="7" name="body"/>
          <p:cNvSpPr txBox="1"/>
          <p:nvPr/>
        </p:nvSpPr>
        <p:spPr>
          <a:xfrm>
            <a:off x="685800" y="1901952"/>
            <a:ext cx="10820095" cy="4480560"/>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It is frequently described as one, and it is not. It happens to make unsolicited inbound connections difficult, because there is no translation entry to match them against — but that is a side effect of an address-conservation mechanism, not a policy. Anything you actually want blocked should be blocked by an ACL (Chapter 24) or a firewall, which can be audited and which says what it means.</a:t>
            </a:r>
          </a:p>
          <a:p>
            <a:pPr algn="l">
              <a:lnSpc>
                <a:spcPct val="100000"/>
              </a:lnSpc>
              <a:spcAft>
                <a:spcPts val="1000"/>
              </a:spcAft>
            </a:pPr>
            <a:r>
              <a:rPr sz="2000" b="0" i="0">
                <a:solidFill>
                  <a:srgbClr val="1C252B"/>
                </a:solidFill>
                <a:latin typeface="Segoe UI"/>
              </a:rPr>
              <a:t>The exam has been known to ask this directly. NAT conserves addresses.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2331720"/>
            <a:ext cx="12191695" cy="1828800"/>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heading"/>
          <p:cNvSpPr txBox="1"/>
          <p:nvPr/>
        </p:nvSpPr>
        <p:spPr>
          <a:xfrm>
            <a:off x="685800" y="2670048"/>
            <a:ext cx="9448495" cy="1188720"/>
          </a:xfrm>
          <a:prstGeom prst="rect">
            <a:avLst/>
          </a:prstGeom>
          <a:noFill/>
        </p:spPr>
        <p:txBody>
          <a:bodyPr wrap="square" anchor="ctr" lIns="0" rIns="0" tIns="0" bIns="0">
            <a:spAutoFit/>
          </a:bodyPr>
          <a:lstStyle/>
          <a:p>
            <a:pPr algn="l">
              <a:lnSpc>
                <a:spcPct val="100000"/>
              </a:lnSpc>
              <a:spcAft>
                <a:spcPts val="600"/>
              </a:spcAft>
            </a:pPr>
            <a:r>
              <a:rPr sz="3400" b="1" i="0">
                <a:solidFill>
                  <a:srgbClr val="FFFFFF"/>
                </a:solidFill>
                <a:latin typeface="Segoe UI"/>
              </a:rPr>
              <a:t>The four terms</a:t>
            </a:r>
          </a:p>
        </p:txBody>
      </p:sp>
      <p:pic>
        <p:nvPicPr>
          <p:cNvPr id="4" name="logo-iub-logo-white" descr="iub-logo-white.png"/>
          <p:cNvPicPr>
            <a:picLocks noChangeAspect="1"/>
          </p:cNvPicPr>
          <p:nvPr/>
        </p:nvPicPr>
        <p:blipFill>
          <a:blip r:embed="rId2"/>
          <a:stretch>
            <a:fillRect/>
          </a:stretch>
        </p:blipFill>
        <p:spPr>
          <a:xfrm>
            <a:off x="10343500" y="2670048"/>
            <a:ext cx="1162394" cy="1152144"/>
          </a:xfrm>
          <a:prstGeom prst="rect">
            <a:avLst/>
          </a:prstGeom>
        </p:spPr>
      </p:pic>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22. NAT and PAT on IOS XE</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4.3</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85800" y="45720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four terms</a:t>
            </a:r>
          </a:p>
        </p:txBody>
      </p:sp>
      <p:sp>
        <p:nvSpPr>
          <p:cNvPr id="3"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22. NAT and PAT on IOS XE</a:t>
            </a:r>
          </a:p>
        </p:txBody>
      </p:sp>
      <p:sp>
        <p:nvSpPr>
          <p:cNvPr id="5"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4.3</a:t>
            </a:r>
          </a:p>
        </p:txBody>
      </p:sp>
      <p:pic>
        <p:nvPicPr>
          <p:cNvPr id="6" name="figure" descr="natterms-1.png"/>
          <p:cNvPicPr>
            <a:picLocks noChangeAspect="1"/>
          </p:cNvPicPr>
          <p:nvPr/>
        </p:nvPicPr>
        <p:blipFill>
          <a:blip r:embed="rId2"/>
          <a:stretch>
            <a:fillRect/>
          </a:stretch>
        </p:blipFill>
        <p:spPr>
          <a:xfrm>
            <a:off x="907621" y="1517904"/>
            <a:ext cx="10376452" cy="4773168"/>
          </a:xfrm>
          <a:prstGeom prst="rect">
            <a:avLst/>
          </a:prstGeom>
        </p:spPr>
      </p:pic>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85800" y="45720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four terms</a:t>
            </a:r>
          </a:p>
        </p:txBody>
      </p:sp>
      <p:sp>
        <p:nvSpPr>
          <p:cNvPr id="3"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22. NAT and PAT on IOS XE</a:t>
            </a:r>
          </a:p>
        </p:txBody>
      </p:sp>
      <p:sp>
        <p:nvSpPr>
          <p:cNvPr id="5"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4.3</a:t>
            </a:r>
          </a:p>
        </p:txBody>
      </p:sp>
      <p:pic>
        <p:nvPicPr>
          <p:cNvPr id="6" name="figure" descr="natterms-2.png"/>
          <p:cNvPicPr>
            <a:picLocks noChangeAspect="1"/>
          </p:cNvPicPr>
          <p:nvPr/>
        </p:nvPicPr>
        <p:blipFill>
          <a:blip r:embed="rId2"/>
          <a:stretch>
            <a:fillRect/>
          </a:stretch>
        </p:blipFill>
        <p:spPr>
          <a:xfrm>
            <a:off x="907621" y="1517904"/>
            <a:ext cx="10376452" cy="4773168"/>
          </a:xfrm>
          <a:prstGeom prst="rect">
            <a:avLst/>
          </a:prstGeom>
        </p:spPr>
      </p:pic>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85800" y="45720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four terms</a:t>
            </a:r>
          </a:p>
        </p:txBody>
      </p:sp>
      <p:sp>
        <p:nvSpPr>
          <p:cNvPr id="3"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22. NAT and PAT on IOS XE</a:t>
            </a:r>
          </a:p>
        </p:txBody>
      </p:sp>
      <p:sp>
        <p:nvSpPr>
          <p:cNvPr id="5"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4.3</a:t>
            </a:r>
          </a:p>
        </p:txBody>
      </p:sp>
      <p:pic>
        <p:nvPicPr>
          <p:cNvPr id="6" name="figure" descr="natterms-3.png"/>
          <p:cNvPicPr>
            <a:picLocks noChangeAspect="1"/>
          </p:cNvPicPr>
          <p:nvPr/>
        </p:nvPicPr>
        <p:blipFill>
          <a:blip r:embed="rId2"/>
          <a:stretch>
            <a:fillRect/>
          </a:stretch>
        </p:blipFill>
        <p:spPr>
          <a:xfrm>
            <a:off x="907621" y="1517904"/>
            <a:ext cx="10376452" cy="4773168"/>
          </a:xfrm>
          <a:prstGeom prst="rect">
            <a:avLst/>
          </a:prstGeom>
        </p:spPr>
      </p:pic>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85800" y="45720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four terms</a:t>
            </a:r>
          </a:p>
        </p:txBody>
      </p:sp>
      <p:sp>
        <p:nvSpPr>
          <p:cNvPr id="3"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22. NAT and PAT on IOS XE</a:t>
            </a:r>
          </a:p>
        </p:txBody>
      </p:sp>
      <p:sp>
        <p:nvSpPr>
          <p:cNvPr id="5"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4.3</a:t>
            </a:r>
          </a:p>
        </p:txBody>
      </p:sp>
      <p:pic>
        <p:nvPicPr>
          <p:cNvPr id="6" name="figure" descr="natterms-4.png"/>
          <p:cNvPicPr>
            <a:picLocks noChangeAspect="1"/>
          </p:cNvPicPr>
          <p:nvPr/>
        </p:nvPicPr>
        <p:blipFill>
          <a:blip r:embed="rId2"/>
          <a:stretch>
            <a:fillRect/>
          </a:stretch>
        </p:blipFill>
        <p:spPr>
          <a:xfrm>
            <a:off x="907621" y="1517904"/>
            <a:ext cx="10376452" cy="4773168"/>
          </a:xfrm>
          <a:prstGeom prst="rect">
            <a:avLst/>
          </a:prstGeom>
        </p:spPr>
      </p:pic>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CONCEPT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Why outside local usually equals outside global</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22. NAT and PAT on IOS XE</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4.3</a:t>
            </a:r>
          </a:p>
        </p:txBody>
      </p:sp>
      <p:sp>
        <p:nvSpPr>
          <p:cNvPr id="7" name="tint"/>
          <p:cNvSpPr/>
          <p:nvPr/>
        </p:nvSpPr>
        <p:spPr>
          <a:xfrm>
            <a:off x="685800" y="1517904"/>
            <a:ext cx="10820095" cy="2749296"/>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Because plain NAT only rewrites the </a:t>
            </a:r>
            <a:r>
              <a:rPr sz="2000" b="0" i="1">
                <a:solidFill>
                  <a:srgbClr val="1C252B"/>
                </a:solidFill>
                <a:latin typeface="Segoe UI"/>
              </a:rPr>
              <a:t>inside</a:t>
            </a:r>
            <a:r>
              <a:rPr sz="2000" b="0" i="0">
                <a:solidFill>
                  <a:srgbClr val="1C252B"/>
                </a:solidFill>
                <a:latin typeface="Segoe UI"/>
              </a:rPr>
              <a:t> host’s address. The external server’s address is untouched in both directions, so both names describe the same number. The two differ only when you translate the outside side as well (</a:t>
            </a:r>
            <a:r>
              <a:rPr sz="1900" b="0" i="0">
                <a:solidFill>
                  <a:srgbClr val="1A5276"/>
                </a:solidFill>
                <a:latin typeface="Consolas"/>
              </a:rPr>
              <a:t>ip nat outside source</a:t>
            </a:r>
            <a:r>
              <a:rPr sz="2000" b="0" i="0">
                <a:solidFill>
                  <a:srgbClr val="1C252B"/>
                </a:solidFill>
                <a:latin typeface="Segoe UI"/>
              </a:rPr>
              <a:t>), which is rare and outside this exam.</a:t>
            </a:r>
          </a:p>
          <a:p>
            <a:pPr algn="l">
              <a:lnSpc>
                <a:spcPct val="100000"/>
              </a:lnSpc>
              <a:spcAft>
                <a:spcPts val="1000"/>
              </a:spcAft>
            </a:pPr>
            <a:r>
              <a:rPr sz="2000" b="0" i="0">
                <a:solidFill>
                  <a:srgbClr val="1C252B"/>
                </a:solidFill>
                <a:latin typeface="Segoe UI"/>
              </a:rPr>
              <a:t>That is good news: for CCNA purposes there are effectively </a:t>
            </a:r>
            <a:r>
              <a:rPr sz="2000" b="0" i="1">
                <a:solidFill>
                  <a:srgbClr val="1C252B"/>
                </a:solidFill>
                <a:latin typeface="Segoe UI"/>
              </a:rPr>
              <a:t>three</a:t>
            </a:r>
            <a:r>
              <a:rPr sz="2000" b="0" i="0">
                <a:solidFill>
                  <a:srgbClr val="1C252B"/>
                </a:solidFill>
                <a:latin typeface="Segoe UI"/>
              </a:rPr>
              <a:t> addresses to track, and the one that changes is the inside host’s.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2331720"/>
            <a:ext cx="12191695" cy="1828800"/>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heading"/>
          <p:cNvSpPr txBox="1"/>
          <p:nvPr/>
        </p:nvSpPr>
        <p:spPr>
          <a:xfrm>
            <a:off x="685800" y="2670048"/>
            <a:ext cx="9448495" cy="1188720"/>
          </a:xfrm>
          <a:prstGeom prst="rect">
            <a:avLst/>
          </a:prstGeom>
          <a:noFill/>
        </p:spPr>
        <p:txBody>
          <a:bodyPr wrap="square" anchor="ctr" lIns="0" rIns="0" tIns="0" bIns="0">
            <a:spAutoFit/>
          </a:bodyPr>
          <a:lstStyle/>
          <a:p>
            <a:pPr algn="l">
              <a:lnSpc>
                <a:spcPct val="100000"/>
              </a:lnSpc>
              <a:spcAft>
                <a:spcPts val="600"/>
              </a:spcAft>
            </a:pPr>
            <a:r>
              <a:rPr sz="3400" b="1" i="0">
                <a:solidFill>
                  <a:srgbClr val="FFFFFF"/>
                </a:solidFill>
                <a:latin typeface="Segoe UI"/>
              </a:rPr>
              <a:t>Three kinds of NAT</a:t>
            </a:r>
          </a:p>
        </p:txBody>
      </p:sp>
      <p:pic>
        <p:nvPicPr>
          <p:cNvPr id="4" name="logo-iub-logo-white" descr="iub-logo-white.png"/>
          <p:cNvPicPr>
            <a:picLocks noChangeAspect="1"/>
          </p:cNvPicPr>
          <p:nvPr/>
        </p:nvPicPr>
        <p:blipFill>
          <a:blip r:embed="rId2"/>
          <a:stretch>
            <a:fillRect/>
          </a:stretch>
        </p:blipFill>
        <p:spPr>
          <a:xfrm>
            <a:off x="10343500" y="2670048"/>
            <a:ext cx="1162394" cy="1152144"/>
          </a:xfrm>
          <a:prstGeom prst="rect">
            <a:avLst/>
          </a:prstGeom>
        </p:spPr>
      </p:pic>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22. NAT and PAT on IOS XE</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4.3</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CONFIGURE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Static NAT for an internal web server</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22. NAT and PAT on IOS XE</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4.3</a:t>
            </a:r>
          </a:p>
        </p:txBody>
      </p:sp>
      <p:sp>
        <p:nvSpPr>
          <p:cNvPr id="7" name="codebg"/>
          <p:cNvSpPr/>
          <p:nvPr/>
        </p:nvSpPr>
        <p:spPr>
          <a:xfrm>
            <a:off x="685800" y="1775420"/>
            <a:ext cx="10820095" cy="4149343"/>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775420"/>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830284"/>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IOS  ·  configuration mode</a:t>
            </a:r>
          </a:p>
        </p:txBody>
      </p:sp>
      <p:sp>
        <p:nvSpPr>
          <p:cNvPr id="10" name="code"/>
          <p:cNvSpPr txBox="1"/>
          <p:nvPr/>
        </p:nvSpPr>
        <p:spPr>
          <a:xfrm>
            <a:off x="886968" y="2214332"/>
            <a:ext cx="10417759" cy="3655567"/>
          </a:xfrm>
          <a:prstGeom prst="rect">
            <a:avLst/>
          </a:prstGeom>
          <a:noFill/>
        </p:spPr>
        <p:txBody>
          <a:bodyPr wrap="none" lIns="0" rIns="0" tIns="0" bIns="0">
            <a:spAutoFit/>
          </a:bodyPr>
          <a:lstStyle/>
          <a:p>
            <a:pPr>
              <a:lnSpc>
                <a:spcPct val="100000"/>
              </a:lnSpc>
              <a:spcAft>
                <a:spcPts val="0"/>
              </a:spcAft>
            </a:pPr>
            <a:r>
              <a:rPr sz="1600" i="1">
                <a:solidFill>
                  <a:srgbClr val="6E8BA0"/>
                </a:solidFill>
                <a:latin typeface="Consolas"/>
              </a:rPr>
              <a:t>! The mapping itself: inside local first, inside global second.</a:t>
            </a:r>
          </a:p>
          <a:p>
            <a:pPr>
              <a:lnSpc>
                <a:spcPct val="100000"/>
              </a:lnSpc>
              <a:spcAft>
                <a:spcPts val="0"/>
              </a:spcAft>
            </a:pPr>
            <a:r>
              <a:rPr sz="1600">
                <a:solidFill>
                  <a:srgbClr val="E8EEF2"/>
                </a:solidFill>
                <a:latin typeface="Consolas"/>
              </a:rPr>
              <a:t>ip nat inside source static 192.168.10.50 203.0.113.50</a:t>
            </a:r>
          </a:p>
          <a:p>
            <a:pPr>
              <a:lnSpc>
                <a:spcPct val="100000"/>
              </a:lnSpc>
              <a:spcAft>
                <a:spcPts val="0"/>
              </a:spcAft>
            </a:pPr>
            <a:r>
              <a:rPr sz="1600" i="1">
                <a:solidFill>
                  <a:srgbClr val="6E8BA0"/>
                </a:solidFill>
                <a:latin typeface="Consolas"/>
              </a:rPr>
              <a:t>!</a:t>
            </a:r>
          </a:p>
          <a:p>
            <a:pPr>
              <a:lnSpc>
                <a:spcPct val="100000"/>
              </a:lnSpc>
              <a:spcAft>
                <a:spcPts val="0"/>
              </a:spcAft>
            </a:pPr>
            <a:r>
              <a:rPr sz="1600" i="1">
                <a:solidFill>
                  <a:srgbClr val="6E8BA0"/>
                </a:solidFill>
                <a:latin typeface="Consolas"/>
              </a:rPr>
              <a:t>! Without these two lines nothing is translated. This is the most</a:t>
            </a:r>
          </a:p>
          <a:p>
            <a:pPr>
              <a:lnSpc>
                <a:spcPct val="100000"/>
              </a:lnSpc>
              <a:spcAft>
                <a:spcPts val="0"/>
              </a:spcAft>
            </a:pPr>
            <a:r>
              <a:rPr sz="1600" i="1">
                <a:solidFill>
                  <a:srgbClr val="6E8BA0"/>
                </a:solidFill>
                <a:latin typeface="Consolas"/>
              </a:rPr>
              <a:t>! commonly forgotten pair of commands in the whole topic.</a:t>
            </a:r>
          </a:p>
          <a:p>
            <a:pPr>
              <a:lnSpc>
                <a:spcPct val="100000"/>
              </a:lnSpc>
              <a:spcAft>
                <a:spcPts val="0"/>
              </a:spcAft>
            </a:pPr>
            <a:r>
              <a:rPr sz="1600">
                <a:solidFill>
                  <a:srgbClr val="E8EEF2"/>
                </a:solidFill>
                <a:latin typeface="Consolas"/>
              </a:rPr>
              <a:t>interface GigabitEthernet0/0/1</a:t>
            </a:r>
          </a:p>
          <a:p>
            <a:pPr>
              <a:lnSpc>
                <a:spcPct val="100000"/>
              </a:lnSpc>
              <a:spcAft>
                <a:spcPts val="0"/>
              </a:spcAft>
            </a:pPr>
            <a:r>
              <a:rPr sz="1600">
                <a:solidFill>
                  <a:srgbClr val="E8EEF2"/>
                </a:solidFill>
                <a:latin typeface="Consolas"/>
              </a:rPr>
              <a:t> description LAN</a:t>
            </a:r>
          </a:p>
          <a:p>
            <a:pPr>
              <a:lnSpc>
                <a:spcPct val="100000"/>
              </a:lnSpc>
              <a:spcAft>
                <a:spcPts val="0"/>
              </a:spcAft>
            </a:pPr>
            <a:r>
              <a:rPr sz="1600">
                <a:solidFill>
                  <a:srgbClr val="E8EEF2"/>
                </a:solidFill>
                <a:latin typeface="Consolas"/>
              </a:rPr>
              <a:t> ip address 192.168.10.1 255.255.255.0</a:t>
            </a:r>
          </a:p>
          <a:p>
            <a:pPr>
              <a:lnSpc>
                <a:spcPct val="100000"/>
              </a:lnSpc>
              <a:spcAft>
                <a:spcPts val="0"/>
              </a:spcAft>
            </a:pPr>
            <a:r>
              <a:rPr sz="1600">
                <a:solidFill>
                  <a:srgbClr val="E8EEF2"/>
                </a:solidFill>
                <a:latin typeface="Consolas"/>
              </a:rPr>
              <a:t> ip nat inside</a:t>
            </a:r>
          </a:p>
          <a:p>
            <a:pPr>
              <a:lnSpc>
                <a:spcPct val="100000"/>
              </a:lnSpc>
              <a:spcAft>
                <a:spcPts val="0"/>
              </a:spcAft>
            </a:pPr>
            <a:r>
              <a:rPr sz="1600" i="1">
                <a:solidFill>
                  <a:srgbClr val="6E8BA0"/>
                </a:solidFill>
                <a:latin typeface="Consolas"/>
              </a:rPr>
              <a:t>!</a:t>
            </a:r>
          </a:p>
          <a:p>
            <a:pPr>
              <a:lnSpc>
                <a:spcPct val="100000"/>
              </a:lnSpc>
              <a:spcAft>
                <a:spcPts val="0"/>
              </a:spcAft>
            </a:pPr>
            <a:r>
              <a:rPr sz="1600">
                <a:solidFill>
                  <a:srgbClr val="E8EEF2"/>
                </a:solidFill>
                <a:latin typeface="Consolas"/>
              </a:rPr>
              <a:t>interface GigabitEthernet0/0/0</a:t>
            </a:r>
          </a:p>
          <a:p>
            <a:pPr>
              <a:lnSpc>
                <a:spcPct val="100000"/>
              </a:lnSpc>
              <a:spcAft>
                <a:spcPts val="0"/>
              </a:spcAft>
            </a:pPr>
            <a:r>
              <a:rPr sz="1600">
                <a:solidFill>
                  <a:srgbClr val="E8EEF2"/>
                </a:solidFill>
                <a:latin typeface="Consolas"/>
              </a:rPr>
              <a:t> description WAN to ISP</a:t>
            </a:r>
          </a:p>
          <a:p>
            <a:pPr>
              <a:lnSpc>
                <a:spcPct val="100000"/>
              </a:lnSpc>
              <a:spcAft>
                <a:spcPts val="0"/>
              </a:spcAft>
            </a:pPr>
            <a:r>
              <a:rPr sz="1600">
                <a:solidFill>
                  <a:srgbClr val="E8EEF2"/>
                </a:solidFill>
                <a:latin typeface="Consolas"/>
              </a:rPr>
              <a:t> ip address 203.0.113.2 255.255.255.252</a:t>
            </a:r>
          </a:p>
          <a:p>
            <a:pPr>
              <a:lnSpc>
                <a:spcPct val="100000"/>
              </a:lnSpc>
              <a:spcAft>
                <a:spcPts val="0"/>
              </a:spcAft>
            </a:pPr>
            <a:r>
              <a:rPr sz="1600">
                <a:solidFill>
                  <a:srgbClr val="E8EEF2"/>
                </a:solidFill>
                <a:latin typeface="Consolas"/>
              </a:rPr>
              <a:t> ip nat outside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CONFIGURE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Dynamic NAT from a small pool</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22. NAT and PAT on IOS XE</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4.3</a:t>
            </a:r>
          </a:p>
        </p:txBody>
      </p:sp>
      <p:sp>
        <p:nvSpPr>
          <p:cNvPr id="7" name="codebg"/>
          <p:cNvSpPr/>
          <p:nvPr/>
        </p:nvSpPr>
        <p:spPr>
          <a:xfrm>
            <a:off x="685800" y="1901952"/>
            <a:ext cx="10820095" cy="2637535"/>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IOS  ·  configuration mode</a:t>
            </a:r>
          </a:p>
        </p:txBody>
      </p:sp>
      <p:sp>
        <p:nvSpPr>
          <p:cNvPr id="10" name="code"/>
          <p:cNvSpPr txBox="1"/>
          <p:nvPr/>
        </p:nvSpPr>
        <p:spPr>
          <a:xfrm>
            <a:off x="886968" y="2340864"/>
            <a:ext cx="10417759" cy="2143759"/>
          </a:xfrm>
          <a:prstGeom prst="rect">
            <a:avLst/>
          </a:prstGeom>
          <a:noFill/>
        </p:spPr>
        <p:txBody>
          <a:bodyPr wrap="none" lIns="0" rIns="0" tIns="0" bIns="0">
            <a:spAutoFit/>
          </a:bodyPr>
          <a:lstStyle/>
          <a:p>
            <a:pPr>
              <a:lnSpc>
                <a:spcPct val="100000"/>
              </a:lnSpc>
              <a:spcAft>
                <a:spcPts val="0"/>
              </a:spcAft>
            </a:pPr>
            <a:r>
              <a:rPr sz="1600" i="1">
                <a:solidFill>
                  <a:srgbClr val="6E8BA0"/>
                </a:solidFill>
                <a:latin typeface="Consolas"/>
              </a:rPr>
              <a:t>! 1. Which internal addresses are allowed to be translated.</a:t>
            </a:r>
          </a:p>
          <a:p>
            <a:pPr>
              <a:lnSpc>
                <a:spcPct val="100000"/>
              </a:lnSpc>
              <a:spcAft>
                <a:spcPts val="0"/>
              </a:spcAft>
            </a:pPr>
            <a:r>
              <a:rPr sz="1600">
                <a:solidFill>
                  <a:srgbClr val="E8EEF2"/>
                </a:solidFill>
                <a:latin typeface="Consolas"/>
              </a:rPr>
              <a:t>access-list 1 permit 192.168.10.0 0.0.0.255</a:t>
            </a:r>
          </a:p>
          <a:p>
            <a:pPr>
              <a:lnSpc>
                <a:spcPct val="100000"/>
              </a:lnSpc>
              <a:spcAft>
                <a:spcPts val="0"/>
              </a:spcAft>
            </a:pPr>
            <a:r>
              <a:rPr sz="1600" i="1">
                <a:solidFill>
                  <a:srgbClr val="6E8BA0"/>
                </a:solidFill>
                <a:latin typeface="Consolas"/>
              </a:rPr>
              <a:t>!</a:t>
            </a:r>
          </a:p>
          <a:p>
            <a:pPr>
              <a:lnSpc>
                <a:spcPct val="100000"/>
              </a:lnSpc>
              <a:spcAft>
                <a:spcPts val="0"/>
              </a:spcAft>
            </a:pPr>
            <a:r>
              <a:rPr sz="1600" i="1">
                <a:solidFill>
                  <a:srgbClr val="6E8BA0"/>
                </a:solidFill>
                <a:latin typeface="Consolas"/>
              </a:rPr>
              <a:t>! 2. The public addresses available to lend.</a:t>
            </a:r>
          </a:p>
          <a:p>
            <a:pPr>
              <a:lnSpc>
                <a:spcPct val="100000"/>
              </a:lnSpc>
              <a:spcAft>
                <a:spcPts val="0"/>
              </a:spcAft>
            </a:pPr>
            <a:r>
              <a:rPr sz="1600">
                <a:solidFill>
                  <a:srgbClr val="E8EEF2"/>
                </a:solidFill>
                <a:latin typeface="Consolas"/>
              </a:rPr>
              <a:t>ip nat pool BRANCH-POOL 203.0.113.10 203.0.113.20 netmask 255.255.255.0</a:t>
            </a:r>
          </a:p>
          <a:p>
            <a:pPr>
              <a:lnSpc>
                <a:spcPct val="100000"/>
              </a:lnSpc>
              <a:spcAft>
                <a:spcPts val="0"/>
              </a:spcAft>
            </a:pPr>
            <a:r>
              <a:rPr sz="1600" i="1">
                <a:solidFill>
                  <a:srgbClr val="6E8BA0"/>
                </a:solidFill>
                <a:latin typeface="Consolas"/>
              </a:rPr>
              <a:t>!</a:t>
            </a:r>
          </a:p>
          <a:p>
            <a:pPr>
              <a:lnSpc>
                <a:spcPct val="100000"/>
              </a:lnSpc>
              <a:spcAft>
                <a:spcPts val="0"/>
              </a:spcAft>
            </a:pPr>
            <a:r>
              <a:rPr sz="1600" i="1">
                <a:solidFill>
                  <a:srgbClr val="6E8BA0"/>
                </a:solidFill>
                <a:latin typeface="Consolas"/>
              </a:rPr>
              <a:t>! 3. Tie them together.</a:t>
            </a:r>
          </a:p>
          <a:p>
            <a:pPr>
              <a:lnSpc>
                <a:spcPct val="100000"/>
              </a:lnSpc>
              <a:spcAft>
                <a:spcPts val="0"/>
              </a:spcAft>
            </a:pPr>
            <a:r>
              <a:rPr sz="1600">
                <a:solidFill>
                  <a:srgbClr val="E8EEF2"/>
                </a:solidFill>
                <a:latin typeface="Consolas"/>
              </a:rPr>
              <a:t>ip nat inside source list 1 pool BRANCH-POOL</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WATCH OUT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Dynamic NAT fails silently when the pool runs out</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22. NAT and PAT on IOS XE</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4.3</a:t>
            </a:r>
          </a:p>
        </p:txBody>
      </p:sp>
      <p:sp>
        <p:nvSpPr>
          <p:cNvPr id="7" name="body"/>
          <p:cNvSpPr txBox="1"/>
          <p:nvPr/>
        </p:nvSpPr>
        <p:spPr>
          <a:xfrm>
            <a:off x="685800" y="1901952"/>
            <a:ext cx="10820095" cy="4480560"/>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Eleven addresses in that pool means the twelfth simultaneous host gets no translation and its packets are dropped. There is no message to the user and no log entry unless you asked for one. The symptom is “the internet works in the morning and stops after lunch”, and the evidence is one line of </a:t>
            </a:r>
            <a:r>
              <a:rPr sz="1900" b="0" i="0">
                <a:solidFill>
                  <a:srgbClr val="1A5276"/>
                </a:solidFill>
                <a:latin typeface="Consolas"/>
              </a:rPr>
              <a:t>show ip nat statistics</a:t>
            </a:r>
            <a:r>
              <a:rPr sz="2000" b="0" i="0">
                <a:solidFill>
                  <a:srgbClr val="1C252B"/>
                </a:solidFill>
                <a:latin typeface="Segoe UI"/>
              </a:rPr>
              <a:t>.</a:t>
            </a:r>
          </a:p>
          <a:p>
            <a:pPr algn="l">
              <a:lnSpc>
                <a:spcPct val="100000"/>
              </a:lnSpc>
              <a:spcAft>
                <a:spcPts val="1000"/>
              </a:spcAft>
            </a:pPr>
            <a:r>
              <a:rPr sz="2000" b="0" i="0">
                <a:solidFill>
                  <a:srgbClr val="1C252B"/>
                </a:solidFill>
                <a:latin typeface="Segoe UI"/>
              </a:rPr>
              <a:t>This is exactly why PAT exists, and why almost nobody deploys plain dynamic NAT.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CONFIGURE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PAT onto the WAN interface address</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22. NAT and PAT on IOS XE</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4.3</a:t>
            </a:r>
          </a:p>
        </p:txBody>
      </p:sp>
      <p:sp>
        <p:nvSpPr>
          <p:cNvPr id="7" name="codebg"/>
          <p:cNvSpPr/>
          <p:nvPr/>
        </p:nvSpPr>
        <p:spPr>
          <a:xfrm>
            <a:off x="685800" y="1901952"/>
            <a:ext cx="10820095" cy="3645407"/>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IOS  ·  configuration mode</a:t>
            </a:r>
          </a:p>
        </p:txBody>
      </p:sp>
      <p:sp>
        <p:nvSpPr>
          <p:cNvPr id="10" name="code"/>
          <p:cNvSpPr txBox="1"/>
          <p:nvPr/>
        </p:nvSpPr>
        <p:spPr>
          <a:xfrm>
            <a:off x="886968" y="2340864"/>
            <a:ext cx="10417759" cy="3151631"/>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access-list 1 permit 192.168.10.0 0.0.0.255</a:t>
            </a:r>
          </a:p>
          <a:p>
            <a:pPr>
              <a:lnSpc>
                <a:spcPct val="100000"/>
              </a:lnSpc>
              <a:spcAft>
                <a:spcPts val="0"/>
              </a:spcAft>
            </a:pPr>
            <a:r>
              <a:rPr sz="1600" i="1">
                <a:solidFill>
                  <a:srgbClr val="6E8BA0"/>
                </a:solidFill>
                <a:latin typeface="Consolas"/>
              </a:rPr>
              <a:t>!</a:t>
            </a:r>
          </a:p>
          <a:p>
            <a:pPr>
              <a:lnSpc>
                <a:spcPct val="100000"/>
              </a:lnSpc>
              <a:spcAft>
                <a:spcPts val="0"/>
              </a:spcAft>
            </a:pPr>
            <a:r>
              <a:rPr sz="1600" i="1">
                <a:solidFill>
                  <a:srgbClr val="6E8BA0"/>
                </a:solidFill>
                <a:latin typeface="Consolas"/>
              </a:rPr>
              <a:t>! "interface" instead of a pool: use whatever address the WAN</a:t>
            </a:r>
          </a:p>
          <a:p>
            <a:pPr>
              <a:lnSpc>
                <a:spcPct val="100000"/>
              </a:lnSpc>
              <a:spcAft>
                <a:spcPts val="0"/>
              </a:spcAft>
            </a:pPr>
            <a:r>
              <a:rPr sz="1600" i="1">
                <a:solidFill>
                  <a:srgbClr val="6E8BA0"/>
                </a:solidFill>
                <a:latin typeface="Consolas"/>
              </a:rPr>
              <a:t>! interface currently has. This survives a DHCP-assigned WAN address</a:t>
            </a:r>
          </a:p>
          <a:p>
            <a:pPr>
              <a:lnSpc>
                <a:spcPct val="100000"/>
              </a:lnSpc>
              <a:spcAft>
                <a:spcPts val="0"/>
              </a:spcAft>
            </a:pPr>
            <a:r>
              <a:rPr sz="1600" i="1">
                <a:solidFill>
                  <a:srgbClr val="6E8BA0"/>
                </a:solidFill>
                <a:latin typeface="Consolas"/>
              </a:rPr>
              <a:t>! changing, which a pool would not.</a:t>
            </a:r>
          </a:p>
          <a:p>
            <a:pPr>
              <a:lnSpc>
                <a:spcPct val="100000"/>
              </a:lnSpc>
              <a:spcAft>
                <a:spcPts val="0"/>
              </a:spcAft>
            </a:pPr>
            <a:r>
              <a:rPr sz="1600">
                <a:solidFill>
                  <a:srgbClr val="E8EEF2"/>
                </a:solidFill>
                <a:latin typeface="Consolas"/>
              </a:rPr>
              <a:t>ip nat inside source list 1 interface GigabitEthernet0/0/0 overload</a:t>
            </a:r>
          </a:p>
          <a:p>
            <a:pPr>
              <a:lnSpc>
                <a:spcPct val="100000"/>
              </a:lnSpc>
              <a:spcAft>
                <a:spcPts val="0"/>
              </a:spcAft>
            </a:pPr>
            <a:r>
              <a:rPr sz="1600" i="1">
                <a:solidFill>
                  <a:srgbClr val="6E8BA0"/>
                </a:solidFill>
                <a:latin typeface="Consolas"/>
              </a:rPr>
              <a:t>!</a:t>
            </a:r>
          </a:p>
          <a:p>
            <a:pPr>
              <a:lnSpc>
                <a:spcPct val="100000"/>
              </a:lnSpc>
              <a:spcAft>
                <a:spcPts val="0"/>
              </a:spcAft>
            </a:pPr>
            <a:r>
              <a:rPr sz="1600">
                <a:solidFill>
                  <a:srgbClr val="E8EEF2"/>
                </a:solidFill>
                <a:latin typeface="Consolas"/>
              </a:rPr>
              <a:t>interface GigabitEthernet0/0/1</a:t>
            </a:r>
          </a:p>
          <a:p>
            <a:pPr>
              <a:lnSpc>
                <a:spcPct val="100000"/>
              </a:lnSpc>
              <a:spcAft>
                <a:spcPts val="0"/>
              </a:spcAft>
            </a:pPr>
            <a:r>
              <a:rPr sz="1600">
                <a:solidFill>
                  <a:srgbClr val="E8EEF2"/>
                </a:solidFill>
                <a:latin typeface="Consolas"/>
              </a:rPr>
              <a:t> ip nat inside</a:t>
            </a:r>
          </a:p>
          <a:p>
            <a:pPr>
              <a:lnSpc>
                <a:spcPct val="100000"/>
              </a:lnSpc>
              <a:spcAft>
                <a:spcPts val="0"/>
              </a:spcAft>
            </a:pPr>
            <a:r>
              <a:rPr sz="1600" i="1">
                <a:solidFill>
                  <a:srgbClr val="6E8BA0"/>
                </a:solidFill>
                <a:latin typeface="Consolas"/>
              </a:rPr>
              <a:t>!</a:t>
            </a:r>
          </a:p>
          <a:p>
            <a:pPr>
              <a:lnSpc>
                <a:spcPct val="100000"/>
              </a:lnSpc>
              <a:spcAft>
                <a:spcPts val="0"/>
              </a:spcAft>
            </a:pPr>
            <a:r>
              <a:rPr sz="1600">
                <a:solidFill>
                  <a:srgbClr val="E8EEF2"/>
                </a:solidFill>
                <a:latin typeface="Consolas"/>
              </a:rPr>
              <a:t>interface GigabitEthernet0/0/0</a:t>
            </a:r>
          </a:p>
          <a:p>
            <a:pPr>
              <a:lnSpc>
                <a:spcPct val="100000"/>
              </a:lnSpc>
              <a:spcAft>
                <a:spcPts val="0"/>
              </a:spcAft>
            </a:pPr>
            <a:r>
              <a:rPr sz="1600">
                <a:solidFill>
                  <a:srgbClr val="E8EEF2"/>
                </a:solidFill>
                <a:latin typeface="Consolas"/>
              </a:rPr>
              <a:t> ip nat outside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ON THE EXAM</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word overload is the whole difference</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22. NAT and PAT on IOS XE</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4.3</a:t>
            </a:r>
          </a:p>
        </p:txBody>
      </p:sp>
      <p:sp>
        <p:nvSpPr>
          <p:cNvPr id="7" name="icon"/>
          <p:cNvSpPr txBox="1"/>
          <p:nvPr/>
        </p:nvSpPr>
        <p:spPr>
          <a:xfrm>
            <a:off x="685800" y="1517904"/>
            <a:ext cx="10820095" cy="292608"/>
          </a:xfrm>
          <a:prstGeom prst="rect">
            <a:avLst/>
          </a:prstGeom>
          <a:noFill/>
        </p:spPr>
        <p:txBody>
          <a:bodyPr wrap="square" anchor="t" lIns="0" rIns="0" tIns="0" bIns="0">
            <a:spAutoFit/>
          </a:bodyPr>
          <a:lstStyle/>
          <a:p>
            <a:pPr algn="l">
              <a:lnSpc>
                <a:spcPct val="100000"/>
              </a:lnSpc>
              <a:spcAft>
                <a:spcPts val="600"/>
              </a:spcAft>
            </a:pPr>
            <a:r>
              <a:rPr sz="1300" b="1" i="0">
                <a:solidFill>
                  <a:srgbClr val="922B21"/>
                </a:solidFill>
                <a:latin typeface="Segoe UI"/>
              </a:rPr>
              <a:t>This is what the blueprint actually asks for</a:t>
            </a:r>
          </a:p>
        </p:txBody>
      </p:sp>
      <p:sp>
        <p:nvSpPr>
          <p:cNvPr id="8" name="body"/>
          <p:cNvSpPr txBox="1"/>
          <p:nvPr/>
        </p:nvSpPr>
        <p:spPr>
          <a:xfrm>
            <a:off x="685800" y="2267712"/>
            <a:ext cx="10820095" cy="4114800"/>
          </a:xfrm>
          <a:prstGeom prst="rect">
            <a:avLst/>
          </a:prstGeom>
          <a:noFill/>
        </p:spPr>
        <p:txBody>
          <a:bodyPr wrap="square" anchor="t" lIns="0" rIns="0" tIns="0" bIns="0">
            <a:spAutoFit/>
          </a:bodyPr>
          <a:lstStyle/>
          <a:p>
            <a:pPr algn="l">
              <a:lnSpc>
                <a:spcPct val="100000"/>
              </a:lnSpc>
              <a:spcAft>
                <a:spcPts val="1000"/>
              </a:spcAft>
            </a:pPr>
            <a:r>
              <a:rPr sz="1900" b="0" i="0">
                <a:solidFill>
                  <a:srgbClr val="1A5276"/>
                </a:solidFill>
                <a:latin typeface="Consolas"/>
              </a:rPr>
              <a:t>ip nat inside source list 1 pool BRANCH-POOL</a:t>
            </a:r>
            <a:r>
              <a:rPr sz="2000" b="0" i="0">
                <a:solidFill>
                  <a:srgbClr val="1C252B"/>
                </a:solidFill>
                <a:latin typeface="Segoe UI"/>
              </a:rPr>
              <a:t> is dynamic NAT. </a:t>
            </a:r>
            <a:r>
              <a:rPr sz="1900" b="0" i="0">
                <a:solidFill>
                  <a:srgbClr val="1A5276"/>
                </a:solidFill>
                <a:latin typeface="Consolas"/>
              </a:rPr>
              <a:t>ip nat inside source list 1 pool BRANCH-POOL overload</a:t>
            </a:r>
            <a:r>
              <a:rPr sz="2000" b="0" i="0">
                <a:solidFill>
                  <a:srgbClr val="1C252B"/>
                </a:solidFill>
                <a:latin typeface="Segoe UI"/>
              </a:rPr>
              <a:t> is PAT using a pool. </a:t>
            </a:r>
            <a:r>
              <a:rPr sz="1900" b="0" i="0">
                <a:solidFill>
                  <a:srgbClr val="1A5276"/>
                </a:solidFill>
                <a:latin typeface="Consolas"/>
              </a:rPr>
              <a:t>ip nat inside source list 1 interface Gi0/0/0 overload</a:t>
            </a:r>
            <a:r>
              <a:rPr sz="2000" b="0" i="0">
                <a:solidFill>
                  <a:srgbClr val="1C252B"/>
                </a:solidFill>
                <a:latin typeface="Segoe UI"/>
              </a:rPr>
              <a:t> is PAT using the interface address.</a:t>
            </a:r>
          </a:p>
          <a:p>
            <a:pPr algn="l">
              <a:lnSpc>
                <a:spcPct val="100000"/>
              </a:lnSpc>
              <a:spcAft>
                <a:spcPts val="1000"/>
              </a:spcAft>
            </a:pPr>
            <a:r>
              <a:rPr sz="2000" b="0" i="0">
                <a:solidFill>
                  <a:srgbClr val="1C252B"/>
                </a:solidFill>
                <a:latin typeface="Segoe UI"/>
              </a:rPr>
              <a:t>One keyword changes the behaviour from “runs out” to “does not run out”. Exam questions have been built on exactly that keyword being present or absent.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CONFIGURE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100" b="1" i="0">
                <a:solidFill>
                  <a:srgbClr val="1A5276"/>
                </a:solidFill>
                <a:latin typeface="Segoe UI"/>
              </a:rPr>
              <a:t>Publishing two internal services on one public address</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22. NAT and PAT on IOS XE</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4.3</a:t>
            </a:r>
          </a:p>
        </p:txBody>
      </p:sp>
      <p:sp>
        <p:nvSpPr>
          <p:cNvPr id="7" name="codebg"/>
          <p:cNvSpPr/>
          <p:nvPr/>
        </p:nvSpPr>
        <p:spPr>
          <a:xfrm>
            <a:off x="685800" y="1901952"/>
            <a:ext cx="10820095" cy="1881632"/>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IOS  ·  configuration mode</a:t>
            </a:r>
          </a:p>
        </p:txBody>
      </p:sp>
      <p:sp>
        <p:nvSpPr>
          <p:cNvPr id="10" name="code"/>
          <p:cNvSpPr txBox="1"/>
          <p:nvPr/>
        </p:nvSpPr>
        <p:spPr>
          <a:xfrm>
            <a:off x="886968" y="2340864"/>
            <a:ext cx="10417759" cy="1387856"/>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ip nat inside source static tcp 192.168.10.50 80  203.0.113.2 80</a:t>
            </a:r>
          </a:p>
          <a:p>
            <a:pPr>
              <a:lnSpc>
                <a:spcPct val="100000"/>
              </a:lnSpc>
              <a:spcAft>
                <a:spcPts val="0"/>
              </a:spcAft>
            </a:pPr>
            <a:r>
              <a:rPr sz="1600">
                <a:solidFill>
                  <a:srgbClr val="E8EEF2"/>
                </a:solidFill>
                <a:latin typeface="Consolas"/>
              </a:rPr>
              <a:t>ip nat inside source static tcp 192.168.10.60 22  203.0.113.2 2222</a:t>
            </a:r>
          </a:p>
          <a:p>
            <a:pPr>
              <a:lnSpc>
                <a:spcPct val="100000"/>
              </a:lnSpc>
              <a:spcAft>
                <a:spcPts val="0"/>
              </a:spcAft>
            </a:pPr>
            <a:r>
              <a:rPr sz="1600" i="1">
                <a:solidFill>
                  <a:srgbClr val="6E8BA0"/>
                </a:solidFill>
                <a:latin typeface="Consolas"/>
              </a:rPr>
              <a:t>!</a:t>
            </a:r>
          </a:p>
          <a:p>
            <a:pPr>
              <a:lnSpc>
                <a:spcPct val="100000"/>
              </a:lnSpc>
              <a:spcAft>
                <a:spcPts val="0"/>
              </a:spcAft>
            </a:pPr>
            <a:r>
              <a:rPr sz="1600" i="1">
                <a:solidFill>
                  <a:srgbClr val="6E8BA0"/>
                </a:solidFill>
                <a:latin typeface="Consolas"/>
              </a:rPr>
              <a:t>! The second line also changes the port: the outside world connects to</a:t>
            </a:r>
          </a:p>
          <a:p>
            <a:pPr>
              <a:lnSpc>
                <a:spcPct val="100000"/>
              </a:lnSpc>
              <a:spcAft>
                <a:spcPts val="0"/>
              </a:spcAft>
            </a:pPr>
            <a:r>
              <a:rPr sz="1600" i="1">
                <a:solidFill>
                  <a:srgbClr val="6E8BA0"/>
                </a:solidFill>
                <a:latin typeface="Consolas"/>
              </a:rPr>
              <a:t>! 2222 and the internal host still listens on 22.</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2331720"/>
            <a:ext cx="12191695" cy="1828800"/>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heading"/>
          <p:cNvSpPr txBox="1"/>
          <p:nvPr/>
        </p:nvSpPr>
        <p:spPr>
          <a:xfrm>
            <a:off x="685800" y="2670048"/>
            <a:ext cx="9448495" cy="1188720"/>
          </a:xfrm>
          <a:prstGeom prst="rect">
            <a:avLst/>
          </a:prstGeom>
          <a:noFill/>
        </p:spPr>
        <p:txBody>
          <a:bodyPr wrap="square" anchor="ctr" lIns="0" rIns="0" tIns="0" bIns="0">
            <a:spAutoFit/>
          </a:bodyPr>
          <a:lstStyle/>
          <a:p>
            <a:pPr algn="l">
              <a:lnSpc>
                <a:spcPct val="100000"/>
              </a:lnSpc>
              <a:spcAft>
                <a:spcPts val="600"/>
              </a:spcAft>
            </a:pPr>
            <a:r>
              <a:rPr sz="3400" b="1" i="0">
                <a:solidFill>
                  <a:srgbClr val="FFFFFF"/>
                </a:solidFill>
                <a:latin typeface="Segoe UI"/>
              </a:rPr>
              <a:t>Verifying</a:t>
            </a:r>
          </a:p>
        </p:txBody>
      </p:sp>
      <p:pic>
        <p:nvPicPr>
          <p:cNvPr id="4" name="logo-iub-logo-white" descr="iub-logo-white.png"/>
          <p:cNvPicPr>
            <a:picLocks noChangeAspect="1"/>
          </p:cNvPicPr>
          <p:nvPr/>
        </p:nvPicPr>
        <p:blipFill>
          <a:blip r:embed="rId2"/>
          <a:stretch>
            <a:fillRect/>
          </a:stretch>
        </p:blipFill>
        <p:spPr>
          <a:xfrm>
            <a:off x="10343500" y="2670048"/>
            <a:ext cx="1162394" cy="1152144"/>
          </a:xfrm>
          <a:prstGeom prst="rect">
            <a:avLst/>
          </a:prstGeom>
        </p:spPr>
      </p:pic>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22. NAT and PAT on IOS XE</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4.3</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VERIFY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show ip nat translations</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22. NAT and PAT on IOS XE</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4.3</a:t>
            </a:r>
          </a:p>
        </p:txBody>
      </p:sp>
      <p:sp>
        <p:nvSpPr>
          <p:cNvPr id="7" name="codebg"/>
          <p:cNvSpPr/>
          <p:nvPr/>
        </p:nvSpPr>
        <p:spPr>
          <a:xfrm>
            <a:off x="685800" y="1901952"/>
            <a:ext cx="10820095" cy="1629664"/>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R1#</a:t>
            </a:r>
          </a:p>
        </p:txBody>
      </p:sp>
      <p:sp>
        <p:nvSpPr>
          <p:cNvPr id="10" name="code"/>
          <p:cNvSpPr txBox="1"/>
          <p:nvPr/>
        </p:nvSpPr>
        <p:spPr>
          <a:xfrm>
            <a:off x="886968" y="2340864"/>
            <a:ext cx="10417759" cy="1135888"/>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Pro  Inside global        Inside local         Outside local        Outside global</a:t>
            </a:r>
          </a:p>
          <a:p>
            <a:pPr>
              <a:lnSpc>
                <a:spcPct val="100000"/>
              </a:lnSpc>
              <a:spcAft>
                <a:spcPts val="0"/>
              </a:spcAft>
            </a:pPr>
            <a:r>
              <a:rPr sz="1600">
                <a:solidFill>
                  <a:srgbClr val="E8EEF2"/>
                </a:solidFill>
                <a:latin typeface="Consolas"/>
              </a:rPr>
              <a:t>tcp  203.0.113.2:1055     192.168.10.5:1055    198.51.100.7:80      198.51.100.7:80</a:t>
            </a:r>
          </a:p>
          <a:p>
            <a:pPr>
              <a:lnSpc>
                <a:spcPct val="100000"/>
              </a:lnSpc>
              <a:spcAft>
                <a:spcPts val="0"/>
              </a:spcAft>
            </a:pPr>
            <a:r>
              <a:rPr sz="1600">
                <a:solidFill>
                  <a:srgbClr val="E8EEF2"/>
                </a:solidFill>
                <a:latin typeface="Consolas"/>
              </a:rPr>
              <a:t>tcp  203.0.113.2:1056     192.168.10.6:1055    198.51.100.7:80      198.51.100.7:80</a:t>
            </a:r>
          </a:p>
          <a:p>
            <a:pPr>
              <a:lnSpc>
                <a:spcPct val="100000"/>
              </a:lnSpc>
              <a:spcAft>
                <a:spcPts val="0"/>
              </a:spcAft>
            </a:pPr>
            <a:r>
              <a:rPr sz="1600">
                <a:solidFill>
                  <a:srgbClr val="E8EEF2"/>
                </a:solidFill>
                <a:latin typeface="Consolas"/>
              </a:rPr>
              <a:t>tcp  203.0.113.2:80       192.168.10.50:80     ---                  ---</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VERIFY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show ip nat statistics</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22. NAT and PAT on IOS XE</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4.3</a:t>
            </a:r>
          </a:p>
        </p:txBody>
      </p:sp>
      <p:sp>
        <p:nvSpPr>
          <p:cNvPr id="7" name="codebg"/>
          <p:cNvSpPr/>
          <p:nvPr/>
        </p:nvSpPr>
        <p:spPr>
          <a:xfrm>
            <a:off x="685800" y="1901952"/>
            <a:ext cx="10820095" cy="3393440"/>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R1#</a:t>
            </a:r>
          </a:p>
        </p:txBody>
      </p:sp>
      <p:sp>
        <p:nvSpPr>
          <p:cNvPr id="10" name="code"/>
          <p:cNvSpPr txBox="1"/>
          <p:nvPr/>
        </p:nvSpPr>
        <p:spPr>
          <a:xfrm>
            <a:off x="886968" y="2340864"/>
            <a:ext cx="10417759" cy="2899664"/>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Total active translations: 3 (1 static, 2 dynamic; 2 extended)</a:t>
            </a:r>
          </a:p>
          <a:p>
            <a:pPr>
              <a:lnSpc>
                <a:spcPct val="100000"/>
              </a:lnSpc>
              <a:spcAft>
                <a:spcPts val="0"/>
              </a:spcAft>
            </a:pPr>
            <a:r>
              <a:rPr sz="1600">
                <a:solidFill>
                  <a:srgbClr val="E8EEF2"/>
                </a:solidFill>
                <a:latin typeface="Consolas"/>
              </a:rPr>
              <a:t>Peak translations: 412, occurred 00:31:09 ago</a:t>
            </a:r>
          </a:p>
          <a:p>
            <a:pPr>
              <a:lnSpc>
                <a:spcPct val="100000"/>
              </a:lnSpc>
              <a:spcAft>
                <a:spcPts val="0"/>
              </a:spcAft>
            </a:pPr>
            <a:r>
              <a:rPr sz="1600">
                <a:solidFill>
                  <a:srgbClr val="E8EEF2"/>
                </a:solidFill>
                <a:latin typeface="Consolas"/>
              </a:rPr>
              <a:t>Outside interfaces:</a:t>
            </a:r>
          </a:p>
          <a:p>
            <a:pPr>
              <a:lnSpc>
                <a:spcPct val="100000"/>
              </a:lnSpc>
              <a:spcAft>
                <a:spcPts val="0"/>
              </a:spcAft>
            </a:pPr>
            <a:r>
              <a:rPr sz="1600">
                <a:solidFill>
                  <a:srgbClr val="E8EEF2"/>
                </a:solidFill>
                <a:latin typeface="Consolas"/>
              </a:rPr>
              <a:t>  GigabitEthernet0/0/0</a:t>
            </a:r>
          </a:p>
          <a:p>
            <a:pPr>
              <a:lnSpc>
                <a:spcPct val="100000"/>
              </a:lnSpc>
              <a:spcAft>
                <a:spcPts val="0"/>
              </a:spcAft>
            </a:pPr>
            <a:r>
              <a:rPr sz="1600">
                <a:solidFill>
                  <a:srgbClr val="E8EEF2"/>
                </a:solidFill>
                <a:latin typeface="Consolas"/>
              </a:rPr>
              <a:t>Inside interfaces:</a:t>
            </a:r>
          </a:p>
          <a:p>
            <a:pPr>
              <a:lnSpc>
                <a:spcPct val="100000"/>
              </a:lnSpc>
              <a:spcAft>
                <a:spcPts val="0"/>
              </a:spcAft>
            </a:pPr>
            <a:r>
              <a:rPr sz="1600">
                <a:solidFill>
                  <a:srgbClr val="E8EEF2"/>
                </a:solidFill>
                <a:latin typeface="Consolas"/>
              </a:rPr>
              <a:t>  GigabitEthernet0/0/1</a:t>
            </a:r>
          </a:p>
          <a:p>
            <a:pPr>
              <a:lnSpc>
                <a:spcPct val="100000"/>
              </a:lnSpc>
              <a:spcAft>
                <a:spcPts val="0"/>
              </a:spcAft>
            </a:pPr>
            <a:r>
              <a:rPr sz="1600">
                <a:solidFill>
                  <a:srgbClr val="E8EEF2"/>
                </a:solidFill>
                <a:latin typeface="Consolas"/>
              </a:rPr>
              <a:t>Hits: 20481  Misses: 0</a:t>
            </a:r>
          </a:p>
          <a:p>
            <a:pPr>
              <a:lnSpc>
                <a:spcPct val="100000"/>
              </a:lnSpc>
              <a:spcAft>
                <a:spcPts val="0"/>
              </a:spcAft>
            </a:pPr>
            <a:r>
              <a:rPr sz="1600">
                <a:solidFill>
                  <a:srgbClr val="E8EEF2"/>
                </a:solidFill>
                <a:latin typeface="Consolas"/>
              </a:rPr>
              <a:t>Expired translations: 1173</a:t>
            </a:r>
          </a:p>
          <a:p>
            <a:pPr>
              <a:lnSpc>
                <a:spcPct val="100000"/>
              </a:lnSpc>
              <a:spcAft>
                <a:spcPts val="0"/>
              </a:spcAft>
            </a:pPr>
            <a:r>
              <a:rPr sz="1600">
                <a:solidFill>
                  <a:srgbClr val="E8EEF2"/>
                </a:solidFill>
                <a:latin typeface="Consolas"/>
              </a:rPr>
              <a:t>Dynamic mappings:</a:t>
            </a:r>
          </a:p>
          <a:p>
            <a:pPr>
              <a:lnSpc>
                <a:spcPct val="100000"/>
              </a:lnSpc>
              <a:spcAft>
                <a:spcPts val="0"/>
              </a:spcAft>
            </a:pPr>
            <a:r>
              <a:rPr sz="1600">
                <a:solidFill>
                  <a:srgbClr val="E8EEF2"/>
                </a:solidFill>
                <a:latin typeface="Consolas"/>
              </a:rPr>
              <a:t>-- Inside Source</a:t>
            </a:r>
          </a:p>
          <a:p>
            <a:pPr>
              <a:lnSpc>
                <a:spcPct val="100000"/>
              </a:lnSpc>
              <a:spcAft>
                <a:spcPts val="0"/>
              </a:spcAft>
            </a:pPr>
            <a:r>
              <a:rPr sz="1600">
                <a:solidFill>
                  <a:srgbClr val="E8EEF2"/>
                </a:solidFill>
                <a:latin typeface="Consolas"/>
              </a:rPr>
              <a:t>[Id: 1] access-list 1 interface GigabitEthernet0/0/0 refcount 2</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CONCEPT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three lines to read first when NAT is broken</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22. NAT and PAT on IOS XE</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4.3</a:t>
            </a:r>
          </a:p>
        </p:txBody>
      </p:sp>
      <p:sp>
        <p:nvSpPr>
          <p:cNvPr id="7" name="tint"/>
          <p:cNvSpPr/>
          <p:nvPr/>
        </p:nvSpPr>
        <p:spPr>
          <a:xfrm>
            <a:off x="685800" y="1517904"/>
            <a:ext cx="10820095" cy="3436111"/>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ullets"/>
          <p:cNvSpPr txBox="1"/>
          <p:nvPr/>
        </p:nvSpPr>
        <p:spPr>
          <a:xfrm>
            <a:off x="978408" y="1737360"/>
            <a:ext cx="10234879" cy="4645152"/>
          </a:xfrm>
          <a:prstGeom prst="rect">
            <a:avLst/>
          </a:prstGeom>
          <a:noFill/>
        </p:spPr>
        <p:txBody>
          <a:bodyPr wrap="square" lIns="0" rIns="0" tIns="0" bIns="0">
            <a:spAutoFit/>
          </a:bodyPr>
          <a:lstStyle/>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Inside interfaces / Outside interfaces.</a:t>
            </a:r>
            <a:r>
              <a:rPr sz="2000" b="0" i="0">
                <a:solidFill>
                  <a:srgbClr val="1C252B"/>
                </a:solidFill>
                <a:latin typeface="Segoe UI"/>
              </a:rPr>
              <a:t> If either list is empty, stop. Nothing else matters until both are populated.</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Misses.</a:t>
            </a:r>
            <a:r>
              <a:rPr sz="2000" b="0" i="0">
                <a:solidFill>
                  <a:srgbClr val="1C252B"/>
                </a:solidFill>
                <a:latin typeface="Segoe UI"/>
              </a:rPr>
              <a:t> A non-zero and rising miss count on a dynamic mapping means packets arrived wanting translation and did not get one — an exhausted pool, or an ACL that did not match.</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Dynamic mappings.</a:t>
            </a:r>
            <a:r>
              <a:rPr sz="2000" b="0" i="0">
                <a:solidFill>
                  <a:srgbClr val="1C252B"/>
                </a:solidFill>
                <a:latin typeface="Segoe UI"/>
              </a:rPr>
              <a:t> Confirms which ACL and which pool or interface are actually in force, which is not always the one you think you configured.</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2331720"/>
            <a:ext cx="12191695" cy="1828800"/>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heading"/>
          <p:cNvSpPr txBox="1"/>
          <p:nvPr/>
        </p:nvSpPr>
        <p:spPr>
          <a:xfrm>
            <a:off x="685800" y="2670048"/>
            <a:ext cx="9448495" cy="1188720"/>
          </a:xfrm>
          <a:prstGeom prst="rect">
            <a:avLst/>
          </a:prstGeom>
          <a:noFill/>
        </p:spPr>
        <p:txBody>
          <a:bodyPr wrap="square" anchor="ctr" lIns="0" rIns="0" tIns="0" bIns="0">
            <a:spAutoFit/>
          </a:bodyPr>
          <a:lstStyle/>
          <a:p>
            <a:pPr algn="l">
              <a:lnSpc>
                <a:spcPct val="100000"/>
              </a:lnSpc>
              <a:spcAft>
                <a:spcPts val="600"/>
              </a:spcAft>
            </a:pPr>
            <a:r>
              <a:rPr sz="3300" b="1" i="0">
                <a:solidFill>
                  <a:srgbClr val="FFFFFF"/>
                </a:solidFill>
                <a:latin typeface="Segoe UI"/>
              </a:rPr>
              <a:t>Order of operations, and why it catches people</a:t>
            </a:r>
          </a:p>
        </p:txBody>
      </p:sp>
      <p:pic>
        <p:nvPicPr>
          <p:cNvPr id="4" name="logo-iub-logo-white" descr="iub-logo-white.png"/>
          <p:cNvPicPr>
            <a:picLocks noChangeAspect="1"/>
          </p:cNvPicPr>
          <p:nvPr/>
        </p:nvPicPr>
        <p:blipFill>
          <a:blip r:embed="rId2"/>
          <a:stretch>
            <a:fillRect/>
          </a:stretch>
        </p:blipFill>
        <p:spPr>
          <a:xfrm>
            <a:off x="10343500" y="2670048"/>
            <a:ext cx="1162394" cy="1152144"/>
          </a:xfrm>
          <a:prstGeom prst="rect">
            <a:avLst/>
          </a:prstGeom>
        </p:spPr>
      </p:pic>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22. NAT and PAT on IOS XE</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4.3</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WATCH OUT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consequence you will be asked about</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22. NAT and PAT on IOS XE</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4.3</a:t>
            </a:r>
          </a:p>
        </p:txBody>
      </p:sp>
      <p:sp>
        <p:nvSpPr>
          <p:cNvPr id="7" name="body"/>
          <p:cNvSpPr txBox="1"/>
          <p:nvPr/>
        </p:nvSpPr>
        <p:spPr>
          <a:xfrm>
            <a:off x="685800" y="1901952"/>
            <a:ext cx="10820095" cy="4480560"/>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An inbound ACL on the </a:t>
            </a:r>
            <a:r>
              <a:rPr sz="2000" b="0" i="1">
                <a:solidFill>
                  <a:srgbClr val="1C252B"/>
                </a:solidFill>
                <a:latin typeface="Segoe UI"/>
              </a:rPr>
              <a:t>outside</a:t>
            </a:r>
            <a:r>
              <a:rPr sz="2000" b="0" i="0">
                <a:solidFill>
                  <a:srgbClr val="1C252B"/>
                </a:solidFill>
                <a:latin typeface="Segoe UI"/>
              </a:rPr>
              <a:t> interface is evaluated </a:t>
            </a:r>
            <a:r>
              <a:rPr sz="2000" b="1" i="0">
                <a:solidFill>
                  <a:srgbClr val="1C252B"/>
                </a:solidFill>
                <a:latin typeface="Segoe UI"/>
              </a:rPr>
              <a:t>before</a:t>
            </a:r>
            <a:r>
              <a:rPr sz="2000" b="0" i="0">
                <a:solidFill>
                  <a:srgbClr val="1C252B"/>
                </a:solidFill>
                <a:latin typeface="Segoe UI"/>
              </a:rPr>
              <a:t> the packet is un-translated. So it sees the </a:t>
            </a:r>
            <a:r>
              <a:rPr sz="2000" b="0" i="1">
                <a:solidFill>
                  <a:srgbClr val="1C252B"/>
                </a:solidFill>
                <a:latin typeface="Segoe UI"/>
              </a:rPr>
              <a:t>inside global</a:t>
            </a:r>
            <a:r>
              <a:rPr sz="2000" b="0" i="0">
                <a:solidFill>
                  <a:srgbClr val="1C252B"/>
                </a:solidFill>
                <a:latin typeface="Segoe UI"/>
              </a:rPr>
              <a:t> address — </a:t>
            </a:r>
            <a:r>
              <a:rPr sz="1900" b="0" i="0">
                <a:solidFill>
                  <a:srgbClr val="1A5276"/>
                </a:solidFill>
                <a:latin typeface="Consolas"/>
              </a:rPr>
              <a:t>203.0.113.50</a:t>
            </a:r>
            <a:r>
              <a:rPr sz="2000" b="0" i="0">
                <a:solidFill>
                  <a:srgbClr val="1C252B"/>
                </a:solidFill>
                <a:latin typeface="Segoe UI"/>
              </a:rPr>
              <a:t> — and not the private one. An ACL written against </a:t>
            </a:r>
            <a:r>
              <a:rPr sz="1900" b="0" i="0">
                <a:solidFill>
                  <a:srgbClr val="1A5276"/>
                </a:solidFill>
                <a:latin typeface="Consolas"/>
              </a:rPr>
              <a:t>192.168.10.50</a:t>
            </a:r>
            <a:r>
              <a:rPr sz="2000" b="0" i="0">
                <a:solidFill>
                  <a:srgbClr val="1C252B"/>
                </a:solidFill>
                <a:latin typeface="Segoe UI"/>
              </a:rPr>
              <a:t> on that interface will never match anything.</a:t>
            </a:r>
          </a:p>
          <a:p>
            <a:pPr algn="l">
              <a:lnSpc>
                <a:spcPct val="100000"/>
              </a:lnSpc>
              <a:spcAft>
                <a:spcPts val="1000"/>
              </a:spcAft>
            </a:pPr>
            <a:r>
              <a:rPr sz="2000" b="0" i="0">
                <a:solidFill>
                  <a:srgbClr val="1C252B"/>
                </a:solidFill>
                <a:latin typeface="Segoe UI"/>
              </a:rPr>
              <a:t>An inbound ACL on the </a:t>
            </a:r>
            <a:r>
              <a:rPr sz="2000" b="0" i="1">
                <a:solidFill>
                  <a:srgbClr val="1C252B"/>
                </a:solidFill>
                <a:latin typeface="Segoe UI"/>
              </a:rPr>
              <a:t>inside</a:t>
            </a:r>
            <a:r>
              <a:rPr sz="2000" b="0" i="0">
                <a:solidFill>
                  <a:srgbClr val="1C252B"/>
                </a:solidFill>
                <a:latin typeface="Segoe UI"/>
              </a:rPr>
              <a:t> interface is evaluated before translation too, so it sees the private address. Same rule, opposite result: </a:t>
            </a:r>
            <a:r>
              <a:rPr sz="2000" b="1" i="0">
                <a:solidFill>
                  <a:srgbClr val="1C252B"/>
                </a:solidFill>
                <a:latin typeface="Segoe UI"/>
              </a:rPr>
              <a:t>ACLs always see the address that is on the wire at the interface they are attached to.</a:t>
            </a:r>
            <a:r>
              <a:rPr sz="2000" b="0" i="0">
                <a:solidFill>
                  <a:srgbClr val="1C252B"/>
                </a:solidFill>
                <a:latin typeface="Segoe UI"/>
              </a:rPr>
              <a:t> If you can hold on to that sentence you never need to memorise the table.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COMMON PITFALLS  ·  Order of operations, and why it catches people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Common pitfalls</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22. NAT and PAT on IOS XE</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4.3</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No </a:t>
            </a:r>
            <a:r>
              <a:rPr sz="1900" b="1" i="0">
                <a:solidFill>
                  <a:srgbClr val="1A5276"/>
                </a:solidFill>
                <a:latin typeface="Consolas"/>
              </a:rPr>
              <a:t>ip nat inside</a:t>
            </a:r>
            <a:r>
              <a:rPr sz="2000" b="1" i="0">
                <a:solidFill>
                  <a:srgbClr val="1C252B"/>
                </a:solidFill>
                <a:latin typeface="Segoe UI"/>
              </a:rPr>
              <a:t> / </a:t>
            </a:r>
            <a:r>
              <a:rPr sz="1900" b="1" i="0">
                <a:solidFill>
                  <a:srgbClr val="1A5276"/>
                </a:solidFill>
                <a:latin typeface="Consolas"/>
              </a:rPr>
              <a:t>ip nat outside</a:t>
            </a:r>
            <a:r>
              <a:rPr sz="2000" b="1" i="0">
                <a:solidFill>
                  <a:srgbClr val="1C252B"/>
                </a:solidFill>
                <a:latin typeface="Segoe UI"/>
              </a:rPr>
              <a:t>.</a:t>
            </a:r>
            <a:r>
              <a:rPr sz="2000" b="0" i="0">
                <a:solidFill>
                  <a:srgbClr val="1C252B"/>
                </a:solidFill>
                <a:latin typeface="Segoe UI"/>
              </a:rPr>
              <a:t> The single most common NAT fault. The translation rule is present, the interfaces are not marked, and nothing happens.</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Marking the wrong interface as inside.</a:t>
            </a:r>
            <a:r>
              <a:rPr sz="2000" b="0" i="0">
                <a:solidFill>
                  <a:srgbClr val="1C252B"/>
                </a:solidFill>
                <a:latin typeface="Segoe UI"/>
              </a:rPr>
              <a:t> On a router with several LANs, only the marked ones are translated.</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A </a:t>
            </a:r>
            <a:r>
              <a:rPr sz="1900" b="1" i="0">
                <a:solidFill>
                  <a:srgbClr val="1A5276"/>
                </a:solidFill>
                <a:latin typeface="Consolas"/>
              </a:rPr>
              <a:t>permit ip any any</a:t>
            </a:r>
            <a:r>
              <a:rPr sz="2000" b="1" i="0">
                <a:solidFill>
                  <a:srgbClr val="1C252B"/>
                </a:solidFill>
                <a:latin typeface="Segoe UI"/>
              </a:rPr>
              <a:t> ACL used to select NAT traffic.</a:t>
            </a:r>
            <a:r>
              <a:rPr sz="2000" b="0" i="0">
                <a:solidFill>
                  <a:srgbClr val="1C252B"/>
                </a:solidFill>
                <a:latin typeface="Segoe UI"/>
              </a:rPr>
              <a:t> It will translate traffic destined for other internal subnets too, breaking internal routing in ways that look like a routing fault.</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Forgetting </a:t>
            </a:r>
            <a:r>
              <a:rPr sz="1900" b="1" i="0">
                <a:solidFill>
                  <a:srgbClr val="1A5276"/>
                </a:solidFill>
                <a:latin typeface="Consolas"/>
              </a:rPr>
              <a:t>overload</a:t>
            </a:r>
            <a:r>
              <a:rPr sz="2000" b="1" i="0">
                <a:solidFill>
                  <a:srgbClr val="1C252B"/>
                </a:solidFill>
                <a:latin typeface="Segoe UI"/>
              </a:rPr>
              <a:t>.</a:t>
            </a:r>
            <a:r>
              <a:rPr sz="2000" b="0" i="0">
                <a:solidFill>
                  <a:srgbClr val="1C252B"/>
                </a:solidFill>
                <a:latin typeface="Segoe UI"/>
              </a:rPr>
              <a:t> Works for the first few users and then does not.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COMMON PITFALLS  ·  Order of operations, and why it catches people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Common pitfalls (continued)</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22. NAT and PAT on IOS XE</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4.3</a:t>
            </a:r>
          </a:p>
        </p:txBody>
      </p:sp>
      <p:sp>
        <p:nvSpPr>
          <p:cNvPr id="7" name="bullets"/>
          <p:cNvSpPr txBox="1"/>
          <p:nvPr/>
        </p:nvSpPr>
        <p:spPr>
          <a:xfrm>
            <a:off x="685800" y="1901952"/>
            <a:ext cx="10820095" cy="4480560"/>
          </a:xfrm>
          <a:prstGeom prst="rect">
            <a:avLst/>
          </a:prstGeom>
          <a:noFill/>
        </p:spPr>
        <p:txBody>
          <a:bodyPr wrap="square" lIns="0" rIns="0" tIns="0" bIns="0">
            <a:spAutoFit/>
          </a:bodyPr>
          <a:lstStyle/>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Expecting to ping the inside global address from inside.</a:t>
            </a:r>
            <a:r>
              <a:rPr sz="2000" b="0" i="0">
                <a:solidFill>
                  <a:srgbClr val="1C252B"/>
                </a:solidFill>
                <a:latin typeface="Segoe UI"/>
              </a:rPr>
              <a:t> It usually does not work, and it does not mean NAT is broken. Test from outside.</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Editing a rule without clearing translations.</a:t>
            </a:r>
            <a:r>
              <a:rPr sz="2000" b="0" i="0">
                <a:solidFill>
                  <a:srgbClr val="1C252B"/>
                </a:solidFill>
                <a:latin typeface="Segoe UI"/>
              </a:rPr>
              <a:t> Existing entries persist. </a:t>
            </a:r>
            <a:r>
              <a:rPr sz="1900" b="0" i="0">
                <a:solidFill>
                  <a:srgbClr val="1A5276"/>
                </a:solidFill>
                <a:latin typeface="Consolas"/>
              </a:rPr>
              <a:t>clear ip nat translation *</a:t>
            </a:r>
            <a:r>
              <a:rPr sz="2000" b="0" i="0">
                <a:solidFill>
                  <a:srgbClr val="1C252B"/>
                </a:solidFill>
                <a:latin typeface="Segoe UI"/>
              </a:rPr>
              <a:t> after every change, or you are testing the old configuration.</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Using an ACL number twice.</a:t>
            </a:r>
            <a:r>
              <a:rPr sz="2000" b="0" i="0">
                <a:solidFill>
                  <a:srgbClr val="1C252B"/>
                </a:solidFill>
                <a:latin typeface="Segoe UI"/>
              </a:rPr>
              <a:t> The NAT selection ACL and a filtering ACL with the same number are the same ACL.</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SYMPTOM</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22</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1900" b="1" i="0">
                <a:solidFill>
                  <a:srgbClr val="1C252B"/>
                </a:solidFill>
                <a:latin typeface="Segoe UI"/>
              </a:rPr>
              <a:t>NAT is configured, the translation table is empty, and internal hosts cannot reach the internet.</a:t>
            </a:r>
          </a:p>
        </p:txBody>
      </p:sp>
      <p:sp>
        <p:nvSpPr>
          <p:cNvPr id="6" name="bfbody"/>
          <p:cNvSpPr txBox="1"/>
          <p:nvPr/>
        </p:nvSpPr>
        <p:spPr>
          <a:xfrm>
            <a:off x="685800" y="2130552"/>
            <a:ext cx="10820095" cy="4224528"/>
          </a:xfrm>
          <a:prstGeom prst="rect">
            <a:avLst/>
          </a:prstGeom>
          <a:noFill/>
        </p:spPr>
        <p:txBody>
          <a:bodyPr wrap="square" anchor="t" lIns="0" rIns="0" tIns="0" bIns="0">
            <a:spAutoFit/>
          </a:bodyPr>
          <a:lstStyle/>
          <a:p>
            <a:pPr algn="l">
              <a:lnSpc>
                <a:spcPct val="100000"/>
              </a:lnSpc>
              <a:spcAft>
                <a:spcPts val="1000"/>
              </a:spcAft>
            </a:pPr>
            <a:r>
              <a:rPr sz="1800" b="0" i="0">
                <a:solidFill>
                  <a:srgbClr val="1A5276"/>
                </a:solidFill>
                <a:latin typeface="Consolas"/>
              </a:rPr>
              <a:t>R1</a:t>
            </a:r>
            <a:r>
              <a:rPr sz="1900" b="0" i="0">
                <a:solidFill>
                  <a:srgbClr val="1C252B"/>
                </a:solidFill>
                <a:latin typeface="Segoe UI"/>
              </a:rPr>
              <a:t> has a default route, can ping its ISP next hop, and can ping </a:t>
            </a:r>
            <a:r>
              <a:rPr sz="1800" b="0" i="0">
                <a:solidFill>
                  <a:srgbClr val="1A5276"/>
                </a:solidFill>
                <a:latin typeface="Consolas"/>
              </a:rPr>
              <a:t>8.8.8.8</a:t>
            </a:r>
            <a:r>
              <a:rPr sz="1900" b="0" i="0">
                <a:solidFill>
                  <a:srgbClr val="1C252B"/>
                </a:solidFill>
                <a:latin typeface="Segoe UI"/>
              </a:rPr>
              <a:t> from its own CLI. Internal hosts can ping </a:t>
            </a:r>
            <a:r>
              <a:rPr sz="1800" b="0" i="0">
                <a:solidFill>
                  <a:srgbClr val="1A5276"/>
                </a:solidFill>
                <a:latin typeface="Consolas"/>
              </a:rPr>
              <a:t>R1</a:t>
            </a:r>
            <a:r>
              <a:rPr sz="1900" b="0" i="0">
                <a:solidFill>
                  <a:srgbClr val="1C252B"/>
                </a:solidFill>
                <a:latin typeface="Segoe UI"/>
              </a:rPr>
              <a:t>’s LAN interface but nothing beyond it. </a:t>
            </a:r>
            <a:r>
              <a:rPr sz="1800" b="0" i="0">
                <a:solidFill>
                  <a:srgbClr val="1A5276"/>
                </a:solidFill>
                <a:latin typeface="Consolas"/>
              </a:rPr>
              <a:t>show ip nat translations</a:t>
            </a:r>
            <a:r>
              <a:rPr sz="1900" b="0" i="0">
                <a:solidFill>
                  <a:srgbClr val="1C252B"/>
                </a:solidFill>
                <a:latin typeface="Segoe UI"/>
              </a:rPr>
              <a:t> returns nothing at all.</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22. NAT and PAT on IOS XE</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4.3</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YOUR MOVE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22</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1900" b="1" i="0">
                <a:solidFill>
                  <a:srgbClr val="1C252B"/>
                </a:solidFill>
                <a:latin typeface="Segoe UI"/>
              </a:rPr>
              <a:t>NAT is configured, the translation table is empty, and internal hosts cannot reach the internet.</a:t>
            </a:r>
          </a:p>
        </p:txBody>
      </p:sp>
      <p:sp>
        <p:nvSpPr>
          <p:cNvPr id="6" name="promptbg"/>
          <p:cNvSpPr/>
          <p:nvPr/>
        </p:nvSpPr>
        <p:spPr>
          <a:xfrm>
            <a:off x="685800" y="2939796"/>
            <a:ext cx="10820095" cy="84124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rompt"/>
          <p:cNvSpPr txBox="1"/>
          <p:nvPr/>
        </p:nvSpPr>
        <p:spPr>
          <a:xfrm>
            <a:off x="960120" y="3140964"/>
            <a:ext cx="10271455" cy="475488"/>
          </a:xfrm>
          <a:prstGeom prst="rect">
            <a:avLst/>
          </a:prstGeom>
          <a:noFill/>
        </p:spPr>
        <p:txBody>
          <a:bodyPr wrap="square" anchor="t" lIns="0" rIns="0" tIns="0" bIns="0">
            <a:spAutoFit/>
          </a:bodyPr>
          <a:lstStyle/>
          <a:p>
            <a:pPr algn="ctr">
              <a:lnSpc>
                <a:spcPct val="100000"/>
              </a:lnSpc>
              <a:spcAft>
                <a:spcPts val="600"/>
              </a:spcAft>
            </a:pPr>
            <a:r>
              <a:rPr sz="2200" b="1" i="0">
                <a:solidFill>
                  <a:srgbClr val="1A5276"/>
                </a:solidFill>
                <a:latin typeface="Segoe UI"/>
              </a:rPr>
              <a:t>What would you check first — and what do you expect to see?</a:t>
            </a:r>
          </a:p>
        </p:txBody>
      </p:sp>
      <p:sp>
        <p:nvSpPr>
          <p:cNvPr id="8"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22. NAT and PAT on IOS XE</a:t>
            </a:r>
          </a:p>
        </p:txBody>
      </p:sp>
      <p:sp>
        <p:nvSpPr>
          <p:cNvPr id="9"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4.3</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EVIDENCE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22</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show run | include ip nat</a:t>
            </a:r>
          </a:p>
        </p:txBody>
      </p:sp>
      <p:sp>
        <p:nvSpPr>
          <p:cNvPr id="6" name="bfcodebg"/>
          <p:cNvSpPr/>
          <p:nvPr/>
        </p:nvSpPr>
        <p:spPr>
          <a:xfrm>
            <a:off x="685800" y="2011680"/>
            <a:ext cx="10820095" cy="1075944"/>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fcodebar"/>
          <p:cNvSpPr/>
          <p:nvPr/>
        </p:nvSpPr>
        <p:spPr>
          <a:xfrm>
            <a:off x="685800" y="2011680"/>
            <a:ext cx="10820095" cy="329184"/>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fcodettl"/>
          <p:cNvSpPr txBox="1"/>
          <p:nvPr/>
        </p:nvSpPr>
        <p:spPr>
          <a:xfrm>
            <a:off x="886968" y="2057400"/>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R1#</a:t>
            </a:r>
          </a:p>
        </p:txBody>
      </p:sp>
      <p:sp>
        <p:nvSpPr>
          <p:cNvPr id="9" name="bfcode"/>
          <p:cNvSpPr txBox="1"/>
          <p:nvPr/>
        </p:nvSpPr>
        <p:spPr>
          <a:xfrm>
            <a:off x="886968" y="2432304"/>
            <a:ext cx="10417759" cy="600456"/>
          </a:xfrm>
          <a:prstGeom prst="rect">
            <a:avLst/>
          </a:prstGeom>
          <a:noFill/>
        </p:spPr>
        <p:txBody>
          <a:bodyPr wrap="none" lIns="0" rIns="0" tIns="0" bIns="0">
            <a:spAutoFit/>
          </a:bodyPr>
          <a:lstStyle/>
          <a:p>
            <a:pPr>
              <a:lnSpc>
                <a:spcPct val="100000"/>
              </a:lnSpc>
              <a:spcAft>
                <a:spcPts val="0"/>
              </a:spcAft>
            </a:pPr>
            <a:r>
              <a:rPr sz="1500">
                <a:solidFill>
                  <a:srgbClr val="E8EEF2"/>
                </a:solidFill>
                <a:latin typeface="Consolas"/>
              </a:rPr>
              <a:t>ip nat inside source list 1 interface GigabitEthernet0/0/0 overload</a:t>
            </a:r>
          </a:p>
          <a:p>
            <a:pPr>
              <a:lnSpc>
                <a:spcPct val="100000"/>
              </a:lnSpc>
              <a:spcAft>
                <a:spcPts val="0"/>
              </a:spcAft>
            </a:pPr>
            <a:r>
              <a:rPr sz="1500">
                <a:solidFill>
                  <a:srgbClr val="E8EEF2"/>
                </a:solidFill>
                <a:latin typeface="Consolas"/>
              </a:rPr>
              <a:t> ip nat inside</a:t>
            </a:r>
          </a:p>
        </p:txBody>
      </p:sp>
      <p:sp>
        <p:nvSpPr>
          <p:cNvPr id="10"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22. NAT and PAT on IOS XE</a:t>
            </a:r>
          </a:p>
        </p:txBody>
      </p:sp>
      <p:sp>
        <p:nvSpPr>
          <p:cNvPr id="11"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4.3</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EVIDENCE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22</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show ip nat statistics</a:t>
            </a:r>
          </a:p>
        </p:txBody>
      </p:sp>
      <p:sp>
        <p:nvSpPr>
          <p:cNvPr id="6" name="bfcodebg"/>
          <p:cNvSpPr/>
          <p:nvPr/>
        </p:nvSpPr>
        <p:spPr>
          <a:xfrm>
            <a:off x="685800" y="2011680"/>
            <a:ext cx="10820095" cy="1784604"/>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fcodebar"/>
          <p:cNvSpPr/>
          <p:nvPr/>
        </p:nvSpPr>
        <p:spPr>
          <a:xfrm>
            <a:off x="685800" y="2011680"/>
            <a:ext cx="10820095" cy="329184"/>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fcodettl"/>
          <p:cNvSpPr txBox="1"/>
          <p:nvPr/>
        </p:nvSpPr>
        <p:spPr>
          <a:xfrm>
            <a:off x="886968" y="2057400"/>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R1#</a:t>
            </a:r>
          </a:p>
        </p:txBody>
      </p:sp>
      <p:sp>
        <p:nvSpPr>
          <p:cNvPr id="9" name="bfcode"/>
          <p:cNvSpPr txBox="1"/>
          <p:nvPr/>
        </p:nvSpPr>
        <p:spPr>
          <a:xfrm>
            <a:off x="886968" y="2432304"/>
            <a:ext cx="10417759" cy="1309116"/>
          </a:xfrm>
          <a:prstGeom prst="rect">
            <a:avLst/>
          </a:prstGeom>
          <a:noFill/>
        </p:spPr>
        <p:txBody>
          <a:bodyPr wrap="none" lIns="0" rIns="0" tIns="0" bIns="0">
            <a:spAutoFit/>
          </a:bodyPr>
          <a:lstStyle/>
          <a:p>
            <a:pPr>
              <a:lnSpc>
                <a:spcPct val="100000"/>
              </a:lnSpc>
              <a:spcAft>
                <a:spcPts val="0"/>
              </a:spcAft>
            </a:pPr>
            <a:r>
              <a:rPr sz="1500">
                <a:solidFill>
                  <a:srgbClr val="E8EEF2"/>
                </a:solidFill>
                <a:latin typeface="Consolas"/>
              </a:rPr>
              <a:t>Total active translations: 0 (0 static, 0 dynamic; 0 extended)</a:t>
            </a:r>
          </a:p>
          <a:p>
            <a:pPr>
              <a:lnSpc>
                <a:spcPct val="100000"/>
              </a:lnSpc>
              <a:spcAft>
                <a:spcPts val="0"/>
              </a:spcAft>
            </a:pPr>
            <a:r>
              <a:rPr sz="1500">
                <a:solidFill>
                  <a:srgbClr val="E8EEF2"/>
                </a:solidFill>
                <a:latin typeface="Consolas"/>
              </a:rPr>
              <a:t>Outside interfaces:</a:t>
            </a:r>
          </a:p>
          <a:p>
            <a:pPr>
              <a:lnSpc>
                <a:spcPct val="100000"/>
              </a:lnSpc>
              <a:spcAft>
                <a:spcPts val="0"/>
              </a:spcAft>
            </a:pPr>
            <a:r>
              <a:rPr sz="1500">
                <a:solidFill>
                  <a:srgbClr val="E8EEF2"/>
                </a:solidFill>
                <a:latin typeface="Consolas"/>
              </a:rPr>
              <a:t>Inside interfaces:</a:t>
            </a:r>
          </a:p>
          <a:p>
            <a:pPr>
              <a:lnSpc>
                <a:spcPct val="100000"/>
              </a:lnSpc>
              <a:spcAft>
                <a:spcPts val="0"/>
              </a:spcAft>
            </a:pPr>
            <a:r>
              <a:rPr sz="1500">
                <a:solidFill>
                  <a:srgbClr val="E8EEF2"/>
                </a:solidFill>
                <a:latin typeface="Consolas"/>
              </a:rPr>
              <a:t>  GigabitEthernet0/0/1</a:t>
            </a:r>
          </a:p>
          <a:p>
            <a:pPr>
              <a:lnSpc>
                <a:spcPct val="100000"/>
              </a:lnSpc>
              <a:spcAft>
                <a:spcPts val="0"/>
              </a:spcAft>
            </a:pPr>
            <a:r>
              <a:rPr sz="1500">
                <a:solidFill>
                  <a:srgbClr val="E8EEF2"/>
                </a:solidFill>
                <a:latin typeface="Consolas"/>
              </a:rPr>
              <a:t>Hits: 0  Misses: 0</a:t>
            </a:r>
          </a:p>
        </p:txBody>
      </p:sp>
      <p:sp>
        <p:nvSpPr>
          <p:cNvPr id="10"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22. NAT and PAT on IOS XE</a:t>
            </a:r>
          </a:p>
        </p:txBody>
      </p:sp>
      <p:sp>
        <p:nvSpPr>
          <p:cNvPr id="11"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4.3</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YOUR MOVE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22</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
            </a:r>
          </a:p>
        </p:txBody>
      </p:sp>
      <p:sp>
        <p:nvSpPr>
          <p:cNvPr id="6" name="promptbg"/>
          <p:cNvSpPr/>
          <p:nvPr/>
        </p:nvSpPr>
        <p:spPr>
          <a:xfrm>
            <a:off x="685800" y="2939796"/>
            <a:ext cx="10820095" cy="84124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rompt"/>
          <p:cNvSpPr txBox="1"/>
          <p:nvPr/>
        </p:nvSpPr>
        <p:spPr>
          <a:xfrm>
            <a:off x="960120" y="3140964"/>
            <a:ext cx="10271455" cy="475488"/>
          </a:xfrm>
          <a:prstGeom prst="rect">
            <a:avLst/>
          </a:prstGeom>
          <a:noFill/>
        </p:spPr>
        <p:txBody>
          <a:bodyPr wrap="square" anchor="t" lIns="0" rIns="0" tIns="0" bIns="0">
            <a:spAutoFit/>
          </a:bodyPr>
          <a:lstStyle/>
          <a:p>
            <a:pPr algn="ctr">
              <a:lnSpc>
                <a:spcPct val="100000"/>
              </a:lnSpc>
              <a:spcAft>
                <a:spcPts val="600"/>
              </a:spcAft>
            </a:pPr>
            <a:r>
              <a:rPr sz="2200" b="1" i="0">
                <a:solidFill>
                  <a:srgbClr val="1A5276"/>
                </a:solidFill>
                <a:latin typeface="Segoe UI"/>
              </a:rPr>
              <a:t>What is the fault — and what does this output rule out?</a:t>
            </a:r>
          </a:p>
        </p:txBody>
      </p:sp>
      <p:sp>
        <p:nvSpPr>
          <p:cNvPr id="8"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22. NAT and PAT on IOS XE</a:t>
            </a:r>
          </a:p>
        </p:txBody>
      </p:sp>
      <p:sp>
        <p:nvSpPr>
          <p:cNvPr id="9"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4.3</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DIAGNOSIS</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22</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Why it is doing that</a:t>
            </a:r>
          </a:p>
        </p:txBody>
      </p:sp>
      <p:sp>
        <p:nvSpPr>
          <p:cNvPr id="6" name="bfbody"/>
          <p:cNvSpPr txBox="1"/>
          <p:nvPr/>
        </p:nvSpPr>
        <p:spPr>
          <a:xfrm>
            <a:off x="685800" y="2130552"/>
            <a:ext cx="10820095" cy="4224528"/>
          </a:xfrm>
          <a:prstGeom prst="rect">
            <a:avLst/>
          </a:prstGeom>
          <a:noFill/>
        </p:spPr>
        <p:txBody>
          <a:bodyPr wrap="square" anchor="t" lIns="0" rIns="0" tIns="0" bIns="0">
            <a:spAutoFit/>
          </a:bodyPr>
          <a:lstStyle/>
          <a:p>
            <a:pPr algn="l">
              <a:lnSpc>
                <a:spcPct val="100000"/>
              </a:lnSpc>
              <a:spcAft>
                <a:spcPts val="1000"/>
              </a:spcAft>
            </a:pPr>
            <a:r>
              <a:rPr sz="1900" b="1" i="0">
                <a:solidFill>
                  <a:srgbClr val="1C252B"/>
                </a:solidFill>
                <a:latin typeface="Segoe UI"/>
              </a:rPr>
              <a:t>Diagnosis.</a:t>
            </a:r>
            <a:r>
              <a:rPr sz="1900" b="0" i="0">
                <a:solidFill>
                  <a:srgbClr val="1C252B"/>
                </a:solidFill>
                <a:latin typeface="Segoe UI"/>
              </a:rPr>
              <a:t> </a:t>
            </a:r>
            <a:r>
              <a:rPr sz="1800" b="0" i="0">
                <a:solidFill>
                  <a:srgbClr val="1A5276"/>
                </a:solidFill>
                <a:latin typeface="Consolas"/>
              </a:rPr>
              <a:t>Outside interfaces:</a:t>
            </a:r>
            <a:r>
              <a:rPr sz="1900" b="0" i="0">
                <a:solidFill>
                  <a:srgbClr val="1C252B"/>
                </a:solidFill>
                <a:latin typeface="Segoe UI"/>
              </a:rPr>
              <a:t> is empty. The WAN interface was never marked </a:t>
            </a:r>
            <a:r>
              <a:rPr sz="1800" b="0" i="0">
                <a:solidFill>
                  <a:srgbClr val="1A5276"/>
                </a:solidFill>
                <a:latin typeface="Consolas"/>
              </a:rPr>
              <a:t>ip nat outside</a:t>
            </a:r>
            <a:r>
              <a:rPr sz="1900" b="0" i="0">
                <a:solidFill>
                  <a:srgbClr val="1C252B"/>
                </a:solidFill>
                <a:latin typeface="Segoe UI"/>
              </a:rPr>
              <a:t>. NAT needs a boundary, and a boundary needs two sides — with only one side declared, the router has no rule to apply and does not attempt translation at all.</a:t>
            </a:r>
          </a:p>
          <a:p>
            <a:pPr algn="l">
              <a:lnSpc>
                <a:spcPct val="100000"/>
              </a:lnSpc>
              <a:spcAft>
                <a:spcPts val="1000"/>
              </a:spcAft>
            </a:pPr>
            <a:r>
              <a:rPr sz="1800" b="0" i="0">
                <a:solidFill>
                  <a:srgbClr val="1A5276"/>
                </a:solidFill>
                <a:latin typeface="Consolas"/>
              </a:rPr>
              <a:t>Hits: 0</a:t>
            </a:r>
            <a:r>
              <a:rPr sz="1900" b="0" i="0">
                <a:solidFill>
                  <a:srgbClr val="1C252B"/>
                </a:solidFill>
                <a:latin typeface="Segoe UI"/>
              </a:rPr>
              <a:t> and </a:t>
            </a:r>
            <a:r>
              <a:rPr sz="1800" b="0" i="0">
                <a:solidFill>
                  <a:srgbClr val="1A5276"/>
                </a:solidFill>
                <a:latin typeface="Consolas"/>
              </a:rPr>
              <a:t>Misses: 0</a:t>
            </a:r>
            <a:r>
              <a:rPr sz="1900" b="0" i="0">
                <a:solidFill>
                  <a:srgbClr val="1C252B"/>
                </a:solidFill>
                <a:latin typeface="Segoe UI"/>
              </a:rPr>
              <a:t> together are the confirming detail, and they are worth separating. Misses would mean packets arrived wanting translation and could not get one — a pool or ACL problem. Both counters at zero means no packet was ever </a:t>
            </a:r>
            <a:r>
              <a:rPr sz="1900" b="0" i="1">
                <a:solidFill>
                  <a:srgbClr val="1C252B"/>
                </a:solidFill>
                <a:latin typeface="Segoe UI"/>
              </a:rPr>
              <a:t>considered</a:t>
            </a:r>
            <a:r>
              <a:rPr sz="1900" b="0" i="0">
                <a:solidFill>
                  <a:srgbClr val="1C252B"/>
                </a:solidFill>
                <a:latin typeface="Segoe UI"/>
              </a:rPr>
              <a:t> for translation. That distinction points at the interface markers rather than at the rule.</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22. NAT and PAT on IOS XE</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4.3</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DIAGNOSIS</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22</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Why it is doing that</a:t>
            </a:r>
          </a:p>
        </p:txBody>
      </p:sp>
      <p:sp>
        <p:nvSpPr>
          <p:cNvPr id="6" name="bfbody"/>
          <p:cNvSpPr txBox="1"/>
          <p:nvPr/>
        </p:nvSpPr>
        <p:spPr>
          <a:xfrm>
            <a:off x="685800" y="2130552"/>
            <a:ext cx="10820095" cy="4224528"/>
          </a:xfrm>
          <a:prstGeom prst="rect">
            <a:avLst/>
          </a:prstGeom>
          <a:noFill/>
        </p:spPr>
        <p:txBody>
          <a:bodyPr wrap="square" anchor="t" lIns="0" rIns="0" tIns="0" bIns="0">
            <a:spAutoFit/>
          </a:bodyPr>
          <a:lstStyle/>
          <a:p>
            <a:pPr algn="l">
              <a:lnSpc>
                <a:spcPct val="100000"/>
              </a:lnSpc>
              <a:spcAft>
                <a:spcPts val="1000"/>
              </a:spcAft>
            </a:pPr>
            <a:r>
              <a:rPr sz="1900" b="0" i="0">
                <a:solidFill>
                  <a:srgbClr val="1C252B"/>
                </a:solidFill>
                <a:latin typeface="Segoe UI"/>
              </a:rPr>
              <a:t>The router itself reaching </a:t>
            </a:r>
            <a:r>
              <a:rPr sz="1800" b="0" i="0">
                <a:solidFill>
                  <a:srgbClr val="1A5276"/>
                </a:solidFill>
                <a:latin typeface="Consolas"/>
              </a:rPr>
              <a:t>8.8.8.8</a:t>
            </a:r>
            <a:r>
              <a:rPr sz="1900" b="0" i="0">
                <a:solidFill>
                  <a:srgbClr val="1C252B"/>
                </a:solidFill>
                <a:latin typeface="Segoe UI"/>
              </a:rPr>
              <a:t> is the red herring. Traffic the router originates is sourced from its own public interface and needs no translation, so it proves the WAN link and the default route are fine and says nothing about NAT.</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22. NAT and PAT on IOS XE</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4.3</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THE FIX</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22</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Declaring the outside boundary</a:t>
            </a:r>
          </a:p>
        </p:txBody>
      </p:sp>
      <p:sp>
        <p:nvSpPr>
          <p:cNvPr id="6" name="bfcodebg"/>
          <p:cNvSpPr/>
          <p:nvPr/>
        </p:nvSpPr>
        <p:spPr>
          <a:xfrm>
            <a:off x="685800" y="2011680"/>
            <a:ext cx="10820095" cy="1075944"/>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fcodebar"/>
          <p:cNvSpPr/>
          <p:nvPr/>
        </p:nvSpPr>
        <p:spPr>
          <a:xfrm>
            <a:off x="685800" y="2011680"/>
            <a:ext cx="10820095" cy="329184"/>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fcodettl"/>
          <p:cNvSpPr txBox="1"/>
          <p:nvPr/>
        </p:nvSpPr>
        <p:spPr>
          <a:xfrm>
            <a:off x="886968" y="2057400"/>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IOS  ·  configuration mode</a:t>
            </a:r>
          </a:p>
        </p:txBody>
      </p:sp>
      <p:sp>
        <p:nvSpPr>
          <p:cNvPr id="9" name="bfcode"/>
          <p:cNvSpPr txBox="1"/>
          <p:nvPr/>
        </p:nvSpPr>
        <p:spPr>
          <a:xfrm>
            <a:off x="886968" y="2432304"/>
            <a:ext cx="10417759" cy="600456"/>
          </a:xfrm>
          <a:prstGeom prst="rect">
            <a:avLst/>
          </a:prstGeom>
          <a:noFill/>
        </p:spPr>
        <p:txBody>
          <a:bodyPr wrap="none" lIns="0" rIns="0" tIns="0" bIns="0">
            <a:spAutoFit/>
          </a:bodyPr>
          <a:lstStyle/>
          <a:p>
            <a:pPr>
              <a:lnSpc>
                <a:spcPct val="100000"/>
              </a:lnSpc>
              <a:spcAft>
                <a:spcPts val="0"/>
              </a:spcAft>
            </a:pPr>
            <a:r>
              <a:rPr sz="1500">
                <a:solidFill>
                  <a:srgbClr val="E8EEF2"/>
                </a:solidFill>
                <a:latin typeface="Consolas"/>
              </a:rPr>
              <a:t>interface GigabitEthernet0/0/0</a:t>
            </a:r>
          </a:p>
          <a:p>
            <a:pPr>
              <a:lnSpc>
                <a:spcPct val="100000"/>
              </a:lnSpc>
              <a:spcAft>
                <a:spcPts val="0"/>
              </a:spcAft>
            </a:pPr>
            <a:r>
              <a:rPr sz="1500">
                <a:solidFill>
                  <a:srgbClr val="E8EEF2"/>
                </a:solidFill>
                <a:latin typeface="Consolas"/>
              </a:rPr>
              <a:t> ip nat outside</a:t>
            </a:r>
          </a:p>
        </p:txBody>
      </p:sp>
      <p:sp>
        <p:nvSpPr>
          <p:cNvPr id="10"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22. NAT and PAT on IOS XE</a:t>
            </a:r>
          </a:p>
        </p:txBody>
      </p:sp>
      <p:sp>
        <p:nvSpPr>
          <p:cNvPr id="11"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4.3</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THE FIX</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22</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And the lesson</a:t>
            </a:r>
          </a:p>
        </p:txBody>
      </p:sp>
      <p:sp>
        <p:nvSpPr>
          <p:cNvPr id="6" name="bfbody"/>
          <p:cNvSpPr txBox="1"/>
          <p:nvPr/>
        </p:nvSpPr>
        <p:spPr>
          <a:xfrm>
            <a:off x="685800" y="2130552"/>
            <a:ext cx="10820095" cy="4224528"/>
          </a:xfrm>
          <a:prstGeom prst="rect">
            <a:avLst/>
          </a:prstGeom>
          <a:noFill/>
        </p:spPr>
        <p:txBody>
          <a:bodyPr wrap="square" anchor="t" lIns="0" rIns="0" tIns="0" bIns="0">
            <a:spAutoFit/>
          </a:bodyPr>
          <a:lstStyle/>
          <a:p>
            <a:pPr algn="l">
              <a:lnSpc>
                <a:spcPct val="100000"/>
              </a:lnSpc>
              <a:spcAft>
                <a:spcPts val="1000"/>
              </a:spcAft>
            </a:pPr>
            <a:r>
              <a:rPr sz="1900" b="1" i="0">
                <a:solidFill>
                  <a:srgbClr val="1C252B"/>
                </a:solidFill>
                <a:latin typeface="Segoe UI"/>
              </a:rPr>
              <a:t>Fix.</a:t>
            </a:r>
          </a:p>
          <a:p>
            <a:pPr algn="l">
              <a:lnSpc>
                <a:spcPct val="100000"/>
              </a:lnSpc>
              <a:spcAft>
                <a:spcPts val="1000"/>
              </a:spcAft>
            </a:pPr>
            <a:r>
              <a:rPr sz="1900" b="0" i="0">
                <a:solidFill>
                  <a:srgbClr val="1C252B"/>
                </a:solidFill>
                <a:latin typeface="Segoe UI"/>
              </a:rPr>
              <a:t>Then </a:t>
            </a:r>
            <a:r>
              <a:rPr sz="1800" b="0" i="0">
                <a:solidFill>
                  <a:srgbClr val="1A5276"/>
                </a:solidFill>
                <a:latin typeface="Consolas"/>
              </a:rPr>
              <a:t>clear ip nat translation *</a:t>
            </a:r>
            <a:r>
              <a:rPr sz="1900" b="0" i="0">
                <a:solidFill>
                  <a:srgbClr val="1C252B"/>
                </a:solidFill>
                <a:latin typeface="Segoe UI"/>
              </a:rPr>
              <a:t> and re-test from a host. Confirm entries appear and that </a:t>
            </a:r>
            <a:r>
              <a:rPr sz="1800" b="0" i="0">
                <a:solidFill>
                  <a:srgbClr val="1A5276"/>
                </a:solidFill>
                <a:latin typeface="Consolas"/>
              </a:rPr>
              <a:t>Hits</a:t>
            </a:r>
            <a:r>
              <a:rPr sz="1900" b="0" i="0">
                <a:solidFill>
                  <a:srgbClr val="1C252B"/>
                </a:solidFill>
                <a:latin typeface="Segoe UI"/>
              </a:rPr>
              <a:t> is climbing.</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22. NAT and PAT on IOS XE</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4.3</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CML OR GNS3 WITH IOS XE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PAT for a branch, then a published server</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22. NAT and PAT on IOS XE</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4.3</a:t>
            </a:r>
          </a:p>
        </p:txBody>
      </p:sp>
      <p:sp>
        <p:nvSpPr>
          <p:cNvPr id="7" name="body"/>
          <p:cNvSpPr txBox="1"/>
          <p:nvPr/>
        </p:nvSpPr>
        <p:spPr>
          <a:xfrm>
            <a:off x="685800" y="1517904"/>
            <a:ext cx="10820095" cy="4864608"/>
          </a:xfrm>
          <a:prstGeom prst="rect">
            <a:avLst/>
          </a:prstGeom>
          <a:noFill/>
        </p:spPr>
        <p:txBody>
          <a:bodyPr wrap="square" anchor="t" lIns="0" rIns="0" tIns="0" bIns="0">
            <a:spAutoFit/>
          </a:bodyPr>
          <a:lstStyle/>
          <a:p>
            <a:pPr algn="l">
              <a:lnSpc>
                <a:spcPct val="100000"/>
              </a:lnSpc>
              <a:spcAft>
                <a:spcPts val="1000"/>
              </a:spcAft>
            </a:pPr>
            <a:r>
              <a:rPr sz="1700" b="1" i="0">
                <a:solidFill>
                  <a:srgbClr val="1C252B"/>
                </a:solidFill>
                <a:latin typeface="Segoe UI"/>
              </a:rPr>
              <a:t>Platform note.</a:t>
            </a:r>
            <a:r>
              <a:rPr sz="1700" b="0" i="0">
                <a:solidFill>
                  <a:srgbClr val="1C252B"/>
                </a:solidFill>
                <a:latin typeface="Segoe UI"/>
              </a:rPr>
              <a:t> Packet Tracer supports this lab, but the topic names IOS XE and the interface naming differs. If you use Packet Tracer, translate the interface names as you go and note where they differ.</a:t>
            </a:r>
          </a:p>
          <a:p>
            <a:pPr algn="l">
              <a:lnSpc>
                <a:spcPct val="100000"/>
              </a:lnSpc>
              <a:spcAft>
                <a:spcPts val="1000"/>
              </a:spcAft>
            </a:pPr>
            <a:r>
              <a:rPr sz="1700" b="1" i="0">
                <a:solidFill>
                  <a:srgbClr val="1C252B"/>
                </a:solidFill>
                <a:latin typeface="Segoe UI"/>
              </a:rPr>
              <a:t>Topology.</a:t>
            </a:r>
            <a:r>
              <a:rPr sz="1700" b="0" i="0">
                <a:solidFill>
                  <a:srgbClr val="1C252B"/>
                </a:solidFill>
                <a:latin typeface="Segoe UI"/>
              </a:rPr>
              <a:t> </a:t>
            </a:r>
            <a:r>
              <a:rPr sz="1600" b="0" i="0">
                <a:solidFill>
                  <a:srgbClr val="1A5276"/>
                </a:solidFill>
                <a:latin typeface="Consolas"/>
              </a:rPr>
              <a:t>R1</a:t>
            </a:r>
            <a:r>
              <a:rPr sz="1700" b="0" i="0">
                <a:solidFill>
                  <a:srgbClr val="1C252B"/>
                </a:solidFill>
                <a:latin typeface="Segoe UI"/>
              </a:rPr>
              <a:t> as the branch router with </a:t>
            </a:r>
            <a:r>
              <a:rPr sz="1600" b="0" i="0">
                <a:solidFill>
                  <a:srgbClr val="1A5276"/>
                </a:solidFill>
                <a:latin typeface="Consolas"/>
              </a:rPr>
              <a:t>192.168.10.0/24</a:t>
            </a:r>
            <a:r>
              <a:rPr sz="1700" b="0" i="0">
                <a:solidFill>
                  <a:srgbClr val="1C252B"/>
                </a:solidFill>
                <a:latin typeface="Segoe UI"/>
              </a:rPr>
              <a:t> inside and </a:t>
            </a:r>
            <a:r>
              <a:rPr sz="1600" b="0" i="0">
                <a:solidFill>
                  <a:srgbClr val="1A5276"/>
                </a:solidFill>
                <a:latin typeface="Consolas"/>
              </a:rPr>
              <a:t>203.0.113.0/30</a:t>
            </a:r>
            <a:r>
              <a:rPr sz="1700" b="0" i="0">
                <a:solidFill>
                  <a:srgbClr val="1C252B"/>
                </a:solidFill>
                <a:latin typeface="Segoe UI"/>
              </a:rPr>
              <a:t> to </a:t>
            </a:r>
            <a:r>
              <a:rPr sz="1600" b="0" i="0">
                <a:solidFill>
                  <a:srgbClr val="1A5276"/>
                </a:solidFill>
                <a:latin typeface="Consolas"/>
              </a:rPr>
              <a:t>ISP</a:t>
            </a:r>
            <a:r>
              <a:rPr sz="1700" b="0" i="0">
                <a:solidFill>
                  <a:srgbClr val="1C252B"/>
                </a:solidFill>
                <a:latin typeface="Segoe UI"/>
              </a:rPr>
              <a:t>; </a:t>
            </a:r>
            <a:r>
              <a:rPr sz="1600" b="0" i="0">
                <a:solidFill>
                  <a:srgbClr val="1A5276"/>
                </a:solidFill>
                <a:latin typeface="Consolas"/>
              </a:rPr>
              <a:t>ISP</a:t>
            </a:r>
            <a:r>
              <a:rPr sz="1700" b="0" i="0">
                <a:solidFill>
                  <a:srgbClr val="1C252B"/>
                </a:solidFill>
                <a:latin typeface="Segoe UI"/>
              </a:rPr>
              <a:t> with a loopback of </a:t>
            </a:r>
            <a:r>
              <a:rPr sz="1600" b="0" i="0">
                <a:solidFill>
                  <a:srgbClr val="1A5276"/>
                </a:solidFill>
                <a:latin typeface="Consolas"/>
              </a:rPr>
              <a:t>198.51.100.7</a:t>
            </a:r>
            <a:r>
              <a:rPr sz="1700" b="0" i="0">
                <a:solidFill>
                  <a:srgbClr val="1C252B"/>
                </a:solidFill>
                <a:latin typeface="Segoe UI"/>
              </a:rPr>
              <a:t> standing in for the internet; three internal hosts and one internal server at </a:t>
            </a:r>
            <a:r>
              <a:rPr sz="1600" b="0" i="0">
                <a:solidFill>
                  <a:srgbClr val="1A5276"/>
                </a:solidFill>
                <a:latin typeface="Consolas"/>
              </a:rPr>
              <a:t>192.168.10.50</a:t>
            </a:r>
            <a:r>
              <a:rPr sz="1700" b="0" i="0">
                <a:solidFill>
                  <a:srgbClr val="1C252B"/>
                </a:solidFill>
                <a:latin typeface="Segoe UI"/>
              </a:rPr>
              <a:t>.</a:t>
            </a:r>
          </a:p>
        </p:txBody>
      </p:sp>
      <p:sp>
        <p:nvSpPr>
          <p:cNvPr id="8" name="bullets"/>
          <p:cNvSpPr txBox="1"/>
          <p:nvPr/>
        </p:nvSpPr>
        <p:spPr>
          <a:xfrm>
            <a:off x="685800" y="3476244"/>
            <a:ext cx="10820095" cy="2906268"/>
          </a:xfrm>
          <a:prstGeom prst="rect">
            <a:avLst/>
          </a:prstGeom>
          <a:noFill/>
        </p:spPr>
        <p:txBody>
          <a:bodyPr wrap="square" lIns="0" rIns="0" tIns="0" bIns="0">
            <a:spAutoFit/>
          </a:bodyPr>
          <a:lstStyle/>
          <a:p>
            <a:pPr marL="328168" indent="-328168">
              <a:lnSpc>
                <a:spcPct val="102000"/>
              </a:lnSpc>
              <a:spcAft>
                <a:spcPts val="900"/>
              </a:spcAft>
            </a:pPr>
            <a:r>
              <a:rPr sz="1700" b="1">
                <a:solidFill>
                  <a:srgbClr val="922B21"/>
                </a:solidFill>
                <a:latin typeface="Segoe UI"/>
              </a:rPr>
              <a:t>1.  </a:t>
            </a:r>
            <a:r>
              <a:rPr sz="1700" b="0" i="0">
                <a:solidFill>
                  <a:srgbClr val="1C252B"/>
                </a:solidFill>
                <a:latin typeface="Segoe UI"/>
              </a:rPr>
              <a:t>Build and verify routing first, with no NAT. Confirm </a:t>
            </a:r>
            <a:r>
              <a:rPr sz="1600" b="0" i="0">
                <a:solidFill>
                  <a:srgbClr val="1A5276"/>
                </a:solidFill>
                <a:latin typeface="Consolas"/>
              </a:rPr>
              <a:t>R1</a:t>
            </a:r>
            <a:r>
              <a:rPr sz="1700" b="0" i="0">
                <a:solidFill>
                  <a:srgbClr val="1C252B"/>
                </a:solidFill>
                <a:latin typeface="Segoe UI"/>
              </a:rPr>
              <a:t> can ping </a:t>
            </a:r>
            <a:r>
              <a:rPr sz="1600" b="0" i="0">
                <a:solidFill>
                  <a:srgbClr val="1A5276"/>
                </a:solidFill>
                <a:latin typeface="Consolas"/>
              </a:rPr>
              <a:t>198.51.100.7</a:t>
            </a:r>
            <a:r>
              <a:rPr sz="1700" b="0" i="0">
                <a:solidFill>
                  <a:srgbClr val="1C252B"/>
                </a:solidFill>
                <a:latin typeface="Segoe UI"/>
              </a:rPr>
              <a:t> and that internal hosts cannot. Explain precisely why the hosts fail, in terms of the ISP’s routing table.</a:t>
            </a:r>
          </a:p>
          <a:p>
            <a:pPr marL="328168" indent="-328168">
              <a:lnSpc>
                <a:spcPct val="102000"/>
              </a:lnSpc>
              <a:spcAft>
                <a:spcPts val="900"/>
              </a:spcAft>
            </a:pPr>
            <a:r>
              <a:rPr sz="1700" b="1">
                <a:solidFill>
                  <a:srgbClr val="922B21"/>
                </a:solidFill>
                <a:latin typeface="Segoe UI"/>
              </a:rPr>
              <a:t>2.  </a:t>
            </a:r>
            <a:r>
              <a:rPr sz="1700" b="0" i="0">
                <a:solidFill>
                  <a:srgbClr val="1C252B"/>
                </a:solidFill>
                <a:latin typeface="Segoe UI"/>
              </a:rPr>
              <a:t>Configure PAT using the WAN interface address. Verify from all three hosts and read </a:t>
            </a:r>
            <a:r>
              <a:rPr sz="1600" b="0" i="0">
                <a:solidFill>
                  <a:srgbClr val="1A5276"/>
                </a:solidFill>
                <a:latin typeface="Consolas"/>
              </a:rPr>
              <a:t>show ip nat translations</a:t>
            </a:r>
            <a:r>
              <a:rPr sz="1700" b="0" i="0">
                <a:solidFill>
                  <a:srgbClr val="1C252B"/>
                </a:solidFill>
                <a:latin typeface="Segoe UI"/>
              </a:rPr>
              <a:t>.</a:t>
            </a:r>
          </a:p>
          <a:p>
            <a:pPr marL="328168" indent="-328168">
              <a:lnSpc>
                <a:spcPct val="102000"/>
              </a:lnSpc>
              <a:spcAft>
                <a:spcPts val="900"/>
              </a:spcAft>
            </a:pPr>
            <a:r>
              <a:rPr sz="1700" b="1">
                <a:solidFill>
                  <a:srgbClr val="922B21"/>
                </a:solidFill>
                <a:latin typeface="Segoe UI"/>
              </a:rPr>
              <a:t>3.  </a:t>
            </a:r>
            <a:r>
              <a:rPr sz="1700" b="0" i="0">
                <a:solidFill>
                  <a:srgbClr val="1C252B"/>
                </a:solidFill>
                <a:latin typeface="Segoe UI"/>
              </a:rPr>
              <a:t>Generate connections from two hosts using the same source port (open the same service twice). Find the row where the router had to change the port and record both values.</a:t>
            </a:r>
          </a:p>
          <a:p>
            <a:pPr marL="328168" indent="-328168">
              <a:lnSpc>
                <a:spcPct val="102000"/>
              </a:lnSpc>
              <a:spcAft>
                <a:spcPts val="900"/>
              </a:spcAft>
            </a:pPr>
            <a:r>
              <a:rPr sz="1700" b="1">
                <a:solidFill>
                  <a:srgbClr val="922B21"/>
                </a:solidFill>
                <a:latin typeface="Segoe UI"/>
              </a:rPr>
              <a:t>4.  </a:t>
            </a:r>
            <a:r>
              <a:rPr sz="1700" b="0" i="0">
                <a:solidFill>
                  <a:srgbClr val="1C252B"/>
                </a:solidFill>
                <a:latin typeface="Segoe UI"/>
              </a:rPr>
              <a:t>Add a static NAT mapping for the server and confirm from </a:t>
            </a:r>
            <a:r>
              <a:rPr sz="1600" b="0" i="0">
                <a:solidFill>
                  <a:srgbClr val="1A5276"/>
                </a:solidFill>
                <a:latin typeface="Consolas"/>
              </a:rPr>
              <a:t>ISP</a:t>
            </a:r>
            <a:r>
              <a:rPr sz="1700" b="0" i="0">
                <a:solidFill>
                  <a:srgbClr val="1C252B"/>
                </a:solidFill>
                <a:latin typeface="Segoe UI"/>
              </a:rPr>
              <a:t> that it is reachable inbound.</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CML OR GNS3 WITH IOS XE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PAT for a branch, then a published server (continued)</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22. NAT and PAT on IOS XE</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4.3</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386080" indent="-386080">
              <a:lnSpc>
                <a:spcPct val="102000"/>
              </a:lnSpc>
              <a:spcAft>
                <a:spcPts val="900"/>
              </a:spcAft>
            </a:pPr>
            <a:r>
              <a:rPr sz="2000" b="1">
                <a:solidFill>
                  <a:srgbClr val="922B21"/>
                </a:solidFill>
                <a:latin typeface="Segoe UI"/>
              </a:rPr>
              <a:t>5.  </a:t>
            </a:r>
            <a:r>
              <a:rPr sz="2000" b="0" i="0">
                <a:solidFill>
                  <a:srgbClr val="1C252B"/>
                </a:solidFill>
                <a:latin typeface="Segoe UI"/>
              </a:rPr>
              <a:t>Change the static mapping to port forwarding on port 8080, and confirm the server still listens on 80.</a:t>
            </a:r>
          </a:p>
          <a:p>
            <a:pPr marL="386080" indent="-386080">
              <a:lnSpc>
                <a:spcPct val="102000"/>
              </a:lnSpc>
              <a:spcAft>
                <a:spcPts val="900"/>
              </a:spcAft>
            </a:pPr>
            <a:r>
              <a:rPr sz="2000" b="1">
                <a:solidFill>
                  <a:srgbClr val="922B21"/>
                </a:solidFill>
                <a:latin typeface="Segoe UI"/>
              </a:rPr>
              <a:t>6.  </a:t>
            </a:r>
            <a:r>
              <a:rPr sz="2000" b="1" i="0">
                <a:solidFill>
                  <a:srgbClr val="1C252B"/>
                </a:solidFill>
                <a:latin typeface="Segoe UI"/>
              </a:rPr>
              <a:t>Break 1.</a:t>
            </a:r>
            <a:r>
              <a:rPr sz="2000" b="0" i="0">
                <a:solidFill>
                  <a:srgbClr val="1C252B"/>
                </a:solidFill>
                <a:latin typeface="Segoe UI"/>
              </a:rPr>
              <a:t> Remove </a:t>
            </a:r>
            <a:r>
              <a:rPr sz="1900" b="0" i="0">
                <a:solidFill>
                  <a:srgbClr val="1A5276"/>
                </a:solidFill>
                <a:latin typeface="Consolas"/>
              </a:rPr>
              <a:t>ip nat outside</a:t>
            </a:r>
            <a:r>
              <a:rPr sz="2000" b="0" i="0">
                <a:solidFill>
                  <a:srgbClr val="1C252B"/>
                </a:solidFill>
                <a:latin typeface="Segoe UI"/>
              </a:rPr>
              <a:t>. Predict what </a:t>
            </a:r>
            <a:r>
              <a:rPr sz="1900" b="0" i="0">
                <a:solidFill>
                  <a:srgbClr val="1A5276"/>
                </a:solidFill>
                <a:latin typeface="Consolas"/>
              </a:rPr>
              <a:t>show ip nat statistics</a:t>
            </a:r>
            <a:r>
              <a:rPr sz="2000" b="0" i="0">
                <a:solidFill>
                  <a:srgbClr val="1C252B"/>
                </a:solidFill>
                <a:latin typeface="Segoe UI"/>
              </a:rPr>
              <a:t> will show </a:t>
            </a:r>
            <a:r>
              <a:rPr sz="2000" b="0" i="1">
                <a:solidFill>
                  <a:srgbClr val="1C252B"/>
                </a:solidFill>
                <a:latin typeface="Segoe UI"/>
              </a:rPr>
              <a:t>before</a:t>
            </a:r>
            <a:r>
              <a:rPr sz="2000" b="0" i="0">
                <a:solidFill>
                  <a:srgbClr val="1C252B"/>
                </a:solidFill>
                <a:latin typeface="Segoe UI"/>
              </a:rPr>
              <a:t> you look, then look.</a:t>
            </a:r>
          </a:p>
          <a:p>
            <a:pPr marL="386080" indent="-386080">
              <a:lnSpc>
                <a:spcPct val="102000"/>
              </a:lnSpc>
              <a:spcAft>
                <a:spcPts val="900"/>
              </a:spcAft>
            </a:pPr>
            <a:r>
              <a:rPr sz="2000" b="1">
                <a:solidFill>
                  <a:srgbClr val="922B21"/>
                </a:solidFill>
                <a:latin typeface="Segoe UI"/>
              </a:rPr>
              <a:t>7.  </a:t>
            </a:r>
            <a:r>
              <a:rPr sz="2000" b="1" i="0">
                <a:solidFill>
                  <a:srgbClr val="1C252B"/>
                </a:solidFill>
                <a:latin typeface="Segoe UI"/>
              </a:rPr>
              <a:t>Break 2.</a:t>
            </a:r>
            <a:r>
              <a:rPr sz="2000" b="0" i="0">
                <a:solidFill>
                  <a:srgbClr val="1C252B"/>
                </a:solidFill>
                <a:latin typeface="Segoe UI"/>
              </a:rPr>
              <a:t> Replace PAT with dynamic NAT from a two-address pool, no </a:t>
            </a:r>
            <a:r>
              <a:rPr sz="1900" b="0" i="0">
                <a:solidFill>
                  <a:srgbClr val="1A5276"/>
                </a:solidFill>
                <a:latin typeface="Consolas"/>
              </a:rPr>
              <a:t>overload</a:t>
            </a:r>
            <a:r>
              <a:rPr sz="2000" b="0" i="0">
                <a:solidFill>
                  <a:srgbClr val="1C252B"/>
                </a:solidFill>
                <a:latin typeface="Segoe UI"/>
              </a:rPr>
              <a:t>. Bring up three simultaneous sessions and observe the third fail. Find the miss counter.</a:t>
            </a:r>
          </a:p>
          <a:p>
            <a:pPr marL="386080" indent="-386080">
              <a:lnSpc>
                <a:spcPct val="102000"/>
              </a:lnSpc>
              <a:spcAft>
                <a:spcPts val="900"/>
              </a:spcAft>
            </a:pPr>
            <a:r>
              <a:rPr sz="2000" b="1">
                <a:solidFill>
                  <a:srgbClr val="922B21"/>
                </a:solidFill>
                <a:latin typeface="Segoe UI"/>
              </a:rPr>
              <a:t>8.  </a:t>
            </a:r>
            <a:r>
              <a:rPr sz="2000" b="1" i="0">
                <a:solidFill>
                  <a:srgbClr val="1C252B"/>
                </a:solidFill>
                <a:latin typeface="Segoe UI"/>
              </a:rPr>
              <a:t>Break 3.</a:t>
            </a:r>
            <a:r>
              <a:rPr sz="2000" b="0" i="0">
                <a:solidFill>
                  <a:srgbClr val="1C252B"/>
                </a:solidFill>
                <a:latin typeface="Segoe UI"/>
              </a:rPr>
              <a:t> Apply an inbound ACL on the outside interface denying </a:t>
            </a:r>
            <a:r>
              <a:rPr sz="1900" b="0" i="0">
                <a:solidFill>
                  <a:srgbClr val="1A5276"/>
                </a:solidFill>
                <a:latin typeface="Consolas"/>
              </a:rPr>
              <a:t>192.168.10.50</a:t>
            </a:r>
            <a:r>
              <a:rPr sz="2000" b="0" i="0">
                <a:solidFill>
                  <a:srgbClr val="1C252B"/>
                </a:solidFill>
                <a:latin typeface="Segoe UI"/>
              </a:rPr>
              <a:t>. Confirm it has no effect on inbound traffic to the server, and explain why using the order-of-operations table.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CML OR GNS3 WITH IOS XE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PAT for a branch, then a published server (continued)</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22. NAT and PAT on IOS XE</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4.3</a:t>
            </a:r>
          </a:p>
        </p:txBody>
      </p:sp>
      <p:sp>
        <p:nvSpPr>
          <p:cNvPr id="7" name="bullets"/>
          <p:cNvSpPr txBox="1"/>
          <p:nvPr/>
        </p:nvSpPr>
        <p:spPr>
          <a:xfrm>
            <a:off x="685800" y="1901952"/>
            <a:ext cx="10820095" cy="4480560"/>
          </a:xfrm>
          <a:prstGeom prst="rect">
            <a:avLst/>
          </a:prstGeom>
          <a:noFill/>
        </p:spPr>
        <p:txBody>
          <a:bodyPr wrap="square" lIns="0" rIns="0" tIns="0" bIns="0">
            <a:spAutoFit/>
          </a:bodyPr>
          <a:lstStyle/>
          <a:p>
            <a:pPr marL="386080" indent="-386080">
              <a:lnSpc>
                <a:spcPct val="102000"/>
              </a:lnSpc>
              <a:spcAft>
                <a:spcPts val="900"/>
              </a:spcAft>
            </a:pPr>
            <a:r>
              <a:rPr sz="2000" b="1">
                <a:solidFill>
                  <a:srgbClr val="922B21"/>
                </a:solidFill>
                <a:latin typeface="Segoe UI"/>
              </a:rPr>
              <a:t>9.  </a:t>
            </a:r>
            <a:r>
              <a:rPr sz="2000" b="1" i="0">
                <a:solidFill>
                  <a:srgbClr val="1C252B"/>
                </a:solidFill>
                <a:latin typeface="Segoe UI"/>
              </a:rPr>
              <a:t>Extension.</a:t>
            </a:r>
            <a:r>
              <a:rPr sz="2000" b="0" i="0">
                <a:solidFill>
                  <a:srgbClr val="1C252B"/>
                </a:solidFill>
                <a:latin typeface="Segoe UI"/>
              </a:rPr>
              <a:t> Change the NAT selection ACL to </a:t>
            </a:r>
            <a:r>
              <a:rPr sz="1900" b="0" i="0">
                <a:solidFill>
                  <a:srgbClr val="1A5276"/>
                </a:solidFill>
                <a:latin typeface="Consolas"/>
              </a:rPr>
              <a:t>permit ip any any</a:t>
            </a:r>
            <a:r>
              <a:rPr sz="2000" b="0" i="0">
                <a:solidFill>
                  <a:srgbClr val="1C252B"/>
                </a:solidFill>
                <a:latin typeface="Segoe UI"/>
              </a:rPr>
              <a:t>, add a second internal LAN, and observe what breaks between the two internal subnets.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1 of 5</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Give the four NAT terms for a host </a:t>
            </a:r>
            <a:r>
              <a:rPr sz="2900" b="0" i="0">
                <a:solidFill>
                  <a:srgbClr val="FFFFFF"/>
                </a:solidFill>
                <a:latin typeface="Consolas"/>
              </a:rPr>
              <a:t>10.1.1.9</a:t>
            </a:r>
            <a:r>
              <a:rPr sz="3000" b="0" i="0">
                <a:solidFill>
                  <a:srgbClr val="FFFFFF"/>
                </a:solidFill>
                <a:latin typeface="Segoe UI"/>
              </a:rPr>
              <a:t> translated to </a:t>
            </a:r>
            <a:r>
              <a:rPr sz="2900" b="0" i="0">
                <a:solidFill>
                  <a:srgbClr val="FFFFFF"/>
                </a:solidFill>
                <a:latin typeface="Consolas"/>
              </a:rPr>
              <a:t>198.51.100.4</a:t>
            </a:r>
            <a:r>
              <a:rPr sz="3000" b="0" i="0">
                <a:solidFill>
                  <a:srgbClr val="FFFFFF"/>
                </a:solidFill>
                <a:latin typeface="Segoe UI"/>
              </a:rPr>
              <a:t> contacting a server at </a:t>
            </a:r>
            <a:r>
              <a:rPr sz="2900" b="0" i="0">
                <a:solidFill>
                  <a:srgbClr val="FFFFFF"/>
                </a:solidFill>
                <a:latin typeface="Consolas"/>
              </a:rPr>
              <a:t>203.0.113.80</a:t>
            </a:r>
            <a:r>
              <a:rPr sz="3000" b="0" i="0">
                <a:solidFill>
                  <a:srgbClr val="FFFFFF"/>
                </a:solidFill>
                <a:latin typeface="Segoe UI"/>
              </a:rPr>
              <a:t>.</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1 of 5</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22. NAT and PAT on IOS XE</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4.3</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Give the four NAT terms for a host </a:t>
            </a:r>
            <a:r>
              <a:rPr sz="1900" b="1" i="0">
                <a:solidFill>
                  <a:srgbClr val="1A5276"/>
                </a:solidFill>
                <a:latin typeface="Consolas"/>
              </a:rPr>
              <a:t>10.1.1.9</a:t>
            </a:r>
            <a:r>
              <a:rPr sz="2000" b="1" i="0">
                <a:solidFill>
                  <a:srgbClr val="1A5276"/>
                </a:solidFill>
                <a:latin typeface="Segoe UI"/>
              </a:rPr>
              <a:t> translated to </a:t>
            </a:r>
            <a:r>
              <a:rPr sz="1900" b="1" i="0">
                <a:solidFill>
                  <a:srgbClr val="1A5276"/>
                </a:solidFill>
                <a:latin typeface="Consolas"/>
              </a:rPr>
              <a:t>198.51.100.4</a:t>
            </a:r>
            <a:r>
              <a:rPr sz="2000" b="1" i="0">
                <a:solidFill>
                  <a:srgbClr val="1A5276"/>
                </a:solidFill>
                <a:latin typeface="Segoe UI"/>
              </a:rPr>
              <a:t> contacting a server at </a:t>
            </a:r>
            <a:r>
              <a:rPr sz="1900" b="1" i="0">
                <a:solidFill>
                  <a:srgbClr val="1A5276"/>
                </a:solidFill>
                <a:latin typeface="Consolas"/>
              </a:rPr>
              <a:t>203.0.113.80</a:t>
            </a:r>
            <a:r>
              <a:rPr sz="2000" b="1" i="0">
                <a:solidFill>
                  <a:srgbClr val="1A5276"/>
                </a:solidFill>
                <a:latin typeface="Segoe UI"/>
              </a:rPr>
              <a:t>.</a:t>
            </a:r>
          </a:p>
        </p:txBody>
      </p:sp>
      <p:sp>
        <p:nvSpPr>
          <p:cNvPr id="8" name="abar"/>
          <p:cNvSpPr/>
          <p:nvPr/>
        </p:nvSpPr>
        <p:spPr>
          <a:xfrm>
            <a:off x="685800" y="2511044"/>
            <a:ext cx="41148" cy="82854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511044"/>
            <a:ext cx="10564063" cy="378002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Inside local </a:t>
            </a:r>
            <a:r>
              <a:rPr sz="1800" b="0" i="0">
                <a:solidFill>
                  <a:srgbClr val="1A5276"/>
                </a:solidFill>
                <a:latin typeface="Consolas"/>
              </a:rPr>
              <a:t>10.1.1.9</a:t>
            </a:r>
            <a:r>
              <a:rPr sz="1900" b="0" i="0">
                <a:solidFill>
                  <a:srgbClr val="1C252B"/>
                </a:solidFill>
                <a:latin typeface="Segoe UI"/>
              </a:rPr>
              <a:t>; inside global </a:t>
            </a:r>
            <a:r>
              <a:rPr sz="1800" b="0" i="0">
                <a:solidFill>
                  <a:srgbClr val="1A5276"/>
                </a:solidFill>
                <a:latin typeface="Consolas"/>
              </a:rPr>
              <a:t>198.51.100.4</a:t>
            </a:r>
            <a:r>
              <a:rPr sz="1900" b="0" i="0">
                <a:solidFill>
                  <a:srgbClr val="1C252B"/>
                </a:solidFill>
                <a:latin typeface="Segoe UI"/>
              </a:rPr>
              <a:t>; outside global </a:t>
            </a:r>
            <a:r>
              <a:rPr sz="1800" b="0" i="0">
                <a:solidFill>
                  <a:srgbClr val="1A5276"/>
                </a:solidFill>
                <a:latin typeface="Consolas"/>
              </a:rPr>
              <a:t>203.0.113.80</a:t>
            </a:r>
            <a:r>
              <a:rPr sz="1900" b="0" i="0">
                <a:solidFill>
                  <a:srgbClr val="1C252B"/>
                </a:solidFill>
                <a:latin typeface="Segoe UI"/>
              </a:rPr>
              <a:t>; outside local </a:t>
            </a:r>
            <a:r>
              <a:rPr sz="1800" b="0" i="0">
                <a:solidFill>
                  <a:srgbClr val="1A5276"/>
                </a:solidFill>
                <a:latin typeface="Consolas"/>
              </a:rPr>
              <a:t>203.0.113.80</a:t>
            </a:r>
            <a:r>
              <a:rPr sz="1900" b="0" i="0">
                <a:solidFill>
                  <a:srgbClr val="1C252B"/>
                </a:solidFill>
                <a:latin typeface="Segoe UI"/>
              </a:rPr>
              <a:t> — the same, because plain NAT does not translate the outside host’s address.</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2 of 5</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What single keyword turns dynamic NAT into PAT, and what failure does it prevent?</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2 of 5</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22. NAT and PAT on IOS XE</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4.3</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What single keyword turns dynamic NAT into PAT, and what failure does it prevent?</a:t>
            </a:r>
          </a:p>
        </p:txBody>
      </p:sp>
      <p:sp>
        <p:nvSpPr>
          <p:cNvPr id="8" name="abar"/>
          <p:cNvSpPr/>
          <p:nvPr/>
        </p:nvSpPr>
        <p:spPr>
          <a:xfrm>
            <a:off x="685800" y="219735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800" b="0" i="0">
                <a:solidFill>
                  <a:srgbClr val="1A5276"/>
                </a:solidFill>
                <a:latin typeface="Consolas"/>
              </a:rPr>
              <a:t>overload</a:t>
            </a:r>
            <a:r>
              <a:rPr sz="1900" b="0" i="0">
                <a:solidFill>
                  <a:srgbClr val="1C252B"/>
                </a:solidFill>
                <a:latin typeface="Segoe UI"/>
              </a:rPr>
              <a:t>. It translates the port as well as the address, so one public address serves many hosts. Without it, dynamic NAT lends addresses one-to-one and </a:t>
            </a:r>
            <a:r>
              <a:rPr sz="1900" b="1" i="0">
                <a:solidFill>
                  <a:srgbClr val="1C252B"/>
                </a:solidFill>
                <a:latin typeface="Segoe UI"/>
              </a:rPr>
              <a:t>silently fails</a:t>
            </a:r>
            <a:r>
              <a:rPr sz="1900" b="0" i="0">
                <a:solidFill>
                  <a:srgbClr val="1C252B"/>
                </a:solidFill>
                <a:latin typeface="Segoe UI"/>
              </a:rPr>
              <a:t> when the pool is exhausted.</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3 of 5</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2900" b="0" i="0">
                <a:solidFill>
                  <a:srgbClr val="FFFFFF"/>
                </a:solidFill>
                <a:latin typeface="Consolas"/>
              </a:rPr>
              <a:t>show ip nat statistics</a:t>
            </a:r>
            <a:r>
              <a:rPr sz="3000" b="0" i="0">
                <a:solidFill>
                  <a:srgbClr val="FFFFFF"/>
                </a:solidFill>
                <a:latin typeface="Segoe UI"/>
              </a:rPr>
              <a:t> shows </a:t>
            </a:r>
            <a:r>
              <a:rPr sz="2900" b="0" i="0">
                <a:solidFill>
                  <a:srgbClr val="FFFFFF"/>
                </a:solidFill>
                <a:latin typeface="Consolas"/>
              </a:rPr>
              <a:t>Hits: 0</a:t>
            </a:r>
            <a:r>
              <a:rPr sz="3000" b="0" i="0">
                <a:solidFill>
                  <a:srgbClr val="FFFFFF"/>
                </a:solidFill>
                <a:latin typeface="Segoe UI"/>
              </a:rPr>
              <a:t> and </a:t>
            </a:r>
            <a:r>
              <a:rPr sz="2900" b="0" i="0">
                <a:solidFill>
                  <a:srgbClr val="FFFFFF"/>
                </a:solidFill>
                <a:latin typeface="Consolas"/>
              </a:rPr>
              <a:t>Misses: 0</a:t>
            </a:r>
            <a:r>
              <a:rPr sz="3000" b="0" i="0">
                <a:solidFill>
                  <a:srgbClr val="FFFFFF"/>
                </a:solidFill>
                <a:latin typeface="Segoe UI"/>
              </a:rPr>
              <a:t>. What does that rule out, and what does it point to?</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3 of 5</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22. NAT and PAT on IOS XE</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4.3</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1900" b="1" i="0">
                <a:solidFill>
                  <a:srgbClr val="1A5276"/>
                </a:solidFill>
                <a:latin typeface="Consolas"/>
              </a:rPr>
              <a:t>show ip nat statistics</a:t>
            </a:r>
            <a:r>
              <a:rPr sz="2000" b="1" i="0">
                <a:solidFill>
                  <a:srgbClr val="1A5276"/>
                </a:solidFill>
                <a:latin typeface="Segoe UI"/>
              </a:rPr>
              <a:t> shows </a:t>
            </a:r>
            <a:r>
              <a:rPr sz="1900" b="1" i="0">
                <a:solidFill>
                  <a:srgbClr val="1A5276"/>
                </a:solidFill>
                <a:latin typeface="Consolas"/>
              </a:rPr>
              <a:t>Hits: 0</a:t>
            </a:r>
            <a:r>
              <a:rPr sz="2000" b="1" i="0">
                <a:solidFill>
                  <a:srgbClr val="1A5276"/>
                </a:solidFill>
                <a:latin typeface="Segoe UI"/>
              </a:rPr>
              <a:t> and </a:t>
            </a:r>
            <a:r>
              <a:rPr sz="1900" b="1" i="0">
                <a:solidFill>
                  <a:srgbClr val="1A5276"/>
                </a:solidFill>
                <a:latin typeface="Consolas"/>
              </a:rPr>
              <a:t>Misses: 0</a:t>
            </a:r>
            <a:r>
              <a:rPr sz="2000" b="1" i="0">
                <a:solidFill>
                  <a:srgbClr val="1A5276"/>
                </a:solidFill>
                <a:latin typeface="Segoe UI"/>
              </a:rPr>
              <a:t>. What does that rule out, and what does it point to?</a:t>
            </a:r>
          </a:p>
        </p:txBody>
      </p:sp>
      <p:sp>
        <p:nvSpPr>
          <p:cNvPr id="8" name="abar"/>
          <p:cNvSpPr/>
          <p:nvPr/>
        </p:nvSpPr>
        <p:spPr>
          <a:xfrm>
            <a:off x="685800" y="251104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511044"/>
            <a:ext cx="10564063" cy="378002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It rules out a pool or ACL problem — misses would be non-zero if packets had been considered and refused. Both counters at zero means no packet was ever evaluated for translation, which points at the missing </a:t>
            </a:r>
            <a:r>
              <a:rPr sz="1800" b="0" i="0">
                <a:solidFill>
                  <a:srgbClr val="1A5276"/>
                </a:solidFill>
                <a:latin typeface="Consolas"/>
              </a:rPr>
              <a:t>ip nat inside</a:t>
            </a:r>
            <a:r>
              <a:rPr sz="1900" b="0" i="0">
                <a:solidFill>
                  <a:srgbClr val="1C252B"/>
                </a:solidFill>
                <a:latin typeface="Segoe UI"/>
              </a:rPr>
              <a:t> or </a:t>
            </a:r>
            <a:r>
              <a:rPr sz="1800" b="0" i="0">
                <a:solidFill>
                  <a:srgbClr val="1A5276"/>
                </a:solidFill>
                <a:latin typeface="Consolas"/>
              </a:rPr>
              <a:t>ip nat outside</a:t>
            </a:r>
            <a:r>
              <a:rPr sz="1900" b="0" i="0">
                <a:solidFill>
                  <a:srgbClr val="1C252B"/>
                </a:solidFill>
                <a:latin typeface="Segoe UI"/>
              </a:rPr>
              <a:t> interface markers.</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4 of 5</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An inbound ACL on the outside interface must match a translated inside host. Which address does it have to name, and why?</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4 of 5</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22. NAT and PAT on IOS XE</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4.3</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An inbound ACL on the outside interface must match a translated inside host. Which address does it have to name, and why?</a:t>
            </a:r>
          </a:p>
        </p:txBody>
      </p:sp>
      <p:sp>
        <p:nvSpPr>
          <p:cNvPr id="8" name="abar"/>
          <p:cNvSpPr/>
          <p:nvPr/>
        </p:nvSpPr>
        <p:spPr>
          <a:xfrm>
            <a:off x="685800" y="2511044"/>
            <a:ext cx="41148" cy="82854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511044"/>
            <a:ext cx="10564063" cy="378002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The </a:t>
            </a:r>
            <a:r>
              <a:rPr sz="1900" b="1" i="0">
                <a:solidFill>
                  <a:srgbClr val="1C252B"/>
                </a:solidFill>
                <a:latin typeface="Segoe UI"/>
              </a:rPr>
              <a:t>inside global</a:t>
            </a:r>
            <a:r>
              <a:rPr sz="1900" b="0" i="0">
                <a:solidFill>
                  <a:srgbClr val="1C252B"/>
                </a:solidFill>
                <a:latin typeface="Segoe UI"/>
              </a:rPr>
              <a:t> address, the translated one. An inbound ACL on the outside interface is evaluated </a:t>
            </a:r>
            <a:r>
              <a:rPr sz="1900" b="0" i="1">
                <a:solidFill>
                  <a:srgbClr val="1C252B"/>
                </a:solidFill>
                <a:latin typeface="Segoe UI"/>
              </a:rPr>
              <a:t>before</a:t>
            </a:r>
            <a:r>
              <a:rPr sz="1900" b="0" i="0">
                <a:solidFill>
                  <a:srgbClr val="1C252B"/>
                </a:solidFill>
                <a:latin typeface="Segoe UI"/>
              </a:rPr>
              <a:t> the packet is un-translated, so it sees the address that is on the wire at that interface.</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5 of 5</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Why is NAT not a security control?</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5 of 5</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22. NAT and PAT on IOS XE</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4.3</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Why is NAT not a security control?</a:t>
            </a:r>
          </a:p>
        </p:txBody>
      </p:sp>
      <p:sp>
        <p:nvSpPr>
          <p:cNvPr id="8" name="abar"/>
          <p:cNvSpPr/>
          <p:nvPr/>
        </p:nvSpPr>
        <p:spPr>
          <a:xfrm>
            <a:off x="685800" y="2197354"/>
            <a:ext cx="41148" cy="1455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Because it is an address-conservation mechanism. It happens to make unsolicited inbound connections difficult, since no translation entry matches them, but that is a side effect rather than a policy — it cannot be audited, it states no intent, and it is trivially bypassed by anything the inside host initiates. Use an ACL or firewall for policy.</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CHAPTER SUMMARY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to take away</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22. NAT and PAT on IOS XE</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4.3</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228600" indent="-228600">
              <a:lnSpc>
                <a:spcPct val="102000"/>
              </a:lnSpc>
              <a:spcAft>
                <a:spcPts val="900"/>
              </a:spcAft>
            </a:pPr>
            <a:r>
              <a:rPr sz="2000" b="1">
                <a:solidFill>
                  <a:srgbClr val="922B21"/>
                </a:solidFill>
                <a:latin typeface="Segoe UI"/>
              </a:rPr>
              <a:t>•  </a:t>
            </a:r>
            <a:r>
              <a:rPr sz="2000" b="0" i="0">
                <a:solidFill>
                  <a:srgbClr val="1C252B"/>
                </a:solidFill>
                <a:latin typeface="Segoe UI"/>
              </a:rPr>
              <a:t>Inside/outside names the host; local/global names the viewpoint. Outside local and outside global are normally the same address.</a:t>
            </a:r>
          </a:p>
          <a:p>
            <a:pPr marL="228600" indent="-228600">
              <a:lnSpc>
                <a:spcPct val="102000"/>
              </a:lnSpc>
              <a:spcAft>
                <a:spcPts val="900"/>
              </a:spcAft>
            </a:pPr>
            <a:r>
              <a:rPr sz="2000" b="1">
                <a:solidFill>
                  <a:srgbClr val="922B21"/>
                </a:solidFill>
                <a:latin typeface="Segoe UI"/>
              </a:rPr>
              <a:t>•  </a:t>
            </a:r>
            <a:r>
              <a:rPr sz="2000" b="0" i="0">
                <a:solidFill>
                  <a:srgbClr val="1C252B"/>
                </a:solidFill>
                <a:latin typeface="Segoe UI"/>
              </a:rPr>
              <a:t>Static NAT is a permanent one-to-one map. Dynamic NAT lends from a pool and fails silently when empty. PAT adds </a:t>
            </a:r>
            <a:r>
              <a:rPr sz="1900" b="0" i="0">
                <a:solidFill>
                  <a:srgbClr val="1A5276"/>
                </a:solidFill>
                <a:latin typeface="Consolas"/>
              </a:rPr>
              <a:t>overload</a:t>
            </a:r>
            <a:r>
              <a:rPr sz="2000" b="0" i="0">
                <a:solidFill>
                  <a:srgbClr val="1C252B"/>
                </a:solidFill>
                <a:latin typeface="Segoe UI"/>
              </a:rPr>
              <a:t> and translates ports too, so it does not run out.</a:t>
            </a:r>
          </a:p>
          <a:p>
            <a:pPr marL="228600" indent="-228600">
              <a:lnSpc>
                <a:spcPct val="102000"/>
              </a:lnSpc>
              <a:spcAft>
                <a:spcPts val="900"/>
              </a:spcAft>
            </a:pPr>
            <a:r>
              <a:rPr sz="2000" b="1">
                <a:solidFill>
                  <a:srgbClr val="922B21"/>
                </a:solidFill>
                <a:latin typeface="Segoe UI"/>
              </a:rPr>
              <a:t>•  </a:t>
            </a:r>
            <a:r>
              <a:rPr sz="1900" b="0" i="0">
                <a:solidFill>
                  <a:srgbClr val="1A5276"/>
                </a:solidFill>
                <a:latin typeface="Consolas"/>
              </a:rPr>
              <a:t>ip nat inside</a:t>
            </a:r>
            <a:r>
              <a:rPr sz="2000" b="0" i="0">
                <a:solidFill>
                  <a:srgbClr val="1C252B"/>
                </a:solidFill>
                <a:latin typeface="Segoe UI"/>
              </a:rPr>
              <a:t> and </a:t>
            </a:r>
            <a:r>
              <a:rPr sz="1900" b="0" i="0">
                <a:solidFill>
                  <a:srgbClr val="1A5276"/>
                </a:solidFill>
                <a:latin typeface="Consolas"/>
              </a:rPr>
              <a:t>ip nat outside</a:t>
            </a:r>
            <a:r>
              <a:rPr sz="2000" b="0" i="0">
                <a:solidFill>
                  <a:srgbClr val="1C252B"/>
                </a:solidFill>
                <a:latin typeface="Segoe UI"/>
              </a:rPr>
              <a:t> on the interfaces are not optional. Without both, no translation is attempted.</a:t>
            </a:r>
          </a:p>
          <a:p>
            <a:pPr marL="228600" indent="-228600">
              <a:lnSpc>
                <a:spcPct val="102000"/>
              </a:lnSpc>
              <a:spcAft>
                <a:spcPts val="900"/>
              </a:spcAft>
            </a:pPr>
            <a:r>
              <a:rPr sz="2000" b="1">
                <a:solidFill>
                  <a:srgbClr val="922B21"/>
                </a:solidFill>
                <a:latin typeface="Segoe UI"/>
              </a:rPr>
              <a:t>•  </a:t>
            </a:r>
            <a:r>
              <a:rPr sz="1900" b="0" i="0">
                <a:solidFill>
                  <a:srgbClr val="1A5276"/>
                </a:solidFill>
                <a:latin typeface="Consolas"/>
              </a:rPr>
              <a:t>show ip nat translations</a:t>
            </a:r>
            <a:r>
              <a:rPr sz="2000" b="0" i="0">
                <a:solidFill>
                  <a:srgbClr val="1C252B"/>
                </a:solidFill>
                <a:latin typeface="Segoe UI"/>
              </a:rPr>
              <a:t> for what is happening now; </a:t>
            </a:r>
            <a:r>
              <a:rPr sz="1900" b="0" i="0">
                <a:solidFill>
                  <a:srgbClr val="1A5276"/>
                </a:solidFill>
                <a:latin typeface="Consolas"/>
              </a:rPr>
              <a:t>show ip nat statistics</a:t>
            </a:r>
            <a:r>
              <a:rPr sz="2000" b="0" i="0">
                <a:solidFill>
                  <a:srgbClr val="1C252B"/>
                </a:solidFill>
                <a:latin typeface="Segoe UI"/>
              </a:rPr>
              <a:t> for whether the rule is even being reached.</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CHAPTER SUMMARY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to take away (continued)</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22. NAT and PAT on IOS XE</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4.3</a:t>
            </a:r>
          </a:p>
        </p:txBody>
      </p:sp>
      <p:sp>
        <p:nvSpPr>
          <p:cNvPr id="7" name="bullets"/>
          <p:cNvSpPr txBox="1"/>
          <p:nvPr/>
        </p:nvSpPr>
        <p:spPr>
          <a:xfrm>
            <a:off x="685800" y="1901952"/>
            <a:ext cx="10820095" cy="4480560"/>
          </a:xfrm>
          <a:prstGeom prst="rect">
            <a:avLst/>
          </a:prstGeom>
          <a:noFill/>
        </p:spPr>
        <p:txBody>
          <a:bodyPr wrap="square" lIns="0" rIns="0" tIns="0" bIns="0">
            <a:spAutoFit/>
          </a:bodyPr>
          <a:lstStyle/>
          <a:p>
            <a:pPr marL="228600" indent="-228600">
              <a:lnSpc>
                <a:spcPct val="102000"/>
              </a:lnSpc>
              <a:spcAft>
                <a:spcPts val="900"/>
              </a:spcAft>
            </a:pPr>
            <a:r>
              <a:rPr sz="2000" b="1">
                <a:solidFill>
                  <a:srgbClr val="922B21"/>
                </a:solidFill>
                <a:latin typeface="Segoe UI"/>
              </a:rPr>
              <a:t>•  </a:t>
            </a:r>
            <a:r>
              <a:rPr sz="2000" b="0" i="0">
                <a:solidFill>
                  <a:srgbClr val="1C252B"/>
                </a:solidFill>
                <a:latin typeface="Segoe UI"/>
              </a:rPr>
              <a:t>ACLs see the address on the wire at the interface they are attached to — translated on the outside, untranslated on the inside.</a:t>
            </a:r>
          </a:p>
          <a:p>
            <a:pPr marL="228600" indent="-228600">
              <a:lnSpc>
                <a:spcPct val="102000"/>
              </a:lnSpc>
              <a:spcAft>
                <a:spcPts val="900"/>
              </a:spcAft>
            </a:pPr>
            <a:r>
              <a:rPr sz="2000" b="1">
                <a:solidFill>
                  <a:srgbClr val="922B21"/>
                </a:solidFill>
                <a:latin typeface="Segoe UI"/>
              </a:rPr>
              <a:t>•  </a:t>
            </a:r>
            <a:r>
              <a:rPr sz="1900" b="0" i="0">
                <a:solidFill>
                  <a:srgbClr val="1A5276"/>
                </a:solidFill>
                <a:latin typeface="Consolas"/>
              </a:rPr>
              <a:t>clear ip nat translation *</a:t>
            </a:r>
            <a:r>
              <a:rPr sz="2000" b="0" i="0">
                <a:solidFill>
                  <a:srgbClr val="1C252B"/>
                </a:solidFill>
                <a:latin typeface="Segoe UI"/>
              </a:rPr>
              <a:t> after every change, or you are testing stale entries.</a:t>
            </a:r>
          </a:p>
          <a:p>
            <a:pPr marL="228600" indent="-228600">
              <a:lnSpc>
                <a:spcPct val="102000"/>
              </a:lnSpc>
              <a:spcAft>
                <a:spcPts val="900"/>
              </a:spcAft>
            </a:pPr>
            <a:r>
              <a:rPr sz="2000" b="1">
                <a:solidFill>
                  <a:srgbClr val="922B21"/>
                </a:solidFill>
                <a:latin typeface="Segoe UI"/>
              </a:rPr>
              <a:t>•  </a:t>
            </a:r>
            <a:r>
              <a:rPr sz="2000" b="0" i="0">
                <a:solidFill>
                  <a:srgbClr val="1C252B"/>
                </a:solidFill>
                <a:latin typeface="Segoe UI"/>
              </a:rPr>
              <a:t>NAT conserves addresses. It is not a firewall.</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922B21"/>
        </a:solidFill>
        <a:effectLst/>
      </p:bgPr>
    </p:bg>
    <p:spTree>
      <p:nvGrpSpPr>
        <p:cNvPr id="1" name=""/>
        <p:cNvGrpSpPr/>
        <p:nvPr/>
      </p:nvGrpSpPr>
      <p:grpSpPr/>
      <p:sp>
        <p:nvSpPr>
          <p:cNvPr id="2" name="bg"/>
          <p:cNvSpPr/>
          <p:nvPr/>
        </p:nvSpPr>
        <p:spPr>
          <a:xfrm>
            <a:off x="0" y="0"/>
            <a:ext cx="12191695" cy="6858000"/>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cltitle"/>
          <p:cNvSpPr txBox="1"/>
          <p:nvPr/>
        </p:nvSpPr>
        <p:spPr>
          <a:xfrm>
            <a:off x="685800" y="1051560"/>
            <a:ext cx="10820095" cy="822960"/>
          </a:xfrm>
          <a:prstGeom prst="rect">
            <a:avLst/>
          </a:prstGeom>
          <a:noFill/>
        </p:spPr>
        <p:txBody>
          <a:bodyPr wrap="square" anchor="t" lIns="0" rIns="0" tIns="0" bIns="0">
            <a:spAutoFit/>
          </a:bodyPr>
          <a:lstStyle/>
          <a:p>
            <a:pPr algn="l">
              <a:lnSpc>
                <a:spcPct val="100000"/>
              </a:lnSpc>
              <a:spcAft>
                <a:spcPts val="600"/>
              </a:spcAft>
            </a:pPr>
            <a:r>
              <a:rPr sz="3400" b="1" i="0">
                <a:solidFill>
                  <a:srgbClr val="FFFFFF"/>
                </a:solidFill>
                <a:latin typeface="Segoe UI"/>
              </a:rPr>
              <a:t>Where we got to</a:t>
            </a:r>
          </a:p>
        </p:txBody>
      </p:sp>
      <p:sp>
        <p:nvSpPr>
          <p:cNvPr id="4" name="cltakeaways"/>
          <p:cNvSpPr txBox="1"/>
          <p:nvPr/>
        </p:nvSpPr>
        <p:spPr>
          <a:xfrm>
            <a:off x="685800" y="2011680"/>
            <a:ext cx="10820095" cy="3063240"/>
          </a:xfrm>
          <a:prstGeom prst="rect">
            <a:avLst/>
          </a:prstGeom>
          <a:noFill/>
        </p:spPr>
        <p:txBody>
          <a:bodyPr wrap="square">
            <a:spAutoFit/>
          </a:bodyPr>
          <a:lstStyle/>
          <a:p>
            <a:pPr marL="217169" indent="-217169">
              <a:spcAft>
                <a:spcPts val="900"/>
              </a:spcAft>
            </a:pPr>
            <a:r>
              <a:rPr sz="1900">
                <a:solidFill>
                  <a:srgbClr val="C8D6E5"/>
                </a:solidFill>
              </a:rPr>
              <a:t>•  </a:t>
            </a:r>
            <a:r>
              <a:rPr sz="1900" b="0" i="0">
                <a:solidFill>
                  <a:srgbClr val="FFFFFF"/>
                </a:solidFill>
                <a:latin typeface="Segoe UI"/>
              </a:rPr>
              <a:t>Inside/outside names the host; local/global names the viewpoint. Outside local and outside global are normally the same address.</a:t>
            </a:r>
          </a:p>
          <a:p>
            <a:pPr marL="217169" indent="-217169">
              <a:spcAft>
                <a:spcPts val="900"/>
              </a:spcAft>
            </a:pPr>
            <a:r>
              <a:rPr sz="1900">
                <a:solidFill>
                  <a:srgbClr val="C8D6E5"/>
                </a:solidFill>
              </a:rPr>
              <a:t>•  </a:t>
            </a:r>
            <a:r>
              <a:rPr sz="1900" b="0" i="0">
                <a:solidFill>
                  <a:srgbClr val="FFFFFF"/>
                </a:solidFill>
                <a:latin typeface="Segoe UI"/>
              </a:rPr>
              <a:t>Static NAT is a permanent one-to-one map. Dynamic NAT lends from a pool and fails silently when empty. PAT adds </a:t>
            </a:r>
            <a:r>
              <a:rPr sz="1800" b="0" i="0">
                <a:solidFill>
                  <a:srgbClr val="FFFFFF"/>
                </a:solidFill>
                <a:latin typeface="Consolas"/>
              </a:rPr>
              <a:t>overload</a:t>
            </a:r>
            <a:r>
              <a:rPr sz="1900" b="0" i="0">
                <a:solidFill>
                  <a:srgbClr val="FFFFFF"/>
                </a:solidFill>
                <a:latin typeface="Segoe UI"/>
              </a:rPr>
              <a:t> and translates ports too, so it does not run out.</a:t>
            </a:r>
          </a:p>
          <a:p>
            <a:pPr marL="217169" indent="-217169">
              <a:spcAft>
                <a:spcPts val="900"/>
              </a:spcAft>
            </a:pPr>
            <a:r>
              <a:rPr sz="1900">
                <a:solidFill>
                  <a:srgbClr val="C8D6E5"/>
                </a:solidFill>
              </a:rPr>
              <a:t>•  </a:t>
            </a:r>
            <a:r>
              <a:rPr sz="1800" b="0" i="0">
                <a:solidFill>
                  <a:srgbClr val="FFFFFF"/>
                </a:solidFill>
                <a:latin typeface="Consolas"/>
              </a:rPr>
              <a:t>ip nat inside</a:t>
            </a:r>
            <a:r>
              <a:rPr sz="1900" b="0" i="0">
                <a:solidFill>
                  <a:srgbClr val="FFFFFF"/>
                </a:solidFill>
                <a:latin typeface="Segoe UI"/>
              </a:rPr>
              <a:t> and </a:t>
            </a:r>
            <a:r>
              <a:rPr sz="1800" b="0" i="0">
                <a:solidFill>
                  <a:srgbClr val="FFFFFF"/>
                </a:solidFill>
                <a:latin typeface="Consolas"/>
              </a:rPr>
              <a:t>ip nat outside</a:t>
            </a:r>
            <a:r>
              <a:rPr sz="1900" b="0" i="0">
                <a:solidFill>
                  <a:srgbClr val="FFFFFF"/>
                </a:solidFill>
                <a:latin typeface="Segoe UI"/>
              </a:rPr>
              <a:t> on the interfaces are not optional. Without both, no translation is attempted.</a:t>
            </a:r>
          </a:p>
          <a:p>
            <a:pPr marL="217169" indent="-217169">
              <a:spcAft>
                <a:spcPts val="900"/>
              </a:spcAft>
            </a:pPr>
            <a:r>
              <a:rPr sz="1900">
                <a:solidFill>
                  <a:srgbClr val="C8D6E5"/>
                </a:solidFill>
              </a:rPr>
              <a:t>•  </a:t>
            </a:r>
            <a:r>
              <a:rPr sz="1800" b="0" i="0">
                <a:solidFill>
                  <a:srgbClr val="FFFFFF"/>
                </a:solidFill>
                <a:latin typeface="Consolas"/>
              </a:rPr>
              <a:t>show ip nat translations</a:t>
            </a:r>
            <a:r>
              <a:rPr sz="1900" b="0" i="0">
                <a:solidFill>
                  <a:srgbClr val="FFFFFF"/>
                </a:solidFill>
                <a:latin typeface="Segoe UI"/>
              </a:rPr>
              <a:t> for what is happening now; </a:t>
            </a:r>
            <a:r>
              <a:rPr sz="1800" b="0" i="0">
                <a:solidFill>
                  <a:srgbClr val="FFFFFF"/>
                </a:solidFill>
                <a:latin typeface="Consolas"/>
              </a:rPr>
              <a:t>show ip nat statistics</a:t>
            </a:r>
            <a:r>
              <a:rPr sz="1900" b="0" i="0">
                <a:solidFill>
                  <a:srgbClr val="FFFFFF"/>
                </a:solidFill>
                <a:latin typeface="Segoe UI"/>
              </a:rPr>
              <a:t> for whether the rule is even being reached.</a:t>
            </a:r>
          </a:p>
        </p:txBody>
      </p:sp>
      <p:sp>
        <p:nvSpPr>
          <p:cNvPr id="5" name="nextbg"/>
          <p:cNvSpPr/>
          <p:nvPr/>
        </p:nvSpPr>
        <p:spPr>
          <a:xfrm>
            <a:off x="685800" y="5303520"/>
            <a:ext cx="10820095" cy="822960"/>
          </a:xfrm>
          <a:prstGeom prst="rect">
            <a:avLst/>
          </a:prstGeom>
          <a:solidFill>
            <a:srgbClr val="7C1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nextlab"/>
          <p:cNvSpPr txBox="1"/>
          <p:nvPr/>
        </p:nvSpPr>
        <p:spPr>
          <a:xfrm>
            <a:off x="960120" y="5449824"/>
            <a:ext cx="10271455" cy="274320"/>
          </a:xfrm>
          <a:prstGeom prst="rect">
            <a:avLst/>
          </a:prstGeom>
          <a:noFill/>
        </p:spPr>
        <p:txBody>
          <a:bodyPr wrap="square" anchor="t" lIns="0" rIns="0" tIns="0" bIns="0">
            <a:spAutoFit/>
          </a:bodyPr>
          <a:lstStyle/>
          <a:p>
            <a:pPr algn="l">
              <a:lnSpc>
                <a:spcPct val="100000"/>
              </a:lnSpc>
              <a:spcAft>
                <a:spcPts val="600"/>
              </a:spcAft>
            </a:pPr>
            <a:r>
              <a:rPr sz="1200" b="1" i="0">
                <a:solidFill>
                  <a:srgbClr val="B8C9DA"/>
                </a:solidFill>
                <a:latin typeface="Segoe UI"/>
              </a:rPr>
              <a:t>NEXT</a:t>
            </a:r>
          </a:p>
        </p:txBody>
      </p:sp>
      <p:sp>
        <p:nvSpPr>
          <p:cNvPr id="7" name="nexttitle"/>
          <p:cNvSpPr txBox="1"/>
          <p:nvPr/>
        </p:nvSpPr>
        <p:spPr>
          <a:xfrm>
            <a:off x="960120" y="5705856"/>
            <a:ext cx="10271455" cy="329184"/>
          </a:xfrm>
          <a:prstGeom prst="rect">
            <a:avLst/>
          </a:prstGeom>
          <a:noFill/>
        </p:spPr>
        <p:txBody>
          <a:bodyPr wrap="square" anchor="t" lIns="0" rIns="0" tIns="0" bIns="0">
            <a:spAutoFit/>
          </a:bodyPr>
          <a:lstStyle/>
          <a:p>
            <a:pPr algn="l">
              <a:lnSpc>
                <a:spcPct val="100000"/>
              </a:lnSpc>
              <a:spcAft>
                <a:spcPts val="600"/>
              </a:spcAft>
            </a:pPr>
            <a:r>
              <a:rPr sz="1900" b="1" i="0">
                <a:solidFill>
                  <a:srgbClr val="FFFFFF"/>
                </a:solidFill>
                <a:latin typeface="Segoe UI"/>
              </a:rPr>
              <a:t>Chapter 23 — Device Access, AAA and Secure File Transfer</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