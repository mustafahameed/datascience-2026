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7: The IOS Command Line. Blueprint topics: 2.4.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IOS Command Line 2.4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 - they are defined as they arrive. This slide is for the students'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Take two or three answers before advancing. The point is the prediction, not the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aloud. Ask what single field decides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elimination matters as much as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7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gfoot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06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ourse"/>
          <p:cNvSpPr txBox="1"/>
          <p:nvPr/>
        </p:nvSpPr>
        <p:spPr>
          <a:xfrm>
            <a:off x="685800" y="1170432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C8D6E5"/>
                </a:solidFill>
                <a:latin typeface="Segoe UI"/>
              </a:rPr>
              <a:t>CCNA 200-301 V2.0</a:t>
            </a:r>
          </a:p>
        </p:txBody>
      </p:sp>
      <p:sp>
        <p:nvSpPr>
          <p:cNvPr id="5" name="chnum"/>
          <p:cNvSpPr txBox="1"/>
          <p:nvPr/>
        </p:nvSpPr>
        <p:spPr>
          <a:xfrm>
            <a:off x="685800" y="1572768"/>
            <a:ext cx="2011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76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6" name="chtitle"/>
          <p:cNvSpPr txBox="1"/>
          <p:nvPr/>
        </p:nvSpPr>
        <p:spPr>
          <a:xfrm>
            <a:off x="2423160" y="1700784"/>
            <a:ext cx="90827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 IOS Command Line</a:t>
            </a:r>
          </a:p>
        </p:txBody>
      </p:sp>
      <p:sp>
        <p:nvSpPr>
          <p:cNvPr id="7" name="part"/>
          <p:cNvSpPr txBox="1"/>
          <p:nvPr/>
        </p:nvSpPr>
        <p:spPr>
          <a:xfrm>
            <a:off x="2441448" y="3017520"/>
            <a:ext cx="90827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8D6E5"/>
                </a:solidFill>
                <a:latin typeface="Segoe UI"/>
              </a:rPr>
              <a:t>Part I — Foundations</a:t>
            </a:r>
          </a:p>
        </p:txBody>
      </p:sp>
      <p:sp>
        <p:nvSpPr>
          <p:cNvPr id="8" name="tlabel"/>
          <p:cNvSpPr txBox="1"/>
          <p:nvPr/>
        </p:nvSpPr>
        <p:spPr>
          <a:xfrm>
            <a:off x="2441448" y="340156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EXAM TOPICS</a:t>
            </a:r>
          </a:p>
        </p:txBody>
      </p:sp>
      <p:sp>
        <p:nvSpPr>
          <p:cNvPr id="9" name="chip-2.4"/>
          <p:cNvSpPr/>
          <p:nvPr/>
        </p:nvSpPr>
        <p:spPr>
          <a:xfrm>
            <a:off x="2441448" y="3657600"/>
            <a:ext cx="566928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hiptx-2.4"/>
          <p:cNvSpPr txBox="1"/>
          <p:nvPr/>
        </p:nvSpPr>
        <p:spPr>
          <a:xfrm>
            <a:off x="2441448" y="3689604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17864"/>
                </a:solidFill>
                <a:latin typeface="Segoe UI"/>
              </a:rPr>
              <a:t>2.4</a:t>
            </a:r>
          </a:p>
        </p:txBody>
      </p:sp>
      <p:sp>
        <p:nvSpPr>
          <p:cNvPr id="11" name="authlab"/>
          <p:cNvSpPr txBox="1"/>
          <p:nvPr/>
        </p:nvSpPr>
        <p:spPr>
          <a:xfrm>
            <a:off x="685800" y="5138928"/>
            <a:ext cx="64920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LECTURER</a:t>
            </a:r>
          </a:p>
        </p:txBody>
      </p:sp>
      <p:sp>
        <p:nvSpPr>
          <p:cNvPr id="12" name="author"/>
          <p:cNvSpPr txBox="1"/>
          <p:nvPr/>
        </p:nvSpPr>
        <p:spPr>
          <a:xfrm>
            <a:off x="685800" y="5394960"/>
            <a:ext cx="64920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Dr. Mustafa Hameed</a:t>
            </a:r>
          </a:p>
        </p:txBody>
      </p:sp>
      <p:sp>
        <p:nvSpPr>
          <p:cNvPr id="13" name="lockup1"/>
          <p:cNvSpPr txBox="1"/>
          <p:nvPr/>
        </p:nvSpPr>
        <p:spPr>
          <a:xfrm>
            <a:off x="7939735" y="517550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4" name="lockup2"/>
          <p:cNvSpPr txBox="1"/>
          <p:nvPr/>
        </p:nvSpPr>
        <p:spPr>
          <a:xfrm>
            <a:off x="7939735" y="5413248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8D6E5"/>
                </a:solidFill>
                <a:latin typeface="Segoe UI"/>
              </a:rPr>
              <a:t>Department of Information Technology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LEARNING OUTCOMES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you will be able to do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417064"/>
            <a:ext cx="10820095" cy="396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Move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between IOS command modes without hesitating, and recognise which mode a prompt indicates.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Distinguish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running configuration from the startup configuration, and save deliberately rather than by habit.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Perform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 first-time device setup: hostname, addressing, passwords, SSH and a banner.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Filter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output, which is what makes long output usable under exam time pressure.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ASSUMED KNOWLEDGE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Before we start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337055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Chapter 4 for addressing and Chapter 6 for the diagnostic commands you will now be typing for real.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KEY TERMS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Vocabulary for this chapter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term-user EXEC"/>
          <p:cNvSpPr/>
          <p:nvPr/>
        </p:nvSpPr>
        <p:spPr>
          <a:xfrm>
            <a:off x="685800" y="1609344"/>
            <a:ext cx="1265936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b-user EXEC"/>
          <p:cNvSpPr/>
          <p:nvPr/>
        </p:nvSpPr>
        <p:spPr>
          <a:xfrm>
            <a:off x="685800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t-user EXEC"/>
          <p:cNvSpPr txBox="1"/>
          <p:nvPr/>
        </p:nvSpPr>
        <p:spPr>
          <a:xfrm>
            <a:off x="850392" y="1700784"/>
            <a:ext cx="93675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user EXEC</a:t>
            </a:r>
          </a:p>
        </p:txBody>
      </p:sp>
      <p:sp>
        <p:nvSpPr>
          <p:cNvPr id="10" name="term-privileged EXEC"/>
          <p:cNvSpPr/>
          <p:nvPr/>
        </p:nvSpPr>
        <p:spPr>
          <a:xfrm>
            <a:off x="2079752" y="1609344"/>
            <a:ext cx="1759712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b-privileged EXEC"/>
          <p:cNvSpPr/>
          <p:nvPr/>
        </p:nvSpPr>
        <p:spPr>
          <a:xfrm>
            <a:off x="2079752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t-privileged EXEC"/>
          <p:cNvSpPr txBox="1"/>
          <p:nvPr/>
        </p:nvSpPr>
        <p:spPr>
          <a:xfrm>
            <a:off x="2244344" y="1700784"/>
            <a:ext cx="1430528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privileged EXEC</a:t>
            </a:r>
          </a:p>
        </p:txBody>
      </p:sp>
      <p:sp>
        <p:nvSpPr>
          <p:cNvPr id="13" name="term-global configurati"/>
          <p:cNvSpPr/>
          <p:nvPr/>
        </p:nvSpPr>
        <p:spPr>
          <a:xfrm>
            <a:off x="3967480" y="1609344"/>
            <a:ext cx="2060447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b-global configurati"/>
          <p:cNvSpPr/>
          <p:nvPr/>
        </p:nvSpPr>
        <p:spPr>
          <a:xfrm>
            <a:off x="3967480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t-global configurati"/>
          <p:cNvSpPr txBox="1"/>
          <p:nvPr/>
        </p:nvSpPr>
        <p:spPr>
          <a:xfrm>
            <a:off x="4132072" y="1700784"/>
            <a:ext cx="173126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global configuration</a:t>
            </a:r>
          </a:p>
        </p:txBody>
      </p:sp>
      <p:sp>
        <p:nvSpPr>
          <p:cNvPr id="16" name="term-interface configur"/>
          <p:cNvSpPr/>
          <p:nvPr/>
        </p:nvSpPr>
        <p:spPr>
          <a:xfrm>
            <a:off x="6155944" y="1609344"/>
            <a:ext cx="2285999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b-interface configur"/>
          <p:cNvSpPr/>
          <p:nvPr/>
        </p:nvSpPr>
        <p:spPr>
          <a:xfrm>
            <a:off x="6155944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t-interface configur"/>
          <p:cNvSpPr txBox="1"/>
          <p:nvPr/>
        </p:nvSpPr>
        <p:spPr>
          <a:xfrm>
            <a:off x="6320536" y="1700784"/>
            <a:ext cx="19568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interface configuration</a:t>
            </a:r>
          </a:p>
        </p:txBody>
      </p:sp>
      <p:sp>
        <p:nvSpPr>
          <p:cNvPr id="19" name="term-line configuration"/>
          <p:cNvSpPr/>
          <p:nvPr/>
        </p:nvSpPr>
        <p:spPr>
          <a:xfrm>
            <a:off x="8569960" y="1609344"/>
            <a:ext cx="185318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b-line configuration"/>
          <p:cNvSpPr/>
          <p:nvPr/>
        </p:nvSpPr>
        <p:spPr>
          <a:xfrm>
            <a:off x="8569960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t-line configuration"/>
          <p:cNvSpPr txBox="1"/>
          <p:nvPr/>
        </p:nvSpPr>
        <p:spPr>
          <a:xfrm>
            <a:off x="8734552" y="1700784"/>
            <a:ext cx="152399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line configuration</a:t>
            </a:r>
          </a:p>
        </p:txBody>
      </p:sp>
      <p:sp>
        <p:nvSpPr>
          <p:cNvPr id="22" name="term-running-config"/>
          <p:cNvSpPr/>
          <p:nvPr/>
        </p:nvSpPr>
        <p:spPr>
          <a:xfrm>
            <a:off x="685800" y="2212848"/>
            <a:ext cx="160934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b-running-config"/>
          <p:cNvSpPr/>
          <p:nvPr/>
        </p:nvSpPr>
        <p:spPr>
          <a:xfrm>
            <a:off x="685800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t-running-config"/>
          <p:cNvSpPr txBox="1"/>
          <p:nvPr/>
        </p:nvSpPr>
        <p:spPr>
          <a:xfrm>
            <a:off x="850392" y="2304288"/>
            <a:ext cx="128015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running-config</a:t>
            </a:r>
          </a:p>
        </p:txBody>
      </p:sp>
      <p:sp>
        <p:nvSpPr>
          <p:cNvPr id="25" name="term-startup-config"/>
          <p:cNvSpPr/>
          <p:nvPr/>
        </p:nvSpPr>
        <p:spPr>
          <a:xfrm>
            <a:off x="2423159" y="2212848"/>
            <a:ext cx="1566671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b-startup-config"/>
          <p:cNvSpPr/>
          <p:nvPr/>
        </p:nvSpPr>
        <p:spPr>
          <a:xfrm>
            <a:off x="2423159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t-startup-config"/>
          <p:cNvSpPr txBox="1"/>
          <p:nvPr/>
        </p:nvSpPr>
        <p:spPr>
          <a:xfrm>
            <a:off x="2587751" y="2304288"/>
            <a:ext cx="123748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startup-config</a:t>
            </a:r>
          </a:p>
        </p:txBody>
      </p:sp>
      <p:sp>
        <p:nvSpPr>
          <p:cNvPr id="28" name="term-NVRAM"/>
          <p:cNvSpPr/>
          <p:nvPr/>
        </p:nvSpPr>
        <p:spPr>
          <a:xfrm>
            <a:off x="4117847" y="2212848"/>
            <a:ext cx="1011935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b-NVRAM"/>
          <p:cNvSpPr/>
          <p:nvPr/>
        </p:nvSpPr>
        <p:spPr>
          <a:xfrm>
            <a:off x="4117847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t-NVRAM"/>
          <p:cNvSpPr txBox="1"/>
          <p:nvPr/>
        </p:nvSpPr>
        <p:spPr>
          <a:xfrm>
            <a:off x="4282439" y="2304288"/>
            <a:ext cx="682751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NVRAM</a:t>
            </a:r>
          </a:p>
        </p:txBody>
      </p:sp>
      <p:sp>
        <p:nvSpPr>
          <p:cNvPr id="31" name="term-context-sensitive "/>
          <p:cNvSpPr/>
          <p:nvPr/>
        </p:nvSpPr>
        <p:spPr>
          <a:xfrm>
            <a:off x="5257799" y="2212848"/>
            <a:ext cx="231038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b-context-sensitive "/>
          <p:cNvSpPr/>
          <p:nvPr/>
        </p:nvSpPr>
        <p:spPr>
          <a:xfrm>
            <a:off x="5257799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t-context-sensitive "/>
          <p:cNvSpPr txBox="1"/>
          <p:nvPr/>
        </p:nvSpPr>
        <p:spPr>
          <a:xfrm>
            <a:off x="5422391" y="2304288"/>
            <a:ext cx="198119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context-sensitive help</a:t>
            </a:r>
          </a:p>
        </p:txBody>
      </p:sp>
      <p:sp>
        <p:nvSpPr>
          <p:cNvPr id="34" name="term-pipe"/>
          <p:cNvSpPr/>
          <p:nvPr/>
        </p:nvSpPr>
        <p:spPr>
          <a:xfrm>
            <a:off x="7696199" y="2212848"/>
            <a:ext cx="701040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b-pipe"/>
          <p:cNvSpPr/>
          <p:nvPr/>
        </p:nvSpPr>
        <p:spPr>
          <a:xfrm>
            <a:off x="7696199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t-pipe"/>
          <p:cNvSpPr txBox="1"/>
          <p:nvPr/>
        </p:nvSpPr>
        <p:spPr>
          <a:xfrm>
            <a:off x="7860791" y="2304288"/>
            <a:ext cx="37185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pipe</a:t>
            </a:r>
          </a:p>
        </p:txBody>
      </p:sp>
      <p:sp>
        <p:nvSpPr>
          <p:cNvPr id="37" name="term-banner"/>
          <p:cNvSpPr/>
          <p:nvPr/>
        </p:nvSpPr>
        <p:spPr>
          <a:xfrm>
            <a:off x="8525255" y="2212848"/>
            <a:ext cx="90830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b-banner"/>
          <p:cNvSpPr/>
          <p:nvPr/>
        </p:nvSpPr>
        <p:spPr>
          <a:xfrm>
            <a:off x="8525255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t-banner"/>
          <p:cNvSpPr txBox="1"/>
          <p:nvPr/>
        </p:nvSpPr>
        <p:spPr>
          <a:xfrm>
            <a:off x="8689847" y="2304288"/>
            <a:ext cx="57912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banner</a:t>
            </a:r>
          </a:p>
        </p:txBody>
      </p:sp>
      <p:sp>
        <p:nvSpPr>
          <p:cNvPr id="40" name="term-SSH"/>
          <p:cNvSpPr/>
          <p:nvPr/>
        </p:nvSpPr>
        <p:spPr>
          <a:xfrm>
            <a:off x="9561575" y="2212848"/>
            <a:ext cx="707136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b-SSH"/>
          <p:cNvSpPr/>
          <p:nvPr/>
        </p:nvSpPr>
        <p:spPr>
          <a:xfrm>
            <a:off x="9561575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t-SSH"/>
          <p:cNvSpPr txBox="1"/>
          <p:nvPr/>
        </p:nvSpPr>
        <p:spPr>
          <a:xfrm>
            <a:off x="9726167" y="2304288"/>
            <a:ext cx="37795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SSH</a:t>
            </a:r>
          </a:p>
        </p:txBody>
      </p:sp>
      <p:sp>
        <p:nvSpPr>
          <p:cNvPr id="43" name="termnote"/>
          <p:cNvSpPr txBox="1"/>
          <p:nvPr/>
        </p:nvSpPr>
        <p:spPr>
          <a:xfrm>
            <a:off x="685800" y="2962656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8A959A"/>
                </a:solidFill>
                <a:latin typeface="Segoe UI"/>
              </a:rPr>
              <a:t>Each is defined where it first matters — not here.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Getting out, and the two ways to do it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2749296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A5276"/>
                </a:solidFill>
                <a:latin typeface="Consolas"/>
              </a:rPr>
              <a:t>exit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steps back one level.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end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or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Ctrl-Z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jumps straight to privileged EXEC from anywhere. When an exam question shows you a prompt, the prompt is telling you which commands are currently legal — a global command typed in interface mode is rejected, and that is a favourite trap.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One shortcut worth knowing: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do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runs a privileged EXEC command without leaving configuration mode, so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do show ip interface brief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works from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SW1(config-if)#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DEFINITION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running-config and startup-config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4040632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</a:t>
            </a:r>
            <a:r>
              <a:rPr sz="2000" b="1" i="0">
                <a:solidFill>
                  <a:srgbClr val="117864"/>
                </a:solidFill>
                <a:latin typeface="Segoe UI"/>
              </a:rPr>
              <a:t>running configuration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in RAM. It is what the device is doing right now, and every command you type takes effect there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immediately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</a:t>
            </a:r>
            <a:r>
              <a:rPr sz="2000" b="1" i="0">
                <a:solidFill>
                  <a:srgbClr val="117864"/>
                </a:solidFill>
                <a:latin typeface="Segoe UI"/>
              </a:rPr>
              <a:t>startup configuration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in NVRAM. It is what the device will load when it next boots. Nothing you type reaches it until you copy it there.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978408" y="3332480"/>
            <a:ext cx="10234879" cy="3050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copy running-config startup-config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save. Abbreviated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wr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or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write memory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 most platforms.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running-config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what is in force.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startup-config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what will be in force after a reload.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WATCH OUT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Not saving is a technique, not only a mistake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2364449"/>
            <a:ext cx="10820095" cy="40180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Because configuration takes effect immediately and is lost on reload, a deliberately unsaved change is a safety net. If you are about to modify the access list or the interface you are connected through, and you get it wrong, a power cycle restores the last saved configuration and your access with it.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professional habit is: make the risky change, verify you still have access,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then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save. Reversing that order is how people lock themselves out of devices in another building.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Filtering output is a survival skill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3829304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full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running-config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 a production switch runs to hundreds of lines. The pipe cuts it to what you need, and in an exam it is the difference between answering and scrolling.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978408" y="2910840"/>
            <a:ext cx="10234879" cy="3471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| include vlan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only lines containing “vlan”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| exclude !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drop the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!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comment lines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| begin interface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start output at the first match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| section interface Gi0/1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that interface’s whole block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1A5276"/>
                </a:solidFill>
                <a:latin typeface="Segoe UI"/>
              </a:rPr>
              <a:t>show running-config | section interface GigabitEthernet0/1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1881632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SW1#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13878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interface GigabitEthernet0/1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description Uplink to SW2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switchport trunk encapsulation dot1q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switchport mode trunk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switchport trunk allowed vlan 10,20,30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A switch from the box to remotely manageable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517904"/>
            <a:ext cx="10820095" cy="4590288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517904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572768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1956816"/>
            <a:ext cx="10417759" cy="40965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enable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configure terminal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 1. Identify the device. The hostname appears in every prompt and log.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hostname SW1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 2. Protect privileged mode. "secret" is hashed; "password" is not 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    never use "enable password".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enable secret Str0ng-Enable-Secret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 3. A local user for SSH, with full privilege.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username netadmin privilege 15 secret Str0ng-User-Secret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 4. A management address. A layer 2 switch has no routed ports, so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    this lives on an SVI, and it needs a gateway to be reachable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    from another subnet.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interface Vlan1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 ip address 10.0.0.11 255.255.255.0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 no shutdown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exit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ip default-gateway 10.0.0.1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A5276"/>
                </a:solidFill>
                <a:latin typeface="Segoe UI"/>
              </a:rPr>
              <a:t>A switch from the box to remotely manageable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517904"/>
            <a:ext cx="10820095" cy="4401312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517904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572768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1956816"/>
            <a:ext cx="10417759" cy="3907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 5. SSH needs a domain name and a key. 2048-bit minimum; version 2 only.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ip domain-name example.local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crypto key generate rsa modulus 2048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ip ssh version 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 6. Console: require login, and stop output interrupting your typing.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line console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 login local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 logging synchronous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 exec-timeout 10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exit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 7. Remote access: SSH only, authenticated against local users.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line vty 0 15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 login local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 transport input ssh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 exec-timeout 10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exit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A5276"/>
                </a:solidFill>
                <a:latin typeface="Segoe UI"/>
              </a:rPr>
              <a:t>A switch from the box to remotely manageable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1881632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13878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8. A legal banner. Never write "welcome" -- it has been argued in court.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banner motd # Authorised access only. Activity is logged. #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end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copy running-config startup-config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ip ssh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1125728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SW1#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6319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SSH Enabled - version 2.0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Authentication timeout: 120 secs; Authentication retries: 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COMMON PITFALLS  ·  A first-time setup, end to end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Common pitfalls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Using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enable password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It is stored in clear text.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enable secret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hashed, and where both exist the secret wins.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Forgetting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transport input ssh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Leave it at the default and Telnet stays available, which undoes the point of configuring SSH.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Generating a key without a hostname and domain name.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key is named after them, and the command fails or produces a useless key if they are still at defaults.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Saving before verifying.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See the warning above. Verify access, then save.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Omitting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logging synchronous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Without it a log message arrives in the middle of the line you are typing, and you cannot tell what you have actually entered.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SYMPTOM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C252B"/>
                </a:solidFill>
                <a:latin typeface="Segoe UI"/>
              </a:rPr>
              <a:t>The change worked yesterday and the device came back without it.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3169412"/>
            <a:ext cx="10820095" cy="31856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 colleague configured a new VLAN and confirmed it working. After a power cut overnight, the VLAN is gone and the configuration looks like it did last week.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C252B"/>
                </a:solidFill>
                <a:latin typeface="Segoe UI"/>
              </a:rPr>
              <a:t>The change worked yesterday and the device came back without it.</a:t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would you check first — and what do you expect to see?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EVIDENCE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1C252B"/>
                </a:solidFill>
                <a:latin typeface="Segoe UI"/>
              </a:rPr>
              <a:t>show archive config differences nvram:startup-config system:running-config</a:t>
            </a:r>
          </a:p>
        </p:txBody>
      </p:sp>
      <p:sp>
        <p:nvSpPr>
          <p:cNvPr id="6" name="bfcodebg"/>
          <p:cNvSpPr/>
          <p:nvPr/>
        </p:nvSpPr>
        <p:spPr>
          <a:xfrm>
            <a:off x="685800" y="2011680"/>
            <a:ext cx="10820095" cy="178460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fcodebar"/>
          <p:cNvSpPr/>
          <p:nvPr/>
        </p:nvSpPr>
        <p:spPr>
          <a:xfrm>
            <a:off x="685800" y="2011680"/>
            <a:ext cx="10820095" cy="329184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fcodettl"/>
          <p:cNvSpPr txBox="1"/>
          <p:nvPr/>
        </p:nvSpPr>
        <p:spPr>
          <a:xfrm>
            <a:off x="886968" y="2057400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SW1#</a:t>
            </a:r>
          </a:p>
        </p:txBody>
      </p:sp>
      <p:sp>
        <p:nvSpPr>
          <p:cNvPr id="9" name="bfcode"/>
          <p:cNvSpPr txBox="1"/>
          <p:nvPr/>
        </p:nvSpPr>
        <p:spPr>
          <a:xfrm>
            <a:off x="886968" y="2432304"/>
            <a:ext cx="10417759" cy="13091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!Contextual Config Diffs: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+vlan 30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+ name Guest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+interface GigabitEthernet0/9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+ switchport access vlan 30</a:t>
            </a:r>
          </a:p>
        </p:txBody>
      </p:sp>
      <p:sp>
        <p:nvSpPr>
          <p:cNvPr id="10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11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is the fault — and what does this output rule out?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DIAGNOSIS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Why it is doing that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737123"/>
            <a:ext cx="10820095" cy="3617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Diagnosis.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change was made in the running configuration and never copied to the startup configuration. The reload loaded NVRAM, which did not have it. Nothing is broken — the device did exactly what it was told.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Confirm it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by comparing the two before doing anything else: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Any output at all means the two differ and a reload will lose the difference.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THE FIX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And the lesson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3169412"/>
            <a:ext cx="10820095" cy="31856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Fix.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Re-apply the change, verify, then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copy running-config startup-config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As a habit, run that comparison before you leave any device.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Bring up a switch you can reach from your desk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 i="0">
                <a:solidFill>
                  <a:srgbClr val="1C252B"/>
                </a:solidFill>
                <a:latin typeface="Segoe UI"/>
              </a:rPr>
              <a:t>Topology.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One switch, one PC on the same VLAN, connected by console cable and by an Ethernet cable.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85800" y="2361184"/>
            <a:ext cx="10820095" cy="402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1.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Connect by console. Move through all five modes in turn and write down the prompt at each. Use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end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to jump back from the deepest.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2.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Set hostname,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enable secret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a local user.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3.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Give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Vlan1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 address in the PC’s subnet and a default gateway. Ping the switch from the PC to prove it.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4.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Enable SSH properly: domain name, 2048-bit key, version 2, and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transport input ssh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 the VTY lines.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5.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SSH from the PC. Then try Telnet and confirm it is refused.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1A5276"/>
                </a:solidFill>
                <a:latin typeface="Segoe UI"/>
              </a:rPr>
              <a:t>Bring up a switch you can reach from your desk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718235"/>
            <a:ext cx="10820095" cy="36642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1.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Make a small change, do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not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save, reload, and observe the change vanish. Repeat with a save.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2.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Extension.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Practise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| include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| section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| begin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running-config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until you can extract a single interface block in one command without thinking.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1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You are at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SW1(config-if)#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 and need to check the routing table without losing your place. What do you type?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1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You are at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SW1(config-if)#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 and need to check the routing table without losing your place. What do you type?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8285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A5276"/>
                </a:solidFill>
                <a:latin typeface="Consolas"/>
              </a:rPr>
              <a:t>do show ip route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The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do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prefix runs a privileged EXEC command from any configuration mode without leaving it.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2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Which configuration does a device load on boot, and which one are you editing when you type a command?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2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Which configuration does a device load on boot, and which one are you editing when you type a command?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8285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It boots from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startup-config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in NVRAM. You are editing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running-config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in RAM. Anything not saved is lost at the next reload — see Chapter 31 for how this catches out automation too.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3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Why must a hostname and domain name be set before generating an RSA key?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3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Why must a hostname and domain name be set before generating an RSA key?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197354"/>
            <a:ext cx="41148" cy="8285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197354"/>
            <a:ext cx="10564063" cy="4093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Because the RSA key pair is named after the fully qualified domain name,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hostname.domain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Without both, the device has no name to label the key with and refuses to generate it.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CHAPTER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to take away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7. The IOS Command Line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2.4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The prompt tells you the mode, and the mode decides which commands are legal.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end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returns to privileged EXEC from anywhere;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do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runs one EXEC command without leaving.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Commands take effect in the running configuration immediately and are lost on reload until copied to the startup configuration.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Verify access first, save second. An unsaved risky change is a safety net.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enable secret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not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enable password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SSH version 2 with a 2048-bit key, and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transport input ssh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to shut off Telnet.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Filtering with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| include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| section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| begin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what makes device output usable at speed.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7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ltitle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Where we got to</a:t>
            </a:r>
          </a:p>
        </p:txBody>
      </p:sp>
      <p:sp>
        <p:nvSpPr>
          <p:cNvPr id="4" name="cltakeaways"/>
          <p:cNvSpPr txBox="1"/>
          <p:nvPr/>
        </p:nvSpPr>
        <p:spPr>
          <a:xfrm>
            <a:off x="685800" y="2011680"/>
            <a:ext cx="1082009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The prompt tells you the mode, and the mode decides which commands are legal.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end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returns to privileged EXEC from anywhere;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do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runs one EXEC command without leaving.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Commands take effect in the running configuration immediately and are lost on reload until copied to the startup configuration.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Verify access first, save second. An unsaved risky change is a safety net.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enable secret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, not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enable password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. SSH version 2 with a 2048-bit key, and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transport input ssh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to shut off Telnet.</a:t>
            </a:r>
          </a:p>
        </p:txBody>
      </p:sp>
      <p:sp>
        <p:nvSpPr>
          <p:cNvPr id="5" name="nextbg"/>
          <p:cNvSpPr/>
          <p:nvPr/>
        </p:nvSpPr>
        <p:spPr>
          <a:xfrm>
            <a:off x="685800" y="5303520"/>
            <a:ext cx="10820095" cy="822960"/>
          </a:xfrm>
          <a:prstGeom prst="rect">
            <a:avLst/>
          </a:prstGeom>
          <a:solidFill>
            <a:srgbClr val="006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nextlab"/>
          <p:cNvSpPr txBox="1"/>
          <p:nvPr/>
        </p:nvSpPr>
        <p:spPr>
          <a:xfrm>
            <a:off x="960120" y="5449824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8C9DA"/>
                </a:solidFill>
                <a:latin typeface="Segoe UI"/>
              </a:rPr>
              <a:t>NEXT</a:t>
            </a:r>
          </a:p>
        </p:txBody>
      </p:sp>
      <p:sp>
        <p:nvSpPr>
          <p:cNvPr id="7" name="nexttitle"/>
          <p:cNvSpPr txBox="1"/>
          <p:nvPr/>
        </p:nvSpPr>
        <p:spPr>
          <a:xfrm>
            <a:off x="960120" y="5705856"/>
            <a:ext cx="102714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Chapter 8 — VLANs and Access Ports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