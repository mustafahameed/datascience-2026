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6: TCP, UDP and the Diagnostic Toolkit. Blueprint topics: 2.4.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Students meeting a chapter in week ten cannot place it without being shown.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TCP, UDP and the Diagnostic Toolkit 2.4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IP address identifies a host. A port number identifies which program on that host. Together they form a socket, and a conversation is defined by four things: source address, source port, destination address, destination port. Client programs use a high-numbered ephemeral port as their source. This is why a return packet is not simply “port 80” — it is addressed to whatever ephemeral port the client opened, and why stateless access lists need care (Chapter 24).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Ping sends an ICMP echo request and waits for a reply. It proves that a path exists in both directions — a point worth dwelling on, because a successful ping rules out far more than a failed one confirms.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address — test the return path for a specific subnet. Repeat count — 100 pings exposes intermittent loss that five will miss. Datagram size with DF bit set — finds MTU problems. If 1500 fails and 1400 succeeds, something on the path cannot carry a full-size frame. Traceroute sends packets with deliberately small TTL values. The first router decrements TTL to zero, discards the packet and reports back; the second does the same for TTL 2, and so on. The result is a list of hops.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requests, no replies. That is a one-way path: the packets are leaving and arriving, but nothing is coming back. The fault is on the return path or at the destination host, and it is emphatically not the local switch — which is exactly the conclusion the capture is there to let you draw.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7864"/>
        </a:solidFill>
        <a:effectLst/>
      </p:bgPr>
    </p:bg>
    <p:spTree>
      <p:nvGrpSpPr>
        <p:cNvPr id="1" name=""/>
        <p:cNvGrpSpPr/>
        <p:nvPr/>
      </p:nvGrpSpPr>
      <p:grpSpPr/>
      <p:sp>
        <p:nvSpPr>
          <p:cNvPr id="2" name="bg"/>
          <p:cNvSpPr/>
          <p:nvPr/>
        </p:nvSpPr>
        <p:spPr>
          <a:xfrm>
            <a:off x="0" y="0"/>
            <a:ext cx="12191695" cy="68580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006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06</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TCP, UDP and the Diagnostic Toolkit</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 — Foundations</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2.4"/>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2.4"/>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117864"/>
                </a:solidFill>
                <a:latin typeface="Segoe UI"/>
              </a:rPr>
              <a:t>2.4</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pic>
        <p:nvPicPr>
          <p:cNvPr id="13" name="logo-iub-logo-white" descr="iub-logo-white.png"/>
          <p:cNvPicPr>
            <a:picLocks noChangeAspect="1"/>
          </p:cNvPicPr>
          <p:nvPr/>
        </p:nvPicPr>
        <p:blipFill>
          <a:blip r:embed="rId2"/>
          <a:stretch>
            <a:fillRect/>
          </a:stretch>
        </p:blipFill>
        <p:spPr>
          <a:xfrm>
            <a:off x="9131978" y="4443984"/>
            <a:ext cx="1070141" cy="1060704"/>
          </a:xfrm>
          <a:prstGeom prst="rect">
            <a:avLst/>
          </a:prstGeom>
        </p:spPr>
      </p:pic>
      <p:pic>
        <p:nvPicPr>
          <p:cNvPr id="14" name="logo-dit-logo" descr="dit-logo.png"/>
          <p:cNvPicPr>
            <a:picLocks noChangeAspect="1"/>
          </p:cNvPicPr>
          <p:nvPr/>
        </p:nvPicPr>
        <p:blipFill>
          <a:blip r:embed="rId3"/>
          <a:stretch>
            <a:fillRect/>
          </a:stretch>
        </p:blipFill>
        <p:spPr>
          <a:xfrm>
            <a:off x="10476439" y="4443984"/>
            <a:ext cx="1029456" cy="1060704"/>
          </a:xfrm>
          <a:prstGeom prst="rect">
            <a:avLst/>
          </a:prstGeom>
        </p:spPr>
      </p:pic>
      <p:sp>
        <p:nvSpPr>
          <p:cNvPr id="15" name="lockup1"/>
          <p:cNvSpPr txBox="1"/>
          <p:nvPr/>
        </p:nvSpPr>
        <p:spPr>
          <a:xfrm>
            <a:off x="7116775" y="5632704"/>
            <a:ext cx="4389120" cy="274320"/>
          </a:xfrm>
          <a:prstGeom prst="rect">
            <a:avLst/>
          </a:prstGeom>
          <a:noFill/>
        </p:spPr>
        <p:txBody>
          <a:bodyPr wrap="square" anchor="t" lIns="0" rIns="0" tIns="0" bIns="0">
            <a:spAutoFit/>
          </a:bodyPr>
          <a:lstStyle/>
          <a:p>
            <a:pPr algn="r">
              <a:lnSpc>
                <a:spcPct val="100000"/>
              </a:lnSpc>
              <a:spcAft>
                <a:spcPts val="600"/>
              </a:spcAft>
            </a:pPr>
            <a:r>
              <a:rPr sz="1200" b="1" i="0">
                <a:solidFill>
                  <a:srgbClr val="FFFFFF"/>
                </a:solidFill>
                <a:latin typeface="Segoe UI"/>
              </a:rPr>
              <a:t>THE ISLAMIA UNIVERSITY OF BAHAWALPUR</a:t>
            </a:r>
          </a:p>
        </p:txBody>
      </p:sp>
      <p:sp>
        <p:nvSpPr>
          <p:cNvPr id="16" name="lockup2"/>
          <p:cNvSpPr txBox="1"/>
          <p:nvPr/>
        </p:nvSpPr>
        <p:spPr>
          <a:xfrm>
            <a:off x="7116775" y="5870448"/>
            <a:ext cx="4389120" cy="256032"/>
          </a:xfrm>
          <a:prstGeom prst="rect">
            <a:avLst/>
          </a:prstGeom>
          <a:noFill/>
        </p:spPr>
        <p:txBody>
          <a:bodyPr wrap="square" anchor="t" lIns="0" rIns="0" tIns="0" bIns="0">
            <a:spAutoFit/>
          </a:bodyPr>
          <a:lstStyle/>
          <a:p>
            <a:pPr algn="r">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THE COURSE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Where this chapter sits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part1bg"/>
          <p:cNvSpPr/>
          <p:nvPr/>
        </p:nvSpPr>
        <p:spPr>
          <a:xfrm>
            <a:off x="685800" y="1792224"/>
            <a:ext cx="10820095" cy="56692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t1rule"/>
          <p:cNvSpPr/>
          <p:nvPr/>
        </p:nvSpPr>
        <p:spPr>
          <a:xfrm>
            <a:off x="685800" y="1792224"/>
            <a:ext cx="64008" cy="5669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art1n"/>
          <p:cNvSpPr txBox="1"/>
          <p:nvPr/>
        </p:nvSpPr>
        <p:spPr>
          <a:xfrm>
            <a:off x="941832" y="1938528"/>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17864"/>
                </a:solidFill>
                <a:latin typeface="Segoe UI"/>
              </a:rPr>
              <a:t>Part I</a:t>
            </a:r>
          </a:p>
        </p:txBody>
      </p:sp>
      <p:sp>
        <p:nvSpPr>
          <p:cNvPr id="10" name="part1t"/>
          <p:cNvSpPr txBox="1"/>
          <p:nvPr/>
        </p:nvSpPr>
        <p:spPr>
          <a:xfrm>
            <a:off x="2194560" y="1938528"/>
            <a:ext cx="7711135"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C252B"/>
                </a:solidFill>
                <a:latin typeface="Segoe UI"/>
              </a:rPr>
              <a:t>Foundations</a:t>
            </a:r>
          </a:p>
        </p:txBody>
      </p:sp>
      <p:sp>
        <p:nvSpPr>
          <p:cNvPr id="11" name="part1c"/>
          <p:cNvSpPr txBox="1"/>
          <p:nvPr/>
        </p:nvSpPr>
        <p:spPr>
          <a:xfrm>
            <a:off x="9951415" y="1938528"/>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117864"/>
                </a:solidFill>
                <a:latin typeface="Segoe UI"/>
              </a:rPr>
              <a:t>chapters 1–7</a:t>
            </a:r>
          </a:p>
        </p:txBody>
      </p:sp>
      <p:sp>
        <p:nvSpPr>
          <p:cNvPr id="12" name="part2bg"/>
          <p:cNvSpPr/>
          <p:nvPr/>
        </p:nvSpPr>
        <p:spPr>
          <a:xfrm>
            <a:off x="685800" y="2450591"/>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art2rule"/>
          <p:cNvSpPr/>
          <p:nvPr/>
        </p:nvSpPr>
        <p:spPr>
          <a:xfrm>
            <a:off x="685800" y="2450591"/>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rt2n"/>
          <p:cNvSpPr txBox="1"/>
          <p:nvPr/>
        </p:nvSpPr>
        <p:spPr>
          <a:xfrm>
            <a:off x="941832" y="2596896"/>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a:t>
            </a:r>
          </a:p>
        </p:txBody>
      </p:sp>
      <p:sp>
        <p:nvSpPr>
          <p:cNvPr id="15" name="part2t"/>
          <p:cNvSpPr txBox="1"/>
          <p:nvPr/>
        </p:nvSpPr>
        <p:spPr>
          <a:xfrm>
            <a:off x="2194560" y="2596896"/>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Switching and Network Access</a:t>
            </a:r>
          </a:p>
        </p:txBody>
      </p:sp>
      <p:sp>
        <p:nvSpPr>
          <p:cNvPr id="16" name="part2c"/>
          <p:cNvSpPr txBox="1"/>
          <p:nvPr/>
        </p:nvSpPr>
        <p:spPr>
          <a:xfrm>
            <a:off x="9951415" y="2596896"/>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8–14</a:t>
            </a:r>
          </a:p>
        </p:txBody>
      </p:sp>
      <p:sp>
        <p:nvSpPr>
          <p:cNvPr id="17" name="part3bg"/>
          <p:cNvSpPr/>
          <p:nvPr/>
        </p:nvSpPr>
        <p:spPr>
          <a:xfrm>
            <a:off x="685800" y="3108959"/>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t3rule"/>
          <p:cNvSpPr/>
          <p:nvPr/>
        </p:nvSpPr>
        <p:spPr>
          <a:xfrm>
            <a:off x="685800" y="3108959"/>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t3n"/>
          <p:cNvSpPr txBox="1"/>
          <p:nvPr/>
        </p:nvSpPr>
        <p:spPr>
          <a:xfrm>
            <a:off x="941832" y="3255263"/>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III</a:t>
            </a:r>
          </a:p>
        </p:txBody>
      </p:sp>
      <p:sp>
        <p:nvSpPr>
          <p:cNvPr id="20" name="part3t"/>
          <p:cNvSpPr txBox="1"/>
          <p:nvPr/>
        </p:nvSpPr>
        <p:spPr>
          <a:xfrm>
            <a:off x="2194560" y="3255263"/>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IP Routing</a:t>
            </a:r>
          </a:p>
        </p:txBody>
      </p:sp>
      <p:sp>
        <p:nvSpPr>
          <p:cNvPr id="21" name="part3c"/>
          <p:cNvSpPr txBox="1"/>
          <p:nvPr/>
        </p:nvSpPr>
        <p:spPr>
          <a:xfrm>
            <a:off x="9951415" y="3255263"/>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15–19</a:t>
            </a:r>
          </a:p>
        </p:txBody>
      </p:sp>
      <p:sp>
        <p:nvSpPr>
          <p:cNvPr id="22" name="part4bg"/>
          <p:cNvSpPr/>
          <p:nvPr/>
        </p:nvSpPr>
        <p:spPr>
          <a:xfrm>
            <a:off x="685800" y="3767327"/>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t4rule"/>
          <p:cNvSpPr/>
          <p:nvPr/>
        </p:nvSpPr>
        <p:spPr>
          <a:xfrm>
            <a:off x="685800" y="3767327"/>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rt4n"/>
          <p:cNvSpPr txBox="1"/>
          <p:nvPr/>
        </p:nvSpPr>
        <p:spPr>
          <a:xfrm>
            <a:off x="941832" y="3913631"/>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IV</a:t>
            </a:r>
          </a:p>
        </p:txBody>
      </p:sp>
      <p:sp>
        <p:nvSpPr>
          <p:cNvPr id="25" name="part4t"/>
          <p:cNvSpPr txBox="1"/>
          <p:nvPr/>
        </p:nvSpPr>
        <p:spPr>
          <a:xfrm>
            <a:off x="2194560" y="3913631"/>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Network Services and Security</a:t>
            </a:r>
          </a:p>
        </p:txBody>
      </p:sp>
      <p:sp>
        <p:nvSpPr>
          <p:cNvPr id="26" name="part4c"/>
          <p:cNvSpPr txBox="1"/>
          <p:nvPr/>
        </p:nvSpPr>
        <p:spPr>
          <a:xfrm>
            <a:off x="9951415" y="3913631"/>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20–26</a:t>
            </a:r>
          </a:p>
        </p:txBody>
      </p:sp>
      <p:sp>
        <p:nvSpPr>
          <p:cNvPr id="27" name="part5bg"/>
          <p:cNvSpPr/>
          <p:nvPr/>
        </p:nvSpPr>
        <p:spPr>
          <a:xfrm>
            <a:off x="685800" y="4425695"/>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art5rule"/>
          <p:cNvSpPr/>
          <p:nvPr/>
        </p:nvSpPr>
        <p:spPr>
          <a:xfrm>
            <a:off x="685800" y="4425695"/>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art5n"/>
          <p:cNvSpPr txBox="1"/>
          <p:nvPr/>
        </p:nvSpPr>
        <p:spPr>
          <a:xfrm>
            <a:off x="941832" y="4571999"/>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a:t>
            </a:r>
          </a:p>
        </p:txBody>
      </p:sp>
      <p:sp>
        <p:nvSpPr>
          <p:cNvPr id="30" name="part5t"/>
          <p:cNvSpPr txBox="1"/>
          <p:nvPr/>
        </p:nvSpPr>
        <p:spPr>
          <a:xfrm>
            <a:off x="2194560" y="4571999"/>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Wireless, Virtualisation and Operations</a:t>
            </a:r>
          </a:p>
        </p:txBody>
      </p:sp>
      <p:sp>
        <p:nvSpPr>
          <p:cNvPr id="31" name="part5c"/>
          <p:cNvSpPr txBox="1"/>
          <p:nvPr/>
        </p:nvSpPr>
        <p:spPr>
          <a:xfrm>
            <a:off x="9951415" y="4571999"/>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27–32</a:t>
            </a:r>
          </a:p>
        </p:txBody>
      </p:sp>
      <p:sp>
        <p:nvSpPr>
          <p:cNvPr id="32" name="part6bg"/>
          <p:cNvSpPr/>
          <p:nvPr/>
        </p:nvSpPr>
        <p:spPr>
          <a:xfrm>
            <a:off x="685800" y="5084063"/>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rt6rule"/>
          <p:cNvSpPr/>
          <p:nvPr/>
        </p:nvSpPr>
        <p:spPr>
          <a:xfrm>
            <a:off x="685800" y="5084063"/>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art6n"/>
          <p:cNvSpPr txBox="1"/>
          <p:nvPr/>
        </p:nvSpPr>
        <p:spPr>
          <a:xfrm>
            <a:off x="941832" y="5230367"/>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VI</a:t>
            </a:r>
          </a:p>
        </p:txBody>
      </p:sp>
      <p:sp>
        <p:nvSpPr>
          <p:cNvPr id="35" name="part6t"/>
          <p:cNvSpPr txBox="1"/>
          <p:nvPr/>
        </p:nvSpPr>
        <p:spPr>
          <a:xfrm>
            <a:off x="2194560" y="5230367"/>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Sitting the Exam</a:t>
            </a:r>
          </a:p>
        </p:txBody>
      </p:sp>
      <p:sp>
        <p:nvSpPr>
          <p:cNvPr id="36" name="part6c"/>
          <p:cNvSpPr txBox="1"/>
          <p:nvPr/>
        </p:nvSpPr>
        <p:spPr>
          <a:xfrm>
            <a:off x="9951415" y="5230367"/>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33–34</a:t>
            </a:r>
          </a:p>
        </p:txBody>
      </p:sp>
      <p:sp>
        <p:nvSpPr>
          <p:cNvPr id="3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3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Explain</a:t>
            </a:r>
            <a:r>
              <a:rPr sz="2000" b="0" i="0">
                <a:solidFill>
                  <a:srgbClr val="1C252B"/>
                </a:solidFill>
                <a:latin typeface="Segoe UI"/>
              </a:rPr>
              <a:t> what a port number identifies, and recognise the well-known ports that appear in access lists and in fault reports.</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Choose</a:t>
            </a:r>
            <a:r>
              <a:rPr sz="2000" b="0" i="0">
                <a:solidFill>
                  <a:srgbClr val="1C252B"/>
                </a:solidFill>
                <a:latin typeface="Segoe UI"/>
              </a:rPr>
              <a:t> correctly between TCP and UDP behaviour when reasoning about a symptom.</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Use</a:t>
            </a:r>
            <a:r>
              <a:rPr sz="2000" b="0" i="0">
                <a:solidFill>
                  <a:srgbClr val="1C252B"/>
                </a:solidFill>
                <a:latin typeface="Segoe UI"/>
              </a:rPr>
              <a:t> ping, extended ping and traceroute deliberately, varying source, size and count to test a specific hypothesis.</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Read</a:t>
            </a:r>
            <a:r>
              <a:rPr sz="2000" b="0" i="0">
                <a:solidFill>
                  <a:srgbClr val="1C252B"/>
                </a:solidFill>
                <a:latin typeface="Segoe UI"/>
              </a:rPr>
              <a:t> packet capture output well enough to say which direction failed.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tint"/>
          <p:cNvSpPr/>
          <p:nvPr/>
        </p:nvSpPr>
        <p:spPr>
          <a:xfrm>
            <a:off x="685800" y="1517904"/>
            <a:ext cx="10820095" cy="10068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4 for addressing, Chapter 3 for what a switch does with a frame.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term-port"/>
          <p:cNvSpPr/>
          <p:nvPr/>
        </p:nvSpPr>
        <p:spPr>
          <a:xfrm>
            <a:off x="685800" y="1609344"/>
            <a:ext cx="63779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port"/>
          <p:cNvSpPr/>
          <p:nvPr/>
        </p:nvSpPr>
        <p:spPr>
          <a:xfrm>
            <a:off x="685800"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port"/>
          <p:cNvSpPr txBox="1"/>
          <p:nvPr/>
        </p:nvSpPr>
        <p:spPr>
          <a:xfrm>
            <a:off x="850392" y="1700784"/>
            <a:ext cx="30861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port</a:t>
            </a:r>
          </a:p>
        </p:txBody>
      </p:sp>
      <p:sp>
        <p:nvSpPr>
          <p:cNvPr id="10" name="term-socket"/>
          <p:cNvSpPr/>
          <p:nvPr/>
        </p:nvSpPr>
        <p:spPr>
          <a:xfrm>
            <a:off x="1451610" y="1609344"/>
            <a:ext cx="87210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socket"/>
          <p:cNvSpPr/>
          <p:nvPr/>
        </p:nvSpPr>
        <p:spPr>
          <a:xfrm>
            <a:off x="1451610"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socket"/>
          <p:cNvSpPr txBox="1"/>
          <p:nvPr/>
        </p:nvSpPr>
        <p:spPr>
          <a:xfrm>
            <a:off x="1616201" y="1700784"/>
            <a:ext cx="54292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socket</a:t>
            </a:r>
          </a:p>
        </p:txBody>
      </p:sp>
      <p:sp>
        <p:nvSpPr>
          <p:cNvPr id="13" name="term-TCP"/>
          <p:cNvSpPr/>
          <p:nvPr/>
        </p:nvSpPr>
        <p:spPr>
          <a:xfrm>
            <a:off x="2451735" y="1609344"/>
            <a:ext cx="68351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TCP"/>
          <p:cNvSpPr/>
          <p:nvPr/>
        </p:nvSpPr>
        <p:spPr>
          <a:xfrm>
            <a:off x="2451735"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TCP"/>
          <p:cNvSpPr txBox="1"/>
          <p:nvPr/>
        </p:nvSpPr>
        <p:spPr>
          <a:xfrm>
            <a:off x="2616327" y="1700784"/>
            <a:ext cx="35432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TCP</a:t>
            </a:r>
          </a:p>
        </p:txBody>
      </p:sp>
      <p:sp>
        <p:nvSpPr>
          <p:cNvPr id="16" name="term-UDP"/>
          <p:cNvSpPr/>
          <p:nvPr/>
        </p:nvSpPr>
        <p:spPr>
          <a:xfrm>
            <a:off x="3263264" y="1609344"/>
            <a:ext cx="68351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UDP"/>
          <p:cNvSpPr/>
          <p:nvPr/>
        </p:nvSpPr>
        <p:spPr>
          <a:xfrm>
            <a:off x="3263264"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UDP"/>
          <p:cNvSpPr txBox="1"/>
          <p:nvPr/>
        </p:nvSpPr>
        <p:spPr>
          <a:xfrm>
            <a:off x="3427857" y="1700784"/>
            <a:ext cx="35432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UDP</a:t>
            </a:r>
          </a:p>
        </p:txBody>
      </p:sp>
      <p:sp>
        <p:nvSpPr>
          <p:cNvPr id="19" name="term-three-way handshak"/>
          <p:cNvSpPr/>
          <p:nvPr/>
        </p:nvSpPr>
        <p:spPr>
          <a:xfrm>
            <a:off x="4074795" y="1609344"/>
            <a:ext cx="212559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three-way handshak"/>
          <p:cNvSpPr/>
          <p:nvPr/>
        </p:nvSpPr>
        <p:spPr>
          <a:xfrm>
            <a:off x="4074795"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three-way handshak"/>
          <p:cNvSpPr txBox="1"/>
          <p:nvPr/>
        </p:nvSpPr>
        <p:spPr>
          <a:xfrm>
            <a:off x="4239387" y="1700784"/>
            <a:ext cx="179641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three-way handshake</a:t>
            </a:r>
          </a:p>
        </p:txBody>
      </p:sp>
      <p:sp>
        <p:nvSpPr>
          <p:cNvPr id="22" name="term-acknowledgement"/>
          <p:cNvSpPr/>
          <p:nvPr/>
        </p:nvSpPr>
        <p:spPr>
          <a:xfrm>
            <a:off x="6328409" y="1609344"/>
            <a:ext cx="184746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acknowledgement"/>
          <p:cNvSpPr/>
          <p:nvPr/>
        </p:nvSpPr>
        <p:spPr>
          <a:xfrm>
            <a:off x="6328409"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acknowledgement"/>
          <p:cNvSpPr txBox="1"/>
          <p:nvPr/>
        </p:nvSpPr>
        <p:spPr>
          <a:xfrm>
            <a:off x="6493001" y="1700784"/>
            <a:ext cx="151828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acknowledgement</a:t>
            </a:r>
          </a:p>
        </p:txBody>
      </p:sp>
      <p:sp>
        <p:nvSpPr>
          <p:cNvPr id="25" name="term-retransmission"/>
          <p:cNvSpPr/>
          <p:nvPr/>
        </p:nvSpPr>
        <p:spPr>
          <a:xfrm>
            <a:off x="8303894" y="1609344"/>
            <a:ext cx="155981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retransmission"/>
          <p:cNvSpPr/>
          <p:nvPr/>
        </p:nvSpPr>
        <p:spPr>
          <a:xfrm>
            <a:off x="8303894"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retransmission"/>
          <p:cNvSpPr txBox="1"/>
          <p:nvPr/>
        </p:nvSpPr>
        <p:spPr>
          <a:xfrm>
            <a:off x="8468486" y="1700784"/>
            <a:ext cx="123063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retransmission</a:t>
            </a:r>
          </a:p>
        </p:txBody>
      </p:sp>
      <p:sp>
        <p:nvSpPr>
          <p:cNvPr id="28" name="term-well-known port"/>
          <p:cNvSpPr/>
          <p:nvPr/>
        </p:nvSpPr>
        <p:spPr>
          <a:xfrm>
            <a:off x="685800" y="2212848"/>
            <a:ext cx="172745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well-known port"/>
          <p:cNvSpPr/>
          <p:nvPr/>
        </p:nvSpPr>
        <p:spPr>
          <a:xfrm>
            <a:off x="685800"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well-known port"/>
          <p:cNvSpPr txBox="1"/>
          <p:nvPr/>
        </p:nvSpPr>
        <p:spPr>
          <a:xfrm>
            <a:off x="850392" y="2304288"/>
            <a:ext cx="139826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well-known port</a:t>
            </a:r>
          </a:p>
        </p:txBody>
      </p:sp>
      <p:sp>
        <p:nvSpPr>
          <p:cNvPr id="31" name="term-ephemeral port"/>
          <p:cNvSpPr/>
          <p:nvPr/>
        </p:nvSpPr>
        <p:spPr>
          <a:xfrm>
            <a:off x="2541269" y="2212848"/>
            <a:ext cx="155981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ephemeral port"/>
          <p:cNvSpPr/>
          <p:nvPr/>
        </p:nvSpPr>
        <p:spPr>
          <a:xfrm>
            <a:off x="2541269"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ephemeral port"/>
          <p:cNvSpPr txBox="1"/>
          <p:nvPr/>
        </p:nvSpPr>
        <p:spPr>
          <a:xfrm>
            <a:off x="2705862" y="2304288"/>
            <a:ext cx="123063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ephemeral port</a:t>
            </a:r>
          </a:p>
        </p:txBody>
      </p:sp>
      <p:sp>
        <p:nvSpPr>
          <p:cNvPr id="34" name="term-ICMP"/>
          <p:cNvSpPr/>
          <p:nvPr/>
        </p:nvSpPr>
        <p:spPr>
          <a:xfrm>
            <a:off x="4229100" y="2212848"/>
            <a:ext cx="79019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ICMP"/>
          <p:cNvSpPr/>
          <p:nvPr/>
        </p:nvSpPr>
        <p:spPr>
          <a:xfrm>
            <a:off x="4229100"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ICMP"/>
          <p:cNvSpPr txBox="1"/>
          <p:nvPr/>
        </p:nvSpPr>
        <p:spPr>
          <a:xfrm>
            <a:off x="4393692" y="2304288"/>
            <a:ext cx="46101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ICMP</a:t>
            </a:r>
          </a:p>
        </p:txBody>
      </p:sp>
      <p:sp>
        <p:nvSpPr>
          <p:cNvPr id="37" name="term-echo request"/>
          <p:cNvSpPr/>
          <p:nvPr/>
        </p:nvSpPr>
        <p:spPr>
          <a:xfrm>
            <a:off x="5147310" y="2212848"/>
            <a:ext cx="137502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b-echo request"/>
          <p:cNvSpPr/>
          <p:nvPr/>
        </p:nvSpPr>
        <p:spPr>
          <a:xfrm>
            <a:off x="5147310"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t-echo request"/>
          <p:cNvSpPr txBox="1"/>
          <p:nvPr/>
        </p:nvSpPr>
        <p:spPr>
          <a:xfrm>
            <a:off x="5311901" y="2304288"/>
            <a:ext cx="104584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echo request</a:t>
            </a:r>
          </a:p>
        </p:txBody>
      </p:sp>
      <p:sp>
        <p:nvSpPr>
          <p:cNvPr id="40" name="term-TTL"/>
          <p:cNvSpPr/>
          <p:nvPr/>
        </p:nvSpPr>
        <p:spPr>
          <a:xfrm>
            <a:off x="6650355" y="2212848"/>
            <a:ext cx="68351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b-TTL"/>
          <p:cNvSpPr/>
          <p:nvPr/>
        </p:nvSpPr>
        <p:spPr>
          <a:xfrm>
            <a:off x="6650355"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t-TTL"/>
          <p:cNvSpPr txBox="1"/>
          <p:nvPr/>
        </p:nvSpPr>
        <p:spPr>
          <a:xfrm>
            <a:off x="6814946" y="2304288"/>
            <a:ext cx="35432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TTL</a:t>
            </a:r>
          </a:p>
        </p:txBody>
      </p:sp>
      <p:sp>
        <p:nvSpPr>
          <p:cNvPr id="43" name="term-extended ping"/>
          <p:cNvSpPr/>
          <p:nvPr/>
        </p:nvSpPr>
        <p:spPr>
          <a:xfrm>
            <a:off x="7461885" y="2212848"/>
            <a:ext cx="147218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b-extended ping"/>
          <p:cNvSpPr/>
          <p:nvPr/>
        </p:nvSpPr>
        <p:spPr>
          <a:xfrm>
            <a:off x="7461885"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t-extended ping"/>
          <p:cNvSpPr txBox="1"/>
          <p:nvPr/>
        </p:nvSpPr>
        <p:spPr>
          <a:xfrm>
            <a:off x="7626476" y="2304288"/>
            <a:ext cx="114299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extended ping</a:t>
            </a:r>
          </a:p>
        </p:txBody>
      </p:sp>
      <p:sp>
        <p:nvSpPr>
          <p:cNvPr id="46" name="term-traceroute"/>
          <p:cNvSpPr/>
          <p:nvPr/>
        </p:nvSpPr>
        <p:spPr>
          <a:xfrm>
            <a:off x="9062085" y="2212848"/>
            <a:ext cx="114071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b-traceroute"/>
          <p:cNvSpPr/>
          <p:nvPr/>
        </p:nvSpPr>
        <p:spPr>
          <a:xfrm>
            <a:off x="9062085"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t-traceroute"/>
          <p:cNvSpPr txBox="1"/>
          <p:nvPr/>
        </p:nvSpPr>
        <p:spPr>
          <a:xfrm>
            <a:off x="9226677" y="2304288"/>
            <a:ext cx="81152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traceroute</a:t>
            </a:r>
          </a:p>
        </p:txBody>
      </p:sp>
      <p:sp>
        <p:nvSpPr>
          <p:cNvPr id="49"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toolkit is the exam</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117864"/>
                </a:solidFill>
                <a:latin typeface="Segoe UI"/>
              </a:rPr>
              <a:t>This is what the blueprint actually asks for</a:t>
            </a:r>
          </a:p>
        </p:txBody>
      </p:sp>
      <p:sp>
        <p:nvSpPr>
          <p:cNvPr id="8" name="body"/>
          <p:cNvSpPr txBox="1"/>
          <p:nvPr/>
        </p:nvSpPr>
        <p:spPr>
          <a:xfrm>
            <a:off x="685800" y="2267712"/>
            <a:ext cx="10820095" cy="411480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117864"/>
                </a:solidFill>
                <a:latin typeface="Segoe UI"/>
              </a:rPr>
              <a:t> 2.4 </a:t>
            </a:r>
            <a:r>
              <a:rPr sz="2000" b="0" i="0">
                <a:solidFill>
                  <a:srgbClr val="1C252B"/>
                </a:solidFill>
                <a:latin typeface="Segoe UI"/>
              </a:rPr>
              <a:t> names the tools by name: “show commands (including show logs), ping, extended ping, trace route, and packet capture output”. It is one of the eight </a:t>
            </a:r>
            <a:r>
              <a:rPr sz="2000" b="0" i="1">
                <a:solidFill>
                  <a:srgbClr val="1C252B"/>
                </a:solidFill>
                <a:latin typeface="Segoe UI"/>
              </a:rPr>
              <a:t>troubleshoot</a:t>
            </a:r>
            <a:r>
              <a:rPr sz="2000" b="0" i="0">
                <a:solidFill>
                  <a:srgbClr val="1C252B"/>
                </a:solidFill>
                <a:latin typeface="Segoe UI"/>
              </a:rPr>
              <a:t> topics, and the tools in it are how you will answer the other seven. Learn them as instruments, not as trivia.</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TCP or UDP, and what each failure looks like</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tint"/>
          <p:cNvSpPr/>
          <p:nvPr/>
        </p:nvSpPr>
        <p:spPr>
          <a:xfrm>
            <a:off x="685800" y="1517904"/>
            <a:ext cx="10820095" cy="4821935"/>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1" i="0">
                <a:solidFill>
                  <a:srgbClr val="1C252B"/>
                </a:solidFill>
                <a:latin typeface="Segoe UI"/>
              </a:rPr>
              <a:t>TCP</a:t>
            </a:r>
            <a:r>
              <a:rPr sz="2000" b="0" i="0">
                <a:solidFill>
                  <a:srgbClr val="1C252B"/>
                </a:solidFill>
                <a:latin typeface="Segoe UI"/>
              </a:rPr>
              <a:t> establishes a connection with a three-way handshake — SYN, SYN-ACK, ACK — numbers every byte, acknowledges what arrives and retransmits what does not. It costs latency and gains reliability.</a:t>
            </a:r>
          </a:p>
          <a:p>
            <a:pPr algn="l">
              <a:lnSpc>
                <a:spcPct val="100000"/>
              </a:lnSpc>
              <a:spcAft>
                <a:spcPts val="1000"/>
              </a:spcAft>
            </a:pPr>
            <a:r>
              <a:rPr sz="2000" b="1" i="0">
                <a:solidFill>
                  <a:srgbClr val="1C252B"/>
                </a:solidFill>
                <a:latin typeface="Segoe UI"/>
              </a:rPr>
              <a:t>UDP</a:t>
            </a:r>
            <a:r>
              <a:rPr sz="2000" b="0" i="0">
                <a:solidFill>
                  <a:srgbClr val="1C252B"/>
                </a:solidFill>
                <a:latin typeface="Segoe UI"/>
              </a:rPr>
              <a:t> sends and forgets. No handshake, no acknowledgement, no retransmission. It is right for anything where a late packet is worse than a lost one, and for short exchanges where a handshake would double the cost — which is why DNS and DHCP use it.</a:t>
            </a:r>
          </a:p>
          <a:p>
            <a:pPr algn="l">
              <a:lnSpc>
                <a:spcPct val="100000"/>
              </a:lnSpc>
              <a:spcAft>
                <a:spcPts val="1000"/>
              </a:spcAft>
            </a:pPr>
            <a:r>
              <a:rPr sz="2000" b="0" i="0">
                <a:solidFill>
                  <a:srgbClr val="1C252B"/>
                </a:solidFill>
                <a:latin typeface="Segoe UI"/>
              </a:rPr>
              <a:t>The diagnostic value is in how they fail. A blocked TCP port produces a </a:t>
            </a:r>
            <a:r>
              <a:rPr sz="2000" b="0" i="1">
                <a:solidFill>
                  <a:srgbClr val="1C252B"/>
                </a:solidFill>
                <a:latin typeface="Segoe UI"/>
              </a:rPr>
              <a:t>connection timeout or refusal</a:t>
            </a:r>
            <a:r>
              <a:rPr sz="2000" b="0" i="0">
                <a:solidFill>
                  <a:srgbClr val="1C252B"/>
                </a:solidFill>
                <a:latin typeface="Segoe UI"/>
              </a:rPr>
              <a:t> — something definite. A blocked UDP port often produces </a:t>
            </a:r>
            <a:r>
              <a:rPr sz="2000" b="0" i="1">
                <a:solidFill>
                  <a:srgbClr val="1C252B"/>
                </a:solidFill>
                <a:latin typeface="Segoe UI"/>
              </a:rPr>
              <a:t>nothing at all</a:t>
            </a:r>
            <a:r>
              <a:rPr sz="2000" b="0" i="0">
                <a:solidFill>
                  <a:srgbClr val="1C252B"/>
                </a:solidFill>
                <a:latin typeface="Segoe UI"/>
              </a:rPr>
              <a:t>, because there was never going to be an acknowledgement. “It just hangs” points at UDP or at a one-way path; “connection refused” means something answered and said no.</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Ping, and how to ping deliberately</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ping 192.168.20.10</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codebg"/>
          <p:cNvSpPr/>
          <p:nvPr/>
        </p:nvSpPr>
        <p:spPr>
          <a:xfrm>
            <a:off x="685800" y="1901952"/>
            <a:ext cx="10820095" cy="162966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10" name="code"/>
          <p:cNvSpPr txBox="1"/>
          <p:nvPr/>
        </p:nvSpPr>
        <p:spPr>
          <a:xfrm>
            <a:off x="886968" y="2340864"/>
            <a:ext cx="10417759" cy="1135888"/>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Type escape sequence to abort.</a:t>
            </a:r>
          </a:p>
          <a:p>
            <a:pPr>
              <a:lnSpc>
                <a:spcPct val="100000"/>
              </a:lnSpc>
              <a:spcAft>
                <a:spcPts val="0"/>
              </a:spcAft>
            </a:pPr>
            <a:r>
              <a:rPr sz="1600">
                <a:solidFill>
                  <a:srgbClr val="E8EEF2"/>
                </a:solidFill>
                <a:latin typeface="Consolas"/>
              </a:rPr>
              <a:t>Sending 5, 100-byte ICMP Echos to 192.168.20.10, timeout is 2 seconds:</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Success rate is 100 percent (5/5), round-trip min/avg/max = 1/2/4 ms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extended ping is the one that finds faults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tint"/>
          <p:cNvSpPr/>
          <p:nvPr/>
        </p:nvSpPr>
        <p:spPr>
          <a:xfrm>
            <a:off x="685800" y="1517904"/>
            <a:ext cx="10820095" cy="2419095"/>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plain ping from a router sources the packet from the exit interface. That is often not the address you care about. </a:t>
            </a:r>
            <a:r>
              <a:rPr sz="2000" b="1" i="0">
                <a:solidFill>
                  <a:srgbClr val="117864"/>
                </a:solidFill>
                <a:latin typeface="Segoe UI"/>
              </a:rPr>
              <a:t>Extended ping</a:t>
            </a:r>
            <a:r>
              <a:rPr sz="2000" b="0" i="0">
                <a:solidFill>
                  <a:srgbClr val="1C252B"/>
                </a:solidFill>
                <a:latin typeface="Segoe UI"/>
              </a:rPr>
              <a:t> lets you set the source, and this single option answers the commonest routing question: “does the far end have a route </a:t>
            </a:r>
            <a:r>
              <a:rPr sz="2000" b="0" i="1">
                <a:solidFill>
                  <a:srgbClr val="1C252B"/>
                </a:solidFill>
                <a:latin typeface="Segoe UI"/>
              </a:rPr>
              <a:t>back</a:t>
            </a:r>
            <a:r>
              <a:rPr sz="2000" b="0" i="0">
                <a:solidFill>
                  <a:srgbClr val="1C252B"/>
                </a:solidFill>
                <a:latin typeface="Segoe UI"/>
              </a:rPr>
              <a:t> to this subnet?”</a:t>
            </a:r>
          </a:p>
          <a:p>
            <a:pPr algn="l">
              <a:lnSpc>
                <a:spcPct val="100000"/>
              </a:lnSpc>
              <a:spcAft>
                <a:spcPts val="1000"/>
              </a:spcAft>
            </a:pPr>
            <a:r>
              <a:rPr sz="2000" b="0" i="0">
                <a:solidFill>
                  <a:srgbClr val="1C252B"/>
                </a:solidFill>
                <a:latin typeface="Segoe UI"/>
              </a:rPr>
              <a:t>Run </a:t>
            </a:r>
            <a:r>
              <a:rPr sz="1900" b="0" i="0">
                <a:solidFill>
                  <a:srgbClr val="1A5276"/>
                </a:solidFill>
                <a:latin typeface="Consolas"/>
              </a:rPr>
              <a:t>ping</a:t>
            </a:r>
            <a:r>
              <a:rPr sz="2000" b="0" i="0">
                <a:solidFill>
                  <a:srgbClr val="1C252B"/>
                </a:solidFill>
                <a:latin typeface="Segoe UI"/>
              </a:rPr>
              <a:t> with no arguments to enter the extended dialogue.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ping</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codebg"/>
          <p:cNvSpPr/>
          <p:nvPr/>
        </p:nvSpPr>
        <p:spPr>
          <a:xfrm>
            <a:off x="685800" y="1775420"/>
            <a:ext cx="10820095" cy="4149343"/>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775420"/>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830284"/>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10" name="code"/>
          <p:cNvSpPr txBox="1"/>
          <p:nvPr/>
        </p:nvSpPr>
        <p:spPr>
          <a:xfrm>
            <a:off x="886968" y="2214332"/>
            <a:ext cx="10417759" cy="3655567"/>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Protocol [ip]:</a:t>
            </a:r>
          </a:p>
          <a:p>
            <a:pPr>
              <a:lnSpc>
                <a:spcPct val="100000"/>
              </a:lnSpc>
              <a:spcAft>
                <a:spcPts val="0"/>
              </a:spcAft>
            </a:pPr>
            <a:r>
              <a:rPr sz="1600">
                <a:solidFill>
                  <a:srgbClr val="E8EEF2"/>
                </a:solidFill>
                <a:latin typeface="Consolas"/>
              </a:rPr>
              <a:t>Target IP address: 192.168.30.10</a:t>
            </a:r>
          </a:p>
          <a:p>
            <a:pPr>
              <a:lnSpc>
                <a:spcPct val="100000"/>
              </a:lnSpc>
              <a:spcAft>
                <a:spcPts val="0"/>
              </a:spcAft>
            </a:pPr>
            <a:r>
              <a:rPr sz="1600">
                <a:solidFill>
                  <a:srgbClr val="E8EEF2"/>
                </a:solidFill>
                <a:latin typeface="Consolas"/>
              </a:rPr>
              <a:t>Repeat count [5]: 100</a:t>
            </a:r>
          </a:p>
          <a:p>
            <a:pPr>
              <a:lnSpc>
                <a:spcPct val="100000"/>
              </a:lnSpc>
              <a:spcAft>
                <a:spcPts val="0"/>
              </a:spcAft>
            </a:pPr>
            <a:r>
              <a:rPr sz="1600">
                <a:solidFill>
                  <a:srgbClr val="E8EEF2"/>
                </a:solidFill>
                <a:latin typeface="Consolas"/>
              </a:rPr>
              <a:t>Datagram size [100]: 1500</a:t>
            </a:r>
          </a:p>
          <a:p>
            <a:pPr>
              <a:lnSpc>
                <a:spcPct val="100000"/>
              </a:lnSpc>
              <a:spcAft>
                <a:spcPts val="0"/>
              </a:spcAft>
            </a:pPr>
            <a:r>
              <a:rPr sz="1600">
                <a:solidFill>
                  <a:srgbClr val="E8EEF2"/>
                </a:solidFill>
                <a:latin typeface="Consolas"/>
              </a:rPr>
              <a:t>Timeout in seconds [2]:</a:t>
            </a:r>
          </a:p>
          <a:p>
            <a:pPr>
              <a:lnSpc>
                <a:spcPct val="100000"/>
              </a:lnSpc>
              <a:spcAft>
                <a:spcPts val="0"/>
              </a:spcAft>
            </a:pPr>
            <a:r>
              <a:rPr sz="1600">
                <a:solidFill>
                  <a:srgbClr val="E8EEF2"/>
                </a:solidFill>
                <a:latin typeface="Consolas"/>
              </a:rPr>
              <a:t>Extended commands [n]: y</a:t>
            </a:r>
          </a:p>
          <a:p>
            <a:pPr>
              <a:lnSpc>
                <a:spcPct val="100000"/>
              </a:lnSpc>
              <a:spcAft>
                <a:spcPts val="0"/>
              </a:spcAft>
            </a:pPr>
            <a:r>
              <a:rPr sz="1600">
                <a:solidFill>
                  <a:srgbClr val="E8EEF2"/>
                </a:solidFill>
                <a:latin typeface="Consolas"/>
              </a:rPr>
              <a:t>Source address or interface: 192.168.20.1</a:t>
            </a:r>
          </a:p>
          <a:p>
            <a:pPr>
              <a:lnSpc>
                <a:spcPct val="100000"/>
              </a:lnSpc>
              <a:spcAft>
                <a:spcPts val="0"/>
              </a:spcAft>
            </a:pPr>
            <a:r>
              <a:rPr sz="1600">
                <a:solidFill>
                  <a:srgbClr val="E8EEF2"/>
                </a:solidFill>
                <a:latin typeface="Consolas"/>
              </a:rPr>
              <a:t>Type of service [0]:</a:t>
            </a:r>
          </a:p>
          <a:p>
            <a:pPr>
              <a:lnSpc>
                <a:spcPct val="100000"/>
              </a:lnSpc>
              <a:spcAft>
                <a:spcPts val="0"/>
              </a:spcAft>
            </a:pPr>
            <a:r>
              <a:rPr sz="1600">
                <a:solidFill>
                  <a:srgbClr val="E8EEF2"/>
                </a:solidFill>
                <a:latin typeface="Consolas"/>
              </a:rPr>
              <a:t>Set DF bit in IP header? [no]: yes</a:t>
            </a:r>
          </a:p>
          <a:p>
            <a:pPr>
              <a:lnSpc>
                <a:spcPct val="100000"/>
              </a:lnSpc>
              <a:spcAft>
                <a:spcPts val="0"/>
              </a:spcAft>
            </a:pPr>
            <a:r>
              <a:rPr sz="1600">
                <a:solidFill>
                  <a:srgbClr val="E8EEF2"/>
                </a:solidFill>
                <a:latin typeface="Consolas"/>
              </a:rPr>
              <a:t>Sweep range of sizes [n]:</a:t>
            </a:r>
          </a:p>
          <a:p>
            <a:pPr>
              <a:lnSpc>
                <a:spcPct val="100000"/>
              </a:lnSpc>
              <a:spcAft>
                <a:spcPts val="0"/>
              </a:spcAft>
            </a:pPr>
            <a:r>
              <a:rPr sz="1600">
                <a:solidFill>
                  <a:srgbClr val="E8EEF2"/>
                </a:solidFill>
                <a:latin typeface="Consolas"/>
              </a:rPr>
              <a:t>Sending 100, 1500-byte ICMP Echos to 192.168.30.10, timeout is 2 seconds:</a:t>
            </a:r>
          </a:p>
          <a:p>
            <a:pPr>
              <a:lnSpc>
                <a:spcPct val="100000"/>
              </a:lnSpc>
              <a:spcAft>
                <a:spcPts val="0"/>
              </a:spcAft>
            </a:pPr>
            <a:r>
              <a:rPr sz="1600">
                <a:solidFill>
                  <a:srgbClr val="E8EEF2"/>
                </a:solidFill>
                <a:latin typeface="Consolas"/>
              </a:rPr>
              <a:t>Packet sent with a source address of 192.168.20.1</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Success rate is 100 percent (100/100), round-trip min/avg/max = 1/3/12 ms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Traceroute</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traceroute 192.168.30.10</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codebg"/>
          <p:cNvSpPr/>
          <p:nvPr/>
        </p:nvSpPr>
        <p:spPr>
          <a:xfrm>
            <a:off x="685800" y="1901952"/>
            <a:ext cx="10820095" cy="2385568"/>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10" name="code"/>
          <p:cNvSpPr txBox="1"/>
          <p:nvPr/>
        </p:nvSpPr>
        <p:spPr>
          <a:xfrm>
            <a:off x="886968" y="2340864"/>
            <a:ext cx="10417759" cy="1891792"/>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Type escape sequence to abort.</a:t>
            </a:r>
          </a:p>
          <a:p>
            <a:pPr>
              <a:lnSpc>
                <a:spcPct val="100000"/>
              </a:lnSpc>
              <a:spcAft>
                <a:spcPts val="0"/>
              </a:spcAft>
            </a:pPr>
            <a:r>
              <a:rPr sz="1600">
                <a:solidFill>
                  <a:srgbClr val="E8EEF2"/>
                </a:solidFill>
                <a:latin typeface="Consolas"/>
              </a:rPr>
              <a:t>Tracing the route to 192.168.30.10</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  1 10.0.12.2 4 msec 1 msec 1 msec</a:t>
            </a:r>
          </a:p>
          <a:p>
            <a:pPr>
              <a:lnSpc>
                <a:spcPct val="100000"/>
              </a:lnSpc>
              <a:spcAft>
                <a:spcPts val="0"/>
              </a:spcAft>
            </a:pPr>
            <a:r>
              <a:rPr sz="1600">
                <a:solidFill>
                  <a:srgbClr val="E8EEF2"/>
                </a:solidFill>
                <a:latin typeface="Consolas"/>
              </a:rPr>
              <a:t>  2 10.0.23.3 8 msec 5 msec 4 msec</a:t>
            </a:r>
          </a:p>
          <a:p>
            <a:pPr>
              <a:lnSpc>
                <a:spcPct val="100000"/>
              </a:lnSpc>
              <a:spcAft>
                <a:spcPts val="0"/>
              </a:spcAft>
            </a:pPr>
            <a:r>
              <a:rPr sz="1600">
                <a:solidFill>
                  <a:srgbClr val="E8EEF2"/>
                </a:solidFill>
                <a:latin typeface="Consolas"/>
              </a:rPr>
              <a:t>  3  *  *  *</a:t>
            </a:r>
          </a:p>
          <a:p>
            <a:pPr>
              <a:lnSpc>
                <a:spcPct val="100000"/>
              </a:lnSpc>
              <a:spcAft>
                <a:spcPts val="0"/>
              </a:spcAft>
            </a:pPr>
            <a:r>
              <a:rPr sz="1600">
                <a:solidFill>
                  <a:srgbClr val="E8EEF2"/>
                </a:solidFill>
                <a:latin typeface="Consolas"/>
              </a:rPr>
              <a:t>  4  *  *  *</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900" b="1" i="0">
                <a:solidFill>
                  <a:srgbClr val="1A5276"/>
                </a:solidFill>
                <a:latin typeface="Segoe UI"/>
              </a:rPr>
              <a:t>Where a traceroute stops is not always where the fault is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Asterisks mean no reply from that hop. That can mean the fault is there — or that the hop is configured not to reply, or that the </a:t>
            </a:r>
            <a:r>
              <a:rPr sz="2000" b="0" i="1">
                <a:solidFill>
                  <a:srgbClr val="1C252B"/>
                </a:solidFill>
                <a:latin typeface="Segoe UI"/>
              </a:rPr>
              <a:t>return</a:t>
            </a:r>
            <a:r>
              <a:rPr sz="2000" b="0" i="0">
                <a:solidFill>
                  <a:srgbClr val="1C252B"/>
                </a:solidFill>
                <a:latin typeface="Segoe UI"/>
              </a:rPr>
              <a:t> path from that hop is broken while the forward path is fine. A traceroute that dies at hop 3 narrows the search to hop 3 onwards; it does not convict hop 3. Confirm with an extended ping sourced from an address the far end should know.</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Reading a capture</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capture BUF</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codebg"/>
          <p:cNvSpPr/>
          <p:nvPr/>
        </p:nvSpPr>
        <p:spPr>
          <a:xfrm>
            <a:off x="685800" y="1901952"/>
            <a:ext cx="10820095" cy="1377696"/>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2340864"/>
            <a:ext cx="10417759" cy="883919"/>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   1  0.000000  192.168.20.10 -&gt; 192.168.30.10  ICMP Echo request  id=1 seq=1</a:t>
            </a:r>
          </a:p>
          <a:p>
            <a:pPr>
              <a:lnSpc>
                <a:spcPct val="100000"/>
              </a:lnSpc>
              <a:spcAft>
                <a:spcPts val="0"/>
              </a:spcAft>
            </a:pPr>
            <a:r>
              <a:rPr sz="1600">
                <a:solidFill>
                  <a:srgbClr val="E8EEF2"/>
                </a:solidFill>
                <a:latin typeface="Consolas"/>
              </a:rPr>
              <a:t>   2  2.001113  192.168.20.10 -&gt; 192.168.30.10  ICMP Echo request  id=1 seq=2</a:t>
            </a:r>
          </a:p>
          <a:p>
            <a:pPr>
              <a:lnSpc>
                <a:spcPct val="100000"/>
              </a:lnSpc>
              <a:spcAft>
                <a:spcPts val="0"/>
              </a:spcAft>
            </a:pPr>
            <a:r>
              <a:rPr sz="1600">
                <a:solidFill>
                  <a:srgbClr val="E8EEF2"/>
                </a:solidFill>
                <a:latin typeface="Consolas"/>
              </a:rPr>
              <a:t>   3  4.002240  192.168.20.10 -&gt; 192.168.30.10  ICMP Echo request  id=1 seq=3</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Reading a capture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Treating a failed ping as proof of a broken forward path.</a:t>
            </a:r>
            <a:r>
              <a:rPr sz="2000" b="0" i="0">
                <a:solidFill>
                  <a:srgbClr val="1C252B"/>
                </a:solidFill>
                <a:latin typeface="Segoe UI"/>
              </a:rPr>
              <a:t> Ping needs both directions. Half the time the forward path is fine.</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Pinging from the wrong source.</a:t>
            </a:r>
            <a:r>
              <a:rPr sz="2000" b="0" i="0">
                <a:solidFill>
                  <a:srgbClr val="1C252B"/>
                </a:solidFill>
                <a:latin typeface="Segoe UI"/>
              </a:rPr>
              <a:t> A router pinging from its exit interface tests a path the users never take.</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Concluding from five packets.</a:t>
            </a:r>
            <a:r>
              <a:rPr sz="2000" b="0" i="0">
                <a:solidFill>
                  <a:srgbClr val="1C252B"/>
                </a:solidFill>
                <a:latin typeface="Segoe UI"/>
              </a:rPr>
              <a:t> Intermittent loss needs a hundred.</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Forgetting that ICMP may be filtered.</a:t>
            </a:r>
            <a:r>
              <a:rPr sz="2000" b="0" i="0">
                <a:solidFill>
                  <a:srgbClr val="1C252B"/>
                </a:solidFill>
                <a:latin typeface="Segoe UI"/>
              </a:rPr>
              <a:t> Plenty of hosts and firewalls drop echo requests by policy. “It does not ping” is not the same as “it is down”.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6</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600" b="1" i="0">
                <a:solidFill>
                  <a:srgbClr val="1C252B"/>
                </a:solidFill>
                <a:latin typeface="Segoe UI"/>
              </a:rPr>
              <a:t>Web server reachable by IP, refuses connections by name and port.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Users cannot load an internal site. From a workstation, </a:t>
            </a:r>
            <a:r>
              <a:rPr sz="1800" b="0" i="0">
                <a:solidFill>
                  <a:srgbClr val="1A5276"/>
                </a:solidFill>
                <a:latin typeface="Consolas"/>
              </a:rPr>
              <a:t>ping 10.20.5.40</a:t>
            </a:r>
            <a:r>
              <a:rPr sz="1900" b="0" i="0">
                <a:solidFill>
                  <a:srgbClr val="1C252B"/>
                </a:solidFill>
                <a:latin typeface="Segoe UI"/>
              </a:rPr>
              <a:t> succeeds with 0% loss. Browsing to the address times out.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6</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600" b="1" i="0">
                <a:solidFill>
                  <a:srgbClr val="1C252B"/>
                </a:solidFill>
                <a:latin typeface="Segoe UI"/>
              </a:rPr>
              <a:t>Web server reachable by IP, refuses connections by name and port.</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6</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Ping proves layer 3 connectivity in both directions, so addressing, masks, routing and the physical path are all sound. The failure is above layer 3 — either the service is not listening, or something is filtering TCP 443 specifically. A timeout rather than a refusal points at a filter: a closed port on a live host normally answers with a reset.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6</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r>
              <a:rPr sz="1900" b="0" i="0">
                <a:solidFill>
                  <a:srgbClr val="1C252B"/>
                </a:solidFill>
                <a:latin typeface="Segoe UI"/>
              </a:rPr>
              <a:t> Test the port rather than the host. From a router on the path, an extended ping cannot help — it is ICMP only — so use </a:t>
            </a:r>
            <a:r>
              <a:rPr sz="1800" b="0" i="0">
                <a:solidFill>
                  <a:srgbClr val="1A5276"/>
                </a:solidFill>
                <a:latin typeface="Consolas"/>
              </a:rPr>
              <a:t>telnet 10.20.5.40 443</a:t>
            </a:r>
            <a:r>
              <a:rPr sz="1900" b="0" i="0">
                <a:solidFill>
                  <a:srgbClr val="1C252B"/>
                </a:solidFill>
                <a:latin typeface="Segoe UI"/>
              </a:rPr>
              <a:t>: a blank screen means the port is open, a refusal means closed, and a hang means filtered. Then walk the access lists on the path (Chapter 24). Do not touch addressing; the ping already cleared it.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Diagnose with intent</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2000" b="1" i="0">
                <a:solidFill>
                  <a:srgbClr val="1C252B"/>
                </a:solidFill>
                <a:latin typeface="Segoe UI"/>
              </a:rPr>
              <a:t>Topology.</a:t>
            </a:r>
            <a:r>
              <a:rPr sz="2000" b="0" i="0">
                <a:solidFill>
                  <a:srgbClr val="1C252B"/>
                </a:solidFill>
                <a:latin typeface="Segoe UI"/>
              </a:rPr>
              <a:t> Two routers back to back, one LAN each, one PC per LAN.</a:t>
            </a:r>
          </a:p>
        </p:txBody>
      </p:sp>
      <p:sp>
        <p:nvSpPr>
          <p:cNvPr id="8" name="bullets"/>
          <p:cNvSpPr txBox="1"/>
          <p:nvPr/>
        </p:nvSpPr>
        <p:spPr>
          <a:xfrm>
            <a:off x="685800" y="2030984"/>
            <a:ext cx="10820095" cy="4351528"/>
          </a:xfrm>
          <a:prstGeom prst="rect">
            <a:avLst/>
          </a:prstGeom>
          <a:noFill/>
        </p:spPr>
        <p:txBody>
          <a:bodyPr wrap="square" lIns="0" rIns="0" tIns="0" bIns="0">
            <a:spAutoFit/>
          </a:bodyPr>
          <a:lstStyle/>
          <a:p>
            <a:pPr marL="386080" indent="-386080">
              <a:lnSpc>
                <a:spcPct val="102000"/>
              </a:lnSpc>
              <a:spcAft>
                <a:spcPts val="900"/>
              </a:spcAft>
            </a:pPr>
            <a:r>
              <a:rPr sz="2000" b="1">
                <a:solidFill>
                  <a:srgbClr val="117864"/>
                </a:solidFill>
                <a:latin typeface="Segoe UI"/>
              </a:rPr>
              <a:t>1.  </a:t>
            </a:r>
            <a:r>
              <a:rPr sz="2000" b="0" i="0">
                <a:solidFill>
                  <a:srgbClr val="1C252B"/>
                </a:solidFill>
                <a:latin typeface="Segoe UI"/>
              </a:rPr>
              <a:t>Address everything and confirm end-to-end ping between the PCs.</a:t>
            </a:r>
          </a:p>
          <a:p>
            <a:pPr marL="386080" indent="-386080">
              <a:lnSpc>
                <a:spcPct val="102000"/>
              </a:lnSpc>
              <a:spcAft>
                <a:spcPts val="900"/>
              </a:spcAft>
            </a:pPr>
            <a:r>
              <a:rPr sz="2000" b="1">
                <a:solidFill>
                  <a:srgbClr val="117864"/>
                </a:solidFill>
                <a:latin typeface="Segoe UI"/>
              </a:rPr>
              <a:t>2.  </a:t>
            </a:r>
            <a:r>
              <a:rPr sz="2000" b="0" i="0">
                <a:solidFill>
                  <a:srgbClr val="1C252B"/>
                </a:solidFill>
                <a:latin typeface="Segoe UI"/>
              </a:rPr>
              <a:t>From </a:t>
            </a:r>
            <a:r>
              <a:rPr sz="1900" b="0" i="0">
                <a:solidFill>
                  <a:srgbClr val="1A5276"/>
                </a:solidFill>
                <a:latin typeface="Consolas"/>
              </a:rPr>
              <a:t>R1</a:t>
            </a:r>
            <a:r>
              <a:rPr sz="2000" b="0" i="0">
                <a:solidFill>
                  <a:srgbClr val="1C252B"/>
                </a:solidFill>
                <a:latin typeface="Segoe UI"/>
              </a:rPr>
              <a:t>, run a plain ping to the far PC, then an extended ping sourced from the LAN interface. Explain why the second is the more useful test.</a:t>
            </a:r>
          </a:p>
          <a:p>
            <a:pPr marL="386080" indent="-386080">
              <a:lnSpc>
                <a:spcPct val="102000"/>
              </a:lnSpc>
              <a:spcAft>
                <a:spcPts val="900"/>
              </a:spcAft>
            </a:pPr>
            <a:r>
              <a:rPr sz="2000" b="1">
                <a:solidFill>
                  <a:srgbClr val="117864"/>
                </a:solidFill>
                <a:latin typeface="Segoe UI"/>
              </a:rPr>
              <a:t>3.  </a:t>
            </a:r>
            <a:r>
              <a:rPr sz="2000" b="0" i="0">
                <a:solidFill>
                  <a:srgbClr val="1C252B"/>
                </a:solidFill>
                <a:latin typeface="Segoe UI"/>
              </a:rPr>
              <a:t>Remove the return route on </a:t>
            </a:r>
            <a:r>
              <a:rPr sz="1900" b="0" i="0">
                <a:solidFill>
                  <a:srgbClr val="1A5276"/>
                </a:solidFill>
                <a:latin typeface="Consolas"/>
              </a:rPr>
              <a:t>R2</a:t>
            </a:r>
            <a:r>
              <a:rPr sz="2000" b="0" i="0">
                <a:solidFill>
                  <a:srgbClr val="1C252B"/>
                </a:solidFill>
                <a:latin typeface="Segoe UI"/>
              </a:rPr>
              <a:t>. Predict what a ping from PC-A will show, and what a traceroute will show, </a:t>
            </a:r>
            <a:r>
              <a:rPr sz="2000" b="0" i="1">
                <a:solidFill>
                  <a:srgbClr val="1C252B"/>
                </a:solidFill>
                <a:latin typeface="Segoe UI"/>
              </a:rPr>
              <a:t>before</a:t>
            </a:r>
            <a:r>
              <a:rPr sz="2000" b="0" i="0">
                <a:solidFill>
                  <a:srgbClr val="1C252B"/>
                </a:solidFill>
                <a:latin typeface="Segoe UI"/>
              </a:rPr>
              <a:t> testing.</a:t>
            </a:r>
          </a:p>
          <a:p>
            <a:pPr marL="386080" indent="-386080">
              <a:lnSpc>
                <a:spcPct val="102000"/>
              </a:lnSpc>
              <a:spcAft>
                <a:spcPts val="900"/>
              </a:spcAft>
            </a:pPr>
            <a:r>
              <a:rPr sz="2000" b="1">
                <a:solidFill>
                  <a:srgbClr val="117864"/>
                </a:solidFill>
                <a:latin typeface="Segoe UI"/>
              </a:rPr>
              <a:t>4.  </a:t>
            </a:r>
            <a:r>
              <a:rPr sz="2000" b="0" i="0">
                <a:solidFill>
                  <a:srgbClr val="1C252B"/>
                </a:solidFill>
                <a:latin typeface="Segoe UI"/>
              </a:rPr>
              <a:t>Restore the route. Now set the far LAN interface MTU to 1400, and use an extended ping with size 1500 and the DF bit set. Record the result.</a:t>
            </a:r>
          </a:p>
          <a:p>
            <a:pPr marL="386080" indent="-386080">
              <a:lnSpc>
                <a:spcPct val="102000"/>
              </a:lnSpc>
              <a:spcAft>
                <a:spcPts val="900"/>
              </a:spcAft>
            </a:pPr>
            <a:r>
              <a:rPr sz="2000" b="1">
                <a:solidFill>
                  <a:srgbClr val="117864"/>
                </a:solidFill>
                <a:latin typeface="Segoe UI"/>
              </a:rPr>
              <a:t>5.  </a:t>
            </a:r>
            <a:r>
              <a:rPr sz="2000" b="0" i="0">
                <a:solidFill>
                  <a:srgbClr val="1C252B"/>
                </a:solidFill>
                <a:latin typeface="Segoe UI"/>
              </a:rPr>
              <a:t>Run a hundred-packet ping and record whether any loss appears.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Diagnose with intent (continued)</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386080" indent="-386080">
              <a:lnSpc>
                <a:spcPct val="102000"/>
              </a:lnSpc>
              <a:spcAft>
                <a:spcPts val="900"/>
              </a:spcAft>
            </a:pPr>
            <a:r>
              <a:rPr sz="2000" b="1">
                <a:solidFill>
                  <a:srgbClr val="117864"/>
                </a:solidFill>
                <a:latin typeface="Segoe UI"/>
              </a:rPr>
              <a:t>6.  </a:t>
            </a:r>
            <a:r>
              <a:rPr sz="2000" b="1" i="0">
                <a:solidFill>
                  <a:srgbClr val="1C252B"/>
                </a:solidFill>
                <a:latin typeface="Segoe UI"/>
              </a:rPr>
              <a:t>Extension.</a:t>
            </a:r>
            <a:r>
              <a:rPr sz="2000" b="0" i="0">
                <a:solidFill>
                  <a:srgbClr val="1C252B"/>
                </a:solidFill>
                <a:latin typeface="Segoe UI"/>
              </a:rPr>
              <a:t> Have a partner break one thing — an address, a mask, a route or an interface — and identify which, using only ping, extended ping and traceroute, in under five minutes.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ping returns </a:t>
            </a:r>
            <a:r>
              <a:rPr sz="2900" b="0" i="0">
                <a:solidFill>
                  <a:srgbClr val="FFFFFF"/>
                </a:solidFill>
                <a:latin typeface="Consolas"/>
              </a:rPr>
              <a:t>U.U.U</a:t>
            </a:r>
            <a:r>
              <a:rPr sz="3000" b="0" i="0">
                <a:solidFill>
                  <a:srgbClr val="FFFFFF"/>
                </a:solidFill>
                <a:latin typeface="Segoe UI"/>
              </a:rPr>
              <a:t>. What has happened, and why is that more useful than five dots?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ping returns </a:t>
            </a:r>
            <a:r>
              <a:rPr sz="1900" b="1" i="0">
                <a:solidFill>
                  <a:srgbClr val="1A5276"/>
                </a:solidFill>
                <a:latin typeface="Consolas"/>
              </a:rPr>
              <a:t>U.U.U</a:t>
            </a:r>
            <a:r>
              <a:rPr sz="2000" b="1" i="0">
                <a:solidFill>
                  <a:srgbClr val="1A5276"/>
                </a:solidFill>
                <a:latin typeface="Segoe UI"/>
              </a:rPr>
              <a:t>. What has happened, and why is that more useful than five dots?</a:t>
            </a:r>
          </a:p>
        </p:txBody>
      </p:sp>
      <p:sp>
        <p:nvSpPr>
          <p:cNvPr id="8" name="abar"/>
          <p:cNvSpPr/>
          <p:nvPr/>
        </p:nvSpPr>
        <p:spPr>
          <a:xfrm>
            <a:off x="685800" y="219735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800" b="0" i="0">
                <a:solidFill>
                  <a:srgbClr val="1A5276"/>
                </a:solidFill>
                <a:latin typeface="Consolas"/>
              </a:rPr>
              <a:t>U</a:t>
            </a:r>
            <a:r>
              <a:rPr sz="1900" b="0" i="0">
                <a:solidFill>
                  <a:srgbClr val="1C252B"/>
                </a:solidFill>
                <a:latin typeface="Segoe UI"/>
              </a:rPr>
              <a:t> is an ICMP destination-unreachable reply. Something on the path actively told you it could not deliver — so the packet was routed, and a device took responsibility. Five dots means silence, which could be anything from a dropped packet to an ACL to a dead host. A reply is always more informative than a timeout.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does an extended ping with a specified source often succeed when a plain ping from the same router fails?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does an extended ping with a specified source often succeed when a plain ping from the same router fails?</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a plain ping is sourced from the exit interface’s address, which the far end may have no route back to. Sourcing from a LAN interface or loopback uses an address the far end’s routing table knows about.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traceroute shows three hops then asterisks. List three different explanations.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traceroute shows three hops then asterisks. List three different explanations.</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Any of: an ACL blocking the probes; a device configured not to send ICMP time-exceeded messages; asymmetric return path with no route back; a firewall dropping the traffic; or the destination genuinely unreachable beyond that hop.</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6. TCP, UDP and the Diagnostic Toolkit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A port identifies the program; address plus port is a socket.</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TCP handshakes, acknowledges and retransmits; UDP does none of it. Their failure modes differ, and the difference is diagnostic.</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Ping tests both directions at once. A success rules out a great deal; a failure convicts nothing on its own.</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Extended ping sets the source, size and DF bit — it is the tool that finds return-path and MTU faults.</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Traceroute narrows the search; it does not name the culprit.</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A capture showing requests and no replies is a one-way path.</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7864"/>
        </a:solidFill>
        <a:effectLst/>
      </p:bgPr>
    </p:bg>
    <p:spTree>
      <p:nvGrpSpPr>
        <p:cNvPr id="1" name=""/>
        <p:cNvGrpSpPr/>
        <p:nvPr/>
      </p:nvGrpSpPr>
      <p:grpSpPr/>
      <p:sp>
        <p:nvSpPr>
          <p:cNvPr id="2" name="bg"/>
          <p:cNvSpPr/>
          <p:nvPr/>
        </p:nvSpPr>
        <p:spPr>
          <a:xfrm>
            <a:off x="0" y="0"/>
            <a:ext cx="12191695" cy="68580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A port identifies the program; address plus port is a socket.</a:t>
            </a:r>
          </a:p>
          <a:p>
            <a:pPr marL="217169" indent="-217169">
              <a:spcAft>
                <a:spcPts val="900"/>
              </a:spcAft>
            </a:pPr>
            <a:r>
              <a:rPr sz="1900">
                <a:solidFill>
                  <a:srgbClr val="C8D6E5"/>
                </a:solidFill>
              </a:rPr>
              <a:t>•  </a:t>
            </a:r>
            <a:r>
              <a:rPr sz="1900" b="0" i="0">
                <a:solidFill>
                  <a:srgbClr val="FFFFFF"/>
                </a:solidFill>
                <a:latin typeface="Segoe UI"/>
              </a:rPr>
              <a:t>TCP handshakes, acknowledges and retransmits; UDP does none of it. Their failure modes differ, and the difference is diagnostic.</a:t>
            </a:r>
          </a:p>
          <a:p>
            <a:pPr marL="217169" indent="-217169">
              <a:spcAft>
                <a:spcPts val="900"/>
              </a:spcAft>
            </a:pPr>
            <a:r>
              <a:rPr sz="1900">
                <a:solidFill>
                  <a:srgbClr val="C8D6E5"/>
                </a:solidFill>
              </a:rPr>
              <a:t>•  </a:t>
            </a:r>
            <a:r>
              <a:rPr sz="1900" b="0" i="0">
                <a:solidFill>
                  <a:srgbClr val="FFFFFF"/>
                </a:solidFill>
                <a:latin typeface="Segoe UI"/>
              </a:rPr>
              <a:t>Ping tests both directions at once. A success rules out a great deal; a failure convicts nothing on its own.</a:t>
            </a:r>
          </a:p>
          <a:p>
            <a:pPr marL="217169" indent="-217169">
              <a:spcAft>
                <a:spcPts val="900"/>
              </a:spcAft>
            </a:pPr>
            <a:r>
              <a:rPr sz="1900">
                <a:solidFill>
                  <a:srgbClr val="C8D6E5"/>
                </a:solidFill>
              </a:rPr>
              <a:t>•  </a:t>
            </a:r>
            <a:r>
              <a:rPr sz="1900" b="0" i="0">
                <a:solidFill>
                  <a:srgbClr val="FFFFFF"/>
                </a:solidFill>
                <a:latin typeface="Segoe UI"/>
              </a:rPr>
              <a:t>Extended ping sets the source, size and DF bit — it is the tool that finds return-path and MTU faults.</a:t>
            </a:r>
          </a:p>
        </p:txBody>
      </p:sp>
      <p:sp>
        <p:nvSpPr>
          <p:cNvPr id="5" name="nextbg"/>
          <p:cNvSpPr/>
          <p:nvPr/>
        </p:nvSpPr>
        <p:spPr>
          <a:xfrm>
            <a:off x="685800" y="5303520"/>
            <a:ext cx="10820095" cy="822960"/>
          </a:xfrm>
          <a:prstGeom prst="rect">
            <a:avLst/>
          </a:prstGeom>
          <a:solidFill>
            <a:srgbClr val="006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7 — The IOS Command Line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