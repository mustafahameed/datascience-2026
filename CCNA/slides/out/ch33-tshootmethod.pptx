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33: A Troubleshooting Method for the 28 Per Cent. Blueprint topics: 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Troubleshooting Method for the 28 Per Cent 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engineers with identical knowledge produce very different results on a fault neither has seen. The difference is almost never what they know; it is whether they have an order to work in when the obvious answer turns out to be wrong. An unstructured approach checks the thing that was broken last time, then the thing the person before you suggested, then something at random. It works quickly when the fault is familiar and collapses when it is not — and the exam, like a bad morning, specialises in faults that are 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is between 5 and 6, and it is the point. A hypothesis that does not predict correctly is discarded, not patched.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questions, asked before any command, routinely eliminate most of the possible causes.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They are boring, they are what separates a twenty-minute fault from a three-hour one, and they are equally true in an exam simulation. Record before you change. Capture the current state — show running-config, the relevant show output, the exact symptom. A configuration you overwrote without reading is evidence you destroyed, and if the change makes things worse you cannot get back. Change one thing at a time. Two simultaneous changes that fix the fault leave you not knowing which one did, and one of them may have introduced tomorrow’s problem. Undo what did not help. An accumulation of speculative changes is how a network becomes undiagnosable. If your prediction was wrong, put it back before trying the next idea.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to go in this volume, given what the user actually said. Faults outlive shifts. A handover that says “still looking at the VLAN issue” wastes the next person’s first hour. The symptom, precisely, and who is affected. What has been ruled out, and the evidence that ruled it out. This is the most valuable part and the most often omitted. What has been changed, including anything not yet undone. The current hypothesis and the next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33</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3800" b="1" i="0">
                <a:solidFill>
                  <a:srgbClr val="FFFFFF"/>
                </a:solidFill>
                <a:latin typeface="Segoe UI"/>
              </a:rPr>
              <a:t>A Troubleshooting Method for the 28 Per Cent</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VI — Sitting the Exam</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2.4"/>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2.4"/>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17864"/>
                </a:solidFill>
                <a:latin typeface="Segoe UI"/>
              </a:rPr>
              <a:t>2.4</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17864"/>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117864"/>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Apply</a:t>
            </a:r>
            <a:r>
              <a:rPr sz="2000" b="0" i="0">
                <a:solidFill>
                  <a:srgbClr val="1C252B"/>
                </a:solidFill>
                <a:latin typeface="Segoe UI"/>
              </a:rPr>
              <a:t> a seven-step cycle to any fault, rather than guessing in a familiar order.</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Choose</a:t>
            </a:r>
            <a:r>
              <a:rPr sz="2000" b="0" i="0">
                <a:solidFill>
                  <a:srgbClr val="1C252B"/>
                </a:solidFill>
                <a:latin typeface="Segoe UI"/>
              </a:rPr>
              <a:t> between the five structured methods and justify the choice from the symptom.</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Scope</a:t>
            </a:r>
            <a:r>
              <a:rPr sz="2000" b="0" i="0">
                <a:solidFill>
                  <a:srgbClr val="1C252B"/>
                </a:solidFill>
                <a:latin typeface="Segoe UI"/>
              </a:rPr>
              <a:t> a fault before touching anything, using four questions that routinely halve the search.</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Work</a:t>
            </a:r>
            <a:r>
              <a:rPr sz="2000" b="0" i="0">
                <a:solidFill>
                  <a:srgbClr val="1C252B"/>
                </a:solidFill>
                <a:latin typeface="Segoe UI"/>
              </a:rPr>
              <a:t> evidence-first: record before you change, change one thing, and undo what did not help.</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int"/>
          <p:cNvSpPr/>
          <p:nvPr/>
        </p:nvSpPr>
        <p:spPr>
          <a:xfrm>
            <a:off x="685800" y="1517904"/>
            <a:ext cx="10820095" cy="19974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Everything. This chapter is the method that the rest of the book supplies the knowledge for. Chapter 6 for the diagnostic tools and Chapter 14 for layer 2 in particular; the symptom index in Section sec:symptomindex points at all the others.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erm-scoping"/>
          <p:cNvSpPr/>
          <p:nvPr/>
        </p:nvSpPr>
        <p:spPr>
          <a:xfrm>
            <a:off x="685800" y="1609344"/>
            <a:ext cx="101193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scoping"/>
          <p:cNvSpPr/>
          <p:nvPr/>
        </p:nvSpPr>
        <p:spPr>
          <a:xfrm>
            <a:off x="68580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scoping"/>
          <p:cNvSpPr txBox="1"/>
          <p:nvPr/>
        </p:nvSpPr>
        <p:spPr>
          <a:xfrm>
            <a:off x="850392" y="1700784"/>
            <a:ext cx="68275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scoping</a:t>
            </a:r>
          </a:p>
        </p:txBody>
      </p:sp>
      <p:sp>
        <p:nvSpPr>
          <p:cNvPr id="10" name="term-top-down"/>
          <p:cNvSpPr/>
          <p:nvPr/>
        </p:nvSpPr>
        <p:spPr>
          <a:xfrm>
            <a:off x="1825752" y="1609344"/>
            <a:ext cx="119075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top-down"/>
          <p:cNvSpPr/>
          <p:nvPr/>
        </p:nvSpPr>
        <p:spPr>
          <a:xfrm>
            <a:off x="1825752"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top-down"/>
          <p:cNvSpPr txBox="1"/>
          <p:nvPr/>
        </p:nvSpPr>
        <p:spPr>
          <a:xfrm>
            <a:off x="1990344" y="1700784"/>
            <a:ext cx="86156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top-down</a:t>
            </a:r>
          </a:p>
        </p:txBody>
      </p:sp>
      <p:sp>
        <p:nvSpPr>
          <p:cNvPr id="13" name="term-bottom-up"/>
          <p:cNvSpPr/>
          <p:nvPr/>
        </p:nvSpPr>
        <p:spPr>
          <a:xfrm>
            <a:off x="3144520" y="1609344"/>
            <a:ext cx="125171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bottom-up"/>
          <p:cNvSpPr/>
          <p:nvPr/>
        </p:nvSpPr>
        <p:spPr>
          <a:xfrm>
            <a:off x="314452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bottom-up"/>
          <p:cNvSpPr txBox="1"/>
          <p:nvPr/>
        </p:nvSpPr>
        <p:spPr>
          <a:xfrm>
            <a:off x="3309112" y="1700784"/>
            <a:ext cx="92252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bottom-up</a:t>
            </a:r>
          </a:p>
        </p:txBody>
      </p:sp>
      <p:sp>
        <p:nvSpPr>
          <p:cNvPr id="16" name="term-divide and conquer"/>
          <p:cNvSpPr/>
          <p:nvPr/>
        </p:nvSpPr>
        <p:spPr>
          <a:xfrm>
            <a:off x="4524248" y="1609344"/>
            <a:ext cx="19811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divide and conquer"/>
          <p:cNvSpPr/>
          <p:nvPr/>
        </p:nvSpPr>
        <p:spPr>
          <a:xfrm>
            <a:off x="4524248"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divide and conquer"/>
          <p:cNvSpPr txBox="1"/>
          <p:nvPr/>
        </p:nvSpPr>
        <p:spPr>
          <a:xfrm>
            <a:off x="4688840" y="1700784"/>
            <a:ext cx="165201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divide and conquer</a:t>
            </a:r>
          </a:p>
        </p:txBody>
      </p:sp>
      <p:sp>
        <p:nvSpPr>
          <p:cNvPr id="19" name="term-follow the path"/>
          <p:cNvSpPr/>
          <p:nvPr/>
        </p:nvSpPr>
        <p:spPr>
          <a:xfrm>
            <a:off x="6633463" y="1609344"/>
            <a:ext cx="166014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follow the path"/>
          <p:cNvSpPr/>
          <p:nvPr/>
        </p:nvSpPr>
        <p:spPr>
          <a:xfrm>
            <a:off x="6633463"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follow the path"/>
          <p:cNvSpPr txBox="1"/>
          <p:nvPr/>
        </p:nvSpPr>
        <p:spPr>
          <a:xfrm>
            <a:off x="6798055" y="1700784"/>
            <a:ext cx="133095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follow the path</a:t>
            </a:r>
          </a:p>
        </p:txBody>
      </p:sp>
      <p:sp>
        <p:nvSpPr>
          <p:cNvPr id="22" name="term-compare working to"/>
          <p:cNvSpPr/>
          <p:nvPr/>
        </p:nvSpPr>
        <p:spPr>
          <a:xfrm>
            <a:off x="8421624" y="1609344"/>
            <a:ext cx="272897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compare working to"/>
          <p:cNvSpPr/>
          <p:nvPr/>
        </p:nvSpPr>
        <p:spPr>
          <a:xfrm>
            <a:off x="8421624"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compare working to"/>
          <p:cNvSpPr txBox="1"/>
          <p:nvPr/>
        </p:nvSpPr>
        <p:spPr>
          <a:xfrm>
            <a:off x="8586215" y="1700784"/>
            <a:ext cx="239979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compare working to broken</a:t>
            </a:r>
          </a:p>
        </p:txBody>
      </p:sp>
      <p:sp>
        <p:nvSpPr>
          <p:cNvPr id="25" name="term-hypothesis"/>
          <p:cNvSpPr/>
          <p:nvPr/>
        </p:nvSpPr>
        <p:spPr>
          <a:xfrm>
            <a:off x="685800" y="2212848"/>
            <a:ext cx="128016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hypothesis"/>
          <p:cNvSpPr/>
          <p:nvPr/>
        </p:nvSpPr>
        <p:spPr>
          <a:xfrm>
            <a:off x="685800"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hypothesis"/>
          <p:cNvSpPr txBox="1"/>
          <p:nvPr/>
        </p:nvSpPr>
        <p:spPr>
          <a:xfrm>
            <a:off x="850392" y="2304288"/>
            <a:ext cx="95097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hypothesis</a:t>
            </a:r>
          </a:p>
        </p:txBody>
      </p:sp>
      <p:sp>
        <p:nvSpPr>
          <p:cNvPr id="28" name="term-blast radius"/>
          <p:cNvSpPr/>
          <p:nvPr/>
        </p:nvSpPr>
        <p:spPr>
          <a:xfrm>
            <a:off x="2093976" y="2212848"/>
            <a:ext cx="135940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blast radius"/>
          <p:cNvSpPr/>
          <p:nvPr/>
        </p:nvSpPr>
        <p:spPr>
          <a:xfrm>
            <a:off x="2093976"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blast radius"/>
          <p:cNvSpPr txBox="1"/>
          <p:nvPr/>
        </p:nvSpPr>
        <p:spPr>
          <a:xfrm>
            <a:off x="2258568" y="2304288"/>
            <a:ext cx="103022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blast radius</a:t>
            </a:r>
          </a:p>
        </p:txBody>
      </p:sp>
      <p:sp>
        <p:nvSpPr>
          <p:cNvPr id="31" name="term-handover"/>
          <p:cNvSpPr/>
          <p:nvPr/>
        </p:nvSpPr>
        <p:spPr>
          <a:xfrm>
            <a:off x="3581400" y="2212848"/>
            <a:ext cx="111556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handover"/>
          <p:cNvSpPr/>
          <p:nvPr/>
        </p:nvSpPr>
        <p:spPr>
          <a:xfrm>
            <a:off x="3581400"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handover"/>
          <p:cNvSpPr txBox="1"/>
          <p:nvPr/>
        </p:nvSpPr>
        <p:spPr>
          <a:xfrm>
            <a:off x="3745992" y="2304288"/>
            <a:ext cx="78638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handover</a:t>
            </a:r>
          </a:p>
        </p:txBody>
      </p:sp>
      <p:sp>
        <p:nvSpPr>
          <p:cNvPr id="34"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topic 2.4 actually says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17864"/>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1">
                <a:solidFill>
                  <a:srgbClr val="1C252B"/>
                </a:solidFill>
                <a:latin typeface="Segoe UI"/>
              </a:rPr>
              <a:t>Troubleshoot basic Layer 2/Layer 3 connectivity and device operations using show commands (including show logs), ping, extended ping, trace route, and packet capture output.</a:t>
            </a:r>
          </a:p>
          <a:p>
            <a:pPr algn="l">
              <a:lnSpc>
                <a:spcPct val="100000"/>
              </a:lnSpc>
              <a:spcAft>
                <a:spcPts val="1000"/>
              </a:spcAft>
            </a:pPr>
            <a:r>
              <a:rPr sz="2000" b="0" i="0">
                <a:solidFill>
                  <a:srgbClr val="1C252B"/>
                </a:solidFill>
                <a:latin typeface="Segoe UI"/>
              </a:rPr>
              <a:t>Every tool in that list has already been taught — Chapter 6 for ping, extended ping, traceroute and reading captures; Chapter 30 for </a:t>
            </a:r>
            <a:r>
              <a:rPr sz="1900" b="0" i="0">
                <a:solidFill>
                  <a:srgbClr val="1A5276"/>
                </a:solidFill>
                <a:latin typeface="Consolas"/>
              </a:rPr>
              <a:t>show logging</a:t>
            </a:r>
            <a:r>
              <a:rPr sz="2000" b="0" i="0">
                <a:solidFill>
                  <a:srgbClr val="1C252B"/>
                </a:solidFill>
                <a:latin typeface="Segoe UI"/>
              </a:rPr>
              <a:t>; Chapter 14 for layer 2. This chapter deliberately does not repeat them.</a:t>
            </a:r>
          </a:p>
          <a:p>
            <a:pPr algn="l">
              <a:lnSpc>
                <a:spcPct val="100000"/>
              </a:lnSpc>
              <a:spcAft>
                <a:spcPts val="1000"/>
              </a:spcAft>
            </a:pPr>
            <a:r>
              <a:rPr sz="2000" b="0" i="0">
                <a:solidFill>
                  <a:srgbClr val="1C252B"/>
                </a:solidFill>
                <a:latin typeface="Segoe UI"/>
              </a:rPr>
              <a:t>What it adds is the thing the tools cannot supply: </a:t>
            </a:r>
            <a:r>
              <a:rPr sz="2000" b="1" i="0">
                <a:solidFill>
                  <a:srgbClr val="1C252B"/>
                </a:solidFill>
                <a:latin typeface="Segoe UI"/>
              </a:rPr>
              <a:t>an order to use them in</a:t>
            </a:r>
            <a:r>
              <a:rPr sz="2000" b="0" i="0">
                <a:solidFill>
                  <a:srgbClr val="1C252B"/>
                </a:solidFill>
                <a:latin typeface="Segoe UI"/>
              </a:rPr>
              <a:t>. Eight of the twenty-nine topics begin </a:t>
            </a:r>
            <a:r>
              <a:rPr sz="2000" b="0" i="1">
                <a:solidFill>
                  <a:srgbClr val="1C252B"/>
                </a:solidFill>
                <a:latin typeface="Segoe UI"/>
              </a:rPr>
              <a:t>Troubleshoot</a:t>
            </a:r>
            <a:r>
              <a:rPr sz="2000" b="0" i="0">
                <a:solidFill>
                  <a:srgbClr val="1C252B"/>
                </a:solidFill>
                <a:latin typeface="Segoe UI"/>
              </a:rPr>
              <a:t> or </a:t>
            </a:r>
            <a:r>
              <a:rPr sz="2000" b="0" i="1">
                <a:solidFill>
                  <a:srgbClr val="1C252B"/>
                </a:solidFill>
                <a:latin typeface="Segoe UI"/>
              </a:rPr>
              <a:t>Diagnose</a:t>
            </a:r>
            <a:r>
              <a:rPr sz="2000" b="0" i="0">
                <a:solidFill>
                  <a:srgbClr val="1C252B"/>
                </a:solidFill>
                <a:latin typeface="Segoe UI"/>
              </a:rPr>
              <a:t>, which is 28% of the blueprint, and in every one of them the examiner already knows you can type </a:t>
            </a:r>
            <a:r>
              <a:rPr sz="1900" b="0" i="0">
                <a:solidFill>
                  <a:srgbClr val="1A5276"/>
                </a:solidFill>
                <a:latin typeface="Consolas"/>
              </a:rPr>
              <a:t>show ip interface brief</a:t>
            </a:r>
            <a:r>
              <a:rPr sz="2000" b="0" i="0">
                <a:solidFill>
                  <a:srgbClr val="1C252B"/>
                </a:solidFill>
                <a:latin typeface="Segoe UI"/>
              </a:rPr>
              <a:t>. What is being tested is whether you can decide to.</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failure mode to design against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characteristic mistake is </a:t>
            </a:r>
            <a:r>
              <a:rPr sz="2000" b="1" i="0">
                <a:solidFill>
                  <a:srgbClr val="1C252B"/>
                </a:solidFill>
                <a:latin typeface="Segoe UI"/>
              </a:rPr>
              <a:t>finding a fault and stopping</a:t>
            </a:r>
            <a:r>
              <a:rPr sz="2000" b="0" i="0">
                <a:solidFill>
                  <a:srgbClr val="1C252B"/>
                </a:solidFill>
                <a:latin typeface="Segoe UI"/>
              </a:rPr>
              <a:t>. There is a misconfiguration on the path, you fix it, and the symptom persists — because it was not </a:t>
            </a:r>
            <a:r>
              <a:rPr sz="2000" b="0" i="1">
                <a:solidFill>
                  <a:srgbClr val="1C252B"/>
                </a:solidFill>
                <a:latin typeface="Segoe UI"/>
              </a:rPr>
              <a:t>the</a:t>
            </a:r>
            <a:r>
              <a:rPr sz="2000" b="0" i="0">
                <a:solidFill>
                  <a:srgbClr val="1C252B"/>
                </a:solidFill>
                <a:latin typeface="Segoe UI"/>
              </a:rPr>
              <a:t> fault, or not the only one.</a:t>
            </a:r>
          </a:p>
          <a:p>
            <a:pPr algn="l">
              <a:lnSpc>
                <a:spcPct val="100000"/>
              </a:lnSpc>
              <a:spcAft>
                <a:spcPts val="1000"/>
              </a:spcAft>
            </a:pPr>
            <a:r>
              <a:rPr sz="2000" b="0" i="0">
                <a:solidFill>
                  <a:srgbClr val="1C252B"/>
                </a:solidFill>
                <a:latin typeface="Segoe UI"/>
              </a:rPr>
              <a:t>A method protects against this by making you state what you expect the fix to do </a:t>
            </a:r>
            <a:r>
              <a:rPr sz="2000" b="0" i="1">
                <a:solidFill>
                  <a:srgbClr val="1C252B"/>
                </a:solidFill>
                <a:latin typeface="Segoe UI"/>
              </a:rPr>
              <a:t>before</a:t>
            </a:r>
            <a:r>
              <a:rPr sz="2000" b="0" i="0">
                <a:solidFill>
                  <a:srgbClr val="1C252B"/>
                </a:solidFill>
                <a:latin typeface="Segoe UI"/>
              </a:rPr>
              <a:t> you apply it. If the prediction fails, you have learned something; if you had no prediction, you have only changed something.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The cycle</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cycle</a:t>
            </a:r>
          </a:p>
        </p:txBody>
      </p:sp>
      <p:sp>
        <p:nvSpPr>
          <p:cNvPr id="3"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pic>
        <p:nvPicPr>
          <p:cNvPr id="6" name="figure" descr="tscycle-1.png"/>
          <p:cNvPicPr>
            <a:picLocks noChangeAspect="1"/>
          </p:cNvPicPr>
          <p:nvPr/>
        </p:nvPicPr>
        <p:blipFill>
          <a:blip r:embed="rId2"/>
          <a:stretch>
            <a:fillRect/>
          </a:stretch>
        </p:blipFill>
        <p:spPr>
          <a:xfrm>
            <a:off x="685800" y="1776971"/>
            <a:ext cx="10820095" cy="425503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cycle</a:t>
            </a:r>
          </a:p>
        </p:txBody>
      </p:sp>
      <p:sp>
        <p:nvSpPr>
          <p:cNvPr id="3"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pic>
        <p:nvPicPr>
          <p:cNvPr id="6" name="figure" descr="tscycle-2.png"/>
          <p:cNvPicPr>
            <a:picLocks noChangeAspect="1"/>
          </p:cNvPicPr>
          <p:nvPr/>
        </p:nvPicPr>
        <p:blipFill>
          <a:blip r:embed="rId2"/>
          <a:stretch>
            <a:fillRect/>
          </a:stretch>
        </p:blipFill>
        <p:spPr>
          <a:xfrm>
            <a:off x="685800" y="1776971"/>
            <a:ext cx="10820095" cy="425503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cycle</a:t>
            </a:r>
          </a:p>
        </p:txBody>
      </p:sp>
      <p:sp>
        <p:nvSpPr>
          <p:cNvPr id="3"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pic>
        <p:nvPicPr>
          <p:cNvPr id="6" name="figure" descr="tscycle-3.png"/>
          <p:cNvPicPr>
            <a:picLocks noChangeAspect="1"/>
          </p:cNvPicPr>
          <p:nvPr/>
        </p:nvPicPr>
        <p:blipFill>
          <a:blip r:embed="rId2"/>
          <a:stretch>
            <a:fillRect/>
          </a:stretch>
        </p:blipFill>
        <p:spPr>
          <a:xfrm>
            <a:off x="685800" y="1776971"/>
            <a:ext cx="10820095" cy="425503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cycle</a:t>
            </a:r>
          </a:p>
        </p:txBody>
      </p:sp>
      <p:sp>
        <p:nvSpPr>
          <p:cNvPr id="3"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pic>
        <p:nvPicPr>
          <p:cNvPr id="6" name="figure" descr="tscycle-4.png"/>
          <p:cNvPicPr>
            <a:picLocks noChangeAspect="1"/>
          </p:cNvPicPr>
          <p:nvPr/>
        </p:nvPicPr>
        <p:blipFill>
          <a:blip r:embed="rId2"/>
          <a:stretch>
            <a:fillRect/>
          </a:stretch>
        </p:blipFill>
        <p:spPr>
          <a:xfrm>
            <a:off x="685800" y="1776971"/>
            <a:ext cx="10820095" cy="425503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cycle</a:t>
            </a:r>
          </a:p>
        </p:txBody>
      </p:sp>
      <p:sp>
        <p:nvSpPr>
          <p:cNvPr id="3"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pic>
        <p:nvPicPr>
          <p:cNvPr id="6" name="figure" descr="tscycle-5.png"/>
          <p:cNvPicPr>
            <a:picLocks noChangeAspect="1"/>
          </p:cNvPicPr>
          <p:nvPr/>
        </p:nvPicPr>
        <p:blipFill>
          <a:blip r:embed="rId2"/>
          <a:stretch>
            <a:fillRect/>
          </a:stretch>
        </p:blipFill>
        <p:spPr>
          <a:xfrm>
            <a:off x="685800" y="1776971"/>
            <a:ext cx="10820095" cy="425503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cycle</a:t>
            </a:r>
          </a:p>
        </p:txBody>
      </p:sp>
      <p:sp>
        <p:nvSpPr>
          <p:cNvPr id="3"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pic>
        <p:nvPicPr>
          <p:cNvPr id="6" name="figure" descr="tscycle-6.png"/>
          <p:cNvPicPr>
            <a:picLocks noChangeAspect="1"/>
          </p:cNvPicPr>
          <p:nvPr/>
        </p:nvPicPr>
        <p:blipFill>
          <a:blip r:embed="rId2"/>
          <a:stretch>
            <a:fillRect/>
          </a:stretch>
        </p:blipFill>
        <p:spPr>
          <a:xfrm>
            <a:off x="685800" y="1776971"/>
            <a:ext cx="10820095" cy="425503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cycle</a:t>
            </a:r>
          </a:p>
        </p:txBody>
      </p:sp>
      <p:sp>
        <p:nvSpPr>
          <p:cNvPr id="3"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pic>
        <p:nvPicPr>
          <p:cNvPr id="6" name="figure" descr="tscycle-7.png"/>
          <p:cNvPicPr>
            <a:picLocks noChangeAspect="1"/>
          </p:cNvPicPr>
          <p:nvPr/>
        </p:nvPicPr>
        <p:blipFill>
          <a:blip r:embed="rId2"/>
          <a:stretch>
            <a:fillRect/>
          </a:stretch>
        </p:blipFill>
        <p:spPr>
          <a:xfrm>
            <a:off x="685800" y="1776971"/>
            <a:ext cx="10820095" cy="425503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Step 5 is where amateurs and professionals separate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 think it is the trunk allowed list” is not a hypothesis. </a:t>
            </a:r>
            <a:r>
              <a:rPr sz="2000" b="1" i="0">
                <a:solidFill>
                  <a:srgbClr val="1C252B"/>
                </a:solidFill>
                <a:latin typeface="Segoe UI"/>
              </a:rPr>
              <a:t>“I think VLAN 30 is missing from the allowed list on the uplink, in which case </a:t>
            </a:r>
            <a:r>
              <a:rPr sz="1900" b="1" i="0">
                <a:solidFill>
                  <a:srgbClr val="1A5276"/>
                </a:solidFill>
                <a:latin typeface="Consolas"/>
              </a:rPr>
              <a:t>show interfaces trunk</a:t>
            </a:r>
            <a:r>
              <a:rPr sz="2000" b="1" i="0">
                <a:solidFill>
                  <a:srgbClr val="1C252B"/>
                </a:solidFill>
                <a:latin typeface="Segoe UI"/>
              </a:rPr>
              <a:t> will not list it, and VLANs 10 and 20 will be unaffected”</a:t>
            </a:r>
            <a:r>
              <a:rPr sz="2000" b="0" i="0">
                <a:solidFill>
                  <a:srgbClr val="1C252B"/>
                </a:solidFill>
                <a:latin typeface="Segoe UI"/>
              </a:rPr>
              <a:t> is one — because it can be wrong, and you will know immediately.</a:t>
            </a:r>
          </a:p>
          <a:p>
            <a:pPr algn="l">
              <a:lnSpc>
                <a:spcPct val="100000"/>
              </a:lnSpc>
              <a:spcAft>
                <a:spcPts val="1000"/>
              </a:spcAft>
            </a:pPr>
            <a:r>
              <a:rPr sz="2000" b="0" i="0">
                <a:solidFill>
                  <a:srgbClr val="1C252B"/>
                </a:solidFill>
                <a:latin typeface="Segoe UI"/>
              </a:rPr>
              <a:t>Say what you expect to see before you run the command. It takes three seconds and it converts every check into information whichever way it goes.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Compare-to-working is under-used and enormously effective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Twenty-four ports configured the same way, one of them broken. Do not reason about it — </a:t>
            </a:r>
            <a:r>
              <a:rPr sz="1900" b="0" i="0">
                <a:solidFill>
                  <a:srgbClr val="1A5276"/>
                </a:solidFill>
                <a:latin typeface="Consolas"/>
              </a:rPr>
              <a:t>show running-config interface</a:t>
            </a:r>
            <a:r>
              <a:rPr sz="2000" b="0" i="0">
                <a:solidFill>
                  <a:srgbClr val="1C252B"/>
                </a:solidFill>
                <a:latin typeface="Segoe UI"/>
              </a:rPr>
              <a:t> on both and read the difference.</a:t>
            </a:r>
          </a:p>
          <a:p>
            <a:pPr algn="l">
              <a:lnSpc>
                <a:spcPct val="100000"/>
              </a:lnSpc>
              <a:spcAft>
                <a:spcPts val="1000"/>
              </a:spcAft>
            </a:pPr>
            <a:r>
              <a:rPr sz="2000" b="0" i="0">
                <a:solidFill>
                  <a:srgbClr val="1C252B"/>
                </a:solidFill>
                <a:latin typeface="Segoe UI"/>
              </a:rPr>
              <a:t>The same applies to a device: if three hypervisor hosts work and the fourth does not (Chapter 29), the fault is in what is </a:t>
            </a:r>
            <a:r>
              <a:rPr sz="2000" b="0" i="1">
                <a:solidFill>
                  <a:srgbClr val="1C252B"/>
                </a:solidFill>
                <a:latin typeface="Segoe UI"/>
              </a:rPr>
              <a:t>not</a:t>
            </a:r>
            <a:r>
              <a:rPr sz="2000" b="0" i="0">
                <a:solidFill>
                  <a:srgbClr val="1C252B"/>
                </a:solidFill>
                <a:latin typeface="Segoe UI"/>
              </a:rPr>
              <a:t> identical, and that is a much smaller search space than “what could be wrong with a hypervisor uplink”.</a:t>
            </a:r>
          </a:p>
          <a:p>
            <a:pPr algn="l">
              <a:lnSpc>
                <a:spcPct val="100000"/>
              </a:lnSpc>
              <a:spcAft>
                <a:spcPts val="1000"/>
              </a:spcAft>
            </a:pPr>
            <a:r>
              <a:rPr sz="2000" b="0" i="0">
                <a:solidFill>
                  <a:srgbClr val="1C252B"/>
                </a:solidFill>
                <a:latin typeface="Segoe UI"/>
              </a:rPr>
              <a:t>Whenever a working comparison exists, use it first. It converts an open-ended diagnosis into a diff.</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800" b="1" i="0">
                <a:solidFill>
                  <a:srgbClr val="1A5276"/>
                </a:solidFill>
                <a:latin typeface="Segoe UI"/>
              </a:rPr>
              <a:t>“What changed?” is the highest-yield question in operations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tint"/>
          <p:cNvSpPr/>
          <p:nvPr/>
        </p:nvSpPr>
        <p:spPr>
          <a:xfrm>
            <a:off x="685800" y="1517904"/>
            <a:ext cx="10820095" cy="317093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network that worked on Monday and fails on Tuesday was changed. The change may be undocumented, may have been made by someone else, may not look related, and the person who made it may sincerely believe it could not have caused this.</a:t>
            </a:r>
          </a:p>
          <a:p>
            <a:pPr algn="l">
              <a:lnSpc>
                <a:spcPct val="100000"/>
              </a:lnSpc>
              <a:spcAft>
                <a:spcPts val="1000"/>
              </a:spcAft>
            </a:pPr>
            <a:r>
              <a:rPr sz="2000" b="0" i="0">
                <a:solidFill>
                  <a:srgbClr val="1C252B"/>
                </a:solidFill>
                <a:latin typeface="Segoe UI"/>
              </a:rPr>
              <a:t>Ask anyway, ask broadly, and check the evidence rather than the recollection: </a:t>
            </a:r>
            <a:r>
              <a:rPr sz="1900" b="0" i="0">
                <a:solidFill>
                  <a:srgbClr val="1A5276"/>
                </a:solidFill>
                <a:latin typeface="Consolas"/>
              </a:rPr>
              <a:t>show logging</a:t>
            </a:r>
            <a:r>
              <a:rPr sz="2000" b="0" i="0">
                <a:solidFill>
                  <a:srgbClr val="1C252B"/>
                </a:solidFill>
                <a:latin typeface="Segoe UI"/>
              </a:rPr>
              <a:t> for </a:t>
            </a:r>
            <a:r>
              <a:rPr sz="1900" b="0" i="0">
                <a:solidFill>
                  <a:srgbClr val="1A5276"/>
                </a:solidFill>
                <a:latin typeface="Consolas"/>
              </a:rPr>
              <a:t>%SYS-5-CONFIG_I</a:t>
            </a:r>
            <a:r>
              <a:rPr sz="2000" b="0" i="0">
                <a:solidFill>
                  <a:srgbClr val="1C252B"/>
                </a:solidFill>
                <a:latin typeface="Segoe UI"/>
              </a:rPr>
              <a:t> messages (Chapter 30), </a:t>
            </a:r>
            <a:r>
              <a:rPr sz="1900" b="0" i="0">
                <a:solidFill>
                  <a:srgbClr val="1A5276"/>
                </a:solidFill>
                <a:latin typeface="Consolas"/>
              </a:rPr>
              <a:t>show archive config differences</a:t>
            </a:r>
            <a:r>
              <a:rPr sz="2000" b="0" i="0">
                <a:solidFill>
                  <a:srgbClr val="1C252B"/>
                </a:solidFill>
                <a:latin typeface="Segoe UI"/>
              </a:rPr>
              <a:t>, and the change record.</a:t>
            </a:r>
          </a:p>
          <a:p>
            <a:pPr algn="l">
              <a:lnSpc>
                <a:spcPct val="100000"/>
              </a:lnSpc>
              <a:spcAft>
                <a:spcPts val="1000"/>
              </a:spcAft>
            </a:pPr>
            <a:r>
              <a:rPr sz="2000" b="0" i="0">
                <a:solidFill>
                  <a:srgbClr val="1C252B"/>
                </a:solidFill>
                <a:latin typeface="Segoe UI"/>
              </a:rPr>
              <a:t>The answer is often “nothing”, and it is often wrong.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exception, and know that you are taking it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Under a major outage there is pressure to restore service first and understand later. That is a legitimate decision — but take it deliberately, say out loud that you are taking it, and capture what you can as you go. The failure is not choosing speed; it is choosing speed by accident and having no idea afterwards what you did.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Handing it over</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Handing it over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Starting to type before scoping.</a:t>
            </a:r>
            <a:r>
              <a:rPr sz="2000" b="0" i="0">
                <a:solidFill>
                  <a:srgbClr val="1C252B"/>
                </a:solidFill>
                <a:latin typeface="Segoe UI"/>
              </a:rPr>
              <a:t> Four questions first.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Checking what broke last time.</a:t>
            </a:r>
            <a:r>
              <a:rPr sz="2000" b="0" i="0">
                <a:solidFill>
                  <a:srgbClr val="1C252B"/>
                </a:solidFill>
                <a:latin typeface="Segoe UI"/>
              </a:rPr>
              <a:t> Familiarity is not evidence.</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No prediction before a change.</a:t>
            </a:r>
            <a:r>
              <a:rPr sz="2000" b="0" i="0">
                <a:solidFill>
                  <a:srgbClr val="1C252B"/>
                </a:solidFill>
                <a:latin typeface="Segoe UI"/>
              </a:rPr>
              <a:t> You learn nothing from the result.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Two changes at once.</a:t>
            </a:r>
            <a:r>
              <a:rPr sz="2000" b="0" i="0">
                <a:solidFill>
                  <a:srgbClr val="1C252B"/>
                </a:solidFill>
                <a:latin typeface="Segoe UI"/>
              </a:rPr>
              <a:t> Now you do not know which worked.</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Leaving failed changes in place.</a:t>
            </a:r>
            <a:r>
              <a:rPr sz="2000" b="0" i="0">
                <a:solidFill>
                  <a:srgbClr val="1C252B"/>
                </a:solidFill>
                <a:latin typeface="Segoe UI"/>
              </a:rPr>
              <a:t> They become the next fault.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Fixing the first fault found and declaring victory</a:t>
            </a:r>
            <a:r>
              <a:rPr sz="2000" b="0" i="0">
                <a:solidFill>
                  <a:srgbClr val="1C252B"/>
                </a:solidFill>
                <a:latin typeface="Segoe UI"/>
              </a:rPr>
              <a:t> without re-testing the original symptom.</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Ignoring an available working comparison.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Handing it over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Believing “nothing changed”.</a:t>
            </a:r>
            <a:r>
              <a:rPr sz="2000" b="0" i="0">
                <a:solidFill>
                  <a:srgbClr val="1C252B"/>
                </a:solidFill>
                <a:latin typeface="Segoe UI"/>
              </a:rPr>
              <a:t> Check the logs.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Not writing it down.</a:t>
            </a:r>
            <a:r>
              <a:rPr sz="2000" b="0" i="0">
                <a:solidFill>
                  <a:srgbClr val="1C252B"/>
                </a:solidFill>
                <a:latin typeface="Segoe UI"/>
              </a:rPr>
              <a:t> You will meet this fault again.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Two faults at once, and fixing the first one changes nothing.</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Users on the second floor report that the file server is unreachable. You find that the uplink from </a:t>
            </a:r>
            <a:r>
              <a:rPr sz="1800" b="0" i="0">
                <a:solidFill>
                  <a:srgbClr val="1A5276"/>
                </a:solidFill>
                <a:latin typeface="Consolas"/>
              </a:rPr>
              <a:t>SW2</a:t>
            </a:r>
            <a:r>
              <a:rPr sz="1900" b="0" i="0">
                <a:solidFill>
                  <a:srgbClr val="1C252B"/>
                </a:solidFill>
                <a:latin typeface="Segoe UI"/>
              </a:rPr>
              <a:t> has VLAN 20 missing from its trunk allowed list, which would certainly do it. You add it, confirm </a:t>
            </a:r>
            <a:r>
              <a:rPr sz="1800" b="0" i="0">
                <a:solidFill>
                  <a:srgbClr val="1A5276"/>
                </a:solidFill>
                <a:latin typeface="Consolas"/>
              </a:rPr>
              <a:t>show interfaces trunk</a:t>
            </a:r>
            <a:r>
              <a:rPr sz="1900" b="0" i="0">
                <a:solidFill>
                  <a:srgbClr val="1C252B"/>
                </a:solidFill>
                <a:latin typeface="Segoe UI"/>
              </a:rPr>
              <a:t> now lists VLAN 20 — and the users report no improvement at all.</a:t>
            </a:r>
          </a:p>
          <a:p>
            <a:pPr algn="l">
              <a:lnSpc>
                <a:spcPct val="100000"/>
              </a:lnSpc>
              <a:spcAft>
                <a:spcPts val="1000"/>
              </a:spcAft>
            </a:pPr>
            <a:r>
              <a:rPr sz="1900" b="1" i="0">
                <a:solidFill>
                  <a:srgbClr val="1C252B"/>
                </a:solidFill>
                <a:latin typeface="Segoe UI"/>
              </a:rPr>
              <a:t>The instinct</a:t>
            </a:r>
            <a:r>
              <a:rPr sz="1900" b="0" i="0">
                <a:solidFill>
                  <a:srgbClr val="1C252B"/>
                </a:solidFill>
                <a:latin typeface="Segoe UI"/>
              </a:rPr>
              <a:t> is to assume the fix did not take, and to re-check the trunk. Resist it: you verified it, and it is correct. A correct fix that does not resolve the symptom means </a:t>
            </a:r>
            <a:r>
              <a:rPr sz="1900" b="1" i="0">
                <a:solidFill>
                  <a:srgbClr val="1C252B"/>
                </a:solidFill>
                <a:latin typeface="Segoe UI"/>
              </a:rPr>
              <a:t>your hypothesis explained a real fault, but not this one</a:t>
            </a:r>
            <a:r>
              <a:rPr sz="1900" b="0" i="0">
                <a:solidFill>
                  <a:srgbClr val="1C252B"/>
                </a:solidFill>
                <a:latin typeface="Segoe UI"/>
              </a:rPr>
              <a:t>.</a:t>
            </a:r>
          </a:p>
          <a:p>
            <a:pPr algn="l">
              <a:lnSpc>
                <a:spcPct val="100000"/>
              </a:lnSpc>
              <a:spcAft>
                <a:spcPts val="1000"/>
              </a:spcAft>
            </a:pPr>
            <a:r>
              <a:rPr sz="1900" b="1" i="0">
                <a:solidFill>
                  <a:srgbClr val="1C252B"/>
                </a:solidFill>
                <a:latin typeface="Segoe UI"/>
              </a:rPr>
              <a:t>Go back to scoping</a:t>
            </a:r>
            <a:r>
              <a:rPr sz="1900" b="0" i="0">
                <a:solidFill>
                  <a:srgbClr val="1C252B"/>
                </a:solidFill>
                <a:latin typeface="Segoe UI"/>
              </a:rPr>
              <a:t>, which is where the answer was all along.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Two faults at once, and fixing the first one changes nothing.</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ip route 10.20.0.0</a:t>
            </a:r>
          </a:p>
        </p:txBody>
      </p:sp>
      <p:sp>
        <p:nvSpPr>
          <p:cNvPr id="6" name="bfcodebg"/>
          <p:cNvSpPr/>
          <p:nvPr/>
        </p:nvSpPr>
        <p:spPr>
          <a:xfrm>
            <a:off x="685800" y="2011680"/>
            <a:ext cx="10820095" cy="100584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9" name="bfcode"/>
          <p:cNvSpPr txBox="1"/>
          <p:nvPr/>
        </p:nvSpPr>
        <p:spPr>
          <a:xfrm>
            <a:off x="886968" y="2432304"/>
            <a:ext cx="10417759" cy="530352"/>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 Network not in table</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The server’s subnet is not in the routing table. Its route was lost overnight — and </a:t>
            </a:r>
            <a:r>
              <a:rPr sz="1900" b="0" i="1">
                <a:solidFill>
                  <a:srgbClr val="1C252B"/>
                </a:solidFill>
                <a:latin typeface="Segoe UI"/>
              </a:rPr>
              <a:t>that</a:t>
            </a:r>
            <a:r>
              <a:rPr sz="1900" b="0" i="0">
                <a:solidFill>
                  <a:srgbClr val="1C252B"/>
                </a:solidFill>
                <a:latin typeface="Segoe UI"/>
              </a:rPr>
              <a:t> is why nobody can reach it, from any floor.</a:t>
            </a:r>
          </a:p>
          <a:p>
            <a:pPr algn="l">
              <a:lnSpc>
                <a:spcPct val="100000"/>
              </a:lnSpc>
              <a:spcAft>
                <a:spcPts val="1000"/>
              </a:spcAft>
            </a:pPr>
            <a:r>
              <a:rPr sz="1900" b="0" i="0">
                <a:solidFill>
                  <a:srgbClr val="1C252B"/>
                </a:solidFill>
                <a:latin typeface="Segoe UI"/>
              </a:rPr>
              <a:t>The missing VLAN on </a:t>
            </a:r>
            <a:r>
              <a:rPr sz="1800" b="0" i="0">
                <a:solidFill>
                  <a:srgbClr val="1A5276"/>
                </a:solidFill>
                <a:latin typeface="Consolas"/>
              </a:rPr>
              <a:t>SW2</a:t>
            </a:r>
            <a:r>
              <a:rPr sz="1900" b="0" i="0">
                <a:solidFill>
                  <a:srgbClr val="1C252B"/>
                </a:solidFill>
                <a:latin typeface="Segoe UI"/>
              </a:rPr>
              <a:t>’s trunk was a second, genuine, unrelated fault. It had been there for weeks without being noticed, because nothing in VLAN 20 on the second floor had needed the uplink until the server was investigated. Finding it was useful. Believing it was the cause was the error.</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The lesson, and it is the one this chapter exists for.</a:t>
            </a:r>
            <a:r>
              <a:rPr sz="1900" b="0" i="0">
                <a:solidFill>
                  <a:srgbClr val="1C252B"/>
                </a:solidFill>
                <a:latin typeface="Segoe UI"/>
              </a:rPr>
              <a:t> Two things went wrong here, and only one of them was reported:</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OR CML, IN PAIRS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Faults you did not create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700" b="1" i="0">
                <a:solidFill>
                  <a:srgbClr val="1C252B"/>
                </a:solidFill>
                <a:latin typeface="Segoe UI"/>
              </a:rPr>
              <a:t>Platform note.</a:t>
            </a:r>
            <a:r>
              <a:rPr sz="1700" b="0" i="0">
                <a:solidFill>
                  <a:srgbClr val="1C252B"/>
                </a:solidFill>
                <a:latin typeface="Segoe UI"/>
              </a:rPr>
              <a:t> The value here is entirely in </a:t>
            </a:r>
            <a:r>
              <a:rPr sz="1700" b="0" i="1">
                <a:solidFill>
                  <a:srgbClr val="1C252B"/>
                </a:solidFill>
                <a:latin typeface="Segoe UI"/>
              </a:rPr>
              <a:t>not</a:t>
            </a:r>
            <a:r>
              <a:rPr sz="1700" b="0" i="0">
                <a:solidFill>
                  <a:srgbClr val="1C252B"/>
                </a:solidFill>
                <a:latin typeface="Segoe UI"/>
              </a:rPr>
              <a:t> knowing the fault, so this lab must be done in pairs or by exchanging saved files. Working alone on a fault you injected yourself teaches nothing.</a:t>
            </a:r>
          </a:p>
          <a:p>
            <a:pPr algn="l">
              <a:lnSpc>
                <a:spcPct val="100000"/>
              </a:lnSpc>
              <a:spcAft>
                <a:spcPts val="1000"/>
              </a:spcAft>
            </a:pPr>
            <a:r>
              <a:rPr sz="1700" b="1" i="0">
                <a:solidFill>
                  <a:srgbClr val="1C252B"/>
                </a:solidFill>
                <a:latin typeface="Segoe UI"/>
              </a:rPr>
              <a:t>Topology.</a:t>
            </a:r>
            <a:r>
              <a:rPr sz="1700" b="0" i="0">
                <a:solidFill>
                  <a:srgbClr val="1C252B"/>
                </a:solidFill>
                <a:latin typeface="Segoe UI"/>
              </a:rPr>
              <a:t> Any multi-VLAN, multi-router topology from Parts II and III that both of you have working.</a:t>
            </a:r>
          </a:p>
        </p:txBody>
      </p:sp>
      <p:sp>
        <p:nvSpPr>
          <p:cNvPr id="8" name="bullets"/>
          <p:cNvSpPr txBox="1"/>
          <p:nvPr/>
        </p:nvSpPr>
        <p:spPr>
          <a:xfrm>
            <a:off x="685800" y="2634234"/>
            <a:ext cx="10820095" cy="3748278"/>
          </a:xfrm>
          <a:prstGeom prst="rect">
            <a:avLst/>
          </a:prstGeom>
          <a:noFill/>
        </p:spPr>
        <p:txBody>
          <a:bodyPr wrap="square" lIns="0" rIns="0" tIns="0" bIns="0">
            <a:spAutoFit/>
          </a:bodyPr>
          <a:lstStyle/>
          <a:p>
            <a:pPr marL="328168" indent="-328168">
              <a:lnSpc>
                <a:spcPct val="102000"/>
              </a:lnSpc>
              <a:spcAft>
                <a:spcPts val="900"/>
              </a:spcAft>
            </a:pPr>
            <a:r>
              <a:rPr sz="1700" b="1">
                <a:solidFill>
                  <a:srgbClr val="117864"/>
                </a:solidFill>
                <a:latin typeface="Segoe UI"/>
              </a:rPr>
              <a:t>1.  </a:t>
            </a:r>
            <a:r>
              <a:rPr sz="1700" b="0" i="0">
                <a:solidFill>
                  <a:srgbClr val="1C252B"/>
                </a:solidFill>
                <a:latin typeface="Segoe UI"/>
              </a:rPr>
              <a:t>Each of you takes a working copy and injects </a:t>
            </a:r>
            <a:r>
              <a:rPr sz="1700" b="1" i="0">
                <a:solidFill>
                  <a:srgbClr val="1C252B"/>
                </a:solidFill>
                <a:latin typeface="Segoe UI"/>
              </a:rPr>
              <a:t>three</a:t>
            </a:r>
            <a:r>
              <a:rPr sz="1700" b="0" i="0">
                <a:solidFill>
                  <a:srgbClr val="1C252B"/>
                </a:solidFill>
                <a:latin typeface="Segoe UI"/>
              </a:rPr>
              <a:t> faults from different layers — one physical or layer 2, one layer 3, one a service (DHCP, DNS, NAT or an ACL). Record them privately. At least one should be silent, producing no log message.</a:t>
            </a:r>
          </a:p>
          <a:p>
            <a:pPr marL="328168" indent="-328168">
              <a:lnSpc>
                <a:spcPct val="102000"/>
              </a:lnSpc>
              <a:spcAft>
                <a:spcPts val="900"/>
              </a:spcAft>
            </a:pPr>
            <a:r>
              <a:rPr sz="1700" b="1">
                <a:solidFill>
                  <a:srgbClr val="117864"/>
                </a:solidFill>
                <a:latin typeface="Segoe UI"/>
              </a:rPr>
              <a:t>2.  </a:t>
            </a:r>
            <a:r>
              <a:rPr sz="1700" b="0" i="0">
                <a:solidFill>
                  <a:srgbClr val="1C252B"/>
                </a:solidFill>
                <a:latin typeface="Segoe UI"/>
              </a:rPr>
              <a:t>Exchange files. Before running a single command, write down your scoping questions and what each possible answer would eliminate.</a:t>
            </a:r>
          </a:p>
          <a:p>
            <a:pPr marL="328168" indent="-328168">
              <a:lnSpc>
                <a:spcPct val="102000"/>
              </a:lnSpc>
              <a:spcAft>
                <a:spcPts val="900"/>
              </a:spcAft>
            </a:pPr>
            <a:r>
              <a:rPr sz="1700" b="1">
                <a:solidFill>
                  <a:srgbClr val="117864"/>
                </a:solidFill>
                <a:latin typeface="Segoe UI"/>
              </a:rPr>
              <a:t>3.  </a:t>
            </a:r>
            <a:r>
              <a:rPr sz="1700" b="0" i="0">
                <a:solidFill>
                  <a:srgbClr val="1C252B"/>
                </a:solidFill>
                <a:latin typeface="Segoe UI"/>
              </a:rPr>
              <a:t>Diagnose. For every check, write the prediction </a:t>
            </a:r>
            <a:r>
              <a:rPr sz="1700" b="0" i="1">
                <a:solidFill>
                  <a:srgbClr val="1C252B"/>
                </a:solidFill>
                <a:latin typeface="Segoe UI"/>
              </a:rPr>
              <a:t>before</a:t>
            </a:r>
            <a:r>
              <a:rPr sz="1700" b="0" i="0">
                <a:solidFill>
                  <a:srgbClr val="1C252B"/>
                </a:solidFill>
                <a:latin typeface="Segoe UI"/>
              </a:rPr>
              <a:t> you run it, and whether it held. Keep this record — it is the deliverable.</a:t>
            </a:r>
          </a:p>
          <a:p>
            <a:pPr marL="328168" indent="-328168">
              <a:lnSpc>
                <a:spcPct val="102000"/>
              </a:lnSpc>
              <a:spcAft>
                <a:spcPts val="900"/>
              </a:spcAft>
            </a:pPr>
            <a:r>
              <a:rPr sz="1700" b="1">
                <a:solidFill>
                  <a:srgbClr val="117864"/>
                </a:solidFill>
                <a:latin typeface="Segoe UI"/>
              </a:rPr>
              <a:t>4.  </a:t>
            </a:r>
            <a:r>
              <a:rPr sz="1700" b="0" i="0">
                <a:solidFill>
                  <a:srgbClr val="1C252B"/>
                </a:solidFill>
                <a:latin typeface="Segoe UI"/>
              </a:rPr>
              <a:t>Fix one fault at a time and re-test the original symptom after each. Note any case where a correct fix did not change the symptom, and what you concluded.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OR CML, IN PAIRS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Faults you did not create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117864"/>
                </a:solidFill>
                <a:latin typeface="Segoe UI"/>
              </a:rPr>
              <a:t>5.  </a:t>
            </a:r>
            <a:r>
              <a:rPr sz="2000" b="0" i="0">
                <a:solidFill>
                  <a:srgbClr val="1C252B"/>
                </a:solidFill>
                <a:latin typeface="Segoe UI"/>
              </a:rPr>
              <a:t>Time yourself. Compare against your partner on the same set of faults.</a:t>
            </a:r>
          </a:p>
          <a:p>
            <a:pPr marL="386080" indent="-386080">
              <a:lnSpc>
                <a:spcPct val="102000"/>
              </a:lnSpc>
              <a:spcAft>
                <a:spcPts val="900"/>
              </a:spcAft>
            </a:pPr>
            <a:r>
              <a:rPr sz="2000" b="1">
                <a:solidFill>
                  <a:srgbClr val="117864"/>
                </a:solidFill>
                <a:latin typeface="Segoe UI"/>
              </a:rPr>
              <a:t>6.  </a:t>
            </a:r>
            <a:r>
              <a:rPr sz="2000" b="0" i="0">
                <a:solidFill>
                  <a:srgbClr val="1C252B"/>
                </a:solidFill>
                <a:latin typeface="Segoe UI"/>
              </a:rPr>
              <a:t>Write the handover you would give if you ran out of time halfway.</a:t>
            </a:r>
          </a:p>
          <a:p>
            <a:pPr marL="386080" indent="-386080">
              <a:lnSpc>
                <a:spcPct val="102000"/>
              </a:lnSpc>
              <a:spcAft>
                <a:spcPts val="900"/>
              </a:spcAft>
            </a:pPr>
            <a:r>
              <a:rPr sz="2000" b="1">
                <a:solidFill>
                  <a:srgbClr val="117864"/>
                </a:solidFill>
                <a:latin typeface="Segoe UI"/>
              </a:rPr>
              <a:t>7.  </a:t>
            </a:r>
            <a:r>
              <a:rPr sz="2000" b="1" i="0">
                <a:solidFill>
                  <a:srgbClr val="1C252B"/>
                </a:solidFill>
                <a:latin typeface="Segoe UI"/>
              </a:rPr>
              <a:t>Round 2.</a:t>
            </a:r>
            <a:r>
              <a:rPr sz="2000" b="0" i="0">
                <a:solidFill>
                  <a:srgbClr val="1C252B"/>
                </a:solidFill>
                <a:latin typeface="Segoe UI"/>
              </a:rPr>
              <a:t> Inject three more, but this time include </a:t>
            </a:r>
            <a:r>
              <a:rPr sz="2000" b="1" i="0">
                <a:solidFill>
                  <a:srgbClr val="1C252B"/>
                </a:solidFill>
                <a:latin typeface="Segoe UI"/>
              </a:rPr>
              <a:t>two faults on the same path</a:t>
            </a:r>
            <a:r>
              <a:rPr sz="2000" b="0" i="0">
                <a:solidFill>
                  <a:srgbClr val="1C252B"/>
                </a:solidFill>
                <a:latin typeface="Segoe UI"/>
              </a:rPr>
              <a:t> so that fixing one changes nothing. This is the Break &amp; Fix above, and it is the most valuable version of this exercise.</a:t>
            </a:r>
          </a:p>
          <a:p>
            <a:pPr marL="386080" indent="-386080">
              <a:lnSpc>
                <a:spcPct val="102000"/>
              </a:lnSpc>
              <a:spcAft>
                <a:spcPts val="900"/>
              </a:spcAft>
            </a:pPr>
            <a:r>
              <a:rPr sz="2000" b="1">
                <a:solidFill>
                  <a:srgbClr val="117864"/>
                </a:solidFill>
                <a:latin typeface="Segoe UI"/>
              </a:rPr>
              <a:t>8.  </a:t>
            </a:r>
            <a:r>
              <a:rPr sz="2000" b="1" i="0">
                <a:solidFill>
                  <a:srgbClr val="1C252B"/>
                </a:solidFill>
                <a:latin typeface="Segoe UI"/>
              </a:rPr>
              <a:t>Round 3.</a:t>
            </a:r>
            <a:r>
              <a:rPr sz="2000" b="0" i="0">
                <a:solidFill>
                  <a:srgbClr val="1C252B"/>
                </a:solidFill>
                <a:latin typeface="Segoe UI"/>
              </a:rPr>
              <a:t> Inject one fault into </a:t>
            </a:r>
            <a:r>
              <a:rPr sz="2000" b="0" i="1">
                <a:solidFill>
                  <a:srgbClr val="1C252B"/>
                </a:solidFill>
                <a:latin typeface="Segoe UI"/>
              </a:rPr>
              <a:t>one</a:t>
            </a:r>
            <a:r>
              <a:rPr sz="2000" b="0" i="0">
                <a:solidFill>
                  <a:srgbClr val="1C252B"/>
                </a:solidFill>
                <a:latin typeface="Segoe UI"/>
              </a:rPr>
              <a:t> of twenty-four identically configured ports. Time how long it takes with reasoning versus with a configuration diff.</a:t>
            </a:r>
          </a:p>
          <a:p>
            <a:pPr marL="386080" indent="-386080">
              <a:lnSpc>
                <a:spcPct val="102000"/>
              </a:lnSpc>
              <a:spcAft>
                <a:spcPts val="900"/>
              </a:spcAft>
            </a:pPr>
            <a:r>
              <a:rPr sz="2000" b="1">
                <a:solidFill>
                  <a:srgbClr val="117864"/>
                </a:solidFill>
                <a:latin typeface="Segoe UI"/>
              </a:rPr>
              <a:t>9.  </a:t>
            </a:r>
            <a:r>
              <a:rPr sz="2000" b="1" i="0">
                <a:solidFill>
                  <a:srgbClr val="1C252B"/>
                </a:solidFill>
                <a:latin typeface="Segoe UI"/>
              </a:rPr>
              <a:t>Extension.</a:t>
            </a:r>
            <a:r>
              <a:rPr sz="2000" b="0" i="0">
                <a:solidFill>
                  <a:srgbClr val="1C252B"/>
                </a:solidFill>
                <a:latin typeface="Segoe UI"/>
              </a:rPr>
              <a:t> Build a one-page fault-finding card for your own use: the four scoping questions, the five methods, and the symptom index trimmed to what you personally forget.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Give the seven steps of the cycle and say which two form a loop.</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6</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Give the seven steps of the cycle and say which two form a loop.</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Define, gather, analyse, eliminate, hypothesise, test, solve. Steps </a:t>
            </a:r>
            <a:r>
              <a:rPr sz="1900" b="1" i="0">
                <a:solidFill>
                  <a:srgbClr val="1C252B"/>
                </a:solidFill>
                <a:latin typeface="Segoe UI"/>
              </a:rPr>
              <a:t>5 and 6</a:t>
            </a:r>
            <a:r>
              <a:rPr sz="1900" b="0" i="0">
                <a:solidFill>
                  <a:srgbClr val="1C252B"/>
                </a:solidFill>
                <a:latin typeface="Segoe UI"/>
              </a:rPr>
              <a:t> form the loop — a hypothesis whose prediction fails is discarded and replaced, not patched.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Name the five structured methods and give the symptom that selects each.</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6</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Name the five structured methods and give the symptom that selects each.</a:t>
            </a:r>
          </a:p>
        </p:txBody>
      </p:sp>
      <p:sp>
        <p:nvSpPr>
          <p:cNvPr id="8" name="abar"/>
          <p:cNvSpPr/>
          <p:nvPr/>
        </p:nvSpPr>
        <p:spPr>
          <a:xfrm>
            <a:off x="685800" y="219735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Bottom-up for a suspected physical or hardware fault, or when nothing works. Top-down when one application fails and everything else is fine. Divide and conquer as the default when you have no strong prior. Follow the path when two specific points cannot reach each other. Compare working to broken whenever an identical working case exists.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are the four scoping questions, and what does each eliminate?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6</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are the four scoping questions, and what does each eliminate?</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1">
                <a:solidFill>
                  <a:srgbClr val="1C252B"/>
                </a:solidFill>
                <a:latin typeface="Segoe UI"/>
              </a:rPr>
              <a:t>One user or many?</a:t>
            </a:r>
            <a:r>
              <a:rPr sz="1900" b="0" i="0">
                <a:solidFill>
                  <a:srgbClr val="1C252B"/>
                </a:solidFill>
                <a:latin typeface="Segoe UI"/>
              </a:rPr>
              <a:t> — sets the whole search space. </a:t>
            </a:r>
            <a:r>
              <a:rPr sz="1900" b="0" i="1">
                <a:solidFill>
                  <a:srgbClr val="1C252B"/>
                </a:solidFill>
                <a:latin typeface="Segoe UI"/>
              </a:rPr>
              <a:t>Has it ever worked?</a:t>
            </a:r>
            <a:r>
              <a:rPr sz="1900" b="0" i="0">
                <a:solidFill>
                  <a:srgbClr val="1C252B"/>
                </a:solidFill>
                <a:latin typeface="Segoe UI"/>
              </a:rPr>
              <a:t> — separates a build fault from a change fault. </a:t>
            </a:r>
            <a:r>
              <a:rPr sz="1900" b="0" i="1">
                <a:solidFill>
                  <a:srgbClr val="1C252B"/>
                </a:solidFill>
                <a:latin typeface="Segoe UI"/>
              </a:rPr>
              <a:t>What changed?</a:t>
            </a:r>
            <a:r>
              <a:rPr sz="1900" b="0" i="0">
                <a:solidFill>
                  <a:srgbClr val="1C252B"/>
                </a:solidFill>
                <a:latin typeface="Segoe UI"/>
              </a:rPr>
              <a:t> — finds the cause of most faults in previously working networks. </a:t>
            </a:r>
            <a:r>
              <a:rPr sz="1900" b="0" i="1">
                <a:solidFill>
                  <a:srgbClr val="1C252B"/>
                </a:solidFill>
                <a:latin typeface="Segoe UI"/>
              </a:rPr>
              <a:t>Does it fail by name but work by address?</a:t>
            </a:r>
            <a:r>
              <a:rPr sz="1900" b="0" i="0">
                <a:solidFill>
                  <a:srgbClr val="1C252B"/>
                </a:solidFill>
                <a:latin typeface="Segoe UI"/>
              </a:rPr>
              <a:t> — answers “is this DNS” in one test.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must you state a prediction before making a change?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6</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must you state a prediction before making a change?</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it converts a check into information whichever way it goes. Without a prediction, a fix that does not resolve the symptom reads as “the fix did not work” rather than “the hypothesis was wrong”, and you re-check something already correct.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correct fix does not resolve the reported symptom. What does this tell you, and what should you do next?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6</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correct fix does not resolve the reported symptom. What does this tell you, and what should you do next?</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Either the hypothesis was wrong, or there is more than one fault. Go back to scoping rather than re-checking the thing you just verified — and keep the fix if it corrected a genuine defect, but record it separately.</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6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are the four things a handover must contain?</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6 of 6</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are the four things a handover must contain?</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precise symptom and who is affected; what has been ruled out and the evidence for it; what has been changed, including anything not yet undone; and the current hypothesis with the next test.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Define, gather, analyse, eliminate, hypothesise, test, solve — and loop between hypothesis and test until the prediction holds.</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A hypothesis must predict something that could be wrong. State it before you run the command.</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Five methods: bottom-up for physical, top-down for one application, divide and conquer as the default, follow the path between two points, and compare-to-working whenever an identical working case exists.</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Scope first: one user or many, has it ever worked, what changed, does it fail by name but work by address.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33. A Troubleshooting Method for the 28 Per Cent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“What changed” is the highest-yield question, and “nothing” is often wrong. Check </a:t>
            </a:r>
            <a:r>
              <a:rPr sz="1900" b="0" i="0">
                <a:solidFill>
                  <a:srgbClr val="1A5276"/>
                </a:solidFill>
                <a:latin typeface="Consolas"/>
              </a:rPr>
              <a:t>show logging</a:t>
            </a:r>
            <a:r>
              <a:rPr sz="2000" b="0" i="0">
                <a:solidFill>
                  <a:srgbClr val="1C252B"/>
                </a:solidFill>
                <a:latin typeface="Segoe UI"/>
              </a:rPr>
              <a:t> and the archive diff.</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Record before changing, change one thing, undo what did not help.</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A correct fix that does not resolve the symptom means the hypothesis was wrong — or that there is more than one fault.</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A handover states the symptom, what has been ruled out and how, what was changed, and the next test.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Define, gather, analyse, eliminate, hypothesise, test, solve — and loop between hypothesis and test until the prediction holds.</a:t>
            </a:r>
          </a:p>
          <a:p>
            <a:pPr marL="217169" indent="-217169">
              <a:spcAft>
                <a:spcPts val="900"/>
              </a:spcAft>
            </a:pPr>
            <a:r>
              <a:rPr sz="1900">
                <a:solidFill>
                  <a:srgbClr val="C8D6E5"/>
                </a:solidFill>
              </a:rPr>
              <a:t>•  </a:t>
            </a:r>
            <a:r>
              <a:rPr sz="1900" b="0" i="0">
                <a:solidFill>
                  <a:srgbClr val="FFFFFF"/>
                </a:solidFill>
                <a:latin typeface="Segoe UI"/>
              </a:rPr>
              <a:t>A hypothesis must predict something that could be wrong. State it before you run the command.</a:t>
            </a:r>
          </a:p>
          <a:p>
            <a:pPr marL="217169" indent="-217169">
              <a:spcAft>
                <a:spcPts val="900"/>
              </a:spcAft>
            </a:pPr>
            <a:r>
              <a:rPr sz="1900">
                <a:solidFill>
                  <a:srgbClr val="C8D6E5"/>
                </a:solidFill>
              </a:rPr>
              <a:t>•  </a:t>
            </a:r>
            <a:r>
              <a:rPr sz="1900" b="0" i="0">
                <a:solidFill>
                  <a:srgbClr val="FFFFFF"/>
                </a:solidFill>
                <a:latin typeface="Segoe UI"/>
              </a:rPr>
              <a:t>Five methods: bottom-up for physical, top-down for one application, divide and conquer as the default, follow the path between two points, and compare-to-working whenever an identical working case exists.</a:t>
            </a:r>
          </a:p>
          <a:p>
            <a:pPr marL="217169" indent="-217169">
              <a:spcAft>
                <a:spcPts val="900"/>
              </a:spcAft>
            </a:pPr>
            <a:r>
              <a:rPr sz="1900">
                <a:solidFill>
                  <a:srgbClr val="C8D6E5"/>
                </a:solidFill>
              </a:rPr>
              <a:t>•  </a:t>
            </a:r>
            <a:r>
              <a:rPr sz="1900" b="0" i="0">
                <a:solidFill>
                  <a:srgbClr val="FFFFFF"/>
                </a:solidFill>
                <a:latin typeface="Segoe UI"/>
              </a:rPr>
              <a:t>Scope first: one user or many, has it ever worked, what changed, does it fail by name but work by address.</a:t>
            </a:r>
          </a:p>
        </p:txBody>
      </p:sp>
      <p:sp>
        <p:nvSpPr>
          <p:cNvPr id="5" name="nextbg"/>
          <p:cNvSpPr/>
          <p:nvPr/>
        </p:nvSpPr>
        <p:spPr>
          <a:xfrm>
            <a:off x="685800" y="5303520"/>
            <a:ext cx="10820095" cy="82296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34 — Exam Strategy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