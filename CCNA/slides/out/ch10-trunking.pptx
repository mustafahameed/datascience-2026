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Trunking, 802.1Q and SVIs. Blueprint topics: 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Trunking, 802.1Q and SVIs 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link between two switches must carry traffic for every VLAN, and the receiving switch has to know which VLAN each frame belongs to. 802.1Q solves this by inserting a four-byte tag into the frame carrying the VLAN 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blocks, and they narrow as they go. A VLAN can be allowed but not active (it does not exist on this switch), or active but not forwarding (spanning tree is blocking it). When a VLAN is missing from the last block but present in the first, you have found the layer at which it is being lost.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Trunking Protocol lets two Cisco switches negotiate whether a link becomes a trunk. It is convenient and it is a liability. The two entries worth memorising are the failures. dynamic auto on both ends gives you an access port, not a trunk — each side waits for the other to ask. And trunk facing access is a genuine mismatch that passes only the access VLAN.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VLAN is a broadcast domain and traffic cannot leave it without being routed. There are two ways to provide that, and the exam names the modern one. An SVI is a virtual layer 3 interface inside a multilayer switch, representing one VLAN. Give each VLAN an SVI with an address and the switch routes between them at hardware speed.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VLAN 30’s SVI is up administratively and down at protocol level — no active port in VLAN 30. Plug in a phone, or allow VLAN 30 on a trunk, and it comes up. Where the switch cannot route, one router interface carries every VLAN over a trunk, divided into subinterfaces.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VLAN’s traffic crosses the one physical link twice — in and out — so this scales badly. It appears in the exam because it still appears in small networks.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10</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Trunking, 802.1Q and SVIs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 — Switching and Network Access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2.1</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Explain</a:t>
            </a:r>
            <a:r>
              <a:rPr sz="2000" b="0" i="0">
                <a:solidFill>
                  <a:srgbClr val="1C252B"/>
                </a:solidFill>
                <a:latin typeface="Segoe UI"/>
              </a:rPr>
              <a:t> what an 802.1Q tag is and why the native VLAN is the exception that causes most trunk faults.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a trunk between two switches and between a switch and a router, and prune it to the VLANs it should carry.</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switch virtual interfaces so that a multilayer switch routes between VLANs.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Diagnose</a:t>
            </a:r>
            <a:r>
              <a:rPr sz="2000" b="0" i="0">
                <a:solidFill>
                  <a:srgbClr val="1C252B"/>
                </a:solidFill>
                <a:latin typeface="Segoe UI"/>
              </a:rPr>
              <a:t> the four trunk faults: mode mismatch, encapsulation mismatch, native VLAN mismatch and a missing VLAN in the allowed list.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8 for VLANs and access ports; Chapter 4 for addressing, which the SVI section needs.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erm-trunk"/>
          <p:cNvSpPr/>
          <p:nvPr/>
        </p:nvSpPr>
        <p:spPr>
          <a:xfrm>
            <a:off x="685800" y="1609344"/>
            <a:ext cx="7619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trunk"/>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trunk"/>
          <p:cNvSpPr txBox="1"/>
          <p:nvPr/>
        </p:nvSpPr>
        <p:spPr>
          <a:xfrm>
            <a:off x="850392" y="1700784"/>
            <a:ext cx="43281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trunk</a:t>
            </a:r>
          </a:p>
        </p:txBody>
      </p:sp>
      <p:sp>
        <p:nvSpPr>
          <p:cNvPr id="10" name="term-802.1Q"/>
          <p:cNvSpPr/>
          <p:nvPr/>
        </p:nvSpPr>
        <p:spPr>
          <a:xfrm>
            <a:off x="1575815" y="1609344"/>
            <a:ext cx="10200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802.1Q"/>
          <p:cNvSpPr/>
          <p:nvPr/>
        </p:nvSpPr>
        <p:spPr>
          <a:xfrm>
            <a:off x="1575815"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802.1Q"/>
          <p:cNvSpPr txBox="1"/>
          <p:nvPr/>
        </p:nvSpPr>
        <p:spPr>
          <a:xfrm>
            <a:off x="1740407" y="1700784"/>
            <a:ext cx="6908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802.1Q</a:t>
            </a:r>
          </a:p>
        </p:txBody>
      </p:sp>
      <p:sp>
        <p:nvSpPr>
          <p:cNvPr id="13" name="term-tag"/>
          <p:cNvSpPr/>
          <p:nvPr/>
        </p:nvSpPr>
        <p:spPr>
          <a:xfrm>
            <a:off x="2723896" y="1609344"/>
            <a:ext cx="5974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tag"/>
          <p:cNvSpPr/>
          <p:nvPr/>
        </p:nvSpPr>
        <p:spPr>
          <a:xfrm>
            <a:off x="2723896"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tag"/>
          <p:cNvSpPr txBox="1"/>
          <p:nvPr/>
        </p:nvSpPr>
        <p:spPr>
          <a:xfrm>
            <a:off x="2888488" y="1700784"/>
            <a:ext cx="26822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tag</a:t>
            </a:r>
          </a:p>
        </p:txBody>
      </p:sp>
      <p:sp>
        <p:nvSpPr>
          <p:cNvPr id="16" name="term-native VLAN"/>
          <p:cNvSpPr/>
          <p:nvPr/>
        </p:nvSpPr>
        <p:spPr>
          <a:xfrm>
            <a:off x="3449320" y="1609344"/>
            <a:ext cx="143052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native VLAN"/>
          <p:cNvSpPr/>
          <p:nvPr/>
        </p:nvSpPr>
        <p:spPr>
          <a:xfrm>
            <a:off x="344932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native VLAN"/>
          <p:cNvSpPr txBox="1"/>
          <p:nvPr/>
        </p:nvSpPr>
        <p:spPr>
          <a:xfrm>
            <a:off x="3613912" y="1700784"/>
            <a:ext cx="110134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native VLAN</a:t>
            </a:r>
          </a:p>
        </p:txBody>
      </p:sp>
      <p:sp>
        <p:nvSpPr>
          <p:cNvPr id="19" name="term-allowed VLAN list"/>
          <p:cNvSpPr/>
          <p:nvPr/>
        </p:nvSpPr>
        <p:spPr>
          <a:xfrm>
            <a:off x="5007864" y="1609344"/>
            <a:ext cx="195681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allowed VLAN list"/>
          <p:cNvSpPr/>
          <p:nvPr/>
        </p:nvSpPr>
        <p:spPr>
          <a:xfrm>
            <a:off x="5007864"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allowed VLAN list"/>
          <p:cNvSpPr txBox="1"/>
          <p:nvPr/>
        </p:nvSpPr>
        <p:spPr>
          <a:xfrm>
            <a:off x="5172456" y="1700784"/>
            <a:ext cx="162763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allowed VLAN list</a:t>
            </a:r>
          </a:p>
        </p:txBody>
      </p:sp>
      <p:sp>
        <p:nvSpPr>
          <p:cNvPr id="22" name="term-DTP"/>
          <p:cNvSpPr/>
          <p:nvPr/>
        </p:nvSpPr>
        <p:spPr>
          <a:xfrm>
            <a:off x="7092696" y="1609344"/>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DTP"/>
          <p:cNvSpPr/>
          <p:nvPr/>
        </p:nvSpPr>
        <p:spPr>
          <a:xfrm>
            <a:off x="7092696"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DTP"/>
          <p:cNvSpPr txBox="1"/>
          <p:nvPr/>
        </p:nvSpPr>
        <p:spPr>
          <a:xfrm>
            <a:off x="7257288" y="1700784"/>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DTP</a:t>
            </a:r>
          </a:p>
        </p:txBody>
      </p:sp>
      <p:sp>
        <p:nvSpPr>
          <p:cNvPr id="25" name="term-dynamic auto"/>
          <p:cNvSpPr/>
          <p:nvPr/>
        </p:nvSpPr>
        <p:spPr>
          <a:xfrm>
            <a:off x="7927848" y="1609344"/>
            <a:ext cx="1519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dynamic auto"/>
          <p:cNvSpPr/>
          <p:nvPr/>
        </p:nvSpPr>
        <p:spPr>
          <a:xfrm>
            <a:off x="792784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dynamic auto"/>
          <p:cNvSpPr txBox="1"/>
          <p:nvPr/>
        </p:nvSpPr>
        <p:spPr>
          <a:xfrm>
            <a:off x="8092440" y="1700784"/>
            <a:ext cx="1190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dynamic auto</a:t>
            </a:r>
          </a:p>
        </p:txBody>
      </p:sp>
      <p:sp>
        <p:nvSpPr>
          <p:cNvPr id="28" name="term-dynamic desirable"/>
          <p:cNvSpPr/>
          <p:nvPr/>
        </p:nvSpPr>
        <p:spPr>
          <a:xfrm>
            <a:off x="685800" y="2212848"/>
            <a:ext cx="19527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dynamic desirable"/>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dynamic desirable"/>
          <p:cNvSpPr txBox="1"/>
          <p:nvPr/>
        </p:nvSpPr>
        <p:spPr>
          <a:xfrm>
            <a:off x="850392" y="2304288"/>
            <a:ext cx="16235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dynamic desirable</a:t>
            </a:r>
          </a:p>
        </p:txBody>
      </p:sp>
      <p:sp>
        <p:nvSpPr>
          <p:cNvPr id="31" name="term-SVI"/>
          <p:cNvSpPr/>
          <p:nvPr/>
        </p:nvSpPr>
        <p:spPr>
          <a:xfrm>
            <a:off x="2766567" y="2212848"/>
            <a:ext cx="64211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SVI"/>
          <p:cNvSpPr/>
          <p:nvPr/>
        </p:nvSpPr>
        <p:spPr>
          <a:xfrm>
            <a:off x="2766567"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SVI"/>
          <p:cNvSpPr txBox="1"/>
          <p:nvPr/>
        </p:nvSpPr>
        <p:spPr>
          <a:xfrm>
            <a:off x="2931159" y="2304288"/>
            <a:ext cx="31292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SVI</a:t>
            </a:r>
          </a:p>
        </p:txBody>
      </p:sp>
      <p:sp>
        <p:nvSpPr>
          <p:cNvPr id="34" name="term-inter-VLAN routing"/>
          <p:cNvSpPr/>
          <p:nvPr/>
        </p:nvSpPr>
        <p:spPr>
          <a:xfrm>
            <a:off x="3536696" y="2212848"/>
            <a:ext cx="19852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inter-VLAN routing"/>
          <p:cNvSpPr/>
          <p:nvPr/>
        </p:nvSpPr>
        <p:spPr>
          <a:xfrm>
            <a:off x="3536696"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inter-VLAN routing"/>
          <p:cNvSpPr txBox="1"/>
          <p:nvPr/>
        </p:nvSpPr>
        <p:spPr>
          <a:xfrm>
            <a:off x="3701287" y="2304288"/>
            <a:ext cx="16560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inter-VLAN routing</a:t>
            </a:r>
          </a:p>
        </p:txBody>
      </p:sp>
      <p:sp>
        <p:nvSpPr>
          <p:cNvPr id="37" name="term-router on a stick"/>
          <p:cNvSpPr/>
          <p:nvPr/>
        </p:nvSpPr>
        <p:spPr>
          <a:xfrm>
            <a:off x="5649976" y="2212848"/>
            <a:ext cx="1749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router on a stick"/>
          <p:cNvSpPr/>
          <p:nvPr/>
        </p:nvSpPr>
        <p:spPr>
          <a:xfrm>
            <a:off x="5649976"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router on a stick"/>
          <p:cNvSpPr txBox="1"/>
          <p:nvPr/>
        </p:nvSpPr>
        <p:spPr>
          <a:xfrm>
            <a:off x="5814567" y="2304288"/>
            <a:ext cx="1420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router on a stick</a:t>
            </a:r>
          </a:p>
        </p:txBody>
      </p:sp>
      <p:sp>
        <p:nvSpPr>
          <p:cNvPr id="40" name="term-subinterface"/>
          <p:cNvSpPr/>
          <p:nvPr/>
        </p:nvSpPr>
        <p:spPr>
          <a:xfrm>
            <a:off x="7527543" y="2212848"/>
            <a:ext cx="14020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subinterface"/>
          <p:cNvSpPr/>
          <p:nvPr/>
        </p:nvSpPr>
        <p:spPr>
          <a:xfrm>
            <a:off x="7527543"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subinterface"/>
          <p:cNvSpPr txBox="1"/>
          <p:nvPr/>
        </p:nvSpPr>
        <p:spPr>
          <a:xfrm>
            <a:off x="7692135" y="2304288"/>
            <a:ext cx="107289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subinterface</a:t>
            </a:r>
          </a:p>
        </p:txBody>
      </p:sp>
      <p:sp>
        <p:nvSpPr>
          <p:cNvPr id="43"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tag, and the one VLAN that has none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pic>
        <p:nvPicPr>
          <p:cNvPr id="6" name="figure" descr="trunktag.png"/>
          <p:cNvPicPr>
            <a:picLocks noChangeAspect="1"/>
          </p:cNvPicPr>
          <p:nvPr/>
        </p:nvPicPr>
        <p:blipFill>
          <a:blip r:embed="rId2"/>
          <a:stretch>
            <a:fillRect/>
          </a:stretch>
        </p:blipFill>
        <p:spPr>
          <a:xfrm>
            <a:off x="685800" y="1730314"/>
            <a:ext cx="10820095" cy="3689979"/>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A trunk is one cable carrying many VLANs. Every VLAN but one is labelled; the unlabelled one is the native VLAN, and a disagreement about it joins two networks silently.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The native VLAN is untagged, and that is the whole problem</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416153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One VLAN on every trunk is designated the </a:t>
            </a:r>
            <a:r>
              <a:rPr sz="2000" b="1" i="0">
                <a:solidFill>
                  <a:srgbClr val="117864"/>
                </a:solidFill>
                <a:latin typeface="Segoe UI"/>
              </a:rPr>
              <a:t>native VLAN</a:t>
            </a:r>
            <a:r>
              <a:rPr sz="2000" b="0" i="0">
                <a:solidFill>
                  <a:srgbClr val="1C252B"/>
                </a:solidFill>
                <a:latin typeface="Segoe UI"/>
              </a:rPr>
              <a:t>, and its frames cross the trunk </a:t>
            </a:r>
            <a:r>
              <a:rPr sz="2000" b="1" i="0">
                <a:solidFill>
                  <a:srgbClr val="1C252B"/>
                </a:solidFill>
                <a:latin typeface="Segoe UI"/>
              </a:rPr>
              <a:t>untagged</a:t>
            </a:r>
            <a:r>
              <a:rPr sz="2000" b="0" i="0">
                <a:solidFill>
                  <a:srgbClr val="1C252B"/>
                </a:solidFill>
                <a:latin typeface="Segoe UI"/>
              </a:rPr>
              <a:t>. The receiving switch assumes any untagged frame it sees on a trunk belongs to </a:t>
            </a:r>
            <a:r>
              <a:rPr sz="2000" b="0" i="1">
                <a:solidFill>
                  <a:srgbClr val="1C252B"/>
                </a:solidFill>
                <a:latin typeface="Segoe UI"/>
              </a:rPr>
              <a:t>its own</a:t>
            </a:r>
            <a:r>
              <a:rPr sz="2000" b="0" i="0">
                <a:solidFill>
                  <a:srgbClr val="1C252B"/>
                </a:solidFill>
                <a:latin typeface="Segoe UI"/>
              </a:rPr>
              <a:t> native VLAN.</a:t>
            </a:r>
          </a:p>
          <a:p>
            <a:pPr algn="l">
              <a:lnSpc>
                <a:spcPct val="100000"/>
              </a:lnSpc>
              <a:spcAft>
                <a:spcPts val="1000"/>
              </a:spcAft>
            </a:pPr>
            <a:r>
              <a:rPr sz="2000" b="0" i="0">
                <a:solidFill>
                  <a:srgbClr val="1C252B"/>
                </a:solidFill>
                <a:latin typeface="Segoe UI"/>
              </a:rPr>
              <a:t>If the two ends disagree about which VLAN is native, traffic silently leaks between VLANs: frames sent untagged in VLAN 1 by one switch are received into VLAN 99 by the other. Nothing goes down, nothing logs an error at layer 2, and two VLANs that should be isolated are now joined. CDP will complain, which is one of several reasons to leave it on (Chapter 13).</a:t>
            </a:r>
          </a:p>
          <a:p>
            <a:pPr algn="l">
              <a:lnSpc>
                <a:spcPct val="100000"/>
              </a:lnSpc>
              <a:spcAft>
                <a:spcPts val="1000"/>
              </a:spcAft>
            </a:pPr>
            <a:r>
              <a:rPr sz="2000" b="0" i="0">
                <a:solidFill>
                  <a:srgbClr val="1C252B"/>
                </a:solidFill>
                <a:latin typeface="Segoe UI"/>
              </a:rPr>
              <a:t>Set the native VLAN explicitly and identically at both ends, and make it an unused VLAN — never VLAN 1, and never a VLAN carrying users.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trunk between two switches, configured deliberately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517904"/>
            <a:ext cx="10820095" cy="465328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159503"/>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On BOTH ends, identically.</a:t>
            </a:r>
          </a:p>
          <a:p>
            <a:pPr>
              <a:lnSpc>
                <a:spcPct val="100000"/>
              </a:lnSpc>
              <a:spcAft>
                <a:spcPts val="0"/>
              </a:spcAft>
            </a:pPr>
            <a:r>
              <a:rPr sz="1600">
                <a:solidFill>
                  <a:srgbClr val="E8EEF2"/>
                </a:solidFill>
                <a:latin typeface="Consolas"/>
              </a:rPr>
              <a:t>interface GigabitEthernet0/1</a:t>
            </a:r>
          </a:p>
          <a:p>
            <a:pPr>
              <a:lnSpc>
                <a:spcPct val="100000"/>
              </a:lnSpc>
              <a:spcAft>
                <a:spcPts val="0"/>
              </a:spcAft>
            </a:pPr>
            <a:r>
              <a:rPr sz="1600">
                <a:solidFill>
                  <a:srgbClr val="E8EEF2"/>
                </a:solidFill>
                <a:latin typeface="Consolas"/>
              </a:rPr>
              <a:t> description Uplink to SW2</a:t>
            </a:r>
          </a:p>
          <a:p>
            <a:pPr>
              <a:lnSpc>
                <a:spcPct val="100000"/>
              </a:lnSpc>
              <a:spcAft>
                <a:spcPts val="0"/>
              </a:spcAft>
            </a:pPr>
            <a:r>
              <a:rPr sz="1600" i="1">
                <a:solidFill>
                  <a:srgbClr val="6E8BA0"/>
                </a:solidFill>
                <a:latin typeface="Consolas"/>
              </a:rPr>
              <a:t> ! Some platforms require the encapsulation before the mode; on</a:t>
            </a:r>
          </a:p>
          <a:p>
            <a:pPr>
              <a:lnSpc>
                <a:spcPct val="100000"/>
              </a:lnSpc>
              <a:spcAft>
                <a:spcPts val="0"/>
              </a:spcAft>
            </a:pPr>
            <a:r>
              <a:rPr sz="1600" i="1">
                <a:solidFill>
                  <a:srgbClr val="6E8BA0"/>
                </a:solidFill>
                <a:latin typeface="Consolas"/>
              </a:rPr>
              <a:t> ! switches that only support dot1q the command is rejected as</a:t>
            </a:r>
          </a:p>
          <a:p>
            <a:pPr>
              <a:lnSpc>
                <a:spcPct val="100000"/>
              </a:lnSpc>
              <a:spcAft>
                <a:spcPts val="0"/>
              </a:spcAft>
            </a:pPr>
            <a:r>
              <a:rPr sz="1600" i="1">
                <a:solidFill>
                  <a:srgbClr val="6E8BA0"/>
                </a:solidFill>
                <a:latin typeface="Consolas"/>
              </a:rPr>
              <a:t> ! unavailable, which is not an error.</a:t>
            </a:r>
          </a:p>
          <a:p>
            <a:pPr>
              <a:lnSpc>
                <a:spcPct val="100000"/>
              </a:lnSpc>
              <a:spcAft>
                <a:spcPts val="0"/>
              </a:spcAft>
            </a:pPr>
            <a:r>
              <a:rPr sz="1600">
                <a:solidFill>
                  <a:srgbClr val="E8EEF2"/>
                </a:solidFill>
                <a:latin typeface="Consolas"/>
              </a:rPr>
              <a:t> switchport trunk encapsulation dot1q</a:t>
            </a:r>
          </a:p>
          <a:p>
            <a:pPr>
              <a:lnSpc>
                <a:spcPct val="100000"/>
              </a:lnSpc>
              <a:spcAft>
                <a:spcPts val="0"/>
              </a:spcAft>
            </a:pPr>
            <a:r>
              <a:rPr sz="1600">
                <a:solidFill>
                  <a:srgbClr val="E8EEF2"/>
                </a:solidFill>
                <a:latin typeface="Consolas"/>
              </a:rPr>
              <a:t> switchport mode trunk</a:t>
            </a:r>
          </a:p>
          <a:p>
            <a:pPr>
              <a:lnSpc>
                <a:spcPct val="100000"/>
              </a:lnSpc>
              <a:spcAft>
                <a:spcPts val="0"/>
              </a:spcAft>
            </a:pPr>
            <a:r>
              <a:rPr sz="1600" i="1">
                <a:solidFill>
                  <a:srgbClr val="6E8BA0"/>
                </a:solidFill>
                <a:latin typeface="Consolas"/>
              </a:rPr>
              <a:t> ! An unused VLAN as native, matched at the far end.</a:t>
            </a:r>
          </a:p>
          <a:p>
            <a:pPr>
              <a:lnSpc>
                <a:spcPct val="100000"/>
              </a:lnSpc>
              <a:spcAft>
                <a:spcPts val="0"/>
              </a:spcAft>
            </a:pPr>
            <a:r>
              <a:rPr sz="1600">
                <a:solidFill>
                  <a:srgbClr val="E8EEF2"/>
                </a:solidFill>
                <a:latin typeface="Consolas"/>
              </a:rPr>
              <a:t> switchport trunk native vlan 999</a:t>
            </a:r>
          </a:p>
          <a:p>
            <a:pPr>
              <a:lnSpc>
                <a:spcPct val="100000"/>
              </a:lnSpc>
              <a:spcAft>
                <a:spcPts val="0"/>
              </a:spcAft>
            </a:pPr>
            <a:r>
              <a:rPr sz="1600" i="1">
                <a:solidFill>
                  <a:srgbClr val="6E8BA0"/>
                </a:solidFill>
                <a:latin typeface="Consolas"/>
              </a:rPr>
              <a:t> ! Carry only what this link needs. Pruning limits broadcast</a:t>
            </a:r>
          </a:p>
          <a:p>
            <a:pPr>
              <a:lnSpc>
                <a:spcPct val="100000"/>
              </a:lnSpc>
              <a:spcAft>
                <a:spcPts val="0"/>
              </a:spcAft>
            </a:pPr>
            <a:r>
              <a:rPr sz="1600" i="1">
                <a:solidFill>
                  <a:srgbClr val="6E8BA0"/>
                </a:solidFill>
                <a:latin typeface="Consolas"/>
              </a:rPr>
              <a:t> ! flooding and limits the blast radius of a mistake.</a:t>
            </a:r>
          </a:p>
          <a:p>
            <a:pPr>
              <a:lnSpc>
                <a:spcPct val="100000"/>
              </a:lnSpc>
              <a:spcAft>
                <a:spcPts val="0"/>
              </a:spcAft>
            </a:pPr>
            <a:r>
              <a:rPr sz="1600">
                <a:solidFill>
                  <a:srgbClr val="E8EEF2"/>
                </a:solidFill>
                <a:latin typeface="Consolas"/>
              </a:rPr>
              <a:t> switchport trunk allowed vlan 10,20,30</a:t>
            </a:r>
          </a:p>
          <a:p>
            <a:pPr>
              <a:lnSpc>
                <a:spcPct val="100000"/>
              </a:lnSpc>
              <a:spcAft>
                <a:spcPts val="0"/>
              </a:spcAft>
            </a:pPr>
            <a:r>
              <a:rPr sz="1600" i="1">
                <a:solidFill>
                  <a:srgbClr val="6E8BA0"/>
                </a:solidFill>
                <a:latin typeface="Consolas"/>
              </a:rPr>
              <a:t> ! Do not negotiate -- we have decided what this port is.</a:t>
            </a:r>
          </a:p>
          <a:p>
            <a:pPr>
              <a:lnSpc>
                <a:spcPct val="100000"/>
              </a:lnSpc>
              <a:spcAft>
                <a:spcPts val="0"/>
              </a:spcAft>
            </a:pPr>
            <a:r>
              <a:rPr sz="1600">
                <a:solidFill>
                  <a:srgbClr val="E8EEF2"/>
                </a:solidFill>
                <a:latin typeface="Consolas"/>
              </a:rPr>
              <a:t> switchport nonegotiate</a:t>
            </a:r>
          </a:p>
          <a:p>
            <a:pPr>
              <a:lnSpc>
                <a:spcPct val="100000"/>
              </a:lnSpc>
              <a:spcAft>
                <a:spcPts val="0"/>
              </a:spcAft>
            </a:pPr>
            <a:r>
              <a:rPr sz="16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interfaces trunk</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Port        Mode         Encapsulation  Status        Native vlan</a:t>
            </a:r>
          </a:p>
          <a:p>
            <a:pPr>
              <a:lnSpc>
                <a:spcPct val="100000"/>
              </a:lnSpc>
              <a:spcAft>
                <a:spcPts val="0"/>
              </a:spcAft>
            </a:pPr>
            <a:r>
              <a:rPr sz="1600">
                <a:solidFill>
                  <a:srgbClr val="E8EEF2"/>
                </a:solidFill>
                <a:latin typeface="Consolas"/>
              </a:rPr>
              <a:t>Gi0/1       on           802.1q         trunking      999</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Port        Vlans allowed on trunk</a:t>
            </a:r>
          </a:p>
          <a:p>
            <a:pPr>
              <a:lnSpc>
                <a:spcPct val="100000"/>
              </a:lnSpc>
              <a:spcAft>
                <a:spcPts val="0"/>
              </a:spcAft>
            </a:pPr>
            <a:r>
              <a:rPr sz="1600">
                <a:solidFill>
                  <a:srgbClr val="E8EEF2"/>
                </a:solidFill>
                <a:latin typeface="Consolas"/>
              </a:rPr>
              <a:t>Gi0/1       10,20,30</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Port        Vlans allowed and active in management domain</a:t>
            </a:r>
          </a:p>
          <a:p>
            <a:pPr>
              <a:lnSpc>
                <a:spcPct val="100000"/>
              </a:lnSpc>
              <a:spcAft>
                <a:spcPts val="0"/>
              </a:spcAft>
            </a:pPr>
            <a:r>
              <a:rPr sz="1600">
                <a:solidFill>
                  <a:srgbClr val="E8EEF2"/>
                </a:solidFill>
                <a:latin typeface="Consolas"/>
              </a:rPr>
              <a:t>Gi0/1       10,20,30</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Port        Vlans in spanning tree forwarding state and not pruned</a:t>
            </a:r>
          </a:p>
          <a:p>
            <a:pPr>
              <a:lnSpc>
                <a:spcPct val="100000"/>
              </a:lnSpc>
              <a:spcAft>
                <a:spcPts val="0"/>
              </a:spcAft>
            </a:pPr>
            <a:r>
              <a:rPr sz="1600">
                <a:solidFill>
                  <a:srgbClr val="E8EEF2"/>
                </a:solidFill>
                <a:latin typeface="Consolas"/>
              </a:rPr>
              <a:t>Gi0/1       10,20,30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allowed vlan replaces; allowed vlan add appends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ody"/>
          <p:cNvSpPr txBox="1"/>
          <p:nvPr/>
        </p:nvSpPr>
        <p:spPr>
          <a:xfrm>
            <a:off x="685800" y="2718235"/>
            <a:ext cx="10820095" cy="3664276"/>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Typing </a:t>
            </a:r>
            <a:r>
              <a:rPr sz="1900" b="0" i="0">
                <a:solidFill>
                  <a:srgbClr val="1A5276"/>
                </a:solidFill>
                <a:latin typeface="Consolas"/>
              </a:rPr>
              <a:t>switchport trunk allowed vlan 40</a:t>
            </a:r>
            <a:r>
              <a:rPr sz="2000" b="0" i="0">
                <a:solidFill>
                  <a:srgbClr val="1C252B"/>
                </a:solidFill>
                <a:latin typeface="Segoe UI"/>
              </a:rPr>
              <a:t> on a live trunk does not add VLAN 40 — it makes 40 the </a:t>
            </a:r>
            <a:r>
              <a:rPr sz="2000" b="0" i="1">
                <a:solidFill>
                  <a:srgbClr val="1C252B"/>
                </a:solidFill>
                <a:latin typeface="Segoe UI"/>
              </a:rPr>
              <a:t>only</a:t>
            </a:r>
            <a:r>
              <a:rPr sz="2000" b="0" i="0">
                <a:solidFill>
                  <a:srgbClr val="1C252B"/>
                </a:solidFill>
                <a:latin typeface="Segoe UI"/>
              </a:rPr>
              <a:t> allowed VLAN and instantly drops every other VLAN on that link. On a production uplink this is an outage.</a:t>
            </a:r>
          </a:p>
          <a:p>
            <a:pPr algn="l">
              <a:lnSpc>
                <a:spcPct val="100000"/>
              </a:lnSpc>
              <a:spcAft>
                <a:spcPts val="1000"/>
              </a:spcAft>
            </a:pPr>
            <a:r>
              <a:rPr sz="2000" b="0" i="0">
                <a:solidFill>
                  <a:srgbClr val="1C252B"/>
                </a:solidFill>
                <a:latin typeface="Segoe UI"/>
              </a:rPr>
              <a:t>Use </a:t>
            </a:r>
            <a:r>
              <a:rPr sz="1900" b="0" i="0">
                <a:solidFill>
                  <a:srgbClr val="1A5276"/>
                </a:solidFill>
                <a:latin typeface="Consolas"/>
              </a:rPr>
              <a:t>switchport trunk allowed vlan add 40</a:t>
            </a:r>
            <a:r>
              <a:rPr sz="2000" b="0" i="0">
                <a:solidFill>
                  <a:srgbClr val="1C252B"/>
                </a:solidFill>
                <a:latin typeface="Segoe UI"/>
              </a:rPr>
              <a:t>. The equivalents are </a:t>
            </a:r>
            <a:r>
              <a:rPr sz="1900" b="0" i="0">
                <a:solidFill>
                  <a:srgbClr val="1A5276"/>
                </a:solidFill>
                <a:latin typeface="Consolas"/>
              </a:rPr>
              <a:t>remove</a:t>
            </a:r>
            <a:r>
              <a:rPr sz="2000" b="0" i="0">
                <a:solidFill>
                  <a:srgbClr val="1C252B"/>
                </a:solidFill>
                <a:latin typeface="Segoe UI"/>
              </a:rPr>
              <a:t>, </a:t>
            </a:r>
            <a:r>
              <a:rPr sz="1900" b="0" i="0">
                <a:solidFill>
                  <a:srgbClr val="1A5276"/>
                </a:solidFill>
                <a:latin typeface="Consolas"/>
              </a:rPr>
              <a:t>except</a:t>
            </a:r>
            <a:r>
              <a:rPr sz="2000" b="0" i="0">
                <a:solidFill>
                  <a:srgbClr val="1C252B"/>
                </a:solidFill>
                <a:latin typeface="Segoe UI"/>
              </a:rPr>
              <a:t> and </a:t>
            </a:r>
            <a:r>
              <a:rPr sz="1900" b="0" i="0">
                <a:solidFill>
                  <a:srgbClr val="1A5276"/>
                </a:solidFill>
                <a:latin typeface="Consolas"/>
              </a:rPr>
              <a:t>all</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Configure both ends; negotiate nothing</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19974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Set </a:t>
            </a:r>
            <a:r>
              <a:rPr sz="1900" b="0" i="0">
                <a:solidFill>
                  <a:srgbClr val="1A5276"/>
                </a:solidFill>
                <a:latin typeface="Consolas"/>
              </a:rPr>
              <a:t>switchport mode trunk</a:t>
            </a:r>
            <a:r>
              <a:rPr sz="2000" b="0" i="0">
                <a:solidFill>
                  <a:srgbClr val="1C252B"/>
                </a:solidFill>
                <a:latin typeface="Segoe UI"/>
              </a:rPr>
              <a:t> and </a:t>
            </a:r>
            <a:r>
              <a:rPr sz="1900" b="0" i="0">
                <a:solidFill>
                  <a:srgbClr val="1A5276"/>
                </a:solidFill>
                <a:latin typeface="Consolas"/>
              </a:rPr>
              <a:t>switchport nonegotiate</a:t>
            </a:r>
            <a:r>
              <a:rPr sz="2000" b="0" i="0">
                <a:solidFill>
                  <a:srgbClr val="1C252B"/>
                </a:solidFill>
                <a:latin typeface="Segoe UI"/>
              </a:rPr>
              <a:t> on uplinks, and </a:t>
            </a:r>
            <a:r>
              <a:rPr sz="1900" b="0" i="0">
                <a:solidFill>
                  <a:srgbClr val="1A5276"/>
                </a:solidFill>
                <a:latin typeface="Consolas"/>
              </a:rPr>
              <a:t>switchport mode access</a:t>
            </a:r>
            <a:r>
              <a:rPr sz="2000" b="0" i="0">
                <a:solidFill>
                  <a:srgbClr val="1C252B"/>
                </a:solidFill>
                <a:latin typeface="Segoe UI"/>
              </a:rPr>
              <a:t> on edge ports. Then a port is what you said it is, and an attacker who plugs a laptop into a wall socket cannot negotiate himself a trunk into every VLAN.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multilayer switch routing three VLANs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400" i="1">
                <a:solidFill>
                  <a:srgbClr val="6E8BA0"/>
                </a:solidFill>
                <a:latin typeface="Consolas"/>
              </a:rPr>
              <a:t>! Routing must be switched on -- easily forgotten, and without it the</a:t>
            </a:r>
          </a:p>
          <a:p>
            <a:pPr>
              <a:lnSpc>
                <a:spcPct val="100000"/>
              </a:lnSpc>
              <a:spcAft>
                <a:spcPts val="0"/>
              </a:spcAft>
            </a:pPr>
            <a:r>
              <a:rPr sz="1400" i="1">
                <a:solidFill>
                  <a:srgbClr val="6E8BA0"/>
                </a:solidFill>
                <a:latin typeface="Consolas"/>
              </a:rPr>
              <a:t>! SVIs come up and nothing is routed between them.</a:t>
            </a:r>
          </a:p>
          <a:p>
            <a:pPr>
              <a:lnSpc>
                <a:spcPct val="100000"/>
              </a:lnSpc>
              <a:spcAft>
                <a:spcPts val="0"/>
              </a:spcAft>
            </a:pPr>
            <a:r>
              <a:rPr sz="1400">
                <a:solidFill>
                  <a:srgbClr val="E8EEF2"/>
                </a:solidFill>
                <a:latin typeface="Consolas"/>
              </a:rPr>
              <a:t>ip routing</a:t>
            </a:r>
          </a:p>
          <a:p>
            <a:pPr>
              <a:lnSpc>
                <a:spcPct val="100000"/>
              </a:lnSpc>
              <a:spcAft>
                <a:spcPts val="0"/>
              </a:spcAft>
            </a:pPr>
            <a:r>
              <a:rPr sz="1400" i="1">
                <a:solidFill>
                  <a:srgbClr val="6E8BA0"/>
                </a:solidFill>
                <a:latin typeface="Consolas"/>
              </a:rPr>
              <a:t>!</a:t>
            </a:r>
          </a:p>
          <a:p>
            <a:pPr>
              <a:lnSpc>
                <a:spcPct val="100000"/>
              </a:lnSpc>
              <a:spcAft>
                <a:spcPts val="0"/>
              </a:spcAft>
            </a:pPr>
            <a:r>
              <a:rPr sz="1400">
                <a:solidFill>
                  <a:srgbClr val="E8EEF2"/>
                </a:solidFill>
                <a:latin typeface="Consolas"/>
              </a:rPr>
              <a:t>interface Vlan10</a:t>
            </a:r>
          </a:p>
          <a:p>
            <a:pPr>
              <a:lnSpc>
                <a:spcPct val="100000"/>
              </a:lnSpc>
              <a:spcAft>
                <a:spcPts val="0"/>
              </a:spcAft>
            </a:pPr>
            <a:r>
              <a:rPr sz="1400">
                <a:solidFill>
                  <a:srgbClr val="E8EEF2"/>
                </a:solidFill>
                <a:latin typeface="Consolas"/>
              </a:rPr>
              <a:t> description Staff gateway</a:t>
            </a:r>
          </a:p>
          <a:p>
            <a:pPr>
              <a:lnSpc>
                <a:spcPct val="100000"/>
              </a:lnSpc>
              <a:spcAft>
                <a:spcPts val="0"/>
              </a:spcAft>
            </a:pPr>
            <a:r>
              <a:rPr sz="1400">
                <a:solidFill>
                  <a:srgbClr val="E8EEF2"/>
                </a:solidFill>
                <a:latin typeface="Consolas"/>
              </a:rPr>
              <a:t> ip address 192.168.10.1 255.255.255.0</a:t>
            </a:r>
          </a:p>
          <a:p>
            <a:pPr>
              <a:lnSpc>
                <a:spcPct val="100000"/>
              </a:lnSpc>
              <a:spcAft>
                <a:spcPts val="0"/>
              </a:spcAft>
            </a:pPr>
            <a:r>
              <a:rPr sz="1400">
                <a:solidFill>
                  <a:srgbClr val="E8EEF2"/>
                </a:solidFill>
                <a:latin typeface="Consolas"/>
              </a:rPr>
              <a:t> no shutdown</a:t>
            </a:r>
          </a:p>
          <a:p>
            <a:pPr>
              <a:lnSpc>
                <a:spcPct val="100000"/>
              </a:lnSpc>
              <a:spcAft>
                <a:spcPts val="0"/>
              </a:spcAft>
            </a:pPr>
            <a:r>
              <a:rPr sz="1400" i="1">
                <a:solidFill>
                  <a:srgbClr val="6E8BA0"/>
                </a:solidFill>
                <a:latin typeface="Consolas"/>
              </a:rPr>
              <a:t>!</a:t>
            </a:r>
          </a:p>
          <a:p>
            <a:pPr>
              <a:lnSpc>
                <a:spcPct val="100000"/>
              </a:lnSpc>
              <a:spcAft>
                <a:spcPts val="0"/>
              </a:spcAft>
            </a:pPr>
            <a:r>
              <a:rPr sz="1400">
                <a:solidFill>
                  <a:srgbClr val="E8EEF2"/>
                </a:solidFill>
                <a:latin typeface="Consolas"/>
              </a:rPr>
              <a:t>interface Vlan20</a:t>
            </a:r>
          </a:p>
          <a:p>
            <a:pPr>
              <a:lnSpc>
                <a:spcPct val="100000"/>
              </a:lnSpc>
              <a:spcAft>
                <a:spcPts val="0"/>
              </a:spcAft>
            </a:pPr>
            <a:r>
              <a:rPr sz="1400">
                <a:solidFill>
                  <a:srgbClr val="E8EEF2"/>
                </a:solidFill>
                <a:latin typeface="Consolas"/>
              </a:rPr>
              <a:t> description Guest gateway</a:t>
            </a:r>
          </a:p>
          <a:p>
            <a:pPr>
              <a:lnSpc>
                <a:spcPct val="100000"/>
              </a:lnSpc>
              <a:spcAft>
                <a:spcPts val="0"/>
              </a:spcAft>
            </a:pPr>
            <a:r>
              <a:rPr sz="1400">
                <a:solidFill>
                  <a:srgbClr val="E8EEF2"/>
                </a:solidFill>
                <a:latin typeface="Consolas"/>
              </a:rPr>
              <a:t> ip address 192.168.20.1 255.255.255.0</a:t>
            </a:r>
          </a:p>
          <a:p>
            <a:pPr>
              <a:lnSpc>
                <a:spcPct val="100000"/>
              </a:lnSpc>
              <a:spcAft>
                <a:spcPts val="0"/>
              </a:spcAft>
            </a:pPr>
            <a:r>
              <a:rPr sz="1400">
                <a:solidFill>
                  <a:srgbClr val="E8EEF2"/>
                </a:solidFill>
                <a:latin typeface="Consolas"/>
              </a:rPr>
              <a:t> no shutdown</a:t>
            </a:r>
          </a:p>
          <a:p>
            <a:pPr>
              <a:lnSpc>
                <a:spcPct val="100000"/>
              </a:lnSpc>
              <a:spcAft>
                <a:spcPts val="0"/>
              </a:spcAft>
            </a:pPr>
            <a:r>
              <a:rPr sz="1400" i="1">
                <a:solidFill>
                  <a:srgbClr val="6E8BA0"/>
                </a:solidFill>
                <a:latin typeface="Consolas"/>
              </a:rPr>
              <a:t>!</a:t>
            </a:r>
          </a:p>
          <a:p>
            <a:pPr>
              <a:lnSpc>
                <a:spcPct val="100000"/>
              </a:lnSpc>
              <a:spcAft>
                <a:spcPts val="0"/>
              </a:spcAft>
            </a:pPr>
            <a:r>
              <a:rPr sz="1400">
                <a:solidFill>
                  <a:srgbClr val="E8EEF2"/>
                </a:solidFill>
                <a:latin typeface="Consolas"/>
              </a:rPr>
              <a:t>interface Vlan30</a:t>
            </a:r>
          </a:p>
          <a:p>
            <a:pPr>
              <a:lnSpc>
                <a:spcPct val="100000"/>
              </a:lnSpc>
              <a:spcAft>
                <a:spcPts val="0"/>
              </a:spcAft>
            </a:pPr>
            <a:r>
              <a:rPr sz="1400">
                <a:solidFill>
                  <a:srgbClr val="E8EEF2"/>
                </a:solidFill>
                <a:latin typeface="Consolas"/>
              </a:rPr>
              <a:t> description Voice gateway</a:t>
            </a:r>
          </a:p>
          <a:p>
            <a:pPr>
              <a:lnSpc>
                <a:spcPct val="100000"/>
              </a:lnSpc>
              <a:spcAft>
                <a:spcPts val="0"/>
              </a:spcAft>
            </a:pPr>
            <a:r>
              <a:rPr sz="1400">
                <a:solidFill>
                  <a:srgbClr val="E8EEF2"/>
                </a:solidFill>
                <a:latin typeface="Consolas"/>
              </a:rPr>
              <a:t> ip address 192.168.30.1 255.255.255.0</a:t>
            </a:r>
          </a:p>
          <a:p>
            <a:pPr>
              <a:lnSpc>
                <a:spcPct val="100000"/>
              </a:lnSpc>
              <a:spcAft>
                <a:spcPts val="0"/>
              </a:spcAft>
            </a:pPr>
            <a:r>
              <a:rPr sz="14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it takes to bring an SVI up</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ody"/>
          <p:cNvSpPr txBox="1"/>
          <p:nvPr/>
        </p:nvSpPr>
        <p:spPr>
          <a:xfrm>
            <a:off x="685800" y="2534992"/>
            <a:ext cx="10820095" cy="3847519"/>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SVI shows </a:t>
            </a:r>
            <a:r>
              <a:rPr sz="1900" b="0" i="0">
                <a:solidFill>
                  <a:srgbClr val="1A5276"/>
                </a:solidFill>
                <a:latin typeface="Consolas"/>
              </a:rPr>
              <a:t>up/up</a:t>
            </a:r>
            <a:r>
              <a:rPr sz="2000" b="0" i="0">
                <a:solidFill>
                  <a:srgbClr val="1C252B"/>
                </a:solidFill>
                <a:latin typeface="Segoe UI"/>
              </a:rPr>
              <a:t> only when </a:t>
            </a:r>
            <a:r>
              <a:rPr sz="2000" b="0" i="1">
                <a:solidFill>
                  <a:srgbClr val="1C252B"/>
                </a:solidFill>
                <a:latin typeface="Segoe UI"/>
              </a:rPr>
              <a:t>all</a:t>
            </a:r>
            <a:r>
              <a:rPr sz="2000" b="0" i="0">
                <a:solidFill>
                  <a:srgbClr val="1C252B"/>
                </a:solidFill>
                <a:latin typeface="Segoe UI"/>
              </a:rPr>
              <a:t> of the following hold:</a:t>
            </a:r>
          </a:p>
        </p:txBody>
      </p:sp>
      <p:sp>
        <p:nvSpPr>
          <p:cNvPr id="8" name="bullets"/>
          <p:cNvSpPr txBox="1"/>
          <p:nvPr/>
        </p:nvSpPr>
        <p:spPr>
          <a:xfrm>
            <a:off x="685800" y="3048072"/>
            <a:ext cx="10820095" cy="3334439"/>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the VLAN exists in the VLAN database and is not shut down;</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at least one access port in that VLAN is up, </a:t>
            </a:r>
            <a:r>
              <a:rPr sz="2000" b="1" i="0">
                <a:solidFill>
                  <a:srgbClr val="1C252B"/>
                </a:solidFill>
                <a:latin typeface="Segoe UI"/>
              </a:rPr>
              <a:t>or</a:t>
            </a:r>
            <a:r>
              <a:rPr sz="2000" b="0" i="0">
                <a:solidFill>
                  <a:srgbClr val="1C252B"/>
                </a:solidFill>
                <a:latin typeface="Segoe UI"/>
              </a:rPr>
              <a:t> the VLAN is allowed and forwarding on a trunk;</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the SVI itself is not shut down.</a:t>
            </a:r>
          </a:p>
        </p:txBody>
      </p:sp>
      <p:sp>
        <p:nvSpPr>
          <p:cNvPr id="9" name="tailbody"/>
          <p:cNvSpPr txBox="1"/>
          <p:nvPr/>
        </p:nvSpPr>
        <p:spPr>
          <a:xfrm>
            <a:off x="685800" y="5091248"/>
            <a:ext cx="10820095" cy="1236399"/>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An SVI that stays down with a perfectly good address almost always means the second condition: no live port in that VLAN. It is not an addressing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interface brief | include Vlan</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Vlan10                 192.168.10.1    YES manual up                    up</a:t>
            </a:r>
          </a:p>
          <a:p>
            <a:pPr>
              <a:lnSpc>
                <a:spcPct val="100000"/>
              </a:lnSpc>
              <a:spcAft>
                <a:spcPts val="0"/>
              </a:spcAft>
            </a:pPr>
            <a:r>
              <a:rPr sz="1600">
                <a:solidFill>
                  <a:srgbClr val="E8EEF2"/>
                </a:solidFill>
                <a:latin typeface="Consolas"/>
              </a:rPr>
              <a:t>Vlan20                 192.168.20.1    YES manual up                    up</a:t>
            </a:r>
          </a:p>
          <a:p>
            <a:pPr>
              <a:lnSpc>
                <a:spcPct val="100000"/>
              </a:lnSpc>
              <a:spcAft>
                <a:spcPts val="0"/>
              </a:spcAft>
            </a:pPr>
            <a:r>
              <a:rPr sz="1600">
                <a:solidFill>
                  <a:srgbClr val="E8EEF2"/>
                </a:solidFill>
                <a:latin typeface="Consolas"/>
              </a:rPr>
              <a:t>Vlan30                 192.168.30.1    YES manual up                    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Router on a stick</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400">
                <a:solidFill>
                  <a:srgbClr val="E8EEF2"/>
                </a:solidFill>
                <a:latin typeface="Consolas"/>
              </a:rPr>
              <a:t>interface GigabitEthernet0/0</a:t>
            </a:r>
          </a:p>
          <a:p>
            <a:pPr>
              <a:lnSpc>
                <a:spcPct val="100000"/>
              </a:lnSpc>
              <a:spcAft>
                <a:spcPts val="0"/>
              </a:spcAft>
            </a:pPr>
            <a:r>
              <a:rPr sz="1400">
                <a:solidFill>
                  <a:srgbClr val="E8EEF2"/>
                </a:solidFill>
                <a:latin typeface="Consolas"/>
              </a:rPr>
              <a:t> description Trunk to SW1</a:t>
            </a:r>
          </a:p>
          <a:p>
            <a:pPr>
              <a:lnSpc>
                <a:spcPct val="100000"/>
              </a:lnSpc>
              <a:spcAft>
                <a:spcPts val="0"/>
              </a:spcAft>
            </a:pPr>
            <a:r>
              <a:rPr sz="1400">
                <a:solidFill>
                  <a:srgbClr val="E8EEF2"/>
                </a:solidFill>
                <a:latin typeface="Consolas"/>
              </a:rPr>
              <a:t> no ip address</a:t>
            </a:r>
          </a:p>
          <a:p>
            <a:pPr>
              <a:lnSpc>
                <a:spcPct val="100000"/>
              </a:lnSpc>
              <a:spcAft>
                <a:spcPts val="0"/>
              </a:spcAft>
            </a:pPr>
            <a:r>
              <a:rPr sz="1400">
                <a:solidFill>
                  <a:srgbClr val="E8EEF2"/>
                </a:solidFill>
                <a:latin typeface="Consolas"/>
              </a:rPr>
              <a:t> no shutdown</a:t>
            </a:r>
          </a:p>
          <a:p>
            <a:pPr>
              <a:lnSpc>
                <a:spcPct val="100000"/>
              </a:lnSpc>
              <a:spcAft>
                <a:spcPts val="0"/>
              </a:spcAft>
            </a:pPr>
            <a:r>
              <a:rPr sz="1400" i="1">
                <a:solidFill>
                  <a:srgbClr val="6E8BA0"/>
                </a:solidFill>
                <a:latin typeface="Consolas"/>
              </a:rPr>
              <a:t>!</a:t>
            </a:r>
          </a:p>
          <a:p>
            <a:pPr>
              <a:lnSpc>
                <a:spcPct val="100000"/>
              </a:lnSpc>
              <a:spcAft>
                <a:spcPts val="0"/>
              </a:spcAft>
            </a:pPr>
            <a:r>
              <a:rPr sz="1400">
                <a:solidFill>
                  <a:srgbClr val="E8EEF2"/>
                </a:solidFill>
                <a:latin typeface="Consolas"/>
              </a:rPr>
              <a:t>interface GigabitEthernet0/0.10</a:t>
            </a:r>
          </a:p>
          <a:p>
            <a:pPr>
              <a:lnSpc>
                <a:spcPct val="100000"/>
              </a:lnSpc>
              <a:spcAft>
                <a:spcPts val="0"/>
              </a:spcAft>
            </a:pPr>
            <a:r>
              <a:rPr sz="1400">
                <a:solidFill>
                  <a:srgbClr val="E8EEF2"/>
                </a:solidFill>
                <a:latin typeface="Consolas"/>
              </a:rPr>
              <a:t> description Staff</a:t>
            </a:r>
          </a:p>
          <a:p>
            <a:pPr>
              <a:lnSpc>
                <a:spcPct val="100000"/>
              </a:lnSpc>
              <a:spcAft>
                <a:spcPts val="0"/>
              </a:spcAft>
            </a:pPr>
            <a:r>
              <a:rPr sz="1400">
                <a:solidFill>
                  <a:srgbClr val="E8EEF2"/>
                </a:solidFill>
                <a:latin typeface="Consolas"/>
              </a:rPr>
              <a:t> encapsulation dot1Q 10</a:t>
            </a:r>
          </a:p>
          <a:p>
            <a:pPr>
              <a:lnSpc>
                <a:spcPct val="100000"/>
              </a:lnSpc>
              <a:spcAft>
                <a:spcPts val="0"/>
              </a:spcAft>
            </a:pPr>
            <a:r>
              <a:rPr sz="1400">
                <a:solidFill>
                  <a:srgbClr val="E8EEF2"/>
                </a:solidFill>
                <a:latin typeface="Consolas"/>
              </a:rPr>
              <a:t> ip address 192.168.10.1 255.255.255.0</a:t>
            </a:r>
          </a:p>
          <a:p>
            <a:pPr>
              <a:lnSpc>
                <a:spcPct val="100000"/>
              </a:lnSpc>
              <a:spcAft>
                <a:spcPts val="0"/>
              </a:spcAft>
            </a:pPr>
            <a:r>
              <a:rPr sz="1400" i="1">
                <a:solidFill>
                  <a:srgbClr val="6E8BA0"/>
                </a:solidFill>
                <a:latin typeface="Consolas"/>
              </a:rPr>
              <a:t>!</a:t>
            </a:r>
          </a:p>
          <a:p>
            <a:pPr>
              <a:lnSpc>
                <a:spcPct val="100000"/>
              </a:lnSpc>
              <a:spcAft>
                <a:spcPts val="0"/>
              </a:spcAft>
            </a:pPr>
            <a:r>
              <a:rPr sz="1400">
                <a:solidFill>
                  <a:srgbClr val="E8EEF2"/>
                </a:solidFill>
                <a:latin typeface="Consolas"/>
              </a:rPr>
              <a:t>interface GigabitEthernet0/0.20</a:t>
            </a:r>
          </a:p>
          <a:p>
            <a:pPr>
              <a:lnSpc>
                <a:spcPct val="100000"/>
              </a:lnSpc>
              <a:spcAft>
                <a:spcPts val="0"/>
              </a:spcAft>
            </a:pPr>
            <a:r>
              <a:rPr sz="1400">
                <a:solidFill>
                  <a:srgbClr val="E8EEF2"/>
                </a:solidFill>
                <a:latin typeface="Consolas"/>
              </a:rPr>
              <a:t> description Guest</a:t>
            </a:r>
          </a:p>
          <a:p>
            <a:pPr>
              <a:lnSpc>
                <a:spcPct val="100000"/>
              </a:lnSpc>
              <a:spcAft>
                <a:spcPts val="0"/>
              </a:spcAft>
            </a:pPr>
            <a:r>
              <a:rPr sz="1400">
                <a:solidFill>
                  <a:srgbClr val="E8EEF2"/>
                </a:solidFill>
                <a:latin typeface="Consolas"/>
              </a:rPr>
              <a:t> encapsulation dot1Q 20</a:t>
            </a:r>
          </a:p>
          <a:p>
            <a:pPr>
              <a:lnSpc>
                <a:spcPct val="100000"/>
              </a:lnSpc>
              <a:spcAft>
                <a:spcPts val="0"/>
              </a:spcAft>
            </a:pPr>
            <a:r>
              <a:rPr sz="1400">
                <a:solidFill>
                  <a:srgbClr val="E8EEF2"/>
                </a:solidFill>
                <a:latin typeface="Consolas"/>
              </a:rPr>
              <a:t> ip address 192.168.20.1 255.255.255.0</a:t>
            </a:r>
          </a:p>
          <a:p>
            <a:pPr>
              <a:lnSpc>
                <a:spcPct val="100000"/>
              </a:lnSpc>
              <a:spcAft>
                <a:spcPts val="0"/>
              </a:spcAft>
            </a:pPr>
            <a:r>
              <a:rPr sz="1400" i="1">
                <a:solidFill>
                  <a:srgbClr val="6E8BA0"/>
                </a:solidFill>
                <a:latin typeface="Consolas"/>
              </a:rPr>
              <a:t>!</a:t>
            </a:r>
          </a:p>
          <a:p>
            <a:pPr>
              <a:lnSpc>
                <a:spcPct val="100000"/>
              </a:lnSpc>
              <a:spcAft>
                <a:spcPts val="0"/>
              </a:spcAft>
            </a:pPr>
            <a:r>
              <a:rPr sz="1400" i="1">
                <a:solidFill>
                  <a:srgbClr val="6E8BA0"/>
                </a:solidFill>
                <a:latin typeface="Consolas"/>
              </a:rPr>
              <a:t>! The native VLAN's subinterface is marked, not tagged.</a:t>
            </a:r>
          </a:p>
          <a:p>
            <a:pPr>
              <a:lnSpc>
                <a:spcPct val="100000"/>
              </a:lnSpc>
              <a:spcAft>
                <a:spcPts val="0"/>
              </a:spcAft>
            </a:pPr>
            <a:r>
              <a:rPr sz="1400">
                <a:solidFill>
                  <a:srgbClr val="E8EEF2"/>
                </a:solidFill>
                <a:latin typeface="Consolas"/>
              </a:rPr>
              <a:t>interface GigabitEthernet0/0.999</a:t>
            </a:r>
          </a:p>
          <a:p>
            <a:pPr>
              <a:lnSpc>
                <a:spcPct val="100000"/>
              </a:lnSpc>
              <a:spcAft>
                <a:spcPts val="0"/>
              </a:spcAft>
            </a:pPr>
            <a:r>
              <a:rPr sz="1400">
                <a:solidFill>
                  <a:srgbClr val="E8EEF2"/>
                </a:solidFill>
                <a:latin typeface="Consolas"/>
              </a:rPr>
              <a:t> encapsulation dot1Q 999 native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Router on a stick — the older way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Native VLAN mismatch.</a:t>
            </a:r>
            <a:r>
              <a:rPr sz="2000" b="0" i="0">
                <a:solidFill>
                  <a:srgbClr val="1C252B"/>
                </a:solidFill>
                <a:latin typeface="Segoe UI"/>
              </a:rPr>
              <a:t> The two ends disagree, VLANs leak, and nothing goes down. CDP logs it; look for </a:t>
            </a:r>
            <a:r>
              <a:rPr sz="1900" b="0" i="0">
                <a:solidFill>
                  <a:srgbClr val="1A5276"/>
                </a:solidFill>
                <a:latin typeface="Consolas"/>
              </a:rPr>
              <a:t>%CDP-4-NATIVE_VLAN_MISMATCH</a:t>
            </a:r>
            <a:r>
              <a:rPr sz="2000" b="0" i="0">
                <a:solidFill>
                  <a:srgbClr val="1C252B"/>
                </a:solidFill>
                <a:latin typeface="Segoe UI"/>
              </a:rPr>
              <a: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Bare </a:t>
            </a:r>
            <a:r>
              <a:rPr sz="1900" b="1" i="0">
                <a:solidFill>
                  <a:srgbClr val="1A5276"/>
                </a:solidFill>
                <a:latin typeface="Consolas"/>
              </a:rPr>
              <a:t>allowed vlan</a:t>
            </a:r>
            <a:r>
              <a:rPr sz="2000" b="1" i="0">
                <a:solidFill>
                  <a:srgbClr val="1C252B"/>
                </a:solidFill>
                <a:latin typeface="Segoe UI"/>
              </a:rPr>
              <a:t> on a live trunk.</a:t>
            </a:r>
            <a:r>
              <a:rPr sz="2000" b="0" i="0">
                <a:solidFill>
                  <a:srgbClr val="1C252B"/>
                </a:solidFill>
                <a:latin typeface="Segoe UI"/>
              </a:rPr>
              <a:t> Replaces the list. Always </a:t>
            </a:r>
            <a:r>
              <a:rPr sz="1900" b="0" i="0">
                <a:solidFill>
                  <a:srgbClr val="1A5276"/>
                </a:solidFill>
                <a:latin typeface="Consolas"/>
              </a:rPr>
              <a:t>add</a:t>
            </a:r>
            <a:r>
              <a:rPr sz="2000" b="0" i="0">
                <a:solidFill>
                  <a:srgbClr val="1C252B"/>
                </a:solidFill>
                <a:latin typeface="Segoe UI"/>
              </a:rPr>
              <a: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Forgetting </a:t>
            </a:r>
            <a:r>
              <a:rPr sz="1900" b="1" i="0">
                <a:solidFill>
                  <a:srgbClr val="1A5276"/>
                </a:solidFill>
                <a:latin typeface="Consolas"/>
              </a:rPr>
              <a:t>ip routing</a:t>
            </a:r>
            <a:r>
              <a:rPr sz="2000" b="1" i="0">
                <a:solidFill>
                  <a:srgbClr val="1C252B"/>
                </a:solidFill>
                <a:latin typeface="Segoe UI"/>
              </a:rPr>
              <a:t> on a multilayer switch.</a:t>
            </a:r>
            <a:r>
              <a:rPr sz="2000" b="0" i="0">
                <a:solidFill>
                  <a:srgbClr val="1C252B"/>
                </a:solidFill>
                <a:latin typeface="Segoe UI"/>
              </a:rPr>
              <a:t> The SVIs come up and traffic still will not cross between VLANs.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Expecting an SVI to be up with no active port in its VLAN.</a:t>
            </a:r>
            <a:r>
              <a:rPr sz="2000" b="0" i="0">
                <a:solidFill>
                  <a:srgbClr val="1C252B"/>
                </a:solidFill>
                <a:latin typeface="Segoe UI"/>
              </a:rPr>
              <a:t> It will not be, and no amount of re-addressing changes that.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Leaving VLAN 1 as native.</a:t>
            </a:r>
            <a:r>
              <a:rPr sz="2000" b="0" i="0">
                <a:solidFill>
                  <a:srgbClr val="1C252B"/>
                </a:solidFill>
                <a:latin typeface="Segoe UI"/>
              </a:rPr>
              <a:t> It carries control traffic and it is every attacker’s first guess.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One VLAN crosses the uplink; the other three do not.</a:t>
            </a:r>
          </a:p>
        </p:txBody>
      </p:sp>
      <p:sp>
        <p:nvSpPr>
          <p:cNvPr id="6" name="bfbody"/>
          <p:cNvSpPr txBox="1"/>
          <p:nvPr/>
        </p:nvSpPr>
        <p:spPr>
          <a:xfrm>
            <a:off x="685800" y="3169412"/>
            <a:ext cx="10820095" cy="31856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After a maintenance window, users in VLAN 10 are fine and users in 20, 30 and 40 cannot reach the servers. Both uplink ports show as trunking.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One VLAN crosses the uplink; the other three do not.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interfaces trunk</a:t>
            </a:r>
          </a:p>
        </p:txBody>
      </p:sp>
      <p:sp>
        <p:nvSpPr>
          <p:cNvPr id="6" name="bfcodebg"/>
          <p:cNvSpPr/>
          <p:nvPr/>
        </p:nvSpPr>
        <p:spPr>
          <a:xfrm>
            <a:off x="685800" y="2011680"/>
            <a:ext cx="10820095" cy="17846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SW2#</a:t>
            </a:r>
          </a:p>
        </p:txBody>
      </p:sp>
      <p:sp>
        <p:nvSpPr>
          <p:cNvPr id="9" name="bfcode"/>
          <p:cNvSpPr txBox="1"/>
          <p:nvPr/>
        </p:nvSpPr>
        <p:spPr>
          <a:xfrm>
            <a:off x="886968" y="2432304"/>
            <a:ext cx="10417759" cy="130911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Port        Mode         Encapsulation  Status        Native vlan</a:t>
            </a:r>
          </a:p>
          <a:p>
            <a:pPr>
              <a:lnSpc>
                <a:spcPct val="100000"/>
              </a:lnSpc>
              <a:spcAft>
                <a:spcPts val="0"/>
              </a:spcAft>
            </a:pPr>
            <a:r>
              <a:rPr sz="1500">
                <a:solidFill>
                  <a:srgbClr val="E8EEF2"/>
                </a:solidFill>
                <a:latin typeface="Consolas"/>
              </a:rPr>
              <a:t>Gi0/1       on           802.1q         trunking      999</a:t>
            </a:r>
          </a:p>
          <a:p>
            <a:pPr>
              <a:lnSpc>
                <a:spcPct val="100000"/>
              </a:lnSpc>
              <a:spcAft>
                <a:spcPts val="0"/>
              </a:spcAft>
            </a:pPr>
            <a:r>
              <a:rPr sz="1500">
                <a:solidFill>
                  <a:srgbClr val="E8EEF2"/>
                </a:solidFill>
                <a:latin typeface="Consolas"/>
              </a:rPr>
              <a:t> </a:t>
            </a:r>
          </a:p>
          <a:p>
            <a:pPr>
              <a:lnSpc>
                <a:spcPct val="100000"/>
              </a:lnSpc>
              <a:spcAft>
                <a:spcPts val="0"/>
              </a:spcAft>
            </a:pPr>
            <a:r>
              <a:rPr sz="1500">
                <a:solidFill>
                  <a:srgbClr val="E8EEF2"/>
                </a:solidFill>
                <a:latin typeface="Consolas"/>
              </a:rPr>
              <a:t>Port        Vlans allowed on trunk</a:t>
            </a:r>
          </a:p>
          <a:p>
            <a:pPr>
              <a:lnSpc>
                <a:spcPct val="100000"/>
              </a:lnSpc>
              <a:spcAft>
                <a:spcPts val="0"/>
              </a:spcAft>
            </a:pPr>
            <a:r>
              <a:rPr sz="1500">
                <a:solidFill>
                  <a:srgbClr val="E8EEF2"/>
                </a:solidFill>
                <a:latin typeface="Consolas"/>
              </a:rPr>
              <a:t>Gi0/1       10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trunk is healthy; the allowed list has been reduced to VLAN 10 alone. Somebody ran </a:t>
            </a:r>
            <a:r>
              <a:rPr sz="1800" b="0" i="0">
                <a:solidFill>
                  <a:srgbClr val="1A5276"/>
                </a:solidFill>
                <a:latin typeface="Consolas"/>
              </a:rPr>
              <a:t>switchport trunk allowed vlan 10</a:t>
            </a:r>
            <a:r>
              <a:rPr sz="1900" b="0" i="0">
                <a:solidFill>
                  <a:srgbClr val="1C252B"/>
                </a:solidFill>
                <a:latin typeface="Segoe UI"/>
              </a:rPr>
              <a:t> intending to add VLAN 10 to the existing list, and replaced it instead. The link stayed up throughout, which is why nothing alerted.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Restore the full list explicitly rather than adding one VLAN at a time: </a:t>
            </a:r>
            <a:r>
              <a:rPr sz="1800" b="0" i="0">
                <a:solidFill>
                  <a:srgbClr val="1A5276"/>
                </a:solidFill>
                <a:latin typeface="Consolas"/>
              </a:rPr>
              <a:t>switchport trunk allowed vlan 10,20,30,40</a:t>
            </a:r>
            <a:r>
              <a:rPr sz="1900" b="0" i="0">
                <a:solidFill>
                  <a:srgbClr val="1C252B"/>
                </a:solidFill>
                <a:latin typeface="Segoe UI"/>
              </a:rPr>
              <a:t>. Verify with </a:t>
            </a:r>
            <a:r>
              <a:rPr sz="1800" b="0" i="0">
                <a:solidFill>
                  <a:srgbClr val="1A5276"/>
                </a:solidFill>
                <a:latin typeface="Consolas"/>
              </a:rPr>
              <a:t>show interfaces trunk</a:t>
            </a:r>
            <a:r>
              <a:rPr sz="1900" b="0" i="0">
                <a:solidFill>
                  <a:srgbClr val="1C252B"/>
                </a:solidFill>
                <a:latin typeface="Segoe UI"/>
              </a:rPr>
              <a:t> on </a:t>
            </a:r>
            <a:r>
              <a:rPr sz="1900" b="0" i="1">
                <a:solidFill>
                  <a:srgbClr val="1C252B"/>
                </a:solidFill>
                <a:latin typeface="Segoe UI"/>
              </a:rPr>
              <a:t>both</a:t>
            </a:r>
            <a:r>
              <a:rPr sz="1900" b="0" i="0">
                <a:solidFill>
                  <a:srgbClr val="1C252B"/>
                </a:solidFill>
                <a:latin typeface="Segoe UI"/>
              </a:rPr>
              <a:t> ends — the allowed list is configured per side, and the effective set is the intersection, so a matching mistake at the far end would leave the fault half-fixed and twice as confusing.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Trunk two switches and route between VLANs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Topology.</a:t>
            </a:r>
            <a:r>
              <a:rPr sz="1900" b="0" i="0">
                <a:solidFill>
                  <a:srgbClr val="1C252B"/>
                </a:solidFill>
                <a:latin typeface="Segoe UI"/>
              </a:rPr>
              <a:t> Two switches trunked together; a multilayer switch or router providing gateways; two PCs per VLAN across both switches.</a:t>
            </a:r>
          </a:p>
        </p:txBody>
      </p:sp>
      <p:sp>
        <p:nvSpPr>
          <p:cNvPr id="8" name="bullets"/>
          <p:cNvSpPr txBox="1"/>
          <p:nvPr/>
        </p:nvSpPr>
        <p:spPr>
          <a:xfrm>
            <a:off x="685800" y="2328164"/>
            <a:ext cx="10820095" cy="4054348"/>
          </a:xfrm>
          <a:prstGeom prst="rect">
            <a:avLst/>
          </a:prstGeom>
          <a:noFill/>
        </p:spPr>
        <p:txBody>
          <a:bodyPr wrap="square" lIns="0" rIns="0" tIns="0" bIns="0">
            <a:spAutoFit/>
          </a:bodyPr>
          <a:lstStyle/>
          <a:p>
            <a:pPr marL="366776" indent="-366776">
              <a:lnSpc>
                <a:spcPct val="102000"/>
              </a:lnSpc>
              <a:spcAft>
                <a:spcPts val="900"/>
              </a:spcAft>
            </a:pPr>
            <a:r>
              <a:rPr sz="1900" b="1">
                <a:solidFill>
                  <a:srgbClr val="117864"/>
                </a:solidFill>
                <a:latin typeface="Segoe UI"/>
              </a:rPr>
              <a:t>1.  </a:t>
            </a:r>
            <a:r>
              <a:rPr sz="1900" b="0" i="0">
                <a:solidFill>
                  <a:srgbClr val="1C252B"/>
                </a:solidFill>
                <a:latin typeface="Segoe UI"/>
              </a:rPr>
              <a:t>Create VLANs 10, 20 and 999 on both switches. Put PCs in 10 and 20 on each switch.</a:t>
            </a:r>
          </a:p>
          <a:p>
            <a:pPr marL="366776" indent="-366776">
              <a:lnSpc>
                <a:spcPct val="102000"/>
              </a:lnSpc>
              <a:spcAft>
                <a:spcPts val="900"/>
              </a:spcAft>
            </a:pPr>
            <a:r>
              <a:rPr sz="1900" b="1">
                <a:solidFill>
                  <a:srgbClr val="117864"/>
                </a:solidFill>
                <a:latin typeface="Segoe UI"/>
              </a:rPr>
              <a:t>2.  </a:t>
            </a:r>
            <a:r>
              <a:rPr sz="1900" b="0" i="0">
                <a:solidFill>
                  <a:srgbClr val="1C252B"/>
                </a:solidFill>
                <a:latin typeface="Segoe UI"/>
              </a:rPr>
              <a:t>Before configuring the trunk, try to ping between the two switches’ VLAN 10 PCs. Record the failure and explain it.</a:t>
            </a:r>
          </a:p>
          <a:p>
            <a:pPr marL="366776" indent="-366776">
              <a:lnSpc>
                <a:spcPct val="102000"/>
              </a:lnSpc>
              <a:spcAft>
                <a:spcPts val="900"/>
              </a:spcAft>
            </a:pPr>
            <a:r>
              <a:rPr sz="1900" b="1">
                <a:solidFill>
                  <a:srgbClr val="117864"/>
                </a:solidFill>
                <a:latin typeface="Segoe UI"/>
              </a:rPr>
              <a:t>3.  </a:t>
            </a:r>
            <a:r>
              <a:rPr sz="1900" b="0" i="0">
                <a:solidFill>
                  <a:srgbClr val="1C252B"/>
                </a:solidFill>
                <a:latin typeface="Segoe UI"/>
              </a:rPr>
              <a:t>Configure the trunk on both ends with native VLAN 999 and an allowed list of 10, 20 and 999. Re-test.</a:t>
            </a:r>
          </a:p>
          <a:p>
            <a:pPr marL="366776" indent="-366776">
              <a:lnSpc>
                <a:spcPct val="102000"/>
              </a:lnSpc>
              <a:spcAft>
                <a:spcPts val="900"/>
              </a:spcAft>
            </a:pPr>
            <a:r>
              <a:rPr sz="1900" b="1">
                <a:solidFill>
                  <a:srgbClr val="117864"/>
                </a:solidFill>
                <a:latin typeface="Segoe UI"/>
              </a:rPr>
              <a:t>4.  </a:t>
            </a:r>
            <a:r>
              <a:rPr sz="1900" b="0" i="0">
                <a:solidFill>
                  <a:srgbClr val="1C252B"/>
                </a:solidFill>
                <a:latin typeface="Segoe UI"/>
              </a:rPr>
              <a:t>Change the native VLAN on one end only to 998. Record what still works, what breaks, and what the log says.</a:t>
            </a:r>
          </a:p>
          <a:p>
            <a:pPr marL="366776" indent="-366776">
              <a:lnSpc>
                <a:spcPct val="102000"/>
              </a:lnSpc>
              <a:spcAft>
                <a:spcPts val="900"/>
              </a:spcAft>
            </a:pPr>
            <a:r>
              <a:rPr sz="1900" b="1">
                <a:solidFill>
                  <a:srgbClr val="117864"/>
                </a:solidFill>
                <a:latin typeface="Segoe UI"/>
              </a:rPr>
              <a:t>5.  </a:t>
            </a:r>
            <a:r>
              <a:rPr sz="1900" b="0" i="0">
                <a:solidFill>
                  <a:srgbClr val="1C252B"/>
                </a:solidFill>
                <a:latin typeface="Segoe UI"/>
              </a:rPr>
              <a:t>Restore it, then run </a:t>
            </a:r>
            <a:r>
              <a:rPr sz="1800" b="0" i="0">
                <a:solidFill>
                  <a:srgbClr val="1A5276"/>
                </a:solidFill>
                <a:latin typeface="Consolas"/>
              </a:rPr>
              <a:t>switchport trunk allowed vlan 20</a:t>
            </a:r>
            <a:r>
              <a:rPr sz="1900" b="0" i="0">
                <a:solidFill>
                  <a:srgbClr val="1C252B"/>
                </a:solidFill>
                <a:latin typeface="Segoe UI"/>
              </a:rPr>
              <a:t> on one end and observe the outage you have just caused. Fix it with </a:t>
            </a:r>
            <a:r>
              <a:rPr sz="1800" b="0" i="0">
                <a:solidFill>
                  <a:srgbClr val="1A5276"/>
                </a:solidFill>
                <a:latin typeface="Consolas"/>
              </a:rPr>
              <a:t>add</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Trunk two switches and route between VLANs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2718235"/>
            <a:ext cx="10820095" cy="3664276"/>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1.  </a:t>
            </a:r>
            <a:r>
              <a:rPr sz="2000" b="0" i="0">
                <a:solidFill>
                  <a:srgbClr val="1C252B"/>
                </a:solidFill>
                <a:latin typeface="Segoe UI"/>
              </a:rPr>
              <a:t>Enable </a:t>
            </a:r>
            <a:r>
              <a:rPr sz="1900" b="0" i="0">
                <a:solidFill>
                  <a:srgbClr val="1A5276"/>
                </a:solidFill>
                <a:latin typeface="Consolas"/>
              </a:rPr>
              <a:t>ip routing</a:t>
            </a:r>
            <a:r>
              <a:rPr sz="2000" b="0" i="0">
                <a:solidFill>
                  <a:srgbClr val="1C252B"/>
                </a:solidFill>
                <a:latin typeface="Segoe UI"/>
              </a:rPr>
              <a:t> and configure SVIs for VLANs 10 and 20. Prove inter-VLAN routing works.</a:t>
            </a:r>
          </a:p>
          <a:p>
            <a:pPr marL="386080" indent="-386080">
              <a:lnSpc>
                <a:spcPct val="102000"/>
              </a:lnSpc>
              <a:spcAft>
                <a:spcPts val="900"/>
              </a:spcAft>
            </a:pPr>
            <a:r>
              <a:rPr sz="2000" b="1">
                <a:solidFill>
                  <a:srgbClr val="117864"/>
                </a:solidFill>
                <a:latin typeface="Segoe UI"/>
              </a:rPr>
              <a:t>2.  </a:t>
            </a:r>
            <a:r>
              <a:rPr sz="2000" b="1" i="0">
                <a:solidFill>
                  <a:srgbClr val="1C252B"/>
                </a:solidFill>
                <a:latin typeface="Segoe UI"/>
              </a:rPr>
              <a:t>Extension.</a:t>
            </a:r>
            <a:r>
              <a:rPr sz="2000" b="0" i="0">
                <a:solidFill>
                  <a:srgbClr val="1C252B"/>
                </a:solidFill>
                <a:latin typeface="Segoe UI"/>
              </a:rPr>
              <a:t> Shut every access port in VLAN 20 and watch the SVI go down. Explain why in terms of the three conditions above.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Both ends of a link are set to </a:t>
            </a:r>
            <a:r>
              <a:rPr sz="2900" b="0" i="0">
                <a:solidFill>
                  <a:srgbClr val="FFFFFF"/>
                </a:solidFill>
                <a:latin typeface="Consolas"/>
              </a:rPr>
              <a:t>dynamic auto</a:t>
            </a:r>
            <a:r>
              <a:rPr sz="3000" b="0" i="0">
                <a:solidFill>
                  <a:srgbClr val="FFFFFF"/>
                </a:solidFill>
                <a:latin typeface="Segoe UI"/>
              </a:rPr>
              <a:t>. What does the link become,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Both ends of a link are set to </a:t>
            </a:r>
            <a:r>
              <a:rPr sz="1900" b="1" i="0">
                <a:solidFill>
                  <a:srgbClr val="1A5276"/>
                </a:solidFill>
                <a:latin typeface="Consolas"/>
              </a:rPr>
              <a:t>dynamic auto</a:t>
            </a:r>
            <a:r>
              <a:rPr sz="2000" b="1" i="0">
                <a:solidFill>
                  <a:srgbClr val="1A5276"/>
                </a:solidFill>
                <a:latin typeface="Segoe UI"/>
              </a:rPr>
              <a:t>. What does the link become, and why?</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An access port. </a:t>
            </a:r>
            <a:r>
              <a:rPr sz="1800" b="0" i="0">
                <a:solidFill>
                  <a:srgbClr val="1A5276"/>
                </a:solidFill>
                <a:latin typeface="Consolas"/>
              </a:rPr>
              <a:t>dynamic auto</a:t>
            </a:r>
            <a:r>
              <a:rPr sz="1900" b="0" i="0">
                <a:solidFill>
                  <a:srgbClr val="1C252B"/>
                </a:solidFill>
                <a:latin typeface="Segoe UI"/>
              </a:rPr>
              <a:t> will accept a trunk if asked but never asks, so with neither side initiating, no trunk forms.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An SVI has a correct address and shows </a:t>
            </a:r>
            <a:r>
              <a:rPr sz="2900" b="0" i="0">
                <a:solidFill>
                  <a:srgbClr val="FFFFFF"/>
                </a:solidFill>
                <a:latin typeface="Consolas"/>
              </a:rPr>
              <a:t>up/down</a:t>
            </a:r>
            <a:r>
              <a:rPr sz="3000" b="0" i="0">
                <a:solidFill>
                  <a:srgbClr val="FFFFFF"/>
                </a:solidFill>
                <a:latin typeface="Segoe UI"/>
              </a:rPr>
              <a:t>. What is the most likely cause and how would you confirm 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An SVI has a correct address and shows </a:t>
            </a:r>
            <a:r>
              <a:rPr sz="1900" b="1" i="0">
                <a:solidFill>
                  <a:srgbClr val="1A5276"/>
                </a:solidFill>
                <a:latin typeface="Consolas"/>
              </a:rPr>
              <a:t>up/down</a:t>
            </a:r>
            <a:r>
              <a:rPr sz="2000" b="1" i="0">
                <a:solidFill>
                  <a:srgbClr val="1A5276"/>
                </a:solidFill>
                <a:latin typeface="Segoe UI"/>
              </a:rPr>
              <a:t>. What is the most likely cause and how would you confirm it?</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No access port in that VLAN is up, so the SVI has nothing to be up for. Confirm with </a:t>
            </a:r>
            <a:r>
              <a:rPr sz="1800" b="0" i="0">
                <a:solidFill>
                  <a:srgbClr val="1A5276"/>
                </a:solidFill>
                <a:latin typeface="Consolas"/>
              </a:rPr>
              <a:t>show vlan brief</a:t>
            </a:r>
            <a:r>
              <a:rPr sz="1900" b="0" i="0">
                <a:solidFill>
                  <a:srgbClr val="1C252B"/>
                </a:solidFill>
                <a:latin typeface="Segoe UI"/>
              </a:rPr>
              <a:t> — an SVI needs the VLAN to exist and at least one active port in it (or </a:t>
            </a:r>
            <a:r>
              <a:rPr sz="1800" b="0" i="0">
                <a:solidFill>
                  <a:srgbClr val="1A5276"/>
                </a:solidFill>
                <a:latin typeface="Consolas"/>
              </a:rPr>
              <a:t>no autostate</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a native VLAN mismatch more dangerous than a trunk that fails to come up at all?</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a native VLAN mismatch more dangerous than a trunk that fails to come up at all?</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 trunk that fails to come up is obvious and fails safe — no traffic passes and somebody investigates. A native VLAN mismatch leaves the trunk up and quietly bridges two different VLANs together, merging broadcast domains that were meant to be separate. It is a security problem that looks like a working link.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802.1Q tags every VLAN except the native one, which crosses untagged. Mismatched native VLANs leak traffic between VLANs silently.</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Configure both ends explicitly and add </a:t>
            </a:r>
            <a:r>
              <a:rPr sz="1900" b="0" i="0">
                <a:solidFill>
                  <a:srgbClr val="1A5276"/>
                </a:solidFill>
                <a:latin typeface="Consolas"/>
              </a:rPr>
              <a:t>switchport nonegotiate</a:t>
            </a:r>
            <a:r>
              <a:rPr sz="2000" b="0" i="0">
                <a:solidFill>
                  <a:srgbClr val="1C252B"/>
                </a:solidFill>
                <a:latin typeface="Segoe UI"/>
              </a:rPr>
              <a:t>. </a:t>
            </a:r>
            <a:r>
              <a:rPr sz="1900" b="0" i="0">
                <a:solidFill>
                  <a:srgbClr val="1A5276"/>
                </a:solidFill>
                <a:latin typeface="Consolas"/>
              </a:rPr>
              <a:t>dynamic auto</a:t>
            </a:r>
            <a:r>
              <a:rPr sz="2000" b="0" i="0">
                <a:solidFill>
                  <a:srgbClr val="1C252B"/>
                </a:solidFill>
                <a:latin typeface="Segoe UI"/>
              </a:rPr>
              <a:t> on both ends yields an access port, not a trunk.</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allowed vlan</a:t>
            </a:r>
            <a:r>
              <a:rPr sz="2000" b="0" i="0">
                <a:solidFill>
                  <a:srgbClr val="1C252B"/>
                </a:solidFill>
                <a:latin typeface="Segoe UI"/>
              </a:rPr>
              <a:t> replaces the list; </a:t>
            </a:r>
            <a:r>
              <a:rPr sz="1900" b="0" i="0">
                <a:solidFill>
                  <a:srgbClr val="1A5276"/>
                </a:solidFill>
                <a:latin typeface="Consolas"/>
              </a:rPr>
              <a:t>allowed vlan add</a:t>
            </a:r>
            <a:r>
              <a:rPr sz="2000" b="0" i="0">
                <a:solidFill>
                  <a:srgbClr val="1C252B"/>
                </a:solidFill>
                <a:latin typeface="Segoe UI"/>
              </a:rPr>
              <a:t> appends. This distinction causes real outages.</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show interfaces trunk</a:t>
            </a:r>
            <a:r>
              <a:rPr sz="2000" b="0" i="0">
                <a:solidFill>
                  <a:srgbClr val="1C252B"/>
                </a:solidFill>
                <a:latin typeface="Segoe UI"/>
              </a:rPr>
              <a:t> narrows from allowed to active to forwarding; the block where a VLAN disappears tells you the layer at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10. Trunking, 802.1Q and SVIs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An SVI needs </a:t>
            </a:r>
            <a:r>
              <a:rPr sz="1900" b="0" i="0">
                <a:solidFill>
                  <a:srgbClr val="1A5276"/>
                </a:solidFill>
                <a:latin typeface="Consolas"/>
              </a:rPr>
              <a:t>ip routing</a:t>
            </a:r>
            <a:r>
              <a:rPr sz="2000" b="0" i="0">
                <a:solidFill>
                  <a:srgbClr val="1C252B"/>
                </a:solidFill>
                <a:latin typeface="Segoe UI"/>
              </a:rPr>
              <a:t>, an existing unshut VLAN, and at least one live port in that VLAN.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802.1Q tags every VLAN except the native one, which crosses untagged. Mismatched native VLANs leak traffic between VLANs silently.</a:t>
            </a:r>
          </a:p>
          <a:p>
            <a:pPr marL="217169" indent="-217169">
              <a:spcAft>
                <a:spcPts val="900"/>
              </a:spcAft>
            </a:pPr>
            <a:r>
              <a:rPr sz="1900">
                <a:solidFill>
                  <a:srgbClr val="C8D6E5"/>
                </a:solidFill>
              </a:rPr>
              <a:t>•  </a:t>
            </a:r>
            <a:r>
              <a:rPr sz="1900" b="0" i="0">
                <a:solidFill>
                  <a:srgbClr val="FFFFFF"/>
                </a:solidFill>
                <a:latin typeface="Segoe UI"/>
              </a:rPr>
              <a:t>Configure both ends explicitly and add </a:t>
            </a:r>
            <a:r>
              <a:rPr sz="1800" b="0" i="0">
                <a:solidFill>
                  <a:srgbClr val="FFFFFF"/>
                </a:solidFill>
                <a:latin typeface="Consolas"/>
              </a:rPr>
              <a:t>switchport nonegotiate</a:t>
            </a:r>
            <a:r>
              <a:rPr sz="1900" b="0" i="0">
                <a:solidFill>
                  <a:srgbClr val="FFFFFF"/>
                </a:solidFill>
                <a:latin typeface="Segoe UI"/>
              </a:rPr>
              <a:t>. </a:t>
            </a:r>
            <a:r>
              <a:rPr sz="1800" b="0" i="0">
                <a:solidFill>
                  <a:srgbClr val="FFFFFF"/>
                </a:solidFill>
                <a:latin typeface="Consolas"/>
              </a:rPr>
              <a:t>dynamic auto</a:t>
            </a:r>
            <a:r>
              <a:rPr sz="1900" b="0" i="0">
                <a:solidFill>
                  <a:srgbClr val="FFFFFF"/>
                </a:solidFill>
                <a:latin typeface="Segoe UI"/>
              </a:rPr>
              <a:t> on both ends yields an access port, not a trunk.</a:t>
            </a:r>
          </a:p>
          <a:p>
            <a:pPr marL="217169" indent="-217169">
              <a:spcAft>
                <a:spcPts val="900"/>
              </a:spcAft>
            </a:pPr>
            <a:r>
              <a:rPr sz="1900">
                <a:solidFill>
                  <a:srgbClr val="C8D6E5"/>
                </a:solidFill>
              </a:rPr>
              <a:t>•  </a:t>
            </a:r>
            <a:r>
              <a:rPr sz="1800" b="0" i="0">
                <a:solidFill>
                  <a:srgbClr val="FFFFFF"/>
                </a:solidFill>
                <a:latin typeface="Consolas"/>
              </a:rPr>
              <a:t>allowed vlan</a:t>
            </a:r>
            <a:r>
              <a:rPr sz="1900" b="0" i="0">
                <a:solidFill>
                  <a:srgbClr val="FFFFFF"/>
                </a:solidFill>
                <a:latin typeface="Segoe UI"/>
              </a:rPr>
              <a:t> replaces the list; </a:t>
            </a:r>
            <a:r>
              <a:rPr sz="1800" b="0" i="0">
                <a:solidFill>
                  <a:srgbClr val="FFFFFF"/>
                </a:solidFill>
                <a:latin typeface="Consolas"/>
              </a:rPr>
              <a:t>allowed vlan add</a:t>
            </a:r>
            <a:r>
              <a:rPr sz="1900" b="0" i="0">
                <a:solidFill>
                  <a:srgbClr val="FFFFFF"/>
                </a:solidFill>
                <a:latin typeface="Segoe UI"/>
              </a:rPr>
              <a:t> appends. This distinction causes real outages.</a:t>
            </a:r>
          </a:p>
          <a:p>
            <a:pPr marL="217169" indent="-217169">
              <a:spcAft>
                <a:spcPts val="900"/>
              </a:spcAft>
            </a:pPr>
            <a:r>
              <a:rPr sz="1900">
                <a:solidFill>
                  <a:srgbClr val="C8D6E5"/>
                </a:solidFill>
              </a:rPr>
              <a:t>•  </a:t>
            </a:r>
            <a:r>
              <a:rPr sz="1800" b="0" i="0">
                <a:solidFill>
                  <a:srgbClr val="FFFFFF"/>
                </a:solidFill>
                <a:latin typeface="Consolas"/>
              </a:rPr>
              <a:t>show interfaces trunk</a:t>
            </a:r>
            <a:r>
              <a:rPr sz="1900" b="0" i="0">
                <a:solidFill>
                  <a:srgbClr val="FFFFFF"/>
                </a:solidFill>
                <a:latin typeface="Segoe UI"/>
              </a:rPr>
              <a:t> narrows from allowed to active to forwarding; the block where a VLAN disappears tells you the layer at fault.</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11 — EtherChannel and LACP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