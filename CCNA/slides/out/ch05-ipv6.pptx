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5: IPv6 Addressing. Blueprint topics: 1.4.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IPv6 Addressing 1.4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 - they are defined as they arrive. This slide is for the students'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IPv6 address is 128 bits, written as eight groups of four hex digits separated by colons. If hexadecimal is not yet automatic, the two-minute primer in Chapter 3 is the one thing to re-read before going on — this whole chapter is written in it, and modified EUI-64 below cannot be followed without being able to expand one hex digit into four bits. Two rules compress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blueprint names this explicitly, so it is examinable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one interface holds several addresses at once, and that this is normal rather than a fault. An IPv6 interface essentially always has a link-local address plus whatever global addresses it has been given.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Take two or three answers before advancing. The point is the prediction, not the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1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gfoot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94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ourse"/>
          <p:cNvSpPr txBox="1"/>
          <p:nvPr/>
        </p:nvSpPr>
        <p:spPr>
          <a:xfrm>
            <a:off x="685800" y="1170432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C8D6E5"/>
                </a:solidFill>
                <a:latin typeface="Segoe UI"/>
              </a:rPr>
              <a:t>CCNA 200-301 V2.0</a:t>
            </a:r>
          </a:p>
        </p:txBody>
      </p:sp>
      <p:sp>
        <p:nvSpPr>
          <p:cNvPr id="5" name="chnum"/>
          <p:cNvSpPr txBox="1"/>
          <p:nvPr/>
        </p:nvSpPr>
        <p:spPr>
          <a:xfrm>
            <a:off x="685800" y="1572768"/>
            <a:ext cx="2011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76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6" name="chtitle"/>
          <p:cNvSpPr txBox="1"/>
          <p:nvPr/>
        </p:nvSpPr>
        <p:spPr>
          <a:xfrm>
            <a:off x="2423160" y="1700784"/>
            <a:ext cx="90827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IPv6 Addressing</a:t>
            </a:r>
          </a:p>
        </p:txBody>
      </p:sp>
      <p:sp>
        <p:nvSpPr>
          <p:cNvPr id="7" name="part"/>
          <p:cNvSpPr txBox="1"/>
          <p:nvPr/>
        </p:nvSpPr>
        <p:spPr>
          <a:xfrm>
            <a:off x="2441448" y="3017520"/>
            <a:ext cx="90827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8D6E5"/>
                </a:solidFill>
                <a:latin typeface="Segoe UI"/>
              </a:rPr>
              <a:t>Part I — Foundations</a:t>
            </a:r>
          </a:p>
        </p:txBody>
      </p:sp>
      <p:sp>
        <p:nvSpPr>
          <p:cNvPr id="8" name="tlabel"/>
          <p:cNvSpPr txBox="1"/>
          <p:nvPr/>
        </p:nvSpPr>
        <p:spPr>
          <a:xfrm>
            <a:off x="2441448" y="340156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EXAM TOPICS</a:t>
            </a:r>
          </a:p>
        </p:txBody>
      </p:sp>
      <p:sp>
        <p:nvSpPr>
          <p:cNvPr id="9" name="chip-1.4"/>
          <p:cNvSpPr/>
          <p:nvPr/>
        </p:nvSpPr>
        <p:spPr>
          <a:xfrm>
            <a:off x="2441448" y="3657600"/>
            <a:ext cx="566928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hiptx-1.4"/>
          <p:cNvSpPr txBox="1"/>
          <p:nvPr/>
        </p:nvSpPr>
        <p:spPr>
          <a:xfrm>
            <a:off x="2441448" y="3689604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618D"/>
                </a:solidFill>
                <a:latin typeface="Segoe UI"/>
              </a:rPr>
              <a:t>1.4</a:t>
            </a:r>
          </a:p>
        </p:txBody>
      </p:sp>
      <p:sp>
        <p:nvSpPr>
          <p:cNvPr id="11" name="authlab"/>
          <p:cNvSpPr txBox="1"/>
          <p:nvPr/>
        </p:nvSpPr>
        <p:spPr>
          <a:xfrm>
            <a:off x="685800" y="5138928"/>
            <a:ext cx="64920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LECTURER</a:t>
            </a:r>
          </a:p>
        </p:txBody>
      </p:sp>
      <p:sp>
        <p:nvSpPr>
          <p:cNvPr id="12" name="author"/>
          <p:cNvSpPr txBox="1"/>
          <p:nvPr/>
        </p:nvSpPr>
        <p:spPr>
          <a:xfrm>
            <a:off x="685800" y="5394960"/>
            <a:ext cx="64920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Dr. Mustafa Hameed</a:t>
            </a:r>
          </a:p>
        </p:txBody>
      </p:sp>
      <p:sp>
        <p:nvSpPr>
          <p:cNvPr id="13" name="lockup1"/>
          <p:cNvSpPr txBox="1"/>
          <p:nvPr/>
        </p:nvSpPr>
        <p:spPr>
          <a:xfrm>
            <a:off x="7939735" y="517550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4" name="lockup2"/>
          <p:cNvSpPr txBox="1"/>
          <p:nvPr/>
        </p:nvSpPr>
        <p:spPr>
          <a:xfrm>
            <a:off x="7939735" y="5413248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C8D6E5"/>
                </a:solidFill>
                <a:latin typeface="Segoe UI"/>
              </a:rPr>
              <a:t>Department of Information Technology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LEARNING OUTCOMES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you will be able to do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Abbreviate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expand an IPv6 address correctly, applying both compression rules without ambiguity.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Identify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address types the exam names: global unicast, link local, unique local, multicast, and the solicited-node address.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Construct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 interface identifier by modified EUI-64, which the blueprint calls out explicitly.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Size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 prefix, and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diagnose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assignment faults that stop an IPv6 host communicating.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ASSUMED KNOWLEDGE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Before we start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1337055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Chapter 4 — the ideas of network part, host part and prefix length carry over unchanged. Chapter 3 for MAC addresses, which EUI-64 is built from.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KEY TERMS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Vocabulary for this chapter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term-global unicast"/>
          <p:cNvSpPr/>
          <p:nvPr/>
        </p:nvSpPr>
        <p:spPr>
          <a:xfrm>
            <a:off x="685800" y="1609344"/>
            <a:ext cx="1566671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b-global unicast"/>
          <p:cNvSpPr/>
          <p:nvPr/>
        </p:nvSpPr>
        <p:spPr>
          <a:xfrm>
            <a:off x="685800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t-global unicast"/>
          <p:cNvSpPr txBox="1"/>
          <p:nvPr/>
        </p:nvSpPr>
        <p:spPr>
          <a:xfrm>
            <a:off x="850392" y="1700784"/>
            <a:ext cx="123748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global unicast</a:t>
            </a:r>
          </a:p>
        </p:txBody>
      </p:sp>
      <p:sp>
        <p:nvSpPr>
          <p:cNvPr id="10" name="term-link local"/>
          <p:cNvSpPr/>
          <p:nvPr/>
        </p:nvSpPr>
        <p:spPr>
          <a:xfrm>
            <a:off x="2380487" y="1609344"/>
            <a:ext cx="115214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b-link local"/>
          <p:cNvSpPr/>
          <p:nvPr/>
        </p:nvSpPr>
        <p:spPr>
          <a:xfrm>
            <a:off x="2380487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t-link local"/>
          <p:cNvSpPr txBox="1"/>
          <p:nvPr/>
        </p:nvSpPr>
        <p:spPr>
          <a:xfrm>
            <a:off x="2545080" y="1700784"/>
            <a:ext cx="82295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link local</a:t>
            </a:r>
          </a:p>
        </p:txBody>
      </p:sp>
      <p:sp>
        <p:nvSpPr>
          <p:cNvPr id="13" name="term-unique local"/>
          <p:cNvSpPr/>
          <p:nvPr/>
        </p:nvSpPr>
        <p:spPr>
          <a:xfrm>
            <a:off x="3660647" y="1609344"/>
            <a:ext cx="1402079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b-unique local"/>
          <p:cNvSpPr/>
          <p:nvPr/>
        </p:nvSpPr>
        <p:spPr>
          <a:xfrm>
            <a:off x="3660647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t-unique local"/>
          <p:cNvSpPr txBox="1"/>
          <p:nvPr/>
        </p:nvSpPr>
        <p:spPr>
          <a:xfrm>
            <a:off x="3825239" y="1700784"/>
            <a:ext cx="107289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unique local</a:t>
            </a:r>
          </a:p>
        </p:txBody>
      </p:sp>
      <p:sp>
        <p:nvSpPr>
          <p:cNvPr id="16" name="term-multicast"/>
          <p:cNvSpPr/>
          <p:nvPr/>
        </p:nvSpPr>
        <p:spPr>
          <a:xfrm>
            <a:off x="5190743" y="1609344"/>
            <a:ext cx="1166367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b-multicast"/>
          <p:cNvSpPr/>
          <p:nvPr/>
        </p:nvSpPr>
        <p:spPr>
          <a:xfrm>
            <a:off x="5190743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t-multicast"/>
          <p:cNvSpPr txBox="1"/>
          <p:nvPr/>
        </p:nvSpPr>
        <p:spPr>
          <a:xfrm>
            <a:off x="5355335" y="1700784"/>
            <a:ext cx="837183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multicast</a:t>
            </a:r>
          </a:p>
        </p:txBody>
      </p:sp>
      <p:sp>
        <p:nvSpPr>
          <p:cNvPr id="19" name="term-solicited-node"/>
          <p:cNvSpPr/>
          <p:nvPr/>
        </p:nvSpPr>
        <p:spPr>
          <a:xfrm>
            <a:off x="6485127" y="1609344"/>
            <a:ext cx="160934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b-solicited-node"/>
          <p:cNvSpPr/>
          <p:nvPr/>
        </p:nvSpPr>
        <p:spPr>
          <a:xfrm>
            <a:off x="6485127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t-solicited-node"/>
          <p:cNvSpPr txBox="1"/>
          <p:nvPr/>
        </p:nvSpPr>
        <p:spPr>
          <a:xfrm>
            <a:off x="6649719" y="1700784"/>
            <a:ext cx="128015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solicited-node</a:t>
            </a:r>
          </a:p>
        </p:txBody>
      </p:sp>
      <p:sp>
        <p:nvSpPr>
          <p:cNvPr id="22" name="term-anycast"/>
          <p:cNvSpPr/>
          <p:nvPr/>
        </p:nvSpPr>
        <p:spPr>
          <a:xfrm>
            <a:off x="8222487" y="1609344"/>
            <a:ext cx="1011935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b-anycast"/>
          <p:cNvSpPr/>
          <p:nvPr/>
        </p:nvSpPr>
        <p:spPr>
          <a:xfrm>
            <a:off x="8222487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t-anycast"/>
          <p:cNvSpPr txBox="1"/>
          <p:nvPr/>
        </p:nvSpPr>
        <p:spPr>
          <a:xfrm>
            <a:off x="8387079" y="1700784"/>
            <a:ext cx="682751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anycast</a:t>
            </a:r>
          </a:p>
        </p:txBody>
      </p:sp>
      <p:sp>
        <p:nvSpPr>
          <p:cNvPr id="25" name="term-modified EUI-64"/>
          <p:cNvSpPr/>
          <p:nvPr/>
        </p:nvSpPr>
        <p:spPr>
          <a:xfrm>
            <a:off x="9362439" y="1609344"/>
            <a:ext cx="1834895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b-modified EUI-64"/>
          <p:cNvSpPr/>
          <p:nvPr/>
        </p:nvSpPr>
        <p:spPr>
          <a:xfrm>
            <a:off x="9362439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t-modified EUI-64"/>
          <p:cNvSpPr txBox="1"/>
          <p:nvPr/>
        </p:nvSpPr>
        <p:spPr>
          <a:xfrm>
            <a:off x="9527031" y="1700784"/>
            <a:ext cx="1505711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modified EUI-64</a:t>
            </a:r>
          </a:p>
        </p:txBody>
      </p:sp>
      <p:sp>
        <p:nvSpPr>
          <p:cNvPr id="28" name="term-SLAAC"/>
          <p:cNvSpPr/>
          <p:nvPr/>
        </p:nvSpPr>
        <p:spPr>
          <a:xfrm>
            <a:off x="685800" y="2212848"/>
            <a:ext cx="95910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b-SLAAC"/>
          <p:cNvSpPr/>
          <p:nvPr/>
        </p:nvSpPr>
        <p:spPr>
          <a:xfrm>
            <a:off x="685800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t-SLAAC"/>
          <p:cNvSpPr txBox="1"/>
          <p:nvPr/>
        </p:nvSpPr>
        <p:spPr>
          <a:xfrm>
            <a:off x="850392" y="2304288"/>
            <a:ext cx="62992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SLAAC</a:t>
            </a:r>
          </a:p>
        </p:txBody>
      </p:sp>
      <p:sp>
        <p:nvSpPr>
          <p:cNvPr id="31" name="term-router advertiseme"/>
          <p:cNvSpPr/>
          <p:nvPr/>
        </p:nvSpPr>
        <p:spPr>
          <a:xfrm>
            <a:off x="1772920" y="2212848"/>
            <a:ext cx="2135631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b-router advertiseme"/>
          <p:cNvSpPr/>
          <p:nvPr/>
        </p:nvSpPr>
        <p:spPr>
          <a:xfrm>
            <a:off x="1772920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t-router advertiseme"/>
          <p:cNvSpPr txBox="1"/>
          <p:nvPr/>
        </p:nvSpPr>
        <p:spPr>
          <a:xfrm>
            <a:off x="1937512" y="2304288"/>
            <a:ext cx="180644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router advertisement</a:t>
            </a:r>
          </a:p>
        </p:txBody>
      </p:sp>
      <p:sp>
        <p:nvSpPr>
          <p:cNvPr id="34" name="term-neighbour discover"/>
          <p:cNvSpPr/>
          <p:nvPr/>
        </p:nvSpPr>
        <p:spPr>
          <a:xfrm>
            <a:off x="4036568" y="2212848"/>
            <a:ext cx="2084831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b-neighbour discover"/>
          <p:cNvSpPr/>
          <p:nvPr/>
        </p:nvSpPr>
        <p:spPr>
          <a:xfrm>
            <a:off x="4036568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t-neighbour discover"/>
          <p:cNvSpPr txBox="1"/>
          <p:nvPr/>
        </p:nvSpPr>
        <p:spPr>
          <a:xfrm>
            <a:off x="4201160" y="2304288"/>
            <a:ext cx="175564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neighbour discovery</a:t>
            </a:r>
          </a:p>
        </p:txBody>
      </p:sp>
      <p:sp>
        <p:nvSpPr>
          <p:cNvPr id="37" name="term-dual stack"/>
          <p:cNvSpPr/>
          <p:nvPr/>
        </p:nvSpPr>
        <p:spPr>
          <a:xfrm>
            <a:off x="6249415" y="2212848"/>
            <a:ext cx="1237487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b-dual stack"/>
          <p:cNvSpPr/>
          <p:nvPr/>
        </p:nvSpPr>
        <p:spPr>
          <a:xfrm>
            <a:off x="6249415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t-dual stack"/>
          <p:cNvSpPr txBox="1"/>
          <p:nvPr/>
        </p:nvSpPr>
        <p:spPr>
          <a:xfrm>
            <a:off x="6414007" y="2304288"/>
            <a:ext cx="908303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dual stack</a:t>
            </a:r>
          </a:p>
        </p:txBody>
      </p:sp>
      <p:sp>
        <p:nvSpPr>
          <p:cNvPr id="40" name="term-prefix"/>
          <p:cNvSpPr/>
          <p:nvPr/>
        </p:nvSpPr>
        <p:spPr>
          <a:xfrm>
            <a:off x="7614919" y="2212848"/>
            <a:ext cx="822960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b-prefix"/>
          <p:cNvSpPr/>
          <p:nvPr/>
        </p:nvSpPr>
        <p:spPr>
          <a:xfrm>
            <a:off x="7614919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t-prefix"/>
          <p:cNvSpPr txBox="1"/>
          <p:nvPr/>
        </p:nvSpPr>
        <p:spPr>
          <a:xfrm>
            <a:off x="7779511" y="2304288"/>
            <a:ext cx="49377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prefix</a:t>
            </a:r>
          </a:p>
        </p:txBody>
      </p:sp>
      <p:sp>
        <p:nvSpPr>
          <p:cNvPr id="43" name="termnote"/>
          <p:cNvSpPr txBox="1"/>
          <p:nvPr/>
        </p:nvSpPr>
        <p:spPr>
          <a:xfrm>
            <a:off x="685800" y="2962656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8A959A"/>
                </a:solidFill>
                <a:latin typeface="Segoe UI"/>
              </a:rPr>
              <a:t>Each is defined where it first matters — not here.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ON THE EXAM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v2.0 asks, and what it dropped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icon"/>
          <p:cNvSpPr txBox="1"/>
          <p:nvPr/>
        </p:nvSpPr>
        <p:spPr>
          <a:xfrm>
            <a:off x="685800" y="15179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618D"/>
                </a:solidFill>
                <a:latin typeface="Segoe UI"/>
              </a:rPr>
              <a:t>This is what the blueprint actually asks for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685800" y="2868095"/>
            <a:ext cx="10820095" cy="3514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Topic </a:t>
            </a:r>
            <a:r>
              <a:rPr sz="1600" b="1">
                <a:solidFill>
                  <a:srgbClr val="1F618D"/>
                </a:solidFill>
                <a:latin typeface="Segoe UI"/>
              </a:rPr>
              <a:t> 1.4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says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troubleshoot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IPv6 address configuration, assignment and prefix sizing, and narrows the scope to “unicast and modified EUI 64”. The previous blueprint asked you to compare every address type in detail; this one does not. Concentrate on getting an address onto an interface, understanding where the link-local one came from, and spotting a wrong prefix.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The two compression rules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2565399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ullets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Drop leading zeros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in any group.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0db8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becomes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db8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;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becomes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Trailing zeros are never dropped.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Replace one run of all-zero groups with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::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You may do this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once only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because a second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::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would make the address ambiguous — there would be no way to know how many zeros each stood for.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WORKED EXAMPLE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Compressing an address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2652921"/>
            <a:ext cx="10820095" cy="37295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Start with the full form: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A5276"/>
                </a:solidFill>
                <a:latin typeface="Consolas"/>
              </a:rPr>
              <a:t>2001:0db8:0000:0000:0000:ff00:0042:8329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85800" y="3587641"/>
            <a:ext cx="10820095" cy="27948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Drop leading zeros in each group: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2001:db8:0:0:0:ff00:42:8329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Replace the longest run of zero groups with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::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2001:db8::ff00:42:8329</a:t>
            </a:r>
          </a:p>
        </p:txBody>
      </p:sp>
      <p:sp>
        <p:nvSpPr>
          <p:cNvPr id="9" name="tailbody"/>
          <p:cNvSpPr txBox="1"/>
          <p:nvPr/>
        </p:nvSpPr>
        <p:spPr>
          <a:xfrm>
            <a:off x="685800" y="4760105"/>
            <a:ext cx="10820095" cy="15675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Expanding is the same in reverse. Given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2001:db8::1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count the groups present — two before the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::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one after, so three — and the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::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must therefore stand for five zero groups: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2001:0db8:0000:0000:0000:0000:0000:0001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WATCH OUT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There is no broadcast in IPv6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2632964"/>
            <a:ext cx="10820095" cy="37495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IPv6 has no broadcast address at all. Where IPv4 would broadcast, IPv6 uses a multicast group — usually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ff02::1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all nodes. This is why ARP does not exist in IPv6: its job is done by neighbour discovery using the solicited-node multicast address, which reaches only the handful of hosts whose addresses end the same way rather than every device on the segment.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Turning a 48-bit MAC into a 64-bit interface ID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2445511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ullets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Split the MAC in half.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Insert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fffe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in the middle.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Flip the seventh bit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of the first byte — the universal/local bit. In hex this means adding or subtracting 2 from the second hex digit.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WORKED EXAMPLE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EUI-64 from 00d0.58a1.0201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417064"/>
            <a:ext cx="10820095" cy="396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Split: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00d0.58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a1.0201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Insert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fffe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00d0:58ff:fea1:0201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Flip the seventh bit of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In binary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0000 0000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; flipping the seventh bit gives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0000 0010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which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Interface ID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02d0:58ff:fea1:0201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With a prefix of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2001:db8:acad:10::/64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full address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2001:db8:acad:10:2d0:58ff:fea1:201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8" name="tailbody"/>
          <p:cNvSpPr txBox="1"/>
          <p:nvPr/>
        </p:nvSpPr>
        <p:spPr>
          <a:xfrm>
            <a:off x="685800" y="5330952"/>
            <a:ext cx="1082009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quick check: an address containing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ff:fe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in the middle of its host portion was almost certainly built by EUI-64.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IPv6 on a router interface, three ways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517904"/>
            <a:ext cx="10820095" cy="4401312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517904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572768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1956816"/>
            <a:ext cx="10417759" cy="3907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Routing must be enabled globally first -- this is the step most often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forgotten, and without it the router will not forward or advertise.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ipv6 unicast-routing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interface GigabitEthernet0/0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description User VLAN 10 gateway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 ! 1. A fully specified address.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ipv6 address 2001:db8:acad:10::1/64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 ! 2. Or let the device build the host part by EUI-64.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ipv6 address 2001:db8:acad:20::/64 eui-64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 ! 3. A link-local address is created automatically, but you can pin 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 !    to something memorable -- worth doing, because routing protocols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 !    show it as the next hop.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ipv6 address fe80::1 link-local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no shutdown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show ipv6 interface brief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2133599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R1#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1639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GigabitEthernet0/0     [up/up]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FE80::1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2001:DB8:ACAD:10::1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2001:DB8:ACAD:20:2D0:58FF:FEA1:201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GigabitEthernet0/1     [administratively down/down]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unassigned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How a host gets an address: SLAAC versus DHCPv6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4251959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host sends a router solicitation to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ff02::2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; a router replies with a </a:t>
            </a:r>
            <a:r>
              <a:rPr sz="2000" b="1" i="0">
                <a:solidFill>
                  <a:srgbClr val="1F618D"/>
                </a:solidFill>
                <a:latin typeface="Segoe UI"/>
              </a:rPr>
              <a:t>router advertisement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carrying the prefix. Then either: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978408" y="2580639"/>
            <a:ext cx="10234879" cy="380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SLAAC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the host builds its own address from the advertised prefix plus an interface ID it generates. No server involved.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DHCPv6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the advertisement tells the host to ask a server, which supplies the address and other options.</a:t>
            </a:r>
          </a:p>
        </p:txBody>
      </p:sp>
      <p:sp>
        <p:nvSpPr>
          <p:cNvPr id="10" name="tailbody"/>
          <p:cNvSpPr txBox="1"/>
          <p:nvPr/>
        </p:nvSpPr>
        <p:spPr>
          <a:xfrm>
            <a:off x="978408" y="4413504"/>
            <a:ext cx="10234879" cy="1914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host with only a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fe80::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address and no global one has heard no router advertisement. That is the IPv6 equivalent of an APIPA address, and it points at the router, not the host.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COMMON PITFALLS  ·  Configuring IPv6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Common pitfalls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Omitting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ipv6 unicast-routing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Interfaces come up and addresses look right, but the router neither forwards nor advertises.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Using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::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 twice.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It is not merely discouraged, it is invalid, because the address can no longer be expanded uniquely.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Dropping trailing zeros.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2001:db8:1000::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cannot be shortened to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2001:db8:1::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Only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leading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zeros go.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Assuming a prefix other than /64 for a LAN.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SLAAC requires a 64-bit interface ID, so a LAN prefix longer than /64 breaks autoconfiguration. Point-to-point links are the usual exception.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SYMPTOM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5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Dual-stack host reaches IPv4 destinations only.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3169412"/>
            <a:ext cx="10820095" cy="31856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 workstation has a working IPv4 address and, for IPv6, only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fe80::2d0:58ff:fea1:201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It cannot reach any IPv6 destination, on or off the segment.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YOUR MOVE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5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Dual-stack host reaches IPv4 destinations only.</a:t>
            </a:r>
          </a:p>
        </p:txBody>
      </p:sp>
      <p:sp>
        <p:nvSpPr>
          <p:cNvPr id="6" name="promptbg"/>
          <p:cNvSpPr/>
          <p:nvPr/>
        </p:nvSpPr>
        <p:spPr>
          <a:xfrm>
            <a:off x="685800" y="2939796"/>
            <a:ext cx="10820095" cy="84124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rompt"/>
          <p:cNvSpPr txBox="1"/>
          <p:nvPr/>
        </p:nvSpPr>
        <p:spPr>
          <a:xfrm>
            <a:off x="960120" y="3140964"/>
            <a:ext cx="102714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A5276"/>
                </a:solidFill>
                <a:latin typeface="Segoe UI"/>
              </a:rPr>
              <a:t>What would you check first — and what do you expect to see?</a:t>
            </a:r>
          </a:p>
        </p:txBody>
      </p:sp>
      <p:sp>
        <p:nvSpPr>
          <p:cNvPr id="8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9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DIAGNOSIS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5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Why it is doing that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928111"/>
            <a:ext cx="10820095" cy="342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Diagnosis.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 link-local address is generated by the host itself and proves nothing except that the interface is up. The absence of a global address means no router advertisement is being received. Either no router is configured for IPv6 on that VLAN, or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ipv6 unicast-routing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missing, or the router interface has no global prefix to advertise.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THE FIX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5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And the lesson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928111"/>
            <a:ext cx="10820095" cy="342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Fix.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On the gateway, confirm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ipv6 unicast-routing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present in the running configuration, then check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show ipv6 interface GigabitEthernet0/0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shows a global address and that router advertisements are not suppressed. Bring the prefix back and the host will build its own address within seconds — no change is needed on the host at all.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Dual-stack a small network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 i="0">
                <a:solidFill>
                  <a:srgbClr val="1C252B"/>
                </a:solidFill>
                <a:latin typeface="Segoe UI"/>
              </a:rPr>
              <a:t>Topology.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One router, one switch, two PCs, addressed for both protocols.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85800" y="2030984"/>
            <a:ext cx="10820095" cy="4351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1.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Enable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ipv6 unicast-routing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give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Gi0/0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address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2001:db8:acad:10::1/64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link-local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fe80::1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2.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Set both PCs to obtain IPv6 automatically. Record the addresses they build and confirm they contain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ff:fe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3.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Compute by hand what each PC’s EUI-64 address should be from its MAC, and check your answer against the device.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4.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Ping between the PCs using IPv6, then ping the router’s link-local address from a PC. Note that the link-local ping needs no global addressing at all.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Dual-stack a small network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718235"/>
            <a:ext cx="10820095" cy="36642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1.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Remove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ipv6 unicast-routing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observe what happens to the PCs after their addresses expire.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2.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Extension.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Configure a second VLAN with prefix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2001:db8:acad:20::/64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route between the two.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1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Compress </a:t>
            </a:r>
            <a:r>
              <a:rPr sz="2900" b="0" i="0">
                <a:solidFill>
                  <a:srgbClr val="FFFFFF"/>
                </a:solidFill>
                <a:latin typeface="Consolas"/>
              </a:rPr>
              <a:t>2001:0db8:0000:0012:0000:0000:0000:00ab</a:t>
            </a:r>
            <a:r>
              <a:rPr sz="3000" b="0" i="0">
                <a:solidFill>
                  <a:srgbClr val="FFFFFF"/>
                </a:solidFill>
                <a:latin typeface="Segoe UI"/>
              </a:rPr>
              <a:t> fully.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1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Compress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2001:0db8:0000:0012:0000:0000:0000:00ab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 fully.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197354"/>
            <a:ext cx="41148" cy="114223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197354"/>
            <a:ext cx="10564063" cy="4093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A5276"/>
                </a:solidFill>
                <a:latin typeface="Consolas"/>
              </a:rPr>
              <a:t>2001:db8:0:12::ab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Leading zeros drop in every group; the single run of three all-zero groups becomes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::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Note the fourth group is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not part of the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::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only one run may be compressed, and the longer one wins.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2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A host shows only an </a:t>
            </a:r>
            <a:r>
              <a:rPr sz="2900" b="0" i="0">
                <a:solidFill>
                  <a:srgbClr val="FFFFFF"/>
                </a:solidFill>
                <a:latin typeface="Consolas"/>
              </a:rPr>
              <a:t>fe80::</a:t>
            </a:r>
            <a:r>
              <a:rPr sz="3000" b="0" i="0">
                <a:solidFill>
                  <a:srgbClr val="FFFFFF"/>
                </a:solidFill>
                <a:latin typeface="Segoe UI"/>
              </a:rPr>
              <a:t> address. What is missing, and on which device would you look?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2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A host shows only an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fe80::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 address. What is missing, and on which device would you look?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197354"/>
            <a:ext cx="41148" cy="114223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197354"/>
            <a:ext cx="10564063" cy="4093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 global unicast address, which means no router advertisement is being received. Look at the router or layer 3 switch for the segment: is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ipv6 unicast-routing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enabled, and does the interface have a global address to advertise a prefix from?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3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Build the modified EUI-64 interface identifier for MAC </a:t>
            </a:r>
            <a:r>
              <a:rPr sz="2900" b="0" i="0">
                <a:solidFill>
                  <a:srgbClr val="FFFFFF"/>
                </a:solidFill>
                <a:latin typeface="Consolas"/>
              </a:rPr>
              <a:t>aabb.cc00.0100</a:t>
            </a:r>
            <a:r>
              <a:rPr sz="3000" b="0" i="0">
                <a:solidFill>
                  <a:srgbClr val="FFFFFF"/>
                </a:solidFill>
                <a:latin typeface="Segoe UI"/>
              </a:rPr>
              <a:t>.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3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Build the modified EUI-64 interface identifier for MAC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aabb.cc00.0100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.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197354"/>
            <a:ext cx="41148" cy="8285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197354"/>
            <a:ext cx="10564063" cy="4093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Split the MAC, insert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fffe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flip the seventh bit: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aa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becomes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a8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The result is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a8bb:ccff:fe00:0100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CHAPTER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to take away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5. IPv6 Addressing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1.4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Drop leading zeros; use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::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once, for the longest zero run.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2000::/3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global,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fe80::/10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link local,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fd00::/8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unique local,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ff00::/8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multicast. There is no broadcast.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EUI-64: split the MAC, insert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fffe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flip the seventh bit.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ipv6 unicast-routing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a separate, easily forgotten step.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LANs are /64 because SLAAC needs a 64-bit interface ID.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Only a link-local address means no router advertisement was heard — investigate the router, not the host.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1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ltitle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Where we got to</a:t>
            </a:r>
          </a:p>
        </p:txBody>
      </p:sp>
      <p:sp>
        <p:nvSpPr>
          <p:cNvPr id="4" name="cltakeaways"/>
          <p:cNvSpPr txBox="1"/>
          <p:nvPr/>
        </p:nvSpPr>
        <p:spPr>
          <a:xfrm>
            <a:off x="685800" y="2011680"/>
            <a:ext cx="1082009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Drop leading zeros; use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::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once, for the longest zero run.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2000::/3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global,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fe80::/10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link local,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fd00::/8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unique local,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ff00::/8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multicast. There is no broadcast.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EUI-64: split the MAC, insert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fffe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, flip the seventh bit.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ipv6 unicast-routing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is a separate, easily forgotten step.</a:t>
            </a:r>
          </a:p>
        </p:txBody>
      </p:sp>
      <p:sp>
        <p:nvSpPr>
          <p:cNvPr id="5" name="nextbg"/>
          <p:cNvSpPr/>
          <p:nvPr/>
        </p:nvSpPr>
        <p:spPr>
          <a:xfrm>
            <a:off x="685800" y="5303520"/>
            <a:ext cx="10820095" cy="822960"/>
          </a:xfrm>
          <a:prstGeom prst="rect">
            <a:avLst/>
          </a:prstGeom>
          <a:solidFill>
            <a:srgbClr val="094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nextlab"/>
          <p:cNvSpPr txBox="1"/>
          <p:nvPr/>
        </p:nvSpPr>
        <p:spPr>
          <a:xfrm>
            <a:off x="960120" y="5449824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8C9DA"/>
                </a:solidFill>
                <a:latin typeface="Segoe UI"/>
              </a:rPr>
              <a:t>NEXT</a:t>
            </a:r>
          </a:p>
        </p:txBody>
      </p:sp>
      <p:sp>
        <p:nvSpPr>
          <p:cNvPr id="7" name="nexttitle"/>
          <p:cNvSpPr txBox="1"/>
          <p:nvPr/>
        </p:nvSpPr>
        <p:spPr>
          <a:xfrm>
            <a:off x="960120" y="5705856"/>
            <a:ext cx="102714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Chapter 6 — TCP, UDP and the Diagnostic Toolkit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