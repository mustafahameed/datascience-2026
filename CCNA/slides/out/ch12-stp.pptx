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12: Rapid PVST+ and the Protection Features. Blueprint topics: 2.5.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PVST+ and the Protection Features 2.5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define these now - they are defined as they arrive. This slide is for the students'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Spanning tree does not remove the cable. It blocks one port, so the physical redundancy is still there and can be brought back automatically when a link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PVST+ runs one rapid spanning tree instance per VLAN. It converges in seconds rather than the 30–50 of the original standard, and it is what the blueprint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 to read first: This bridge is the root — is it the switch you intended? — and the priority, 4106, which is 4096+10 and confirms the extended system ID is doing what it should.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Gi0/2 is Altn BLK — alternate, blocking. That is the loop being broken, and it is a healthy state, not a fault. Topic 2.5 names PortFast, root guard, loop guard and BPDU guard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here. Take two or three answers before advancing. The point is the prediction, not the command.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it aloud. Ask what single field decides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elimination matters as much as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somebody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somebody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somebody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7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gfoot"/>
          <p:cNvSpPr/>
          <p:nvPr/>
        </p:nvSpPr>
        <p:spPr>
          <a:xfrm>
            <a:off x="0" y="6172200"/>
            <a:ext cx="12191695" cy="685800"/>
          </a:xfrm>
          <a:prstGeom prst="rect">
            <a:avLst/>
          </a:prstGeom>
          <a:solidFill>
            <a:srgbClr val="006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ourse"/>
          <p:cNvSpPr txBox="1"/>
          <p:nvPr/>
        </p:nvSpPr>
        <p:spPr>
          <a:xfrm>
            <a:off x="685800" y="1170432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C8D6E5"/>
                </a:solidFill>
                <a:latin typeface="Segoe UI"/>
              </a:rPr>
              <a:t>CCNA 200-301 V2.0</a:t>
            </a:r>
          </a:p>
        </p:txBody>
      </p:sp>
      <p:sp>
        <p:nvSpPr>
          <p:cNvPr id="5" name="chnum"/>
          <p:cNvSpPr txBox="1"/>
          <p:nvPr/>
        </p:nvSpPr>
        <p:spPr>
          <a:xfrm>
            <a:off x="685800" y="1572768"/>
            <a:ext cx="2011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7600" b="1" i="0">
                <a:solidFill>
                  <a:srgbClr val="FFFFFF"/>
                </a:solidFill>
                <a:latin typeface="Segoe UI"/>
              </a:rPr>
              <a:t>12</a:t>
            </a:r>
          </a:p>
        </p:txBody>
      </p:sp>
      <p:sp>
        <p:nvSpPr>
          <p:cNvPr id="6" name="chtitle"/>
          <p:cNvSpPr txBox="1"/>
          <p:nvPr/>
        </p:nvSpPr>
        <p:spPr>
          <a:xfrm>
            <a:off x="2423160" y="1700784"/>
            <a:ext cx="908273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Rapid PVST+ and the Protection Features</a:t>
            </a:r>
          </a:p>
        </p:txBody>
      </p:sp>
      <p:sp>
        <p:nvSpPr>
          <p:cNvPr id="7" name="part"/>
          <p:cNvSpPr txBox="1"/>
          <p:nvPr/>
        </p:nvSpPr>
        <p:spPr>
          <a:xfrm>
            <a:off x="2441448" y="3017520"/>
            <a:ext cx="908273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C8D6E5"/>
                </a:solidFill>
                <a:latin typeface="Segoe UI"/>
              </a:rPr>
              <a:t>Part II — Switching and Network Access</a:t>
            </a:r>
          </a:p>
        </p:txBody>
      </p:sp>
      <p:sp>
        <p:nvSpPr>
          <p:cNvPr id="8" name="tlabel"/>
          <p:cNvSpPr txBox="1"/>
          <p:nvPr/>
        </p:nvSpPr>
        <p:spPr>
          <a:xfrm>
            <a:off x="2441448" y="3401568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 i="0">
                <a:solidFill>
                  <a:srgbClr val="B8C9DA"/>
                </a:solidFill>
                <a:latin typeface="Segoe UI"/>
              </a:rPr>
              <a:t>EXAM TOPICS</a:t>
            </a:r>
          </a:p>
        </p:txBody>
      </p:sp>
      <p:sp>
        <p:nvSpPr>
          <p:cNvPr id="9" name="chip-2.5"/>
          <p:cNvSpPr/>
          <p:nvPr/>
        </p:nvSpPr>
        <p:spPr>
          <a:xfrm>
            <a:off x="2441448" y="3657600"/>
            <a:ext cx="566928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hiptx-2.5"/>
          <p:cNvSpPr txBox="1"/>
          <p:nvPr/>
        </p:nvSpPr>
        <p:spPr>
          <a:xfrm>
            <a:off x="2441448" y="3689604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17864"/>
                </a:solidFill>
                <a:latin typeface="Segoe UI"/>
              </a:rPr>
              <a:t>2.5</a:t>
            </a:r>
          </a:p>
        </p:txBody>
      </p:sp>
      <p:sp>
        <p:nvSpPr>
          <p:cNvPr id="11" name="authlab"/>
          <p:cNvSpPr txBox="1"/>
          <p:nvPr/>
        </p:nvSpPr>
        <p:spPr>
          <a:xfrm>
            <a:off x="685800" y="5138928"/>
            <a:ext cx="64920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 i="0">
                <a:solidFill>
                  <a:srgbClr val="B8C9DA"/>
                </a:solidFill>
                <a:latin typeface="Segoe UI"/>
              </a:rPr>
              <a:t>LECTURER</a:t>
            </a:r>
          </a:p>
        </p:txBody>
      </p:sp>
      <p:sp>
        <p:nvSpPr>
          <p:cNvPr id="12" name="author"/>
          <p:cNvSpPr txBox="1"/>
          <p:nvPr/>
        </p:nvSpPr>
        <p:spPr>
          <a:xfrm>
            <a:off x="685800" y="5394960"/>
            <a:ext cx="6492057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Dr. Mustafa Hameed</a:t>
            </a:r>
          </a:p>
        </p:txBody>
      </p:sp>
      <p:sp>
        <p:nvSpPr>
          <p:cNvPr id="13" name="lockup1"/>
          <p:cNvSpPr txBox="1"/>
          <p:nvPr/>
        </p:nvSpPr>
        <p:spPr>
          <a:xfrm>
            <a:off x="7939735" y="5175504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THE ISLAMIA UNIVERSITY OF BAHAWALPUR</a:t>
            </a:r>
          </a:p>
        </p:txBody>
      </p:sp>
      <p:sp>
        <p:nvSpPr>
          <p:cNvPr id="14" name="lockup2"/>
          <p:cNvSpPr txBox="1"/>
          <p:nvPr/>
        </p:nvSpPr>
        <p:spPr>
          <a:xfrm>
            <a:off x="7939735" y="5413248"/>
            <a:ext cx="3566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 i="0">
                <a:solidFill>
                  <a:srgbClr val="C8D6E5"/>
                </a:solidFill>
                <a:latin typeface="Segoe UI"/>
              </a:rPr>
              <a:t>Department of Information Technology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LEARNING OUTCOMES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What you will be able to do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12. Rapid PVST+ and the Protection Features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2.5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1517904"/>
            <a:ext cx="10820095" cy="4864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Explain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what a layer 2 loop does to a network, and why it is worse than any layer 3 failure.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Predict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the root bridge, root ports and designated ports for a given topology, and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influence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the outcome deliberately.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Configure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Rapid PVST+, root primary and secondary, PortFast, BPDU guard, root guard and loop guard.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Diagnose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an unexpected root bridge, an errdisabled port and a port that will not leave blocking.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ASSUMED KNOWLEDGE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Before we start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12. Rapid PVST+ and the Protection Features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2.5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1337055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ody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Chapter 3 for flooding — which is what makes a loop catastrophic — and Chapter 10 for trunks between switches.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KEY TERMS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Vocabulary for this chapter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12. Rapid PVST+ and the Protection Features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2.5</a:t>
            </a:r>
          </a:p>
        </p:txBody>
      </p:sp>
      <p:sp>
        <p:nvSpPr>
          <p:cNvPr id="7" name="term-BPDU"/>
          <p:cNvSpPr/>
          <p:nvPr/>
        </p:nvSpPr>
        <p:spPr>
          <a:xfrm>
            <a:off x="685800" y="1609344"/>
            <a:ext cx="801624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b-BPDU"/>
          <p:cNvSpPr/>
          <p:nvPr/>
        </p:nvSpPr>
        <p:spPr>
          <a:xfrm>
            <a:off x="685800" y="1609344"/>
            <a:ext cx="32004" cy="47548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t-BPDU"/>
          <p:cNvSpPr txBox="1"/>
          <p:nvPr/>
        </p:nvSpPr>
        <p:spPr>
          <a:xfrm>
            <a:off x="850392" y="1700784"/>
            <a:ext cx="4724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BPDU</a:t>
            </a:r>
          </a:p>
        </p:txBody>
      </p:sp>
      <p:sp>
        <p:nvSpPr>
          <p:cNvPr id="10" name="term-root bridge"/>
          <p:cNvSpPr/>
          <p:nvPr/>
        </p:nvSpPr>
        <p:spPr>
          <a:xfrm>
            <a:off x="1615440" y="1609344"/>
            <a:ext cx="1197863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b-root bridge"/>
          <p:cNvSpPr/>
          <p:nvPr/>
        </p:nvSpPr>
        <p:spPr>
          <a:xfrm>
            <a:off x="1615440" y="1609344"/>
            <a:ext cx="32004" cy="47548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t-root bridge"/>
          <p:cNvSpPr txBox="1"/>
          <p:nvPr/>
        </p:nvSpPr>
        <p:spPr>
          <a:xfrm>
            <a:off x="1780032" y="1700784"/>
            <a:ext cx="868679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root bridge</a:t>
            </a:r>
          </a:p>
        </p:txBody>
      </p:sp>
      <p:sp>
        <p:nvSpPr>
          <p:cNvPr id="13" name="term-bridge ID"/>
          <p:cNvSpPr/>
          <p:nvPr/>
        </p:nvSpPr>
        <p:spPr>
          <a:xfrm>
            <a:off x="2941319" y="1609344"/>
            <a:ext cx="1064514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b-bridge ID"/>
          <p:cNvSpPr/>
          <p:nvPr/>
        </p:nvSpPr>
        <p:spPr>
          <a:xfrm>
            <a:off x="2941319" y="1609344"/>
            <a:ext cx="32004" cy="47548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t-bridge ID"/>
          <p:cNvSpPr txBox="1"/>
          <p:nvPr/>
        </p:nvSpPr>
        <p:spPr>
          <a:xfrm>
            <a:off x="3105912" y="1700784"/>
            <a:ext cx="735329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bridge ID</a:t>
            </a:r>
          </a:p>
        </p:txBody>
      </p:sp>
      <p:sp>
        <p:nvSpPr>
          <p:cNvPr id="16" name="term-bridge priority"/>
          <p:cNvSpPr/>
          <p:nvPr/>
        </p:nvSpPr>
        <p:spPr>
          <a:xfrm>
            <a:off x="4133849" y="1609344"/>
            <a:ext cx="1466468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b-bridge priority"/>
          <p:cNvSpPr/>
          <p:nvPr/>
        </p:nvSpPr>
        <p:spPr>
          <a:xfrm>
            <a:off x="4133849" y="1609344"/>
            <a:ext cx="32004" cy="47548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t-bridge priority"/>
          <p:cNvSpPr txBox="1"/>
          <p:nvPr/>
        </p:nvSpPr>
        <p:spPr>
          <a:xfrm>
            <a:off x="4298441" y="1700784"/>
            <a:ext cx="113728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bridge priority</a:t>
            </a:r>
          </a:p>
        </p:txBody>
      </p:sp>
      <p:sp>
        <p:nvSpPr>
          <p:cNvPr id="19" name="term-root port"/>
          <p:cNvSpPr/>
          <p:nvPr/>
        </p:nvSpPr>
        <p:spPr>
          <a:xfrm>
            <a:off x="5728334" y="1609344"/>
            <a:ext cx="1003554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b-root port"/>
          <p:cNvSpPr/>
          <p:nvPr/>
        </p:nvSpPr>
        <p:spPr>
          <a:xfrm>
            <a:off x="5728334" y="1609344"/>
            <a:ext cx="32004" cy="47548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t-root port"/>
          <p:cNvSpPr txBox="1"/>
          <p:nvPr/>
        </p:nvSpPr>
        <p:spPr>
          <a:xfrm>
            <a:off x="5892926" y="1700784"/>
            <a:ext cx="67437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root port</a:t>
            </a:r>
          </a:p>
        </p:txBody>
      </p:sp>
      <p:sp>
        <p:nvSpPr>
          <p:cNvPr id="22" name="term-designated port"/>
          <p:cNvSpPr/>
          <p:nvPr/>
        </p:nvSpPr>
        <p:spPr>
          <a:xfrm>
            <a:off x="6859905" y="1609344"/>
            <a:ext cx="1586483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b-designated port"/>
          <p:cNvSpPr/>
          <p:nvPr/>
        </p:nvSpPr>
        <p:spPr>
          <a:xfrm>
            <a:off x="6859905" y="1609344"/>
            <a:ext cx="32004" cy="47548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t-designated port"/>
          <p:cNvSpPr txBox="1"/>
          <p:nvPr/>
        </p:nvSpPr>
        <p:spPr>
          <a:xfrm>
            <a:off x="7024497" y="1700784"/>
            <a:ext cx="1257299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designated port</a:t>
            </a:r>
          </a:p>
        </p:txBody>
      </p:sp>
      <p:sp>
        <p:nvSpPr>
          <p:cNvPr id="25" name="term-alternate port"/>
          <p:cNvSpPr/>
          <p:nvPr/>
        </p:nvSpPr>
        <p:spPr>
          <a:xfrm>
            <a:off x="8574405" y="1609344"/>
            <a:ext cx="1409318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b-alternate port"/>
          <p:cNvSpPr/>
          <p:nvPr/>
        </p:nvSpPr>
        <p:spPr>
          <a:xfrm>
            <a:off x="8574405" y="1609344"/>
            <a:ext cx="32004" cy="47548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t-alternate port"/>
          <p:cNvSpPr txBox="1"/>
          <p:nvPr/>
        </p:nvSpPr>
        <p:spPr>
          <a:xfrm>
            <a:off x="8738997" y="1700784"/>
            <a:ext cx="1080135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alternate port</a:t>
            </a:r>
          </a:p>
        </p:txBody>
      </p:sp>
      <p:sp>
        <p:nvSpPr>
          <p:cNvPr id="28" name="term-path cost"/>
          <p:cNvSpPr/>
          <p:nvPr/>
        </p:nvSpPr>
        <p:spPr>
          <a:xfrm>
            <a:off x="10111740" y="1609344"/>
            <a:ext cx="1083563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b-path cost"/>
          <p:cNvSpPr/>
          <p:nvPr/>
        </p:nvSpPr>
        <p:spPr>
          <a:xfrm>
            <a:off x="10111740" y="1609344"/>
            <a:ext cx="32004" cy="47548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t-path cost"/>
          <p:cNvSpPr txBox="1"/>
          <p:nvPr/>
        </p:nvSpPr>
        <p:spPr>
          <a:xfrm>
            <a:off x="10276332" y="1700784"/>
            <a:ext cx="754379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path cost</a:t>
            </a:r>
          </a:p>
        </p:txBody>
      </p:sp>
      <p:sp>
        <p:nvSpPr>
          <p:cNvPr id="31" name="term-Rapid PVST+"/>
          <p:cNvSpPr/>
          <p:nvPr/>
        </p:nvSpPr>
        <p:spPr>
          <a:xfrm>
            <a:off x="685800" y="2212848"/>
            <a:ext cx="1422654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b-Rapid PVST+"/>
          <p:cNvSpPr/>
          <p:nvPr/>
        </p:nvSpPr>
        <p:spPr>
          <a:xfrm>
            <a:off x="685800" y="2212848"/>
            <a:ext cx="32004" cy="47548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t-Rapid PVST+"/>
          <p:cNvSpPr txBox="1"/>
          <p:nvPr/>
        </p:nvSpPr>
        <p:spPr>
          <a:xfrm>
            <a:off x="850392" y="2304288"/>
            <a:ext cx="109347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Rapid PVST+</a:t>
            </a:r>
          </a:p>
        </p:txBody>
      </p:sp>
      <p:sp>
        <p:nvSpPr>
          <p:cNvPr id="34" name="term-PortFast"/>
          <p:cNvSpPr/>
          <p:nvPr/>
        </p:nvSpPr>
        <p:spPr>
          <a:xfrm>
            <a:off x="2236470" y="2212848"/>
            <a:ext cx="1028318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b-PortFast"/>
          <p:cNvSpPr/>
          <p:nvPr/>
        </p:nvSpPr>
        <p:spPr>
          <a:xfrm>
            <a:off x="2236470" y="2212848"/>
            <a:ext cx="32004" cy="47548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t-PortFast"/>
          <p:cNvSpPr txBox="1"/>
          <p:nvPr/>
        </p:nvSpPr>
        <p:spPr>
          <a:xfrm>
            <a:off x="2401062" y="2304288"/>
            <a:ext cx="699135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PortFast</a:t>
            </a:r>
          </a:p>
        </p:txBody>
      </p:sp>
      <p:sp>
        <p:nvSpPr>
          <p:cNvPr id="37" name="term-BPDU guard"/>
          <p:cNvSpPr/>
          <p:nvPr/>
        </p:nvSpPr>
        <p:spPr>
          <a:xfrm>
            <a:off x="3392805" y="2212848"/>
            <a:ext cx="1304543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b-BPDU guard"/>
          <p:cNvSpPr/>
          <p:nvPr/>
        </p:nvSpPr>
        <p:spPr>
          <a:xfrm>
            <a:off x="3392805" y="2212848"/>
            <a:ext cx="32004" cy="47548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t-BPDU guard"/>
          <p:cNvSpPr txBox="1"/>
          <p:nvPr/>
        </p:nvSpPr>
        <p:spPr>
          <a:xfrm>
            <a:off x="3557397" y="2304288"/>
            <a:ext cx="975359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BPDU guard</a:t>
            </a:r>
          </a:p>
        </p:txBody>
      </p:sp>
      <p:sp>
        <p:nvSpPr>
          <p:cNvPr id="40" name="term-root guard"/>
          <p:cNvSpPr/>
          <p:nvPr/>
        </p:nvSpPr>
        <p:spPr>
          <a:xfrm>
            <a:off x="4825365" y="2212848"/>
            <a:ext cx="1140714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b-root guard"/>
          <p:cNvSpPr/>
          <p:nvPr/>
        </p:nvSpPr>
        <p:spPr>
          <a:xfrm>
            <a:off x="4825365" y="2212848"/>
            <a:ext cx="32004" cy="47548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t-root guard"/>
          <p:cNvSpPr txBox="1"/>
          <p:nvPr/>
        </p:nvSpPr>
        <p:spPr>
          <a:xfrm>
            <a:off x="4989957" y="2304288"/>
            <a:ext cx="81153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root guard</a:t>
            </a:r>
          </a:p>
        </p:txBody>
      </p:sp>
      <p:sp>
        <p:nvSpPr>
          <p:cNvPr id="43" name="term-loop guard"/>
          <p:cNvSpPr/>
          <p:nvPr/>
        </p:nvSpPr>
        <p:spPr>
          <a:xfrm>
            <a:off x="6094095" y="2212848"/>
            <a:ext cx="1180718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b-loop guard"/>
          <p:cNvSpPr/>
          <p:nvPr/>
        </p:nvSpPr>
        <p:spPr>
          <a:xfrm>
            <a:off x="6094095" y="2212848"/>
            <a:ext cx="32004" cy="47548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t-loop guard"/>
          <p:cNvSpPr txBox="1"/>
          <p:nvPr/>
        </p:nvSpPr>
        <p:spPr>
          <a:xfrm>
            <a:off x="6258687" y="2304288"/>
            <a:ext cx="85153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loop guard</a:t>
            </a:r>
          </a:p>
        </p:txBody>
      </p:sp>
      <p:sp>
        <p:nvSpPr>
          <p:cNvPr id="46" name="term-errdisable"/>
          <p:cNvSpPr/>
          <p:nvPr/>
        </p:nvSpPr>
        <p:spPr>
          <a:xfrm>
            <a:off x="7402830" y="2212848"/>
            <a:ext cx="1140714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b-errdisable"/>
          <p:cNvSpPr/>
          <p:nvPr/>
        </p:nvSpPr>
        <p:spPr>
          <a:xfrm>
            <a:off x="7402830" y="2212848"/>
            <a:ext cx="32004" cy="47548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t-errdisable"/>
          <p:cNvSpPr txBox="1"/>
          <p:nvPr/>
        </p:nvSpPr>
        <p:spPr>
          <a:xfrm>
            <a:off x="7567422" y="2304288"/>
            <a:ext cx="81153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errdisable</a:t>
            </a:r>
          </a:p>
        </p:txBody>
      </p:sp>
      <p:sp>
        <p:nvSpPr>
          <p:cNvPr id="49" name="termnote"/>
          <p:cNvSpPr txBox="1"/>
          <p:nvPr/>
        </p:nvSpPr>
        <p:spPr>
          <a:xfrm>
            <a:off x="685800" y="2962656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8A959A"/>
                </a:solidFill>
                <a:latin typeface="Segoe UI"/>
              </a:rPr>
              <a:t>Each is defined where it first matters — not here.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CONCEPT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Three things happen at once, and none of them stops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12. Rapid PVST+ and the Protection Features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2.5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486460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ody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800" b="0" i="0">
                <a:solidFill>
                  <a:srgbClr val="1C252B"/>
                </a:solidFill>
                <a:latin typeface="Segoe UI"/>
              </a:rPr>
              <a:t>An IP packet carries a TTL that decrements at each router, so a routing loop eventually discards the packet. </a:t>
            </a:r>
            <a:r>
              <a:rPr sz="1800" b="1" i="0">
                <a:solidFill>
                  <a:srgbClr val="1C252B"/>
                </a:solidFill>
                <a:latin typeface="Segoe UI"/>
              </a:rPr>
              <a:t>An Ethernet frame has no TTL.</a:t>
            </a:r>
            <a:r>
              <a:rPr sz="1800" b="0" i="0">
                <a:solidFill>
                  <a:srgbClr val="1C252B"/>
                </a:solidFill>
                <a:latin typeface="Segoe UI"/>
              </a:rPr>
              <a:t> A frame caught in a switching loop circulates until somebody unplugs something.</a:t>
            </a:r>
          </a:p>
        </p:txBody>
      </p:sp>
      <p:sp>
        <p:nvSpPr>
          <p:cNvPr id="9" name="bullets"/>
          <p:cNvSpPr txBox="1"/>
          <p:nvPr/>
        </p:nvSpPr>
        <p:spPr>
          <a:xfrm>
            <a:off x="978408" y="2811780"/>
            <a:ext cx="10234879" cy="35707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5739" indent="-205739">
              <a:lnSpc>
                <a:spcPct val="102000"/>
              </a:lnSpc>
              <a:spcAft>
                <a:spcPts val="900"/>
              </a:spcAft>
            </a:pPr>
            <a:r>
              <a:rPr sz="1800" b="1">
                <a:solidFill>
                  <a:srgbClr val="117864"/>
                </a:solidFill>
                <a:latin typeface="Segoe UI"/>
              </a:rPr>
              <a:t>•  </a:t>
            </a:r>
            <a:r>
              <a:rPr sz="1800" b="1" i="0">
                <a:solidFill>
                  <a:srgbClr val="1C252B"/>
                </a:solidFill>
                <a:latin typeface="Segoe UI"/>
              </a:rPr>
              <a:t>Broadcast storm.</a:t>
            </a:r>
            <a:r>
              <a:rPr sz="1800" b="0" i="0">
                <a:solidFill>
                  <a:srgbClr val="1C252B"/>
                </a:solidFill>
                <a:latin typeface="Segoe UI"/>
              </a:rPr>
              <a:t> A single broadcast is flooded, arrives back, and is flooded again — multiplying without limit until the links saturate.</a:t>
            </a:r>
          </a:p>
          <a:p>
            <a:pPr marL="205739" indent="-205739">
              <a:lnSpc>
                <a:spcPct val="102000"/>
              </a:lnSpc>
              <a:spcAft>
                <a:spcPts val="900"/>
              </a:spcAft>
            </a:pPr>
            <a:r>
              <a:rPr sz="1800" b="1">
                <a:solidFill>
                  <a:srgbClr val="117864"/>
                </a:solidFill>
                <a:latin typeface="Segoe UI"/>
              </a:rPr>
              <a:t>•  </a:t>
            </a:r>
            <a:r>
              <a:rPr sz="1800" b="1" i="0">
                <a:solidFill>
                  <a:srgbClr val="1C252B"/>
                </a:solidFill>
                <a:latin typeface="Segoe UI"/>
              </a:rPr>
              <a:t>MAC table instability.</a:t>
            </a:r>
            <a:r>
              <a:rPr sz="1800" b="0" i="0">
                <a:solidFill>
                  <a:srgbClr val="1C252B"/>
                </a:solidFill>
                <a:latin typeface="Segoe UI"/>
              </a:rPr>
              <a:t> The same source address arrives on two ports repeatedly, so the table is rewritten constantly and unicast forwarding becomes unreliable (see the flap message in Chapter 3).</a:t>
            </a:r>
          </a:p>
          <a:p>
            <a:pPr marL="205739" indent="-205739">
              <a:lnSpc>
                <a:spcPct val="102000"/>
              </a:lnSpc>
              <a:spcAft>
                <a:spcPts val="900"/>
              </a:spcAft>
            </a:pPr>
            <a:r>
              <a:rPr sz="1800" b="1">
                <a:solidFill>
                  <a:srgbClr val="117864"/>
                </a:solidFill>
                <a:latin typeface="Segoe UI"/>
              </a:rPr>
              <a:t>•  </a:t>
            </a:r>
            <a:r>
              <a:rPr sz="1800" b="1" i="0">
                <a:solidFill>
                  <a:srgbClr val="1C252B"/>
                </a:solidFill>
                <a:latin typeface="Segoe UI"/>
              </a:rPr>
              <a:t>Duplicate frame delivery.</a:t>
            </a:r>
            <a:r>
              <a:rPr sz="1800" b="0" i="0">
                <a:solidFill>
                  <a:srgbClr val="1C252B"/>
                </a:solidFill>
                <a:latin typeface="Segoe UI"/>
              </a:rPr>
              <a:t> Hosts receive multiple copies, which breaks protocols that assume they will not.</a:t>
            </a:r>
          </a:p>
        </p:txBody>
      </p:sp>
      <p:sp>
        <p:nvSpPr>
          <p:cNvPr id="10" name="tailbody"/>
          <p:cNvSpPr txBox="1"/>
          <p:nvPr/>
        </p:nvSpPr>
        <p:spPr>
          <a:xfrm>
            <a:off x="978408" y="5614416"/>
            <a:ext cx="10234879" cy="7132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C252B"/>
                </a:solidFill>
                <a:latin typeface="Segoe UI"/>
              </a:rPr>
              <a:t>The network does not degrade gracefully; it stops, usually within seconds. This is why spanning tree exists and why it is on by default.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Why a layer 2 loop is fatal</a:t>
            </a:r>
          </a:p>
        </p:txBody>
      </p:sp>
      <p:sp>
        <p:nvSpPr>
          <p:cNvPr id="3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12. Rapid PVST+ and the Protection Features</a:t>
            </a:r>
          </a:p>
        </p:txBody>
      </p:sp>
      <p:sp>
        <p:nvSpPr>
          <p:cNvPr id="5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2.5</a:t>
            </a:r>
          </a:p>
        </p:txBody>
      </p:sp>
      <p:pic>
        <p:nvPicPr>
          <p:cNvPr id="6" name="figure" descr="stploop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649" y="1517904"/>
            <a:ext cx="8872395" cy="4773168"/>
          </a:xfrm>
          <a:prstGeom prst="rect">
            <a:avLst/>
          </a:prstGeom>
        </p:spPr>
      </p:pic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Why a layer 2 loop is fatal</a:t>
            </a:r>
          </a:p>
        </p:txBody>
      </p:sp>
      <p:sp>
        <p:nvSpPr>
          <p:cNvPr id="3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12. Rapid PVST+ and the Protection Features</a:t>
            </a:r>
          </a:p>
        </p:txBody>
      </p:sp>
      <p:sp>
        <p:nvSpPr>
          <p:cNvPr id="5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2.5</a:t>
            </a:r>
          </a:p>
        </p:txBody>
      </p:sp>
      <p:pic>
        <p:nvPicPr>
          <p:cNvPr id="6" name="figure" descr="stploop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649" y="1517904"/>
            <a:ext cx="8872395" cy="4773168"/>
          </a:xfrm>
          <a:prstGeom prst="rect">
            <a:avLst/>
          </a:prstGeom>
        </p:spPr>
      </p:pic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Why a layer 2 loop is fatal</a:t>
            </a:r>
          </a:p>
        </p:txBody>
      </p:sp>
      <p:sp>
        <p:nvSpPr>
          <p:cNvPr id="3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12. Rapid PVST+ and the Protection Features</a:t>
            </a:r>
          </a:p>
        </p:txBody>
      </p:sp>
      <p:sp>
        <p:nvSpPr>
          <p:cNvPr id="5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2.5</a:t>
            </a:r>
          </a:p>
        </p:txBody>
      </p:sp>
      <p:pic>
        <p:nvPicPr>
          <p:cNvPr id="6" name="figure" descr="stploop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649" y="1517904"/>
            <a:ext cx="8872395" cy="4773168"/>
          </a:xfrm>
          <a:prstGeom prst="rect">
            <a:avLst/>
          </a:prstGeom>
        </p:spPr>
      </p:pic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DEFINITION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Bridge ID and root election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12. Rapid PVST+ and the Protection Features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2.5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2749296"/>
          </a:xfrm>
          <a:prstGeom prst="rect">
            <a:avLst/>
          </a:prstGeom>
          <a:solidFill>
            <a:srgbClr val="FD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ody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Every switch has a </a:t>
            </a:r>
            <a:r>
              <a:rPr sz="2000" b="1" i="0">
                <a:solidFill>
                  <a:srgbClr val="117864"/>
                </a:solidFill>
                <a:latin typeface="Segoe UI"/>
              </a:rPr>
              <a:t>bridge ID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: a 4-bit priority, plus a 12-bit extended system ID carrying the VLAN number, plus its MAC address. The switch with the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lowest bridge ID wins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and becomes the </a:t>
            </a:r>
            <a:r>
              <a:rPr sz="2000" b="1" i="0">
                <a:solidFill>
                  <a:srgbClr val="117864"/>
                </a:solidFill>
                <a:latin typeface="Segoe UI"/>
              </a:rPr>
              <a:t>root bridge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Default priority is 32768. Because the extended system ID adds the VLAN number, the effective priority in VLAN 10 is 32768+10=32778. Priorities are configured in steps of 4096.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WORKED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Which of these three is the root, in VLAN 10?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12. Rapid PVST+ and the Protection Features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2.5</a:t>
            </a:r>
          </a:p>
        </p:txBody>
      </p:sp>
      <p:sp>
        <p:nvSpPr>
          <p:cNvPr id="7" name="body"/>
          <p:cNvSpPr txBox="1"/>
          <p:nvPr/>
        </p:nvSpPr>
        <p:spPr>
          <a:xfrm>
            <a:off x="685800" y="1517904"/>
            <a:ext cx="10820095" cy="486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700" b="0" i="0">
                <a:solidFill>
                  <a:srgbClr val="1C252B"/>
                </a:solidFill>
                <a:latin typeface="Segoe UI"/>
              </a:rPr>
              <a:t>Three switches, all left at defaults: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700" b="0" i="0">
                <a:solidFill>
                  <a:srgbClr val="1C252B"/>
                </a:solidFill>
                <a:latin typeface="Segoe UI"/>
              </a:rPr>
              <a:t>{@{}lll@{}} </a:t>
            </a:r>
            <a:r>
              <a:rPr sz="1600" b="0" i="0">
                <a:solidFill>
                  <a:srgbClr val="1A5276"/>
                </a:solidFill>
                <a:latin typeface="Consolas"/>
              </a:rPr>
              <a:t>SW1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&amp; priority 32768 &amp; MAC </a:t>
            </a:r>
            <a:r>
              <a:rPr sz="1600" b="0" i="0">
                <a:solidFill>
                  <a:srgbClr val="1A5276"/>
                </a:solidFill>
                <a:latin typeface="Consolas"/>
              </a:rPr>
              <a:t>0011.2233.0100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1600" b="0" i="0">
                <a:solidFill>
                  <a:srgbClr val="1A5276"/>
                </a:solidFill>
                <a:latin typeface="Consolas"/>
              </a:rPr>
              <a:t>SW2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&amp; priority 32768 &amp; MAC </a:t>
            </a:r>
            <a:r>
              <a:rPr sz="1600" b="0" i="0">
                <a:solidFill>
                  <a:srgbClr val="1A5276"/>
                </a:solidFill>
                <a:latin typeface="Consolas"/>
              </a:rPr>
              <a:t>0011.2233.0050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1600" b="0" i="0">
                <a:solidFill>
                  <a:srgbClr val="1A5276"/>
                </a:solidFill>
                <a:latin typeface="Consolas"/>
              </a:rPr>
              <a:t>SW3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&amp; priority 32768 &amp; MAC </a:t>
            </a:r>
            <a:r>
              <a:rPr sz="1600" b="0" i="0">
                <a:solidFill>
                  <a:srgbClr val="1A5276"/>
                </a:solidFill>
                <a:latin typeface="Consolas"/>
              </a:rPr>
              <a:t>0011.2233.0200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700" b="1" i="0">
                <a:solidFill>
                  <a:srgbClr val="1C252B"/>
                </a:solidFill>
                <a:latin typeface="Segoe UI"/>
              </a:rPr>
              <a:t>Step 1 — compare priority.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All three are 32768, and all three are in VLAN 10, so all three have the same effective priority of 32768+10 = 32778. No winner yet.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700" b="1" i="0">
                <a:solidFill>
                  <a:srgbClr val="1C252B"/>
                </a:solidFill>
                <a:latin typeface="Segoe UI"/>
              </a:rPr>
              <a:t>Step 2 — the tie-break is the MAC address, and lowest wins.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Compare them left to right, as you would compare words alphabetically. The first eight digits are identical, so the decision comes down to the last four: </a:t>
            </a:r>
            <a:r>
              <a:rPr sz="1600" b="0" i="0">
                <a:solidFill>
                  <a:srgbClr val="1A5276"/>
                </a:solidFill>
                <a:latin typeface="Consolas"/>
              </a:rPr>
              <a:t>0100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1600" b="0" i="0">
                <a:solidFill>
                  <a:srgbClr val="1A5276"/>
                </a:solidFill>
                <a:latin typeface="Consolas"/>
              </a:rPr>
              <a:t>0050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1600" b="0" i="0">
                <a:solidFill>
                  <a:srgbClr val="1A5276"/>
                </a:solidFill>
                <a:latin typeface="Consolas"/>
              </a:rPr>
              <a:t>0200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700" b="0" i="0">
                <a:solidFill>
                  <a:srgbClr val="1C252B"/>
                </a:solidFill>
                <a:latin typeface="Segoe UI"/>
              </a:rPr>
              <a:t>In hex, </a:t>
            </a:r>
            <a:r>
              <a:rPr sz="1600" b="0" i="0">
                <a:solidFill>
                  <a:srgbClr val="1A5276"/>
                </a:solidFill>
                <a:latin typeface="Consolas"/>
              </a:rPr>
              <a:t>0050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is the smallest of the three (Chapter 3 if the hex is not yet automatic — </a:t>
            </a:r>
            <a:r>
              <a:rPr sz="1600" b="0" i="0">
                <a:solidFill>
                  <a:srgbClr val="1A5276"/>
                </a:solidFill>
                <a:latin typeface="Consolas"/>
              </a:rPr>
              <a:t>0050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is 80 in decimal, </a:t>
            </a:r>
            <a:r>
              <a:rPr sz="1600" b="0" i="0">
                <a:solidFill>
                  <a:srgbClr val="1A5276"/>
                </a:solidFill>
                <a:latin typeface="Consolas"/>
              </a:rPr>
              <a:t>0100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is 256).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600" b="1" i="0">
                <a:solidFill>
                  <a:srgbClr val="1A5276"/>
                </a:solidFill>
                <a:latin typeface="Consolas"/>
              </a:rPr>
              <a:t>SW2</a:t>
            </a:r>
            <a:r>
              <a:rPr sz="1700" b="1" i="0">
                <a:solidFill>
                  <a:srgbClr val="1C252B"/>
                </a:solidFill>
                <a:latin typeface="Segoe UI"/>
              </a:rPr>
              <a:t> is the root bridge.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700" b="0" i="0">
                <a:solidFill>
                  <a:srgbClr val="1C252B"/>
                </a:solidFill>
                <a:latin typeface="Segoe UI"/>
              </a:rPr>
              <a:t>Now notice what just happened: </a:t>
            </a:r>
            <a:r>
              <a:rPr sz="1700" b="1" i="0">
                <a:solidFill>
                  <a:srgbClr val="1C252B"/>
                </a:solidFill>
                <a:latin typeface="Segoe UI"/>
              </a:rPr>
              <a:t>nobody chose this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. The winner is whichever switch happens to have the lowest MAC address, which correlates with nothing except manufacturing date. That is the point of the alert below.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WATCH OUT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Left alone, the oldest switch wins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12. Rapid PVST+ and the Protection Features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2.5</a:t>
            </a:r>
          </a:p>
        </p:txBody>
      </p:sp>
      <p:sp>
        <p:nvSpPr>
          <p:cNvPr id="7" name="body"/>
          <p:cNvSpPr txBox="1"/>
          <p:nvPr/>
        </p:nvSpPr>
        <p:spPr>
          <a:xfrm>
            <a:off x="685800" y="2750892"/>
            <a:ext cx="10820095" cy="36316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If every switch keeps the default priority, the election is decided by the lowest MAC address — which usually means the oldest device in the building becomes the root of your network. That is almost never where you want traffic to converge.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Always set the root deliberately.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CONCEPT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Then every port takes a role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12. Rapid PVST+ and the Protection Features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2.5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4132071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ody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Once the root is known:</a:t>
            </a:r>
          </a:p>
        </p:txBody>
      </p:sp>
      <p:sp>
        <p:nvSpPr>
          <p:cNvPr id="9" name="bullets"/>
          <p:cNvSpPr txBox="1"/>
          <p:nvPr/>
        </p:nvSpPr>
        <p:spPr>
          <a:xfrm>
            <a:off x="978408" y="2250440"/>
            <a:ext cx="10234879" cy="4132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Each non-root switch picks its </a:t>
            </a:r>
            <a:r>
              <a:rPr sz="2000" b="1" i="0">
                <a:solidFill>
                  <a:srgbClr val="117864"/>
                </a:solidFill>
                <a:latin typeface="Segoe UI"/>
              </a:rPr>
              <a:t>root port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— the one port with the lowest cumulative path cost to the root. It forwards.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Each segment picks a </a:t>
            </a:r>
            <a:r>
              <a:rPr sz="2000" b="1" i="0">
                <a:solidFill>
                  <a:srgbClr val="117864"/>
                </a:solidFill>
                <a:latin typeface="Segoe UI"/>
              </a:rPr>
              <a:t>designated port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— the port on that segment closest to the root. It forwards.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Everything else becomes an </a:t>
            </a:r>
            <a:r>
              <a:rPr sz="2000" b="1" i="0">
                <a:solidFill>
                  <a:srgbClr val="117864"/>
                </a:solidFill>
                <a:latin typeface="Segoe UI"/>
              </a:rPr>
              <a:t>alternate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(or backup) port and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blocks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 That is the loop being broken.</a:t>
            </a:r>
          </a:p>
        </p:txBody>
      </p:sp>
      <p:sp>
        <p:nvSpPr>
          <p:cNvPr id="10" name="tailbody"/>
          <p:cNvSpPr txBox="1"/>
          <p:nvPr/>
        </p:nvSpPr>
        <p:spPr>
          <a:xfrm>
            <a:off x="978408" y="4954016"/>
            <a:ext cx="10234879" cy="1373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Ties are broken by lowest sender bridge ID, then lowest sender port ID.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CONFIGURE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Rapid PVST+ with a deliberate root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12. Rapid PVST+ and the Protection Features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2.5</a:t>
            </a:r>
          </a:p>
        </p:txBody>
      </p:sp>
      <p:sp>
        <p:nvSpPr>
          <p:cNvPr id="7" name="codebg"/>
          <p:cNvSpPr/>
          <p:nvPr/>
        </p:nvSpPr>
        <p:spPr>
          <a:xfrm>
            <a:off x="685800" y="1901952"/>
            <a:ext cx="10820095" cy="3393440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odebar"/>
          <p:cNvSpPr/>
          <p:nvPr/>
        </p:nvSpPr>
        <p:spPr>
          <a:xfrm>
            <a:off x="685800" y="1901952"/>
            <a:ext cx="10820095" cy="347472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odettl"/>
          <p:cNvSpPr txBox="1"/>
          <p:nvPr/>
        </p:nvSpPr>
        <p:spPr>
          <a:xfrm>
            <a:off x="886968" y="1956816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IOS  ·  configuration mode</a:t>
            </a:r>
          </a:p>
        </p:txBody>
      </p:sp>
      <p:sp>
        <p:nvSpPr>
          <p:cNvPr id="10" name="code"/>
          <p:cNvSpPr txBox="1"/>
          <p:nvPr/>
        </p:nvSpPr>
        <p:spPr>
          <a:xfrm>
            <a:off x="886968" y="2340864"/>
            <a:ext cx="10417759" cy="2899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 Run rapid per-VLAN spanning tree.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spanning-tree mode rapid-pvst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 On the switch that SHOULD be root for these VLANs: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spanning-tree vlan 10,20,30 root primary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 On the switch that should take over if it fails: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   spanning-tree vlan 10,20,30 root secondary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 The macro above simply sets a priority. You can be explicit: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   spanning-tree vlan 10 priority 4096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VERIFY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show spanning-tree vlan 10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12. Rapid PVST+ and the Protection Features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2.5</a:t>
            </a:r>
          </a:p>
        </p:txBody>
      </p:sp>
      <p:sp>
        <p:nvSpPr>
          <p:cNvPr id="7" name="codebg"/>
          <p:cNvSpPr/>
          <p:nvPr/>
        </p:nvSpPr>
        <p:spPr>
          <a:xfrm>
            <a:off x="685800" y="1775420"/>
            <a:ext cx="10820095" cy="4149343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odebar"/>
          <p:cNvSpPr/>
          <p:nvPr/>
        </p:nvSpPr>
        <p:spPr>
          <a:xfrm>
            <a:off x="685800" y="1775420"/>
            <a:ext cx="10820095" cy="347472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odettl"/>
          <p:cNvSpPr txBox="1"/>
          <p:nvPr/>
        </p:nvSpPr>
        <p:spPr>
          <a:xfrm>
            <a:off x="886968" y="1830284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SW1#</a:t>
            </a:r>
          </a:p>
        </p:txBody>
      </p:sp>
      <p:sp>
        <p:nvSpPr>
          <p:cNvPr id="10" name="code"/>
          <p:cNvSpPr txBox="1"/>
          <p:nvPr/>
        </p:nvSpPr>
        <p:spPr>
          <a:xfrm>
            <a:off x="886968" y="2214332"/>
            <a:ext cx="10417759" cy="365556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VLAN0010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 Spanning tree enabled protocol rstp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 Root ID    Priority    4106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            Address     00d0.58a1.0200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            This bridge is the root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            Hello Time  2 sec  Max Age 20 sec  Forward Delay 15 sec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 Bridge ID  Priority    4106   (priority 4096 sys-id-ext 10)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            Address     00d0.58a1.0200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Interface           Role Sts Cost      Prio.Nbr Type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------------------- ---- --- --------- -------- --------------------------------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Gi0/1               Desg FWD 4         128.1    P2p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Gi0/2               Desg FWD 4         128.2    P2p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VERIFY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show spanning-tree vlan 10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12. Rapid PVST+ and the Protection Features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2.5</a:t>
            </a:r>
          </a:p>
        </p:txBody>
      </p:sp>
      <p:sp>
        <p:nvSpPr>
          <p:cNvPr id="7" name="codebg"/>
          <p:cNvSpPr/>
          <p:nvPr/>
        </p:nvSpPr>
        <p:spPr>
          <a:xfrm>
            <a:off x="685800" y="1901952"/>
            <a:ext cx="10820095" cy="3393440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odebar"/>
          <p:cNvSpPr/>
          <p:nvPr/>
        </p:nvSpPr>
        <p:spPr>
          <a:xfrm>
            <a:off x="685800" y="1901952"/>
            <a:ext cx="10820095" cy="347472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odettl"/>
          <p:cNvSpPr txBox="1"/>
          <p:nvPr/>
        </p:nvSpPr>
        <p:spPr>
          <a:xfrm>
            <a:off x="886968" y="1956816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SW2#</a:t>
            </a:r>
          </a:p>
        </p:txBody>
      </p:sp>
      <p:sp>
        <p:nvSpPr>
          <p:cNvPr id="10" name="code"/>
          <p:cNvSpPr txBox="1"/>
          <p:nvPr/>
        </p:nvSpPr>
        <p:spPr>
          <a:xfrm>
            <a:off x="886968" y="2340864"/>
            <a:ext cx="10417759" cy="2899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VLAN0010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 Spanning tree enabled protocol rstp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 Root ID    Priority    4106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            Address     00d0.58a1.0200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            Cost        4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            Port        1 (GigabitEthernet0/1)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Interface           Role Sts Cost      Prio.Nbr Type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------------------- ---- --- --------- -------- --------------------------------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Gi0/1               Root FWD 4         128.1    P2p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Gi0/2               Altn BLK 4         128.2    P2p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WATCH OUT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PortFast and BPDU guard belong together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12. Rapid PVST+ and the Protection Features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2.5</a:t>
            </a:r>
          </a:p>
        </p:txBody>
      </p:sp>
      <p:sp>
        <p:nvSpPr>
          <p:cNvPr id="7" name="body"/>
          <p:cNvSpPr txBox="1"/>
          <p:nvPr/>
        </p:nvSpPr>
        <p:spPr>
          <a:xfrm>
            <a:off x="685800" y="2750892"/>
            <a:ext cx="10820095" cy="36316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PortFast on its own is a loop waiting to happen: it tells a port to forward immediately, so if somebody plugs a switch into it the loop is live before spanning tree can react. BPDU guard is the safety catch — the instant a BPDU arrives, the port is shut. Configure them as a pair, always.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CONFIGURE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Protection, per port and globally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12. Rapid PVST+ and the Protection Features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2.5</a:t>
            </a:r>
          </a:p>
        </p:txBody>
      </p:sp>
      <p:sp>
        <p:nvSpPr>
          <p:cNvPr id="7" name="codebg"/>
          <p:cNvSpPr/>
          <p:nvPr/>
        </p:nvSpPr>
        <p:spPr>
          <a:xfrm>
            <a:off x="685800" y="1517904"/>
            <a:ext cx="10820095" cy="4590288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odebar"/>
          <p:cNvSpPr/>
          <p:nvPr/>
        </p:nvSpPr>
        <p:spPr>
          <a:xfrm>
            <a:off x="685800" y="1517904"/>
            <a:ext cx="10820095" cy="347472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odettl"/>
          <p:cNvSpPr txBox="1"/>
          <p:nvPr/>
        </p:nvSpPr>
        <p:spPr>
          <a:xfrm>
            <a:off x="886968" y="1572768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IOS  ·  configuration mode</a:t>
            </a:r>
          </a:p>
        </p:txBody>
      </p:sp>
      <p:sp>
        <p:nvSpPr>
          <p:cNvPr id="10" name="code"/>
          <p:cNvSpPr txBox="1"/>
          <p:nvPr/>
        </p:nvSpPr>
        <p:spPr>
          <a:xfrm>
            <a:off x="886968" y="1956816"/>
            <a:ext cx="10417759" cy="40965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i="1">
                <a:solidFill>
                  <a:srgbClr val="6E8BA0"/>
                </a:solidFill>
                <a:latin typeface="Consolas"/>
              </a:rPr>
              <a:t>! Per access port.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>
                <a:solidFill>
                  <a:srgbClr val="E8EEF2"/>
                </a:solidFill>
                <a:latin typeface="Consolas"/>
              </a:rPr>
              <a:t>interface range GigabitEthernet0/5 - 20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>
                <a:solidFill>
                  <a:srgbClr val="E8EEF2"/>
                </a:solidFill>
                <a:latin typeface="Consolas"/>
              </a:rPr>
              <a:t> switchport mode access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>
                <a:solidFill>
                  <a:srgbClr val="E8EEF2"/>
                </a:solidFill>
                <a:latin typeface="Consolas"/>
              </a:rPr>
              <a:t> switchport access vlan 10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>
                <a:solidFill>
                  <a:srgbClr val="E8EEF2"/>
                </a:solidFill>
                <a:latin typeface="Consolas"/>
              </a:rPr>
              <a:t> spanning-tree portfast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>
                <a:solidFill>
                  <a:srgbClr val="E8EEF2"/>
                </a:solidFill>
                <a:latin typeface="Consolas"/>
              </a:rPr>
              <a:t> spanning-tree bpduguard enable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i="1">
                <a:solidFill>
                  <a:srgbClr val="6E8BA0"/>
                </a:solidFill>
                <a:latin typeface="Consolas"/>
              </a:rPr>
              <a:t>!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i="1">
                <a:solidFill>
                  <a:srgbClr val="6E8BA0"/>
                </a:solidFill>
                <a:latin typeface="Consolas"/>
              </a:rPr>
              <a:t>! Or globally, which applies to every access port automatically --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i="1">
                <a:solidFill>
                  <a:srgbClr val="6E8BA0"/>
                </a:solidFill>
                <a:latin typeface="Consolas"/>
              </a:rPr>
              <a:t>! far harder to forget on the next port somebody configures.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>
                <a:solidFill>
                  <a:srgbClr val="E8EEF2"/>
                </a:solidFill>
                <a:latin typeface="Consolas"/>
              </a:rPr>
              <a:t>spanning-tree portfast default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>
                <a:solidFill>
                  <a:srgbClr val="E8EEF2"/>
                </a:solidFill>
                <a:latin typeface="Consolas"/>
              </a:rPr>
              <a:t>spanning-tree portfast bpduguard default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i="1">
                <a:solidFill>
                  <a:srgbClr val="6E8BA0"/>
                </a:solidFill>
                <a:latin typeface="Consolas"/>
              </a:rPr>
              <a:t>!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i="1">
                <a:solidFill>
                  <a:srgbClr val="6E8BA0"/>
                </a:solidFill>
                <a:latin typeface="Consolas"/>
              </a:rPr>
              <a:t>! On a trunk facing a downstream switch that must never be root: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>
                <a:solidFill>
                  <a:srgbClr val="E8EEF2"/>
                </a:solidFill>
                <a:latin typeface="Consolas"/>
              </a:rPr>
              <a:t>interface GigabitEthernet0/23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>
                <a:solidFill>
                  <a:srgbClr val="E8EEF2"/>
                </a:solidFill>
                <a:latin typeface="Consolas"/>
              </a:rPr>
              <a:t> spanning-tree guard root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i="1">
                <a:solidFill>
                  <a:srgbClr val="6E8BA0"/>
                </a:solidFill>
                <a:latin typeface="Consolas"/>
              </a:rPr>
              <a:t>!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i="1">
                <a:solidFill>
                  <a:srgbClr val="6E8BA0"/>
                </a:solidFill>
                <a:latin typeface="Consolas"/>
              </a:rPr>
              <a:t>! Loop guard, globally on all point-to-point links.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>
                <a:solidFill>
                  <a:srgbClr val="E8EEF2"/>
                </a:solidFill>
                <a:latin typeface="Consolas"/>
              </a:rPr>
              <a:t>spanning-tree loopguard default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VERIFY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show interfaces status err-disabled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12. Rapid PVST+ and the Protection Features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2.5</a:t>
            </a:r>
          </a:p>
        </p:txBody>
      </p:sp>
      <p:sp>
        <p:nvSpPr>
          <p:cNvPr id="7" name="codebg"/>
          <p:cNvSpPr/>
          <p:nvPr/>
        </p:nvSpPr>
        <p:spPr>
          <a:xfrm>
            <a:off x="685800" y="1901952"/>
            <a:ext cx="10820095" cy="1125728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odebar"/>
          <p:cNvSpPr/>
          <p:nvPr/>
        </p:nvSpPr>
        <p:spPr>
          <a:xfrm>
            <a:off x="685800" y="1901952"/>
            <a:ext cx="10820095" cy="347472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odettl"/>
          <p:cNvSpPr txBox="1"/>
          <p:nvPr/>
        </p:nvSpPr>
        <p:spPr>
          <a:xfrm>
            <a:off x="886968" y="1956816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SW1#</a:t>
            </a:r>
          </a:p>
        </p:txBody>
      </p:sp>
      <p:sp>
        <p:nvSpPr>
          <p:cNvPr id="10" name="code"/>
          <p:cNvSpPr txBox="1"/>
          <p:nvPr/>
        </p:nvSpPr>
        <p:spPr>
          <a:xfrm>
            <a:off x="886968" y="2340864"/>
            <a:ext cx="10417759" cy="6319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Port      Name               Status       Reason               Err-disabled Vlans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Gi0/7                        err-disabled bpduguard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CONCEPT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Recovering an errdisabled port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12. Rapid PVST+ and the Protection Features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2.5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2088896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ody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Manually: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shutdown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then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no shutdown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on the interface — after removing whatever caused it. Automatically: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Automatic recovery is a convenience, not a fix. If a rogue switch is still plugged in the port will simply errdisable again every five minutes.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COMMON PITFALLS  ·  The protection features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Common pitfalls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12. Rapid PVST+ and the Protection Features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2.5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1517904"/>
            <a:ext cx="10820095" cy="4864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Leaving the root election to chance.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The oldest switch wins, and your traffic detours through the wiring closet nobody has visited in ten years.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PortFast without BPDU guard.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See above.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PortFast on a trunk to another switch.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It is for edge ports. There is a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portfast trunk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variant for specific cases, but the default answer is no.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Treating a blocking port as broken.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Altn BLK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is spanning tree working.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Forgetting spanning tree is per VLAN.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 change to VLAN 10 does nothing for VLAN 20. Always name the VLANs.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SYMPTOM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12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>After a new switch was added, traffic takes a strange path.</a:t>
            </a:r>
          </a:p>
        </p:txBody>
      </p:sp>
      <p:sp>
        <p:nvSpPr>
          <p:cNvPr id="6" name="bfbody"/>
          <p:cNvSpPr txBox="1"/>
          <p:nvPr/>
        </p:nvSpPr>
        <p:spPr>
          <a:xfrm>
            <a:off x="685800" y="3048762"/>
            <a:ext cx="10820095" cy="33063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An access switch was installed in a spare closet. Since then, throughput between two core switches has halved and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show spanning-tree vlan 10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on the core reports that it is no longer the root.</a:t>
            </a:r>
          </a:p>
        </p:txBody>
      </p:sp>
      <p:sp>
        <p:nvSpPr>
          <p:cNvPr id="7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12. Rapid PVST+ and the Protection Features</a:t>
            </a:r>
          </a:p>
        </p:txBody>
      </p:sp>
      <p:sp>
        <p:nvSpPr>
          <p:cNvPr id="8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2.5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YOUR MOVE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12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>After a new switch was added, traffic takes a strange path.</a:t>
            </a:r>
          </a:p>
        </p:txBody>
      </p:sp>
      <p:sp>
        <p:nvSpPr>
          <p:cNvPr id="6" name="promptbg"/>
          <p:cNvSpPr/>
          <p:nvPr/>
        </p:nvSpPr>
        <p:spPr>
          <a:xfrm>
            <a:off x="685800" y="2939796"/>
            <a:ext cx="10820095" cy="84124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rompt"/>
          <p:cNvSpPr txBox="1"/>
          <p:nvPr/>
        </p:nvSpPr>
        <p:spPr>
          <a:xfrm>
            <a:off x="960120" y="3140964"/>
            <a:ext cx="10271455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1A5276"/>
                </a:solidFill>
                <a:latin typeface="Segoe UI"/>
              </a:rPr>
              <a:t>What would you check first — and what do you expect to see?</a:t>
            </a:r>
          </a:p>
        </p:txBody>
      </p:sp>
      <p:sp>
        <p:nvSpPr>
          <p:cNvPr id="8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12. Rapid PVST+ and the Protection Features</a:t>
            </a:r>
          </a:p>
        </p:txBody>
      </p:sp>
      <p:sp>
        <p:nvSpPr>
          <p:cNvPr id="9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2.5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EVIDENCE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12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>show spanning-tree vlan 10 | include Root ID|Priority|Address</a:t>
            </a:r>
          </a:p>
        </p:txBody>
      </p:sp>
      <p:sp>
        <p:nvSpPr>
          <p:cNvPr id="6" name="bfcodebg"/>
          <p:cNvSpPr/>
          <p:nvPr/>
        </p:nvSpPr>
        <p:spPr>
          <a:xfrm>
            <a:off x="685800" y="2011680"/>
            <a:ext cx="10820095" cy="1312163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bfcodebar"/>
          <p:cNvSpPr/>
          <p:nvPr/>
        </p:nvSpPr>
        <p:spPr>
          <a:xfrm>
            <a:off x="685800" y="2011680"/>
            <a:ext cx="10820095" cy="329184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fcodettl"/>
          <p:cNvSpPr txBox="1"/>
          <p:nvPr/>
        </p:nvSpPr>
        <p:spPr>
          <a:xfrm>
            <a:off x="886968" y="2057400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CORE1#</a:t>
            </a:r>
          </a:p>
        </p:txBody>
      </p:sp>
      <p:sp>
        <p:nvSpPr>
          <p:cNvPr id="9" name="bfcode"/>
          <p:cNvSpPr txBox="1"/>
          <p:nvPr/>
        </p:nvSpPr>
        <p:spPr>
          <a:xfrm>
            <a:off x="886968" y="2432304"/>
            <a:ext cx="10417759" cy="8366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E8EEF2"/>
                </a:solidFill>
                <a:latin typeface="Consolas"/>
              </a:rPr>
              <a:t>  Root ID    Priority    32778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E8EEF2"/>
                </a:solidFill>
                <a:latin typeface="Consolas"/>
              </a:rPr>
              <a:t>             Address     0011.2233.4455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E8EEF2"/>
                </a:solidFill>
                <a:latin typeface="Consolas"/>
              </a:rPr>
              <a:t>             Cost        19</a:t>
            </a:r>
          </a:p>
        </p:txBody>
      </p:sp>
      <p:sp>
        <p:nvSpPr>
          <p:cNvPr id="10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12. Rapid PVST+ and the Protection Features</a:t>
            </a:r>
          </a:p>
        </p:txBody>
      </p:sp>
      <p:sp>
        <p:nvSpPr>
          <p:cNvPr id="11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2.5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YOUR MOVE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12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/>
            </a:r>
          </a:p>
        </p:txBody>
      </p:sp>
      <p:sp>
        <p:nvSpPr>
          <p:cNvPr id="6" name="promptbg"/>
          <p:cNvSpPr/>
          <p:nvPr/>
        </p:nvSpPr>
        <p:spPr>
          <a:xfrm>
            <a:off x="685800" y="2939796"/>
            <a:ext cx="10820095" cy="84124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rompt"/>
          <p:cNvSpPr txBox="1"/>
          <p:nvPr/>
        </p:nvSpPr>
        <p:spPr>
          <a:xfrm>
            <a:off x="960120" y="3140964"/>
            <a:ext cx="10271455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1A5276"/>
                </a:solidFill>
                <a:latin typeface="Segoe UI"/>
              </a:rPr>
              <a:t>What is the fault — and what does this output rule out?</a:t>
            </a:r>
          </a:p>
        </p:txBody>
      </p:sp>
      <p:sp>
        <p:nvSpPr>
          <p:cNvPr id="8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12. Rapid PVST+ and the Protection Features</a:t>
            </a:r>
          </a:p>
        </p:txBody>
      </p:sp>
      <p:sp>
        <p:nvSpPr>
          <p:cNvPr id="9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2.5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DIAGNOSIS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12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>Why it is doing that</a:t>
            </a:r>
          </a:p>
        </p:txBody>
      </p:sp>
      <p:sp>
        <p:nvSpPr>
          <p:cNvPr id="6" name="bfbody"/>
          <p:cNvSpPr txBox="1"/>
          <p:nvPr/>
        </p:nvSpPr>
        <p:spPr>
          <a:xfrm>
            <a:off x="685800" y="2807462"/>
            <a:ext cx="10820095" cy="35476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1" i="0">
                <a:solidFill>
                  <a:srgbClr val="1C252B"/>
                </a:solidFill>
                <a:latin typeface="Segoe UI"/>
              </a:rPr>
              <a:t>Diagnosis.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The root’s priority is 32778 — the default of 32768+10 — and the MAC address is not the core’s. The new access switch shipped with default priority and a lower MAC address than the core, so it won the election. Every VLAN’s traffic now converges on a small access switch connected by a 100 Mbps link, which is where the cost of 19 comes from and why throughput halved.</a:t>
            </a:r>
          </a:p>
        </p:txBody>
      </p:sp>
      <p:sp>
        <p:nvSpPr>
          <p:cNvPr id="7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12. Rapid PVST+ and the Protection Features</a:t>
            </a:r>
          </a:p>
        </p:txBody>
      </p:sp>
      <p:sp>
        <p:nvSpPr>
          <p:cNvPr id="8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2.5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THE FIX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12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>And the lesson</a:t>
            </a:r>
          </a:p>
        </p:txBody>
      </p:sp>
      <p:sp>
        <p:nvSpPr>
          <p:cNvPr id="6" name="bfbody"/>
          <p:cNvSpPr txBox="1"/>
          <p:nvPr/>
        </p:nvSpPr>
        <p:spPr>
          <a:xfrm>
            <a:off x="685800" y="2928111"/>
            <a:ext cx="10820095" cy="3426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1" i="0">
                <a:solidFill>
                  <a:srgbClr val="1C252B"/>
                </a:solidFill>
                <a:latin typeface="Segoe UI"/>
              </a:rPr>
              <a:t>Fix.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Two steps, and do both. Set the intended root explicitly on the core: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spanning-tree vlan 10,20,30 root primary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and the secondary on the other core switch. Then stop it happening again: apply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spanning-tree guard root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on the core ports facing access switches, so a switch advertising a superior BPDU is ignored rather than obeyed.</a:t>
            </a:r>
          </a:p>
        </p:txBody>
      </p:sp>
      <p:sp>
        <p:nvSpPr>
          <p:cNvPr id="7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12. Rapid PVST+ and the Protection Features</a:t>
            </a:r>
          </a:p>
        </p:txBody>
      </p:sp>
      <p:sp>
        <p:nvSpPr>
          <p:cNvPr id="8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2.5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LAB · PACKET TRACER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Steer the tree, then protect it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12. Rapid PVST+ and the Protection Features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2.5</a:t>
            </a:r>
          </a:p>
        </p:txBody>
      </p:sp>
      <p:sp>
        <p:nvSpPr>
          <p:cNvPr id="7" name="body"/>
          <p:cNvSpPr txBox="1"/>
          <p:nvPr/>
        </p:nvSpPr>
        <p:spPr>
          <a:xfrm>
            <a:off x="685800" y="1517904"/>
            <a:ext cx="10820095" cy="486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1" i="0">
                <a:solidFill>
                  <a:srgbClr val="1C252B"/>
                </a:solidFill>
                <a:latin typeface="Segoe UI"/>
              </a:rPr>
              <a:t>Topology.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Three switches cabled in a triangle — deliberately looped — with PCs on two of them.</a:t>
            </a:r>
          </a:p>
        </p:txBody>
      </p:sp>
      <p:sp>
        <p:nvSpPr>
          <p:cNvPr id="8" name="bullets"/>
          <p:cNvSpPr txBox="1"/>
          <p:nvPr/>
        </p:nvSpPr>
        <p:spPr>
          <a:xfrm>
            <a:off x="685800" y="2328164"/>
            <a:ext cx="10820095" cy="40543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66776" indent="-366776">
              <a:lnSpc>
                <a:spcPct val="102000"/>
              </a:lnSpc>
              <a:spcAft>
                <a:spcPts val="900"/>
              </a:spcAft>
            </a:pPr>
            <a:r>
              <a:rPr sz="1900" b="1">
                <a:solidFill>
                  <a:srgbClr val="117864"/>
                </a:solidFill>
                <a:latin typeface="Segoe UI"/>
              </a:rPr>
              <a:t>1.  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Cable the triangle with no spanning tree changes. Identify the root from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show spanning-tree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and explain </a:t>
            </a:r>
            <a:r>
              <a:rPr sz="1900" b="0" i="1">
                <a:solidFill>
                  <a:srgbClr val="1C252B"/>
                </a:solidFill>
                <a:latin typeface="Segoe UI"/>
              </a:rPr>
              <a:t>why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that switch won.</a:t>
            </a:r>
          </a:p>
          <a:p>
            <a:pPr marL="366776" indent="-366776">
              <a:lnSpc>
                <a:spcPct val="102000"/>
              </a:lnSpc>
              <a:spcAft>
                <a:spcPts val="900"/>
              </a:spcAft>
            </a:pPr>
            <a:r>
              <a:rPr sz="1900" b="1">
                <a:solidFill>
                  <a:srgbClr val="117864"/>
                </a:solidFill>
                <a:latin typeface="Segoe UI"/>
              </a:rPr>
              <a:t>2.  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Record which port on which switch is blocking.</a:t>
            </a:r>
          </a:p>
          <a:p>
            <a:pPr marL="366776" indent="-366776">
              <a:lnSpc>
                <a:spcPct val="102000"/>
              </a:lnSpc>
              <a:spcAft>
                <a:spcPts val="900"/>
              </a:spcAft>
            </a:pPr>
            <a:r>
              <a:rPr sz="1900" b="1">
                <a:solidFill>
                  <a:srgbClr val="117864"/>
                </a:solidFill>
                <a:latin typeface="Segoe UI"/>
              </a:rPr>
              <a:t>3.  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Set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SW1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as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root primary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SW2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as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root secondary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for VLAN 1. Re-check and record what moved.</a:t>
            </a:r>
          </a:p>
          <a:p>
            <a:pPr marL="366776" indent="-366776">
              <a:lnSpc>
                <a:spcPct val="102000"/>
              </a:lnSpc>
              <a:spcAft>
                <a:spcPts val="900"/>
              </a:spcAft>
            </a:pPr>
            <a:r>
              <a:rPr sz="1900" b="1">
                <a:solidFill>
                  <a:srgbClr val="117864"/>
                </a:solidFill>
                <a:latin typeface="Segoe UI"/>
              </a:rPr>
              <a:t>4.  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Disconnect the link between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SW1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SW3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Time how long traffic takes to recover and note which port changed role.</a:t>
            </a:r>
          </a:p>
          <a:p>
            <a:pPr marL="366776" indent="-366776">
              <a:lnSpc>
                <a:spcPct val="102000"/>
              </a:lnSpc>
              <a:spcAft>
                <a:spcPts val="900"/>
              </a:spcAft>
            </a:pPr>
            <a:r>
              <a:rPr sz="1900" b="1">
                <a:solidFill>
                  <a:srgbClr val="117864"/>
                </a:solidFill>
                <a:latin typeface="Segoe UI"/>
              </a:rPr>
              <a:t>5.  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Enable PortFast and BPDU guard on an access port, then plug a switch into it. Record the log message and the port status, then recover the port.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LAB · PACKET TRACER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Steer the tree, then protect it (continued)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12. Rapid PVST+ and the Protection Features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2.5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2718235"/>
            <a:ext cx="10820095" cy="36642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1.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Enable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spanning-tree guard root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on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SW1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’s port to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SW3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then try to make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SW3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root by lowering its priority. Record what happens instead.</a:t>
            </a:r>
          </a:p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2.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Extension.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Time how long the network takes to recover from a link failure under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spanning-tree mode pvst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then repeat under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rapid-pvst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and compare the two figures.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q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qlab"/>
          <p:cNvSpPr txBox="1"/>
          <p:nvPr/>
        </p:nvSpPr>
        <p:spPr>
          <a:xfrm>
            <a:off x="685800" y="118872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9FC5E8"/>
                </a:solidFill>
                <a:latin typeface="Segoe UI"/>
              </a:rPr>
              <a:t>CHECKPOINT  1 of 3</a:t>
            </a:r>
          </a:p>
        </p:txBody>
      </p:sp>
      <p:sp>
        <p:nvSpPr>
          <p:cNvPr id="4" name="qtext"/>
          <p:cNvSpPr txBox="1"/>
          <p:nvPr/>
        </p:nvSpPr>
        <p:spPr>
          <a:xfrm>
            <a:off x="685800" y="1783080"/>
            <a:ext cx="10820095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0" i="0">
                <a:solidFill>
                  <a:srgbClr val="FFFFFF"/>
                </a:solidFill>
                <a:latin typeface="Segoe UI"/>
              </a:rPr>
              <a:t>Three switches have default priorities and MAC addresses ending </a:t>
            </a:r>
            <a:r>
              <a:rPr sz="2900" b="0" i="0">
                <a:solidFill>
                  <a:srgbClr val="FFFFFF"/>
                </a:solidFill>
                <a:latin typeface="Consolas"/>
              </a:rPr>
              <a:t>...0100</a:t>
            </a:r>
            <a:r>
              <a:rPr sz="3000" b="0" i="0">
                <a:solidFill>
                  <a:srgbClr val="FFFFFF"/>
                </a:solidFill>
                <a:latin typeface="Segoe UI"/>
              </a:rPr>
              <a:t>, </a:t>
            </a:r>
            <a:r>
              <a:rPr sz="2900" b="0" i="0">
                <a:solidFill>
                  <a:srgbClr val="FFFFFF"/>
                </a:solidFill>
                <a:latin typeface="Consolas"/>
              </a:rPr>
              <a:t>...0050</a:t>
            </a:r>
            <a:r>
              <a:rPr sz="3000" b="0" i="0">
                <a:solidFill>
                  <a:srgbClr val="FFFFFF"/>
                </a:solidFill>
                <a:latin typeface="Segoe UI"/>
              </a:rPr>
              <a:t> and </a:t>
            </a:r>
            <a:r>
              <a:rPr sz="2900" b="0" i="0">
                <a:solidFill>
                  <a:srgbClr val="FFFFFF"/>
                </a:solidFill>
                <a:latin typeface="Consolas"/>
              </a:rPr>
              <a:t>...0200</a:t>
            </a:r>
            <a:r>
              <a:rPr sz="3000" b="0" i="0">
                <a:solidFill>
                  <a:srgbClr val="FFFFFF"/>
                </a:solidFill>
                <a:latin typeface="Segoe UI"/>
              </a:rPr>
              <a:t>. Which is root, and why?</a:t>
            </a:r>
          </a:p>
        </p:txBody>
      </p:sp>
      <p:sp>
        <p:nvSpPr>
          <p:cNvPr id="5" name="qhint"/>
          <p:cNvSpPr txBox="1"/>
          <p:nvPr/>
        </p:nvSpPr>
        <p:spPr>
          <a:xfrm>
            <a:off x="685800" y="539496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7FA8C9"/>
                </a:solidFill>
                <a:latin typeface="Segoe UI"/>
              </a:rPr>
              <a:t>Discuss · then advance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ANSWER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Checkpoint 1 of 3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12. Rapid PVST+ and the Protection Features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2.5</a:t>
            </a:r>
          </a:p>
        </p:txBody>
      </p:sp>
      <p:sp>
        <p:nvSpPr>
          <p:cNvPr id="7" name="qtext"/>
          <p:cNvSpPr txBox="1"/>
          <p:nvPr/>
        </p:nvSpPr>
        <p:spPr>
          <a:xfrm>
            <a:off x="685800" y="1517904"/>
            <a:ext cx="108200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1A5276"/>
                </a:solidFill>
                <a:latin typeface="Segoe UI"/>
              </a:rPr>
              <a:t>Three switches have default priorities and MAC addresses ending </a:t>
            </a:r>
            <a:r>
              <a:rPr sz="1900" b="1" i="0">
                <a:solidFill>
                  <a:srgbClr val="1A5276"/>
                </a:solidFill>
                <a:latin typeface="Consolas"/>
              </a:rPr>
              <a:t>...0100</a:t>
            </a:r>
            <a:r>
              <a:rPr sz="2000" b="1" i="0">
                <a:solidFill>
                  <a:srgbClr val="1A5276"/>
                </a:solidFill>
                <a:latin typeface="Segoe UI"/>
              </a:rPr>
              <a:t>, </a:t>
            </a:r>
            <a:r>
              <a:rPr sz="1900" b="1" i="0">
                <a:solidFill>
                  <a:srgbClr val="1A5276"/>
                </a:solidFill>
                <a:latin typeface="Consolas"/>
              </a:rPr>
              <a:t>...0050</a:t>
            </a:r>
            <a:r>
              <a:rPr sz="2000" b="1" i="0">
                <a:solidFill>
                  <a:srgbClr val="1A5276"/>
                </a:solidFill>
                <a:latin typeface="Segoe UI"/>
              </a:rPr>
              <a:t> and </a:t>
            </a:r>
            <a:r>
              <a:rPr sz="1900" b="1" i="0">
                <a:solidFill>
                  <a:srgbClr val="1A5276"/>
                </a:solidFill>
                <a:latin typeface="Consolas"/>
              </a:rPr>
              <a:t>...0200</a:t>
            </a:r>
            <a:r>
              <a:rPr sz="2000" b="1" i="0">
                <a:solidFill>
                  <a:srgbClr val="1A5276"/>
                </a:solidFill>
                <a:latin typeface="Segoe UI"/>
              </a:rPr>
              <a:t>. Which is root, and why?</a:t>
            </a:r>
          </a:p>
        </p:txBody>
      </p:sp>
      <p:sp>
        <p:nvSpPr>
          <p:cNvPr id="8" name="abar"/>
          <p:cNvSpPr/>
          <p:nvPr/>
        </p:nvSpPr>
        <p:spPr>
          <a:xfrm>
            <a:off x="685800" y="2511044"/>
            <a:ext cx="41148" cy="828548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atext"/>
          <p:cNvSpPr txBox="1"/>
          <p:nvPr/>
        </p:nvSpPr>
        <p:spPr>
          <a:xfrm>
            <a:off x="941832" y="2511044"/>
            <a:ext cx="10564063" cy="37800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The one ending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...0050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With equal priorities the lowest MAC address wins the tie-break, and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0050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is numerically lowest.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q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qlab"/>
          <p:cNvSpPr txBox="1"/>
          <p:nvPr/>
        </p:nvSpPr>
        <p:spPr>
          <a:xfrm>
            <a:off x="685800" y="118872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9FC5E8"/>
                </a:solidFill>
                <a:latin typeface="Segoe UI"/>
              </a:rPr>
              <a:t>CHECKPOINT  2 of 3</a:t>
            </a:r>
          </a:p>
        </p:txBody>
      </p:sp>
      <p:sp>
        <p:nvSpPr>
          <p:cNvPr id="4" name="qtext"/>
          <p:cNvSpPr txBox="1"/>
          <p:nvPr/>
        </p:nvSpPr>
        <p:spPr>
          <a:xfrm>
            <a:off x="685800" y="1783080"/>
            <a:ext cx="10820095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0" i="0">
                <a:solidFill>
                  <a:srgbClr val="FFFFFF"/>
                </a:solidFill>
                <a:latin typeface="Segoe UI"/>
              </a:rPr>
              <a:t>A port shows </a:t>
            </a:r>
            <a:r>
              <a:rPr sz="2900" b="0" i="0">
                <a:solidFill>
                  <a:srgbClr val="FFFFFF"/>
                </a:solidFill>
                <a:latin typeface="Consolas"/>
              </a:rPr>
              <a:t>Altn BLK</a:t>
            </a:r>
            <a:r>
              <a:rPr sz="3000" b="0" i="0">
                <a:solidFill>
                  <a:srgbClr val="FFFFFF"/>
                </a:solidFill>
                <a:latin typeface="Segoe UI"/>
              </a:rPr>
              <a:t>. Is this a fault? Justify your answer.</a:t>
            </a:r>
          </a:p>
        </p:txBody>
      </p:sp>
      <p:sp>
        <p:nvSpPr>
          <p:cNvPr id="5" name="qhint"/>
          <p:cNvSpPr txBox="1"/>
          <p:nvPr/>
        </p:nvSpPr>
        <p:spPr>
          <a:xfrm>
            <a:off x="685800" y="539496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7FA8C9"/>
                </a:solidFill>
                <a:latin typeface="Segoe UI"/>
              </a:rPr>
              <a:t>Discuss · then advance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ANSWER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Checkpoint 2 of 3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12. Rapid PVST+ and the Protection Features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2.5</a:t>
            </a:r>
          </a:p>
        </p:txBody>
      </p:sp>
      <p:sp>
        <p:nvSpPr>
          <p:cNvPr id="7" name="qtext"/>
          <p:cNvSpPr txBox="1"/>
          <p:nvPr/>
        </p:nvSpPr>
        <p:spPr>
          <a:xfrm>
            <a:off x="685800" y="1517904"/>
            <a:ext cx="108200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1A5276"/>
                </a:solidFill>
                <a:latin typeface="Segoe UI"/>
              </a:rPr>
              <a:t>A port shows </a:t>
            </a:r>
            <a:r>
              <a:rPr sz="1900" b="1" i="0">
                <a:solidFill>
                  <a:srgbClr val="1A5276"/>
                </a:solidFill>
                <a:latin typeface="Consolas"/>
              </a:rPr>
              <a:t>Altn BLK</a:t>
            </a:r>
            <a:r>
              <a:rPr sz="2000" b="1" i="0">
                <a:solidFill>
                  <a:srgbClr val="1A5276"/>
                </a:solidFill>
                <a:latin typeface="Segoe UI"/>
              </a:rPr>
              <a:t>. Is this a fault? Justify your answer.</a:t>
            </a:r>
          </a:p>
        </p:txBody>
      </p:sp>
      <p:sp>
        <p:nvSpPr>
          <p:cNvPr id="8" name="abar"/>
          <p:cNvSpPr/>
          <p:nvPr/>
        </p:nvSpPr>
        <p:spPr>
          <a:xfrm>
            <a:off x="685800" y="2197354"/>
            <a:ext cx="41148" cy="828548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atext"/>
          <p:cNvSpPr txBox="1"/>
          <p:nvPr/>
        </p:nvSpPr>
        <p:spPr>
          <a:xfrm>
            <a:off x="941832" y="2197354"/>
            <a:ext cx="10564063" cy="40937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No, it is correct and necessary. An alternate port blocking is spanning tree doing exactly its job — it has found a redundant path and is keeping it available without creating a loop.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q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qlab"/>
          <p:cNvSpPr txBox="1"/>
          <p:nvPr/>
        </p:nvSpPr>
        <p:spPr>
          <a:xfrm>
            <a:off x="685800" y="118872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9FC5E8"/>
                </a:solidFill>
                <a:latin typeface="Segoe UI"/>
              </a:rPr>
              <a:t>CHECKPOINT  3 of 3</a:t>
            </a:r>
          </a:p>
        </p:txBody>
      </p:sp>
      <p:sp>
        <p:nvSpPr>
          <p:cNvPr id="4" name="qtext"/>
          <p:cNvSpPr txBox="1"/>
          <p:nvPr/>
        </p:nvSpPr>
        <p:spPr>
          <a:xfrm>
            <a:off x="685800" y="1783080"/>
            <a:ext cx="10820095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0" i="0">
                <a:solidFill>
                  <a:srgbClr val="FFFFFF"/>
                </a:solidFill>
                <a:latin typeface="Segoe UI"/>
              </a:rPr>
              <a:t>Why must PortFast and BPDU guard be configured together?</a:t>
            </a:r>
          </a:p>
        </p:txBody>
      </p:sp>
      <p:sp>
        <p:nvSpPr>
          <p:cNvPr id="5" name="qhint"/>
          <p:cNvSpPr txBox="1"/>
          <p:nvPr/>
        </p:nvSpPr>
        <p:spPr>
          <a:xfrm>
            <a:off x="685800" y="539496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7FA8C9"/>
                </a:solidFill>
                <a:latin typeface="Segoe UI"/>
              </a:rPr>
              <a:t>Discuss · then advance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ANSWER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Checkpoint 3 of 3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12. Rapid PVST+ and the Protection Features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2.5</a:t>
            </a:r>
          </a:p>
        </p:txBody>
      </p:sp>
      <p:sp>
        <p:nvSpPr>
          <p:cNvPr id="7" name="qtext"/>
          <p:cNvSpPr txBox="1"/>
          <p:nvPr/>
        </p:nvSpPr>
        <p:spPr>
          <a:xfrm>
            <a:off x="685800" y="1517904"/>
            <a:ext cx="108200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1A5276"/>
                </a:solidFill>
                <a:latin typeface="Segoe UI"/>
              </a:rPr>
              <a:t>Why must PortFast and BPDU guard be configured together?</a:t>
            </a:r>
          </a:p>
        </p:txBody>
      </p:sp>
      <p:sp>
        <p:nvSpPr>
          <p:cNvPr id="8" name="abar"/>
          <p:cNvSpPr/>
          <p:nvPr/>
        </p:nvSpPr>
        <p:spPr>
          <a:xfrm>
            <a:off x="685800" y="2197354"/>
            <a:ext cx="41148" cy="1455928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atext"/>
          <p:cNvSpPr txBox="1"/>
          <p:nvPr/>
        </p:nvSpPr>
        <p:spPr>
          <a:xfrm>
            <a:off x="941832" y="2197354"/>
            <a:ext cx="10564063" cy="40937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Because PortFast removes the delay that would otherwise let spanning tree detect a loop before the port forwards. If somebody plugs a switch into that port, a loop forms immediately. BPDU guard restores the safety by err-disabling the port the instant a BPDU appears — which is the only thing that should never arrive on an access port.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CHAPTER SUMMARY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What to take away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12. Rapid PVST+ and the Protection Features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2.5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1517904"/>
            <a:ext cx="10820095" cy="4864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An Ethernet frame has no TTL, so a layer 2 loop never self-clears. A broadcast storm takes the network down in seconds.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Lowest bridge ID becomes root; bridge ID is priority plus VLAN plus MAC. Set it deliberately or the oldest switch wins.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Root port per switch, designated port per segment, everything else blocks.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Rapid PVST+ runs one rapid instance per VLAN. Configure it, and remember every command is per VLAN.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PortFast with BPDU guard on access ports; root guard facing downstream switches; loop guard on trunks. Errdisable is recovered by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shutdown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/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no shutdown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after removing the cause.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7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ltitle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Where we got to</a:t>
            </a:r>
          </a:p>
        </p:txBody>
      </p:sp>
      <p:sp>
        <p:nvSpPr>
          <p:cNvPr id="4" name="cltakeaways"/>
          <p:cNvSpPr txBox="1"/>
          <p:nvPr/>
        </p:nvSpPr>
        <p:spPr>
          <a:xfrm>
            <a:off x="685800" y="2011680"/>
            <a:ext cx="1082009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7169" indent="-217169">
              <a:spcAft>
                <a:spcPts val="900"/>
              </a:spcAft>
            </a:pPr>
            <a:r>
              <a:rPr sz="1900">
                <a:solidFill>
                  <a:srgbClr val="C8D6E5"/>
                </a:solidFill>
              </a:rPr>
              <a:t>•  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An Ethernet frame has no TTL, so a layer 2 loop never self-clears. A broadcast storm takes the network down in seconds.</a:t>
            </a:r>
          </a:p>
          <a:p>
            <a:pPr marL="217169" indent="-217169">
              <a:spcAft>
                <a:spcPts val="900"/>
              </a:spcAft>
            </a:pPr>
            <a:r>
              <a:rPr sz="1900">
                <a:solidFill>
                  <a:srgbClr val="C8D6E5"/>
                </a:solidFill>
              </a:rPr>
              <a:t>•  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Lowest bridge ID becomes root; bridge ID is priority plus VLAN plus MAC. Set it deliberately or the oldest switch wins.</a:t>
            </a:r>
          </a:p>
          <a:p>
            <a:pPr marL="217169" indent="-217169">
              <a:spcAft>
                <a:spcPts val="900"/>
              </a:spcAft>
            </a:pPr>
            <a:r>
              <a:rPr sz="1900">
                <a:solidFill>
                  <a:srgbClr val="C8D6E5"/>
                </a:solidFill>
              </a:rPr>
              <a:t>•  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Root port per switch, designated port per segment, everything else blocks.</a:t>
            </a:r>
          </a:p>
          <a:p>
            <a:pPr marL="217169" indent="-217169">
              <a:spcAft>
                <a:spcPts val="900"/>
              </a:spcAft>
            </a:pPr>
            <a:r>
              <a:rPr sz="1900">
                <a:solidFill>
                  <a:srgbClr val="C8D6E5"/>
                </a:solidFill>
              </a:rPr>
              <a:t>•  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Rapid PVST+ runs one rapid instance per VLAN. Configure it, and remember every command is per VLAN.</a:t>
            </a:r>
          </a:p>
        </p:txBody>
      </p:sp>
      <p:sp>
        <p:nvSpPr>
          <p:cNvPr id="5" name="nextbg"/>
          <p:cNvSpPr/>
          <p:nvPr/>
        </p:nvSpPr>
        <p:spPr>
          <a:xfrm>
            <a:off x="685800" y="5303520"/>
            <a:ext cx="10820095" cy="822960"/>
          </a:xfrm>
          <a:prstGeom prst="rect">
            <a:avLst/>
          </a:prstGeom>
          <a:solidFill>
            <a:srgbClr val="006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nextlab"/>
          <p:cNvSpPr txBox="1"/>
          <p:nvPr/>
        </p:nvSpPr>
        <p:spPr>
          <a:xfrm>
            <a:off x="960120" y="5449824"/>
            <a:ext cx="10271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B8C9DA"/>
                </a:solidFill>
                <a:latin typeface="Segoe UI"/>
              </a:rPr>
              <a:t>NEXT</a:t>
            </a:r>
          </a:p>
        </p:txBody>
      </p:sp>
      <p:sp>
        <p:nvSpPr>
          <p:cNvPr id="7" name="nexttitle"/>
          <p:cNvSpPr txBox="1"/>
          <p:nvPr/>
        </p:nvSpPr>
        <p:spPr>
          <a:xfrm>
            <a:off x="960120" y="5705856"/>
            <a:ext cx="1027145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Chapter 13 — CDP, LLDP and Documenting a Network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