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34: Exam Strategy. Blueprint topics: none.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Strategy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know the question count, but you do know the shape: a majority of short questions and a small number of simulations that cost ten to fifteen minutes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wrong answers on questions candidates knew come from misreading, and the misreadings are predictable. Qualifiers. “BEST”, “MOST likely”, “FIRST”, “LEAST”. More than one option is often defensible; the qualifier picks between them. “What should you check first” has a different answer from “what is the cause”. Negatives. “Which is not true”, “which would fail”. Slow down; these are where a fluent reader loses marks. The count. “Choose two” is an instruction, not a hint. The scenario’s constraints. “Without interrupting existing traffic” or “on IOS XE” is there to eliminate options, and it is usually the whole question — switchport trunk allowed vlan 50 against ... vlan add 50 is exactly this (Chapter 10). Exhibit first or question first? Question first, always. Then read the exhibit for what you now know you need.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VI’s opener has the number that should organise this: 55% of the blueprint asks you to configure, troubleshoot or diagnose, and only 21% asks you to describe. Revision that is re-reading prepares you for the smallest portion of the paper.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Arrive early with the identification the test centre requires; check their rules in advance, and if sitting online, test the machine and the room beforehand. Expect a whiteboard or its digital equivalent. Before the clock matters, consider writing down what you know you forget — the subnet boundary table, the eight syslog severities, the STP port states. Do the first question properly. Settling into a rhythm early is worth more than the two minutes it costs. If a question is genuinely unfamiliar: eliminate, choose, move. You will not think of it later, and later does not exist here. If you finish with time in hand, you cannot revisit anything — so there is nothing to do but finish. Spend the time on the questions in front of you instead of hurrying to that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4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34</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Exam Strategy</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VI — Sitting the Exam</a:t>
            </a:r>
          </a:p>
        </p:txBody>
      </p:sp>
      <p:sp>
        <p:nvSpPr>
          <p:cNvPr id="8"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9"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0"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1"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2"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3"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A5276"/>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A5276"/>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Recognise</a:t>
            </a:r>
            <a:r>
              <a:rPr sz="2000" b="0" i="0">
                <a:solidFill>
                  <a:srgbClr val="1C252B"/>
                </a:solidFill>
                <a:latin typeface="Segoe UI"/>
              </a:rPr>
              <a:t> each question type and know what it demands of you.</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Budget</a:t>
            </a:r>
            <a:r>
              <a:rPr sz="2000" b="0" i="0">
                <a:solidFill>
                  <a:srgbClr val="1C252B"/>
                </a:solidFill>
                <a:latin typeface="Segoe UI"/>
              </a:rPr>
              <a:t> 120 minutes across a paper you cannot navigate backwards through.</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Read</a:t>
            </a:r>
            <a:r>
              <a:rPr sz="2000" b="0" i="0">
                <a:solidFill>
                  <a:srgbClr val="1C252B"/>
                </a:solidFill>
                <a:latin typeface="Segoe UI"/>
              </a:rPr>
              <a:t> a question for its qualifiers before answering it.</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Plan</a:t>
            </a:r>
            <a:r>
              <a:rPr sz="2000" b="0" i="0">
                <a:solidFill>
                  <a:srgbClr val="1C252B"/>
                </a:solidFill>
                <a:latin typeface="Segoe UI"/>
              </a:rPr>
              <a:t> the final month of revision against the verb distribution rather than against the chapter list.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rest of the book. This chapter assumes you have worked the labs; it is about delivering what you know inside two hours.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erm-multiple choice"/>
          <p:cNvSpPr/>
          <p:nvPr/>
        </p:nvSpPr>
        <p:spPr>
          <a:xfrm>
            <a:off x="685800" y="1609344"/>
            <a:ext cx="170281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multiple choice"/>
          <p:cNvSpPr/>
          <p:nvPr/>
        </p:nvSpPr>
        <p:spPr>
          <a:xfrm>
            <a:off x="685800"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multiple choice"/>
          <p:cNvSpPr txBox="1"/>
          <p:nvPr/>
        </p:nvSpPr>
        <p:spPr>
          <a:xfrm>
            <a:off x="850392" y="1700784"/>
            <a:ext cx="137363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multiple choice</a:t>
            </a:r>
          </a:p>
        </p:txBody>
      </p:sp>
      <p:sp>
        <p:nvSpPr>
          <p:cNvPr id="10" name="term-drag and drop"/>
          <p:cNvSpPr/>
          <p:nvPr/>
        </p:nvSpPr>
        <p:spPr>
          <a:xfrm>
            <a:off x="2516631" y="1609344"/>
            <a:ext cx="150571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drag and drop"/>
          <p:cNvSpPr/>
          <p:nvPr/>
        </p:nvSpPr>
        <p:spPr>
          <a:xfrm>
            <a:off x="2516631"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drag and drop"/>
          <p:cNvSpPr txBox="1"/>
          <p:nvPr/>
        </p:nvSpPr>
        <p:spPr>
          <a:xfrm>
            <a:off x="2681223" y="1700784"/>
            <a:ext cx="117652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drag and drop</a:t>
            </a:r>
          </a:p>
        </p:txBody>
      </p:sp>
      <p:sp>
        <p:nvSpPr>
          <p:cNvPr id="13" name="term-simlet"/>
          <p:cNvSpPr/>
          <p:nvPr/>
        </p:nvSpPr>
        <p:spPr>
          <a:xfrm>
            <a:off x="4150359" y="1609344"/>
            <a:ext cx="89814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simlet"/>
          <p:cNvSpPr/>
          <p:nvPr/>
        </p:nvSpPr>
        <p:spPr>
          <a:xfrm>
            <a:off x="4150359"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simlet"/>
          <p:cNvSpPr txBox="1"/>
          <p:nvPr/>
        </p:nvSpPr>
        <p:spPr>
          <a:xfrm>
            <a:off x="4314951" y="1700784"/>
            <a:ext cx="56896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simlet</a:t>
            </a:r>
          </a:p>
        </p:txBody>
      </p:sp>
      <p:sp>
        <p:nvSpPr>
          <p:cNvPr id="16" name="term-simulation"/>
          <p:cNvSpPr/>
          <p:nvPr/>
        </p:nvSpPr>
        <p:spPr>
          <a:xfrm>
            <a:off x="5176519" y="1609344"/>
            <a:ext cx="127000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simulation"/>
          <p:cNvSpPr/>
          <p:nvPr/>
        </p:nvSpPr>
        <p:spPr>
          <a:xfrm>
            <a:off x="5176519"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simulation"/>
          <p:cNvSpPr txBox="1"/>
          <p:nvPr/>
        </p:nvSpPr>
        <p:spPr>
          <a:xfrm>
            <a:off x="5341111" y="1700784"/>
            <a:ext cx="94081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simulation</a:t>
            </a:r>
          </a:p>
        </p:txBody>
      </p:sp>
      <p:sp>
        <p:nvSpPr>
          <p:cNvPr id="19" name="term-qualifier"/>
          <p:cNvSpPr/>
          <p:nvPr/>
        </p:nvSpPr>
        <p:spPr>
          <a:xfrm>
            <a:off x="6574535" y="1609344"/>
            <a:ext cx="104851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qualifier"/>
          <p:cNvSpPr/>
          <p:nvPr/>
        </p:nvSpPr>
        <p:spPr>
          <a:xfrm>
            <a:off x="657453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qualifier"/>
          <p:cNvSpPr txBox="1"/>
          <p:nvPr/>
        </p:nvSpPr>
        <p:spPr>
          <a:xfrm>
            <a:off x="6739127" y="1700784"/>
            <a:ext cx="71932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qualifier</a:t>
            </a:r>
          </a:p>
        </p:txBody>
      </p:sp>
      <p:sp>
        <p:nvSpPr>
          <p:cNvPr id="22" name="term-time budget"/>
          <p:cNvSpPr/>
          <p:nvPr/>
        </p:nvSpPr>
        <p:spPr>
          <a:xfrm>
            <a:off x="7751063" y="1609344"/>
            <a:ext cx="137363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time budget"/>
          <p:cNvSpPr/>
          <p:nvPr/>
        </p:nvSpPr>
        <p:spPr>
          <a:xfrm>
            <a:off x="7751063"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time budget"/>
          <p:cNvSpPr txBox="1"/>
          <p:nvPr/>
        </p:nvSpPr>
        <p:spPr>
          <a:xfrm>
            <a:off x="7915655" y="1700784"/>
            <a:ext cx="104444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time budget</a:t>
            </a:r>
          </a:p>
        </p:txBody>
      </p:sp>
      <p:sp>
        <p:nvSpPr>
          <p:cNvPr id="25" name="term-no back-navigation"/>
          <p:cNvSpPr/>
          <p:nvPr/>
        </p:nvSpPr>
        <p:spPr>
          <a:xfrm>
            <a:off x="9252711" y="1609344"/>
            <a:ext cx="202387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no back-navigation"/>
          <p:cNvSpPr/>
          <p:nvPr/>
        </p:nvSpPr>
        <p:spPr>
          <a:xfrm>
            <a:off x="9252711"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no back-navigation"/>
          <p:cNvSpPr txBox="1"/>
          <p:nvPr/>
        </p:nvSpPr>
        <p:spPr>
          <a:xfrm>
            <a:off x="9417303" y="1700784"/>
            <a:ext cx="169468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no back-navigation</a:t>
            </a:r>
          </a:p>
        </p:txBody>
      </p:sp>
      <p:sp>
        <p:nvSpPr>
          <p:cNvPr id="28" name="termnote"/>
          <p:cNvSpPr txBox="1"/>
          <p:nvPr/>
        </p:nvSpPr>
        <p:spPr>
          <a:xfrm>
            <a:off x="685800" y="2359152"/>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this chapter can and cannot tell you</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120-minute duration and the domain weights come from Cisco’s published exam description and are reliable.</a:t>
            </a:r>
          </a:p>
          <a:p>
            <a:pPr algn="l">
              <a:lnSpc>
                <a:spcPct val="100000"/>
              </a:lnSpc>
              <a:spcAft>
                <a:spcPts val="1000"/>
              </a:spcAft>
            </a:pPr>
            <a:r>
              <a:rPr sz="2000" b="1" i="0">
                <a:solidFill>
                  <a:srgbClr val="1C252B"/>
                </a:solidFill>
                <a:latin typeface="Segoe UI"/>
              </a:rPr>
              <a:t>Cisco does not publish the number of questions, and does not publish a passing score for this exam.</a:t>
            </a:r>
            <a:r>
              <a:rPr sz="2000" b="0" i="0">
                <a:solidFill>
                  <a:srgbClr val="1C252B"/>
                </a:solidFill>
                <a:latin typeface="Segoe UI"/>
              </a:rPr>
              <a:t> Scores are scaled, and the cut score can change between forms. Anyone quoting you an exact question count or an exact percentage is repeating hearsay, and this book will not add to it.</a:t>
            </a:r>
          </a:p>
          <a:p>
            <a:pPr algn="l">
              <a:lnSpc>
                <a:spcPct val="100000"/>
              </a:lnSpc>
              <a:spcAft>
                <a:spcPts val="1000"/>
              </a:spcAft>
            </a:pPr>
            <a:r>
              <a:rPr sz="2000" b="0" i="0">
                <a:solidFill>
                  <a:srgbClr val="1C252B"/>
                </a:solidFill>
                <a:latin typeface="Segoe UI"/>
              </a:rPr>
              <a:t>What follows is therefore built on the facts Cisco does publish plus the arithmetic of a fixed two hours. Before you book, work through Cisco’s own free exam tutorial so that the interface is not new on the day, and re-read the current exam policies — they change, and this chapter does not update itself.</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You cannot go back</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Cisco’s exam engine does not let you return to a question once you have moved past it. There is no review screen, no flag-for-later, no second pass.</a:t>
            </a:r>
          </a:p>
          <a:p>
            <a:pPr algn="l">
              <a:lnSpc>
                <a:spcPct val="100000"/>
              </a:lnSpc>
              <a:spcAft>
                <a:spcPts val="1000"/>
              </a:spcAft>
            </a:pPr>
            <a:r>
              <a:rPr sz="1900" b="0" i="0">
                <a:solidFill>
                  <a:srgbClr val="1C252B"/>
                </a:solidFill>
                <a:latin typeface="Segoe UI"/>
              </a:rPr>
              <a:t>Every habit you built sitting university papers — skim first, do the easy ones, come back to the hard ones — is unavailable. Sitting this exam as though it were a normal paper is the most expensive mistake available to you, and it is entirely avoidable.</a:t>
            </a:r>
          </a:p>
          <a:p>
            <a:pPr algn="l">
              <a:lnSpc>
                <a:spcPct val="100000"/>
              </a:lnSpc>
              <a:spcAft>
                <a:spcPts val="1000"/>
              </a:spcAft>
            </a:pPr>
            <a:r>
              <a:rPr sz="1900" b="0" i="0">
                <a:solidFill>
                  <a:srgbClr val="1C252B"/>
                </a:solidFill>
                <a:latin typeface="Segoe UI"/>
              </a:rPr>
              <a:t>Three consequences follow, and they are the whole of exam strategy here:</a:t>
            </a:r>
          </a:p>
        </p:txBody>
      </p:sp>
      <p:sp>
        <p:nvSpPr>
          <p:cNvPr id="8" name="bullets"/>
          <p:cNvSpPr txBox="1"/>
          <p:nvPr/>
        </p:nvSpPr>
        <p:spPr>
          <a:xfrm>
            <a:off x="685800" y="3765804"/>
            <a:ext cx="10820095" cy="2616708"/>
          </a:xfrm>
          <a:prstGeom prst="rect">
            <a:avLst/>
          </a:prstGeom>
          <a:noFill/>
        </p:spPr>
        <p:txBody>
          <a:bodyPr wrap="square" lIns="0" rIns="0" tIns="0" bIns="0">
            <a:spAutoFit/>
          </a:bodyPr>
          <a:lstStyle/>
          <a:p>
            <a:pPr marL="217169" indent="-217169">
              <a:lnSpc>
                <a:spcPct val="102000"/>
              </a:lnSpc>
              <a:spcAft>
                <a:spcPts val="900"/>
              </a:spcAft>
            </a:pPr>
            <a:r>
              <a:rPr sz="1900" b="1">
                <a:solidFill>
                  <a:srgbClr val="1A5276"/>
                </a:solidFill>
                <a:latin typeface="Segoe UI"/>
              </a:rPr>
              <a:t>•  </a:t>
            </a:r>
            <a:r>
              <a:rPr sz="1900" b="1" i="0">
                <a:solidFill>
                  <a:srgbClr val="1C252B"/>
                </a:solidFill>
                <a:latin typeface="Segoe UI"/>
              </a:rPr>
              <a:t>Every question must be answered when you meet it.</a:t>
            </a:r>
            <a:r>
              <a:rPr sz="1900" b="0" i="0">
                <a:solidFill>
                  <a:srgbClr val="1C252B"/>
                </a:solidFill>
                <a:latin typeface="Segoe UI"/>
              </a:rPr>
              <a:t> Never leave one blank intending to return. You cannot.</a:t>
            </a:r>
          </a:p>
          <a:p>
            <a:pPr marL="217169" indent="-217169">
              <a:lnSpc>
                <a:spcPct val="102000"/>
              </a:lnSpc>
              <a:spcAft>
                <a:spcPts val="900"/>
              </a:spcAft>
            </a:pPr>
            <a:r>
              <a:rPr sz="1900" b="1">
                <a:solidFill>
                  <a:srgbClr val="1A5276"/>
                </a:solidFill>
                <a:latin typeface="Segoe UI"/>
              </a:rPr>
              <a:t>•  </a:t>
            </a:r>
            <a:r>
              <a:rPr sz="1900" b="1" i="0">
                <a:solidFill>
                  <a:srgbClr val="1C252B"/>
                </a:solidFill>
                <a:latin typeface="Segoe UI"/>
              </a:rPr>
              <a:t>Never leave one blank at all.</a:t>
            </a:r>
            <a:r>
              <a:rPr sz="1900" b="0" i="0">
                <a:solidFill>
                  <a:srgbClr val="1C252B"/>
                </a:solidFill>
                <a:latin typeface="Segoe UI"/>
              </a:rPr>
              <a:t> There is no negative marking. An educated guess is worth strictly more than a blank.</a:t>
            </a:r>
          </a:p>
          <a:p>
            <a:pPr marL="217169" indent="-217169">
              <a:lnSpc>
                <a:spcPct val="102000"/>
              </a:lnSpc>
              <a:spcAft>
                <a:spcPts val="900"/>
              </a:spcAft>
            </a:pPr>
            <a:r>
              <a:rPr sz="1900" b="1">
                <a:solidFill>
                  <a:srgbClr val="1A5276"/>
                </a:solidFill>
                <a:latin typeface="Segoe UI"/>
              </a:rPr>
              <a:t>•  </a:t>
            </a:r>
            <a:r>
              <a:rPr sz="1900" b="1" i="0">
                <a:solidFill>
                  <a:srgbClr val="1C252B"/>
                </a:solidFill>
                <a:latin typeface="Segoe UI"/>
              </a:rPr>
              <a:t>A question you dwell on is stealing time from questions you have not seen yet</a:t>
            </a:r>
            <a:r>
              <a:rPr sz="1900" b="0" i="0">
                <a:solidFill>
                  <a:srgbClr val="1C252B"/>
                </a:solidFill>
                <a:latin typeface="Segoe UI"/>
              </a:rPr>
              <a:t>, and you have no way to know what they are worth.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000" b="1" i="0">
                <a:solidFill>
                  <a:srgbClr val="1A5276"/>
                </a:solidFill>
                <a:latin typeface="Segoe UI"/>
              </a:rPr>
              <a:t>The AI-evaluation questions are not confined to domain 5</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A5276"/>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Cisco’s exam description says you “may be required to evaluate output and recommendations from agentic AI and digital network assistants to support network operations and troubleshooting activities.”</a:t>
            </a:r>
          </a:p>
          <a:p>
            <a:pPr algn="l">
              <a:lnSpc>
                <a:spcPct val="100000"/>
              </a:lnSpc>
              <a:spcAft>
                <a:spcPts val="1000"/>
              </a:spcAft>
            </a:pPr>
            <a:r>
              <a:rPr sz="2000" b="0" i="0">
                <a:solidFill>
                  <a:srgbClr val="1C252B"/>
                </a:solidFill>
                <a:latin typeface="Segoe UI"/>
              </a:rPr>
              <a:t>Read that as: a question anywhere in the paper may show you an assistant’s suggested diagnosis or configuration and ask whether it is right. The skill is the one from Chapter 32 — a plausible, fluent, confidently wrong answer is the characteristic failure — combined with the actual technical knowledge to spot it. Treat such output exactly as you would a suggestion from a colleague you do not know: check it against what the exhibit shows.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Simulations: do them properly when you meet them</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486460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1800" b="0" i="0">
                <a:solidFill>
                  <a:srgbClr val="1C252B"/>
                </a:solidFill>
                <a:latin typeface="Segoe UI"/>
              </a:rPr>
              <a:t>Because you cannot come back, a simulation cannot be deferred. Skimping on it to save time is a false economy — it is worth several ordinary questions.</a:t>
            </a:r>
          </a:p>
        </p:txBody>
      </p:sp>
      <p:sp>
        <p:nvSpPr>
          <p:cNvPr id="9" name="bullets"/>
          <p:cNvSpPr txBox="1"/>
          <p:nvPr/>
        </p:nvSpPr>
        <p:spPr>
          <a:xfrm>
            <a:off x="978408" y="2514600"/>
            <a:ext cx="10234879" cy="3867912"/>
          </a:xfrm>
          <a:prstGeom prst="rect">
            <a:avLst/>
          </a:prstGeom>
          <a:noFill/>
        </p:spPr>
        <p:txBody>
          <a:bodyPr wrap="square" lIns="0" rIns="0" tIns="0" bIns="0">
            <a:spAutoFit/>
          </a:bodyPr>
          <a:lstStyle/>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Read the whole task first.</a:t>
            </a:r>
            <a:r>
              <a:rPr sz="1800" b="0" i="0">
                <a:solidFill>
                  <a:srgbClr val="1C252B"/>
                </a:solidFill>
                <a:latin typeface="Segoe UI"/>
              </a:rPr>
              <a:t> All of it. Then plan the commands before typing any.</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Configure exactly what is asked and nothing else.</a:t>
            </a:r>
            <a:r>
              <a:rPr sz="1800" b="0" i="0">
                <a:solidFill>
                  <a:srgbClr val="1C252B"/>
                </a:solidFill>
                <a:latin typeface="Segoe UI"/>
              </a:rPr>
              <a:t> Extra work risks breaking a check.</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Verify with </a:t>
            </a:r>
            <a:r>
              <a:rPr sz="1700" b="1" i="0">
                <a:solidFill>
                  <a:srgbClr val="1A5276"/>
                </a:solidFill>
                <a:latin typeface="Consolas"/>
              </a:rPr>
              <a:t>show</a:t>
            </a:r>
            <a:r>
              <a:rPr sz="1800" b="1" i="0">
                <a:solidFill>
                  <a:srgbClr val="1C252B"/>
                </a:solidFill>
                <a:latin typeface="Segoe UI"/>
              </a:rPr>
              <a:t> before you leave.</a:t>
            </a:r>
            <a:r>
              <a:rPr sz="1800" b="0" i="0">
                <a:solidFill>
                  <a:srgbClr val="1C252B"/>
                </a:solidFill>
                <a:latin typeface="Segoe UI"/>
              </a:rPr>
              <a:t> The habit from every chapter of this book applies here and takes thirty seconds.</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Save the configuration if the task says to</a:t>
            </a:r>
            <a:r>
              <a:rPr sz="1800" b="0" i="0">
                <a:solidFill>
                  <a:srgbClr val="1C252B"/>
                </a:solidFill>
                <a:latin typeface="Segoe UI"/>
              </a:rPr>
              <a:t> — and consider it even when it does not. </a:t>
            </a:r>
            <a:r>
              <a:rPr sz="1700" b="0" i="0">
                <a:solidFill>
                  <a:srgbClr val="1A5276"/>
                </a:solidFill>
                <a:latin typeface="Consolas"/>
              </a:rPr>
              <a:t>copy running-config startup-config</a:t>
            </a:r>
            <a:r>
              <a:rPr sz="1800" b="0" i="0">
                <a:solidFill>
                  <a:srgbClr val="1C252B"/>
                </a:solidFill>
                <a:latin typeface="Segoe UI"/>
              </a:rPr>
              <a:t> costs nothing (Chapter 31 makes the same point about </a:t>
            </a:r>
            <a:r>
              <a:rPr sz="1700" b="0" i="0">
                <a:solidFill>
                  <a:srgbClr val="1A5276"/>
                </a:solidFill>
                <a:latin typeface="Consolas"/>
              </a:rPr>
              <a:t>save_when</a:t>
            </a:r>
            <a:r>
              <a:rPr sz="1800" b="0" i="0">
                <a:solidFill>
                  <a:srgbClr val="1C252B"/>
                </a:solidFill>
                <a:latin typeface="Segoe UI"/>
              </a:rPr>
              <a:t>).</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If you cannot complete it, complete part of it.</a:t>
            </a:r>
            <a:r>
              <a:rPr sz="1800" b="0" i="0">
                <a:solidFill>
                  <a:srgbClr val="1C252B"/>
                </a:solidFill>
                <a:latin typeface="Segoe UI"/>
              </a:rPr>
              <a:t> A partially configured task scores more than an untouched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Answer the question that was asked</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commonest self-inflicted error is answering a slightly different, more interesting question — explaining the cause when asked for the next diagnostic step, or giving the best long-term design when asked what restores service now.</a:t>
            </a:r>
          </a:p>
          <a:p>
            <a:pPr algn="l">
              <a:lnSpc>
                <a:spcPct val="100000"/>
              </a:lnSpc>
              <a:spcAft>
                <a:spcPts val="1000"/>
              </a:spcAft>
            </a:pPr>
            <a:r>
              <a:rPr sz="2000" b="0" i="0">
                <a:solidFill>
                  <a:srgbClr val="1C252B"/>
                </a:solidFill>
                <a:latin typeface="Segoe UI"/>
              </a:rPr>
              <a:t>Before selecting, re-read the interrogative. It takes two seconds.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Subnetting must be automatic, not calculable</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It appears inside other questions — an ACL wildcard, a summary route, whether two addresses are on the same subnet — where it is not the point of the question but stands between you and the answer.</a:t>
            </a:r>
          </a:p>
          <a:p>
            <a:pPr algn="l">
              <a:lnSpc>
                <a:spcPct val="100000"/>
              </a:lnSpc>
              <a:spcAft>
                <a:spcPts val="1000"/>
              </a:spcAft>
            </a:pPr>
            <a:r>
              <a:rPr sz="2000" b="0" i="0">
                <a:solidFill>
                  <a:srgbClr val="1C252B"/>
                </a:solidFill>
                <a:latin typeface="Segoe UI"/>
              </a:rPr>
              <a:t>If you are working it out on paper, it is costing you thirty seconds every time it appears. Drill it until the common masks are recall rather than arithmetic. Appendix app:subnetting exists for this.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On the day</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On the day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Planning to come back to it.</a:t>
            </a:r>
            <a:r>
              <a:rPr sz="2000" b="0" i="0">
                <a:solidFill>
                  <a:srgbClr val="1C252B"/>
                </a:solidFill>
                <a:latin typeface="Segoe UI"/>
              </a:rPr>
              <a:t> You cannot.</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Leaving anything blank.</a:t>
            </a:r>
            <a:r>
              <a:rPr sz="2000" b="0" i="0">
                <a:solidFill>
                  <a:srgbClr val="1C252B"/>
                </a:solidFill>
                <a:latin typeface="Segoe UI"/>
              </a:rPr>
              <a:t> No negative marking.</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Reading the exhibit before the question.</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Missing “choose two”.</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Rushing a simulation</a:t>
            </a:r>
            <a:r>
              <a:rPr sz="2000" b="0" i="0">
                <a:solidFill>
                  <a:srgbClr val="1C252B"/>
                </a:solidFill>
                <a:latin typeface="Segoe UI"/>
              </a:rPr>
              <a:t> to protect time for questions you have not seen.</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Not verifying a simulation</a:t>
            </a:r>
            <a:r>
              <a:rPr sz="2000" b="0" i="0">
                <a:solidFill>
                  <a:srgbClr val="1C252B"/>
                </a:solidFill>
                <a:latin typeface="Segoe UI"/>
              </a:rPr>
              <a:t> with a </a:t>
            </a:r>
            <a:r>
              <a:rPr sz="1900" b="0" i="0">
                <a:solidFill>
                  <a:srgbClr val="1A5276"/>
                </a:solidFill>
                <a:latin typeface="Consolas"/>
              </a:rPr>
              <a:t>show</a:t>
            </a:r>
            <a:r>
              <a:rPr sz="2000" b="0" i="0">
                <a:solidFill>
                  <a:srgbClr val="1C252B"/>
                </a:solidFill>
                <a:latin typeface="Segoe UI"/>
              </a:rPr>
              <a:t> command.</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Revising by re-reading</a:t>
            </a:r>
            <a:r>
              <a:rPr sz="2000" b="0" i="0">
                <a:solidFill>
                  <a:srgbClr val="1C252B"/>
                </a:solidFill>
                <a:latin typeface="Segoe UI"/>
              </a:rPr>
              <a:t> when 55% of the paper is hands-on.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On the day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Learning the interface on the day.</a:t>
            </a:r>
            <a:r>
              <a:rPr sz="2000" b="0" i="0">
                <a:solidFill>
                  <a:srgbClr val="1C252B"/>
                </a:solidFill>
                <a:latin typeface="Segoe UI"/>
              </a:rPr>
              <a:t> Take the tutorial.</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Trusting a quoted pass mark or question count.</a:t>
            </a:r>
            <a:r>
              <a:rPr sz="2000" b="0" i="0">
                <a:solidFill>
                  <a:srgbClr val="1C252B"/>
                </a:solidFill>
                <a:latin typeface="Segoe UI"/>
              </a:rPr>
              <a:t> Cisco publishes neither.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 candidate who knew the material and ran out of time.</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candidate rebuilds every lab in this book, works every Break &amp; Fix, and scores well on practice tests. They fail. Their time log, reconstructed afterwards, looks like this.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 candidate who knew the material and ran out of time.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time log</a:t>
            </a:r>
          </a:p>
        </p:txBody>
      </p:sp>
      <p:sp>
        <p:nvSpPr>
          <p:cNvPr id="6" name="bfcodebg"/>
          <p:cNvSpPr/>
          <p:nvPr/>
        </p:nvSpPr>
        <p:spPr>
          <a:xfrm>
            <a:off x="685800" y="2011680"/>
            <a:ext cx="10820095" cy="24932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Reconstructed#</a:t>
            </a:r>
          </a:p>
        </p:txBody>
      </p:sp>
      <p:sp>
        <p:nvSpPr>
          <p:cNvPr id="9" name="bfcode"/>
          <p:cNvSpPr txBox="1"/>
          <p:nvPr/>
        </p:nvSpPr>
        <p:spPr>
          <a:xfrm>
            <a:off x="886968" y="2432304"/>
            <a:ext cx="10417759" cy="201777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00:00 - 00:34   First 18 questions. Comfortable, roughly 110 sec each.</a:t>
            </a:r>
          </a:p>
          <a:p>
            <a:pPr>
              <a:lnSpc>
                <a:spcPct val="100000"/>
              </a:lnSpc>
              <a:spcAft>
                <a:spcPts val="0"/>
              </a:spcAft>
            </a:pPr>
            <a:r>
              <a:rPr sz="1500">
                <a:solidFill>
                  <a:srgbClr val="E8EEF2"/>
                </a:solidFill>
                <a:latin typeface="Consolas"/>
              </a:rPr>
              <a:t>00:34 - 00:48   One OSPF question. Recognised it, wanted to be sure,</a:t>
            </a:r>
          </a:p>
          <a:p>
            <a:pPr>
              <a:lnSpc>
                <a:spcPct val="100000"/>
              </a:lnSpc>
              <a:spcAft>
                <a:spcPts val="0"/>
              </a:spcAft>
            </a:pPr>
            <a:r>
              <a:rPr sz="1500">
                <a:solidFill>
                  <a:srgbClr val="E8EEF2"/>
                </a:solidFill>
                <a:latin typeface="Consolas"/>
              </a:rPr>
              <a:t>                worked the DR election through on the whiteboard.</a:t>
            </a:r>
          </a:p>
          <a:p>
            <a:pPr>
              <a:lnSpc>
                <a:spcPct val="100000"/>
              </a:lnSpc>
              <a:spcAft>
                <a:spcPts val="0"/>
              </a:spcAft>
            </a:pPr>
            <a:r>
              <a:rPr sz="1500">
                <a:solidFill>
                  <a:srgbClr val="E8EEF2"/>
                </a:solidFill>
                <a:latin typeface="Consolas"/>
              </a:rPr>
              <a:t>00:48 - 01:12   Next 12 questions, hurrying now, roughly 120 sec each.</a:t>
            </a:r>
          </a:p>
          <a:p>
            <a:pPr>
              <a:lnSpc>
                <a:spcPct val="100000"/>
              </a:lnSpc>
              <a:spcAft>
                <a:spcPts val="0"/>
              </a:spcAft>
            </a:pPr>
            <a:r>
              <a:rPr sz="1500">
                <a:solidFill>
                  <a:srgbClr val="E8EEF2"/>
                </a:solidFill>
                <a:latin typeface="Consolas"/>
              </a:rPr>
              <a:t>01:12 - 01:31   First simulation. Completed, not verified.</a:t>
            </a:r>
          </a:p>
          <a:p>
            <a:pPr>
              <a:lnSpc>
                <a:spcPct val="100000"/>
              </a:lnSpc>
              <a:spcAft>
                <a:spcPts val="0"/>
              </a:spcAft>
            </a:pPr>
            <a:r>
              <a:rPr sz="1500">
                <a:solidFill>
                  <a:srgbClr val="E8EEF2"/>
                </a:solidFill>
                <a:latin typeface="Consolas"/>
              </a:rPr>
              <a:t>01:31 - 01:52   Next 9 questions. Guessing on several.</a:t>
            </a:r>
          </a:p>
          <a:p>
            <a:pPr>
              <a:lnSpc>
                <a:spcPct val="100000"/>
              </a:lnSpc>
              <a:spcAft>
                <a:spcPts val="0"/>
              </a:spcAft>
            </a:pPr>
            <a:r>
              <a:rPr sz="1500">
                <a:solidFill>
                  <a:srgbClr val="E8EEF2"/>
                </a:solidFill>
                <a:latin typeface="Consolas"/>
              </a:rPr>
              <a:t>01:52 - 02:00   Second simulation reached with 8 minutes left.</a:t>
            </a:r>
          </a:p>
          <a:p>
            <a:pPr>
              <a:lnSpc>
                <a:spcPct val="100000"/>
              </a:lnSpc>
              <a:spcAft>
                <a:spcPts val="0"/>
              </a:spcAft>
            </a:pPr>
            <a:r>
              <a:rPr sz="1500">
                <a:solidFill>
                  <a:srgbClr val="E8EEF2"/>
                </a:solidFill>
                <a:latin typeface="Consolas"/>
              </a:rPr>
              <a:t>                Partially configured. Not saved.</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knowledge was there. Three decisions spent it.</a:t>
            </a:r>
          </a:p>
          <a:p>
            <a:pPr algn="l">
              <a:lnSpc>
                <a:spcPct val="100000"/>
              </a:lnSpc>
              <a:spcAft>
                <a:spcPts val="1000"/>
              </a:spcAft>
            </a:pPr>
            <a:r>
              <a:rPr sz="1900" b="1" i="0">
                <a:solidFill>
                  <a:srgbClr val="1C252B"/>
                </a:solidFill>
                <a:latin typeface="Segoe UI"/>
              </a:rPr>
              <a:t>The 14 minutes at 00:34.</a:t>
            </a:r>
            <a:r>
              <a:rPr sz="1900" b="0" i="0">
                <a:solidFill>
                  <a:srgbClr val="1C252B"/>
                </a:solidFill>
                <a:latin typeface="Segoe UI"/>
              </a:rPr>
              <a:t> One question, already answered correctly in their head, verified at the cost of roughly twelve other questions’ worth of time. The instinct — be certain before committing, because you cannot come back — is understandable and exactly backwards: you cannot come back, so the cost of over-investing is unrecoverable too.</a:t>
            </a:r>
          </a:p>
          <a:p>
            <a:pPr algn="l">
              <a:lnSpc>
                <a:spcPct val="100000"/>
              </a:lnSpc>
              <a:spcAft>
                <a:spcPts val="1000"/>
              </a:spcAft>
            </a:pPr>
            <a:r>
              <a:rPr sz="1900" b="1" i="0">
                <a:solidFill>
                  <a:srgbClr val="1C252B"/>
                </a:solidFill>
                <a:latin typeface="Segoe UI"/>
              </a:rPr>
              <a:t>The hurrying that followed.</a:t>
            </a:r>
            <a:r>
              <a:rPr sz="1900" b="0" i="0">
                <a:solidFill>
                  <a:srgbClr val="1C252B"/>
                </a:solidFill>
                <a:latin typeface="Segoe UI"/>
              </a:rPr>
              <a:t> Every question from 00:48 onward was answered under self-inflicted pressure created fourteen minutes earlier. Time lost early is not repaid; it is paid for by everything after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The second simulation.</a:t>
            </a:r>
            <a:r>
              <a:rPr sz="1900" b="0" i="0">
                <a:solidFill>
                  <a:srgbClr val="1C252B"/>
                </a:solidFill>
                <a:latin typeface="Segoe UI"/>
              </a:rPr>
              <a:t> Reached with eight minutes left because of the first two decisions, and worth several times an ordinary question. Partially configured and not saved — so much of the work that was done scored nothing.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34</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What should have happened.</a:t>
            </a:r>
            <a:r>
              <a:rPr sz="1900" b="0" i="0">
                <a:solidFill>
                  <a:srgbClr val="1C252B"/>
                </a:solidFill>
                <a:latin typeface="Segoe UI"/>
              </a:rPr>
              <a:t> At 00:44 — ten minutes into that OSPF question — the correct move was to select the best answer available and go. It was probably right. Even if it was wrong, one mark is cheaper than twelve.</a:t>
            </a:r>
          </a:p>
          <a:p>
            <a:pPr algn="l">
              <a:lnSpc>
                <a:spcPct val="100000"/>
              </a:lnSpc>
              <a:spcAft>
                <a:spcPts val="1000"/>
              </a:spcAft>
            </a:pPr>
            <a:r>
              <a:rPr sz="1900" b="1" i="0">
                <a:solidFill>
                  <a:srgbClr val="1C252B"/>
                </a:solidFill>
                <a:latin typeface="Segoe UI"/>
              </a:rPr>
              <a:t>The rule to take in with you.</a:t>
            </a:r>
            <a:r>
              <a:rPr sz="1900" b="0" i="0">
                <a:solidFill>
                  <a:srgbClr val="1C252B"/>
                </a:solidFill>
                <a:latin typeface="Segoe UI"/>
              </a:rPr>
              <a:t> </a:t>
            </a:r>
            <a:r>
              <a:rPr sz="1900" b="1" i="0">
                <a:solidFill>
                  <a:srgbClr val="1C252B"/>
                </a:solidFill>
                <a:latin typeface="Segoe UI"/>
              </a:rPr>
              <a:t>No single question is worth more than about ninety seconds.</a:t>
            </a:r>
            <a:r>
              <a:rPr sz="1900" b="0" i="0">
                <a:solidFill>
                  <a:srgbClr val="1C252B"/>
                </a:solidFill>
                <a:latin typeface="Segoe UI"/>
              </a:rPr>
              <a:t> Not the one you nearly know, not the one you are annoyed by, not the one you could definitely get with a little longer. Set that limit before you sit down, because you will not set it fairly at 00:40 with a half-solved problem in front of you.</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YOUR OWN MATERIAL, A TIMER, AND NO INTERRUPTIONS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full-length timed rehearsal</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700" b="1" i="0">
                <a:solidFill>
                  <a:srgbClr val="1C252B"/>
                </a:solidFill>
                <a:latin typeface="Segoe UI"/>
              </a:rPr>
              <a:t>Why this is the last lab in the book.</a:t>
            </a:r>
            <a:r>
              <a:rPr sz="1700" b="0" i="0">
                <a:solidFill>
                  <a:srgbClr val="1C252B"/>
                </a:solidFill>
                <a:latin typeface="Segoe UI"/>
              </a:rPr>
              <a:t> You have practised the material. You have not practised the </a:t>
            </a:r>
            <a:r>
              <a:rPr sz="1700" b="0" i="1">
                <a:solidFill>
                  <a:srgbClr val="1C252B"/>
                </a:solidFill>
                <a:latin typeface="Segoe UI"/>
              </a:rPr>
              <a:t>conditions</a:t>
            </a:r>
            <a:r>
              <a:rPr sz="1700" b="0" i="0">
                <a:solidFill>
                  <a:srgbClr val="1C252B"/>
                </a:solidFill>
                <a:latin typeface="Segoe UI"/>
              </a:rPr>
              <a:t> — two hours, no going back, no notes, no pausing. Those are a separate skill and they are what the Break &amp; Fix above is about.</a:t>
            </a:r>
          </a:p>
        </p:txBody>
      </p:sp>
      <p:sp>
        <p:nvSpPr>
          <p:cNvPr id="8" name="bullets"/>
          <p:cNvSpPr txBox="1"/>
          <p:nvPr/>
        </p:nvSpPr>
        <p:spPr>
          <a:xfrm>
            <a:off x="685800" y="2542794"/>
            <a:ext cx="10820095" cy="3839718"/>
          </a:xfrm>
          <a:prstGeom prst="rect">
            <a:avLst/>
          </a:prstGeom>
          <a:noFill/>
        </p:spPr>
        <p:txBody>
          <a:bodyPr wrap="square" lIns="0" rIns="0" tIns="0" bIns="0">
            <a:spAutoFit/>
          </a:bodyPr>
          <a:lstStyle/>
          <a:p>
            <a:pPr marL="328168" indent="-328168">
              <a:lnSpc>
                <a:spcPct val="102000"/>
              </a:lnSpc>
              <a:spcAft>
                <a:spcPts val="900"/>
              </a:spcAft>
            </a:pPr>
            <a:r>
              <a:rPr sz="1700" b="1">
                <a:solidFill>
                  <a:srgbClr val="1A5276"/>
                </a:solidFill>
                <a:latin typeface="Segoe UI"/>
              </a:rPr>
              <a:t>1.  </a:t>
            </a:r>
            <a:r>
              <a:rPr sz="1700" b="0" i="0">
                <a:solidFill>
                  <a:srgbClr val="1C252B"/>
                </a:solidFill>
                <a:latin typeface="Segoe UI"/>
              </a:rPr>
              <a:t>Assemble a paper: about 90 questions from the review sections of this book, weighted to the domain percentages — roughly a quarter each from Parts I and II, a fifth each from Parts III and IV, a tenth from Part V.</a:t>
            </a:r>
          </a:p>
          <a:p>
            <a:pPr marL="328168" indent="-328168">
              <a:lnSpc>
                <a:spcPct val="102000"/>
              </a:lnSpc>
              <a:spcAft>
                <a:spcPts val="900"/>
              </a:spcAft>
            </a:pPr>
            <a:r>
              <a:rPr sz="1700" b="1">
                <a:solidFill>
                  <a:srgbClr val="1A5276"/>
                </a:solidFill>
                <a:latin typeface="Segoe UI"/>
              </a:rPr>
              <a:t>2.  </a:t>
            </a:r>
            <a:r>
              <a:rPr sz="1700" b="0" i="0">
                <a:solidFill>
                  <a:srgbClr val="1C252B"/>
                </a:solidFill>
                <a:latin typeface="Segoe UI"/>
              </a:rPr>
              <a:t>Add two configuration tasks from the labs, to stand in for simulations.</a:t>
            </a:r>
          </a:p>
          <a:p>
            <a:pPr marL="328168" indent="-328168">
              <a:lnSpc>
                <a:spcPct val="102000"/>
              </a:lnSpc>
              <a:spcAft>
                <a:spcPts val="900"/>
              </a:spcAft>
            </a:pPr>
            <a:r>
              <a:rPr sz="1700" b="1">
                <a:solidFill>
                  <a:srgbClr val="1A5276"/>
                </a:solidFill>
                <a:latin typeface="Segoe UI"/>
              </a:rPr>
              <a:t>3.  </a:t>
            </a:r>
            <a:r>
              <a:rPr sz="1700" b="1" i="0">
                <a:solidFill>
                  <a:srgbClr val="1C252B"/>
                </a:solidFill>
                <a:latin typeface="Segoe UI"/>
              </a:rPr>
              <a:t>Set the rules and keep them.</a:t>
            </a:r>
            <a:r>
              <a:rPr sz="1700" b="0" i="0">
                <a:solidFill>
                  <a:srgbClr val="1C252B"/>
                </a:solidFill>
                <a:latin typeface="Segoe UI"/>
              </a:rPr>
              <a:t> 120 minutes. No notes. </a:t>
            </a:r>
            <a:r>
              <a:rPr sz="1700" b="1" i="0">
                <a:solidFill>
                  <a:srgbClr val="1C252B"/>
                </a:solidFill>
                <a:latin typeface="Segoe UI"/>
              </a:rPr>
              <a:t>No returning to a previous question</a:t>
            </a:r>
            <a:r>
              <a:rPr sz="1700" b="0" i="0">
                <a:solidFill>
                  <a:srgbClr val="1C252B"/>
                </a:solidFill>
                <a:latin typeface="Segoe UI"/>
              </a:rPr>
              <a:t> — cover them, or have someone else administer it. This constraint is the entire point of the exercise.</a:t>
            </a:r>
          </a:p>
          <a:p>
            <a:pPr marL="328168" indent="-328168">
              <a:lnSpc>
                <a:spcPct val="102000"/>
              </a:lnSpc>
              <a:spcAft>
                <a:spcPts val="900"/>
              </a:spcAft>
            </a:pPr>
            <a:r>
              <a:rPr sz="1700" b="1">
                <a:solidFill>
                  <a:srgbClr val="1A5276"/>
                </a:solidFill>
                <a:latin typeface="Segoe UI"/>
              </a:rPr>
              <a:t>4.  </a:t>
            </a:r>
            <a:r>
              <a:rPr sz="1700" b="0" i="0">
                <a:solidFill>
                  <a:srgbClr val="1C252B"/>
                </a:solidFill>
                <a:latin typeface="Segoe UI"/>
              </a:rPr>
              <a:t>Sit it in one block, at the time of day you have booked the real exam.</a:t>
            </a:r>
          </a:p>
          <a:p>
            <a:pPr marL="328168" indent="-328168">
              <a:lnSpc>
                <a:spcPct val="102000"/>
              </a:lnSpc>
              <a:spcAft>
                <a:spcPts val="900"/>
              </a:spcAft>
            </a:pPr>
            <a:r>
              <a:rPr sz="1700" b="1">
                <a:solidFill>
                  <a:srgbClr val="1A5276"/>
                </a:solidFill>
                <a:latin typeface="Segoe UI"/>
              </a:rPr>
              <a:t>5.  </a:t>
            </a:r>
            <a:r>
              <a:rPr sz="1700" b="0" i="0">
                <a:solidFill>
                  <a:srgbClr val="1C252B"/>
                </a:solidFill>
                <a:latin typeface="Segoe UI"/>
              </a:rPr>
              <a:t>Record a timestamp every ten questions. Do not analyse during.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YOUR OWN MATERIAL, A TIMER, AND NO INTERRUPTIONS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full-length timed rehearsal (continued)</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A5276"/>
                </a:solidFill>
                <a:latin typeface="Segoe UI"/>
              </a:rPr>
              <a:t>6.  </a:t>
            </a:r>
            <a:r>
              <a:rPr sz="2000" b="1" i="0">
                <a:solidFill>
                  <a:srgbClr val="1C252B"/>
                </a:solidFill>
                <a:latin typeface="Segoe UI"/>
              </a:rPr>
              <a:t>Afterwards, mark the timing before you mark the answers.</a:t>
            </a:r>
            <a:r>
              <a:rPr sz="2000" b="0" i="0">
                <a:solidFill>
                  <a:srgbClr val="1C252B"/>
                </a:solidFill>
                <a:latin typeface="Segoe UI"/>
              </a:rPr>
              <a:t> Find every question that took more than 90 seconds and count what they cost collectively. This number is usually a surprise.</a:t>
            </a:r>
          </a:p>
          <a:p>
            <a:pPr marL="386080" indent="-386080">
              <a:lnSpc>
                <a:spcPct val="102000"/>
              </a:lnSpc>
              <a:spcAft>
                <a:spcPts val="900"/>
              </a:spcAft>
            </a:pPr>
            <a:r>
              <a:rPr sz="2000" b="1">
                <a:solidFill>
                  <a:srgbClr val="1A5276"/>
                </a:solidFill>
                <a:latin typeface="Segoe UI"/>
              </a:rPr>
              <a:t>7.  </a:t>
            </a:r>
            <a:r>
              <a:rPr sz="2000" b="0" i="0">
                <a:solidFill>
                  <a:srgbClr val="1C252B"/>
                </a:solidFill>
                <a:latin typeface="Segoe UI"/>
              </a:rPr>
              <a:t>Now mark the answers. Separate the wrong ones into </a:t>
            </a:r>
            <a:r>
              <a:rPr sz="2000" b="0" i="1">
                <a:solidFill>
                  <a:srgbClr val="1C252B"/>
                </a:solidFill>
                <a:latin typeface="Segoe UI"/>
              </a:rPr>
              <a:t>did not know</a:t>
            </a:r>
            <a:r>
              <a:rPr sz="2000" b="0" i="0">
                <a:solidFill>
                  <a:srgbClr val="1C252B"/>
                </a:solidFill>
                <a:latin typeface="Segoe UI"/>
              </a:rPr>
              <a:t> and </a:t>
            </a:r>
            <a:r>
              <a:rPr sz="2000" b="0" i="1">
                <a:solidFill>
                  <a:srgbClr val="1C252B"/>
                </a:solidFill>
                <a:latin typeface="Segoe UI"/>
              </a:rPr>
              <a:t>knew but misread or rushed</a:t>
            </a:r>
            <a:r>
              <a:rPr sz="2000" b="0" i="0">
                <a:solidFill>
                  <a:srgbClr val="1C252B"/>
                </a:solidFill>
                <a:latin typeface="Segoe UI"/>
              </a:rPr>
              <a:t>. They need completely different remedies, and the second pile is usually bigger than expected.</a:t>
            </a:r>
          </a:p>
          <a:p>
            <a:pPr marL="386080" indent="-386080">
              <a:lnSpc>
                <a:spcPct val="102000"/>
              </a:lnSpc>
              <a:spcAft>
                <a:spcPts val="900"/>
              </a:spcAft>
            </a:pPr>
            <a:r>
              <a:rPr sz="2000" b="1">
                <a:solidFill>
                  <a:srgbClr val="1A5276"/>
                </a:solidFill>
                <a:latin typeface="Segoe UI"/>
              </a:rPr>
              <a:t>8.  </a:t>
            </a:r>
            <a:r>
              <a:rPr sz="2000" b="0" i="0">
                <a:solidFill>
                  <a:srgbClr val="1C252B"/>
                </a:solidFill>
                <a:latin typeface="Segoe UI"/>
              </a:rPr>
              <a:t>For every “did not know”, find the chapter and redo its lab — not its summary.</a:t>
            </a:r>
          </a:p>
          <a:p>
            <a:pPr marL="386080" indent="-386080">
              <a:lnSpc>
                <a:spcPct val="102000"/>
              </a:lnSpc>
              <a:spcAft>
                <a:spcPts val="900"/>
              </a:spcAft>
            </a:pPr>
            <a:r>
              <a:rPr sz="2000" b="1">
                <a:solidFill>
                  <a:srgbClr val="1A5276"/>
                </a:solidFill>
                <a:latin typeface="Segoe UI"/>
              </a:rPr>
              <a:t>9.  </a:t>
            </a:r>
            <a:r>
              <a:rPr sz="2000" b="1" i="0">
                <a:solidFill>
                  <a:srgbClr val="1C252B"/>
                </a:solidFill>
                <a:latin typeface="Segoe UI"/>
              </a:rPr>
              <a:t>Repeat two weeks later</a:t>
            </a:r>
            <a:r>
              <a:rPr sz="2000" b="0" i="0">
                <a:solidFill>
                  <a:srgbClr val="1C252B"/>
                </a:solidFill>
                <a:latin typeface="Segoe UI"/>
              </a:rPr>
              <a:t> with a different selection. Compare the timing profile, not just the score. Improvement in timing is the better predictor.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the single most important structural fact about the exam interface, and name three habits it invalidates?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the single most important structural fact about the exam interface, and name three habits it invalidates?</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You cannot return to a previous question.</a:t>
            </a:r>
            <a:r>
              <a:rPr sz="1900" b="0" i="0">
                <a:solidFill>
                  <a:srgbClr val="1C252B"/>
                </a:solidFill>
                <a:latin typeface="Segoe UI"/>
              </a:rPr>
              <a:t> It invalidates skimming the paper first, leaving hard questions to come back to, and flagging anything for review.</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How long should a standard question take, and what do you do at the limit?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How long should a standard question take, and what do you do at the limit?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60 to 75 seconds. At 90 seconds, eliminate what you can, choose the best remaining option, and move on — the question you have not seen yet may be one you would answer in twenty seconds.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can a simulation not be deferred, and what four things should you do in one?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can a simulation not be deferred, and what four things should you do in one?</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you cannot come back to it, so a deferred simulation is an abandoned one. Read the whole task first; plan before typing; configure only what is asked; verify with a </a:t>
            </a:r>
            <a:r>
              <a:rPr sz="1800" b="0" i="0">
                <a:solidFill>
                  <a:srgbClr val="1A5276"/>
                </a:solidFill>
                <a:latin typeface="Consolas"/>
              </a:rPr>
              <a:t>show</a:t>
            </a:r>
            <a:r>
              <a:rPr sz="1900" b="0" i="0">
                <a:solidFill>
                  <a:srgbClr val="1C252B"/>
                </a:solidFill>
                <a:latin typeface="Segoe UI"/>
              </a:rPr>
              <a:t> command — and save if the task says to.</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Read the exhibit or the question first?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Read the exhibit or the question first? Why?</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a:t>
            </a:r>
            <a:r>
              <a:rPr sz="1900" b="1" i="0">
                <a:solidFill>
                  <a:srgbClr val="1C252B"/>
                </a:solidFill>
                <a:latin typeface="Segoe UI"/>
              </a:rPr>
              <a:t>question</a:t>
            </a:r>
            <a:r>
              <a:rPr sz="1900" b="0" i="0">
                <a:solidFill>
                  <a:srgbClr val="1C252B"/>
                </a:solidFill>
                <a:latin typeface="Segoe UI"/>
              </a:rPr>
              <a:t> first. Otherwise you study an entire configuration or topology to answer something about one line of it.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topics should be revised last,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topics should be revised last, and why?</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a:t>
            </a:r>
            <a:r>
              <a:rPr sz="1900" b="0" i="1">
                <a:solidFill>
                  <a:srgbClr val="1C252B"/>
                </a:solidFill>
                <a:latin typeface="Segoe UI"/>
              </a:rPr>
              <a:t>describe</a:t>
            </a:r>
            <a:r>
              <a:rPr sz="1900" b="0" i="0">
                <a:solidFill>
                  <a:srgbClr val="1C252B"/>
                </a:solidFill>
                <a:latin typeface="Segoe UI"/>
              </a:rPr>
              <a:t> topics — wireless principles, virtualisation, VPNs, management approaches, AI — because they are recall-heavy and recall decays fastest. Configuration skill does not.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Cisco publish about this exam, and what does it not?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Cisco publish about this exam, and what does it not?</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Cisco publishes the 120-minute duration, the five domains and their weights, and the 29 topics with their wording. It does </a:t>
            </a:r>
            <a:r>
              <a:rPr sz="1900" b="1" i="0">
                <a:solidFill>
                  <a:srgbClr val="1C252B"/>
                </a:solidFill>
                <a:latin typeface="Segoe UI"/>
              </a:rPr>
              <a:t>not</a:t>
            </a:r>
            <a:r>
              <a:rPr sz="1900" b="0" i="0">
                <a:solidFill>
                  <a:srgbClr val="1C252B"/>
                </a:solidFill>
                <a:latin typeface="Segoe UI"/>
              </a:rPr>
              <a:t> publish the number of questions or the passing score.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You cannot return to a question.</a:t>
            </a:r>
            <a:r>
              <a:rPr sz="2000" b="0" i="0">
                <a:solidFill>
                  <a:srgbClr val="1C252B"/>
                </a:solidFill>
                <a:latin typeface="Segoe UI"/>
              </a:rPr>
              <a:t> Answer everything when you meet it, never leave a blank, and never plan to come back.</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Roughly 60–75 seconds per standard question; hard stop at 90. Budget 10–15 minutes for each simulation.</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No single question is worth more than ninety seconds. Time lost early is never repaid.</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Question before exhibit. Watch for qualifiers, negatives and the required count.</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In a simulation: read it all, plan, configure only what is asked, verify with </a:t>
            </a:r>
            <a:r>
              <a:rPr sz="1900" b="0" i="0">
                <a:solidFill>
                  <a:srgbClr val="1A5276"/>
                </a:solidFill>
                <a:latin typeface="Consolas"/>
              </a:rPr>
              <a:t>show</a:t>
            </a:r>
            <a:r>
              <a:rPr sz="2000" b="0" i="0">
                <a:solidFill>
                  <a:srgbClr val="1C252B"/>
                </a:solidFill>
                <a:latin typeface="Segoe UI"/>
              </a:rPr>
              <a:t>, save. Partial completion beats none.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34. Exam Strategy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v2.0 may ask you to evaluate an AI assistant’s output anywhere in the paper, not only in domain 5.</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Revise against the verbs: 55% hands-on, so spend the time at a command line. Leave the </a:t>
            </a:r>
            <a:r>
              <a:rPr sz="2000" b="0" i="1">
                <a:solidFill>
                  <a:srgbClr val="1C252B"/>
                </a:solidFill>
                <a:latin typeface="Segoe UI"/>
              </a:rPr>
              <a:t>describe</a:t>
            </a:r>
            <a:r>
              <a:rPr sz="2000" b="0" i="0">
                <a:solidFill>
                  <a:srgbClr val="1C252B"/>
                </a:solidFill>
                <a:latin typeface="Segoe UI"/>
              </a:rPr>
              <a:t> topics until last, and make subnetting automatic.</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Cisco publishes 120 minutes and the domain weights. It does not publish the question count or the pass mark. Take the official tutorial before the day.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1" i="0">
                <a:solidFill>
                  <a:srgbClr val="FFFFFF"/>
                </a:solidFill>
                <a:latin typeface="Segoe UI"/>
              </a:rPr>
              <a:t>You cannot return to a question.</a:t>
            </a:r>
            <a:r>
              <a:rPr sz="1900" b="0" i="0">
                <a:solidFill>
                  <a:srgbClr val="FFFFFF"/>
                </a:solidFill>
                <a:latin typeface="Segoe UI"/>
              </a:rPr>
              <a:t> Answer everything when you meet it, never leave a blank, and never plan to come back.</a:t>
            </a:r>
          </a:p>
          <a:p>
            <a:pPr marL="217169" indent="-217169">
              <a:spcAft>
                <a:spcPts val="900"/>
              </a:spcAft>
            </a:pPr>
            <a:r>
              <a:rPr sz="1900">
                <a:solidFill>
                  <a:srgbClr val="C8D6E5"/>
                </a:solidFill>
              </a:rPr>
              <a:t>•  </a:t>
            </a:r>
            <a:r>
              <a:rPr sz="1900" b="0" i="0">
                <a:solidFill>
                  <a:srgbClr val="FFFFFF"/>
                </a:solidFill>
                <a:latin typeface="Segoe UI"/>
              </a:rPr>
              <a:t>Roughly 60–75 seconds per standard question; hard stop at 90. Budget 10–15 minutes for each simulation.</a:t>
            </a:r>
          </a:p>
          <a:p>
            <a:pPr marL="217169" indent="-217169">
              <a:spcAft>
                <a:spcPts val="900"/>
              </a:spcAft>
            </a:pPr>
            <a:r>
              <a:rPr sz="1900">
                <a:solidFill>
                  <a:srgbClr val="C8D6E5"/>
                </a:solidFill>
              </a:rPr>
              <a:t>•  </a:t>
            </a:r>
            <a:r>
              <a:rPr sz="1900" b="0" i="0">
                <a:solidFill>
                  <a:srgbClr val="FFFFFF"/>
                </a:solidFill>
                <a:latin typeface="Segoe UI"/>
              </a:rPr>
              <a:t>No single question is worth more than ninety seconds. Time lost early is never repaid.</a:t>
            </a:r>
          </a:p>
          <a:p>
            <a:pPr marL="217169" indent="-217169">
              <a:spcAft>
                <a:spcPts val="900"/>
              </a:spcAft>
            </a:pPr>
            <a:r>
              <a:rPr sz="1900">
                <a:solidFill>
                  <a:srgbClr val="C8D6E5"/>
                </a:solidFill>
              </a:rPr>
              <a:t>•  </a:t>
            </a:r>
            <a:r>
              <a:rPr sz="1900" b="0" i="0">
                <a:solidFill>
                  <a:srgbClr val="FFFFFF"/>
                </a:solidFill>
                <a:latin typeface="Segoe UI"/>
              </a:rPr>
              <a:t>Question before exhibit. Watch for qualifiers, negatives and the required count.</a:t>
            </a:r>
          </a:p>
        </p:txBody>
      </p:sp>
      <p:sp>
        <p:nvSpPr>
          <p:cNvPr id="5" name="nextbg"/>
          <p:cNvSpPr/>
          <p:nvPr/>
        </p:nvSpPr>
        <p:spPr>
          <a:xfrm>
            <a:off x="685800" y="5303520"/>
            <a:ext cx="10820095" cy="822960"/>
          </a:xfrm>
          <a:prstGeom prst="rect">
            <a:avLst/>
          </a:prstGeom>
          <a:solidFill>
            <a:srgbClr val="04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END OF THE COURSE</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34 chapters  ·  all 29 blueprint topics  ·  32 labs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