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16: Static Routing, IPv4 and IPv6. Blueprint topics: 3.2.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Static Routing, IPv4 and IPv6 3.2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define these now - they are defined as they arrive. This slide is for the students'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choice that produces the most subtle static-routing faults.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the floating static at [200/0] is shown here — meaning OSPF currently has no route for 10.1.0.0/16, so the backup has taken over. When OSPF is healthy that line is absent from the table entirely. The syntax mirrors IPv4, with one wrinkle worth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here. Take two or three answers before advancing. The point is the prediction, not the command.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it aloud. Ask what single field decides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it aloud. Ask what single field decides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elimination matters as much as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somebody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somebody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somebody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C348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gfoot"/>
          <p:cNvSpPr/>
          <p:nvPr/>
        </p:nvSpPr>
        <p:spPr>
          <a:xfrm>
            <a:off x="0" y="6172200"/>
            <a:ext cx="12191695" cy="685800"/>
          </a:xfrm>
          <a:prstGeom prst="rect">
            <a:avLst/>
          </a:prstGeom>
          <a:solidFill>
            <a:srgbClr val="561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course"/>
          <p:cNvSpPr txBox="1"/>
          <p:nvPr/>
        </p:nvSpPr>
        <p:spPr>
          <a:xfrm>
            <a:off x="685800" y="1170432"/>
            <a:ext cx="108200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C8D6E5"/>
                </a:solidFill>
                <a:latin typeface="Segoe UI"/>
              </a:rPr>
              <a:t>CCNA 200-301 V2.0</a:t>
            </a:r>
          </a:p>
        </p:txBody>
      </p:sp>
      <p:sp>
        <p:nvSpPr>
          <p:cNvPr id="5" name="chnum"/>
          <p:cNvSpPr txBox="1"/>
          <p:nvPr/>
        </p:nvSpPr>
        <p:spPr>
          <a:xfrm>
            <a:off x="685800" y="1572768"/>
            <a:ext cx="20116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7600" b="1" i="0">
                <a:solidFill>
                  <a:srgbClr val="FFFFFF"/>
                </a:solidFill>
                <a:latin typeface="Segoe UI"/>
              </a:rPr>
              <a:t>16</a:t>
            </a:r>
          </a:p>
        </p:txBody>
      </p:sp>
      <p:sp>
        <p:nvSpPr>
          <p:cNvPr id="6" name="chtitle"/>
          <p:cNvSpPr txBox="1"/>
          <p:nvPr/>
        </p:nvSpPr>
        <p:spPr>
          <a:xfrm>
            <a:off x="2423160" y="1700784"/>
            <a:ext cx="908273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Static Routing, IPv4 and IPv6</a:t>
            </a:r>
          </a:p>
        </p:txBody>
      </p:sp>
      <p:sp>
        <p:nvSpPr>
          <p:cNvPr id="7" name="part"/>
          <p:cNvSpPr txBox="1"/>
          <p:nvPr/>
        </p:nvSpPr>
        <p:spPr>
          <a:xfrm>
            <a:off x="2441448" y="3017520"/>
            <a:ext cx="90827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C8D6E5"/>
                </a:solidFill>
                <a:latin typeface="Segoe UI"/>
              </a:rPr>
              <a:t>Part III — IP Routing</a:t>
            </a:r>
          </a:p>
        </p:txBody>
      </p:sp>
      <p:sp>
        <p:nvSpPr>
          <p:cNvPr id="8" name="tlabel"/>
          <p:cNvSpPr txBox="1"/>
          <p:nvPr/>
        </p:nvSpPr>
        <p:spPr>
          <a:xfrm>
            <a:off x="2441448" y="3401568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8C9DA"/>
                </a:solidFill>
                <a:latin typeface="Segoe UI"/>
              </a:rPr>
              <a:t>EXAM TOPICS</a:t>
            </a:r>
          </a:p>
        </p:txBody>
      </p:sp>
      <p:sp>
        <p:nvSpPr>
          <p:cNvPr id="9" name="chip-3.2"/>
          <p:cNvSpPr/>
          <p:nvPr/>
        </p:nvSpPr>
        <p:spPr>
          <a:xfrm>
            <a:off x="2441448" y="3657600"/>
            <a:ext cx="566928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chiptx-3.2"/>
          <p:cNvSpPr txBox="1"/>
          <p:nvPr/>
        </p:nvSpPr>
        <p:spPr>
          <a:xfrm>
            <a:off x="2441448" y="3689604"/>
            <a:ext cx="5669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6C3483"/>
                </a:solidFill>
                <a:latin typeface="Segoe UI"/>
              </a:rPr>
              <a:t>3.2</a:t>
            </a:r>
          </a:p>
        </p:txBody>
      </p:sp>
      <p:sp>
        <p:nvSpPr>
          <p:cNvPr id="11" name="authlab"/>
          <p:cNvSpPr txBox="1"/>
          <p:nvPr/>
        </p:nvSpPr>
        <p:spPr>
          <a:xfrm>
            <a:off x="685800" y="5138928"/>
            <a:ext cx="64920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8C9DA"/>
                </a:solidFill>
                <a:latin typeface="Segoe UI"/>
              </a:rPr>
              <a:t>LECTURER</a:t>
            </a:r>
          </a:p>
        </p:txBody>
      </p:sp>
      <p:sp>
        <p:nvSpPr>
          <p:cNvPr id="12" name="author"/>
          <p:cNvSpPr txBox="1"/>
          <p:nvPr/>
        </p:nvSpPr>
        <p:spPr>
          <a:xfrm>
            <a:off x="685800" y="5394960"/>
            <a:ext cx="649205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Dr. Mustafa Hameed</a:t>
            </a:r>
          </a:p>
        </p:txBody>
      </p:sp>
      <p:sp>
        <p:nvSpPr>
          <p:cNvPr id="13" name="lockup1"/>
          <p:cNvSpPr txBox="1"/>
          <p:nvPr/>
        </p:nvSpPr>
        <p:spPr>
          <a:xfrm>
            <a:off x="7939735" y="5175504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THE ISLAMIA UNIVERSITY OF BAHAWALPUR</a:t>
            </a:r>
          </a:p>
        </p:txBody>
      </p:sp>
      <p:sp>
        <p:nvSpPr>
          <p:cNvPr id="14" name="lockup2"/>
          <p:cNvSpPr txBox="1"/>
          <p:nvPr/>
        </p:nvSpPr>
        <p:spPr>
          <a:xfrm>
            <a:off x="7939735" y="5413248"/>
            <a:ext cx="3566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C8D6E5"/>
                </a:solidFill>
                <a:latin typeface="Segoe UI"/>
              </a:rPr>
              <a:t>Department of Information Technology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LEARNING OUTCOMES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What you will be able to do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16. Static Routing, IPv4 and IPv6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3.2</a:t>
            </a:r>
          </a:p>
        </p:txBody>
      </p:sp>
      <p:sp>
        <p:nvSpPr>
          <p:cNvPr id="7" name="bullets"/>
          <p:cNvSpPr txBox="1"/>
          <p:nvPr/>
        </p:nvSpPr>
        <p:spPr>
          <a:xfrm>
            <a:off x="685800" y="2299135"/>
            <a:ext cx="10820095" cy="4083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6C348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Configure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the four kinds of static route the blueprint names: default, network, host and floating.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6C348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Choose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correctly between a next-hop address, an exit interface, and both — a choice that matters more than it looks.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6C348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Configure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static routing for IPv6 alongside IPv4.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6C348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Troubleshoot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a static route that is absent from the table, or present and not working.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ASSUMED KNOWLEDGE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Before we start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16. Static Routing, IPv4 and IPv6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3.2</a:t>
            </a:r>
          </a:p>
        </p:txBody>
      </p:sp>
      <p:sp>
        <p:nvSpPr>
          <p:cNvPr id="7" name="tint"/>
          <p:cNvSpPr/>
          <p:nvPr/>
        </p:nvSpPr>
        <p:spPr>
          <a:xfrm>
            <a:off x="685800" y="1517904"/>
            <a:ext cx="10820095" cy="1337055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body"/>
          <p:cNvSpPr txBox="1"/>
          <p:nvPr/>
        </p:nvSpPr>
        <p:spPr>
          <a:xfrm>
            <a:off x="978408" y="1737360"/>
            <a:ext cx="10234879" cy="4645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Chapter 15 — longest prefix match and administrative distance are assumed throughout. Chapter 5 for the v6 half.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KEY TERMS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Vocabulary for this chapter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16. Static Routing, IPv4 and IPv6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3.2</a:t>
            </a:r>
          </a:p>
        </p:txBody>
      </p:sp>
      <p:sp>
        <p:nvSpPr>
          <p:cNvPr id="7" name="term-static route"/>
          <p:cNvSpPr/>
          <p:nvPr/>
        </p:nvSpPr>
        <p:spPr>
          <a:xfrm>
            <a:off x="685800" y="1609344"/>
            <a:ext cx="1316736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b-static route"/>
          <p:cNvSpPr/>
          <p:nvPr/>
        </p:nvSpPr>
        <p:spPr>
          <a:xfrm>
            <a:off x="685800" y="1609344"/>
            <a:ext cx="32004" cy="475488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t-static route"/>
          <p:cNvSpPr txBox="1"/>
          <p:nvPr/>
        </p:nvSpPr>
        <p:spPr>
          <a:xfrm>
            <a:off x="850392" y="1700784"/>
            <a:ext cx="987552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static route</a:t>
            </a:r>
          </a:p>
        </p:txBody>
      </p:sp>
      <p:sp>
        <p:nvSpPr>
          <p:cNvPr id="10" name="term-default route"/>
          <p:cNvSpPr/>
          <p:nvPr/>
        </p:nvSpPr>
        <p:spPr>
          <a:xfrm>
            <a:off x="2130552" y="1609344"/>
            <a:ext cx="1420367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b-default route"/>
          <p:cNvSpPr/>
          <p:nvPr/>
        </p:nvSpPr>
        <p:spPr>
          <a:xfrm>
            <a:off x="2130552" y="1609344"/>
            <a:ext cx="32004" cy="475488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t-default route"/>
          <p:cNvSpPr txBox="1"/>
          <p:nvPr/>
        </p:nvSpPr>
        <p:spPr>
          <a:xfrm>
            <a:off x="2295144" y="1700784"/>
            <a:ext cx="1091183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default route</a:t>
            </a:r>
          </a:p>
        </p:txBody>
      </p:sp>
      <p:sp>
        <p:nvSpPr>
          <p:cNvPr id="13" name="term-network route"/>
          <p:cNvSpPr/>
          <p:nvPr/>
        </p:nvSpPr>
        <p:spPr>
          <a:xfrm>
            <a:off x="3678936" y="1609344"/>
            <a:ext cx="1538223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b-network route"/>
          <p:cNvSpPr/>
          <p:nvPr/>
        </p:nvSpPr>
        <p:spPr>
          <a:xfrm>
            <a:off x="3678936" y="1609344"/>
            <a:ext cx="32004" cy="475488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t-network route"/>
          <p:cNvSpPr txBox="1"/>
          <p:nvPr/>
        </p:nvSpPr>
        <p:spPr>
          <a:xfrm>
            <a:off x="3843528" y="1700784"/>
            <a:ext cx="1209039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network route</a:t>
            </a:r>
          </a:p>
        </p:txBody>
      </p:sp>
      <p:sp>
        <p:nvSpPr>
          <p:cNvPr id="16" name="term-host route"/>
          <p:cNvSpPr/>
          <p:nvPr/>
        </p:nvSpPr>
        <p:spPr>
          <a:xfrm>
            <a:off x="5345176" y="1609344"/>
            <a:ext cx="1194815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b-host route"/>
          <p:cNvSpPr/>
          <p:nvPr/>
        </p:nvSpPr>
        <p:spPr>
          <a:xfrm>
            <a:off x="5345176" y="1609344"/>
            <a:ext cx="32004" cy="475488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t-host route"/>
          <p:cNvSpPr txBox="1"/>
          <p:nvPr/>
        </p:nvSpPr>
        <p:spPr>
          <a:xfrm>
            <a:off x="5509768" y="1700784"/>
            <a:ext cx="865631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host route</a:t>
            </a:r>
          </a:p>
        </p:txBody>
      </p:sp>
      <p:sp>
        <p:nvSpPr>
          <p:cNvPr id="19" name="term-floating static"/>
          <p:cNvSpPr/>
          <p:nvPr/>
        </p:nvSpPr>
        <p:spPr>
          <a:xfrm>
            <a:off x="6668008" y="1609344"/>
            <a:ext cx="1542287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b-floating static"/>
          <p:cNvSpPr/>
          <p:nvPr/>
        </p:nvSpPr>
        <p:spPr>
          <a:xfrm>
            <a:off x="6668008" y="1609344"/>
            <a:ext cx="32004" cy="475488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t-floating static"/>
          <p:cNvSpPr txBox="1"/>
          <p:nvPr/>
        </p:nvSpPr>
        <p:spPr>
          <a:xfrm>
            <a:off x="6832599" y="1700784"/>
            <a:ext cx="1213103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floating static</a:t>
            </a:r>
          </a:p>
        </p:txBody>
      </p:sp>
      <p:sp>
        <p:nvSpPr>
          <p:cNvPr id="22" name="term-next hop"/>
          <p:cNvSpPr/>
          <p:nvPr/>
        </p:nvSpPr>
        <p:spPr>
          <a:xfrm>
            <a:off x="8338311" y="1609344"/>
            <a:ext cx="1072895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b-next hop"/>
          <p:cNvSpPr/>
          <p:nvPr/>
        </p:nvSpPr>
        <p:spPr>
          <a:xfrm>
            <a:off x="8338311" y="1609344"/>
            <a:ext cx="32004" cy="475488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t-next hop"/>
          <p:cNvSpPr txBox="1"/>
          <p:nvPr/>
        </p:nvSpPr>
        <p:spPr>
          <a:xfrm>
            <a:off x="8502903" y="1700784"/>
            <a:ext cx="743711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next hop</a:t>
            </a:r>
          </a:p>
        </p:txBody>
      </p:sp>
      <p:sp>
        <p:nvSpPr>
          <p:cNvPr id="25" name="term-exit interface"/>
          <p:cNvSpPr/>
          <p:nvPr/>
        </p:nvSpPr>
        <p:spPr>
          <a:xfrm>
            <a:off x="9539223" y="1609344"/>
            <a:ext cx="1481327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b-exit interface"/>
          <p:cNvSpPr/>
          <p:nvPr/>
        </p:nvSpPr>
        <p:spPr>
          <a:xfrm>
            <a:off x="9539223" y="1609344"/>
            <a:ext cx="32004" cy="475488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t-exit interface"/>
          <p:cNvSpPr txBox="1"/>
          <p:nvPr/>
        </p:nvSpPr>
        <p:spPr>
          <a:xfrm>
            <a:off x="9703815" y="1700784"/>
            <a:ext cx="1152143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exit interface</a:t>
            </a:r>
          </a:p>
        </p:txBody>
      </p:sp>
      <p:sp>
        <p:nvSpPr>
          <p:cNvPr id="28" name="term-fully specified ro"/>
          <p:cNvSpPr/>
          <p:nvPr/>
        </p:nvSpPr>
        <p:spPr>
          <a:xfrm>
            <a:off x="685800" y="2212848"/>
            <a:ext cx="2078735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b-fully specified ro"/>
          <p:cNvSpPr/>
          <p:nvPr/>
        </p:nvSpPr>
        <p:spPr>
          <a:xfrm>
            <a:off x="685800" y="2212848"/>
            <a:ext cx="32004" cy="475488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t-fully specified ro"/>
          <p:cNvSpPr txBox="1"/>
          <p:nvPr/>
        </p:nvSpPr>
        <p:spPr>
          <a:xfrm>
            <a:off x="850392" y="2304288"/>
            <a:ext cx="1749551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fully specified route</a:t>
            </a:r>
          </a:p>
        </p:txBody>
      </p:sp>
      <p:sp>
        <p:nvSpPr>
          <p:cNvPr id="31" name="term-recursive lookup"/>
          <p:cNvSpPr/>
          <p:nvPr/>
        </p:nvSpPr>
        <p:spPr>
          <a:xfrm>
            <a:off x="2892552" y="2212848"/>
            <a:ext cx="1773935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b-recursive lookup"/>
          <p:cNvSpPr/>
          <p:nvPr/>
        </p:nvSpPr>
        <p:spPr>
          <a:xfrm>
            <a:off x="2892552" y="2212848"/>
            <a:ext cx="32004" cy="475488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t-recursive lookup"/>
          <p:cNvSpPr txBox="1"/>
          <p:nvPr/>
        </p:nvSpPr>
        <p:spPr>
          <a:xfrm>
            <a:off x="3057144" y="2304288"/>
            <a:ext cx="1444751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recursive lookup</a:t>
            </a:r>
          </a:p>
        </p:txBody>
      </p:sp>
      <p:sp>
        <p:nvSpPr>
          <p:cNvPr id="34" name="term-gateway of last re"/>
          <p:cNvSpPr/>
          <p:nvPr/>
        </p:nvSpPr>
        <p:spPr>
          <a:xfrm>
            <a:off x="4794503" y="2212848"/>
            <a:ext cx="2257551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b-gateway of last re"/>
          <p:cNvSpPr/>
          <p:nvPr/>
        </p:nvSpPr>
        <p:spPr>
          <a:xfrm>
            <a:off x="4794503" y="2212848"/>
            <a:ext cx="32004" cy="475488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t-gateway of last re"/>
          <p:cNvSpPr txBox="1"/>
          <p:nvPr/>
        </p:nvSpPr>
        <p:spPr>
          <a:xfrm>
            <a:off x="4959095" y="2304288"/>
            <a:ext cx="1928367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gateway of last resort</a:t>
            </a:r>
          </a:p>
        </p:txBody>
      </p:sp>
      <p:sp>
        <p:nvSpPr>
          <p:cNvPr id="37" name="termnote"/>
          <p:cNvSpPr txBox="1"/>
          <p:nvPr/>
        </p:nvSpPr>
        <p:spPr>
          <a:xfrm>
            <a:off x="685800" y="2962656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8A959A"/>
                </a:solidFill>
                <a:latin typeface="Segoe UI"/>
              </a:rPr>
              <a:t>Each is defined where it first matters — not here.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ON THE EXAM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1A5276"/>
                </a:solidFill>
                <a:latin typeface="Segoe UI"/>
              </a:rPr>
              <a:t>The verb is troubleshoot, and the sub-topics are a checklist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16. Static Routing, IPv4 and IPv6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3.2</a:t>
            </a:r>
          </a:p>
        </p:txBody>
      </p:sp>
      <p:sp>
        <p:nvSpPr>
          <p:cNvPr id="7" name="icon"/>
          <p:cNvSpPr txBox="1"/>
          <p:nvPr/>
        </p:nvSpPr>
        <p:spPr>
          <a:xfrm>
            <a:off x="685800" y="1517904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6C3483"/>
                </a:solidFill>
                <a:latin typeface="Segoe UI"/>
              </a:rPr>
              <a:t>This is what the blueprint actually asks for</a:t>
            </a:r>
          </a:p>
        </p:txBody>
      </p:sp>
      <p:sp>
        <p:nvSpPr>
          <p:cNvPr id="8" name="body"/>
          <p:cNvSpPr txBox="1"/>
          <p:nvPr/>
        </p:nvSpPr>
        <p:spPr>
          <a:xfrm>
            <a:off x="685800" y="2986024"/>
            <a:ext cx="10820095" cy="3396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Topic </a:t>
            </a:r>
            <a:r>
              <a:rPr sz="1600" b="1">
                <a:solidFill>
                  <a:srgbClr val="6C3483"/>
                </a:solidFill>
                <a:latin typeface="Segoe UI"/>
              </a:rPr>
              <a:t> 3.2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is “troubleshoot IPv4 and IPv6 static routing” and then lists exactly four kinds: default route, network route, host route, floating static. Expect to be shown a table and a symptom rather than asked to recite syntax — but you cannot diagnose what you cannot write, so learn the syntax first.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CONFIGURE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All four, on IPv4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16. Static Routing, IPv4 and IPv6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3.2</a:t>
            </a:r>
          </a:p>
        </p:txBody>
      </p:sp>
      <p:sp>
        <p:nvSpPr>
          <p:cNvPr id="7" name="codebg"/>
          <p:cNvSpPr/>
          <p:nvPr/>
        </p:nvSpPr>
        <p:spPr>
          <a:xfrm>
            <a:off x="685800" y="1901952"/>
            <a:ext cx="10820095" cy="3645407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bar"/>
          <p:cNvSpPr/>
          <p:nvPr/>
        </p:nvSpPr>
        <p:spPr>
          <a:xfrm>
            <a:off x="685800" y="1901952"/>
            <a:ext cx="10820095" cy="347472"/>
          </a:xfrm>
          <a:prstGeom prst="rect">
            <a:avLst/>
          </a:prstGeom>
          <a:solidFill>
            <a:srgbClr val="273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codettl"/>
          <p:cNvSpPr txBox="1"/>
          <p:nvPr/>
        </p:nvSpPr>
        <p:spPr>
          <a:xfrm>
            <a:off x="886968" y="1956816"/>
            <a:ext cx="104177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9FB3C8"/>
                </a:solidFill>
                <a:latin typeface="Segoe UI"/>
              </a:rPr>
              <a:t>IOS  ·  configuration mode</a:t>
            </a:r>
          </a:p>
        </p:txBody>
      </p:sp>
      <p:sp>
        <p:nvSpPr>
          <p:cNvPr id="10" name="code"/>
          <p:cNvSpPr txBox="1"/>
          <p:nvPr/>
        </p:nvSpPr>
        <p:spPr>
          <a:xfrm>
            <a:off x="886968" y="2340864"/>
            <a:ext cx="10417759" cy="31516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1">
                <a:solidFill>
                  <a:srgbClr val="6E8BA0"/>
                </a:solidFill>
                <a:latin typeface="Consolas"/>
              </a:rPr>
              <a:t>! Network route -- reach 10.9.9.0/24 through the neighbour at 10.255.0.2.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ip route 10.9.9.0 255.255.255.0 10.255.0.2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1">
                <a:solidFill>
                  <a:srgbClr val="6E8BA0"/>
                </a:solidFill>
                <a:latin typeface="Consolas"/>
              </a:rPr>
              <a:t>!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1">
                <a:solidFill>
                  <a:srgbClr val="6E8BA0"/>
                </a:solidFill>
                <a:latin typeface="Consolas"/>
              </a:rPr>
              <a:t>! Default route -- the gateway of last resort.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ip route 0.0.0.0 0.0.0.0 203.0.113.1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1">
                <a:solidFill>
                  <a:srgbClr val="6E8BA0"/>
                </a:solidFill>
                <a:latin typeface="Consolas"/>
              </a:rPr>
              <a:t>!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1">
                <a:solidFill>
                  <a:srgbClr val="6E8BA0"/>
                </a:solidFill>
                <a:latin typeface="Consolas"/>
              </a:rPr>
              <a:t>! Host route -- this one server goes a different way.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ip route 10.9.9.50 255.255.255.255 10.255.1.2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1">
                <a:solidFill>
                  <a:srgbClr val="6E8BA0"/>
                </a:solidFill>
                <a:latin typeface="Consolas"/>
              </a:rPr>
              <a:t>!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1">
                <a:solidFill>
                  <a:srgbClr val="6E8BA0"/>
                </a:solidFill>
                <a:latin typeface="Consolas"/>
              </a:rPr>
              <a:t>! Floating static -- distance 200 keeps it out of the table while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1">
                <a:solidFill>
                  <a:srgbClr val="6E8BA0"/>
                </a:solidFill>
                <a:latin typeface="Consolas"/>
              </a:rPr>
              <a:t>! OSPF (distance 110) has a route. It appears only if OSPF loses one.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ip route 10.1.0.0 255.255.0.0 10.255.2.2 200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CONCEPT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Why the host route wins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16. Static Routing, IPv4 and IPv6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3.2</a:t>
            </a:r>
          </a:p>
        </p:txBody>
      </p:sp>
      <p:sp>
        <p:nvSpPr>
          <p:cNvPr id="7" name="tint"/>
          <p:cNvSpPr/>
          <p:nvPr/>
        </p:nvSpPr>
        <p:spPr>
          <a:xfrm>
            <a:off x="685800" y="1517904"/>
            <a:ext cx="10820095" cy="1667256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body"/>
          <p:cNvSpPr txBox="1"/>
          <p:nvPr/>
        </p:nvSpPr>
        <p:spPr>
          <a:xfrm>
            <a:off x="978408" y="1737360"/>
            <a:ext cx="10234879" cy="4645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All four routes above can match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10.9.9.50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 The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/32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host route is the longest prefix, so it is used — ahead of the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/24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, ahead of the default. Longest prefix match decides before distance is even considered (Chapter 15).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WATCH OUT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Exit-interface-only routes on Ethernet are a trap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16. Static Routing, IPv4 and IPv6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3.2</a:t>
            </a:r>
          </a:p>
        </p:txBody>
      </p:sp>
      <p:sp>
        <p:nvSpPr>
          <p:cNvPr id="7" name="body"/>
          <p:cNvSpPr txBox="1"/>
          <p:nvPr/>
        </p:nvSpPr>
        <p:spPr>
          <a:xfrm>
            <a:off x="685800" y="2364449"/>
            <a:ext cx="10820095" cy="40180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Ethernet is multi-access: many devices share the segment. A route that names only an exit interface tells the router “send it out here” without saying to whom, so the router must ARP for </a:t>
            </a:r>
            <a:r>
              <a:rPr sz="2000" b="0" i="1">
                <a:solidFill>
                  <a:srgbClr val="1C252B"/>
                </a:solidFill>
                <a:latin typeface="Segoe UI"/>
              </a:rPr>
              <a:t>every destination address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it forwards, hoping something answers. On a link where proxy ARP is enabled it appears to work; where it is not, it silently fails; and either way the ARP table fills with entries that should not exist.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On a serial point-to-point link there is only one possible recipient, so the form is harmless. On Ethernet, always give the next hop — alone or fully specified.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VERIFY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show ip route static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16. Static Routing, IPv4 and IPv6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3.2</a:t>
            </a:r>
          </a:p>
        </p:txBody>
      </p:sp>
      <p:sp>
        <p:nvSpPr>
          <p:cNvPr id="7" name="codebg"/>
          <p:cNvSpPr/>
          <p:nvPr/>
        </p:nvSpPr>
        <p:spPr>
          <a:xfrm>
            <a:off x="685800" y="1901952"/>
            <a:ext cx="10820095" cy="1881632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bar"/>
          <p:cNvSpPr/>
          <p:nvPr/>
        </p:nvSpPr>
        <p:spPr>
          <a:xfrm>
            <a:off x="685800" y="1901952"/>
            <a:ext cx="10820095" cy="347472"/>
          </a:xfrm>
          <a:prstGeom prst="rect">
            <a:avLst/>
          </a:prstGeom>
          <a:solidFill>
            <a:srgbClr val="273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codettl"/>
          <p:cNvSpPr txBox="1"/>
          <p:nvPr/>
        </p:nvSpPr>
        <p:spPr>
          <a:xfrm>
            <a:off x="886968" y="1956816"/>
            <a:ext cx="104177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9FB3C8"/>
                </a:solidFill>
                <a:latin typeface="Segoe UI"/>
              </a:rPr>
              <a:t>R1#</a:t>
            </a:r>
          </a:p>
        </p:txBody>
      </p:sp>
      <p:sp>
        <p:nvSpPr>
          <p:cNvPr id="10" name="code"/>
          <p:cNvSpPr txBox="1"/>
          <p:nvPr/>
        </p:nvSpPr>
        <p:spPr>
          <a:xfrm>
            <a:off x="886968" y="2340864"/>
            <a:ext cx="10417759" cy="13878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      10.0.0.0/8 is variably subnetted, 5 subnets, 3 masks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S        10.1.0.0/16 [200/0] via 10.255.2.2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S        10.9.9.0/24 [1/0] via 10.255.0.2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S        10.9.9.50/32 [1/0] via 10.255.1.2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S*    0.0.0.0/0 [1/0] via 203.0.113.1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CONFIGURE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IPv6 static routes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16. Static Routing, IPv4 and IPv6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3.2</a:t>
            </a:r>
          </a:p>
        </p:txBody>
      </p:sp>
      <p:sp>
        <p:nvSpPr>
          <p:cNvPr id="7" name="codebg"/>
          <p:cNvSpPr/>
          <p:nvPr/>
        </p:nvSpPr>
        <p:spPr>
          <a:xfrm>
            <a:off x="685800" y="1517904"/>
            <a:ext cx="10820095" cy="4590288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bar"/>
          <p:cNvSpPr/>
          <p:nvPr/>
        </p:nvSpPr>
        <p:spPr>
          <a:xfrm>
            <a:off x="685800" y="1517904"/>
            <a:ext cx="10820095" cy="347472"/>
          </a:xfrm>
          <a:prstGeom prst="rect">
            <a:avLst/>
          </a:prstGeom>
          <a:solidFill>
            <a:srgbClr val="273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codettl"/>
          <p:cNvSpPr txBox="1"/>
          <p:nvPr/>
        </p:nvSpPr>
        <p:spPr>
          <a:xfrm>
            <a:off x="886968" y="1572768"/>
            <a:ext cx="104177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9FB3C8"/>
                </a:solidFill>
                <a:latin typeface="Segoe UI"/>
              </a:rPr>
              <a:t>IOS  ·  configuration mode</a:t>
            </a:r>
          </a:p>
        </p:txBody>
      </p:sp>
      <p:sp>
        <p:nvSpPr>
          <p:cNvPr id="10" name="code"/>
          <p:cNvSpPr txBox="1"/>
          <p:nvPr/>
        </p:nvSpPr>
        <p:spPr>
          <a:xfrm>
            <a:off x="886968" y="1956816"/>
            <a:ext cx="10417759" cy="409651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E8EEF2"/>
                </a:solidFill>
                <a:latin typeface="Consolas"/>
              </a:rPr>
              <a:t>ipv6 unicast-routing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1">
                <a:solidFill>
                  <a:srgbClr val="6E8BA0"/>
                </a:solidFill>
                <a:latin typeface="Consolas"/>
              </a:rPr>
              <a:t>!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1">
                <a:solidFill>
                  <a:srgbClr val="6E8BA0"/>
                </a:solidFill>
                <a:latin typeface="Consolas"/>
              </a:rPr>
              <a:t>! Network route via a global next-hop address.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E8EEF2"/>
                </a:solidFill>
                <a:latin typeface="Consolas"/>
              </a:rPr>
              <a:t>ipv6 route 2001:db8:acad:20::/64 2001:db8:acad:99::2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1">
                <a:solidFill>
                  <a:srgbClr val="6E8BA0"/>
                </a:solidFill>
                <a:latin typeface="Consolas"/>
              </a:rPr>
              <a:t>!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1">
                <a:solidFill>
                  <a:srgbClr val="6E8BA0"/>
                </a:solidFill>
                <a:latin typeface="Consolas"/>
              </a:rPr>
              <a:t>! Default route.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E8EEF2"/>
                </a:solidFill>
                <a:latin typeface="Consolas"/>
              </a:rPr>
              <a:t>ipv6 route ::/0 2001:db8:acad:99::2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1">
                <a:solidFill>
                  <a:srgbClr val="6E8BA0"/>
                </a:solidFill>
                <a:latin typeface="Consolas"/>
              </a:rPr>
              <a:t>!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1">
                <a:solidFill>
                  <a:srgbClr val="6E8BA0"/>
                </a:solidFill>
                <a:latin typeface="Consolas"/>
              </a:rPr>
              <a:t>! Host route.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E8EEF2"/>
                </a:solidFill>
                <a:latin typeface="Consolas"/>
              </a:rPr>
              <a:t>ipv6 route 2001:db8:acad:20::50/128 2001:db8:acad:99::2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1">
                <a:solidFill>
                  <a:srgbClr val="6E8BA0"/>
                </a:solidFill>
                <a:latin typeface="Consolas"/>
              </a:rPr>
              <a:t>!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1">
                <a:solidFill>
                  <a:srgbClr val="6E8BA0"/>
                </a:solidFill>
                <a:latin typeface="Consolas"/>
              </a:rPr>
              <a:t>! Floating static.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E8EEF2"/>
                </a:solidFill>
                <a:latin typeface="Consolas"/>
              </a:rPr>
              <a:t>ipv6 route 2001:db8:acad:30::/64 2001:db8:acad:98::2 200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1">
                <a:solidFill>
                  <a:srgbClr val="6E8BA0"/>
                </a:solidFill>
                <a:latin typeface="Consolas"/>
              </a:rPr>
              <a:t>!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1">
                <a:solidFill>
                  <a:srgbClr val="6E8BA0"/>
                </a:solidFill>
                <a:latin typeface="Consolas"/>
              </a:rPr>
              <a:t>! Via a LINK-LOCAL next hop -- the exit interface is mandatory,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1">
                <a:solidFill>
                  <a:srgbClr val="6E8BA0"/>
                </a:solidFill>
                <a:latin typeface="Consolas"/>
              </a:rPr>
              <a:t>! because fe80:: addresses are only unique per link and the router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1">
                <a:solidFill>
                  <a:srgbClr val="6E8BA0"/>
                </a:solidFill>
                <a:latin typeface="Consolas"/>
              </a:rPr>
              <a:t>! has no way to know which interface you mean.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E8EEF2"/>
                </a:solidFill>
                <a:latin typeface="Consolas"/>
              </a:rPr>
              <a:t>ipv6 route 2001:db8:acad:40::/64 GigabitEthernet0/1 fe80::2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CONCEPT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Why link-local next hops need the interface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16. Static Routing, IPv4 and IPv6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3.2</a:t>
            </a:r>
          </a:p>
        </p:txBody>
      </p:sp>
      <p:sp>
        <p:nvSpPr>
          <p:cNvPr id="7" name="tint"/>
          <p:cNvSpPr/>
          <p:nvPr/>
        </p:nvSpPr>
        <p:spPr>
          <a:xfrm>
            <a:off x="685800" y="1517904"/>
            <a:ext cx="10820095" cy="2749296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body"/>
          <p:cNvSpPr txBox="1"/>
          <p:nvPr/>
        </p:nvSpPr>
        <p:spPr>
          <a:xfrm>
            <a:off x="978408" y="1737360"/>
            <a:ext cx="10234879" cy="4645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A link-local address is valid on one link only, and the same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fe80::2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may legitimately exist on three different interfaces of the same router. Naming the interface removes the ambiguity. IOS rejects a link-local next hop without one.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This matters because routing protocols, including OSPFv3, use link-local addresses as their next hop — so link-local next hops are the normal case in IPv6, not an oddity.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VERIFY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show ipv6 route static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16. Static Routing, IPv4 and IPv6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3.2</a:t>
            </a:r>
          </a:p>
        </p:txBody>
      </p:sp>
      <p:sp>
        <p:nvSpPr>
          <p:cNvPr id="7" name="codebg"/>
          <p:cNvSpPr/>
          <p:nvPr/>
        </p:nvSpPr>
        <p:spPr>
          <a:xfrm>
            <a:off x="685800" y="1901952"/>
            <a:ext cx="10820095" cy="2637535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bar"/>
          <p:cNvSpPr/>
          <p:nvPr/>
        </p:nvSpPr>
        <p:spPr>
          <a:xfrm>
            <a:off x="685800" y="1901952"/>
            <a:ext cx="10820095" cy="347472"/>
          </a:xfrm>
          <a:prstGeom prst="rect">
            <a:avLst/>
          </a:prstGeom>
          <a:solidFill>
            <a:srgbClr val="273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codettl"/>
          <p:cNvSpPr txBox="1"/>
          <p:nvPr/>
        </p:nvSpPr>
        <p:spPr>
          <a:xfrm>
            <a:off x="886968" y="1956816"/>
            <a:ext cx="104177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9FB3C8"/>
                </a:solidFill>
                <a:latin typeface="Segoe UI"/>
              </a:rPr>
              <a:t>R1#</a:t>
            </a:r>
          </a:p>
        </p:txBody>
      </p:sp>
      <p:sp>
        <p:nvSpPr>
          <p:cNvPr id="10" name="code"/>
          <p:cNvSpPr txBox="1"/>
          <p:nvPr/>
        </p:nvSpPr>
        <p:spPr>
          <a:xfrm>
            <a:off x="886968" y="2340864"/>
            <a:ext cx="10417759" cy="21437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IPv6 Routing Table - default - 7 entries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Codes: C - Connected, L - Local, S - Static, U - Per-user Static route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S   ::/0 [1/0]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     via 2001:DB8:ACAD:99::2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S   2001:DB8:ACAD:20::/64 [1/0]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     via 2001:DB8:ACAD:99::2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S   2001:DB8:ACAD:40::/64 [1/0]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     via FE80::2, GigabitEthernet0/1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WORKED EXAMPLE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A backup path that only activates on failure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16. Static Routing, IPv4 and IPv6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3.2</a:t>
            </a:r>
          </a:p>
        </p:txBody>
      </p:sp>
      <p:sp>
        <p:nvSpPr>
          <p:cNvPr id="7" name="body"/>
          <p:cNvSpPr txBox="1"/>
          <p:nvPr/>
        </p:nvSpPr>
        <p:spPr>
          <a:xfrm>
            <a:off x="685800" y="1517904"/>
            <a:ext cx="10820095" cy="486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900" b="0" i="0">
                <a:solidFill>
                  <a:srgbClr val="1A5276"/>
                </a:solidFill>
                <a:latin typeface="Consolas"/>
              </a:rPr>
              <a:t>R1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reaches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10.1.0.0/16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through OSPF over its primary link, and has a slow secondary link to the same destination.</a:t>
            </a:r>
          </a:p>
        </p:txBody>
      </p:sp>
      <p:sp>
        <p:nvSpPr>
          <p:cNvPr id="8" name="bullets"/>
          <p:cNvSpPr txBox="1"/>
          <p:nvPr/>
        </p:nvSpPr>
        <p:spPr>
          <a:xfrm>
            <a:off x="685800" y="2361184"/>
            <a:ext cx="10820095" cy="4021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6C3483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OSPF’s route has distance 110.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6C3483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Configure the backup with a distance </a:t>
            </a:r>
            <a:r>
              <a:rPr sz="2000" b="0" i="1">
                <a:solidFill>
                  <a:srgbClr val="1C252B"/>
                </a:solidFill>
                <a:latin typeface="Segoe UI"/>
              </a:rPr>
              <a:t>above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110: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ip route 10.1.0.0 255.255.0.0 10.255.2.2 200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6C3483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While OSPF is up, only the OSPF route is installed.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show ip route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shows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O 10.1.0.0/16 [110/20]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and no static entry at all.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6C3483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The primary link fails. OSPF withdraws its route. The static route, now the only candidate, is installed as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S 10.1.0.0/16 [200/0]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WORKED EXAMPLE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A5276"/>
                </a:solidFill>
                <a:latin typeface="Segoe UI"/>
              </a:rPr>
              <a:t>A backup path that only activates on failure (continued)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16. Static Routing, IPv4 and IPv6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3.2</a:t>
            </a:r>
          </a:p>
        </p:txBody>
      </p:sp>
      <p:sp>
        <p:nvSpPr>
          <p:cNvPr id="7" name="bullets"/>
          <p:cNvSpPr txBox="1"/>
          <p:nvPr/>
        </p:nvSpPr>
        <p:spPr>
          <a:xfrm>
            <a:off x="685800" y="3104678"/>
            <a:ext cx="10820095" cy="32778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6C3483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The primary returns. OSPF’s route at 110 beats 200 and displaces the static again.</a:t>
            </a:r>
          </a:p>
        </p:txBody>
      </p:sp>
      <p:sp>
        <p:nvSpPr>
          <p:cNvPr id="8" name="tailbody"/>
          <p:cNvSpPr txBox="1"/>
          <p:nvPr/>
        </p:nvSpPr>
        <p:spPr>
          <a:xfrm>
            <a:off x="685800" y="3736630"/>
            <a:ext cx="10820095" cy="259101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The number 200 is not magic — it just has to exceed the distance of whatever it is backing up. Back up a </a:t>
            </a:r>
            <a:r>
              <a:rPr sz="2000" b="0" i="1">
                <a:solidFill>
                  <a:srgbClr val="1C252B"/>
                </a:solidFill>
                <a:latin typeface="Segoe UI"/>
              </a:rPr>
              <a:t>static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route (distance 1) and any value from 2 upwards will do.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COMMON PITFALLS  ·  Floating statics, properly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Common pitfalls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16. Static Routing, IPv4 and IPv6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3.2</a:t>
            </a:r>
          </a:p>
        </p:txBody>
      </p:sp>
      <p:sp>
        <p:nvSpPr>
          <p:cNvPr id="7" name="bullets"/>
          <p:cNvSpPr txBox="1"/>
          <p:nvPr/>
        </p:nvSpPr>
        <p:spPr>
          <a:xfrm>
            <a:off x="685800" y="1517904"/>
            <a:ext cx="10820095" cy="4864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6C348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A floating static with too low a distance.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Set it below the dynamic protocol’s and it takes over permanently, which is the opposite of a backup.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6C348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Exit-interface-only routes on Ethernet.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See the warning above.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6C348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Forgetting the reverse route.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A static route is one-directional. Both ends need one, and forgetting this is the commonest static-routing fault of all.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6C348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A next hop that is not directly reachable.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The route will not be installed at all; the router silently discards it.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show ip route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simply has no entry, which looks like you never typed it.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6C348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Omitting the interface on an IPv6 link-local next hop.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Rejected outright.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fband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fstage"/>
          <p:cNvSpPr txBox="1"/>
          <p:nvPr/>
        </p:nvSpPr>
        <p:spPr>
          <a:xfrm>
            <a:off x="685800" y="137160"/>
            <a:ext cx="649205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BREAK &amp; FIX  ·  SYMPTOM</a:t>
            </a:r>
          </a:p>
        </p:txBody>
      </p:sp>
      <p:sp>
        <p:nvSpPr>
          <p:cNvPr id="4" name="bfch"/>
          <p:cNvSpPr txBox="1"/>
          <p:nvPr/>
        </p:nvSpPr>
        <p:spPr>
          <a:xfrm>
            <a:off x="7177857" y="137160"/>
            <a:ext cx="432803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F2D7D5"/>
                </a:solidFill>
                <a:latin typeface="Segoe UI"/>
              </a:rPr>
              <a:t>Chapter 16</a:t>
            </a:r>
          </a:p>
        </p:txBody>
      </p:sp>
      <p:sp>
        <p:nvSpPr>
          <p:cNvPr id="5" name="bftitle"/>
          <p:cNvSpPr txBox="1"/>
          <p:nvPr/>
        </p:nvSpPr>
        <p:spPr>
          <a:xfrm>
            <a:off x="685800" y="841248"/>
            <a:ext cx="1082009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C252B"/>
                </a:solidFill>
                <a:latin typeface="Segoe UI"/>
              </a:rPr>
              <a:t>The static route was typed and it is not in the table.</a:t>
            </a:r>
          </a:p>
        </p:txBody>
      </p:sp>
      <p:sp>
        <p:nvSpPr>
          <p:cNvPr id="6" name="bfbody"/>
          <p:cNvSpPr txBox="1"/>
          <p:nvPr/>
        </p:nvSpPr>
        <p:spPr>
          <a:xfrm>
            <a:off x="685800" y="3169412"/>
            <a:ext cx="10820095" cy="31856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An engineer configures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ip route 10.9.9.0 255.255.255.0 10.255.0.2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and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show ip route static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shows nothing. No error was displayed when the command was entered.</a:t>
            </a:r>
          </a:p>
        </p:txBody>
      </p:sp>
      <p:sp>
        <p:nvSpPr>
          <p:cNvPr id="7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16. Static Routing, IPv4 and IPv6</a:t>
            </a:r>
          </a:p>
        </p:txBody>
      </p:sp>
      <p:sp>
        <p:nvSpPr>
          <p:cNvPr id="8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3.2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fband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fstage"/>
          <p:cNvSpPr txBox="1"/>
          <p:nvPr/>
        </p:nvSpPr>
        <p:spPr>
          <a:xfrm>
            <a:off x="685800" y="137160"/>
            <a:ext cx="649205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BREAK &amp; FIX  ·  YOUR MOVE</a:t>
            </a:r>
          </a:p>
        </p:txBody>
      </p:sp>
      <p:sp>
        <p:nvSpPr>
          <p:cNvPr id="4" name="bfch"/>
          <p:cNvSpPr txBox="1"/>
          <p:nvPr/>
        </p:nvSpPr>
        <p:spPr>
          <a:xfrm>
            <a:off x="7177857" y="137160"/>
            <a:ext cx="432803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F2D7D5"/>
                </a:solidFill>
                <a:latin typeface="Segoe UI"/>
              </a:rPr>
              <a:t>Chapter 16</a:t>
            </a:r>
          </a:p>
        </p:txBody>
      </p:sp>
      <p:sp>
        <p:nvSpPr>
          <p:cNvPr id="5" name="bftitle"/>
          <p:cNvSpPr txBox="1"/>
          <p:nvPr/>
        </p:nvSpPr>
        <p:spPr>
          <a:xfrm>
            <a:off x="685800" y="841248"/>
            <a:ext cx="1082009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C252B"/>
                </a:solidFill>
                <a:latin typeface="Segoe UI"/>
              </a:rPr>
              <a:t>The static route was typed and it is not in the table.</a:t>
            </a:r>
          </a:p>
        </p:txBody>
      </p:sp>
      <p:sp>
        <p:nvSpPr>
          <p:cNvPr id="6" name="promptbg"/>
          <p:cNvSpPr/>
          <p:nvPr/>
        </p:nvSpPr>
        <p:spPr>
          <a:xfrm>
            <a:off x="685800" y="2939796"/>
            <a:ext cx="10820095" cy="84124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prompt"/>
          <p:cNvSpPr txBox="1"/>
          <p:nvPr/>
        </p:nvSpPr>
        <p:spPr>
          <a:xfrm>
            <a:off x="960120" y="3140964"/>
            <a:ext cx="1027145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1A5276"/>
                </a:solidFill>
                <a:latin typeface="Segoe UI"/>
              </a:rPr>
              <a:t>What would you check first — and what do you expect to see?</a:t>
            </a:r>
          </a:p>
        </p:txBody>
      </p:sp>
      <p:sp>
        <p:nvSpPr>
          <p:cNvPr id="8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16. Static Routing, IPv4 and IPv6</a:t>
            </a:r>
          </a:p>
        </p:txBody>
      </p:sp>
      <p:sp>
        <p:nvSpPr>
          <p:cNvPr id="9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3.2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fband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fstage"/>
          <p:cNvSpPr txBox="1"/>
          <p:nvPr/>
        </p:nvSpPr>
        <p:spPr>
          <a:xfrm>
            <a:off x="685800" y="137160"/>
            <a:ext cx="649205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BREAK &amp; FIX  ·  EVIDENCE</a:t>
            </a:r>
          </a:p>
        </p:txBody>
      </p:sp>
      <p:sp>
        <p:nvSpPr>
          <p:cNvPr id="4" name="bfch"/>
          <p:cNvSpPr txBox="1"/>
          <p:nvPr/>
        </p:nvSpPr>
        <p:spPr>
          <a:xfrm>
            <a:off x="7177857" y="137160"/>
            <a:ext cx="432803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F2D7D5"/>
                </a:solidFill>
                <a:latin typeface="Segoe UI"/>
              </a:rPr>
              <a:t>Chapter 16</a:t>
            </a:r>
          </a:p>
        </p:txBody>
      </p:sp>
      <p:sp>
        <p:nvSpPr>
          <p:cNvPr id="5" name="bftitle"/>
          <p:cNvSpPr txBox="1"/>
          <p:nvPr/>
        </p:nvSpPr>
        <p:spPr>
          <a:xfrm>
            <a:off x="685800" y="841248"/>
            <a:ext cx="1082009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C252B"/>
                </a:solidFill>
                <a:latin typeface="Segoe UI"/>
              </a:rPr>
              <a:t>show ip route 10.255.0.2</a:t>
            </a:r>
          </a:p>
        </p:txBody>
      </p:sp>
      <p:sp>
        <p:nvSpPr>
          <p:cNvPr id="6" name="bfcodebg"/>
          <p:cNvSpPr/>
          <p:nvPr/>
        </p:nvSpPr>
        <p:spPr>
          <a:xfrm>
            <a:off x="685800" y="2011680"/>
            <a:ext cx="10820095" cy="1005840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bfcodebar"/>
          <p:cNvSpPr/>
          <p:nvPr/>
        </p:nvSpPr>
        <p:spPr>
          <a:xfrm>
            <a:off x="685800" y="2011680"/>
            <a:ext cx="10820095" cy="329184"/>
          </a:xfrm>
          <a:prstGeom prst="rect">
            <a:avLst/>
          </a:prstGeom>
          <a:solidFill>
            <a:srgbClr val="273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bfcodettl"/>
          <p:cNvSpPr txBox="1"/>
          <p:nvPr/>
        </p:nvSpPr>
        <p:spPr>
          <a:xfrm>
            <a:off x="886968" y="2057400"/>
            <a:ext cx="104177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9FB3C8"/>
                </a:solidFill>
                <a:latin typeface="Segoe UI"/>
              </a:rPr>
              <a:t>R1#</a:t>
            </a:r>
          </a:p>
        </p:txBody>
      </p:sp>
      <p:sp>
        <p:nvSpPr>
          <p:cNvPr id="9" name="bfcode"/>
          <p:cNvSpPr txBox="1"/>
          <p:nvPr/>
        </p:nvSpPr>
        <p:spPr>
          <a:xfrm>
            <a:off x="886968" y="2432304"/>
            <a:ext cx="10417759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E8EEF2"/>
                </a:solidFill>
                <a:latin typeface="Consolas"/>
              </a:rPr>
              <a:t>% Network not in table</a:t>
            </a:r>
          </a:p>
        </p:txBody>
      </p:sp>
      <p:sp>
        <p:nvSpPr>
          <p:cNvPr id="10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16. Static Routing, IPv4 and IPv6</a:t>
            </a:r>
          </a:p>
        </p:txBody>
      </p:sp>
      <p:sp>
        <p:nvSpPr>
          <p:cNvPr id="11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3.2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fband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fstage"/>
          <p:cNvSpPr txBox="1"/>
          <p:nvPr/>
        </p:nvSpPr>
        <p:spPr>
          <a:xfrm>
            <a:off x="685800" y="137160"/>
            <a:ext cx="649205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BREAK &amp; FIX  ·  EVIDENCE</a:t>
            </a:r>
          </a:p>
        </p:txBody>
      </p:sp>
      <p:sp>
        <p:nvSpPr>
          <p:cNvPr id="4" name="bfch"/>
          <p:cNvSpPr txBox="1"/>
          <p:nvPr/>
        </p:nvSpPr>
        <p:spPr>
          <a:xfrm>
            <a:off x="7177857" y="137160"/>
            <a:ext cx="432803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F2D7D5"/>
                </a:solidFill>
                <a:latin typeface="Segoe UI"/>
              </a:rPr>
              <a:t>Chapter 16</a:t>
            </a:r>
          </a:p>
        </p:txBody>
      </p:sp>
      <p:sp>
        <p:nvSpPr>
          <p:cNvPr id="5" name="bftitle"/>
          <p:cNvSpPr txBox="1"/>
          <p:nvPr/>
        </p:nvSpPr>
        <p:spPr>
          <a:xfrm>
            <a:off x="685800" y="841248"/>
            <a:ext cx="1082009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C252B"/>
                </a:solidFill>
                <a:latin typeface="Segoe UI"/>
              </a:rPr>
              <a:t>show ip interface brief | include Gigabit</a:t>
            </a:r>
          </a:p>
        </p:txBody>
      </p:sp>
      <p:sp>
        <p:nvSpPr>
          <p:cNvPr id="6" name="bfcodebg"/>
          <p:cNvSpPr/>
          <p:nvPr/>
        </p:nvSpPr>
        <p:spPr>
          <a:xfrm>
            <a:off x="685800" y="2011680"/>
            <a:ext cx="10820095" cy="1005840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bfcodebar"/>
          <p:cNvSpPr/>
          <p:nvPr/>
        </p:nvSpPr>
        <p:spPr>
          <a:xfrm>
            <a:off x="685800" y="2011680"/>
            <a:ext cx="10820095" cy="329184"/>
          </a:xfrm>
          <a:prstGeom prst="rect">
            <a:avLst/>
          </a:prstGeom>
          <a:solidFill>
            <a:srgbClr val="273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bfcodettl"/>
          <p:cNvSpPr txBox="1"/>
          <p:nvPr/>
        </p:nvSpPr>
        <p:spPr>
          <a:xfrm>
            <a:off x="886968" y="2057400"/>
            <a:ext cx="104177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9FB3C8"/>
                </a:solidFill>
                <a:latin typeface="Segoe UI"/>
              </a:rPr>
              <a:t>R1#</a:t>
            </a:r>
          </a:p>
        </p:txBody>
      </p:sp>
      <p:sp>
        <p:nvSpPr>
          <p:cNvPr id="9" name="bfcode"/>
          <p:cNvSpPr txBox="1"/>
          <p:nvPr/>
        </p:nvSpPr>
        <p:spPr>
          <a:xfrm>
            <a:off x="886968" y="2432304"/>
            <a:ext cx="10417759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E8EEF2"/>
                </a:solidFill>
                <a:latin typeface="Consolas"/>
              </a:rPr>
              <a:t>GigabitEthernet0/1     10.255.0.1      YES manual administratively down down</a:t>
            </a:r>
          </a:p>
        </p:txBody>
      </p:sp>
      <p:sp>
        <p:nvSpPr>
          <p:cNvPr id="10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16. Static Routing, IPv4 and IPv6</a:t>
            </a:r>
          </a:p>
        </p:txBody>
      </p:sp>
      <p:sp>
        <p:nvSpPr>
          <p:cNvPr id="11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3.2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fband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fstage"/>
          <p:cNvSpPr txBox="1"/>
          <p:nvPr/>
        </p:nvSpPr>
        <p:spPr>
          <a:xfrm>
            <a:off x="685800" y="137160"/>
            <a:ext cx="649205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BREAK &amp; FIX  ·  YOUR MOVE</a:t>
            </a:r>
          </a:p>
        </p:txBody>
      </p:sp>
      <p:sp>
        <p:nvSpPr>
          <p:cNvPr id="4" name="bfch"/>
          <p:cNvSpPr txBox="1"/>
          <p:nvPr/>
        </p:nvSpPr>
        <p:spPr>
          <a:xfrm>
            <a:off x="7177857" y="137160"/>
            <a:ext cx="432803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F2D7D5"/>
                </a:solidFill>
                <a:latin typeface="Segoe UI"/>
              </a:rPr>
              <a:t>Chapter 16</a:t>
            </a:r>
          </a:p>
        </p:txBody>
      </p:sp>
      <p:sp>
        <p:nvSpPr>
          <p:cNvPr id="5" name="bftitle"/>
          <p:cNvSpPr txBox="1"/>
          <p:nvPr/>
        </p:nvSpPr>
        <p:spPr>
          <a:xfrm>
            <a:off x="685800" y="841248"/>
            <a:ext cx="1082009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C252B"/>
                </a:solidFill>
                <a:latin typeface="Segoe UI"/>
              </a:rPr>
              <a:t/>
            </a:r>
          </a:p>
        </p:txBody>
      </p:sp>
      <p:sp>
        <p:nvSpPr>
          <p:cNvPr id="6" name="promptbg"/>
          <p:cNvSpPr/>
          <p:nvPr/>
        </p:nvSpPr>
        <p:spPr>
          <a:xfrm>
            <a:off x="685800" y="2939796"/>
            <a:ext cx="10820095" cy="84124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prompt"/>
          <p:cNvSpPr txBox="1"/>
          <p:nvPr/>
        </p:nvSpPr>
        <p:spPr>
          <a:xfrm>
            <a:off x="960120" y="3140964"/>
            <a:ext cx="1027145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1A5276"/>
                </a:solidFill>
                <a:latin typeface="Segoe UI"/>
              </a:rPr>
              <a:t>What is the fault — and what does this output rule out?</a:t>
            </a:r>
          </a:p>
        </p:txBody>
      </p:sp>
      <p:sp>
        <p:nvSpPr>
          <p:cNvPr id="8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16. Static Routing, IPv4 and IPv6</a:t>
            </a:r>
          </a:p>
        </p:txBody>
      </p:sp>
      <p:sp>
        <p:nvSpPr>
          <p:cNvPr id="9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3.2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fband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fstage"/>
          <p:cNvSpPr txBox="1"/>
          <p:nvPr/>
        </p:nvSpPr>
        <p:spPr>
          <a:xfrm>
            <a:off x="685800" y="137160"/>
            <a:ext cx="649205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BREAK &amp; FIX  ·  DIAGNOSIS</a:t>
            </a:r>
          </a:p>
        </p:txBody>
      </p:sp>
      <p:sp>
        <p:nvSpPr>
          <p:cNvPr id="4" name="bfch"/>
          <p:cNvSpPr txBox="1"/>
          <p:nvPr/>
        </p:nvSpPr>
        <p:spPr>
          <a:xfrm>
            <a:off x="7177857" y="137160"/>
            <a:ext cx="432803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F2D7D5"/>
                </a:solidFill>
                <a:latin typeface="Segoe UI"/>
              </a:rPr>
              <a:t>Chapter 16</a:t>
            </a:r>
          </a:p>
        </p:txBody>
      </p:sp>
      <p:sp>
        <p:nvSpPr>
          <p:cNvPr id="5" name="bftitle"/>
          <p:cNvSpPr txBox="1"/>
          <p:nvPr/>
        </p:nvSpPr>
        <p:spPr>
          <a:xfrm>
            <a:off x="685800" y="841248"/>
            <a:ext cx="1082009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C252B"/>
                </a:solidFill>
                <a:latin typeface="Segoe UI"/>
              </a:rPr>
              <a:t>Why it is doing that</a:t>
            </a:r>
          </a:p>
        </p:txBody>
      </p:sp>
      <p:sp>
        <p:nvSpPr>
          <p:cNvPr id="6" name="bfbody"/>
          <p:cNvSpPr txBox="1"/>
          <p:nvPr/>
        </p:nvSpPr>
        <p:spPr>
          <a:xfrm>
            <a:off x="685800" y="2772292"/>
            <a:ext cx="10820095" cy="35827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900" b="1" i="0">
                <a:solidFill>
                  <a:srgbClr val="1C252B"/>
                </a:solidFill>
                <a:latin typeface="Segoe UI"/>
              </a:rPr>
              <a:t>Diagnosis.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A static route is only installed if the router can resolve its next hop.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10.255.0.2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is not reachable — there is no connected subnet covering it — so the route is accepted into the configuration and never enters the routing table. This is why the command produced no error: the syntax was perfect and the topology was not.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Check the interface that should reach it:</a:t>
            </a:r>
          </a:p>
        </p:txBody>
      </p:sp>
      <p:sp>
        <p:nvSpPr>
          <p:cNvPr id="7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16. Static Routing, IPv4 and IPv6</a:t>
            </a:r>
          </a:p>
        </p:txBody>
      </p:sp>
      <p:sp>
        <p:nvSpPr>
          <p:cNvPr id="8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3.2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fband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fstage"/>
          <p:cNvSpPr txBox="1"/>
          <p:nvPr/>
        </p:nvSpPr>
        <p:spPr>
          <a:xfrm>
            <a:off x="685800" y="137160"/>
            <a:ext cx="649205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BREAK &amp; FIX  ·  THE FIX</a:t>
            </a:r>
          </a:p>
        </p:txBody>
      </p:sp>
      <p:sp>
        <p:nvSpPr>
          <p:cNvPr id="4" name="bfch"/>
          <p:cNvSpPr txBox="1"/>
          <p:nvPr/>
        </p:nvSpPr>
        <p:spPr>
          <a:xfrm>
            <a:off x="7177857" y="137160"/>
            <a:ext cx="432803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F2D7D5"/>
                </a:solidFill>
                <a:latin typeface="Segoe UI"/>
              </a:rPr>
              <a:t>Chapter 16</a:t>
            </a:r>
          </a:p>
        </p:txBody>
      </p:sp>
      <p:sp>
        <p:nvSpPr>
          <p:cNvPr id="5" name="bftitle"/>
          <p:cNvSpPr txBox="1"/>
          <p:nvPr/>
        </p:nvSpPr>
        <p:spPr>
          <a:xfrm>
            <a:off x="685800" y="841248"/>
            <a:ext cx="1082009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C252B"/>
                </a:solidFill>
                <a:latin typeface="Segoe UI"/>
              </a:rPr>
              <a:t>And the lesson</a:t>
            </a:r>
          </a:p>
        </p:txBody>
      </p:sp>
      <p:sp>
        <p:nvSpPr>
          <p:cNvPr id="6" name="bfbody"/>
          <p:cNvSpPr txBox="1"/>
          <p:nvPr/>
        </p:nvSpPr>
        <p:spPr>
          <a:xfrm>
            <a:off x="685800" y="2928111"/>
            <a:ext cx="10820095" cy="342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900" b="1" i="0">
                <a:solidFill>
                  <a:srgbClr val="1C252B"/>
                </a:solidFill>
                <a:latin typeface="Segoe UI"/>
              </a:rPr>
              <a:t>Fix.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The interface is shut.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no shutdown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on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Gi0/1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and the connected route for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10.255.0.0/30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appears, the next hop resolves, and the static route installs itself immediately. Confirm with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show ip route static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— and remember the general rule: </a:t>
            </a:r>
            <a:r>
              <a:rPr sz="1900" b="1" i="0">
                <a:solidFill>
                  <a:srgbClr val="1C252B"/>
                </a:solidFill>
                <a:latin typeface="Segoe UI"/>
              </a:rPr>
              <a:t>a static route missing from the table is nearly always an unreachable next hop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not a typing error.</a:t>
            </a:r>
          </a:p>
        </p:txBody>
      </p:sp>
      <p:sp>
        <p:nvSpPr>
          <p:cNvPr id="7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16. Static Routing, IPv4 and IPv6</a:t>
            </a:r>
          </a:p>
        </p:txBody>
      </p:sp>
      <p:sp>
        <p:nvSpPr>
          <p:cNvPr id="8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3.2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LAB · PACKET TRACER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Four routes, one failure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16. Static Routing, IPv4 and IPv6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3.2</a:t>
            </a:r>
          </a:p>
        </p:txBody>
      </p:sp>
      <p:sp>
        <p:nvSpPr>
          <p:cNvPr id="7" name="body"/>
          <p:cNvSpPr txBox="1"/>
          <p:nvPr/>
        </p:nvSpPr>
        <p:spPr>
          <a:xfrm>
            <a:off x="685800" y="1517904"/>
            <a:ext cx="10820095" cy="486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900" b="1" i="0">
                <a:solidFill>
                  <a:srgbClr val="1C252B"/>
                </a:solidFill>
                <a:latin typeface="Segoe UI"/>
              </a:rPr>
              <a:t>Topology.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Three routers —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R1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R2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R3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— with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R1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connected to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R2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by a fast link and to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R3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by a slow one, and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R2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and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R3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both connected to a LAN at the far side. A LAN on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R1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8" name="bullets"/>
          <p:cNvSpPr txBox="1"/>
          <p:nvPr/>
        </p:nvSpPr>
        <p:spPr>
          <a:xfrm>
            <a:off x="685800" y="2328164"/>
            <a:ext cx="10820095" cy="40543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66776" indent="-366776">
              <a:lnSpc>
                <a:spcPct val="102000"/>
              </a:lnSpc>
              <a:spcAft>
                <a:spcPts val="900"/>
              </a:spcAft>
            </a:pPr>
            <a:r>
              <a:rPr sz="1900" b="1">
                <a:solidFill>
                  <a:srgbClr val="6C3483"/>
                </a:solidFill>
                <a:latin typeface="Segoe UI"/>
              </a:rPr>
              <a:t>1.  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Address everything. Confirm connected routes on all three and that neighbours ping.</a:t>
            </a:r>
          </a:p>
          <a:p>
            <a:pPr marL="366776" indent="-366776">
              <a:lnSpc>
                <a:spcPct val="102000"/>
              </a:lnSpc>
              <a:spcAft>
                <a:spcPts val="900"/>
              </a:spcAft>
            </a:pPr>
            <a:r>
              <a:rPr sz="1900" b="1">
                <a:solidFill>
                  <a:srgbClr val="6C3483"/>
                </a:solidFill>
                <a:latin typeface="Segoe UI"/>
              </a:rPr>
              <a:t>2.  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On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R1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add a network route to the far LAN via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R2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 Test from the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R1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LAN — it will fail. Diagnose why, then add the reverse route and re-test.</a:t>
            </a:r>
          </a:p>
          <a:p>
            <a:pPr marL="366776" indent="-366776">
              <a:lnSpc>
                <a:spcPct val="102000"/>
              </a:lnSpc>
              <a:spcAft>
                <a:spcPts val="900"/>
              </a:spcAft>
            </a:pPr>
            <a:r>
              <a:rPr sz="1900" b="1">
                <a:solidFill>
                  <a:srgbClr val="6C3483"/>
                </a:solidFill>
                <a:latin typeface="Segoe UI"/>
              </a:rPr>
              <a:t>3.  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Add a default route on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R2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and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R3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pointing back at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R1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 Note the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S*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and the gateway of last resort line.</a:t>
            </a:r>
          </a:p>
          <a:p>
            <a:pPr marL="366776" indent="-366776">
              <a:lnSpc>
                <a:spcPct val="102000"/>
              </a:lnSpc>
              <a:spcAft>
                <a:spcPts val="900"/>
              </a:spcAft>
            </a:pPr>
            <a:r>
              <a:rPr sz="1900" b="1">
                <a:solidFill>
                  <a:srgbClr val="6C3483"/>
                </a:solidFill>
                <a:latin typeface="Segoe UI"/>
              </a:rPr>
              <a:t>4.  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Add a host route on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R1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for one server in the far LAN, via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R3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 Prove with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show ip route &lt;address&gt;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that it is preferred over the network route.</a:t>
            </a:r>
          </a:p>
          <a:p>
            <a:pPr marL="366776" indent="-366776">
              <a:lnSpc>
                <a:spcPct val="102000"/>
              </a:lnSpc>
              <a:spcAft>
                <a:spcPts val="900"/>
              </a:spcAft>
            </a:pPr>
            <a:r>
              <a:rPr sz="1900" b="1">
                <a:solidFill>
                  <a:srgbClr val="6C3483"/>
                </a:solidFill>
                <a:latin typeface="Segoe UI"/>
              </a:rPr>
              <a:t>5.  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Add a floating static via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R3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for the far LAN with distance 5. Confirm it is </a:t>
            </a:r>
            <a:r>
              <a:rPr sz="1900" b="0" i="1">
                <a:solidFill>
                  <a:srgbClr val="1C252B"/>
                </a:solidFill>
                <a:latin typeface="Segoe UI"/>
              </a:rPr>
              <a:t>not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in the table.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LAB · PACKET TRACER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Four routes, one failure (continued)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16. Static Routing, IPv4 and IPv6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3.2</a:t>
            </a:r>
          </a:p>
        </p:txBody>
      </p:sp>
      <p:sp>
        <p:nvSpPr>
          <p:cNvPr id="7" name="bullets"/>
          <p:cNvSpPr txBox="1"/>
          <p:nvPr/>
        </p:nvSpPr>
        <p:spPr>
          <a:xfrm>
            <a:off x="685800" y="2718235"/>
            <a:ext cx="10820095" cy="36642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86080" indent="-38608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6C3483"/>
                </a:solidFill>
                <a:latin typeface="Segoe UI"/>
              </a:rPr>
              <a:t>1.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Shut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R1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’s link to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R2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 Confirm the floating static appears and traffic still flows. Restore the link and watch it withdraw.</a:t>
            </a:r>
          </a:p>
          <a:p>
            <a:pPr marL="386080" indent="-38608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6C3483"/>
                </a:solidFill>
                <a:latin typeface="Segoe UI"/>
              </a:rPr>
              <a:t>2.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Extension.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Repeat steps 2 and 5 for IPv6, including one route via a link-local next hop.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q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qlab"/>
          <p:cNvSpPr txBox="1"/>
          <p:nvPr/>
        </p:nvSpPr>
        <p:spPr>
          <a:xfrm>
            <a:off x="685800" y="1188720"/>
            <a:ext cx="108200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9FC5E8"/>
                </a:solidFill>
                <a:latin typeface="Segoe UI"/>
              </a:rPr>
              <a:t>CHECKPOINT  1 of 3</a:t>
            </a:r>
          </a:p>
        </p:txBody>
      </p:sp>
      <p:sp>
        <p:nvSpPr>
          <p:cNvPr id="4" name="qtext"/>
          <p:cNvSpPr txBox="1"/>
          <p:nvPr/>
        </p:nvSpPr>
        <p:spPr>
          <a:xfrm>
            <a:off x="685800" y="1783080"/>
            <a:ext cx="10820095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0" i="0">
                <a:solidFill>
                  <a:srgbClr val="FFFFFF"/>
                </a:solidFill>
                <a:latin typeface="Segoe UI"/>
              </a:rPr>
              <a:t>You configure a static route and it never appears in the table, with no error message. What is the most likely cause and which command confirms it?</a:t>
            </a:r>
          </a:p>
        </p:txBody>
      </p:sp>
      <p:sp>
        <p:nvSpPr>
          <p:cNvPr id="5" name="qhint"/>
          <p:cNvSpPr txBox="1"/>
          <p:nvPr/>
        </p:nvSpPr>
        <p:spPr>
          <a:xfrm>
            <a:off x="685800" y="5394960"/>
            <a:ext cx="108200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7FA8C9"/>
                </a:solidFill>
                <a:latin typeface="Segoe UI"/>
              </a:rPr>
              <a:t>Discuss · then advance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ANSWER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Checkpoint 1 of 3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16. Static Routing, IPv4 and IPv6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3.2</a:t>
            </a:r>
          </a:p>
        </p:txBody>
      </p:sp>
      <p:sp>
        <p:nvSpPr>
          <p:cNvPr id="7" name="qtext"/>
          <p:cNvSpPr txBox="1"/>
          <p:nvPr/>
        </p:nvSpPr>
        <p:spPr>
          <a:xfrm>
            <a:off x="685800" y="1517904"/>
            <a:ext cx="1082009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1A5276"/>
                </a:solidFill>
                <a:latin typeface="Segoe UI"/>
              </a:rPr>
              <a:t>You configure a static route and it never appears in the table, with no error message. What is the most likely cause and which command confirms it?</a:t>
            </a:r>
          </a:p>
        </p:txBody>
      </p:sp>
      <p:sp>
        <p:nvSpPr>
          <p:cNvPr id="8" name="abar"/>
          <p:cNvSpPr/>
          <p:nvPr/>
        </p:nvSpPr>
        <p:spPr>
          <a:xfrm>
            <a:off x="685800" y="2511044"/>
            <a:ext cx="41148" cy="114223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atext"/>
          <p:cNvSpPr txBox="1"/>
          <p:nvPr/>
        </p:nvSpPr>
        <p:spPr>
          <a:xfrm>
            <a:off x="941832" y="2511044"/>
            <a:ext cx="10564063" cy="3780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The next hop is not reachable. A router will not install a static route whose next-hop address it cannot resolve to an interface. Confirm with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show ip route &lt;next-hop&gt;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— if that returns nothing, the static route has nowhere to point.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q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qlab"/>
          <p:cNvSpPr txBox="1"/>
          <p:nvPr/>
        </p:nvSpPr>
        <p:spPr>
          <a:xfrm>
            <a:off x="685800" y="1188720"/>
            <a:ext cx="108200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9FC5E8"/>
                </a:solidFill>
                <a:latin typeface="Segoe UI"/>
              </a:rPr>
              <a:t>CHECKPOINT  2 of 3</a:t>
            </a:r>
          </a:p>
        </p:txBody>
      </p:sp>
      <p:sp>
        <p:nvSpPr>
          <p:cNvPr id="4" name="qtext"/>
          <p:cNvSpPr txBox="1"/>
          <p:nvPr/>
        </p:nvSpPr>
        <p:spPr>
          <a:xfrm>
            <a:off x="685800" y="1783080"/>
            <a:ext cx="10820095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0" i="0">
                <a:solidFill>
                  <a:srgbClr val="FFFFFF"/>
                </a:solidFill>
                <a:latin typeface="Segoe UI"/>
              </a:rPr>
              <a:t>A floating static backing up an OSPF route is configured with distance 100. What will happen, and why is it wrong?</a:t>
            </a:r>
          </a:p>
        </p:txBody>
      </p:sp>
      <p:sp>
        <p:nvSpPr>
          <p:cNvPr id="5" name="qhint"/>
          <p:cNvSpPr txBox="1"/>
          <p:nvPr/>
        </p:nvSpPr>
        <p:spPr>
          <a:xfrm>
            <a:off x="685800" y="5394960"/>
            <a:ext cx="108200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7FA8C9"/>
                </a:solidFill>
                <a:latin typeface="Segoe UI"/>
              </a:rPr>
              <a:t>Discuss · then advance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ANSWER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Checkpoint 2 of 3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16. Static Routing, IPv4 and IPv6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3.2</a:t>
            </a:r>
          </a:p>
        </p:txBody>
      </p:sp>
      <p:sp>
        <p:nvSpPr>
          <p:cNvPr id="7" name="qtext"/>
          <p:cNvSpPr txBox="1"/>
          <p:nvPr/>
        </p:nvSpPr>
        <p:spPr>
          <a:xfrm>
            <a:off x="685800" y="1517904"/>
            <a:ext cx="1082009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1A5276"/>
                </a:solidFill>
                <a:latin typeface="Segoe UI"/>
              </a:rPr>
              <a:t>A floating static backing up an OSPF route is configured with distance 100. What will happen, and why is it wrong?</a:t>
            </a:r>
          </a:p>
        </p:txBody>
      </p:sp>
      <p:sp>
        <p:nvSpPr>
          <p:cNvPr id="8" name="abar"/>
          <p:cNvSpPr/>
          <p:nvPr/>
        </p:nvSpPr>
        <p:spPr>
          <a:xfrm>
            <a:off x="685800" y="2511044"/>
            <a:ext cx="41148" cy="114223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atext"/>
          <p:cNvSpPr txBox="1"/>
          <p:nvPr/>
        </p:nvSpPr>
        <p:spPr>
          <a:xfrm>
            <a:off x="941832" y="2511044"/>
            <a:ext cx="10564063" cy="3780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Nothing will happen: 100 is </a:t>
            </a:r>
            <a:r>
              <a:rPr sz="1900" b="0" i="1">
                <a:solidFill>
                  <a:srgbClr val="1C252B"/>
                </a:solidFill>
                <a:latin typeface="Segoe UI"/>
              </a:rPr>
              <a:t>lower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than OSPF’s 110, so the “backup” route wins permanently and the OSPF route is never installed. A floating static must have a distance </a:t>
            </a:r>
            <a:r>
              <a:rPr sz="1900" b="0" i="1">
                <a:solidFill>
                  <a:srgbClr val="1C252B"/>
                </a:solidFill>
                <a:latin typeface="Segoe UI"/>
              </a:rPr>
              <a:t>higher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than the protocol it backs up.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q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qlab"/>
          <p:cNvSpPr txBox="1"/>
          <p:nvPr/>
        </p:nvSpPr>
        <p:spPr>
          <a:xfrm>
            <a:off x="685800" y="1188720"/>
            <a:ext cx="108200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9FC5E8"/>
                </a:solidFill>
                <a:latin typeface="Segoe UI"/>
              </a:rPr>
              <a:t>CHECKPOINT  3 of 3</a:t>
            </a:r>
          </a:p>
        </p:txBody>
      </p:sp>
      <p:sp>
        <p:nvSpPr>
          <p:cNvPr id="4" name="qtext"/>
          <p:cNvSpPr txBox="1"/>
          <p:nvPr/>
        </p:nvSpPr>
        <p:spPr>
          <a:xfrm>
            <a:off x="685800" y="1783080"/>
            <a:ext cx="10820095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0" i="0">
                <a:solidFill>
                  <a:srgbClr val="FFFFFF"/>
                </a:solidFill>
                <a:latin typeface="Segoe UI"/>
              </a:rPr>
              <a:t>Why must an IPv6 static route using a link-local next hop also name an exit interface?</a:t>
            </a:r>
          </a:p>
        </p:txBody>
      </p:sp>
      <p:sp>
        <p:nvSpPr>
          <p:cNvPr id="5" name="qhint"/>
          <p:cNvSpPr txBox="1"/>
          <p:nvPr/>
        </p:nvSpPr>
        <p:spPr>
          <a:xfrm>
            <a:off x="685800" y="5394960"/>
            <a:ext cx="108200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7FA8C9"/>
                </a:solidFill>
                <a:latin typeface="Segoe UI"/>
              </a:rPr>
              <a:t>Discuss · then advance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ANSWER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Checkpoint 3 of 3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16. Static Routing, IPv4 and IPv6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3.2</a:t>
            </a:r>
          </a:p>
        </p:txBody>
      </p:sp>
      <p:sp>
        <p:nvSpPr>
          <p:cNvPr id="7" name="qtext"/>
          <p:cNvSpPr txBox="1"/>
          <p:nvPr/>
        </p:nvSpPr>
        <p:spPr>
          <a:xfrm>
            <a:off x="685800" y="1517904"/>
            <a:ext cx="1082009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1A5276"/>
                </a:solidFill>
                <a:latin typeface="Segoe UI"/>
              </a:rPr>
              <a:t>Why must an IPv6 static route using a link-local next hop also name an exit interface?</a:t>
            </a:r>
          </a:p>
        </p:txBody>
      </p:sp>
      <p:sp>
        <p:nvSpPr>
          <p:cNvPr id="8" name="abar"/>
          <p:cNvSpPr/>
          <p:nvPr/>
        </p:nvSpPr>
        <p:spPr>
          <a:xfrm>
            <a:off x="685800" y="2197354"/>
            <a:ext cx="41148" cy="82854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atext"/>
          <p:cNvSpPr txBox="1"/>
          <p:nvPr/>
        </p:nvSpPr>
        <p:spPr>
          <a:xfrm>
            <a:off x="941832" y="2197354"/>
            <a:ext cx="10564063" cy="40937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Because a link-local address is only unique within a link, and a router with several interfaces has no way to tell which one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fe80::2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refers to. Naming the exit interface removes the ambiguity.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CHAPTER SUMMARY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What to take away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16. Static Routing, IPv4 and IPv6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3.2</a:t>
            </a:r>
          </a:p>
        </p:txBody>
      </p:sp>
      <p:sp>
        <p:nvSpPr>
          <p:cNvPr id="7" name="bullets"/>
          <p:cNvSpPr txBox="1"/>
          <p:nvPr/>
        </p:nvSpPr>
        <p:spPr>
          <a:xfrm>
            <a:off x="685800" y="1517904"/>
            <a:ext cx="10820095" cy="4864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6C3483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Four kinds: network, default (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0.0.0.0/0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), host (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/32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) and floating. The host route wins on longest prefix match.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6C3483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Give a next hop on Ethernet — alone or fully specified. Exit-interface only belongs on point-to-point links.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6C3483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IPv6 mirrors IPv4, but a link-local next hop </a:t>
            </a:r>
            <a:r>
              <a:rPr sz="2000" b="0" i="1">
                <a:solidFill>
                  <a:srgbClr val="1C252B"/>
                </a:solidFill>
                <a:latin typeface="Segoe UI"/>
              </a:rPr>
              <a:t>must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name the exit interface.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6C3483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A floating static needs a distance above whatever it backs up: over 110 for OSPF, over 1 for another static.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6C3483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A static route absent from the table almost always means an unresolvable next hop. Routes are one-way; configure both ends.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C348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cltitle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Where we got to</a:t>
            </a:r>
          </a:p>
        </p:txBody>
      </p:sp>
      <p:sp>
        <p:nvSpPr>
          <p:cNvPr id="4" name="cltakeaways"/>
          <p:cNvSpPr txBox="1"/>
          <p:nvPr/>
        </p:nvSpPr>
        <p:spPr>
          <a:xfrm>
            <a:off x="685800" y="2011680"/>
            <a:ext cx="1082009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7169" indent="-217169">
              <a:spcAft>
                <a:spcPts val="900"/>
              </a:spcAft>
            </a:pPr>
            <a:r>
              <a:rPr sz="1900">
                <a:solidFill>
                  <a:srgbClr val="C8D6E5"/>
                </a:solidFill>
              </a:rPr>
              <a:t>•  </a:t>
            </a:r>
            <a:r>
              <a:rPr sz="1900" b="0" i="0">
                <a:solidFill>
                  <a:srgbClr val="FFFFFF"/>
                </a:solidFill>
                <a:latin typeface="Segoe UI"/>
              </a:rPr>
              <a:t>Four kinds: network, default (</a:t>
            </a:r>
            <a:r>
              <a:rPr sz="1800" b="0" i="0">
                <a:solidFill>
                  <a:srgbClr val="FFFFFF"/>
                </a:solidFill>
                <a:latin typeface="Consolas"/>
              </a:rPr>
              <a:t>0.0.0.0/0</a:t>
            </a:r>
            <a:r>
              <a:rPr sz="1900" b="0" i="0">
                <a:solidFill>
                  <a:srgbClr val="FFFFFF"/>
                </a:solidFill>
                <a:latin typeface="Segoe UI"/>
              </a:rPr>
              <a:t>), host (</a:t>
            </a:r>
            <a:r>
              <a:rPr sz="1800" b="0" i="0">
                <a:solidFill>
                  <a:srgbClr val="FFFFFF"/>
                </a:solidFill>
                <a:latin typeface="Consolas"/>
              </a:rPr>
              <a:t>/32</a:t>
            </a:r>
            <a:r>
              <a:rPr sz="1900" b="0" i="0">
                <a:solidFill>
                  <a:srgbClr val="FFFFFF"/>
                </a:solidFill>
                <a:latin typeface="Segoe UI"/>
              </a:rPr>
              <a:t>) and floating. The host route wins on longest prefix match.</a:t>
            </a:r>
          </a:p>
          <a:p>
            <a:pPr marL="217169" indent="-217169">
              <a:spcAft>
                <a:spcPts val="900"/>
              </a:spcAft>
            </a:pPr>
            <a:r>
              <a:rPr sz="1900">
                <a:solidFill>
                  <a:srgbClr val="C8D6E5"/>
                </a:solidFill>
              </a:rPr>
              <a:t>•  </a:t>
            </a:r>
            <a:r>
              <a:rPr sz="1900" b="0" i="0">
                <a:solidFill>
                  <a:srgbClr val="FFFFFF"/>
                </a:solidFill>
                <a:latin typeface="Segoe UI"/>
              </a:rPr>
              <a:t>Give a next hop on Ethernet — alone or fully specified. Exit-interface only belongs on point-to-point links.</a:t>
            </a:r>
          </a:p>
          <a:p>
            <a:pPr marL="217169" indent="-217169">
              <a:spcAft>
                <a:spcPts val="900"/>
              </a:spcAft>
            </a:pPr>
            <a:r>
              <a:rPr sz="1900">
                <a:solidFill>
                  <a:srgbClr val="C8D6E5"/>
                </a:solidFill>
              </a:rPr>
              <a:t>•  </a:t>
            </a:r>
            <a:r>
              <a:rPr sz="1900" b="0" i="0">
                <a:solidFill>
                  <a:srgbClr val="FFFFFF"/>
                </a:solidFill>
                <a:latin typeface="Segoe UI"/>
              </a:rPr>
              <a:t>IPv6 mirrors IPv4, but a link-local next hop </a:t>
            </a:r>
            <a:r>
              <a:rPr sz="1900" b="0" i="1">
                <a:solidFill>
                  <a:srgbClr val="FFFFFF"/>
                </a:solidFill>
                <a:latin typeface="Segoe UI"/>
              </a:rPr>
              <a:t>must</a:t>
            </a:r>
            <a:r>
              <a:rPr sz="1900" b="0" i="0">
                <a:solidFill>
                  <a:srgbClr val="FFFFFF"/>
                </a:solidFill>
                <a:latin typeface="Segoe UI"/>
              </a:rPr>
              <a:t> name the exit interface.</a:t>
            </a:r>
          </a:p>
          <a:p>
            <a:pPr marL="217169" indent="-217169">
              <a:spcAft>
                <a:spcPts val="900"/>
              </a:spcAft>
            </a:pPr>
            <a:r>
              <a:rPr sz="1900">
                <a:solidFill>
                  <a:srgbClr val="C8D6E5"/>
                </a:solidFill>
              </a:rPr>
              <a:t>•  </a:t>
            </a:r>
            <a:r>
              <a:rPr sz="1900" b="0" i="0">
                <a:solidFill>
                  <a:srgbClr val="FFFFFF"/>
                </a:solidFill>
                <a:latin typeface="Segoe UI"/>
              </a:rPr>
              <a:t>A floating static needs a distance above whatever it backs up: over 110 for OSPF, over 1 for another static.</a:t>
            </a:r>
          </a:p>
        </p:txBody>
      </p:sp>
      <p:sp>
        <p:nvSpPr>
          <p:cNvPr id="5" name="nextbg"/>
          <p:cNvSpPr/>
          <p:nvPr/>
        </p:nvSpPr>
        <p:spPr>
          <a:xfrm>
            <a:off x="685800" y="5303520"/>
            <a:ext cx="10820095" cy="822960"/>
          </a:xfrm>
          <a:prstGeom prst="rect">
            <a:avLst/>
          </a:prstGeom>
          <a:solidFill>
            <a:srgbClr val="561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nextlab"/>
          <p:cNvSpPr txBox="1"/>
          <p:nvPr/>
        </p:nvSpPr>
        <p:spPr>
          <a:xfrm>
            <a:off x="960120" y="5449824"/>
            <a:ext cx="102714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B8C9DA"/>
                </a:solidFill>
                <a:latin typeface="Segoe UI"/>
              </a:rPr>
              <a:t>NEXT</a:t>
            </a:r>
          </a:p>
        </p:txBody>
      </p:sp>
      <p:sp>
        <p:nvSpPr>
          <p:cNvPr id="7" name="nexttitle"/>
          <p:cNvSpPr txBox="1"/>
          <p:nvPr/>
        </p:nvSpPr>
        <p:spPr>
          <a:xfrm>
            <a:off x="960120" y="5705856"/>
            <a:ext cx="1027145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Chapter 17 — OSPFv2, Single Area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