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24: Access Control Lists. Blueprint topics: 4.6.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Control Lists 4.6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consequences follow from that definition, and between them they cause most ACL faults. Order is behaviour. Moving one line changes what the ACL does. A specific rule placed after a general one that already matched is dead configuration. The implicit deny is always there. An ACL that permits one thing denies everything else. There is no way to switch it off; if you want everything else through, end the list with permit ip any any. An unapplied ACL does nothing. Writing the list and applying it to an interface are two separate acts, and forgetting the second is common. A wildcard mask says which bits of an address must match. A 0 bit means “must match”; a 1 bit means “ignore”. That is the inverse of a subnet mask, and the arithmetic is: subtract each octet of the subnet mask from 255.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ACL matches the source address only. Numbered 1–99 and 1300–1999.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placement is part of the design. The same ACL is correct in one place and an outage in the 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ACL matches source, destination, protocol and port. Numbered 100–199 and 2000–2699. The argument order is fixed and worth reciting until it is automatic: access-list &lt;n&gt; {permit|deny} &lt;protocol&gt; &lt;source&gt; &lt;src-port&gt; &lt;dest&gt; &lt;dest-port&gt;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24</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Access Control Lists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6"/>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6"/>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4.6</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2534992"/>
            <a:ext cx="10820095" cy="3847519"/>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Calculate</a:t>
            </a:r>
            <a:r>
              <a:rPr sz="2000" b="0" i="0">
                <a:solidFill>
                  <a:srgbClr val="1C252B"/>
                </a:solidFill>
                <a:latin typeface="Segoe UI"/>
              </a:rPr>
              <a:t> a wildcard mask for any subnet, and recognise the common ones on sight.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standard, extended, numbered and named IPv4 ACLs.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Decide</a:t>
            </a:r>
            <a:r>
              <a:rPr sz="2000" b="0" i="0">
                <a:solidFill>
                  <a:srgbClr val="1C252B"/>
                </a:solidFill>
                <a:latin typeface="Segoe UI"/>
              </a:rPr>
              <a:t> where to place an ACL and in which direction, and justify the choice.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Read</a:t>
            </a:r>
            <a:r>
              <a:rPr sz="2000" b="0" i="0">
                <a:solidFill>
                  <a:srgbClr val="1C252B"/>
                </a:solidFill>
                <a:latin typeface="Segoe UI"/>
              </a:rPr>
              <a:t> an existing ACL and predict exactly which traffic it permits — which is what the exam asks far more often than it asks you to write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for subnet masks — a wildcard mask is meaningless without them. Chapter 6 for protocol numbers and well-known ports. Chapter 22 for the order of operations, which decides which address an ACL actually sees.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erm-access control lis"/>
          <p:cNvSpPr/>
          <p:nvPr/>
        </p:nvSpPr>
        <p:spPr>
          <a:xfrm>
            <a:off x="685800" y="1609344"/>
            <a:ext cx="195681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access control lis"/>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access control lis"/>
          <p:cNvSpPr txBox="1"/>
          <p:nvPr/>
        </p:nvSpPr>
        <p:spPr>
          <a:xfrm>
            <a:off x="850392" y="1700784"/>
            <a:ext cx="162763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access control list</a:t>
            </a:r>
          </a:p>
        </p:txBody>
      </p:sp>
      <p:sp>
        <p:nvSpPr>
          <p:cNvPr id="10" name="term-wildcard mask"/>
          <p:cNvSpPr/>
          <p:nvPr/>
        </p:nvSpPr>
        <p:spPr>
          <a:xfrm>
            <a:off x="2770632" y="1609344"/>
            <a:ext cx="16560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wildcard mask"/>
          <p:cNvSpPr/>
          <p:nvPr/>
        </p:nvSpPr>
        <p:spPr>
          <a:xfrm>
            <a:off x="2770632"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wildcard mask"/>
          <p:cNvSpPr txBox="1"/>
          <p:nvPr/>
        </p:nvSpPr>
        <p:spPr>
          <a:xfrm>
            <a:off x="2935224" y="1700784"/>
            <a:ext cx="132689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wildcard mask</a:t>
            </a:r>
          </a:p>
        </p:txBody>
      </p:sp>
      <p:sp>
        <p:nvSpPr>
          <p:cNvPr id="13" name="term-implicit deny"/>
          <p:cNvSpPr/>
          <p:nvPr/>
        </p:nvSpPr>
        <p:spPr>
          <a:xfrm>
            <a:off x="4554728" y="1609344"/>
            <a:ext cx="1495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implicit deny"/>
          <p:cNvSpPr/>
          <p:nvPr/>
        </p:nvSpPr>
        <p:spPr>
          <a:xfrm>
            <a:off x="4554728"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implicit deny"/>
          <p:cNvSpPr txBox="1"/>
          <p:nvPr/>
        </p:nvSpPr>
        <p:spPr>
          <a:xfrm>
            <a:off x="4719319" y="1700784"/>
            <a:ext cx="1166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implicit deny</a:t>
            </a:r>
          </a:p>
        </p:txBody>
      </p:sp>
      <p:sp>
        <p:nvSpPr>
          <p:cNvPr id="16" name="term-standard ACL"/>
          <p:cNvSpPr/>
          <p:nvPr/>
        </p:nvSpPr>
        <p:spPr>
          <a:xfrm>
            <a:off x="6178295" y="1609344"/>
            <a:ext cx="15118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standard ACL"/>
          <p:cNvSpPr/>
          <p:nvPr/>
        </p:nvSpPr>
        <p:spPr>
          <a:xfrm>
            <a:off x="6178295"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standard ACL"/>
          <p:cNvSpPr txBox="1"/>
          <p:nvPr/>
        </p:nvSpPr>
        <p:spPr>
          <a:xfrm>
            <a:off x="6342887" y="1700784"/>
            <a:ext cx="118262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standard ACL</a:t>
            </a:r>
          </a:p>
        </p:txBody>
      </p:sp>
      <p:sp>
        <p:nvSpPr>
          <p:cNvPr id="19" name="term-extended ACL"/>
          <p:cNvSpPr/>
          <p:nvPr/>
        </p:nvSpPr>
        <p:spPr>
          <a:xfrm>
            <a:off x="7818119" y="1609344"/>
            <a:ext cx="15544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extended ACL"/>
          <p:cNvSpPr/>
          <p:nvPr/>
        </p:nvSpPr>
        <p:spPr>
          <a:xfrm>
            <a:off x="7818119"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extended ACL"/>
          <p:cNvSpPr txBox="1"/>
          <p:nvPr/>
        </p:nvSpPr>
        <p:spPr>
          <a:xfrm>
            <a:off x="7982711" y="1700784"/>
            <a:ext cx="122529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extended ACL</a:t>
            </a:r>
          </a:p>
        </p:txBody>
      </p:sp>
      <p:sp>
        <p:nvSpPr>
          <p:cNvPr id="22" name="term-named ACL"/>
          <p:cNvSpPr/>
          <p:nvPr/>
        </p:nvSpPr>
        <p:spPr>
          <a:xfrm>
            <a:off x="9500615" y="1609344"/>
            <a:ext cx="136144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named ACL"/>
          <p:cNvSpPr/>
          <p:nvPr/>
        </p:nvSpPr>
        <p:spPr>
          <a:xfrm>
            <a:off x="9500615"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named ACL"/>
          <p:cNvSpPr txBox="1"/>
          <p:nvPr/>
        </p:nvSpPr>
        <p:spPr>
          <a:xfrm>
            <a:off x="9665207" y="1700784"/>
            <a:ext cx="103225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named ACL</a:t>
            </a:r>
          </a:p>
        </p:txBody>
      </p:sp>
      <p:sp>
        <p:nvSpPr>
          <p:cNvPr id="25" name="term-sequence number"/>
          <p:cNvSpPr/>
          <p:nvPr/>
        </p:nvSpPr>
        <p:spPr>
          <a:xfrm>
            <a:off x="685800" y="2212848"/>
            <a:ext cx="18735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sequence number"/>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sequence number"/>
          <p:cNvSpPr txBox="1"/>
          <p:nvPr/>
        </p:nvSpPr>
        <p:spPr>
          <a:xfrm>
            <a:off x="850392" y="2304288"/>
            <a:ext cx="154431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sequence number</a:t>
            </a:r>
          </a:p>
        </p:txBody>
      </p:sp>
      <p:sp>
        <p:nvSpPr>
          <p:cNvPr id="28" name="term-ip access-group"/>
          <p:cNvSpPr/>
          <p:nvPr/>
        </p:nvSpPr>
        <p:spPr>
          <a:xfrm>
            <a:off x="2687320" y="2212848"/>
            <a:ext cx="175564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ip access-group"/>
          <p:cNvSpPr/>
          <p:nvPr/>
        </p:nvSpPr>
        <p:spPr>
          <a:xfrm>
            <a:off x="268732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ip access-group"/>
          <p:cNvSpPr txBox="1"/>
          <p:nvPr/>
        </p:nvSpPr>
        <p:spPr>
          <a:xfrm>
            <a:off x="2851912" y="2304288"/>
            <a:ext cx="142646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ip access-group</a:t>
            </a:r>
          </a:p>
        </p:txBody>
      </p:sp>
      <p:sp>
        <p:nvSpPr>
          <p:cNvPr id="31" name="term-access-class"/>
          <p:cNvSpPr/>
          <p:nvPr/>
        </p:nvSpPr>
        <p:spPr>
          <a:xfrm>
            <a:off x="4570984" y="2212848"/>
            <a:ext cx="153009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access-class"/>
          <p:cNvSpPr/>
          <p:nvPr/>
        </p:nvSpPr>
        <p:spPr>
          <a:xfrm>
            <a:off x="4570984"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access-class"/>
          <p:cNvSpPr txBox="1"/>
          <p:nvPr/>
        </p:nvSpPr>
        <p:spPr>
          <a:xfrm>
            <a:off x="4735576" y="2304288"/>
            <a:ext cx="120091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access-class</a:t>
            </a:r>
          </a:p>
        </p:txBody>
      </p:sp>
      <p:sp>
        <p:nvSpPr>
          <p:cNvPr id="34" name="term-established"/>
          <p:cNvSpPr/>
          <p:nvPr/>
        </p:nvSpPr>
        <p:spPr>
          <a:xfrm>
            <a:off x="6229095" y="2212848"/>
            <a:ext cx="134111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established"/>
          <p:cNvSpPr/>
          <p:nvPr/>
        </p:nvSpPr>
        <p:spPr>
          <a:xfrm>
            <a:off x="6229095"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established"/>
          <p:cNvSpPr txBox="1"/>
          <p:nvPr/>
        </p:nvSpPr>
        <p:spPr>
          <a:xfrm>
            <a:off x="6393687" y="2304288"/>
            <a:ext cx="101193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established</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IPv4 only, and all four kinds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835438"/>
            <a:ext cx="10820095" cy="354707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4.6 </a:t>
            </a:r>
            <a:r>
              <a:rPr sz="2000" b="0" i="0">
                <a:solidFill>
                  <a:srgbClr val="1C252B"/>
                </a:solidFill>
                <a:latin typeface="Segoe UI"/>
              </a:rPr>
              <a:t> reads </a:t>
            </a:r>
            <a:r>
              <a:rPr sz="2000" b="0" i="1">
                <a:solidFill>
                  <a:srgbClr val="1C252B"/>
                </a:solidFill>
                <a:latin typeface="Segoe UI"/>
              </a:rPr>
              <a:t>configure IPv4 access control lists (standard, extended, numbered, and named ACLs)</a:t>
            </a:r>
            <a:r>
              <a:rPr sz="2000" b="0" i="0">
                <a:solidFill>
                  <a:srgbClr val="1C252B"/>
                </a:solidFill>
                <a:latin typeface="Segoe UI"/>
              </a:rPr>
              <a:t>. IPv6 ACLs are not on this blueprint.</a:t>
            </a:r>
          </a:p>
          <a:p>
            <a:pPr algn="l">
              <a:lnSpc>
                <a:spcPct val="100000"/>
              </a:lnSpc>
              <a:spcAft>
                <a:spcPts val="1000"/>
              </a:spcAft>
            </a:pPr>
            <a:r>
              <a:rPr sz="2000" b="0" i="0">
                <a:solidFill>
                  <a:srgbClr val="1C252B"/>
                </a:solidFill>
                <a:latin typeface="Segoe UI"/>
              </a:rPr>
              <a:t>All four named kinds are examinable, but note they are two axes, not four categories: an ACL is standard </a:t>
            </a:r>
            <a:r>
              <a:rPr sz="2000" b="0" i="1">
                <a:solidFill>
                  <a:srgbClr val="1C252B"/>
                </a:solidFill>
                <a:latin typeface="Segoe UI"/>
              </a:rPr>
              <a:t>or</a:t>
            </a:r>
            <a:r>
              <a:rPr sz="2000" b="0" i="0">
                <a:solidFill>
                  <a:srgbClr val="1C252B"/>
                </a:solidFill>
                <a:latin typeface="Segoe UI"/>
              </a:rPr>
              <a:t> extended by what it can match, and numbered </a:t>
            </a:r>
            <a:r>
              <a:rPr sz="2000" b="0" i="1">
                <a:solidFill>
                  <a:srgbClr val="1C252B"/>
                </a:solidFill>
                <a:latin typeface="Segoe UI"/>
              </a:rPr>
              <a:t>or</a:t>
            </a:r>
            <a:r>
              <a:rPr sz="2000" b="0" i="0">
                <a:solidFill>
                  <a:srgbClr val="1C252B"/>
                </a:solidFill>
                <a:latin typeface="Segoe UI"/>
              </a:rPr>
              <a:t> named by how you refer to it. All four combinations exist.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Access control list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ordered list of </a:t>
            </a:r>
            <a:r>
              <a:rPr sz="1900" b="0" i="0">
                <a:solidFill>
                  <a:srgbClr val="1A5276"/>
                </a:solidFill>
                <a:latin typeface="Consolas"/>
              </a:rPr>
              <a:t>permit</a:t>
            </a:r>
            <a:r>
              <a:rPr sz="2000" b="0" i="0">
                <a:solidFill>
                  <a:srgbClr val="1C252B"/>
                </a:solidFill>
                <a:latin typeface="Segoe UI"/>
              </a:rPr>
              <a:t> and </a:t>
            </a:r>
            <a:r>
              <a:rPr sz="1900" b="0" i="0">
                <a:solidFill>
                  <a:srgbClr val="1A5276"/>
                </a:solidFill>
                <a:latin typeface="Consolas"/>
              </a:rPr>
              <a:t>deny</a:t>
            </a:r>
            <a:r>
              <a:rPr sz="2000" b="0" i="0">
                <a:solidFill>
                  <a:srgbClr val="1C252B"/>
                </a:solidFill>
                <a:latin typeface="Segoe UI"/>
              </a:rPr>
              <a:t> statements. Each packet is tested against the entries from the top down; the </a:t>
            </a:r>
            <a:r>
              <a:rPr sz="2000" b="1" i="0">
                <a:solidFill>
                  <a:srgbClr val="1C252B"/>
                </a:solidFill>
                <a:latin typeface="Segoe UI"/>
              </a:rPr>
              <a:t>first match wins</a:t>
            </a:r>
            <a:r>
              <a:rPr sz="2000" b="0" i="0">
                <a:solidFill>
                  <a:srgbClr val="1C252B"/>
                </a:solidFill>
                <a:latin typeface="Segoe UI"/>
              </a:rPr>
              <a:t> and testing stops. A packet matching nothing hits an invisible </a:t>
            </a:r>
            <a:r>
              <a:rPr sz="1900" b="0" i="0">
                <a:solidFill>
                  <a:srgbClr val="1A5276"/>
                </a:solidFill>
                <a:latin typeface="Consolas"/>
              </a:rPr>
              <a:t>deny any</a:t>
            </a:r>
            <a:r>
              <a:rPr sz="2000" b="0" i="0">
                <a:solidFill>
                  <a:srgbClr val="1C252B"/>
                </a:solidFill>
                <a:latin typeface="Segoe UI"/>
              </a:rPr>
              <a:t> at the end and is dropped.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Wildcard for 172.16.8.0/21</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ody"/>
          <p:cNvSpPr txBox="1"/>
          <p:nvPr/>
        </p:nvSpPr>
        <p:spPr>
          <a:xfrm>
            <a:off x="685800" y="2567649"/>
            <a:ext cx="10820095" cy="381486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mask for a </a:t>
            </a:r>
            <a:r>
              <a:rPr sz="1900" b="0" i="0">
                <a:solidFill>
                  <a:srgbClr val="1A5276"/>
                </a:solidFill>
                <a:latin typeface="Consolas"/>
              </a:rPr>
              <a:t>/21</a:t>
            </a:r>
            <a:r>
              <a:rPr sz="2000" b="0" i="0">
                <a:solidFill>
                  <a:srgbClr val="1C252B"/>
                </a:solidFill>
                <a:latin typeface="Segoe UI"/>
              </a:rPr>
              <a:t> is </a:t>
            </a:r>
            <a:r>
              <a:rPr sz="1900" b="0" i="0">
                <a:solidFill>
                  <a:srgbClr val="1A5276"/>
                </a:solidFill>
                <a:latin typeface="Consolas"/>
              </a:rPr>
              <a:t>255.255.248.0</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Subtract each octet from 255: 255-255=0, 255-255=0, 255-248=7, 255-0=255.</a:t>
            </a:r>
          </a:p>
          <a:p>
            <a:pPr algn="l">
              <a:lnSpc>
                <a:spcPct val="100000"/>
              </a:lnSpc>
              <a:spcAft>
                <a:spcPts val="1000"/>
              </a:spcAft>
            </a:pPr>
            <a:r>
              <a:rPr sz="2000" b="0" i="0">
                <a:solidFill>
                  <a:srgbClr val="1C252B"/>
                </a:solidFill>
                <a:latin typeface="Segoe UI"/>
              </a:rPr>
              <a:t>The wildcard is </a:t>
            </a:r>
            <a:r>
              <a:rPr sz="1900" b="0" i="0">
                <a:solidFill>
                  <a:srgbClr val="1A5276"/>
                </a:solidFill>
                <a:latin typeface="Consolas"/>
              </a:rPr>
              <a:t>0.0.7.255</a:t>
            </a:r>
            <a:r>
              <a:rPr sz="2000" b="0" i="0">
                <a:solidFill>
                  <a:srgbClr val="1C252B"/>
                </a:solidFill>
                <a:latin typeface="Segoe UI"/>
              </a:rPr>
              <a:t>, and the ACL entry is </a:t>
            </a:r>
            <a:r>
              <a:rPr sz="1900" b="0" i="0">
                <a:solidFill>
                  <a:srgbClr val="1A5276"/>
                </a:solidFill>
                <a:latin typeface="Consolas"/>
              </a:rPr>
              <a:t>permit ip 172.16.8.0 0.0.7.255 any</a:t>
            </a:r>
            <a:r>
              <a:rPr sz="2000" b="0" i="0">
                <a:solidFill>
                  <a:srgbClr val="1C252B"/>
                </a:solidFill>
                <a:latin typeface="Segoe UI"/>
              </a:rPr>
              <a:t>. It matches </a:t>
            </a:r>
            <a:r>
              <a:rPr sz="1900" b="0" i="0">
                <a:solidFill>
                  <a:srgbClr val="1A5276"/>
                </a:solidFill>
                <a:latin typeface="Consolas"/>
              </a:rPr>
              <a:t>172.16.8.0</a:t>
            </a:r>
            <a:r>
              <a:rPr sz="2000" b="0" i="0">
                <a:solidFill>
                  <a:srgbClr val="1C252B"/>
                </a:solidFill>
                <a:latin typeface="Segoe UI"/>
              </a:rPr>
              <a:t> through </a:t>
            </a:r>
            <a:r>
              <a:rPr sz="1900" b="0" i="0">
                <a:solidFill>
                  <a:srgbClr val="1A5276"/>
                </a:solidFill>
                <a:latin typeface="Consolas"/>
              </a:rPr>
              <a:t>172.16.15.255</a:t>
            </a:r>
            <a:r>
              <a:rPr sz="2000" b="0" i="0">
                <a:solidFill>
                  <a:srgbClr val="1C252B"/>
                </a:solidFill>
                <a:latin typeface="Segoe UI"/>
              </a:rPr>
              <a:t> — eight consecutive /24s, which is what a /21 is.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check that catches arithmetic slips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int"/>
          <p:cNvSpPr/>
          <p:nvPr/>
        </p:nvSpPr>
        <p:spPr>
          <a:xfrm>
            <a:off x="685800" y="1517904"/>
            <a:ext cx="10820095" cy="24190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Add the wildcard to the network address. The result should be the last address in the range you meant. 172.16.8.0 + 0.0.7.255 = 172.16.15.255. If that is not the broadcast address of the block you intended, the wildcard is wrong.</a:t>
            </a:r>
          </a:p>
          <a:p>
            <a:pPr algn="l">
              <a:lnSpc>
                <a:spcPct val="100000"/>
              </a:lnSpc>
              <a:spcAft>
                <a:spcPts val="1000"/>
              </a:spcAft>
            </a:pPr>
            <a:r>
              <a:rPr sz="2000" b="0" i="0">
                <a:solidFill>
                  <a:srgbClr val="1C252B"/>
                </a:solidFill>
                <a:latin typeface="Segoe UI"/>
              </a:rPr>
              <a:t>Do this every time. It takes five seconds and it catches the off-by-one that otherwise costs you a lab.</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numbered standard ACL</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2637535"/>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143759"/>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Order matters: the specific deny must precede the general permit,</a:t>
            </a:r>
          </a:p>
          <a:p>
            <a:pPr>
              <a:lnSpc>
                <a:spcPct val="100000"/>
              </a:lnSpc>
              <a:spcAft>
                <a:spcPts val="0"/>
              </a:spcAft>
            </a:pPr>
            <a:r>
              <a:rPr sz="1600" i="1">
                <a:solidFill>
                  <a:srgbClr val="6E8BA0"/>
                </a:solidFill>
                <a:latin typeface="Consolas"/>
              </a:rPr>
              <a:t>! or the permit matches first and the deny is never reached.</a:t>
            </a:r>
          </a:p>
          <a:p>
            <a:pPr>
              <a:lnSpc>
                <a:spcPct val="100000"/>
              </a:lnSpc>
              <a:spcAft>
                <a:spcPts val="0"/>
              </a:spcAft>
            </a:pPr>
            <a:r>
              <a:rPr sz="1600">
                <a:solidFill>
                  <a:srgbClr val="E8EEF2"/>
                </a:solidFill>
                <a:latin typeface="Consolas"/>
              </a:rPr>
              <a:t>access-list 10 remark Block the lab subnet, allow the rest of campus</a:t>
            </a:r>
          </a:p>
          <a:p>
            <a:pPr>
              <a:lnSpc>
                <a:spcPct val="100000"/>
              </a:lnSpc>
              <a:spcAft>
                <a:spcPts val="0"/>
              </a:spcAft>
            </a:pPr>
            <a:r>
              <a:rPr sz="1600">
                <a:solidFill>
                  <a:srgbClr val="E8EEF2"/>
                </a:solidFill>
                <a:latin typeface="Consolas"/>
              </a:rPr>
              <a:t>access-list 10 deny   192.168.30.0 0.0.0.255</a:t>
            </a:r>
          </a:p>
          <a:p>
            <a:pPr>
              <a:lnSpc>
                <a:spcPct val="100000"/>
              </a:lnSpc>
              <a:spcAft>
                <a:spcPts val="0"/>
              </a:spcAft>
            </a:pPr>
            <a:r>
              <a:rPr sz="1600">
                <a:solidFill>
                  <a:srgbClr val="E8EEF2"/>
                </a:solidFill>
                <a:latin typeface="Consolas"/>
              </a:rPr>
              <a:t>access-list 10 permit 192.168.0.0 0.0.255.255</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GigabitEthernet0/0/1</a:t>
            </a:r>
          </a:p>
          <a:p>
            <a:pPr>
              <a:lnSpc>
                <a:spcPct val="100000"/>
              </a:lnSpc>
              <a:spcAft>
                <a:spcPts val="0"/>
              </a:spcAft>
            </a:pPr>
            <a:r>
              <a:rPr sz="1600">
                <a:solidFill>
                  <a:srgbClr val="E8EEF2"/>
                </a:solidFill>
                <a:latin typeface="Consolas"/>
              </a:rPr>
              <a:t> ip access-group 10 out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Place a standard ACL close to the destination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ody"/>
          <p:cNvSpPr txBox="1"/>
          <p:nvPr/>
        </p:nvSpPr>
        <p:spPr>
          <a:xfrm>
            <a:off x="685800" y="2364449"/>
            <a:ext cx="10820095" cy="401806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Because it can only see the source address, a standard ACL cannot distinguish “traffic from this subnet to the finance server” from “traffic from this subnet to anywhere”. Applied near the source, it blocks the host from the entire network, not just from the thing you wanted protected.</a:t>
            </a:r>
          </a:p>
          <a:p>
            <a:pPr algn="l">
              <a:lnSpc>
                <a:spcPct val="100000"/>
              </a:lnSpc>
              <a:spcAft>
                <a:spcPts val="1000"/>
              </a:spcAft>
            </a:pPr>
            <a:r>
              <a:rPr sz="2000" b="0" i="0">
                <a:solidFill>
                  <a:srgbClr val="1C252B"/>
                </a:solidFill>
                <a:latin typeface="Segoe UI"/>
              </a:rPr>
              <a:t>So the rule is: standard ACLs go as close to the destination as possible; extended ACLs go as close to the source as possible, because they can be precise enough to be safe there and it saves carrying doomed traffic across the network.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Standard ACLs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pic>
        <p:nvPicPr>
          <p:cNvPr id="6" name="figure" descr="aclplace-1.png"/>
          <p:cNvPicPr>
            <a:picLocks noChangeAspect="1"/>
          </p:cNvPicPr>
          <p:nvPr/>
        </p:nvPicPr>
        <p:blipFill>
          <a:blip r:embed="rId2"/>
          <a:stretch>
            <a:fillRect/>
          </a:stretch>
        </p:blipFill>
        <p:spPr>
          <a:xfrm>
            <a:off x="2428441" y="1517904"/>
            <a:ext cx="733481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Standard ACLs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pic>
        <p:nvPicPr>
          <p:cNvPr id="6" name="figure" descr="aclplace-2.png"/>
          <p:cNvPicPr>
            <a:picLocks noChangeAspect="1"/>
          </p:cNvPicPr>
          <p:nvPr/>
        </p:nvPicPr>
        <p:blipFill>
          <a:blip r:embed="rId2"/>
          <a:stretch>
            <a:fillRect/>
          </a:stretch>
        </p:blipFill>
        <p:spPr>
          <a:xfrm>
            <a:off x="2428441" y="1517904"/>
            <a:ext cx="733481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Standard ACLs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pic>
        <p:nvPicPr>
          <p:cNvPr id="6" name="figure" descr="aclplace-3.png"/>
          <p:cNvPicPr>
            <a:picLocks noChangeAspect="1"/>
          </p:cNvPicPr>
          <p:nvPr/>
        </p:nvPicPr>
        <p:blipFill>
          <a:blip r:embed="rId2"/>
          <a:stretch>
            <a:fillRect/>
          </a:stretch>
        </p:blipFill>
        <p:spPr>
          <a:xfrm>
            <a:off x="2428441" y="1517904"/>
            <a:ext cx="733481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Standard ACLs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pic>
        <p:nvPicPr>
          <p:cNvPr id="6" name="figure" descr="aclplace-4.png"/>
          <p:cNvPicPr>
            <a:picLocks noChangeAspect="1"/>
          </p:cNvPicPr>
          <p:nvPr/>
        </p:nvPicPr>
        <p:blipFill>
          <a:blip r:embed="rId2"/>
          <a:stretch>
            <a:fillRect/>
          </a:stretch>
        </p:blipFill>
        <p:spPr>
          <a:xfrm>
            <a:off x="2428441" y="1517904"/>
            <a:ext cx="7334812"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An extended ACL letting a subnet reach only what it needs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517904"/>
            <a:ext cx="10820095" cy="440131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3907536"/>
          </a:xfrm>
          <a:prstGeom prst="rect">
            <a:avLst/>
          </a:prstGeom>
          <a:noFill/>
        </p:spPr>
        <p:txBody>
          <a:bodyPr wrap="none" lIns="0" rIns="0" tIns="0" bIns="0">
            <a:spAutoFit/>
          </a:bodyPr>
          <a:lstStyle/>
          <a:p>
            <a:pPr>
              <a:lnSpc>
                <a:spcPct val="100000"/>
              </a:lnSpc>
              <a:spcAft>
                <a:spcPts val="0"/>
              </a:spcAft>
            </a:pPr>
            <a:r>
              <a:rPr sz="1200">
                <a:solidFill>
                  <a:srgbClr val="E8EEF2"/>
                </a:solidFill>
                <a:latin typeface="Consolas"/>
              </a:rPr>
              <a:t>access-list 110 remark Guest VLAN -- web, DNS and nothing else</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DNS to the campus resolvers, both transports.</a:t>
            </a:r>
          </a:p>
          <a:p>
            <a:pPr>
              <a:lnSpc>
                <a:spcPct val="100000"/>
              </a:lnSpc>
              <a:spcAft>
                <a:spcPts val="0"/>
              </a:spcAft>
            </a:pPr>
            <a:r>
              <a:rPr sz="1200">
                <a:solidFill>
                  <a:srgbClr val="E8EEF2"/>
                </a:solidFill>
                <a:latin typeface="Consolas"/>
              </a:rPr>
              <a:t>access-list 110 permit udp 192.168.40.0 0.0.0.255 host 192.168.20.10 eq 53</a:t>
            </a:r>
          </a:p>
          <a:p>
            <a:pPr>
              <a:lnSpc>
                <a:spcPct val="100000"/>
              </a:lnSpc>
              <a:spcAft>
                <a:spcPts val="0"/>
              </a:spcAft>
            </a:pPr>
            <a:r>
              <a:rPr sz="1200">
                <a:solidFill>
                  <a:srgbClr val="E8EEF2"/>
                </a:solidFill>
                <a:latin typeface="Consolas"/>
              </a:rPr>
              <a:t>access-list 110 permit tcp 192.168.40.0 0.0.0.255 host 192.168.20.10 eq 53</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Web out to anywhere.</a:t>
            </a:r>
          </a:p>
          <a:p>
            <a:pPr>
              <a:lnSpc>
                <a:spcPct val="100000"/>
              </a:lnSpc>
              <a:spcAft>
                <a:spcPts val="0"/>
              </a:spcAft>
            </a:pPr>
            <a:r>
              <a:rPr sz="1200">
                <a:solidFill>
                  <a:srgbClr val="E8EEF2"/>
                </a:solidFill>
                <a:latin typeface="Consolas"/>
              </a:rPr>
              <a:t>access-list 110 permit tcp 192.168.40.0 0.0.0.255 any eq 80</a:t>
            </a:r>
          </a:p>
          <a:p>
            <a:pPr>
              <a:lnSpc>
                <a:spcPct val="100000"/>
              </a:lnSpc>
              <a:spcAft>
                <a:spcPts val="0"/>
              </a:spcAft>
            </a:pPr>
            <a:r>
              <a:rPr sz="1200">
                <a:solidFill>
                  <a:srgbClr val="E8EEF2"/>
                </a:solidFill>
                <a:latin typeface="Consolas"/>
              </a:rPr>
              <a:t>access-list 110 permit tcp 192.168.40.0 0.0.0.255 any eq 443</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Let guests get an address. Without this the implicit deny stops</a:t>
            </a:r>
          </a:p>
          <a:p>
            <a:pPr>
              <a:lnSpc>
                <a:spcPct val="100000"/>
              </a:lnSpc>
              <a:spcAft>
                <a:spcPts val="0"/>
              </a:spcAft>
            </a:pPr>
            <a:r>
              <a:rPr sz="1200" i="1">
                <a:solidFill>
                  <a:srgbClr val="6E8BA0"/>
                </a:solidFill>
                <a:latin typeface="Consolas"/>
              </a:rPr>
              <a:t>! DHCP and the VLAN never works at all.</a:t>
            </a:r>
          </a:p>
          <a:p>
            <a:pPr>
              <a:lnSpc>
                <a:spcPct val="100000"/>
              </a:lnSpc>
              <a:spcAft>
                <a:spcPts val="0"/>
              </a:spcAft>
            </a:pPr>
            <a:r>
              <a:rPr sz="1200">
                <a:solidFill>
                  <a:srgbClr val="E8EEF2"/>
                </a:solidFill>
                <a:latin typeface="Consolas"/>
              </a:rPr>
              <a:t>access-list 110 permit udp any host 255.255.255.255 eq 67</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Ping to the gateway only, so users can prove their own link.</a:t>
            </a:r>
          </a:p>
          <a:p>
            <a:pPr>
              <a:lnSpc>
                <a:spcPct val="100000"/>
              </a:lnSpc>
              <a:spcAft>
                <a:spcPts val="0"/>
              </a:spcAft>
            </a:pPr>
            <a:r>
              <a:rPr sz="1200">
                <a:solidFill>
                  <a:srgbClr val="E8EEF2"/>
                </a:solidFill>
                <a:latin typeface="Consolas"/>
              </a:rPr>
              <a:t>access-list 110 permit icmp 192.168.40.0 0.0.0.255 host 192.168.40.1</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Everything else is dropped by the implicit deny, logged so that</a:t>
            </a:r>
          </a:p>
          <a:p>
            <a:pPr>
              <a:lnSpc>
                <a:spcPct val="100000"/>
              </a:lnSpc>
              <a:spcAft>
                <a:spcPts val="0"/>
              </a:spcAft>
            </a:pPr>
            <a:r>
              <a:rPr sz="1200" i="1">
                <a:solidFill>
                  <a:srgbClr val="6E8BA0"/>
                </a:solidFill>
                <a:latin typeface="Consolas"/>
              </a:rPr>
              <a:t>! surprises are visible.</a:t>
            </a:r>
          </a:p>
          <a:p>
            <a:pPr>
              <a:lnSpc>
                <a:spcPct val="100000"/>
              </a:lnSpc>
              <a:spcAft>
                <a:spcPts val="0"/>
              </a:spcAft>
            </a:pPr>
            <a:r>
              <a:rPr sz="1200">
                <a:solidFill>
                  <a:srgbClr val="E8EEF2"/>
                </a:solidFill>
                <a:latin typeface="Consolas"/>
              </a:rPr>
              <a:t>access-list 110 deny ip any any log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400" b="1" i="0">
                <a:solidFill>
                  <a:srgbClr val="1A5276"/>
                </a:solidFill>
                <a:latin typeface="Segoe UI"/>
              </a:rPr>
              <a:t>An extended ACL letting a subnet reach only what it needs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GigabitEthernet0/0/2</a:t>
            </a:r>
          </a:p>
          <a:p>
            <a:pPr>
              <a:lnSpc>
                <a:spcPct val="100000"/>
              </a:lnSpc>
              <a:spcAft>
                <a:spcPts val="0"/>
              </a:spcAft>
            </a:pPr>
            <a:r>
              <a:rPr sz="1600">
                <a:solidFill>
                  <a:srgbClr val="E8EEF2"/>
                </a:solidFill>
                <a:latin typeface="Consolas"/>
              </a:rPr>
              <a:t> description Guest VLAN</a:t>
            </a:r>
          </a:p>
          <a:p>
            <a:pPr>
              <a:lnSpc>
                <a:spcPct val="100000"/>
              </a:lnSpc>
              <a:spcAft>
                <a:spcPts val="0"/>
              </a:spcAft>
            </a:pPr>
            <a:r>
              <a:rPr sz="1600">
                <a:solidFill>
                  <a:srgbClr val="E8EEF2"/>
                </a:solidFill>
                <a:latin typeface="Consolas"/>
              </a:rPr>
              <a:t> ip access-group 110 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eq 53 on the destination, not the source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In that list the port qualifier follows the </a:t>
            </a:r>
            <a:r>
              <a:rPr sz="2000" b="0" i="1">
                <a:solidFill>
                  <a:srgbClr val="1C252B"/>
                </a:solidFill>
                <a:latin typeface="Segoe UI"/>
              </a:rPr>
              <a:t>destination</a:t>
            </a:r>
            <a:r>
              <a:rPr sz="2000" b="0" i="0">
                <a:solidFill>
                  <a:srgbClr val="1C252B"/>
                </a:solidFill>
                <a:latin typeface="Segoe UI"/>
              </a:rPr>
              <a:t> address, because the guest is connecting </a:t>
            </a:r>
            <a:r>
              <a:rPr sz="2000" b="0" i="1">
                <a:solidFill>
                  <a:srgbClr val="1C252B"/>
                </a:solidFill>
                <a:latin typeface="Segoe UI"/>
              </a:rPr>
              <a:t>to</a:t>
            </a:r>
            <a:r>
              <a:rPr sz="2000" b="0" i="0">
                <a:solidFill>
                  <a:srgbClr val="1C252B"/>
                </a:solidFill>
                <a:latin typeface="Segoe UI"/>
              </a:rPr>
              <a:t> port 53 on the resolver. Its own source port is ephemeral and unpredictable, so it is left unspecified.</a:t>
            </a:r>
          </a:p>
          <a:p>
            <a:pPr algn="l">
              <a:lnSpc>
                <a:spcPct val="100000"/>
              </a:lnSpc>
              <a:spcAft>
                <a:spcPts val="1000"/>
              </a:spcAft>
            </a:pPr>
            <a:r>
              <a:rPr sz="2000" b="0" i="0">
                <a:solidFill>
                  <a:srgbClr val="1C252B"/>
                </a:solidFill>
                <a:latin typeface="Segoe UI"/>
              </a:rPr>
              <a:t>Getting this backwards — </a:t>
            </a:r>
            <a:r>
              <a:rPr sz="1900" b="0" i="0">
                <a:solidFill>
                  <a:srgbClr val="1A5276"/>
                </a:solidFill>
                <a:latin typeface="Consolas"/>
              </a:rPr>
              <a:t>permit udp 192.168.40.0 0.0.0.255 eq 53 any</a:t>
            </a:r>
            <a:r>
              <a:rPr sz="2000" b="0" i="0">
                <a:solidFill>
                  <a:srgbClr val="1C252B"/>
                </a:solidFill>
                <a:latin typeface="Segoe UI"/>
              </a:rPr>
              <a:t> — is a classic and produces an ACL that matches almost nothing. The position of the port in the line is the whole meaning.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established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599581"/>
            <a:ext cx="10820095" cy="3782930"/>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permit tcp any 192.168.10.0 0.0.0.255 established</a:t>
            </a:r>
            <a:r>
              <a:rPr sz="2000" b="0" i="0">
                <a:solidFill>
                  <a:srgbClr val="1C252B"/>
                </a:solidFill>
                <a:latin typeface="Segoe UI"/>
              </a:rPr>
              <a:t> matches only TCP segments with the ACK or RST flag set — that is, packets belonging to a conversation that somebody inside already started. A pure connection attempt from outside has only SYN set and is not matched.</a:t>
            </a:r>
          </a:p>
          <a:p>
            <a:pPr algn="l">
              <a:lnSpc>
                <a:spcPct val="100000"/>
              </a:lnSpc>
              <a:spcAft>
                <a:spcPts val="1000"/>
              </a:spcAft>
            </a:pPr>
            <a:r>
              <a:rPr sz="2000" b="0" i="0">
                <a:solidFill>
                  <a:srgbClr val="1C252B"/>
                </a:solidFill>
                <a:latin typeface="Segoe UI"/>
              </a:rPr>
              <a:t>It is a cheap way to say “replies to our traffic may return, new connections may not.” It is not stateful — it inspects flags, not connections — and the exam likes that distinction.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policy, named and editable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 access-list extended GUEST-OUT</a:t>
            </a:r>
          </a:p>
          <a:p>
            <a:pPr>
              <a:lnSpc>
                <a:spcPct val="100000"/>
              </a:lnSpc>
              <a:spcAft>
                <a:spcPts val="0"/>
              </a:spcAft>
            </a:pPr>
            <a:r>
              <a:rPr sz="1600">
                <a:solidFill>
                  <a:srgbClr val="E8EEF2"/>
                </a:solidFill>
                <a:latin typeface="Consolas"/>
              </a:rPr>
              <a:t> remark Guest VLAN -- web, DNS and nothing else</a:t>
            </a:r>
          </a:p>
          <a:p>
            <a:pPr>
              <a:lnSpc>
                <a:spcPct val="100000"/>
              </a:lnSpc>
              <a:spcAft>
                <a:spcPts val="0"/>
              </a:spcAft>
            </a:pPr>
            <a:r>
              <a:rPr sz="1600">
                <a:solidFill>
                  <a:srgbClr val="E8EEF2"/>
                </a:solidFill>
                <a:latin typeface="Consolas"/>
              </a:rPr>
              <a:t> 10 permit udp 192.168.40.0 0.0.0.255 host 192.168.20.10 eq 53</a:t>
            </a:r>
          </a:p>
          <a:p>
            <a:pPr>
              <a:lnSpc>
                <a:spcPct val="100000"/>
              </a:lnSpc>
              <a:spcAft>
                <a:spcPts val="0"/>
              </a:spcAft>
            </a:pPr>
            <a:r>
              <a:rPr sz="1600">
                <a:solidFill>
                  <a:srgbClr val="E8EEF2"/>
                </a:solidFill>
                <a:latin typeface="Consolas"/>
              </a:rPr>
              <a:t> 20 permit tcp 192.168.40.0 0.0.0.255 host 192.168.20.10 eq 53</a:t>
            </a:r>
          </a:p>
          <a:p>
            <a:pPr>
              <a:lnSpc>
                <a:spcPct val="100000"/>
              </a:lnSpc>
              <a:spcAft>
                <a:spcPts val="0"/>
              </a:spcAft>
            </a:pPr>
            <a:r>
              <a:rPr sz="1600">
                <a:solidFill>
                  <a:srgbClr val="E8EEF2"/>
                </a:solidFill>
                <a:latin typeface="Consolas"/>
              </a:rPr>
              <a:t> 30 permit tcp 192.168.40.0 0.0.0.255 any eq 80</a:t>
            </a:r>
          </a:p>
          <a:p>
            <a:pPr>
              <a:lnSpc>
                <a:spcPct val="100000"/>
              </a:lnSpc>
              <a:spcAft>
                <a:spcPts val="0"/>
              </a:spcAft>
            </a:pPr>
            <a:r>
              <a:rPr sz="1600">
                <a:solidFill>
                  <a:srgbClr val="E8EEF2"/>
                </a:solidFill>
                <a:latin typeface="Consolas"/>
              </a:rPr>
              <a:t> 40 permit tcp 192.168.40.0 0.0.0.255 any eq 443</a:t>
            </a:r>
          </a:p>
          <a:p>
            <a:pPr>
              <a:lnSpc>
                <a:spcPct val="100000"/>
              </a:lnSpc>
              <a:spcAft>
                <a:spcPts val="0"/>
              </a:spcAft>
            </a:pPr>
            <a:r>
              <a:rPr sz="1600">
                <a:solidFill>
                  <a:srgbClr val="E8EEF2"/>
                </a:solidFill>
                <a:latin typeface="Consolas"/>
              </a:rPr>
              <a:t> 50 deny   ip any any log</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GigabitEthernet0/0/2</a:t>
            </a:r>
          </a:p>
          <a:p>
            <a:pPr>
              <a:lnSpc>
                <a:spcPct val="100000"/>
              </a:lnSpc>
              <a:spcAft>
                <a:spcPts val="0"/>
              </a:spcAft>
            </a:pPr>
            <a:r>
              <a:rPr sz="1600">
                <a:solidFill>
                  <a:srgbClr val="E8EEF2"/>
                </a:solidFill>
                <a:latin typeface="Consolas"/>
              </a:rPr>
              <a:t> ip access-group GUEST-OUT 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This is the practical advantage, and it is a large one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ody"/>
          <p:cNvSpPr txBox="1"/>
          <p:nvPr/>
        </p:nvSpPr>
        <p:spPr>
          <a:xfrm>
            <a:off x="685800" y="2685578"/>
            <a:ext cx="10820095" cy="36969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With sequence numbers you can insert and delete single lines:</a:t>
            </a:r>
          </a:p>
        </p:txBody>
      </p:sp>
      <p:sp>
        <p:nvSpPr>
          <p:cNvPr id="8" name="bullets"/>
          <p:cNvSpPr txBox="1"/>
          <p:nvPr/>
        </p:nvSpPr>
        <p:spPr>
          <a:xfrm>
            <a:off x="685800" y="3198658"/>
            <a:ext cx="10820095" cy="3183853"/>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ip access-list extended GUEST-OUT</a:t>
            </a:r>
            <a:r>
              <a:rPr sz="2000" b="0" i="0">
                <a:solidFill>
                  <a:srgbClr val="1C252B"/>
                </a:solidFill>
                <a:latin typeface="Segoe UI"/>
              </a:rPr>
              <a:t> then </a:t>
            </a:r>
            <a:r>
              <a:rPr sz="1900" b="0" i="0">
                <a:solidFill>
                  <a:srgbClr val="1A5276"/>
                </a:solidFill>
                <a:latin typeface="Consolas"/>
              </a:rPr>
              <a:t>35 permit tcp ... eq 8080</a:t>
            </a:r>
            <a:r>
              <a:rPr sz="2000" b="0" i="0">
                <a:solidFill>
                  <a:srgbClr val="1C252B"/>
                </a:solidFill>
                <a:latin typeface="Segoe UI"/>
              </a:rPr>
              <a:t> inserts a rule between 30 and 40.</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no 40</a:t>
            </a:r>
            <a:r>
              <a:rPr sz="2000" b="0" i="0">
                <a:solidFill>
                  <a:srgbClr val="1C252B"/>
                </a:solidFill>
                <a:latin typeface="Segoe UI"/>
              </a:rPr>
              <a:t> removes one entry and leaves the rest standing.</a:t>
            </a:r>
          </a:p>
        </p:txBody>
      </p:sp>
      <p:sp>
        <p:nvSpPr>
          <p:cNvPr id="9" name="tailbody"/>
          <p:cNvSpPr txBox="1"/>
          <p:nvPr/>
        </p:nvSpPr>
        <p:spPr>
          <a:xfrm>
            <a:off x="685800" y="4701322"/>
            <a:ext cx="10820095" cy="1626325"/>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With a numbered ACL on older IOS, </a:t>
            </a:r>
            <a:r>
              <a:rPr sz="1900" b="0" i="0">
                <a:solidFill>
                  <a:srgbClr val="1A5276"/>
                </a:solidFill>
                <a:latin typeface="Consolas"/>
              </a:rPr>
              <a:t>no access-list 110</a:t>
            </a:r>
            <a:r>
              <a:rPr sz="2000" b="0" i="0">
                <a:solidFill>
                  <a:srgbClr val="1C252B"/>
                </a:solidFill>
                <a:latin typeface="Segoe UI"/>
              </a:rPr>
              <a:t> deletes the </a:t>
            </a:r>
            <a:r>
              <a:rPr sz="2000" b="0" i="1">
                <a:solidFill>
                  <a:srgbClr val="1C252B"/>
                </a:solidFill>
                <a:latin typeface="Segoe UI"/>
              </a:rPr>
              <a:t>entire list</a:t>
            </a:r>
            <a:r>
              <a:rPr sz="2000" b="0" i="0">
                <a:solidFill>
                  <a:srgbClr val="1C252B"/>
                </a:solidFill>
                <a:latin typeface="Segoe UI"/>
              </a:rPr>
              <a:t> — and if it is still applied to an interface, the interface now has an empty ACL, which denies everything. That is how a routine edit becomes an outage. Number your entries in tens so there is room to insert later, and prefer named ACLs.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Restricting management access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238556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891792"/>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 access-list standard MGMT-HOSTS</a:t>
            </a:r>
          </a:p>
          <a:p>
            <a:pPr>
              <a:lnSpc>
                <a:spcPct val="100000"/>
              </a:lnSpc>
              <a:spcAft>
                <a:spcPts val="0"/>
              </a:spcAft>
            </a:pPr>
            <a:r>
              <a:rPr sz="1600">
                <a:solidFill>
                  <a:srgbClr val="E8EEF2"/>
                </a:solidFill>
                <a:latin typeface="Consolas"/>
              </a:rPr>
              <a:t> 10 permit 10.0.0.0 0.0.0.255</a:t>
            </a:r>
          </a:p>
          <a:p>
            <a:pPr>
              <a:lnSpc>
                <a:spcPct val="100000"/>
              </a:lnSpc>
              <a:spcAft>
                <a:spcPts val="0"/>
              </a:spcAft>
            </a:pPr>
            <a:r>
              <a:rPr sz="1600">
                <a:solidFill>
                  <a:srgbClr val="E8EEF2"/>
                </a:solidFill>
                <a:latin typeface="Consolas"/>
              </a:rPr>
              <a:t> 20 permit host 192.168.99.14</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line vty 0 15</a:t>
            </a:r>
          </a:p>
          <a:p>
            <a:pPr>
              <a:lnSpc>
                <a:spcPct val="100000"/>
              </a:lnSpc>
              <a:spcAft>
                <a:spcPts val="0"/>
              </a:spcAft>
            </a:pPr>
            <a:r>
              <a:rPr sz="1600">
                <a:solidFill>
                  <a:srgbClr val="E8EEF2"/>
                </a:solidFill>
                <a:latin typeface="Consolas"/>
              </a:rPr>
              <a:t> access-class MGMT-HOSTS in</a:t>
            </a:r>
          </a:p>
          <a:p>
            <a:pPr>
              <a:lnSpc>
                <a:spcPct val="100000"/>
              </a:lnSpc>
              <a:spcAft>
                <a:spcPts val="0"/>
              </a:spcAft>
            </a:pPr>
            <a:r>
              <a:rPr sz="1600">
                <a:solidFill>
                  <a:srgbClr val="E8EEF2"/>
                </a:solidFill>
                <a:latin typeface="Consolas"/>
              </a:rPr>
              <a:t> transport input ssh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access-lists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28895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239572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Standard IP access list MGMT-HOSTS</a:t>
            </a:r>
          </a:p>
          <a:p>
            <a:pPr>
              <a:lnSpc>
                <a:spcPct val="100000"/>
              </a:lnSpc>
              <a:spcAft>
                <a:spcPts val="0"/>
              </a:spcAft>
            </a:pPr>
            <a:r>
              <a:rPr sz="1600">
                <a:solidFill>
                  <a:srgbClr val="E8EEF2"/>
                </a:solidFill>
                <a:latin typeface="Consolas"/>
              </a:rPr>
              <a:t>    10 permit 10.0.0.0, wildcard bits 0.0.0.255 (214 matches)</a:t>
            </a:r>
          </a:p>
          <a:p>
            <a:pPr>
              <a:lnSpc>
                <a:spcPct val="100000"/>
              </a:lnSpc>
              <a:spcAft>
                <a:spcPts val="0"/>
              </a:spcAft>
            </a:pPr>
            <a:r>
              <a:rPr sz="1600">
                <a:solidFill>
                  <a:srgbClr val="E8EEF2"/>
                </a:solidFill>
                <a:latin typeface="Consolas"/>
              </a:rPr>
              <a:t>    20 permit 192.168.99.14 (3 matches)</a:t>
            </a:r>
          </a:p>
          <a:p>
            <a:pPr>
              <a:lnSpc>
                <a:spcPct val="100000"/>
              </a:lnSpc>
              <a:spcAft>
                <a:spcPts val="0"/>
              </a:spcAft>
            </a:pPr>
            <a:r>
              <a:rPr sz="1600">
                <a:solidFill>
                  <a:srgbClr val="E8EEF2"/>
                </a:solidFill>
                <a:latin typeface="Consolas"/>
              </a:rPr>
              <a:t>Extended IP access list GUEST-OUT</a:t>
            </a:r>
          </a:p>
          <a:p>
            <a:pPr>
              <a:lnSpc>
                <a:spcPct val="100000"/>
              </a:lnSpc>
              <a:spcAft>
                <a:spcPts val="0"/>
              </a:spcAft>
            </a:pPr>
            <a:r>
              <a:rPr sz="1600">
                <a:solidFill>
                  <a:srgbClr val="E8EEF2"/>
                </a:solidFill>
                <a:latin typeface="Consolas"/>
              </a:rPr>
              <a:t>    10 permit udp 192.168.40.0 0.0.0.255 host 192.168.20.10 eq domain (8841 matches)</a:t>
            </a:r>
          </a:p>
          <a:p>
            <a:pPr>
              <a:lnSpc>
                <a:spcPct val="100000"/>
              </a:lnSpc>
              <a:spcAft>
                <a:spcPts val="0"/>
              </a:spcAft>
            </a:pPr>
            <a:r>
              <a:rPr sz="1600">
                <a:solidFill>
                  <a:srgbClr val="E8EEF2"/>
                </a:solidFill>
                <a:latin typeface="Consolas"/>
              </a:rPr>
              <a:t>    20 permit tcp 192.168.40.0 0.0.0.255 host 192.168.20.10 eq domain (12 matches)</a:t>
            </a:r>
          </a:p>
          <a:p>
            <a:pPr>
              <a:lnSpc>
                <a:spcPct val="100000"/>
              </a:lnSpc>
              <a:spcAft>
                <a:spcPts val="0"/>
              </a:spcAft>
            </a:pPr>
            <a:r>
              <a:rPr sz="1600">
                <a:solidFill>
                  <a:srgbClr val="E8EEF2"/>
                </a:solidFill>
                <a:latin typeface="Consolas"/>
              </a:rPr>
              <a:t>    30 permit tcp 192.168.40.0 0.0.0.255 any eq www (40218 matches)</a:t>
            </a:r>
          </a:p>
          <a:p>
            <a:pPr>
              <a:lnSpc>
                <a:spcPct val="100000"/>
              </a:lnSpc>
              <a:spcAft>
                <a:spcPts val="0"/>
              </a:spcAft>
            </a:pPr>
            <a:r>
              <a:rPr sz="1600">
                <a:solidFill>
                  <a:srgbClr val="E8EEF2"/>
                </a:solidFill>
                <a:latin typeface="Consolas"/>
              </a:rPr>
              <a:t>    40 permit tcp 192.168.40.0 0.0.0.255 any eq 443 (338104 matches)</a:t>
            </a:r>
          </a:p>
          <a:p>
            <a:pPr>
              <a:lnSpc>
                <a:spcPct val="100000"/>
              </a:lnSpc>
              <a:spcAft>
                <a:spcPts val="0"/>
              </a:spcAft>
            </a:pPr>
            <a:r>
              <a:rPr sz="1600">
                <a:solidFill>
                  <a:srgbClr val="E8EEF2"/>
                </a:solidFill>
                <a:latin typeface="Consolas"/>
              </a:rPr>
              <a:t>    50 deny ip any any log (2277 matches)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match counters are the diagnostic</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tint"/>
          <p:cNvSpPr/>
          <p:nvPr/>
        </p:nvSpPr>
        <p:spPr>
          <a:xfrm>
            <a:off x="685800" y="1517904"/>
            <a:ext cx="10820095" cy="4462271"/>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That output tells you more than the configuration does.</a:t>
            </a:r>
          </a:p>
        </p:txBody>
      </p:sp>
      <p:sp>
        <p:nvSpPr>
          <p:cNvPr id="9" name="bullets"/>
          <p:cNvSpPr txBox="1"/>
          <p:nvPr/>
        </p:nvSpPr>
        <p:spPr>
          <a:xfrm>
            <a:off x="978408" y="2250440"/>
            <a:ext cx="10234879" cy="41320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 rule with zero matches</a:t>
            </a:r>
            <a:r>
              <a:rPr sz="2000" b="0" i="0">
                <a:solidFill>
                  <a:srgbClr val="1C252B"/>
                </a:solidFill>
                <a:latin typeface="Segoe UI"/>
              </a:rPr>
              <a:t> is either unnecessary or unreachable — shadowed by an earlier line. Both are worth investigating.</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 rising counter on the final deny</a:t>
            </a:r>
            <a:r>
              <a:rPr sz="2000" b="0" i="0">
                <a:solidFill>
                  <a:srgbClr val="1C252B"/>
                </a:solidFill>
                <a:latin typeface="Segoe UI"/>
              </a:rPr>
              <a:t> tells you the ACL is dropping things, and </a:t>
            </a:r>
            <a:r>
              <a:rPr sz="1900" b="0" i="0">
                <a:solidFill>
                  <a:srgbClr val="1A5276"/>
                </a:solidFill>
                <a:latin typeface="Consolas"/>
              </a:rPr>
              <a:t>log</a:t>
            </a:r>
            <a:r>
              <a:rPr sz="2000" b="0" i="0">
                <a:solidFill>
                  <a:srgbClr val="1C252B"/>
                </a:solidFill>
                <a:latin typeface="Segoe UI"/>
              </a:rPr>
              <a:t> tells you what. This is the first place to look when an application “sometimes” fails.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Counters that do not move at all</a:t>
            </a:r>
            <a:r>
              <a:rPr sz="2000" b="0" i="0">
                <a:solidFill>
                  <a:srgbClr val="1C252B"/>
                </a:solidFill>
                <a:latin typeface="Segoe UI"/>
              </a:rPr>
              <a:t> mean the ACL is not in the path. Check it is actually applied, and in the direction you think.</a:t>
            </a:r>
          </a:p>
        </p:txBody>
      </p:sp>
      <p:sp>
        <p:nvSpPr>
          <p:cNvPr id="10" name="tailbody"/>
          <p:cNvSpPr txBox="1"/>
          <p:nvPr/>
        </p:nvSpPr>
        <p:spPr>
          <a:xfrm>
            <a:off x="978408" y="5284215"/>
            <a:ext cx="10234879" cy="1043432"/>
          </a:xfrm>
          <a:prstGeom prst="rect">
            <a:avLst/>
          </a:prstGeom>
          <a:noFill/>
        </p:spPr>
        <p:txBody>
          <a:bodyPr wrap="square" anchor="t" lIns="0" rIns="0" tIns="0" bIns="0">
            <a:spAutoFit/>
          </a:bodyPr>
          <a:lstStyle/>
          <a:p>
            <a:pPr algn="l">
              <a:lnSpc>
                <a:spcPct val="100000"/>
              </a:lnSpc>
              <a:spcAft>
                <a:spcPts val="600"/>
              </a:spcAft>
            </a:pPr>
            <a:r>
              <a:rPr sz="1900" b="0" i="0">
                <a:solidFill>
                  <a:srgbClr val="1A5276"/>
                </a:solidFill>
                <a:latin typeface="Consolas"/>
              </a:rPr>
              <a:t>clear access-list counters</a:t>
            </a:r>
            <a:r>
              <a:rPr sz="2000" b="0" i="0">
                <a:solidFill>
                  <a:srgbClr val="1C252B"/>
                </a:solidFill>
                <a:latin typeface="Segoe UI"/>
              </a:rPr>
              <a:t> before a test gives you a clean baseline.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show ip interface GigabitEthernet0/0/2 | include access list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codebg"/>
          <p:cNvSpPr/>
          <p:nvPr/>
        </p:nvSpPr>
        <p:spPr>
          <a:xfrm>
            <a:off x="685800" y="1901952"/>
            <a:ext cx="10820095" cy="112572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63195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Outgoing access list is not set</a:t>
            </a:r>
          </a:p>
          <a:p>
            <a:pPr>
              <a:lnSpc>
                <a:spcPct val="100000"/>
              </a:lnSpc>
              <a:spcAft>
                <a:spcPts val="0"/>
              </a:spcAft>
            </a:pPr>
            <a:r>
              <a:rPr sz="1600">
                <a:solidFill>
                  <a:srgbClr val="E8EEF2"/>
                </a:solidFill>
                <a:latin typeface="Consolas"/>
              </a:rPr>
              <a:t>  Inbound  access list is GUEST-OUT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Applying and verifying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Forgetting the implicit deny.</a:t>
            </a:r>
            <a:r>
              <a:rPr sz="2000" b="0" i="0">
                <a:solidFill>
                  <a:srgbClr val="1C252B"/>
                </a:solidFill>
                <a:latin typeface="Segoe UI"/>
              </a:rPr>
              <a:t> Permit what you need and everything else stops. This is the single biggest cause of ACL outages.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 general permit above a specific deny.</a:t>
            </a:r>
            <a:r>
              <a:rPr sz="2000" b="0" i="0">
                <a:solidFill>
                  <a:srgbClr val="1C252B"/>
                </a:solidFill>
                <a:latin typeface="Segoe UI"/>
              </a:rPr>
              <a:t> First match wins, so the deny never runs.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 standard ACL applied near the source.</a:t>
            </a:r>
            <a:r>
              <a:rPr sz="2000" b="0" i="0">
                <a:solidFill>
                  <a:srgbClr val="1C252B"/>
                </a:solidFill>
                <a:latin typeface="Segoe UI"/>
              </a:rPr>
              <a:t> Blocks the host from everything, not from the one destination you meant.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Port qualifier on the wrong side.</a:t>
            </a:r>
            <a:r>
              <a:rPr sz="2000" b="0" i="0">
                <a:solidFill>
                  <a:srgbClr val="1C252B"/>
                </a:solidFill>
                <a:latin typeface="Segoe UI"/>
              </a:rPr>
              <a:t> </a:t>
            </a:r>
            <a:r>
              <a:rPr sz="1900" b="0" i="0">
                <a:solidFill>
                  <a:srgbClr val="1A5276"/>
                </a:solidFill>
                <a:latin typeface="Consolas"/>
              </a:rPr>
              <a:t>eq 80</a:t>
            </a:r>
            <a:r>
              <a:rPr sz="2000" b="0" i="0">
                <a:solidFill>
                  <a:srgbClr val="1C252B"/>
                </a:solidFill>
                <a:latin typeface="Segoe UI"/>
              </a:rPr>
              <a:t> belongs with the destination for a client reaching a web server.</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Writing the ACL and not applying it.</a:t>
            </a:r>
            <a:r>
              <a:rPr sz="2000" b="0" i="0">
                <a:solidFill>
                  <a:srgbClr val="1C252B"/>
                </a:solidFill>
                <a:latin typeface="Segoe UI"/>
              </a:rPr>
              <a:t> No error, no effect.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Applying and verifying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Applying it in the wrong direction.</a:t>
            </a:r>
            <a:r>
              <a:rPr sz="2000" b="0" i="0">
                <a:solidFill>
                  <a:srgbClr val="1C252B"/>
                </a:solidFill>
                <a:latin typeface="Segoe UI"/>
              </a:rPr>
              <a:t> </a:t>
            </a:r>
            <a:r>
              <a:rPr sz="1900" b="0" i="0">
                <a:solidFill>
                  <a:srgbClr val="1A5276"/>
                </a:solidFill>
                <a:latin typeface="Consolas"/>
              </a:rPr>
              <a:t>in</a:t>
            </a:r>
            <a:r>
              <a:rPr sz="2000" b="0" i="0">
                <a:solidFill>
                  <a:srgbClr val="1C252B"/>
                </a:solidFill>
                <a:latin typeface="Segoe UI"/>
              </a:rPr>
              <a:t> and </a:t>
            </a:r>
            <a:r>
              <a:rPr sz="1900" b="0" i="0">
                <a:solidFill>
                  <a:srgbClr val="1A5276"/>
                </a:solidFill>
                <a:latin typeface="Consolas"/>
              </a:rPr>
              <a:t>out</a:t>
            </a:r>
            <a:r>
              <a:rPr sz="2000" b="0" i="0">
                <a:solidFill>
                  <a:srgbClr val="1C252B"/>
                </a:solidFill>
                <a:latin typeface="Segoe UI"/>
              </a:rPr>
              <a:t> are relative to the interface, not to the building.</a:t>
            </a:r>
          </a:p>
          <a:p>
            <a:pPr marL="228600" indent="-228600">
              <a:lnSpc>
                <a:spcPct val="102000"/>
              </a:lnSpc>
              <a:spcAft>
                <a:spcPts val="900"/>
              </a:spcAft>
            </a:pPr>
            <a:r>
              <a:rPr sz="2000" b="1">
                <a:solidFill>
                  <a:srgbClr val="922B21"/>
                </a:solidFill>
                <a:latin typeface="Segoe UI"/>
              </a:rPr>
              <a:t>•  </a:t>
            </a:r>
            <a:r>
              <a:rPr sz="1900" b="1" i="0">
                <a:solidFill>
                  <a:srgbClr val="1A5276"/>
                </a:solidFill>
                <a:latin typeface="Consolas"/>
              </a:rPr>
              <a:t>no access-list 110</a:t>
            </a:r>
            <a:r>
              <a:rPr sz="2000" b="1" i="0">
                <a:solidFill>
                  <a:srgbClr val="1C252B"/>
                </a:solidFill>
                <a:latin typeface="Segoe UI"/>
              </a:rPr>
              <a:t> on a live numbered ACL.</a:t>
            </a:r>
            <a:r>
              <a:rPr sz="2000" b="0" i="0">
                <a:solidFill>
                  <a:srgbClr val="1C252B"/>
                </a:solidFill>
                <a:latin typeface="Segoe UI"/>
              </a:rPr>
              <a:t> Deletes the whole list; the interface is left denying everything.</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Blocking your own management session.</a:t>
            </a:r>
            <a:r>
              <a:rPr sz="2000" b="0" i="0">
                <a:solidFill>
                  <a:srgbClr val="1C252B"/>
                </a:solidFill>
                <a:latin typeface="Segoe UI"/>
              </a:rPr>
              <a:t> Think about </a:t>
            </a:r>
            <a:r>
              <a:rPr sz="1900" b="0" i="0">
                <a:solidFill>
                  <a:srgbClr val="1A5276"/>
                </a:solidFill>
                <a:latin typeface="Consolas"/>
              </a:rPr>
              <a:t>vty</a:t>
            </a:r>
            <a:r>
              <a:rPr sz="2000" b="0" i="0">
                <a:solidFill>
                  <a:srgbClr val="1C252B"/>
                </a:solidFill>
                <a:latin typeface="Segoe UI"/>
              </a:rPr>
              <a:t> before you press enter on a remote device.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Forgetting supporting protocols.</a:t>
            </a:r>
            <a:r>
              <a:rPr sz="2000" b="0" i="0">
                <a:solidFill>
                  <a:srgbClr val="1C252B"/>
                </a:solidFill>
                <a:latin typeface="Segoe UI"/>
              </a:rPr>
              <a:t> DHCP, DNS and ICMP all need explicit permits in a restrictive list, or the VLAN looks completely dead.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An ACL meant to stop one subnet reaching the finance server has cut that subnet off from everything.</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requirement was: hosts in </a:t>
            </a:r>
            <a:r>
              <a:rPr sz="1800" b="0" i="0">
                <a:solidFill>
                  <a:srgbClr val="1A5276"/>
                </a:solidFill>
                <a:latin typeface="Consolas"/>
              </a:rPr>
              <a:t>192.168.30.0/24</a:t>
            </a:r>
            <a:r>
              <a:rPr sz="1900" b="0" i="0">
                <a:solidFill>
                  <a:srgbClr val="1C252B"/>
                </a:solidFill>
                <a:latin typeface="Segoe UI"/>
              </a:rPr>
              <a:t> must not reach the finance server at </a:t>
            </a:r>
            <a:r>
              <a:rPr sz="1800" b="0" i="0">
                <a:solidFill>
                  <a:srgbClr val="1A5276"/>
                </a:solidFill>
                <a:latin typeface="Consolas"/>
              </a:rPr>
              <a:t>192.168.20.15</a:t>
            </a:r>
            <a:r>
              <a:rPr sz="1900" b="0" i="0">
                <a:solidFill>
                  <a:srgbClr val="1C252B"/>
                </a:solidFill>
                <a:latin typeface="Segoe UI"/>
              </a:rPr>
              <a:t>. Everything else should be unaffected. After the change, VLAN 30 cannot reach the internet, the file server, or DNS. It can still reach hosts within its own VLAN.</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An ACL meant to stop one subnet reaching the finance server has cut that subnet off from everything.</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access-lists 20</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Standard IP access list 20</a:t>
            </a:r>
          </a:p>
          <a:p>
            <a:pPr>
              <a:lnSpc>
                <a:spcPct val="100000"/>
              </a:lnSpc>
              <a:spcAft>
                <a:spcPts val="0"/>
              </a:spcAft>
            </a:pPr>
            <a:r>
              <a:rPr sz="1500">
                <a:solidFill>
                  <a:srgbClr val="E8EEF2"/>
                </a:solidFill>
                <a:latin typeface="Consolas"/>
              </a:rPr>
              <a:t>    10 deny   192.168.30.0, wildcard bits 0.0.0.255 (18442 matches)</a:t>
            </a:r>
          </a:p>
          <a:p>
            <a:pPr>
              <a:lnSpc>
                <a:spcPct val="100000"/>
              </a:lnSpc>
              <a:spcAft>
                <a:spcPts val="0"/>
              </a:spcAft>
            </a:pPr>
            <a:r>
              <a:rPr sz="1500">
                <a:solidFill>
                  <a:srgbClr val="E8EEF2"/>
                </a:solidFill>
                <a:latin typeface="Consolas"/>
              </a:rPr>
              <a:t>    20 permit any (0 matches)</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interface Vlan30 | include access list</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Inbound  access list is 20</a:t>
            </a:r>
          </a:p>
          <a:p>
            <a:pPr>
              <a:lnSpc>
                <a:spcPct val="100000"/>
              </a:lnSpc>
              <a:spcAft>
                <a:spcPts val="0"/>
              </a:spcAft>
            </a:pPr>
            <a:r>
              <a:rPr sz="1500">
                <a:solidFill>
                  <a:srgbClr val="E8EEF2"/>
                </a:solidFill>
                <a:latin typeface="Consolas"/>
              </a:rPr>
              <a:t>  Outgoing access list is not set</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1627632"/>
            <a:ext cx="10820095" cy="472744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Two things are wrong and they compound.</a:t>
            </a:r>
          </a:p>
          <a:p>
            <a:pPr algn="l">
              <a:lnSpc>
                <a:spcPct val="100000"/>
              </a:lnSpc>
              <a:spcAft>
                <a:spcPts val="1000"/>
              </a:spcAft>
            </a:pPr>
            <a:r>
              <a:rPr sz="1900" b="0" i="0">
                <a:solidFill>
                  <a:srgbClr val="1C252B"/>
                </a:solidFill>
                <a:latin typeface="Segoe UI"/>
              </a:rPr>
              <a:t>First, this is a </a:t>
            </a:r>
            <a:r>
              <a:rPr sz="1900" b="0" i="1">
                <a:solidFill>
                  <a:srgbClr val="1C252B"/>
                </a:solidFill>
                <a:latin typeface="Segoe UI"/>
              </a:rPr>
              <a:t>standard</a:t>
            </a:r>
            <a:r>
              <a:rPr sz="1900" b="0" i="0">
                <a:solidFill>
                  <a:srgbClr val="1C252B"/>
                </a:solidFill>
                <a:latin typeface="Segoe UI"/>
              </a:rPr>
              <a:t> ACL, so it can only match the source. It has no way to express “to the finance server” — the destination is invisible to it.</a:t>
            </a:r>
          </a:p>
          <a:p>
            <a:pPr algn="l">
              <a:lnSpc>
                <a:spcPct val="100000"/>
              </a:lnSpc>
              <a:spcAft>
                <a:spcPts val="1000"/>
              </a:spcAft>
            </a:pPr>
            <a:r>
              <a:rPr sz="1900" b="0" i="0">
                <a:solidFill>
                  <a:srgbClr val="1C252B"/>
                </a:solidFill>
                <a:latin typeface="Segoe UI"/>
              </a:rPr>
              <a:t>Second, it is applied </a:t>
            </a:r>
            <a:r>
              <a:rPr sz="1900" b="1" i="0">
                <a:solidFill>
                  <a:srgbClr val="1C252B"/>
                </a:solidFill>
                <a:latin typeface="Segoe UI"/>
              </a:rPr>
              <a:t>inbound on VLAN 30’s own SVI</a:t>
            </a:r>
            <a:r>
              <a:rPr sz="1900" b="0" i="0">
                <a:solidFill>
                  <a:srgbClr val="1C252B"/>
                </a:solidFill>
                <a:latin typeface="Segoe UI"/>
              </a:rPr>
              <a:t>, which is as close to the source as it is possible to get. Every packet leaving VLAN 30 for anywhere hits line 10 and is dropped. Traffic </a:t>
            </a:r>
            <a:r>
              <a:rPr sz="1900" b="0" i="1">
                <a:solidFill>
                  <a:srgbClr val="1C252B"/>
                </a:solidFill>
                <a:latin typeface="Segoe UI"/>
              </a:rPr>
              <a:t>within</a:t>
            </a:r>
            <a:r>
              <a:rPr sz="1900" b="0" i="0">
                <a:solidFill>
                  <a:srgbClr val="1C252B"/>
                </a:solidFill>
                <a:latin typeface="Segoe UI"/>
              </a:rPr>
              <a:t> the VLAN still works because it is switched and never reaches the SVI at all — which is exactly why the symptom looks like a routing fault rather than an ACL.</a:t>
            </a:r>
          </a:p>
          <a:p>
            <a:pPr algn="l">
              <a:lnSpc>
                <a:spcPct val="100000"/>
              </a:lnSpc>
              <a:spcAft>
                <a:spcPts val="1000"/>
              </a:spcAft>
            </a:pPr>
            <a:r>
              <a:rPr sz="1900" b="0" i="0">
                <a:solidFill>
                  <a:srgbClr val="1C252B"/>
                </a:solidFill>
                <a:latin typeface="Segoe UI"/>
              </a:rPr>
              <a:t>The confirming detail is line 20: </a:t>
            </a:r>
            <a:r>
              <a:rPr sz="1800" b="0" i="0">
                <a:solidFill>
                  <a:srgbClr val="1A5276"/>
                </a:solidFill>
                <a:latin typeface="Consolas"/>
              </a:rPr>
              <a:t>permit any</a:t>
            </a:r>
            <a:r>
              <a:rPr sz="1900" b="0" i="0">
                <a:solidFill>
                  <a:srgbClr val="1C252B"/>
                </a:solidFill>
                <a:latin typeface="Segoe UI"/>
              </a:rPr>
              <a:t> has </a:t>
            </a:r>
            <a:r>
              <a:rPr sz="1900" b="1" i="0">
                <a:solidFill>
                  <a:srgbClr val="1C252B"/>
                </a:solidFill>
                <a:latin typeface="Segoe UI"/>
              </a:rPr>
              <a:t>zero matches</a:t>
            </a:r>
            <a:r>
              <a:rPr sz="1900" b="0" i="0">
                <a:solidFill>
                  <a:srgbClr val="1C252B"/>
                </a:solidFill>
                <a:latin typeface="Segoe UI"/>
              </a:rPr>
              <a:t>. Not one packet from anywhere got past line 10. An ACL whose last line never matches is dropping everything it sees.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 ACL that expresses the actual requirement</a:t>
            </a:r>
          </a:p>
        </p:txBody>
      </p:sp>
      <p:sp>
        <p:nvSpPr>
          <p:cNvPr id="6" name="bfcodebg"/>
          <p:cNvSpPr/>
          <p:nvPr/>
        </p:nvSpPr>
        <p:spPr>
          <a:xfrm>
            <a:off x="685800" y="2011680"/>
            <a:ext cx="10820095" cy="24932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201777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ip access-list extended VLAN30-POLICY</a:t>
            </a:r>
          </a:p>
          <a:p>
            <a:pPr>
              <a:lnSpc>
                <a:spcPct val="100000"/>
              </a:lnSpc>
              <a:spcAft>
                <a:spcPts val="0"/>
              </a:spcAft>
            </a:pPr>
            <a:r>
              <a:rPr sz="1500">
                <a:solidFill>
                  <a:srgbClr val="E8EEF2"/>
                </a:solidFill>
                <a:latin typeface="Consolas"/>
              </a:rPr>
              <a:t> 10 remark Deny only the finance server, permit the rest</a:t>
            </a:r>
          </a:p>
          <a:p>
            <a:pPr>
              <a:lnSpc>
                <a:spcPct val="100000"/>
              </a:lnSpc>
              <a:spcAft>
                <a:spcPts val="0"/>
              </a:spcAft>
            </a:pPr>
            <a:r>
              <a:rPr sz="1500">
                <a:solidFill>
                  <a:srgbClr val="E8EEF2"/>
                </a:solidFill>
                <a:latin typeface="Consolas"/>
              </a:rPr>
              <a:t> 20 deny   ip 192.168.30.0 0.0.0.255 host 192.168.20.15</a:t>
            </a:r>
          </a:p>
          <a:p>
            <a:pPr>
              <a:lnSpc>
                <a:spcPct val="100000"/>
              </a:lnSpc>
              <a:spcAft>
                <a:spcPts val="0"/>
              </a:spcAft>
            </a:pPr>
            <a:r>
              <a:rPr sz="1500">
                <a:solidFill>
                  <a:srgbClr val="E8EEF2"/>
                </a:solidFill>
                <a:latin typeface="Consolas"/>
              </a:rPr>
              <a:t> 30 permit ip any any</a:t>
            </a:r>
          </a:p>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interface Vlan30</a:t>
            </a:r>
          </a:p>
          <a:p>
            <a:pPr>
              <a:lnSpc>
                <a:spcPct val="100000"/>
              </a:lnSpc>
              <a:spcAft>
                <a:spcPts val="0"/>
              </a:spcAft>
            </a:pPr>
            <a:r>
              <a:rPr sz="1500">
                <a:solidFill>
                  <a:srgbClr val="E8EEF2"/>
                </a:solidFill>
                <a:latin typeface="Consolas"/>
              </a:rPr>
              <a:t> no ip access-group 20 in</a:t>
            </a:r>
          </a:p>
          <a:p>
            <a:pPr>
              <a:lnSpc>
                <a:spcPct val="100000"/>
              </a:lnSpc>
              <a:spcAft>
                <a:spcPts val="0"/>
              </a:spcAft>
            </a:pPr>
            <a:r>
              <a:rPr sz="1500">
                <a:solidFill>
                  <a:srgbClr val="E8EEF2"/>
                </a:solidFill>
                <a:latin typeface="Consolas"/>
              </a:rPr>
              <a:t> ip access-group VLAN30-POLICY in</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772292"/>
            <a:ext cx="10820095" cy="358278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The requirement names a destination, so it needs an extended ACL, and an extended ACL can safely sit near the source.</a:t>
            </a:r>
          </a:p>
          <a:p>
            <a:pPr algn="l">
              <a:lnSpc>
                <a:spcPct val="100000"/>
              </a:lnSpc>
              <a:spcAft>
                <a:spcPts val="1000"/>
              </a:spcAft>
            </a:pPr>
            <a:r>
              <a:rPr sz="1900" b="0" i="0">
                <a:solidFill>
                  <a:srgbClr val="1C252B"/>
                </a:solidFill>
                <a:latin typeface="Segoe UI"/>
              </a:rPr>
              <a:t>Note line 30. Without it the extended ACL would reproduce the original outage by a different route. Then </a:t>
            </a:r>
            <a:r>
              <a:rPr sz="1800" b="0" i="0">
                <a:solidFill>
                  <a:srgbClr val="1A5276"/>
                </a:solidFill>
                <a:latin typeface="Consolas"/>
              </a:rPr>
              <a:t>clear access-list counters</a:t>
            </a:r>
            <a:r>
              <a:rPr sz="1900" b="0" i="0">
                <a:solidFill>
                  <a:srgbClr val="1C252B"/>
                </a:solidFill>
                <a:latin typeface="Segoe UI"/>
              </a:rPr>
              <a:t> and re-test: line 20 should accumulate matches only when someone tries the finance server, and line 30 should carry everything else.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Writing, reading and repairing ACLs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Topology.</a:t>
            </a:r>
            <a:r>
              <a:rPr sz="1800" b="0" i="0">
                <a:solidFill>
                  <a:srgbClr val="1C252B"/>
                </a:solidFill>
                <a:latin typeface="Segoe UI"/>
              </a:rPr>
              <a:t> </a:t>
            </a:r>
            <a:r>
              <a:rPr sz="1700" b="0" i="0">
                <a:solidFill>
                  <a:srgbClr val="1A5276"/>
                </a:solidFill>
                <a:latin typeface="Consolas"/>
              </a:rPr>
              <a:t>R1</a:t>
            </a:r>
            <a:r>
              <a:rPr sz="1800" b="0" i="0">
                <a:solidFill>
                  <a:srgbClr val="1C252B"/>
                </a:solidFill>
                <a:latin typeface="Segoe UI"/>
              </a:rPr>
              <a:t> routing four VLANs — staff 10, servers 20, lab 30, guest 40 — with a server at </a:t>
            </a:r>
            <a:r>
              <a:rPr sz="1700" b="0" i="0">
                <a:solidFill>
                  <a:srgbClr val="1A5276"/>
                </a:solidFill>
                <a:latin typeface="Consolas"/>
              </a:rPr>
              <a:t>192.168.20.10</a:t>
            </a:r>
            <a:r>
              <a:rPr sz="1800" b="0" i="0">
                <a:solidFill>
                  <a:srgbClr val="1C252B"/>
                </a:solidFill>
                <a:latin typeface="Segoe UI"/>
              </a:rPr>
              <a:t> running DNS and HTTP, a finance server at </a:t>
            </a:r>
            <a:r>
              <a:rPr sz="1700" b="0" i="0">
                <a:solidFill>
                  <a:srgbClr val="1A5276"/>
                </a:solidFill>
                <a:latin typeface="Consolas"/>
              </a:rPr>
              <a:t>192.168.20.15</a:t>
            </a:r>
            <a:r>
              <a:rPr sz="1800" b="0" i="0">
                <a:solidFill>
                  <a:srgbClr val="1C252B"/>
                </a:solidFill>
                <a:latin typeface="Segoe UI"/>
              </a:rPr>
              <a:t>, and an internet-facing link.</a:t>
            </a:r>
          </a:p>
        </p:txBody>
      </p:sp>
      <p:sp>
        <p:nvSpPr>
          <p:cNvPr id="8" name="bullets"/>
          <p:cNvSpPr txBox="1"/>
          <p:nvPr/>
        </p:nvSpPr>
        <p:spPr>
          <a:xfrm>
            <a:off x="685800" y="2592324"/>
            <a:ext cx="10820095" cy="3790188"/>
          </a:xfrm>
          <a:prstGeom prst="rect">
            <a:avLst/>
          </a:prstGeom>
          <a:noFill/>
        </p:spPr>
        <p:txBody>
          <a:bodyPr wrap="square" lIns="0" rIns="0" tIns="0" bIns="0">
            <a:spAutoFit/>
          </a:bodyPr>
          <a:lstStyle/>
          <a:p>
            <a:pPr marL="347472" indent="-347472">
              <a:lnSpc>
                <a:spcPct val="102000"/>
              </a:lnSpc>
              <a:spcAft>
                <a:spcPts val="900"/>
              </a:spcAft>
            </a:pPr>
            <a:r>
              <a:rPr sz="1800" b="1">
                <a:solidFill>
                  <a:srgbClr val="922B21"/>
                </a:solidFill>
                <a:latin typeface="Segoe UI"/>
              </a:rPr>
              <a:t>1.  </a:t>
            </a:r>
            <a:r>
              <a:rPr sz="1800" b="0" i="0">
                <a:solidFill>
                  <a:srgbClr val="1C252B"/>
                </a:solidFill>
                <a:latin typeface="Segoe UI"/>
              </a:rPr>
              <a:t>Confirm full connectivity between all four VLANs before applying any ACL. Record the tests you used; you will repeat them after every change.</a:t>
            </a:r>
          </a:p>
          <a:p>
            <a:pPr marL="347472" indent="-347472">
              <a:lnSpc>
                <a:spcPct val="102000"/>
              </a:lnSpc>
              <a:spcAft>
                <a:spcPts val="900"/>
              </a:spcAft>
            </a:pPr>
            <a:r>
              <a:rPr sz="1800" b="1">
                <a:solidFill>
                  <a:srgbClr val="922B21"/>
                </a:solidFill>
                <a:latin typeface="Segoe UI"/>
              </a:rPr>
              <a:t>2.  </a:t>
            </a:r>
            <a:r>
              <a:rPr sz="1800" b="0" i="0">
                <a:solidFill>
                  <a:srgbClr val="1C252B"/>
                </a:solidFill>
                <a:latin typeface="Segoe UI"/>
              </a:rPr>
              <a:t>Write and apply a numbered standard ACL restricting management access to the VTY lines to the staff VLAN only. Test from staff and from lab.</a:t>
            </a:r>
          </a:p>
          <a:p>
            <a:pPr marL="347472" indent="-347472">
              <a:lnSpc>
                <a:spcPct val="102000"/>
              </a:lnSpc>
              <a:spcAft>
                <a:spcPts val="900"/>
              </a:spcAft>
            </a:pPr>
            <a:r>
              <a:rPr sz="1800" b="1">
                <a:solidFill>
                  <a:srgbClr val="922B21"/>
                </a:solidFill>
                <a:latin typeface="Segoe UI"/>
              </a:rPr>
              <a:t>3.  </a:t>
            </a:r>
            <a:r>
              <a:rPr sz="1800" b="0" i="0">
                <a:solidFill>
                  <a:srgbClr val="1C252B"/>
                </a:solidFill>
                <a:latin typeface="Segoe UI"/>
              </a:rPr>
              <a:t>Convert it to a named ACL. Insert an additional permitted host between two existing lines without retyping the list.</a:t>
            </a:r>
          </a:p>
          <a:p>
            <a:pPr marL="347472" indent="-347472">
              <a:lnSpc>
                <a:spcPct val="102000"/>
              </a:lnSpc>
              <a:spcAft>
                <a:spcPts val="900"/>
              </a:spcAft>
            </a:pPr>
            <a:r>
              <a:rPr sz="1800" b="1">
                <a:solidFill>
                  <a:srgbClr val="922B21"/>
                </a:solidFill>
                <a:latin typeface="Segoe UI"/>
              </a:rPr>
              <a:t>4.  </a:t>
            </a:r>
            <a:r>
              <a:rPr sz="1800" b="0" i="0">
                <a:solidFill>
                  <a:srgbClr val="1C252B"/>
                </a:solidFill>
                <a:latin typeface="Segoe UI"/>
              </a:rPr>
              <a:t>Write an extended named ACL for the guest VLAN permitting only DNS to </a:t>
            </a:r>
            <a:r>
              <a:rPr sz="1700" b="0" i="0">
                <a:solidFill>
                  <a:srgbClr val="1A5276"/>
                </a:solidFill>
                <a:latin typeface="Consolas"/>
              </a:rPr>
              <a:t>192.168.20.10</a:t>
            </a:r>
            <a:r>
              <a:rPr sz="1800" b="0" i="0">
                <a:solidFill>
                  <a:srgbClr val="1C252B"/>
                </a:solidFill>
                <a:latin typeface="Segoe UI"/>
              </a:rPr>
              <a:t>, HTTP and HTTPS anywhere, and DHCP. Apply it inbound. Verify each permitted service works and at least three others do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Writing, reading and repairing ACLs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1.  </a:t>
            </a:r>
            <a:r>
              <a:rPr sz="2000" b="0" i="0">
                <a:solidFill>
                  <a:srgbClr val="1C252B"/>
                </a:solidFill>
                <a:latin typeface="Segoe UI"/>
              </a:rPr>
              <a:t>Read the match counters after your tests. Identify any rule with zero matches and explain why.</a:t>
            </a:r>
          </a:p>
          <a:p>
            <a:pPr marL="386080" indent="-386080">
              <a:lnSpc>
                <a:spcPct val="102000"/>
              </a:lnSpc>
              <a:spcAft>
                <a:spcPts val="900"/>
              </a:spcAft>
            </a:pPr>
            <a:r>
              <a:rPr sz="2000" b="1">
                <a:solidFill>
                  <a:srgbClr val="922B21"/>
                </a:solidFill>
                <a:latin typeface="Segoe UI"/>
              </a:rPr>
              <a:t>2.  </a:t>
            </a:r>
            <a:r>
              <a:rPr sz="2000" b="1" i="0">
                <a:solidFill>
                  <a:srgbClr val="1C252B"/>
                </a:solidFill>
                <a:latin typeface="Segoe UI"/>
              </a:rPr>
              <a:t>Break 1.</a:t>
            </a:r>
            <a:r>
              <a:rPr sz="2000" b="0" i="0">
                <a:solidFill>
                  <a:srgbClr val="1C252B"/>
                </a:solidFill>
                <a:latin typeface="Segoe UI"/>
              </a:rPr>
              <a:t> Remove the DHCP permit and release a guest host’s lease. Predict the result before testing.</a:t>
            </a:r>
          </a:p>
          <a:p>
            <a:pPr marL="386080" indent="-386080">
              <a:lnSpc>
                <a:spcPct val="102000"/>
              </a:lnSpc>
              <a:spcAft>
                <a:spcPts val="900"/>
              </a:spcAft>
            </a:pPr>
            <a:r>
              <a:rPr sz="2000" b="1">
                <a:solidFill>
                  <a:srgbClr val="922B21"/>
                </a:solidFill>
                <a:latin typeface="Segoe UI"/>
              </a:rPr>
              <a:t>3.  </a:t>
            </a:r>
            <a:r>
              <a:rPr sz="2000" b="1" i="0">
                <a:solidFill>
                  <a:srgbClr val="1C252B"/>
                </a:solidFill>
                <a:latin typeface="Segoe UI"/>
              </a:rPr>
              <a:t>Break 2.</a:t>
            </a:r>
            <a:r>
              <a:rPr sz="2000" b="0" i="0">
                <a:solidFill>
                  <a:srgbClr val="1C252B"/>
                </a:solidFill>
                <a:latin typeface="Segoe UI"/>
              </a:rPr>
              <a:t> Move the </a:t>
            </a:r>
            <a:r>
              <a:rPr sz="1900" b="0" i="0">
                <a:solidFill>
                  <a:srgbClr val="1A5276"/>
                </a:solidFill>
                <a:latin typeface="Consolas"/>
              </a:rPr>
              <a:t>permit tcp ... eq 443</a:t>
            </a:r>
            <a:r>
              <a:rPr sz="2000" b="0" i="0">
                <a:solidFill>
                  <a:srgbClr val="1C252B"/>
                </a:solidFill>
                <a:latin typeface="Segoe UI"/>
              </a:rPr>
              <a:t> line above the </a:t>
            </a:r>
            <a:r>
              <a:rPr sz="1900" b="0" i="0">
                <a:solidFill>
                  <a:srgbClr val="1A5276"/>
                </a:solidFill>
                <a:latin typeface="Consolas"/>
              </a:rPr>
              <a:t>deny</a:t>
            </a:r>
            <a:r>
              <a:rPr sz="2000" b="0" i="0">
                <a:solidFill>
                  <a:srgbClr val="1C252B"/>
                </a:solidFill>
                <a:latin typeface="Segoe UI"/>
              </a:rPr>
              <a:t> that follows it, then below it, and observe the counters in each case.</a:t>
            </a:r>
          </a:p>
          <a:p>
            <a:pPr marL="386080" indent="-386080">
              <a:lnSpc>
                <a:spcPct val="102000"/>
              </a:lnSpc>
              <a:spcAft>
                <a:spcPts val="900"/>
              </a:spcAft>
            </a:pPr>
            <a:r>
              <a:rPr sz="2000" b="1">
                <a:solidFill>
                  <a:srgbClr val="922B21"/>
                </a:solidFill>
                <a:latin typeface="Segoe UI"/>
              </a:rPr>
              <a:t>4.  </a:t>
            </a:r>
            <a:r>
              <a:rPr sz="2000" b="1" i="0">
                <a:solidFill>
                  <a:srgbClr val="1C252B"/>
                </a:solidFill>
                <a:latin typeface="Segoe UI"/>
              </a:rPr>
              <a:t>Break 3.</a:t>
            </a:r>
            <a:r>
              <a:rPr sz="2000" b="0" i="0">
                <a:solidFill>
                  <a:srgbClr val="1C252B"/>
                </a:solidFill>
                <a:latin typeface="Segoe UI"/>
              </a:rPr>
              <a:t> Reproduce the Break &amp; Fix above deliberately: use a standard ACL near the source to try to protect one server. Confirm the symptom, then repair it with an extended ACL.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Writing, reading and repairing ACLs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2600306"/>
            <a:ext cx="10820095" cy="3782205"/>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1.  </a:t>
            </a:r>
            <a:r>
              <a:rPr sz="2000" b="1" i="0">
                <a:solidFill>
                  <a:srgbClr val="1C252B"/>
                </a:solidFill>
                <a:latin typeface="Segoe UI"/>
              </a:rPr>
              <a:t>Break 4.</a:t>
            </a:r>
            <a:r>
              <a:rPr sz="2000" b="0" i="0">
                <a:solidFill>
                  <a:srgbClr val="1C252B"/>
                </a:solidFill>
                <a:latin typeface="Segoe UI"/>
              </a:rPr>
              <a:t> Apply an ACL that blocks your own SSH session on a device you can still reach by console. Recover it, then write down the habit that would have prevented it.</a:t>
            </a:r>
          </a:p>
          <a:p>
            <a:pPr marL="386080" indent="-386080">
              <a:lnSpc>
                <a:spcPct val="102000"/>
              </a:lnSpc>
              <a:spcAft>
                <a:spcPts val="900"/>
              </a:spcAft>
            </a:pPr>
            <a:r>
              <a:rPr sz="2000" b="1">
                <a:solidFill>
                  <a:srgbClr val="922B21"/>
                </a:solidFill>
                <a:latin typeface="Segoe UI"/>
              </a:rPr>
              <a:t>2.  </a:t>
            </a:r>
            <a:r>
              <a:rPr sz="2000" b="1" i="0">
                <a:solidFill>
                  <a:srgbClr val="1C252B"/>
                </a:solidFill>
                <a:latin typeface="Segoe UI"/>
              </a:rPr>
              <a:t>Extension.</a:t>
            </a:r>
            <a:r>
              <a:rPr sz="2000" b="0" i="0">
                <a:solidFill>
                  <a:srgbClr val="1C252B"/>
                </a:solidFill>
                <a:latin typeface="Segoe UI"/>
              </a:rPr>
              <a:t> Add </a:t>
            </a:r>
            <a:r>
              <a:rPr sz="1900" b="0" i="0">
                <a:solidFill>
                  <a:srgbClr val="1A5276"/>
                </a:solidFill>
                <a:latin typeface="Consolas"/>
              </a:rPr>
              <a:t>permit tcp any 192.168.20.0 0.0.0.255 established</a:t>
            </a:r>
            <a:r>
              <a:rPr sz="2000" b="0" i="0">
                <a:solidFill>
                  <a:srgbClr val="1C252B"/>
                </a:solidFill>
                <a:latin typeface="Segoe UI"/>
              </a:rPr>
              <a:t> to an internet-facing inbound ACL. Verify that internal hosts can browse out and that inbound connections are refused, and explain why this is not a stateful firewall.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the wildcard mask for </a:t>
            </a:r>
            <a:r>
              <a:rPr sz="2900" b="0" i="0">
                <a:solidFill>
                  <a:srgbClr val="FFFFFF"/>
                </a:solidFill>
                <a:latin typeface="Consolas"/>
              </a:rPr>
              <a:t>10.20.16.0/20</a:t>
            </a:r>
            <a:r>
              <a:rPr sz="3000" b="0" i="0">
                <a:solidFill>
                  <a:srgbClr val="FFFFFF"/>
                </a:solidFill>
                <a:latin typeface="Segoe UI"/>
              </a:rPr>
              <a:t> and the range it matches.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the wildcard mask for </a:t>
            </a:r>
            <a:r>
              <a:rPr sz="1900" b="1" i="0">
                <a:solidFill>
                  <a:srgbClr val="1A5276"/>
                </a:solidFill>
                <a:latin typeface="Consolas"/>
              </a:rPr>
              <a:t>10.20.16.0/20</a:t>
            </a:r>
            <a:r>
              <a:rPr sz="2000" b="1" i="0">
                <a:solidFill>
                  <a:srgbClr val="1A5276"/>
                </a:solidFill>
                <a:latin typeface="Segoe UI"/>
              </a:rPr>
              <a:t> and the range it matches.</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Mask </a:t>
            </a:r>
            <a:r>
              <a:rPr sz="1800" b="0" i="0">
                <a:solidFill>
                  <a:srgbClr val="1A5276"/>
                </a:solidFill>
                <a:latin typeface="Consolas"/>
              </a:rPr>
              <a:t>255.255.240.0</a:t>
            </a:r>
            <a:r>
              <a:rPr sz="1900" b="0" i="0">
                <a:solidFill>
                  <a:srgbClr val="1C252B"/>
                </a:solidFill>
                <a:latin typeface="Segoe UI"/>
              </a:rPr>
              <a:t>, so the wildcard is </a:t>
            </a:r>
            <a:r>
              <a:rPr sz="1800" b="0" i="0">
                <a:solidFill>
                  <a:srgbClr val="1A5276"/>
                </a:solidFill>
                <a:latin typeface="Consolas"/>
              </a:rPr>
              <a:t>0.0.15.255</a:t>
            </a:r>
            <a:r>
              <a:rPr sz="1900" b="0" i="0">
                <a:solidFill>
                  <a:srgbClr val="1C252B"/>
                </a:solidFill>
                <a:latin typeface="Segoe UI"/>
              </a:rPr>
              <a:t>. It matches </a:t>
            </a:r>
            <a:r>
              <a:rPr sz="1800" b="0" i="0">
                <a:solidFill>
                  <a:srgbClr val="1A5276"/>
                </a:solidFill>
                <a:latin typeface="Consolas"/>
              </a:rPr>
              <a:t>10.20.16.0</a:t>
            </a:r>
            <a:r>
              <a:rPr sz="1900" b="0" i="0">
                <a:solidFill>
                  <a:srgbClr val="1C252B"/>
                </a:solidFill>
                <a:latin typeface="Segoe UI"/>
              </a:rPr>
              <a:t> through </a:t>
            </a:r>
            <a:r>
              <a:rPr sz="1800" b="0" i="0">
                <a:solidFill>
                  <a:srgbClr val="1A5276"/>
                </a:solidFill>
                <a:latin typeface="Consolas"/>
              </a:rPr>
              <a:t>10.20.31.255</a:t>
            </a:r>
            <a:r>
              <a:rPr sz="1900" b="0" i="0">
                <a:solidFill>
                  <a:srgbClr val="1C252B"/>
                </a:solidFill>
                <a:latin typeface="Segoe UI"/>
              </a:rPr>
              <a:t> — sixteen consecutive /24s.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a standard ACL placed near the destination and an extended ACL near the source?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a standard ACL placed near the destination and an extended ACL near the source?</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 standard ACL can only match the </a:t>
            </a:r>
            <a:r>
              <a:rPr sz="1900" b="0" i="1">
                <a:solidFill>
                  <a:srgbClr val="1C252B"/>
                </a:solidFill>
                <a:latin typeface="Segoe UI"/>
              </a:rPr>
              <a:t>source</a:t>
            </a:r>
            <a:r>
              <a:rPr sz="1900" b="0" i="0">
                <a:solidFill>
                  <a:srgbClr val="1C252B"/>
                </a:solidFill>
                <a:latin typeface="Segoe UI"/>
              </a:rPr>
              <a:t>. Placed near the source it would block that host from everything, not just the one destination. An extended ACL can name the destination too, so it is precise enough to sit near the source, which saves carrying doomed traffic across the network.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An ACL’s final </a:t>
            </a:r>
            <a:r>
              <a:rPr sz="2900" b="0" i="0">
                <a:solidFill>
                  <a:srgbClr val="FFFFFF"/>
                </a:solidFill>
                <a:latin typeface="Consolas"/>
              </a:rPr>
              <a:t>permit any</a:t>
            </a:r>
            <a:r>
              <a:rPr sz="3000" b="0" i="0">
                <a:solidFill>
                  <a:srgbClr val="FFFFFF"/>
                </a:solidFill>
                <a:latin typeface="Segoe UI"/>
              </a:rPr>
              <a:t> shows zero matches. What does that tell you?</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An ACL’s final </a:t>
            </a:r>
            <a:r>
              <a:rPr sz="1900" b="1" i="0">
                <a:solidFill>
                  <a:srgbClr val="1A5276"/>
                </a:solidFill>
                <a:latin typeface="Consolas"/>
              </a:rPr>
              <a:t>permit any</a:t>
            </a:r>
            <a:r>
              <a:rPr sz="2000" b="1" i="0">
                <a:solidFill>
                  <a:srgbClr val="1A5276"/>
                </a:solidFill>
                <a:latin typeface="Segoe UI"/>
              </a:rPr>
              <a:t> shows zero matches. What does that tell you?</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That everything is being dropped by an earlier line — no packet from anywhere reached the bottom of the list. An ACL whose final permit never matches is denying all traffic it sees.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a:t>
            </a:r>
            <a:r>
              <a:rPr sz="2900" b="0" i="0">
                <a:solidFill>
                  <a:srgbClr val="FFFFFF"/>
                </a:solidFill>
                <a:latin typeface="Consolas"/>
              </a:rPr>
              <a:t>established</a:t>
            </a:r>
            <a:r>
              <a:rPr sz="3000" b="0" i="0">
                <a:solidFill>
                  <a:srgbClr val="FFFFFF"/>
                </a:solidFill>
                <a:latin typeface="Segoe UI"/>
              </a:rPr>
              <a:t> match, and why is it not stateful?</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a:t>
            </a:r>
            <a:r>
              <a:rPr sz="1900" b="1" i="0">
                <a:solidFill>
                  <a:srgbClr val="1A5276"/>
                </a:solidFill>
                <a:latin typeface="Consolas"/>
              </a:rPr>
              <a:t>established</a:t>
            </a:r>
            <a:r>
              <a:rPr sz="2000" b="1" i="0">
                <a:solidFill>
                  <a:srgbClr val="1A5276"/>
                </a:solidFill>
                <a:latin typeface="Segoe UI"/>
              </a:rPr>
              <a:t> match, and why is it not stateful?</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TCP segments with the ACK or RST flag set — replies within a conversation somebody inside already started. It is not stateful because it inspects </a:t>
            </a:r>
            <a:r>
              <a:rPr sz="1900" b="0" i="1">
                <a:solidFill>
                  <a:srgbClr val="1C252B"/>
                </a:solidFill>
                <a:latin typeface="Segoe UI"/>
              </a:rPr>
              <a:t>flags</a:t>
            </a:r>
            <a:r>
              <a:rPr sz="1900" b="0" i="0">
                <a:solidFill>
                  <a:srgbClr val="1C252B"/>
                </a:solidFill>
                <a:latin typeface="Segoe UI"/>
              </a:rPr>
              <a:t> on each packet independently and keeps no record of connections; a crafted packet with ACK set will match.</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three supporting protocols that a restrictive inbound ACL must explicitly permit, and give the symptom for each if it is missed.</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three supporting protocols that a restrictive inbound ACL must explicitly permit, and give the symptom for each if it is missed.</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DHCP</a:t>
            </a:r>
            <a:r>
              <a:rPr sz="1900" b="0" i="0">
                <a:solidFill>
                  <a:srgbClr val="1C252B"/>
                </a:solidFill>
                <a:latin typeface="Segoe UI"/>
              </a:rPr>
              <a:t> — without it hosts get no address and the VLAN looks completely dead. </a:t>
            </a:r>
            <a:r>
              <a:rPr sz="1900" b="1" i="0">
                <a:solidFill>
                  <a:srgbClr val="1C252B"/>
                </a:solidFill>
                <a:latin typeface="Segoe UI"/>
              </a:rPr>
              <a:t>DNS</a:t>
            </a:r>
            <a:r>
              <a:rPr sz="1900" b="0" i="0">
                <a:solidFill>
                  <a:srgbClr val="1C252B"/>
                </a:solidFill>
                <a:latin typeface="Segoe UI"/>
              </a:rPr>
              <a:t> — everything works by IP and nothing by name. </a:t>
            </a:r>
            <a:r>
              <a:rPr sz="1900" b="1" i="0">
                <a:solidFill>
                  <a:srgbClr val="1C252B"/>
                </a:solidFill>
                <a:latin typeface="Segoe UI"/>
              </a:rPr>
              <a:t>ICMP</a:t>
            </a:r>
            <a:r>
              <a:rPr sz="1900" b="0" i="0">
                <a:solidFill>
                  <a:srgbClr val="1C252B"/>
                </a:solidFill>
                <a:latin typeface="Segoe UI"/>
              </a:rPr>
              <a:t> — users and you lose the ability to test anything, and troubleshooting becomes guesswork.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Top down, first match wins, implicit </a:t>
            </a:r>
            <a:r>
              <a:rPr sz="1900" b="0" i="0">
                <a:solidFill>
                  <a:srgbClr val="1A5276"/>
                </a:solidFill>
                <a:latin typeface="Consolas"/>
              </a:rPr>
              <a:t>deny any</a:t>
            </a:r>
            <a:r>
              <a:rPr sz="2000" b="0" i="0">
                <a:solidFill>
                  <a:srgbClr val="1C252B"/>
                </a:solidFill>
                <a:latin typeface="Segoe UI"/>
              </a:rPr>
              <a:t> at the end. Order is behaviour.</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Wildcard mask = 255 minus each octet of the subnet mask. Check it by adding it to the network address.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Standard (1–99, 1300–1999) matches source only — place near the destination. Extended (100–199, 2000–2699) matches source, destination, protocol and port — place near the source.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Named ACLs with sequence numbers can be edited a line at a time. Numbered ones on older IOS cannot, and deleting one that is still applied denies everything.</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Apply with </a:t>
            </a:r>
            <a:r>
              <a:rPr sz="1900" b="0" i="0">
                <a:solidFill>
                  <a:srgbClr val="1A5276"/>
                </a:solidFill>
                <a:latin typeface="Consolas"/>
              </a:rPr>
              <a:t>ip access-group in|out</a:t>
            </a:r>
            <a:r>
              <a:rPr sz="2000" b="0" i="0">
                <a:solidFill>
                  <a:srgbClr val="1C252B"/>
                </a:solidFill>
                <a:latin typeface="Segoe UI"/>
              </a:rPr>
              <a:t> on an interface, or </a:t>
            </a:r>
            <a:r>
              <a:rPr sz="1900" b="0" i="0">
                <a:solidFill>
                  <a:srgbClr val="1A5276"/>
                </a:solidFill>
                <a:latin typeface="Consolas"/>
              </a:rPr>
              <a:t>access-class in</a:t>
            </a:r>
            <a:r>
              <a:rPr sz="2000" b="0" i="0">
                <a:solidFill>
                  <a:srgbClr val="1C252B"/>
                </a:solidFill>
                <a:latin typeface="Segoe UI"/>
              </a:rPr>
              <a:t> on the VTY lines.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24. Access Control Lists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4.6</a:t>
            </a:r>
          </a:p>
        </p:txBody>
      </p:sp>
      <p:sp>
        <p:nvSpPr>
          <p:cNvPr id="7" name="bullets"/>
          <p:cNvSpPr txBox="1"/>
          <p:nvPr/>
        </p:nvSpPr>
        <p:spPr>
          <a:xfrm>
            <a:off x="685800" y="2836164"/>
            <a:ext cx="10820095" cy="35463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show access-lists</a:t>
            </a:r>
            <a:r>
              <a:rPr sz="2000" b="0" i="0">
                <a:solidFill>
                  <a:srgbClr val="1C252B"/>
                </a:solidFill>
                <a:latin typeface="Segoe UI"/>
              </a:rPr>
              <a:t> match counters are the real diagnostic: a zero on the last line means everything is being dropped; a zero in the middle means a shadowed rule.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Remember DHCP, DNS and ICMP, or a restrictive ACL makes a VLAN look dead.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Top down, first match wins, implicit </a:t>
            </a:r>
            <a:r>
              <a:rPr sz="1800" b="0" i="0">
                <a:solidFill>
                  <a:srgbClr val="FFFFFF"/>
                </a:solidFill>
                <a:latin typeface="Consolas"/>
              </a:rPr>
              <a:t>deny any</a:t>
            </a:r>
            <a:r>
              <a:rPr sz="1900" b="0" i="0">
                <a:solidFill>
                  <a:srgbClr val="FFFFFF"/>
                </a:solidFill>
                <a:latin typeface="Segoe UI"/>
              </a:rPr>
              <a:t> at the end. Order is behaviour.</a:t>
            </a:r>
          </a:p>
          <a:p>
            <a:pPr marL="217169" indent="-217169">
              <a:spcAft>
                <a:spcPts val="900"/>
              </a:spcAft>
            </a:pPr>
            <a:r>
              <a:rPr sz="1900">
                <a:solidFill>
                  <a:srgbClr val="C8D6E5"/>
                </a:solidFill>
              </a:rPr>
              <a:t>•  </a:t>
            </a:r>
            <a:r>
              <a:rPr sz="1900" b="0" i="0">
                <a:solidFill>
                  <a:srgbClr val="FFFFFF"/>
                </a:solidFill>
                <a:latin typeface="Segoe UI"/>
              </a:rPr>
              <a:t>Wildcard mask = 255 minus each octet of the subnet mask. Check it by adding it to the network address.</a:t>
            </a:r>
          </a:p>
          <a:p>
            <a:pPr marL="217169" indent="-217169">
              <a:spcAft>
                <a:spcPts val="900"/>
              </a:spcAft>
            </a:pPr>
            <a:r>
              <a:rPr sz="1900">
                <a:solidFill>
                  <a:srgbClr val="C8D6E5"/>
                </a:solidFill>
              </a:rPr>
              <a:t>•  </a:t>
            </a:r>
            <a:r>
              <a:rPr sz="1900" b="0" i="0">
                <a:solidFill>
                  <a:srgbClr val="FFFFFF"/>
                </a:solidFill>
                <a:latin typeface="Segoe UI"/>
              </a:rPr>
              <a:t>Standard (1–99, 1300–1999) matches source only — place near the destination. Extended (100–199, 2000–2699) matches source, destination, protocol and port — place near the source.</a:t>
            </a:r>
          </a:p>
          <a:p>
            <a:pPr marL="217169" indent="-217169">
              <a:spcAft>
                <a:spcPts val="900"/>
              </a:spcAft>
            </a:pPr>
            <a:r>
              <a:rPr sz="1900">
                <a:solidFill>
                  <a:srgbClr val="C8D6E5"/>
                </a:solidFill>
              </a:rPr>
              <a:t>•  </a:t>
            </a:r>
            <a:r>
              <a:rPr sz="1900" b="0" i="0">
                <a:solidFill>
                  <a:srgbClr val="FFFFFF"/>
                </a:solidFill>
                <a:latin typeface="Segoe UI"/>
              </a:rPr>
              <a:t>Named ACLs with sequence numbers can be edited a line at a time. Numbered ones on older IOS cannot, and deleting one that is still applied denies everything.</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25 — Layer 2 Security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