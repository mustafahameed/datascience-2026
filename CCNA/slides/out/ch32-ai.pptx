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32: AI in Network Operations. Blueprint topics: 5.1, 5.2.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in Network Operations 5.15.2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useful question about an agentic system is not “is it intelligent” but how much is it allowed to do without asking. Recommend. It tells you what it would do. You do it. No risk beyond a wasted suggestion. Approve then act. It prepares the change and waits for a human to approve. This is where most production deployments sit, and sensibly. Act then report. It makes the change and tells you afterwards. Appropriate for narrow, reversible, well-understood actions — clearing an err-disabled port, restarting a stuck process. Fully autonomous. It acts within a defined scope with no notification. Appropriate for very little in a production network.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topic 5.2, and it is a practical skill with four named parts.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2" name="bg"/>
          <p:cNvSpPr/>
          <p:nvPr/>
        </p:nvSpPr>
        <p:spPr>
          <a:xfrm>
            <a:off x="0" y="0"/>
            <a:ext cx="12191695"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5A4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32</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AI in Network Operations</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V — Wireless, Virtualisation and Operations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5.1"/>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5.1"/>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B7950B"/>
                </a:solidFill>
                <a:latin typeface="Segoe UI"/>
              </a:rPr>
              <a:t>5.1</a:t>
            </a:r>
          </a:p>
        </p:txBody>
      </p:sp>
      <p:sp>
        <p:nvSpPr>
          <p:cNvPr id="11" name="chip-5.2"/>
          <p:cNvSpPr/>
          <p:nvPr/>
        </p:nvSpPr>
        <p:spPr>
          <a:xfrm>
            <a:off x="3136391"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hiptx-5.2"/>
          <p:cNvSpPr txBox="1"/>
          <p:nvPr/>
        </p:nvSpPr>
        <p:spPr>
          <a:xfrm>
            <a:off x="3136391"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B7950B"/>
                </a:solidFill>
                <a:latin typeface="Segoe UI"/>
              </a:rPr>
              <a:t>5.2</a:t>
            </a:r>
          </a:p>
        </p:txBody>
      </p:sp>
      <p:sp>
        <p:nvSpPr>
          <p:cNvPr id="13"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4"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5"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6"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7"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8"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B7950B"/>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B7950B"/>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Distinguish</a:t>
            </a:r>
            <a:r>
              <a:rPr sz="2000" b="0" i="0">
                <a:solidFill>
                  <a:srgbClr val="1C252B"/>
                </a:solidFill>
                <a:latin typeface="Segoe UI"/>
              </a:rPr>
              <a:t> generative AI from agentic AI, and describe what makes a system agentic.</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Describe</a:t>
            </a:r>
            <a:r>
              <a:rPr sz="2000" b="0" i="0">
                <a:solidFill>
                  <a:srgbClr val="1C252B"/>
                </a:solidFill>
                <a:latin typeface="Segoe UI"/>
              </a:rPr>
              <a:t> where AI is genuinely used in network operations, and where it should not be trusted.</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Select</a:t>
            </a:r>
            <a:r>
              <a:rPr sz="2000" b="0" i="0">
                <a:solidFill>
                  <a:srgbClr val="1C252B"/>
                </a:solidFill>
                <a:latin typeface="Segoe UI"/>
              </a:rPr>
              <a:t> an effective prompt, using the four components the blueprint names: data classification, output format, persona and instructions.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Judge</a:t>
            </a:r>
            <a:r>
              <a:rPr sz="2000" b="0" i="0">
                <a:solidFill>
                  <a:srgbClr val="1C252B"/>
                </a:solidFill>
                <a:latin typeface="Segoe UI"/>
              </a:rPr>
              <a:t> what data may safely be sent to an AI system, and sanitise what may not.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30 for the five management approaches — agentic systems sit on top of them, not instead of them. Chapter 31 for automation, which is what an agent actually uses to act. Chapter 23 for why credentials must not leave the organisation.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term-generative AI"/>
          <p:cNvSpPr/>
          <p:nvPr/>
        </p:nvSpPr>
        <p:spPr>
          <a:xfrm>
            <a:off x="685800" y="1609344"/>
            <a:ext cx="148539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generative AI"/>
          <p:cNvSpPr/>
          <p:nvPr/>
        </p:nvSpPr>
        <p:spPr>
          <a:xfrm>
            <a:off x="685800"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generative AI"/>
          <p:cNvSpPr txBox="1"/>
          <p:nvPr/>
        </p:nvSpPr>
        <p:spPr>
          <a:xfrm>
            <a:off x="850392" y="1700784"/>
            <a:ext cx="115620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generative AI</a:t>
            </a:r>
          </a:p>
        </p:txBody>
      </p:sp>
      <p:sp>
        <p:nvSpPr>
          <p:cNvPr id="10" name="term-agentic AI"/>
          <p:cNvSpPr/>
          <p:nvPr/>
        </p:nvSpPr>
        <p:spPr>
          <a:xfrm>
            <a:off x="2299207" y="1609344"/>
            <a:ext cx="121716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agentic AI"/>
          <p:cNvSpPr/>
          <p:nvPr/>
        </p:nvSpPr>
        <p:spPr>
          <a:xfrm>
            <a:off x="2299207"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agentic AI"/>
          <p:cNvSpPr txBox="1"/>
          <p:nvPr/>
        </p:nvSpPr>
        <p:spPr>
          <a:xfrm>
            <a:off x="2463800" y="1700784"/>
            <a:ext cx="88798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agentic AI</a:t>
            </a:r>
          </a:p>
        </p:txBody>
      </p:sp>
      <p:sp>
        <p:nvSpPr>
          <p:cNvPr id="13" name="term-autonomy"/>
          <p:cNvSpPr/>
          <p:nvPr/>
        </p:nvSpPr>
        <p:spPr>
          <a:xfrm>
            <a:off x="3644391" y="1609344"/>
            <a:ext cx="119075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autonomy"/>
          <p:cNvSpPr/>
          <p:nvPr/>
        </p:nvSpPr>
        <p:spPr>
          <a:xfrm>
            <a:off x="3644391"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autonomy"/>
          <p:cNvSpPr txBox="1"/>
          <p:nvPr/>
        </p:nvSpPr>
        <p:spPr>
          <a:xfrm>
            <a:off x="3808983" y="1700784"/>
            <a:ext cx="86156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autonomy</a:t>
            </a:r>
          </a:p>
        </p:txBody>
      </p:sp>
      <p:sp>
        <p:nvSpPr>
          <p:cNvPr id="16" name="term-tool use"/>
          <p:cNvSpPr/>
          <p:nvPr/>
        </p:nvSpPr>
        <p:spPr>
          <a:xfrm>
            <a:off x="4963159" y="1609344"/>
            <a:ext cx="103022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tool use"/>
          <p:cNvSpPr/>
          <p:nvPr/>
        </p:nvSpPr>
        <p:spPr>
          <a:xfrm>
            <a:off x="4963159"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tool use"/>
          <p:cNvSpPr txBox="1"/>
          <p:nvPr/>
        </p:nvSpPr>
        <p:spPr>
          <a:xfrm>
            <a:off x="5127751" y="1700784"/>
            <a:ext cx="701040"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tool use</a:t>
            </a:r>
          </a:p>
        </p:txBody>
      </p:sp>
      <p:sp>
        <p:nvSpPr>
          <p:cNvPr id="19" name="term-human in the loop"/>
          <p:cNvSpPr/>
          <p:nvPr/>
        </p:nvSpPr>
        <p:spPr>
          <a:xfrm>
            <a:off x="6121399" y="1609344"/>
            <a:ext cx="191007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human in the loop"/>
          <p:cNvSpPr/>
          <p:nvPr/>
        </p:nvSpPr>
        <p:spPr>
          <a:xfrm>
            <a:off x="6121399"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human in the loop"/>
          <p:cNvSpPr txBox="1"/>
          <p:nvPr/>
        </p:nvSpPr>
        <p:spPr>
          <a:xfrm>
            <a:off x="6285991" y="1700784"/>
            <a:ext cx="158089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human in the loop</a:t>
            </a:r>
          </a:p>
        </p:txBody>
      </p:sp>
      <p:sp>
        <p:nvSpPr>
          <p:cNvPr id="22" name="term-prompt"/>
          <p:cNvSpPr/>
          <p:nvPr/>
        </p:nvSpPr>
        <p:spPr>
          <a:xfrm>
            <a:off x="8159495" y="1609344"/>
            <a:ext cx="94081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prompt"/>
          <p:cNvSpPr/>
          <p:nvPr/>
        </p:nvSpPr>
        <p:spPr>
          <a:xfrm>
            <a:off x="8159495"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prompt"/>
          <p:cNvSpPr txBox="1"/>
          <p:nvPr/>
        </p:nvSpPr>
        <p:spPr>
          <a:xfrm>
            <a:off x="8324087" y="1700784"/>
            <a:ext cx="61163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prompt</a:t>
            </a:r>
          </a:p>
        </p:txBody>
      </p:sp>
      <p:sp>
        <p:nvSpPr>
          <p:cNvPr id="25" name="term-persona"/>
          <p:cNvSpPr/>
          <p:nvPr/>
        </p:nvSpPr>
        <p:spPr>
          <a:xfrm>
            <a:off x="9228327" y="1609344"/>
            <a:ext cx="101193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persona"/>
          <p:cNvSpPr/>
          <p:nvPr/>
        </p:nvSpPr>
        <p:spPr>
          <a:xfrm>
            <a:off x="9228327"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persona"/>
          <p:cNvSpPr txBox="1"/>
          <p:nvPr/>
        </p:nvSpPr>
        <p:spPr>
          <a:xfrm>
            <a:off x="9392919" y="1700784"/>
            <a:ext cx="68275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persona</a:t>
            </a:r>
          </a:p>
        </p:txBody>
      </p:sp>
      <p:sp>
        <p:nvSpPr>
          <p:cNvPr id="28" name="term-data classificatio"/>
          <p:cNvSpPr/>
          <p:nvPr/>
        </p:nvSpPr>
        <p:spPr>
          <a:xfrm>
            <a:off x="685800" y="2212848"/>
            <a:ext cx="195681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data classificatio"/>
          <p:cNvSpPr/>
          <p:nvPr/>
        </p:nvSpPr>
        <p:spPr>
          <a:xfrm>
            <a:off x="685800"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data classificatio"/>
          <p:cNvSpPr txBox="1"/>
          <p:nvPr/>
        </p:nvSpPr>
        <p:spPr>
          <a:xfrm>
            <a:off x="850392" y="2304288"/>
            <a:ext cx="162763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data classification</a:t>
            </a:r>
          </a:p>
        </p:txBody>
      </p:sp>
      <p:sp>
        <p:nvSpPr>
          <p:cNvPr id="31" name="term-sanitisation"/>
          <p:cNvSpPr/>
          <p:nvPr/>
        </p:nvSpPr>
        <p:spPr>
          <a:xfrm>
            <a:off x="2770632" y="2212848"/>
            <a:ext cx="135940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sanitisation"/>
          <p:cNvSpPr/>
          <p:nvPr/>
        </p:nvSpPr>
        <p:spPr>
          <a:xfrm>
            <a:off x="2770632"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sanitisation"/>
          <p:cNvSpPr txBox="1"/>
          <p:nvPr/>
        </p:nvSpPr>
        <p:spPr>
          <a:xfrm>
            <a:off x="2935224" y="2304288"/>
            <a:ext cx="103022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sanitisation</a:t>
            </a:r>
          </a:p>
        </p:txBody>
      </p:sp>
      <p:sp>
        <p:nvSpPr>
          <p:cNvPr id="34" name="term-hallucination"/>
          <p:cNvSpPr/>
          <p:nvPr/>
        </p:nvSpPr>
        <p:spPr>
          <a:xfrm>
            <a:off x="4258056" y="2212848"/>
            <a:ext cx="146303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hallucination"/>
          <p:cNvSpPr/>
          <p:nvPr/>
        </p:nvSpPr>
        <p:spPr>
          <a:xfrm>
            <a:off x="4258056"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hallucination"/>
          <p:cNvSpPr txBox="1"/>
          <p:nvPr/>
        </p:nvSpPr>
        <p:spPr>
          <a:xfrm>
            <a:off x="4422647" y="2304288"/>
            <a:ext cx="113385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hallucination</a:t>
            </a:r>
          </a:p>
        </p:txBody>
      </p:sp>
      <p:sp>
        <p:nvSpPr>
          <p:cNvPr id="37" name="term-blast radius"/>
          <p:cNvSpPr/>
          <p:nvPr/>
        </p:nvSpPr>
        <p:spPr>
          <a:xfrm>
            <a:off x="5849112" y="2212848"/>
            <a:ext cx="135940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blast radius"/>
          <p:cNvSpPr/>
          <p:nvPr/>
        </p:nvSpPr>
        <p:spPr>
          <a:xfrm>
            <a:off x="5849112"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blast radius"/>
          <p:cNvSpPr txBox="1"/>
          <p:nvPr/>
        </p:nvSpPr>
        <p:spPr>
          <a:xfrm>
            <a:off x="6013704" y="2304288"/>
            <a:ext cx="103022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blast radius</a:t>
            </a:r>
          </a:p>
        </p:txBody>
      </p:sp>
      <p:sp>
        <p:nvSpPr>
          <p:cNvPr id="40"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Two topics, and the second one is unusual</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B7950B"/>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1600" b="1">
                <a:solidFill>
                  <a:srgbClr val="B7950B"/>
                </a:solidFill>
                <a:latin typeface="Segoe UI"/>
              </a:rPr>
              <a:t> 5.1 </a:t>
            </a:r>
            <a:r>
              <a:rPr sz="2000" b="0" i="0">
                <a:solidFill>
                  <a:srgbClr val="1C252B"/>
                </a:solidFill>
                <a:latin typeface="Segoe UI"/>
              </a:rPr>
              <a:t> is </a:t>
            </a:r>
            <a:r>
              <a:rPr sz="2000" b="0" i="1">
                <a:solidFill>
                  <a:srgbClr val="1C252B"/>
                </a:solidFill>
                <a:latin typeface="Segoe UI"/>
              </a:rPr>
              <a:t>describe the role of agentic AI in network operations</a:t>
            </a:r>
            <a:r>
              <a:rPr sz="2000" b="0" i="0">
                <a:solidFill>
                  <a:srgbClr val="1C252B"/>
                </a:solidFill>
                <a:latin typeface="Segoe UI"/>
              </a:rPr>
              <a:t>.</a:t>
            </a:r>
          </a:p>
          <a:p>
            <a:pPr algn="l">
              <a:lnSpc>
                <a:spcPct val="100000"/>
              </a:lnSpc>
              <a:spcAft>
                <a:spcPts val="1000"/>
              </a:spcAft>
            </a:pPr>
            <a:r>
              <a:rPr sz="1600" b="1">
                <a:solidFill>
                  <a:srgbClr val="B7950B"/>
                </a:solidFill>
                <a:latin typeface="Segoe UI"/>
              </a:rPr>
              <a:t> 5.2 </a:t>
            </a:r>
            <a:r>
              <a:rPr sz="2000" b="0" i="0">
                <a:solidFill>
                  <a:srgbClr val="1C252B"/>
                </a:solidFill>
                <a:latin typeface="Segoe UI"/>
              </a:rPr>
              <a:t> is </a:t>
            </a:r>
            <a:r>
              <a:rPr sz="2000" b="0" i="1">
                <a:solidFill>
                  <a:srgbClr val="1C252B"/>
                </a:solidFill>
                <a:latin typeface="Segoe UI"/>
              </a:rPr>
              <a:t>select a prompt to send to a generative AI system to support network operations considering prompt components such as data classification, output format, persona, and instructions</a:t>
            </a:r>
            <a:r>
              <a:rPr sz="2000" b="0" i="0">
                <a:solidFill>
                  <a:srgbClr val="1C252B"/>
                </a:solidFill>
                <a:latin typeface="Segoe UI"/>
              </a:rPr>
              <a:t>.</a:t>
            </a:r>
          </a:p>
          <a:p>
            <a:pPr algn="l">
              <a:lnSpc>
                <a:spcPct val="100000"/>
              </a:lnSpc>
              <a:spcAft>
                <a:spcPts val="1000"/>
              </a:spcAft>
            </a:pPr>
            <a:r>
              <a:rPr sz="2000" b="0" i="0">
                <a:solidFill>
                  <a:srgbClr val="1C252B"/>
                </a:solidFill>
                <a:latin typeface="Segoe UI"/>
              </a:rPr>
              <a:t>Read </a:t>
            </a:r>
            <a:r>
              <a:rPr sz="1600" b="1">
                <a:solidFill>
                  <a:srgbClr val="B7950B"/>
                </a:solidFill>
                <a:latin typeface="Segoe UI"/>
              </a:rPr>
              <a:t> 5.2 </a:t>
            </a:r>
            <a:r>
              <a:rPr sz="2000" b="0" i="0">
                <a:solidFill>
                  <a:srgbClr val="1C252B"/>
                </a:solidFill>
                <a:latin typeface="Segoe UI"/>
              </a:rPr>
              <a:t> carefully, because it tells you the question format. </a:t>
            </a:r>
            <a:r>
              <a:rPr sz="2000" b="0" i="1">
                <a:solidFill>
                  <a:srgbClr val="1C252B"/>
                </a:solidFill>
                <a:latin typeface="Segoe UI"/>
              </a:rPr>
              <a:t>Select</a:t>
            </a:r>
            <a:r>
              <a:rPr sz="2000" b="0" i="0">
                <a:solidFill>
                  <a:srgbClr val="1C252B"/>
                </a:solidFill>
                <a:latin typeface="Segoe UI"/>
              </a:rPr>
              <a:t> means you will be shown several candidate prompts and asked which is best — not asked to write one. And the four components are </a:t>
            </a:r>
            <a:r>
              <a:rPr sz="2000" b="1" i="0">
                <a:solidFill>
                  <a:srgbClr val="1C252B"/>
                </a:solidFill>
                <a:latin typeface="Segoe UI"/>
              </a:rPr>
              <a:t>named</a:t>
            </a:r>
            <a:r>
              <a:rPr sz="2000" b="0" i="0">
                <a:solidFill>
                  <a:srgbClr val="1C252B"/>
                </a:solidFill>
                <a:latin typeface="Segoe UI"/>
              </a:rPr>
              <a:t>, which means the marking scheme is those four. A prompt that has all four beats one that does not.</a:t>
            </a:r>
          </a:p>
          <a:p>
            <a:pPr algn="l">
              <a:lnSpc>
                <a:spcPct val="100000"/>
              </a:lnSpc>
              <a:spcAft>
                <a:spcPts val="1000"/>
              </a:spcAft>
            </a:pPr>
            <a:r>
              <a:rPr sz="2000" b="0" i="0">
                <a:solidFill>
                  <a:srgbClr val="1C252B"/>
                </a:solidFill>
                <a:latin typeface="Segoe UI"/>
              </a:rPr>
              <a:t>Note the order Cisco lists them in: </a:t>
            </a:r>
            <a:r>
              <a:rPr sz="2000" b="1" i="0">
                <a:solidFill>
                  <a:srgbClr val="1C252B"/>
                </a:solidFill>
                <a:latin typeface="Segoe UI"/>
              </a:rPr>
              <a:t>data classification comes first</a:t>
            </a:r>
            <a:r>
              <a:rPr sz="2000" b="0" i="0">
                <a:solidFill>
                  <a:srgbClr val="1C252B"/>
                </a:solidFill>
                <a:latin typeface="Segoe UI"/>
              </a:rPr>
              <a:t>. That is not accidental, and Section sec:dataclass explains why.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Generative and agentic</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Generative AI</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tint"/>
          <p:cNvSpPr/>
          <p:nvPr/>
        </p:nvSpPr>
        <p:spPr>
          <a:xfrm>
            <a:off x="685800" y="1517904"/>
            <a:ext cx="10820095" cy="1337055"/>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system that produces content — text, code, configuration — in response to a prompt. It answers and stops. Every action taken as a result is taken by you.</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Agentic AI</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tint"/>
          <p:cNvSpPr/>
          <p:nvPr/>
        </p:nvSpPr>
        <p:spPr>
          <a:xfrm>
            <a:off x="685800" y="1517904"/>
            <a:ext cx="10820095" cy="16672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system that pursues a </a:t>
            </a:r>
            <a:r>
              <a:rPr sz="2000" b="0" i="1">
                <a:solidFill>
                  <a:srgbClr val="1C252B"/>
                </a:solidFill>
                <a:latin typeface="Segoe UI"/>
              </a:rPr>
              <a:t>goal</a:t>
            </a:r>
            <a:r>
              <a:rPr sz="2000" b="0" i="0">
                <a:solidFill>
                  <a:srgbClr val="1C252B"/>
                </a:solidFill>
                <a:latin typeface="Segoe UI"/>
              </a:rPr>
              <a:t> rather than answering a question. It perceives the current state, plans, uses tools to act, observes the result, and iterates — choosing the intermediate steps itself.</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Generative and agentic</a:t>
            </a:r>
          </a:p>
        </p:txBody>
      </p:sp>
      <p:sp>
        <p:nvSpPr>
          <p:cNvPr id="3"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pic>
        <p:nvPicPr>
          <p:cNvPr id="6" name="figure" descr="agentic.png"/>
          <p:cNvPicPr>
            <a:picLocks noChangeAspect="1"/>
          </p:cNvPicPr>
          <p:nvPr/>
        </p:nvPicPr>
        <p:blipFill>
          <a:blip r:embed="rId2"/>
          <a:stretch>
            <a:fillRect/>
          </a:stretch>
        </p:blipFill>
        <p:spPr>
          <a:xfrm>
            <a:off x="1609991" y="1517904"/>
            <a:ext cx="8971712" cy="4114800"/>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The difference is the loop and who closes it. A generative system hands you an answer; an agentic one acts and checks its own work.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one-sentence answer for the exam</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Generative AI produces content; agentic AI takes action toward a goal, using tools, and evaluates its own results.</a:t>
            </a:r>
            <a:r>
              <a:rPr sz="2000" b="0" i="0">
                <a:solidFill>
                  <a:srgbClr val="1C252B"/>
                </a:solidFill>
                <a:latin typeface="Segoe UI"/>
              </a:rPr>
              <a:t> Autonomy and tool use are the two words that separate them.</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Where it is actually used</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Blast radius is the design question</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Before granting autonomy, ask what the worst outcome is if the system is confidently wrong. Clearing one err-disabled port has a blast radius of one port. Changing a route map on a core router has a blast radius of the organisation.</a:t>
            </a:r>
          </a:p>
          <a:p>
            <a:pPr algn="l">
              <a:lnSpc>
                <a:spcPct val="100000"/>
              </a:lnSpc>
              <a:spcAft>
                <a:spcPts val="1000"/>
              </a:spcAft>
            </a:pPr>
            <a:r>
              <a:rPr sz="2000" b="0" i="0">
                <a:solidFill>
                  <a:srgbClr val="1C252B"/>
                </a:solidFill>
                <a:latin typeface="Segoe UI"/>
              </a:rPr>
              <a:t>The same technology can sit at different rungs for different actions, and a well-designed deployment does exactly that. “Human in the loop” is not a blanket policy; it is a decision made per action, based on reversibility and reach.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these systems are bad at, and you must know</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Being confidently wrong.</a:t>
            </a:r>
            <a:r>
              <a:rPr sz="2000" b="0" i="0">
                <a:solidFill>
                  <a:srgbClr val="1C252B"/>
                </a:solidFill>
                <a:latin typeface="Segoe UI"/>
              </a:rPr>
              <a:t> A fluent, plausible, incorrect answer is the characteristic failure. It does not signal uncertainty the way a colleague would.</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Your network specifically.</a:t>
            </a:r>
            <a:r>
              <a:rPr sz="2000" b="0" i="0">
                <a:solidFill>
                  <a:srgbClr val="1C252B"/>
                </a:solidFill>
                <a:latin typeface="Segoe UI"/>
              </a:rPr>
              <a:t> Training data is the internet, not your topology. It does not know that VLAN 40 is the guest network here.</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Currency.</a:t>
            </a:r>
            <a:r>
              <a:rPr sz="2000" b="0" i="0">
                <a:solidFill>
                  <a:srgbClr val="1C252B"/>
                </a:solidFill>
                <a:latin typeface="Segoe UI"/>
              </a:rPr>
              <a:t> It may recommend commands deprecated years ago, or miss ones added last year.</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Accountability.</a:t>
            </a:r>
            <a:r>
              <a:rPr sz="2000" b="0" i="0">
                <a:solidFill>
                  <a:srgbClr val="1C252B"/>
                </a:solidFill>
                <a:latin typeface="Segoe UI"/>
              </a:rPr>
              <a:t> When a change breaks a site, a person is answerable. Change control, approval and rollback do not become optional because a machine proposed the change.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Selecting a prompt</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WORKED EXAMPLE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same question, asked twice</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400" b="1" i="0">
                <a:solidFill>
                  <a:srgbClr val="1C252B"/>
                </a:solidFill>
                <a:latin typeface="Segoe UI"/>
              </a:rPr>
              <a:t>Weak:</a:t>
            </a:r>
          </a:p>
          <a:p>
            <a:pPr algn="l">
              <a:lnSpc>
                <a:spcPct val="100000"/>
              </a:lnSpc>
              <a:spcAft>
                <a:spcPts val="1000"/>
              </a:spcAft>
            </a:pPr>
            <a:r>
              <a:rPr sz="1400" b="0" i="0">
                <a:solidFill>
                  <a:srgbClr val="1C252B"/>
                </a:solidFill>
                <a:latin typeface="Segoe UI"/>
              </a:rPr>
              <a:t>Why is my DHCP not working? Here is my config: [entire running configuration pasted, including </a:t>
            </a:r>
            <a:r>
              <a:rPr sz="1300" b="0" i="0">
                <a:solidFill>
                  <a:srgbClr val="1A5276"/>
                </a:solidFill>
                <a:latin typeface="Consolas"/>
              </a:rPr>
              <a:t>snmp-server community</a:t>
            </a:r>
            <a:r>
              <a:rPr sz="1400" b="0" i="0">
                <a:solidFill>
                  <a:srgbClr val="1C252B"/>
                </a:solidFill>
                <a:latin typeface="Segoe UI"/>
              </a:rPr>
              <a:t>, </a:t>
            </a:r>
            <a:r>
              <a:rPr sz="1300" b="0" i="0">
                <a:solidFill>
                  <a:srgbClr val="1A5276"/>
                </a:solidFill>
                <a:latin typeface="Consolas"/>
              </a:rPr>
              <a:t>username ... secret</a:t>
            </a:r>
            <a:r>
              <a:rPr sz="1400" b="0" i="0">
                <a:solidFill>
                  <a:srgbClr val="1C252B"/>
                </a:solidFill>
                <a:latin typeface="Segoe UI"/>
              </a:rPr>
              <a:t> and the site’s public addressing]</a:t>
            </a:r>
          </a:p>
          <a:p>
            <a:pPr algn="l">
              <a:lnSpc>
                <a:spcPct val="100000"/>
              </a:lnSpc>
              <a:spcAft>
                <a:spcPts val="1000"/>
              </a:spcAft>
            </a:pPr>
            <a:r>
              <a:rPr sz="1400" b="0" i="0">
                <a:solidFill>
                  <a:srgbClr val="1C252B"/>
                </a:solidFill>
                <a:latin typeface="Segoe UI"/>
              </a:rPr>
              <a:t>No persona, no output format, no scope — and it has just sent credentials and the organisation’s real addressing to a third party. Even a good answer would not justify that.</a:t>
            </a:r>
          </a:p>
          <a:p>
            <a:pPr algn="l">
              <a:lnSpc>
                <a:spcPct val="100000"/>
              </a:lnSpc>
              <a:spcAft>
                <a:spcPts val="1000"/>
              </a:spcAft>
            </a:pPr>
            <a:r>
              <a:rPr sz="1400" b="1" i="0">
                <a:solidFill>
                  <a:srgbClr val="1C252B"/>
                </a:solidFill>
                <a:latin typeface="Segoe UI"/>
              </a:rPr>
              <a:t>Strong:</a:t>
            </a:r>
          </a:p>
          <a:p>
            <a:pPr algn="l">
              <a:lnSpc>
                <a:spcPct val="100000"/>
              </a:lnSpc>
              <a:spcAft>
                <a:spcPts val="1000"/>
              </a:spcAft>
            </a:pPr>
            <a:r>
              <a:rPr sz="1400" b="0" i="0">
                <a:solidFill>
                  <a:srgbClr val="1C252B"/>
                </a:solidFill>
                <a:latin typeface="Segoe UI"/>
              </a:rPr>
              <a:t>You are a senior network engineer working on Cisco IOS XE 17.12.</a:t>
            </a:r>
          </a:p>
          <a:p>
            <a:pPr algn="l">
              <a:lnSpc>
                <a:spcPct val="100000"/>
              </a:lnSpc>
              <a:spcAft>
                <a:spcPts val="1000"/>
              </a:spcAft>
            </a:pPr>
            <a:r>
              <a:rPr sz="1400" b="0" i="0">
                <a:solidFill>
                  <a:srgbClr val="1C252B"/>
                </a:solidFill>
                <a:latin typeface="Segoe UI"/>
              </a:rPr>
              <a:t>Clients in VLAN 30 receive APIPA addresses. VLANs 10 and 20 on the same distribution switch lease correctly. The DHCP server is central and reached across a routed core. Relevant configuration, with addresses substituted:</a:t>
            </a:r>
          </a:p>
          <a:p>
            <a:pPr algn="l">
              <a:lnSpc>
                <a:spcPct val="100000"/>
              </a:lnSpc>
              <a:spcAft>
                <a:spcPts val="1000"/>
              </a:spcAft>
            </a:pPr>
            <a:r>
              <a:rPr sz="1300" b="0" i="0">
                <a:solidFill>
                  <a:srgbClr val="1A5276"/>
                </a:solidFill>
                <a:latin typeface="Consolas"/>
              </a:rPr>
              <a:t>interface Vlan30 / ip address 10.30.0.1 255.255.255.0</a:t>
            </a:r>
          </a:p>
          <a:p>
            <a:pPr algn="l">
              <a:lnSpc>
                <a:spcPct val="100000"/>
              </a:lnSpc>
              <a:spcAft>
                <a:spcPts val="1000"/>
              </a:spcAft>
            </a:pPr>
            <a:r>
              <a:rPr sz="1400" b="0" i="0">
                <a:solidFill>
                  <a:srgbClr val="1C252B"/>
                </a:solidFill>
                <a:latin typeface="Segoe UI"/>
              </a:rPr>
              <a:t>List the three most likely causes, most likely first. For each give the single show command that would confirm or eliminate it. Reply as a table with columns Cause, Confirming command, Expected output if this is the fault. Do not propose configuration changes.</a:t>
            </a:r>
          </a:p>
          <a:p>
            <a:pPr algn="l">
              <a:lnSpc>
                <a:spcPct val="100000"/>
              </a:lnSpc>
              <a:spcAft>
                <a:spcPts val="1000"/>
              </a:spcAft>
            </a:pPr>
            <a:r>
              <a:rPr sz="1400" b="0" i="0">
                <a:solidFill>
                  <a:srgbClr val="1C252B"/>
                </a:solidFill>
                <a:latin typeface="Segoe UI"/>
              </a:rPr>
              <a:t>All four components are present, and each earns its place: the persona sets the platform, the classification decided that addresses would be substituted and credentials omitted, the instructions bound the scope, and the format makes the answer directly actionable.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How to answer a “select the best prompt” question</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B7950B"/>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Score each candidate against the four components and pick the one with most. Then apply three tie-breakers:</a:t>
            </a:r>
          </a:p>
        </p:txBody>
      </p:sp>
      <p:sp>
        <p:nvSpPr>
          <p:cNvPr id="9" name="bullets"/>
          <p:cNvSpPr txBox="1"/>
          <p:nvPr/>
        </p:nvSpPr>
        <p:spPr>
          <a:xfrm>
            <a:off x="685800" y="2726944"/>
            <a:ext cx="10820095" cy="3655568"/>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Eliminate anything containing credentials, keys or real public addressing</a:t>
            </a:r>
            <a:r>
              <a:rPr sz="2000" b="0" i="0">
                <a:solidFill>
                  <a:srgbClr val="1C252B"/>
                </a:solidFill>
                <a:latin typeface="Segoe UI"/>
              </a:rPr>
              <a:t> immediately, however good the rest of it is. Data classification is listed first for a reason and a prompt that leaks is wrong regardless of its other qualities.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Prefer specific over polite.</a:t>
            </a:r>
            <a:r>
              <a:rPr sz="2000" b="0" i="0">
                <a:solidFill>
                  <a:srgbClr val="1C252B"/>
                </a:solidFill>
                <a:latin typeface="Segoe UI"/>
              </a:rPr>
              <a:t> “Please help me with my network” scores nothing. Length is not the measure — </a:t>
            </a:r>
            <a:r>
              <a:rPr sz="2000" b="0" i="1">
                <a:solidFill>
                  <a:srgbClr val="1C252B"/>
                </a:solidFill>
                <a:latin typeface="Segoe UI"/>
              </a:rPr>
              <a:t>specificity</a:t>
            </a:r>
            <a:r>
              <a:rPr sz="2000" b="0" i="0">
                <a:solidFill>
                  <a:srgbClr val="1C252B"/>
                </a:solidFill>
                <a:latin typeface="Segoe UI"/>
              </a:rPr>
              <a:t> is.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Prefer a stated output format.</a:t>
            </a:r>
            <a:r>
              <a:rPr sz="2000" b="0" i="0">
                <a:solidFill>
                  <a:srgbClr val="1C252B"/>
                </a:solidFill>
                <a:latin typeface="Segoe UI"/>
              </a:rPr>
              <a:t> It is the component most often missing from the distractors, so it frequently decides the answer.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Assume anything you send leaves your control</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prompt sent to an external service has been disclosed to a third party. It may be logged, retained, reviewed by humans, or used for training, depending on the contract — and deleting it later does not undo the disclosure.</a:t>
            </a:r>
          </a:p>
          <a:p>
            <a:pPr algn="l">
              <a:lnSpc>
                <a:spcPct val="100000"/>
              </a:lnSpc>
              <a:spcAft>
                <a:spcPts val="1000"/>
              </a:spcAft>
            </a:pPr>
            <a:r>
              <a:rPr sz="2000" b="1" i="0">
                <a:solidFill>
                  <a:srgbClr val="1C252B"/>
                </a:solidFill>
                <a:latin typeface="Segoe UI"/>
              </a:rPr>
              <a:t>Never send:</a:t>
            </a:r>
            <a:r>
              <a:rPr sz="2000" b="0" i="0">
                <a:solidFill>
                  <a:srgbClr val="1C252B"/>
                </a:solidFill>
                <a:latin typeface="Segoe UI"/>
              </a:rPr>
              <a:t> passwords, hashes, SNMP community strings, pre-shared keys, certificates, API tokens; personal data; real public IP addressing; anything your organisation classifies as confidential or above.</a:t>
            </a:r>
          </a:p>
          <a:p>
            <a:pPr algn="l">
              <a:lnSpc>
                <a:spcPct val="100000"/>
              </a:lnSpc>
              <a:spcAft>
                <a:spcPts val="1000"/>
              </a:spcAft>
            </a:pPr>
            <a:r>
              <a:rPr sz="2000" b="1" i="0">
                <a:solidFill>
                  <a:srgbClr val="1C252B"/>
                </a:solidFill>
                <a:latin typeface="Segoe UI"/>
              </a:rPr>
              <a:t>Sanitise first:</a:t>
            </a:r>
            <a:r>
              <a:rPr sz="2000" b="0" i="0">
                <a:solidFill>
                  <a:srgbClr val="1C252B"/>
                </a:solidFill>
                <a:latin typeface="Segoe UI"/>
              </a:rPr>
              <a:t> substitute addresses consistently (documentation ranges </a:t>
            </a:r>
            <a:r>
              <a:rPr sz="1900" b="0" i="0">
                <a:solidFill>
                  <a:srgbClr val="1A5276"/>
                </a:solidFill>
                <a:latin typeface="Consolas"/>
              </a:rPr>
              <a:t>192.0.2.0/24</a:t>
            </a:r>
            <a:r>
              <a:rPr sz="2000" b="0" i="0">
                <a:solidFill>
                  <a:srgbClr val="1C252B"/>
                </a:solidFill>
                <a:latin typeface="Segoe UI"/>
              </a:rPr>
              <a:t>, </a:t>
            </a:r>
            <a:r>
              <a:rPr sz="1900" b="0" i="0">
                <a:solidFill>
                  <a:srgbClr val="1A5276"/>
                </a:solidFill>
                <a:latin typeface="Consolas"/>
              </a:rPr>
              <a:t>198.51.100.0/24</a:t>
            </a:r>
            <a:r>
              <a:rPr sz="2000" b="0" i="0">
                <a:solidFill>
                  <a:srgbClr val="1C252B"/>
                </a:solidFill>
                <a:latin typeface="Segoe UI"/>
              </a:rPr>
              <a:t>, </a:t>
            </a:r>
            <a:r>
              <a:rPr sz="1900" b="0" i="0">
                <a:solidFill>
                  <a:srgbClr val="1A5276"/>
                </a:solidFill>
                <a:latin typeface="Consolas"/>
              </a:rPr>
              <a:t>203.0.113.0/24</a:t>
            </a:r>
            <a:r>
              <a:rPr sz="2000" b="0" i="0">
                <a:solidFill>
                  <a:srgbClr val="1C252B"/>
                </a:solidFill>
                <a:latin typeface="Segoe UI"/>
              </a:rPr>
              <a:t> exist for exactly this), replace hostnames, strip credential lines entirely, and include only the configuration relevant to the question.</a:t>
            </a:r>
          </a:p>
          <a:p>
            <a:pPr algn="l">
              <a:lnSpc>
                <a:spcPct val="100000"/>
              </a:lnSpc>
              <a:spcAft>
                <a:spcPts val="1000"/>
              </a:spcAft>
            </a:pPr>
            <a:r>
              <a:rPr sz="2000" b="1" i="0">
                <a:solidFill>
                  <a:srgbClr val="1C252B"/>
                </a:solidFill>
                <a:latin typeface="Segoe UI"/>
              </a:rPr>
              <a:t>And check the policy.</a:t>
            </a:r>
            <a:r>
              <a:rPr sz="2000" b="0" i="0">
                <a:solidFill>
                  <a:srgbClr val="1C252B"/>
                </a:solidFill>
                <a:latin typeface="Segoe UI"/>
              </a:rPr>
              <a:t> Many organisations permit an approved internal or contracted tool and prohibit public ones. Knowing which applies to you is part of the job now.</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Data classification, properly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Pasting a whole running configuration.</a:t>
            </a:r>
            <a:r>
              <a:rPr sz="2000" b="0" i="0">
                <a:solidFill>
                  <a:srgbClr val="1C252B"/>
                </a:solidFill>
                <a:latin typeface="Segoe UI"/>
              </a:rPr>
              <a:t> Slower, worse answers, and a disclosure.</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Confusing generative with agentic.</a:t>
            </a:r>
            <a:r>
              <a:rPr sz="2000" b="0" i="0">
                <a:solidFill>
                  <a:srgbClr val="1C252B"/>
                </a:solidFill>
                <a:latin typeface="Segoe UI"/>
              </a:rPr>
              <a:t> Tool use and autonomy are the difference.</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Omitting the output format.</a:t>
            </a:r>
            <a:r>
              <a:rPr sz="2000" b="0" i="0">
                <a:solidFill>
                  <a:srgbClr val="1C252B"/>
                </a:solidFill>
                <a:latin typeface="Segoe UI"/>
              </a:rPr>
              <a:t> You get an essay where you needed three commands.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No persona or platform.</a:t>
            </a:r>
            <a:r>
              <a:rPr sz="2000" b="0" i="0">
                <a:solidFill>
                  <a:srgbClr val="1C252B"/>
                </a:solidFill>
                <a:latin typeface="Segoe UI"/>
              </a:rPr>
              <a:t> You get generic advice, or IOS syntax for a platform you are not running.</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Accepting a confident answer without verifying.</a:t>
            </a:r>
            <a:r>
              <a:rPr sz="2000" b="0" i="0">
                <a:solidFill>
                  <a:srgbClr val="1C252B"/>
                </a:solidFill>
                <a:latin typeface="Segoe UI"/>
              </a:rPr>
              <a:t> Check the command exists on your platform before typing it.</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Granting autonomy without considering blast radius.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Data classification, properly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Assuming it knows your network.</a:t>
            </a:r>
            <a:r>
              <a:rPr sz="2000" b="0" i="0">
                <a:solidFill>
                  <a:srgbClr val="1C252B"/>
                </a:solidFill>
                <a:latin typeface="Segoe UI"/>
              </a:rPr>
              <a:t> It knows the internet.</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Treating an AI-proposed change as exempt from change control.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600" b="1" i="0">
                <a:solidFill>
                  <a:srgbClr val="1C252B"/>
                </a:solidFill>
                <a:latin typeface="Segoe UI"/>
              </a:rPr>
              <a:t>The suggested command was accepted and took the site off the air.</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An engineer asks an assistant why a trunk is not carrying VLAN 50 and is told to run </a:t>
            </a:r>
            <a:r>
              <a:rPr sz="1800" b="0" i="0">
                <a:solidFill>
                  <a:srgbClr val="1A5276"/>
                </a:solidFill>
                <a:latin typeface="Consolas"/>
              </a:rPr>
              <a:t>switchport trunk allowed vlan 50</a:t>
            </a:r>
            <a:r>
              <a:rPr sz="1900" b="0" i="0">
                <a:solidFill>
                  <a:srgbClr val="1C252B"/>
                </a:solidFill>
                <a:latin typeface="Segoe UI"/>
              </a:rPr>
              <a:t> on the uplink. They apply it. Every VLAN except 50 immediately stops working across that link.</a:t>
            </a:r>
          </a:p>
          <a:p>
            <a:pPr algn="l">
              <a:lnSpc>
                <a:spcPct val="100000"/>
              </a:lnSpc>
              <a:spcAft>
                <a:spcPts val="1000"/>
              </a:spcAft>
            </a:pPr>
            <a:r>
              <a:rPr sz="1900" b="1" i="0">
                <a:solidFill>
                  <a:srgbClr val="1C252B"/>
                </a:solidFill>
                <a:latin typeface="Segoe UI"/>
              </a:rPr>
              <a:t>The prompt that was used:</a:t>
            </a:r>
            <a:r>
              <a:rPr sz="1900" b="0" i="0">
                <a:solidFill>
                  <a:srgbClr val="1C252B"/>
                </a:solidFill>
                <a:latin typeface="Segoe UI"/>
              </a:rPr>
              <a:t> “VLAN 50 isn’t going over my trunk, what command fixes it?”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600" b="1" i="0">
                <a:solidFill>
                  <a:srgbClr val="1C252B"/>
                </a:solidFill>
                <a:latin typeface="Segoe UI"/>
              </a:rPr>
              <a:t>The suggested command was accepted and took the site off the air.</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32</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 — of the answer.</a:t>
            </a:r>
            <a:r>
              <a:rPr sz="1900" b="0" i="0">
                <a:solidFill>
                  <a:srgbClr val="1C252B"/>
                </a:solidFill>
                <a:latin typeface="Segoe UI"/>
              </a:rPr>
              <a:t> The command is real, correctly spelled and valid. It also </a:t>
            </a:r>
            <a:r>
              <a:rPr sz="1900" b="0" i="1">
                <a:solidFill>
                  <a:srgbClr val="1C252B"/>
                </a:solidFill>
                <a:latin typeface="Segoe UI"/>
              </a:rPr>
              <a:t>replaces</a:t>
            </a:r>
            <a:r>
              <a:rPr sz="1900" b="0" i="0">
                <a:solidFill>
                  <a:srgbClr val="1C252B"/>
                </a:solidFill>
                <a:latin typeface="Segoe UI"/>
              </a:rPr>
              <a:t> the allowed list rather than adding to it, so a trunk carrying 10, 20 and 30 now carries only 50. The correct command was </a:t>
            </a:r>
            <a:r>
              <a:rPr sz="1800" b="0" i="0">
                <a:solidFill>
                  <a:srgbClr val="1A5276"/>
                </a:solidFill>
                <a:latin typeface="Consolas"/>
              </a:rPr>
              <a:t>switchport trunk allowed vlan add 50</a:t>
            </a:r>
            <a:r>
              <a:rPr sz="1900" b="0" i="0">
                <a:solidFill>
                  <a:srgbClr val="1C252B"/>
                </a:solidFill>
                <a:latin typeface="Segoe UI"/>
              </a:rPr>
              <a:t> (Chapter 10).</a:t>
            </a:r>
          </a:p>
          <a:p>
            <a:pPr algn="l">
              <a:lnSpc>
                <a:spcPct val="100000"/>
              </a:lnSpc>
              <a:spcAft>
                <a:spcPts val="1000"/>
              </a:spcAft>
            </a:pPr>
            <a:r>
              <a:rPr sz="1900" b="1" i="0">
                <a:solidFill>
                  <a:srgbClr val="1C252B"/>
                </a:solidFill>
                <a:latin typeface="Segoe UI"/>
              </a:rPr>
              <a:t>Diagnosis — of the prompt</a:t>
            </a:r>
            <a:r>
              <a:rPr sz="1900" b="0" i="0">
                <a:solidFill>
                  <a:srgbClr val="1C252B"/>
                </a:solidFill>
                <a:latin typeface="Segoe UI"/>
              </a:rPr>
              <a:t>, which is the examinable part. Measure it against the four components:</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ANY GENERATIVE AI ASSISTANT, PLUS A LAB DEVICE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Prompt engineering as an examinable skill</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Platform note.</a:t>
            </a:r>
            <a:r>
              <a:rPr sz="2000" b="0" i="0">
                <a:solidFill>
                  <a:srgbClr val="1C252B"/>
                </a:solidFill>
                <a:latin typeface="Segoe UI"/>
              </a:rPr>
              <a:t> This lab needs no particular tool. Use whatever assistant your institution permits — and </a:t>
            </a:r>
            <a:r>
              <a:rPr sz="2000" b="1" i="0">
                <a:solidFill>
                  <a:srgbClr val="1C252B"/>
                </a:solidFill>
                <a:latin typeface="Segoe UI"/>
              </a:rPr>
              <a:t>check that policy first</a:t>
            </a:r>
            <a:r>
              <a:rPr sz="2000" b="0" i="0">
                <a:solidFill>
                  <a:srgbClr val="1C252B"/>
                </a:solidFill>
                <a:latin typeface="Segoe UI"/>
              </a:rPr>
              <a:t>, which is task 1 and is not a formality.</a:t>
            </a:r>
          </a:p>
        </p:txBody>
      </p:sp>
      <p:sp>
        <p:nvSpPr>
          <p:cNvPr id="8" name="bullets"/>
          <p:cNvSpPr txBox="1"/>
          <p:nvPr/>
        </p:nvSpPr>
        <p:spPr>
          <a:xfrm>
            <a:off x="685800" y="2361184"/>
            <a:ext cx="10820095" cy="4021328"/>
          </a:xfrm>
          <a:prstGeom prst="rect">
            <a:avLst/>
          </a:prstGeom>
          <a:noFill/>
        </p:spPr>
        <p:txBody>
          <a:bodyPr wrap="square" lIns="0" rIns="0" tIns="0" bIns="0">
            <a:spAutoFit/>
          </a:bodyPr>
          <a:lstStyle/>
          <a:p>
            <a:pPr marL="386080" indent="-386080">
              <a:lnSpc>
                <a:spcPct val="102000"/>
              </a:lnSpc>
              <a:spcAft>
                <a:spcPts val="900"/>
              </a:spcAft>
            </a:pPr>
            <a:r>
              <a:rPr sz="2000" b="1">
                <a:solidFill>
                  <a:srgbClr val="B7950B"/>
                </a:solidFill>
                <a:latin typeface="Segoe UI"/>
              </a:rPr>
              <a:t>1.  </a:t>
            </a:r>
            <a:r>
              <a:rPr sz="2000" b="0" i="0">
                <a:solidFill>
                  <a:srgbClr val="1C252B"/>
                </a:solidFill>
                <a:latin typeface="Segoe UI"/>
              </a:rPr>
              <a:t>Find and read your institution’s or employer’s policy on sending data to AI services. Write down, in one sentence, what you are permitted to send.</a:t>
            </a:r>
          </a:p>
          <a:p>
            <a:pPr marL="386080" indent="-386080">
              <a:lnSpc>
                <a:spcPct val="102000"/>
              </a:lnSpc>
              <a:spcAft>
                <a:spcPts val="900"/>
              </a:spcAft>
            </a:pPr>
            <a:r>
              <a:rPr sz="2000" b="1">
                <a:solidFill>
                  <a:srgbClr val="B7950B"/>
                </a:solidFill>
                <a:latin typeface="Segoe UI"/>
              </a:rPr>
              <a:t>2.  </a:t>
            </a:r>
            <a:r>
              <a:rPr sz="2000" b="0" i="0">
                <a:solidFill>
                  <a:srgbClr val="1C252B"/>
                </a:solidFill>
                <a:latin typeface="Segoe UI"/>
              </a:rPr>
              <a:t>Take a real configuration from one of your lab devices. Produce a sanitised version fit to include in a prompt: substitute addressing into documentation ranges, rename hosts, remove every credential. List everything you removed and why.</a:t>
            </a:r>
          </a:p>
          <a:p>
            <a:pPr marL="386080" indent="-386080">
              <a:lnSpc>
                <a:spcPct val="102000"/>
              </a:lnSpc>
              <a:spcAft>
                <a:spcPts val="900"/>
              </a:spcAft>
            </a:pPr>
            <a:r>
              <a:rPr sz="2000" b="1">
                <a:solidFill>
                  <a:srgbClr val="B7950B"/>
                </a:solidFill>
                <a:latin typeface="Segoe UI"/>
              </a:rPr>
              <a:t>3.  </a:t>
            </a:r>
            <a:r>
              <a:rPr sz="2000" b="0" i="0">
                <a:solidFill>
                  <a:srgbClr val="1C252B"/>
                </a:solidFill>
                <a:latin typeface="Segoe UI"/>
              </a:rPr>
              <a:t>Write the weakest useful prompt you can for a real problem from Chapter 14. Record the answer.</a:t>
            </a:r>
          </a:p>
          <a:p>
            <a:pPr marL="386080" indent="-386080">
              <a:lnSpc>
                <a:spcPct val="102000"/>
              </a:lnSpc>
              <a:spcAft>
                <a:spcPts val="900"/>
              </a:spcAft>
            </a:pPr>
            <a:r>
              <a:rPr sz="2000" b="1">
                <a:solidFill>
                  <a:srgbClr val="B7950B"/>
                </a:solidFill>
                <a:latin typeface="Segoe UI"/>
              </a:rPr>
              <a:t>4.  </a:t>
            </a:r>
            <a:r>
              <a:rPr sz="2000" b="0" i="0">
                <a:solidFill>
                  <a:srgbClr val="1C252B"/>
                </a:solidFill>
                <a:latin typeface="Segoe UI"/>
              </a:rPr>
              <a:t>Rewrite it with all four components. Record the answer. Compare the two for specificity, correctness and usability.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ANY GENERATIVE AI ASSISTANT, PLUS A LAB DEVICE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Prompt engineering as an examinable skill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B7950B"/>
                </a:solidFill>
                <a:latin typeface="Segoe UI"/>
              </a:rPr>
              <a:t>5.  </a:t>
            </a:r>
            <a:r>
              <a:rPr sz="2000" b="1" i="0">
                <a:solidFill>
                  <a:srgbClr val="1C252B"/>
                </a:solidFill>
                <a:latin typeface="Segoe UI"/>
              </a:rPr>
              <a:t>Verify both answers on the device.</a:t>
            </a:r>
            <a:r>
              <a:rPr sz="2000" b="0" i="0">
                <a:solidFill>
                  <a:srgbClr val="1C252B"/>
                </a:solidFill>
                <a:latin typeface="Segoe UI"/>
              </a:rPr>
              <a:t> Note anything suggested that was wrong, deprecated, or not supported on your platform. This step is the one that matters.</a:t>
            </a:r>
          </a:p>
          <a:p>
            <a:pPr marL="386080" indent="-386080">
              <a:lnSpc>
                <a:spcPct val="102000"/>
              </a:lnSpc>
              <a:spcAft>
                <a:spcPts val="900"/>
              </a:spcAft>
            </a:pPr>
            <a:r>
              <a:rPr sz="2000" b="1">
                <a:solidFill>
                  <a:srgbClr val="B7950B"/>
                </a:solidFill>
                <a:latin typeface="Segoe UI"/>
              </a:rPr>
              <a:t>6.  </a:t>
            </a:r>
            <a:r>
              <a:rPr sz="2000" b="0" i="0">
                <a:solidFill>
                  <a:srgbClr val="1C252B"/>
                </a:solidFill>
                <a:latin typeface="Segoe UI"/>
              </a:rPr>
              <a:t>Ask a question whose correct answer depends on context you deliberately withhold — as in this chapter’s Break &amp; Fix. Confirm you can produce a confidently wrong answer, and identify which missing component caused it.</a:t>
            </a:r>
          </a:p>
          <a:p>
            <a:pPr marL="386080" indent="-386080">
              <a:lnSpc>
                <a:spcPct val="102000"/>
              </a:lnSpc>
              <a:spcAft>
                <a:spcPts val="900"/>
              </a:spcAft>
            </a:pPr>
            <a:r>
              <a:rPr sz="2000" b="1">
                <a:solidFill>
                  <a:srgbClr val="B7950B"/>
                </a:solidFill>
                <a:latin typeface="Segoe UI"/>
              </a:rPr>
              <a:t>7.  </a:t>
            </a:r>
            <a:r>
              <a:rPr sz="2000" b="0" i="0">
                <a:solidFill>
                  <a:srgbClr val="1C252B"/>
                </a:solidFill>
                <a:latin typeface="Segoe UI"/>
              </a:rPr>
              <a:t>Write four candidate prompts for one task, one of which is clearly best, and swap with a colleague. Score each other’s against the four components. This is the exam question format.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ANY GENERATIVE AI ASSISTANT, PLUS A LAB DEVICE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Prompt engineering as an examinable skill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B7950B"/>
                </a:solidFill>
                <a:latin typeface="Segoe UI"/>
              </a:rPr>
              <a:t>8.  </a:t>
            </a:r>
            <a:r>
              <a:rPr sz="2000" b="1" i="0">
                <a:solidFill>
                  <a:srgbClr val="1C252B"/>
                </a:solidFill>
                <a:latin typeface="Segoe UI"/>
              </a:rPr>
              <a:t>Autonomy.</a:t>
            </a:r>
            <a:r>
              <a:rPr sz="2000" b="0" i="0">
                <a:solidFill>
                  <a:srgbClr val="1C252B"/>
                </a:solidFill>
                <a:latin typeface="Segoe UI"/>
              </a:rPr>
              <a:t> For each of these, place it on the four-rung ladder and justify: clearing an err-disabled port; adding a VLAN to an access switch; changing an OSPF cost on a core link; opening a ticket.</a:t>
            </a:r>
          </a:p>
          <a:p>
            <a:pPr marL="386080" indent="-386080">
              <a:lnSpc>
                <a:spcPct val="102000"/>
              </a:lnSpc>
              <a:spcAft>
                <a:spcPts val="900"/>
              </a:spcAft>
            </a:pPr>
            <a:r>
              <a:rPr sz="2000" b="1">
                <a:solidFill>
                  <a:srgbClr val="B7950B"/>
                </a:solidFill>
                <a:latin typeface="Segoe UI"/>
              </a:rPr>
              <a:t>9.  </a:t>
            </a:r>
            <a:r>
              <a:rPr sz="2000" b="1" i="0">
                <a:solidFill>
                  <a:srgbClr val="1C252B"/>
                </a:solidFill>
                <a:latin typeface="Segoe UI"/>
              </a:rPr>
              <a:t>Extension.</a:t>
            </a:r>
            <a:r>
              <a:rPr sz="2000" b="0" i="0">
                <a:solidFill>
                  <a:srgbClr val="1C252B"/>
                </a:solidFill>
                <a:latin typeface="Segoe UI"/>
              </a:rPr>
              <a:t> Write the one-page guidance your team should follow for using AI assistants on network work — what may be sent, what must be verified, and which actions may ever be automatic.</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State the difference between generative and agentic AI in one sentence.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State the difference between generative and agentic AI in one sentence.</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Generative AI produces content in response to a prompt and stops; agentic AI pursues a goal, uses tools to act, and evaluates its own results.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Name the four prompt components the blueprint lists, and say which is listed first and why.</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Name the four prompt components the blueprint lists, and say which is listed first and why.</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Data classification, output format, persona and instructions. </a:t>
            </a:r>
            <a:r>
              <a:rPr sz="1900" b="1" i="0">
                <a:solidFill>
                  <a:srgbClr val="1C252B"/>
                </a:solidFill>
                <a:latin typeface="Segoe UI"/>
              </a:rPr>
              <a:t>Data classification</a:t>
            </a:r>
            <a:r>
              <a:rPr sz="1900" b="0" i="0">
                <a:solidFill>
                  <a:srgbClr val="1C252B"/>
                </a:solidFill>
                <a:latin typeface="Segoe UI"/>
              </a:rPr>
              <a:t> is listed first, because a prompt that discloses credentials or real addressing is wrong regardless of how good the rest of it is — and the disclosure cannot be undone.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Give three categories of data that must never be sent to an external AI service.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Give three categories of data that must never be sent to an external AI service.</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Credentials of any kind (passwords, hashes, community strings, pre-shared keys, tokens); personal data; and real public IP addressing or anything the organisation classifies as confidential.</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is blast radius, and how does it govern how much autonomy an agent should have?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is blast radius, and how does it govern how much autonomy an agent should have?</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How much breaks if the action is wrong. It governs autonomy because the question is not how capable the system is but how bad a confident mistake would be — clearing one err-disabled port is reversible and local, while changing a core route map reaches the whole organisation.</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An assistant gives a fluent, confident, wrong answer. What is this called and what is the defence?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An assistant gives a fluent, confident, wrong answer. What is this called and what is the defence?</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A hallucination. The defence is verification: check the command exists on your platform, check it against the exhibit or the device, and keep change control. Fluency is not evidence.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6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Name three genuine uses of AI in network operations.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6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Name three genuine uses of AI in network operations.</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Any three of: anomaly detection, event correlation and noise reduction, root-cause suggestion, configuration drafting and review, documentation and summarisation, capacity forecasting, guided remediation.</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Generative AI produces content in response to a prompt. </a:t>
            </a:r>
            <a:r>
              <a:rPr sz="2000" b="1" i="0">
                <a:solidFill>
                  <a:srgbClr val="1C252B"/>
                </a:solidFill>
                <a:latin typeface="Segoe UI"/>
              </a:rPr>
              <a:t>Agentic AI pursues a goal</a:t>
            </a:r>
            <a:r>
              <a:rPr sz="2000" b="0" i="0">
                <a:solidFill>
                  <a:srgbClr val="1C252B"/>
                </a:solidFill>
                <a:latin typeface="Segoe UI"/>
              </a:rPr>
              <a:t>, uses tools, acts, and evaluates its own results. Autonomy and tool use are the difference.</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Real roles: anomaly detection, event correlation, root-cause suggestion, configuration drafting, documentation, capacity forecasting, guided remediation.</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Autonomy is a ladder — recommend, approve then act, act then report, fully autonomous — chosen per action according to blast radius.</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The four prompt components: </a:t>
            </a:r>
            <a:r>
              <a:rPr sz="2000" b="1" i="0">
                <a:solidFill>
                  <a:srgbClr val="1C252B"/>
                </a:solidFill>
                <a:latin typeface="Segoe UI"/>
              </a:rPr>
              <a:t>data classification, output format, persona, instructions</a:t>
            </a:r>
            <a:r>
              <a:rPr sz="2000" b="0" i="0">
                <a:solidFill>
                  <a:srgbClr val="1C252B"/>
                </a:solidFill>
                <a:latin typeface="Segoe UI"/>
              </a:rPr>
              <a:t>. A prompt with all four beats one without.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32. AI in Network Operations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5.1  5.2</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Data classification is listed first. Never send credentials, keys, personal data or real public addressing; sanitise into documentation ranges first; check your organisation’s policy.</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In a “select the prompt” question: eliminate anything that leaks, prefer specificity over politeness, and look for the stated output format.</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These systems are confidently wrong, do not know your network, and may be out of date. Verify before you apply, and keep change control.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2" name="bg"/>
          <p:cNvSpPr/>
          <p:nvPr/>
        </p:nvSpPr>
        <p:spPr>
          <a:xfrm>
            <a:off x="0" y="0"/>
            <a:ext cx="12191695"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Generative AI produces content in response to a prompt. </a:t>
            </a:r>
            <a:r>
              <a:rPr sz="1900" b="1" i="0">
                <a:solidFill>
                  <a:srgbClr val="FFFFFF"/>
                </a:solidFill>
                <a:latin typeface="Segoe UI"/>
              </a:rPr>
              <a:t>Agentic AI pursues a goal</a:t>
            </a:r>
            <a:r>
              <a:rPr sz="1900" b="0" i="0">
                <a:solidFill>
                  <a:srgbClr val="FFFFFF"/>
                </a:solidFill>
                <a:latin typeface="Segoe UI"/>
              </a:rPr>
              <a:t>, uses tools, acts, and evaluates its own results. Autonomy and tool use are the difference.</a:t>
            </a:r>
          </a:p>
          <a:p>
            <a:pPr marL="217169" indent="-217169">
              <a:spcAft>
                <a:spcPts val="900"/>
              </a:spcAft>
            </a:pPr>
            <a:r>
              <a:rPr sz="1900">
                <a:solidFill>
                  <a:srgbClr val="C8D6E5"/>
                </a:solidFill>
              </a:rPr>
              <a:t>•  </a:t>
            </a:r>
            <a:r>
              <a:rPr sz="1900" b="0" i="0">
                <a:solidFill>
                  <a:srgbClr val="FFFFFF"/>
                </a:solidFill>
                <a:latin typeface="Segoe UI"/>
              </a:rPr>
              <a:t>Real roles: anomaly detection, event correlation, root-cause suggestion, configuration drafting, documentation, capacity forecasting, guided remediation.</a:t>
            </a:r>
          </a:p>
          <a:p>
            <a:pPr marL="217169" indent="-217169">
              <a:spcAft>
                <a:spcPts val="900"/>
              </a:spcAft>
            </a:pPr>
            <a:r>
              <a:rPr sz="1900">
                <a:solidFill>
                  <a:srgbClr val="C8D6E5"/>
                </a:solidFill>
              </a:rPr>
              <a:t>•  </a:t>
            </a:r>
            <a:r>
              <a:rPr sz="1900" b="0" i="0">
                <a:solidFill>
                  <a:srgbClr val="FFFFFF"/>
                </a:solidFill>
                <a:latin typeface="Segoe UI"/>
              </a:rPr>
              <a:t>Autonomy is a ladder — recommend, approve then act, act then report, fully autonomous — chosen per action according to blast radius.</a:t>
            </a:r>
          </a:p>
          <a:p>
            <a:pPr marL="217169" indent="-217169">
              <a:spcAft>
                <a:spcPts val="900"/>
              </a:spcAft>
            </a:pPr>
            <a:r>
              <a:rPr sz="1900">
                <a:solidFill>
                  <a:srgbClr val="C8D6E5"/>
                </a:solidFill>
              </a:rPr>
              <a:t>•  </a:t>
            </a:r>
            <a:r>
              <a:rPr sz="1900" b="0" i="0">
                <a:solidFill>
                  <a:srgbClr val="FFFFFF"/>
                </a:solidFill>
                <a:latin typeface="Segoe UI"/>
              </a:rPr>
              <a:t>The four prompt components: </a:t>
            </a:r>
            <a:r>
              <a:rPr sz="1900" b="1" i="0">
                <a:solidFill>
                  <a:srgbClr val="FFFFFF"/>
                </a:solidFill>
                <a:latin typeface="Segoe UI"/>
              </a:rPr>
              <a:t>data classification, output format, persona, instructions</a:t>
            </a:r>
            <a:r>
              <a:rPr sz="1900" b="0" i="0">
                <a:solidFill>
                  <a:srgbClr val="FFFFFF"/>
                </a:solidFill>
                <a:latin typeface="Segoe UI"/>
              </a:rPr>
              <a:t>. A prompt with all four beats one without.</a:t>
            </a:r>
          </a:p>
        </p:txBody>
      </p:sp>
      <p:sp>
        <p:nvSpPr>
          <p:cNvPr id="5" name="nextbg"/>
          <p:cNvSpPr/>
          <p:nvPr/>
        </p:nvSpPr>
        <p:spPr>
          <a:xfrm>
            <a:off x="685800" y="5303520"/>
            <a:ext cx="10820095" cy="822960"/>
          </a:xfrm>
          <a:prstGeom prst="rect">
            <a:avLst/>
          </a:prstGeom>
          <a:solidFill>
            <a:srgbClr val="5A4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33 — A Troubleshooting Method for the 28 Per Cent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