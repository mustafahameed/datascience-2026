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20: DHCP: Client, Server and Relay. Blueprint topics: 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DHCP: Client, Server and Relay 1.7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host that has just booted knows its own MAC address and nothing else. It has no IP address, so it cannot be the destination of a routed packet; it does not know the address of a server, so it cannot ask one directly; and it does not know its own subnet, so it cannot even work out what a sensible address would be. Everything odd about DHCP follows from that opening position. The first message has to be a broadcast, because there is no unicast address to use in either direction. And broadcasts do not cross routers, which is the whole reason relay agents exist.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messages, in a fixed order, remembered as DORA.</a:t>
            </a:r>
          </a:p>
          <a:p/>
          <a:p>
            <a:r>
              <a:t>DORA. Three of the four messages are broadcasts, which is why a router between client and server stops the process dead unless it is configured to relay.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details in that figure earn their place on the exam. The REQUEST is broadcast, not unicast. If two servers both offered, the request names the one the client accepted, and the other server sees it and returns its offered address to the pool. A unicast request would leave the second address reserved for nothing. The client is not finished at the OFFER. A host that receives an offer and then loses the server still has no address. “It got an offer” is not the same as “it is working”.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router interface can take its address from DHCP. This is normal on the WAN interface of a small branch router.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column is the whole point of that output. DHCP means the address was leased; manual means somebody typed it. A WAN interface showing unassigned with the line protocol up is a router that asked and got no answer.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sites often use the router itself rather than a dedicated server. Four things must be right, and they must be right together.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Leased addresses against Total addresses is the number to read when somebody reports that “DHCP has stopped working” at nine in the morning. A pool that is full does not log an error to anybody who is watching; it simply stops answering. The DISCOVER is a broadcast, and a router does not forward broadcasts. So when the server is on a different subnet from the client — which is the normal case in any site with more than one VLAN — the router on the client’s subnet has to pick the broadcast up and forward it as a unicast. h{(0,0)}{PC1} sw{(2.6,0)}{SW1} r{(6.0,0)}{R1} s{(9.6,0)}{DHCP10.0.0.5} h{sw}{VLAN 10} sw{r}{trunk} r{s}{Gi0/1} at (2.6,-1.15) {broadcast here}; at (7.8,-1.15) {unicast 10.0.0.5};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the blueprint actually asks for. Almost every DHCP fault presents as one of three symptoms, and each points at a different part of the path. Establish which one you have before you start changing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conflict means the router offered an address and then found somebody already using it. Ping means the server tested the address before offering and got a reply; Gratuitous ARP means a client took the address and immediately heard another host claim it. Either way the cause is the same: a statically addressed device inside the pool range that nobody excluded. Conflicted addresses are removed from the pool and stay out, so a site that never clears them slowly runs out of addresses. Fix the exclusions first, then clear ip dhcp conflict *.</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618D"/>
        </a:solidFill>
        <a:effectLst/>
      </p:bgPr>
    </p:bg>
    <p:spTree>
      <p:nvGrpSpPr>
        <p:cNvPr id="1" name=""/>
        <p:cNvGrpSpPr/>
        <p:nvPr/>
      </p:nvGrpSpPr>
      <p:grpSpPr/>
      <p:sp>
        <p:nvSpPr>
          <p:cNvPr id="2" name="bg"/>
          <p:cNvSpPr/>
          <p:nvPr/>
        </p:nvSpPr>
        <p:spPr>
          <a:xfrm>
            <a:off x="0" y="0"/>
            <a:ext cx="12191695" cy="68580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94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20</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4000" b="1" i="0">
                <a:solidFill>
                  <a:srgbClr val="FFFFFF"/>
                </a:solidFill>
                <a:latin typeface="Segoe UI"/>
              </a:rPr>
              <a:t>DHCP: Client, Server and Relay</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IV — Network Services and Security</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1.7"/>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1.7"/>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F618D"/>
                </a:solidFill>
                <a:latin typeface="Segoe UI"/>
              </a:rPr>
              <a:t>1.7</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sp>
        <p:nvSpPr>
          <p:cNvPr id="13" name="lockup1"/>
          <p:cNvSpPr txBox="1"/>
          <p:nvPr/>
        </p:nvSpPr>
        <p:spPr>
          <a:xfrm>
            <a:off x="7939735" y="5175504"/>
            <a:ext cx="3566160"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FFFFFF"/>
                </a:solidFill>
                <a:latin typeface="Segoe UI"/>
              </a:rPr>
              <a:t>THE ISLAMIA UNIVERSITY OF BAHAWALPUR</a:t>
            </a:r>
          </a:p>
        </p:txBody>
      </p:sp>
      <p:sp>
        <p:nvSpPr>
          <p:cNvPr id="14" name="lockup2"/>
          <p:cNvSpPr txBox="1"/>
          <p:nvPr/>
        </p:nvSpPr>
        <p:spPr>
          <a:xfrm>
            <a:off x="7939735" y="5413248"/>
            <a:ext cx="3566160" cy="256032"/>
          </a:xfrm>
          <a:prstGeom prst="rect">
            <a:avLst/>
          </a:prstGeom>
          <a:noFill/>
        </p:spPr>
        <p:txBody>
          <a:bodyPr wrap="square" anchor="t" lIns="0" rIns="0" tIns="0" bIns="0">
            <a:spAutoFit/>
          </a:bodyPr>
          <a:lstStyle/>
          <a:p>
            <a:pPr algn="l">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bullets"/>
          <p:cNvSpPr txBox="1"/>
          <p:nvPr/>
        </p:nvSpPr>
        <p:spPr>
          <a:xfrm>
            <a:off x="685800" y="2417064"/>
            <a:ext cx="10820095" cy="396544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Describe</a:t>
            </a:r>
            <a:r>
              <a:rPr sz="2000" b="0" i="0">
                <a:solidFill>
                  <a:srgbClr val="1C252B"/>
                </a:solidFill>
                <a:latin typeface="Segoe UI"/>
              </a:rPr>
              <a:t> the four DHCPv4 messages and say which of them are broadcast and why that matters.</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Configure</a:t>
            </a:r>
            <a:r>
              <a:rPr sz="2000" b="0" i="0">
                <a:solidFill>
                  <a:srgbClr val="1C252B"/>
                </a:solidFill>
                <a:latin typeface="Segoe UI"/>
              </a:rPr>
              <a:t> an IOS router in each of the three roles: client, server and relay agent.</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Interpret</a:t>
            </a:r>
            <a:r>
              <a:rPr sz="2000" b="0" i="0">
                <a:solidFill>
                  <a:srgbClr val="1C252B"/>
                </a:solidFill>
                <a:latin typeface="Segoe UI"/>
              </a:rPr>
              <a:t> </a:t>
            </a:r>
            <a:r>
              <a:rPr sz="1900" b="0" i="0">
                <a:solidFill>
                  <a:srgbClr val="1A5276"/>
                </a:solidFill>
                <a:latin typeface="Consolas"/>
              </a:rPr>
              <a:t>show ip dhcp binding</a:t>
            </a:r>
            <a:r>
              <a:rPr sz="2000" b="0" i="0">
                <a:solidFill>
                  <a:srgbClr val="1C252B"/>
                </a:solidFill>
                <a:latin typeface="Segoe UI"/>
              </a:rPr>
              <a:t>, </a:t>
            </a:r>
            <a:r>
              <a:rPr sz="1900" b="0" i="0">
                <a:solidFill>
                  <a:srgbClr val="1A5276"/>
                </a:solidFill>
                <a:latin typeface="Consolas"/>
              </a:rPr>
              <a:t>show ip dhcp pool</a:t>
            </a:r>
            <a:r>
              <a:rPr sz="2000" b="0" i="0">
                <a:solidFill>
                  <a:srgbClr val="1C252B"/>
                </a:solidFill>
                <a:latin typeface="Segoe UI"/>
              </a:rPr>
              <a:t> and </a:t>
            </a:r>
            <a:r>
              <a:rPr sz="1900" b="0" i="0">
                <a:solidFill>
                  <a:srgbClr val="1A5276"/>
                </a:solidFill>
                <a:latin typeface="Consolas"/>
              </a:rPr>
              <a:t>show ip dhcp conflict</a:t>
            </a:r>
            <a:r>
              <a:rPr sz="2000" b="0" i="0">
                <a:solidFill>
                  <a:srgbClr val="1C252B"/>
                </a:solidFill>
                <a:latin typeface="Segoe UI"/>
              </a:rPr>
              <a:t>.</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Troubleshoot</a:t>
            </a:r>
            <a:r>
              <a:rPr sz="2000" b="0" i="0">
                <a:solidFill>
                  <a:srgbClr val="1C252B"/>
                </a:solidFill>
                <a:latin typeface="Segoe UI"/>
              </a:rPr>
              <a:t> a host that has no address, has the wrong address, or has an address but no connectivity — and tell those three apart before touching anything.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4 for addressing and subnet boundaries. Chapter 8 and Chapter 10 for SVIs — a DHCP fault is very often a VLAN fault wearing a disguise. Chapter 6 for UDP and for broadcast versus unicast.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term-DORA"/>
          <p:cNvSpPr/>
          <p:nvPr/>
        </p:nvSpPr>
        <p:spPr>
          <a:xfrm>
            <a:off x="685800" y="1609344"/>
            <a:ext cx="83312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DORA"/>
          <p:cNvSpPr/>
          <p:nvPr/>
        </p:nvSpPr>
        <p:spPr>
          <a:xfrm>
            <a:off x="68580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DORA"/>
          <p:cNvSpPr txBox="1"/>
          <p:nvPr/>
        </p:nvSpPr>
        <p:spPr>
          <a:xfrm>
            <a:off x="850392" y="1700784"/>
            <a:ext cx="50393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DORA</a:t>
            </a:r>
          </a:p>
        </p:txBody>
      </p:sp>
      <p:sp>
        <p:nvSpPr>
          <p:cNvPr id="10" name="term-DHCPDISCOVER"/>
          <p:cNvSpPr/>
          <p:nvPr/>
        </p:nvSpPr>
        <p:spPr>
          <a:xfrm>
            <a:off x="1646936" y="1609344"/>
            <a:ext cx="177596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DHCPDISCOVER"/>
          <p:cNvSpPr/>
          <p:nvPr/>
        </p:nvSpPr>
        <p:spPr>
          <a:xfrm>
            <a:off x="1646936"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DHCPDISCOVER"/>
          <p:cNvSpPr txBox="1"/>
          <p:nvPr/>
        </p:nvSpPr>
        <p:spPr>
          <a:xfrm>
            <a:off x="1811528" y="1700784"/>
            <a:ext cx="1446784"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DHCPDISCOVER</a:t>
            </a:r>
          </a:p>
        </p:txBody>
      </p:sp>
      <p:sp>
        <p:nvSpPr>
          <p:cNvPr id="13" name="term-lease"/>
          <p:cNvSpPr/>
          <p:nvPr/>
        </p:nvSpPr>
        <p:spPr>
          <a:xfrm>
            <a:off x="3550920" y="1609344"/>
            <a:ext cx="804672"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lease"/>
          <p:cNvSpPr/>
          <p:nvPr/>
        </p:nvSpPr>
        <p:spPr>
          <a:xfrm>
            <a:off x="355092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lease"/>
          <p:cNvSpPr txBox="1"/>
          <p:nvPr/>
        </p:nvSpPr>
        <p:spPr>
          <a:xfrm>
            <a:off x="3715512" y="1700784"/>
            <a:ext cx="475488"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lease</a:t>
            </a:r>
          </a:p>
        </p:txBody>
      </p:sp>
      <p:sp>
        <p:nvSpPr>
          <p:cNvPr id="16" name="term-binding"/>
          <p:cNvSpPr/>
          <p:nvPr/>
        </p:nvSpPr>
        <p:spPr>
          <a:xfrm>
            <a:off x="4483608" y="1609344"/>
            <a:ext cx="9692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binding"/>
          <p:cNvSpPr/>
          <p:nvPr/>
        </p:nvSpPr>
        <p:spPr>
          <a:xfrm>
            <a:off x="4483608"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binding"/>
          <p:cNvSpPr txBox="1"/>
          <p:nvPr/>
        </p:nvSpPr>
        <p:spPr>
          <a:xfrm>
            <a:off x="4648200" y="1700784"/>
            <a:ext cx="640079"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binding</a:t>
            </a:r>
          </a:p>
        </p:txBody>
      </p:sp>
      <p:sp>
        <p:nvSpPr>
          <p:cNvPr id="19" name="term-relay agent"/>
          <p:cNvSpPr/>
          <p:nvPr/>
        </p:nvSpPr>
        <p:spPr>
          <a:xfrm>
            <a:off x="5580888" y="1609344"/>
            <a:ext cx="129844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relay agent"/>
          <p:cNvSpPr/>
          <p:nvPr/>
        </p:nvSpPr>
        <p:spPr>
          <a:xfrm>
            <a:off x="5580888"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relay agent"/>
          <p:cNvSpPr txBox="1"/>
          <p:nvPr/>
        </p:nvSpPr>
        <p:spPr>
          <a:xfrm>
            <a:off x="5745480" y="1700784"/>
            <a:ext cx="96926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relay agent</a:t>
            </a:r>
          </a:p>
        </p:txBody>
      </p:sp>
      <p:sp>
        <p:nvSpPr>
          <p:cNvPr id="22" name="term-ip helper-address"/>
          <p:cNvSpPr/>
          <p:nvPr/>
        </p:nvSpPr>
        <p:spPr>
          <a:xfrm>
            <a:off x="7007352" y="1609344"/>
            <a:ext cx="1877567"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ip helper-address"/>
          <p:cNvSpPr/>
          <p:nvPr/>
        </p:nvSpPr>
        <p:spPr>
          <a:xfrm>
            <a:off x="7007352"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ip helper-address"/>
          <p:cNvSpPr txBox="1"/>
          <p:nvPr/>
        </p:nvSpPr>
        <p:spPr>
          <a:xfrm>
            <a:off x="7171944" y="1700784"/>
            <a:ext cx="1548383"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ip helper-address</a:t>
            </a:r>
          </a:p>
        </p:txBody>
      </p:sp>
      <p:sp>
        <p:nvSpPr>
          <p:cNvPr id="25" name="term-giaddr"/>
          <p:cNvSpPr/>
          <p:nvPr/>
        </p:nvSpPr>
        <p:spPr>
          <a:xfrm>
            <a:off x="9012935" y="1609344"/>
            <a:ext cx="86563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giaddr"/>
          <p:cNvSpPr/>
          <p:nvPr/>
        </p:nvSpPr>
        <p:spPr>
          <a:xfrm>
            <a:off x="9012935"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giaddr"/>
          <p:cNvSpPr txBox="1"/>
          <p:nvPr/>
        </p:nvSpPr>
        <p:spPr>
          <a:xfrm>
            <a:off x="9177527" y="1700784"/>
            <a:ext cx="53644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giaddr</a:t>
            </a:r>
          </a:p>
        </p:txBody>
      </p:sp>
      <p:sp>
        <p:nvSpPr>
          <p:cNvPr id="28" name="term-excluded address"/>
          <p:cNvSpPr/>
          <p:nvPr/>
        </p:nvSpPr>
        <p:spPr>
          <a:xfrm>
            <a:off x="685800" y="2212848"/>
            <a:ext cx="185927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excluded address"/>
          <p:cNvSpPr/>
          <p:nvPr/>
        </p:nvSpPr>
        <p:spPr>
          <a:xfrm>
            <a:off x="68580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excluded address"/>
          <p:cNvSpPr txBox="1"/>
          <p:nvPr/>
        </p:nvSpPr>
        <p:spPr>
          <a:xfrm>
            <a:off x="850392" y="2304288"/>
            <a:ext cx="1530095"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excluded address</a:t>
            </a:r>
          </a:p>
        </p:txBody>
      </p:sp>
      <p:sp>
        <p:nvSpPr>
          <p:cNvPr id="31" name="term-APIPA"/>
          <p:cNvSpPr/>
          <p:nvPr/>
        </p:nvSpPr>
        <p:spPr>
          <a:xfrm>
            <a:off x="2673095" y="2212848"/>
            <a:ext cx="894080"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APIPA"/>
          <p:cNvSpPr/>
          <p:nvPr/>
        </p:nvSpPr>
        <p:spPr>
          <a:xfrm>
            <a:off x="2673095"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APIPA"/>
          <p:cNvSpPr txBox="1"/>
          <p:nvPr/>
        </p:nvSpPr>
        <p:spPr>
          <a:xfrm>
            <a:off x="2837687" y="2304288"/>
            <a:ext cx="564896"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APIPA</a:t>
            </a:r>
          </a:p>
        </p:txBody>
      </p:sp>
      <p:sp>
        <p:nvSpPr>
          <p:cNvPr id="34" name="term-conflict"/>
          <p:cNvSpPr/>
          <p:nvPr/>
        </p:nvSpPr>
        <p:spPr>
          <a:xfrm>
            <a:off x="3695191" y="2212848"/>
            <a:ext cx="987551"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conflict"/>
          <p:cNvSpPr/>
          <p:nvPr/>
        </p:nvSpPr>
        <p:spPr>
          <a:xfrm>
            <a:off x="3695191"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conflict"/>
          <p:cNvSpPr txBox="1"/>
          <p:nvPr/>
        </p:nvSpPr>
        <p:spPr>
          <a:xfrm>
            <a:off x="3859783" y="2304288"/>
            <a:ext cx="658367" cy="274320"/>
          </a:xfrm>
          <a:prstGeom prst="rect">
            <a:avLst/>
          </a:prstGeom>
          <a:noFill/>
        </p:spPr>
        <p:txBody>
          <a:bodyPr wrap="none" anchor="t" lIns="0" rIns="0" tIns="0" bIns="0">
            <a:spAutoFit/>
          </a:bodyPr>
          <a:lstStyle/>
          <a:p>
            <a:pPr algn="l">
              <a:lnSpc>
                <a:spcPct val="100000"/>
              </a:lnSpc>
              <a:spcAft>
                <a:spcPts val="600"/>
              </a:spcAft>
            </a:pPr>
            <a:r>
              <a:rPr sz="1600" b="0" i="0">
                <a:solidFill>
                  <a:srgbClr val="1C252B"/>
                </a:solidFill>
                <a:latin typeface="Segoe UI"/>
              </a:rPr>
              <a:t>conflict</a:t>
            </a:r>
          </a:p>
        </p:txBody>
      </p:sp>
      <p:sp>
        <p:nvSpPr>
          <p:cNvPr id="37"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verb is troubleshoot, not configure</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F618D"/>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1F618D"/>
                </a:solidFill>
                <a:latin typeface="Segoe UI"/>
              </a:rPr>
              <a:t> 1.7 </a:t>
            </a:r>
            <a:r>
              <a:rPr sz="2000" b="0" i="0">
                <a:solidFill>
                  <a:srgbClr val="1C252B"/>
                </a:solidFill>
                <a:latin typeface="Segoe UI"/>
              </a:rPr>
              <a:t> reads </a:t>
            </a:r>
            <a:r>
              <a:rPr sz="2000" b="0" i="1">
                <a:solidFill>
                  <a:srgbClr val="1C252B"/>
                </a:solidFill>
                <a:latin typeface="Segoe UI"/>
              </a:rPr>
              <a:t>troubleshoot DHCPv4 client, server, and relay on IOS devices</a:t>
            </a:r>
            <a:r>
              <a:rPr sz="2000" b="0" i="0">
                <a:solidFill>
                  <a:srgbClr val="1C252B"/>
                </a:solidFill>
                <a:latin typeface="Segoe UI"/>
              </a:rPr>
              <a:t>. It is worth reading twice. The exam is not primarily asking you to build a DHCP pool from nothing — it is asking you to be shown a pool, a relay and a client that between them are not working, and to say which of the three is at fault.</a:t>
            </a:r>
          </a:p>
          <a:p>
            <a:pPr algn="l">
              <a:lnSpc>
                <a:spcPct val="100000"/>
              </a:lnSpc>
              <a:spcAft>
                <a:spcPts val="1000"/>
              </a:spcAft>
            </a:pPr>
            <a:r>
              <a:rPr sz="2000" b="0" i="0">
                <a:solidFill>
                  <a:srgbClr val="1C252B"/>
                </a:solidFill>
                <a:latin typeface="Segoe UI"/>
              </a:rPr>
              <a:t>Note also </a:t>
            </a:r>
            <a:r>
              <a:rPr sz="2000" b="1" i="0">
                <a:solidFill>
                  <a:srgbClr val="1C252B"/>
                </a:solidFill>
                <a:latin typeface="Segoe UI"/>
              </a:rPr>
              <a:t>DHCPv4</a:t>
            </a:r>
            <a:r>
              <a:rPr sz="2000" b="0" i="0">
                <a:solidFill>
                  <a:srgbClr val="1C252B"/>
                </a:solidFill>
                <a:latin typeface="Segoe UI"/>
              </a:rPr>
              <a:t>. There is no DHCPv6 in this topic. IPv6 hosts in this course get their addresses by SLAAC (Chapter 5).</a:t>
            </a:r>
          </a:p>
          <a:p>
            <a:pPr algn="l">
              <a:lnSpc>
                <a:spcPct val="100000"/>
              </a:lnSpc>
              <a:spcAft>
                <a:spcPts val="1000"/>
              </a:spcAft>
            </a:pPr>
            <a:r>
              <a:rPr sz="2000" b="0" i="0">
                <a:solidFill>
                  <a:srgbClr val="1C252B"/>
                </a:solidFill>
                <a:latin typeface="Segoe UI"/>
              </a:rPr>
              <a:t>That is why this chapter spends more space on </a:t>
            </a:r>
            <a:r>
              <a:rPr sz="2000" b="0" i="1">
                <a:solidFill>
                  <a:srgbClr val="1C252B"/>
                </a:solidFill>
                <a:latin typeface="Segoe UI"/>
              </a:rPr>
              <a:t>how to tell the three failure classes apart</a:t>
            </a:r>
            <a:r>
              <a:rPr sz="2000" b="0" i="0">
                <a:solidFill>
                  <a:srgbClr val="1C252B"/>
                </a:solidFill>
                <a:latin typeface="Segoe UI"/>
              </a:rPr>
              <a:t> than on the pool syntax, which is four lines long.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DHCPv4</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tint"/>
          <p:cNvSpPr/>
          <p:nvPr/>
        </p:nvSpPr>
        <p:spPr>
          <a:xfrm>
            <a:off x="685800" y="1517904"/>
            <a:ext cx="10820095" cy="16672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client–server protocol that leases an IPv4 address and a set of configuration options — default gateway, DNS servers, domain name, lease time — to a host for a bounded period. The client runs on UDP port 68, the server on UDP port 67.</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DORA</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pic>
        <p:nvPicPr>
          <p:cNvPr id="6" name="figure" descr="dora-1.png"/>
          <p:cNvPicPr>
            <a:picLocks noChangeAspect="1"/>
          </p:cNvPicPr>
          <p:nvPr/>
        </p:nvPicPr>
        <p:blipFill>
          <a:blip r:embed="rId2"/>
          <a:stretch>
            <a:fillRect/>
          </a:stretch>
        </p:blipFill>
        <p:spPr>
          <a:xfrm>
            <a:off x="2295294" y="1517904"/>
            <a:ext cx="7601106"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DORA</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pic>
        <p:nvPicPr>
          <p:cNvPr id="6" name="figure" descr="dora-2.png"/>
          <p:cNvPicPr>
            <a:picLocks noChangeAspect="1"/>
          </p:cNvPicPr>
          <p:nvPr/>
        </p:nvPicPr>
        <p:blipFill>
          <a:blip r:embed="rId2"/>
          <a:stretch>
            <a:fillRect/>
          </a:stretch>
        </p:blipFill>
        <p:spPr>
          <a:xfrm>
            <a:off x="2295294" y="1517904"/>
            <a:ext cx="7601106"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DORA</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pic>
        <p:nvPicPr>
          <p:cNvPr id="6" name="figure" descr="dora-3.png"/>
          <p:cNvPicPr>
            <a:picLocks noChangeAspect="1"/>
          </p:cNvPicPr>
          <p:nvPr/>
        </p:nvPicPr>
        <p:blipFill>
          <a:blip r:embed="rId2"/>
          <a:stretch>
            <a:fillRect/>
          </a:stretch>
        </p:blipFill>
        <p:spPr>
          <a:xfrm>
            <a:off x="2295294" y="1517904"/>
            <a:ext cx="7601106"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DORA</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pic>
        <p:nvPicPr>
          <p:cNvPr id="6" name="figure" descr="dora-4.png"/>
          <p:cNvPicPr>
            <a:picLocks noChangeAspect="1"/>
          </p:cNvPicPr>
          <p:nvPr/>
        </p:nvPicPr>
        <p:blipFill>
          <a:blip r:embed="rId2"/>
          <a:stretch>
            <a:fillRect/>
          </a:stretch>
        </p:blipFill>
        <p:spPr>
          <a:xfrm>
            <a:off x="2295294" y="1517904"/>
            <a:ext cx="7601106" cy="4773168"/>
          </a:xfrm>
          <a:prstGeom prst="rect">
            <a:avLst/>
          </a:prstGeom>
        </p:spPr>
      </p:pic>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Renewal is not DORA</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tint"/>
          <p:cNvSpPr/>
          <p:nvPr/>
        </p:nvSpPr>
        <p:spPr>
          <a:xfrm>
            <a:off x="685800" y="1517904"/>
            <a:ext cx="10820095" cy="29880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At half the lease time (T1), a client that already has an address sends a </a:t>
            </a:r>
            <a:r>
              <a:rPr sz="2000" b="0" i="1">
                <a:solidFill>
                  <a:srgbClr val="1C252B"/>
                </a:solidFill>
                <a:latin typeface="Segoe UI"/>
              </a:rPr>
              <a:t>unicast</a:t>
            </a:r>
            <a:r>
              <a:rPr sz="2000" b="0" i="0">
                <a:solidFill>
                  <a:srgbClr val="1C252B"/>
                </a:solidFill>
                <a:latin typeface="Segoe UI"/>
              </a:rPr>
              <a:t> </a:t>
            </a:r>
            <a:r>
              <a:rPr sz="1900" b="0" i="0">
                <a:solidFill>
                  <a:srgbClr val="1A5276"/>
                </a:solidFill>
                <a:latin typeface="Consolas"/>
              </a:rPr>
              <a:t>DHCPREQUEST</a:t>
            </a:r>
            <a:r>
              <a:rPr sz="2000" b="0" i="0">
                <a:solidFill>
                  <a:srgbClr val="1C252B"/>
                </a:solidFill>
                <a:latin typeface="Segoe UI"/>
              </a:rPr>
              <a:t> straight to its server and expects an ACK. There is no discover and no offer. This matters for troubleshooting: a fault that only breaks broadcast forwarding — a dead relay, a wrong VLAN — can leave existing hosts working perfectly for hours while every newly booted host fails. “It works for everyone except the machines that rebooted this morning” is a relay fault until proved otherwise.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router that leases its own WAN address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codebg"/>
          <p:cNvSpPr/>
          <p:nvPr/>
        </p:nvSpPr>
        <p:spPr>
          <a:xfrm>
            <a:off x="685800" y="1901952"/>
            <a:ext cx="10820095" cy="16296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113588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GigabitEthernet0/0/0</a:t>
            </a:r>
          </a:p>
          <a:p>
            <a:pPr>
              <a:lnSpc>
                <a:spcPct val="100000"/>
              </a:lnSpc>
              <a:spcAft>
                <a:spcPts val="0"/>
              </a:spcAft>
            </a:pPr>
            <a:r>
              <a:rPr sz="1600">
                <a:solidFill>
                  <a:srgbClr val="E8EEF2"/>
                </a:solidFill>
                <a:latin typeface="Consolas"/>
              </a:rPr>
              <a:t> description WAN to ISP</a:t>
            </a:r>
          </a:p>
          <a:p>
            <a:pPr>
              <a:lnSpc>
                <a:spcPct val="100000"/>
              </a:lnSpc>
              <a:spcAft>
                <a:spcPts val="0"/>
              </a:spcAft>
            </a:pPr>
            <a:r>
              <a:rPr sz="1600">
                <a:solidFill>
                  <a:srgbClr val="E8EEF2"/>
                </a:solidFill>
                <a:latin typeface="Consolas"/>
              </a:rPr>
              <a:t> ip address dhcp</a:t>
            </a:r>
          </a:p>
          <a:p>
            <a:pPr>
              <a:lnSpc>
                <a:spcPct val="100000"/>
              </a:lnSpc>
              <a:spcAft>
                <a:spcPts val="0"/>
              </a:spcAft>
            </a:pPr>
            <a:r>
              <a:rPr sz="1600">
                <a:solidFill>
                  <a:srgbClr val="E8EEF2"/>
                </a:solidFill>
                <a:latin typeface="Consolas"/>
              </a:rPr>
              <a:t> no shutdown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 interface brief</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codebg"/>
          <p:cNvSpPr/>
          <p:nvPr/>
        </p:nvSpPr>
        <p:spPr>
          <a:xfrm>
            <a:off x="685800" y="1901952"/>
            <a:ext cx="10820095" cy="137769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883919"/>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IP-Address      OK? Method Status                Protocol</a:t>
            </a:r>
          </a:p>
          <a:p>
            <a:pPr>
              <a:lnSpc>
                <a:spcPct val="100000"/>
              </a:lnSpc>
              <a:spcAft>
                <a:spcPts val="0"/>
              </a:spcAft>
            </a:pPr>
            <a:r>
              <a:rPr sz="1600">
                <a:solidFill>
                  <a:srgbClr val="E8EEF2"/>
                </a:solidFill>
                <a:latin typeface="Consolas"/>
              </a:rPr>
              <a:t>GigabitEthernet0/0/0   203.0.113.24    YES DHCP   up                    up</a:t>
            </a:r>
          </a:p>
          <a:p>
            <a:pPr>
              <a:lnSpc>
                <a:spcPct val="100000"/>
              </a:lnSpc>
              <a:spcAft>
                <a:spcPts val="0"/>
              </a:spcAft>
            </a:pPr>
            <a:r>
              <a:rPr sz="1600">
                <a:solidFill>
                  <a:srgbClr val="E8EEF2"/>
                </a:solidFill>
                <a:latin typeface="Consolas"/>
              </a:rPr>
              <a:t>GigabitEthernet0/0/1   192.168.10.1    YES manual up                    up</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Role 1: IOS as a client</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F618D"/>
                </a:solidFill>
                <a:latin typeface="Segoe UI"/>
              </a:rPr>
              <a:t>This is what the blueprint actually asks for</a:t>
            </a:r>
          </a:p>
        </p:txBody>
      </p:sp>
      <p:sp>
        <p:nvSpPr>
          <p:cNvPr id="8" name="body"/>
          <p:cNvSpPr txBox="1"/>
          <p:nvPr/>
        </p:nvSpPr>
        <p:spPr>
          <a:xfrm>
            <a:off x="685800" y="2986024"/>
            <a:ext cx="10820095" cy="339648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router that is a DHCP client normally also wants the default route the lease carries. It installs one automatically as a static default with an administrative distance of 254, so anything you configure yourself will win. Check with </a:t>
            </a:r>
            <a:r>
              <a:rPr sz="1900" b="0" i="0">
                <a:solidFill>
                  <a:srgbClr val="1A5276"/>
                </a:solidFill>
                <a:latin typeface="Consolas"/>
              </a:rPr>
              <a:t>show ip route static</a:t>
            </a:r>
            <a:r>
              <a:rPr sz="2000" b="0" i="0">
                <a:solidFill>
                  <a:srgbClr val="1C252B"/>
                </a:solidFill>
                <a:latin typeface="Segoe UI"/>
              </a:rPr>
              <a:t> if a branch router is reaching the internet by a path you did not expect.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A DHCP pool for VLAN 10</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codebg"/>
          <p:cNvSpPr/>
          <p:nvPr/>
        </p:nvSpPr>
        <p:spPr>
          <a:xfrm>
            <a:off x="685800" y="1517904"/>
            <a:ext cx="10820095" cy="4653280"/>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159503"/>
          </a:xfrm>
          <a:prstGeom prst="rect">
            <a:avLst/>
          </a:prstGeom>
          <a:noFill/>
        </p:spPr>
        <p:txBody>
          <a:bodyPr wrap="none" lIns="0" rIns="0" tIns="0" bIns="0">
            <a:spAutoFit/>
          </a:bodyPr>
          <a:lstStyle/>
          <a:p>
            <a:pPr>
              <a:lnSpc>
                <a:spcPct val="100000"/>
              </a:lnSpc>
              <a:spcAft>
                <a:spcPts val="0"/>
              </a:spcAft>
            </a:pPr>
            <a:r>
              <a:rPr sz="1600" i="1">
                <a:solidFill>
                  <a:srgbClr val="6E8BA0"/>
                </a:solidFill>
                <a:latin typeface="Consolas"/>
              </a:rPr>
              <a:t>! 1. Reserve the addresses that are already spoken for -- the gateway,</a:t>
            </a:r>
          </a:p>
          <a:p>
            <a:pPr>
              <a:lnSpc>
                <a:spcPct val="100000"/>
              </a:lnSpc>
              <a:spcAft>
                <a:spcPts val="0"/>
              </a:spcAft>
            </a:pPr>
            <a:r>
              <a:rPr sz="1600" i="1">
                <a:solidFill>
                  <a:srgbClr val="6E8BA0"/>
                </a:solidFill>
                <a:latin typeface="Consolas"/>
              </a:rPr>
              <a:t>!    the switch management SVIs, the printers, the servers.</a:t>
            </a:r>
          </a:p>
          <a:p>
            <a:pPr>
              <a:lnSpc>
                <a:spcPct val="100000"/>
              </a:lnSpc>
              <a:spcAft>
                <a:spcPts val="0"/>
              </a:spcAft>
            </a:pPr>
            <a:r>
              <a:rPr sz="1600" i="1">
                <a:solidFill>
                  <a:srgbClr val="6E8BA0"/>
                </a:solidFill>
                <a:latin typeface="Consolas"/>
              </a:rPr>
              <a:t>!    Do this FIRST. A pool created before the exclusions can hand out</a:t>
            </a:r>
          </a:p>
          <a:p>
            <a:pPr>
              <a:lnSpc>
                <a:spcPct val="100000"/>
              </a:lnSpc>
              <a:spcAft>
                <a:spcPts val="0"/>
              </a:spcAft>
            </a:pPr>
            <a:r>
              <a:rPr sz="1600" i="1">
                <a:solidFill>
                  <a:srgbClr val="6E8BA0"/>
                </a:solidFill>
                <a:latin typeface="Consolas"/>
              </a:rPr>
              <a:t>!    the gateway address in the seconds between the two commands.</a:t>
            </a:r>
          </a:p>
          <a:p>
            <a:pPr>
              <a:lnSpc>
                <a:spcPct val="100000"/>
              </a:lnSpc>
              <a:spcAft>
                <a:spcPts val="0"/>
              </a:spcAft>
            </a:pPr>
            <a:r>
              <a:rPr sz="1600">
                <a:solidFill>
                  <a:srgbClr val="E8EEF2"/>
                </a:solidFill>
                <a:latin typeface="Consolas"/>
              </a:rPr>
              <a:t>ip dhcp excluded-address 192.168.10.1 192.168.10.20</a:t>
            </a:r>
          </a:p>
          <a:p>
            <a:pPr>
              <a:lnSpc>
                <a:spcPct val="100000"/>
              </a:lnSpc>
              <a:spcAft>
                <a:spcPts val="0"/>
              </a:spcAft>
            </a:pPr>
            <a:r>
              <a:rPr sz="1600">
                <a:solidFill>
                  <a:srgbClr val="E8EEF2"/>
                </a:solidFill>
                <a:latin typeface="Consolas"/>
              </a:rPr>
              <a:t>ip dhcp excluded-address 192.168.10.250 192.168.10.254</a:t>
            </a:r>
          </a:p>
          <a:p>
            <a:pPr>
              <a:lnSpc>
                <a:spcPct val="100000"/>
              </a:lnSpc>
              <a:spcAft>
                <a:spcPts val="0"/>
              </a:spcAft>
            </a:pPr>
            <a:r>
              <a:rPr sz="1600" i="1">
                <a:solidFill>
                  <a:srgbClr val="6E8BA0"/>
                </a:solidFill>
                <a:latin typeface="Consolas"/>
              </a:rPr>
              <a:t>!</a:t>
            </a:r>
          </a:p>
          <a:p>
            <a:pPr>
              <a:lnSpc>
                <a:spcPct val="100000"/>
              </a:lnSpc>
              <a:spcAft>
                <a:spcPts val="0"/>
              </a:spcAft>
            </a:pPr>
            <a:r>
              <a:rPr sz="1600">
                <a:solidFill>
                  <a:srgbClr val="E8EEF2"/>
                </a:solidFill>
                <a:latin typeface="Consolas"/>
              </a:rPr>
              <a:t>ip dhcp pool VLAN10-STAFF</a:t>
            </a:r>
          </a:p>
          <a:p>
            <a:pPr>
              <a:lnSpc>
                <a:spcPct val="100000"/>
              </a:lnSpc>
              <a:spcAft>
                <a:spcPts val="0"/>
              </a:spcAft>
            </a:pPr>
            <a:r>
              <a:rPr sz="1600">
                <a:solidFill>
                  <a:srgbClr val="E8EEF2"/>
                </a:solidFill>
                <a:latin typeface="Consolas"/>
              </a:rPr>
              <a:t> network 192.168.10.0 255.255.255.0</a:t>
            </a:r>
          </a:p>
          <a:p>
            <a:pPr>
              <a:lnSpc>
                <a:spcPct val="100000"/>
              </a:lnSpc>
              <a:spcAft>
                <a:spcPts val="0"/>
              </a:spcAft>
            </a:pPr>
            <a:r>
              <a:rPr sz="1600">
                <a:solidFill>
                  <a:srgbClr val="E8EEF2"/>
                </a:solidFill>
                <a:latin typeface="Consolas"/>
              </a:rPr>
              <a:t> default-router 192.168.10.1</a:t>
            </a:r>
          </a:p>
          <a:p>
            <a:pPr>
              <a:lnSpc>
                <a:spcPct val="100000"/>
              </a:lnSpc>
              <a:spcAft>
                <a:spcPts val="0"/>
              </a:spcAft>
            </a:pPr>
            <a:r>
              <a:rPr sz="1600">
                <a:solidFill>
                  <a:srgbClr val="E8EEF2"/>
                </a:solidFill>
                <a:latin typeface="Consolas"/>
              </a:rPr>
              <a:t> dns-server 192.168.20.10 192.168.20.11</a:t>
            </a:r>
          </a:p>
          <a:p>
            <a:pPr>
              <a:lnSpc>
                <a:spcPct val="100000"/>
              </a:lnSpc>
              <a:spcAft>
                <a:spcPts val="0"/>
              </a:spcAft>
            </a:pPr>
            <a:r>
              <a:rPr sz="1600">
                <a:solidFill>
                  <a:srgbClr val="E8EEF2"/>
                </a:solidFill>
                <a:latin typeface="Consolas"/>
              </a:rPr>
              <a:t> domain-name campus.example.edu</a:t>
            </a:r>
          </a:p>
          <a:p>
            <a:pPr>
              <a:lnSpc>
                <a:spcPct val="100000"/>
              </a:lnSpc>
              <a:spcAft>
                <a:spcPts val="0"/>
              </a:spcAft>
            </a:pPr>
            <a:r>
              <a:rPr sz="1600">
                <a:solidFill>
                  <a:srgbClr val="E8EEF2"/>
                </a:solidFill>
                <a:latin typeface="Consolas"/>
              </a:rPr>
              <a:t> lease 0 8 0</a:t>
            </a:r>
          </a:p>
          <a:p>
            <a:pPr>
              <a:lnSpc>
                <a:spcPct val="100000"/>
              </a:lnSpc>
              <a:spcAft>
                <a:spcPts val="0"/>
              </a:spcAft>
            </a:pPr>
            <a:r>
              <a:rPr sz="1600" i="1">
                <a:solidFill>
                  <a:srgbClr val="6E8BA0"/>
                </a:solidFill>
                <a:latin typeface="Consolas"/>
              </a:rPr>
              <a:t>!</a:t>
            </a:r>
          </a:p>
          <a:p>
            <a:pPr>
              <a:lnSpc>
                <a:spcPct val="100000"/>
              </a:lnSpc>
              <a:spcAft>
                <a:spcPts val="0"/>
              </a:spcAft>
            </a:pPr>
            <a:r>
              <a:rPr sz="1600" i="1">
                <a:solidFill>
                  <a:srgbClr val="6E8BA0"/>
                </a:solidFill>
                <a:latin typeface="Consolas"/>
              </a:rPr>
              <a:t>! lease is days hours minutes. "lease 0 8 0" is eight hours, which</a:t>
            </a:r>
          </a:p>
          <a:p>
            <a:pPr>
              <a:lnSpc>
                <a:spcPct val="100000"/>
              </a:lnSpc>
              <a:spcAft>
                <a:spcPts val="0"/>
              </a:spcAft>
            </a:pPr>
            <a:r>
              <a:rPr sz="1600" i="1">
                <a:solidFill>
                  <a:srgbClr val="6E8BA0"/>
                </a:solidFill>
                <a:latin typeface="Consolas"/>
              </a:rPr>
              <a:t>! suits a teaching lab; "lease infinite" suits nothing.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000" b="1" i="0">
                <a:solidFill>
                  <a:srgbClr val="1A5276"/>
                </a:solidFill>
                <a:latin typeface="Segoe UI"/>
              </a:rPr>
              <a:t>The network statement must match the interface’s subnet</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body"/>
          <p:cNvSpPr txBox="1"/>
          <p:nvPr/>
        </p:nvSpPr>
        <p:spPr>
          <a:xfrm>
            <a:off x="685800" y="2364449"/>
            <a:ext cx="10820095" cy="401806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router decides which pool to use by looking at the address of the interface the request arrived on — or, for a relayed request, at the </a:t>
            </a:r>
            <a:r>
              <a:rPr sz="1900" b="0" i="0">
                <a:solidFill>
                  <a:srgbClr val="1A5276"/>
                </a:solidFill>
                <a:latin typeface="Consolas"/>
              </a:rPr>
              <a:t>giaddr</a:t>
            </a:r>
            <a:r>
              <a:rPr sz="2000" b="0" i="0">
                <a:solidFill>
                  <a:srgbClr val="1C252B"/>
                </a:solidFill>
                <a:latin typeface="Segoe UI"/>
              </a:rPr>
              <a:t> field. If VLAN 10’s SVI is </a:t>
            </a:r>
            <a:r>
              <a:rPr sz="1900" b="0" i="0">
                <a:solidFill>
                  <a:srgbClr val="1A5276"/>
                </a:solidFill>
                <a:latin typeface="Consolas"/>
              </a:rPr>
              <a:t>192.168.10.1/24</a:t>
            </a:r>
            <a:r>
              <a:rPr sz="2000" b="0" i="0">
                <a:solidFill>
                  <a:srgbClr val="1C252B"/>
                </a:solidFill>
                <a:latin typeface="Segoe UI"/>
              </a:rPr>
              <a:t> and the pool says </a:t>
            </a:r>
            <a:r>
              <a:rPr sz="1900" b="0" i="0">
                <a:solidFill>
                  <a:srgbClr val="1A5276"/>
                </a:solidFill>
                <a:latin typeface="Consolas"/>
              </a:rPr>
              <a:t>network 192.168.10.0 255.255.255.0</a:t>
            </a:r>
            <a:r>
              <a:rPr sz="2000" b="0" i="0">
                <a:solidFill>
                  <a:srgbClr val="1C252B"/>
                </a:solidFill>
                <a:latin typeface="Segoe UI"/>
              </a:rPr>
              <a:t>, they match and the pool is used.</a:t>
            </a:r>
          </a:p>
          <a:p>
            <a:pPr algn="l">
              <a:lnSpc>
                <a:spcPct val="100000"/>
              </a:lnSpc>
              <a:spcAft>
                <a:spcPts val="1000"/>
              </a:spcAft>
            </a:pPr>
            <a:r>
              <a:rPr sz="2000" b="0" i="0">
                <a:solidFill>
                  <a:srgbClr val="1C252B"/>
                </a:solidFill>
                <a:latin typeface="Segoe UI"/>
              </a:rPr>
              <a:t>If somebody later renumbers the SVI to </a:t>
            </a:r>
            <a:r>
              <a:rPr sz="1900" b="0" i="0">
                <a:solidFill>
                  <a:srgbClr val="1A5276"/>
                </a:solidFill>
                <a:latin typeface="Consolas"/>
              </a:rPr>
              <a:t>/25</a:t>
            </a:r>
            <a:r>
              <a:rPr sz="2000" b="0" i="0">
                <a:solidFill>
                  <a:srgbClr val="1C252B"/>
                </a:solidFill>
                <a:latin typeface="Segoe UI"/>
              </a:rPr>
              <a:t> and leaves the pool at </a:t>
            </a:r>
            <a:r>
              <a:rPr sz="1900" b="0" i="0">
                <a:solidFill>
                  <a:srgbClr val="1A5276"/>
                </a:solidFill>
                <a:latin typeface="Consolas"/>
              </a:rPr>
              <a:t>/24</a:t>
            </a:r>
            <a:r>
              <a:rPr sz="2000" b="0" i="0">
                <a:solidFill>
                  <a:srgbClr val="1C252B"/>
                </a:solidFill>
                <a:latin typeface="Segoe UI"/>
              </a:rPr>
              <a:t>, the pool no longer matches, the router silently declines to serve, and the symptom is a host with no address at all — with a perfectly valid-looking pool sitting in the configuration.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 dhcp binding</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codebg"/>
          <p:cNvSpPr/>
          <p:nvPr/>
        </p:nvSpPr>
        <p:spPr>
          <a:xfrm>
            <a:off x="685800" y="1901952"/>
            <a:ext cx="10820095" cy="18816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1387856"/>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Bindings from all pools not associated with VRF:</a:t>
            </a:r>
          </a:p>
          <a:p>
            <a:pPr>
              <a:lnSpc>
                <a:spcPct val="100000"/>
              </a:lnSpc>
              <a:spcAft>
                <a:spcPts val="0"/>
              </a:spcAft>
            </a:pPr>
            <a:r>
              <a:rPr sz="1600">
                <a:solidFill>
                  <a:srgbClr val="E8EEF2"/>
                </a:solidFill>
                <a:latin typeface="Consolas"/>
              </a:rPr>
              <a:t>IP address      Client-ID/              Lease expiration        Type      State</a:t>
            </a:r>
          </a:p>
          <a:p>
            <a:pPr>
              <a:lnSpc>
                <a:spcPct val="100000"/>
              </a:lnSpc>
              <a:spcAft>
                <a:spcPts val="0"/>
              </a:spcAft>
            </a:pPr>
            <a:r>
              <a:rPr sz="1600">
                <a:solidFill>
                  <a:srgbClr val="E8EEF2"/>
                </a:solidFill>
                <a:latin typeface="Consolas"/>
              </a:rPr>
              <a:t>                Hardware address</a:t>
            </a:r>
          </a:p>
          <a:p>
            <a:pPr>
              <a:lnSpc>
                <a:spcPct val="100000"/>
              </a:lnSpc>
              <a:spcAft>
                <a:spcPts val="0"/>
              </a:spcAft>
            </a:pPr>
            <a:r>
              <a:rPr sz="1600">
                <a:solidFill>
                  <a:srgbClr val="E8EEF2"/>
                </a:solidFill>
                <a:latin typeface="Consolas"/>
              </a:rPr>
              <a:t>192.168.10.21   0100.5079.6668.01       Aug 28 2026 06:14 AM    Automatic Active</a:t>
            </a:r>
          </a:p>
          <a:p>
            <a:pPr>
              <a:lnSpc>
                <a:spcPct val="100000"/>
              </a:lnSpc>
              <a:spcAft>
                <a:spcPts val="0"/>
              </a:spcAft>
            </a:pPr>
            <a:r>
              <a:rPr sz="1600">
                <a:solidFill>
                  <a:srgbClr val="E8EEF2"/>
                </a:solidFill>
                <a:latin typeface="Consolas"/>
              </a:rPr>
              <a:t>192.168.10.22   0100.5079.6668.22       Aug 28 2026 06:19 AM    Automatic Active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 dhcp pool</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codebg"/>
          <p:cNvSpPr/>
          <p:nvPr/>
        </p:nvSpPr>
        <p:spPr>
          <a:xfrm>
            <a:off x="685800" y="1901952"/>
            <a:ext cx="10820095" cy="3141471"/>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2647695"/>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Pool VLAN10-STAFF :</a:t>
            </a:r>
          </a:p>
          <a:p>
            <a:pPr>
              <a:lnSpc>
                <a:spcPct val="100000"/>
              </a:lnSpc>
              <a:spcAft>
                <a:spcPts val="0"/>
              </a:spcAft>
            </a:pPr>
            <a:r>
              <a:rPr sz="1600">
                <a:solidFill>
                  <a:srgbClr val="E8EEF2"/>
                </a:solidFill>
                <a:latin typeface="Consolas"/>
              </a:rPr>
              <a:t> Utilization mark (high/low)    : 100 / 0</a:t>
            </a:r>
          </a:p>
          <a:p>
            <a:pPr>
              <a:lnSpc>
                <a:spcPct val="100000"/>
              </a:lnSpc>
              <a:spcAft>
                <a:spcPts val="0"/>
              </a:spcAft>
            </a:pPr>
            <a:r>
              <a:rPr sz="1600">
                <a:solidFill>
                  <a:srgbClr val="E8EEF2"/>
                </a:solidFill>
                <a:latin typeface="Consolas"/>
              </a:rPr>
              <a:t> Subnet size (first/next)       : 0 / 0</a:t>
            </a:r>
          </a:p>
          <a:p>
            <a:pPr>
              <a:lnSpc>
                <a:spcPct val="100000"/>
              </a:lnSpc>
              <a:spcAft>
                <a:spcPts val="0"/>
              </a:spcAft>
            </a:pPr>
            <a:r>
              <a:rPr sz="1600">
                <a:solidFill>
                  <a:srgbClr val="E8EEF2"/>
                </a:solidFill>
                <a:latin typeface="Consolas"/>
              </a:rPr>
              <a:t> Total addresses                : 254</a:t>
            </a:r>
          </a:p>
          <a:p>
            <a:pPr>
              <a:lnSpc>
                <a:spcPct val="100000"/>
              </a:lnSpc>
              <a:spcAft>
                <a:spcPts val="0"/>
              </a:spcAft>
            </a:pPr>
            <a:r>
              <a:rPr sz="1600">
                <a:solidFill>
                  <a:srgbClr val="E8EEF2"/>
                </a:solidFill>
                <a:latin typeface="Consolas"/>
              </a:rPr>
              <a:t> Leased addresses               : 2</a:t>
            </a:r>
          </a:p>
          <a:p>
            <a:pPr>
              <a:lnSpc>
                <a:spcPct val="100000"/>
              </a:lnSpc>
              <a:spcAft>
                <a:spcPts val="0"/>
              </a:spcAft>
            </a:pPr>
            <a:r>
              <a:rPr sz="1600">
                <a:solidFill>
                  <a:srgbClr val="E8EEF2"/>
                </a:solidFill>
                <a:latin typeface="Consolas"/>
              </a:rPr>
              <a:t> Excluded addresses             : 25</a:t>
            </a:r>
          </a:p>
          <a:p>
            <a:pPr>
              <a:lnSpc>
                <a:spcPct val="100000"/>
              </a:lnSpc>
              <a:spcAft>
                <a:spcPts val="0"/>
              </a:spcAft>
            </a:pPr>
            <a:r>
              <a:rPr sz="1600">
                <a:solidFill>
                  <a:srgbClr val="E8EEF2"/>
                </a:solidFill>
                <a:latin typeface="Consolas"/>
              </a:rPr>
              <a:t> Pending event                  : none</a:t>
            </a:r>
          </a:p>
          <a:p>
            <a:pPr>
              <a:lnSpc>
                <a:spcPct val="100000"/>
              </a:lnSpc>
              <a:spcAft>
                <a:spcPts val="0"/>
              </a:spcAft>
            </a:pPr>
            <a:r>
              <a:rPr sz="1600">
                <a:solidFill>
                  <a:srgbClr val="E8EEF2"/>
                </a:solidFill>
                <a:latin typeface="Consolas"/>
              </a:rPr>
              <a:t> 1 subnet is currently in the pool:</a:t>
            </a:r>
          </a:p>
          <a:p>
            <a:pPr>
              <a:lnSpc>
                <a:spcPct val="100000"/>
              </a:lnSpc>
              <a:spcAft>
                <a:spcPts val="0"/>
              </a:spcAft>
            </a:pPr>
            <a:r>
              <a:rPr sz="1600">
                <a:solidFill>
                  <a:srgbClr val="E8EEF2"/>
                </a:solidFill>
                <a:latin typeface="Consolas"/>
              </a:rPr>
              <a:t> Current index   IP address range                    Leased/Excluded/Total</a:t>
            </a:r>
          </a:p>
          <a:p>
            <a:pPr>
              <a:lnSpc>
                <a:spcPct val="100000"/>
              </a:lnSpc>
              <a:spcAft>
                <a:spcPts val="0"/>
              </a:spcAft>
            </a:pPr>
            <a:r>
              <a:rPr sz="1600">
                <a:solidFill>
                  <a:srgbClr val="E8EEF2"/>
                </a:solidFill>
                <a:latin typeface="Consolas"/>
              </a:rPr>
              <a:t> 192.168.10.23   192.168.10.1     - 192.168.10.254    2  / 25 / 254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Relaying VLAN 10’s requests to a central server</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codebg"/>
          <p:cNvSpPr/>
          <p:nvPr/>
        </p:nvSpPr>
        <p:spPr>
          <a:xfrm>
            <a:off x="685800" y="1901952"/>
            <a:ext cx="10820095" cy="16296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2340864"/>
            <a:ext cx="10417759" cy="1135888"/>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interface Vlan10</a:t>
            </a:r>
          </a:p>
          <a:p>
            <a:pPr>
              <a:lnSpc>
                <a:spcPct val="100000"/>
              </a:lnSpc>
              <a:spcAft>
                <a:spcPts val="0"/>
              </a:spcAft>
            </a:pPr>
            <a:r>
              <a:rPr sz="1600">
                <a:solidFill>
                  <a:srgbClr val="E8EEF2"/>
                </a:solidFill>
                <a:latin typeface="Consolas"/>
              </a:rPr>
              <a:t> description Staff -- clients live here</a:t>
            </a:r>
          </a:p>
          <a:p>
            <a:pPr>
              <a:lnSpc>
                <a:spcPct val="100000"/>
              </a:lnSpc>
              <a:spcAft>
                <a:spcPts val="0"/>
              </a:spcAft>
            </a:pPr>
            <a:r>
              <a:rPr sz="1600">
                <a:solidFill>
                  <a:srgbClr val="E8EEF2"/>
                </a:solidFill>
                <a:latin typeface="Consolas"/>
              </a:rPr>
              <a:t> ip address 192.168.10.1 255.255.255.0</a:t>
            </a:r>
          </a:p>
          <a:p>
            <a:pPr>
              <a:lnSpc>
                <a:spcPct val="100000"/>
              </a:lnSpc>
              <a:spcAft>
                <a:spcPts val="0"/>
              </a:spcAft>
            </a:pPr>
            <a:r>
              <a:rPr sz="1600">
                <a:solidFill>
                  <a:srgbClr val="E8EEF2"/>
                </a:solidFill>
                <a:latin typeface="Consolas"/>
              </a:rPr>
              <a:t> ip helper-address 10.0.0.5</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900" b="1" i="0">
                <a:solidFill>
                  <a:srgbClr val="1A5276"/>
                </a:solidFill>
                <a:latin typeface="Segoe UI"/>
              </a:rPr>
              <a:t>ip helper-address goes on the interface facing the clients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body"/>
          <p:cNvSpPr txBox="1"/>
          <p:nvPr/>
        </p:nvSpPr>
        <p:spPr>
          <a:xfrm>
            <a:off x="685800" y="2600306"/>
            <a:ext cx="10820095" cy="3782205"/>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This is the single most common relay mistake and it is worth stating on its own. The command belongs on the SVI or interface in the subnet where the broadcasts are — the client side. Putting it on the interface facing the server does nothing at all, because no DISCOVER ever arrives there.</a:t>
            </a:r>
          </a:p>
          <a:p>
            <a:pPr algn="l">
              <a:lnSpc>
                <a:spcPct val="100000"/>
              </a:lnSpc>
              <a:spcAft>
                <a:spcPts val="1000"/>
              </a:spcAft>
            </a:pPr>
            <a:r>
              <a:rPr sz="2000" b="0" i="0">
                <a:solidFill>
                  <a:srgbClr val="1C252B"/>
                </a:solidFill>
                <a:latin typeface="Segoe UI"/>
              </a:rPr>
              <a:t>If a site has six client VLANs, the command goes on six SVIs.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giaddr does, and why the server needs it</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tint"/>
          <p:cNvSpPr/>
          <p:nvPr/>
        </p:nvSpPr>
        <p:spPr>
          <a:xfrm>
            <a:off x="685800" y="1517904"/>
            <a:ext cx="10820095" cy="416153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When the relay forwards the DISCOVER it fills in the </a:t>
            </a:r>
            <a:r>
              <a:rPr sz="2000" b="1" i="0">
                <a:solidFill>
                  <a:srgbClr val="1F618D"/>
                </a:solidFill>
                <a:latin typeface="Segoe UI"/>
              </a:rPr>
              <a:t>gateway IP address</a:t>
            </a:r>
            <a:r>
              <a:rPr sz="2000" b="0" i="0">
                <a:solidFill>
                  <a:srgbClr val="1C252B"/>
                </a:solidFill>
                <a:latin typeface="Segoe UI"/>
              </a:rPr>
              <a:t> field, </a:t>
            </a:r>
            <a:r>
              <a:rPr sz="1900" b="0" i="0">
                <a:solidFill>
                  <a:srgbClr val="1A5276"/>
                </a:solidFill>
                <a:latin typeface="Consolas"/>
              </a:rPr>
              <a:t>giaddr</a:t>
            </a:r>
            <a:r>
              <a:rPr sz="2000" b="0" i="0">
                <a:solidFill>
                  <a:srgbClr val="1C252B"/>
                </a:solidFill>
                <a:latin typeface="Segoe UI"/>
              </a:rPr>
              <a:t>, with its own address on the interface that received the broadcast — </a:t>
            </a:r>
            <a:r>
              <a:rPr sz="1900" b="0" i="0">
                <a:solidFill>
                  <a:srgbClr val="1A5276"/>
                </a:solidFill>
                <a:latin typeface="Consolas"/>
              </a:rPr>
              <a:t>192.168.10.1</a:t>
            </a:r>
            <a:r>
              <a:rPr sz="2000" b="0" i="0">
                <a:solidFill>
                  <a:srgbClr val="1C252B"/>
                </a:solidFill>
                <a:latin typeface="Segoe UI"/>
              </a:rPr>
              <a:t> in the example above.</a:t>
            </a:r>
          </a:p>
          <a:p>
            <a:pPr algn="l">
              <a:lnSpc>
                <a:spcPct val="100000"/>
              </a:lnSpc>
              <a:spcAft>
                <a:spcPts val="1000"/>
              </a:spcAft>
            </a:pPr>
            <a:r>
              <a:rPr sz="2000" b="0" i="0">
                <a:solidFill>
                  <a:srgbClr val="1C252B"/>
                </a:solidFill>
                <a:latin typeface="Segoe UI"/>
              </a:rPr>
              <a:t>That single field does two jobs. It tells the server which subnet the client is on, so the server knows which pool to draw from; and it gives the server a unicast address to send the OFFER back to, so the relay can broadcast it onward to the client.</a:t>
            </a:r>
          </a:p>
          <a:p>
            <a:pPr algn="l">
              <a:lnSpc>
                <a:spcPct val="100000"/>
              </a:lnSpc>
              <a:spcAft>
                <a:spcPts val="1000"/>
              </a:spcAft>
            </a:pPr>
            <a:r>
              <a:rPr sz="2000" b="0" i="0">
                <a:solidFill>
                  <a:srgbClr val="1C252B"/>
                </a:solidFill>
                <a:latin typeface="Segoe UI"/>
              </a:rPr>
              <a:t>The consequence for troubleshooting: if the central server has no pool for </a:t>
            </a:r>
            <a:r>
              <a:rPr sz="1900" b="0" i="0">
                <a:solidFill>
                  <a:srgbClr val="1A5276"/>
                </a:solidFill>
                <a:latin typeface="Consolas"/>
              </a:rPr>
              <a:t>192.168.10.0/24</a:t>
            </a:r>
            <a:r>
              <a:rPr sz="2000" b="0" i="0">
                <a:solidFill>
                  <a:srgbClr val="1C252B"/>
                </a:solidFill>
                <a:latin typeface="Segoe UI"/>
              </a:rPr>
              <a:t>, the relay is working perfectly and the client still gets nothing. Do not conclude “the relay is broken” from “the client got no address”.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ip helper-address forwards more than DHCP</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F618D"/>
                </a:solidFill>
                <a:latin typeface="Segoe UI"/>
              </a:rPr>
              <a:t>This is what the blueprint actually asks for</a:t>
            </a:r>
          </a:p>
        </p:txBody>
      </p:sp>
      <p:sp>
        <p:nvSpPr>
          <p:cNvPr id="8" name="body"/>
          <p:cNvSpPr txBox="1"/>
          <p:nvPr/>
        </p:nvSpPr>
        <p:spPr>
          <a:xfrm>
            <a:off x="685800" y="2986024"/>
            <a:ext cx="10820095" cy="339648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By default it relays eight UDP services, not one — among them TFTP (69), DNS (53), NetBIOS name service (137) and TACACS (49) as well as DHCP (67/68). That is occasionally useful and occasionally a surprise, and it is a fair exam question. Trim it with </a:t>
            </a:r>
            <a:r>
              <a:rPr sz="1900" b="0" i="0">
                <a:solidFill>
                  <a:srgbClr val="1A5276"/>
                </a:solidFill>
                <a:latin typeface="Consolas"/>
              </a:rPr>
              <a:t>ip forward-protocol udp &lt;port&gt;</a:t>
            </a:r>
            <a:r>
              <a:rPr sz="2000" b="0" i="0">
                <a:solidFill>
                  <a:srgbClr val="1C252B"/>
                </a:solidFill>
                <a:latin typeface="Segoe UI"/>
              </a:rPr>
              <a:t> if a site wants only DHCP relayed.</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third row is the one people waste an afternoon on</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body"/>
          <p:cNvSpPr txBox="1"/>
          <p:nvPr/>
        </p:nvSpPr>
        <p:spPr>
          <a:xfrm>
            <a:off x="685800" y="2750892"/>
            <a:ext cx="10820095" cy="3631619"/>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“DHCP is broken” is reported when a user cannot reach the internet. Run </a:t>
            </a:r>
            <a:r>
              <a:rPr sz="1900" b="0" i="0">
                <a:solidFill>
                  <a:srgbClr val="1A5276"/>
                </a:solidFill>
                <a:latin typeface="Consolas"/>
              </a:rPr>
              <a:t>ipconfig /all</a:t>
            </a:r>
            <a:r>
              <a:rPr sz="2000" b="0" i="0">
                <a:solidFill>
                  <a:srgbClr val="1C252B"/>
                </a:solidFill>
                <a:latin typeface="Segoe UI"/>
              </a:rPr>
              <a:t> on the host. If it has an address in the right subnet, DHCP has done its job perfectly and the problem is elsewhere — routing, NAT, DNS or an ACL. Check the gateway and DNS values the lease carried, then leave DHCP alone.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VERIFY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show ip dhcp conflict</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codebg"/>
          <p:cNvSpPr/>
          <p:nvPr/>
        </p:nvSpPr>
        <p:spPr>
          <a:xfrm>
            <a:off x="685800" y="1901952"/>
            <a:ext cx="10820095" cy="1377696"/>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901952"/>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956816"/>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R1#</a:t>
            </a:r>
          </a:p>
        </p:txBody>
      </p:sp>
      <p:sp>
        <p:nvSpPr>
          <p:cNvPr id="10" name="code"/>
          <p:cNvSpPr txBox="1"/>
          <p:nvPr/>
        </p:nvSpPr>
        <p:spPr>
          <a:xfrm>
            <a:off x="886968" y="2340864"/>
            <a:ext cx="10417759" cy="883919"/>
          </a:xfrm>
          <a:prstGeom prst="rect">
            <a:avLst/>
          </a:prstGeom>
          <a:noFill/>
        </p:spPr>
        <p:txBody>
          <a:bodyPr wrap="none" lIns="0" rIns="0" tIns="0" bIns="0">
            <a:spAutoFit/>
          </a:bodyPr>
          <a:lstStyle/>
          <a:p>
            <a:pPr>
              <a:lnSpc>
                <a:spcPct val="100000"/>
              </a:lnSpc>
              <a:spcAft>
                <a:spcPts val="0"/>
              </a:spcAft>
            </a:pPr>
            <a:r>
              <a:rPr sz="1600">
                <a:solidFill>
                  <a:srgbClr val="E8EEF2"/>
                </a:solidFill>
                <a:latin typeface="Consolas"/>
              </a:rPr>
              <a:t>IP address       Detection method   Detection time</a:t>
            </a:r>
          </a:p>
          <a:p>
            <a:pPr>
              <a:lnSpc>
                <a:spcPct val="100000"/>
              </a:lnSpc>
              <a:spcAft>
                <a:spcPts val="0"/>
              </a:spcAft>
            </a:pPr>
            <a:r>
              <a:rPr sz="1600">
                <a:solidFill>
                  <a:srgbClr val="E8EEF2"/>
                </a:solidFill>
                <a:latin typeface="Consolas"/>
              </a:rPr>
              <a:t>192.168.10.24    Ping               Aug 27 2026 09:12 AM</a:t>
            </a:r>
          </a:p>
          <a:p>
            <a:pPr>
              <a:lnSpc>
                <a:spcPct val="100000"/>
              </a:lnSpc>
              <a:spcAft>
                <a:spcPts val="0"/>
              </a:spcAft>
            </a:pPr>
            <a:r>
              <a:rPr sz="1600">
                <a:solidFill>
                  <a:srgbClr val="E8EEF2"/>
                </a:solidFill>
                <a:latin typeface="Consolas"/>
              </a:rPr>
              <a:t>192.168.10.31    Gratuitous ARP     Aug 27 2026 09:41 AM</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Conflicts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Pool created before the exclusions.</a:t>
            </a:r>
            <a:r>
              <a:rPr sz="2000" b="0" i="0">
                <a:solidFill>
                  <a:srgbClr val="1C252B"/>
                </a:solidFill>
                <a:latin typeface="Segoe UI"/>
              </a:rPr>
              <a:t> There is a real window in which the gateway address can be leased to a laptop. Exclude first.</a:t>
            </a:r>
          </a:p>
          <a:p>
            <a:pPr marL="228600" indent="-228600">
              <a:lnSpc>
                <a:spcPct val="102000"/>
              </a:lnSpc>
              <a:spcAft>
                <a:spcPts val="900"/>
              </a:spcAft>
            </a:pPr>
            <a:r>
              <a:rPr sz="2000" b="1">
                <a:solidFill>
                  <a:srgbClr val="1F618D"/>
                </a:solidFill>
                <a:latin typeface="Segoe UI"/>
              </a:rPr>
              <a:t>•  </a:t>
            </a:r>
            <a:r>
              <a:rPr sz="1900" b="1" i="0">
                <a:solidFill>
                  <a:srgbClr val="1A5276"/>
                </a:solidFill>
                <a:latin typeface="Consolas"/>
              </a:rPr>
              <a:t>ip helper-address</a:t>
            </a:r>
            <a:r>
              <a:rPr sz="2000" b="1" i="0">
                <a:solidFill>
                  <a:srgbClr val="1C252B"/>
                </a:solidFill>
                <a:latin typeface="Segoe UI"/>
              </a:rPr>
              <a:t> on the server-side interface.</a:t>
            </a:r>
            <a:r>
              <a:rPr sz="2000" b="0" i="0">
                <a:solidFill>
                  <a:srgbClr val="1C252B"/>
                </a:solidFill>
                <a:latin typeface="Segoe UI"/>
              </a:rPr>
              <a:t> Does nothing. It goes on the client side.</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Pool </a:t>
            </a:r>
            <a:r>
              <a:rPr sz="1900" b="1" i="0">
                <a:solidFill>
                  <a:srgbClr val="1A5276"/>
                </a:solidFill>
                <a:latin typeface="Consolas"/>
              </a:rPr>
              <a:t>network</a:t>
            </a:r>
            <a:r>
              <a:rPr sz="2000" b="1" i="0">
                <a:solidFill>
                  <a:srgbClr val="1C252B"/>
                </a:solidFill>
                <a:latin typeface="Segoe UI"/>
              </a:rPr>
              <a:t> not matching the SVI’s subnet or mask.</a:t>
            </a:r>
            <a:r>
              <a:rPr sz="2000" b="0" i="0">
                <a:solidFill>
                  <a:srgbClr val="1C252B"/>
                </a:solidFill>
                <a:latin typeface="Segoe UI"/>
              </a:rPr>
              <a:t> Silent refusal to serve.</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Assuming a working host proves DHCP works.</a:t>
            </a:r>
            <a:r>
              <a:rPr sz="2000" b="0" i="0">
                <a:solidFill>
                  <a:srgbClr val="1C252B"/>
                </a:solidFill>
                <a:latin typeface="Segoe UI"/>
              </a:rPr>
              <a:t> Existing leases renew by unicast and survive faults that stop every new host dead.</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Forgetting the SVI must be up.</a:t>
            </a:r>
            <a:r>
              <a:rPr sz="2000" b="0" i="0">
                <a:solidFill>
                  <a:srgbClr val="1C252B"/>
                </a:solidFill>
                <a:latin typeface="Segoe UI"/>
              </a:rPr>
              <a:t> An SVI with no access port in its VLAN in the up state is down, so the pool it serves is unreachable — a layer 2 fault presenting as a DHCP fault.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Conflicts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bullets"/>
          <p:cNvSpPr txBox="1"/>
          <p:nvPr/>
        </p:nvSpPr>
        <p:spPr>
          <a:xfrm>
            <a:off x="685800" y="2986749"/>
            <a:ext cx="10820095" cy="3395762"/>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Reading </a:t>
            </a:r>
            <a:r>
              <a:rPr sz="1900" b="1" i="0">
                <a:solidFill>
                  <a:srgbClr val="1A5276"/>
                </a:solidFill>
                <a:latin typeface="Consolas"/>
              </a:rPr>
              <a:t>169.254.x.x</a:t>
            </a:r>
            <a:r>
              <a:rPr sz="2000" b="1" i="0">
                <a:solidFill>
                  <a:srgbClr val="1C252B"/>
                </a:solidFill>
                <a:latin typeface="Segoe UI"/>
              </a:rPr>
              <a:t> as a server problem.</a:t>
            </a:r>
            <a:r>
              <a:rPr sz="2000" b="0" i="0">
                <a:solidFill>
                  <a:srgbClr val="1C252B"/>
                </a:solidFill>
                <a:latin typeface="Segoe UI"/>
              </a:rPr>
              <a:t> It means nothing answered. Nine times in ten the fault is on the client’s own switch port.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200" b="1" i="0">
                <a:solidFill>
                  <a:srgbClr val="1C252B"/>
                </a:solidFill>
                <a:latin typeface="Segoe UI"/>
              </a:rPr>
              <a:t>Every host in VLAN 30 gets 169.254 addresses. VLAN 10 and VLAN 20 are fine.</a:t>
            </a:r>
          </a:p>
        </p:txBody>
      </p:sp>
      <p:sp>
        <p:nvSpPr>
          <p:cNvPr id="6" name="bfbody"/>
          <p:cNvSpPr txBox="1"/>
          <p:nvPr/>
        </p:nvSpPr>
        <p:spPr>
          <a:xfrm>
            <a:off x="685800" y="2928111"/>
            <a:ext cx="10820095" cy="342696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The DHCP server is a central router, </a:t>
            </a:r>
            <a:r>
              <a:rPr sz="1800" b="0" i="0">
                <a:solidFill>
                  <a:srgbClr val="1A5276"/>
                </a:solidFill>
                <a:latin typeface="Consolas"/>
              </a:rPr>
              <a:t>R1</a:t>
            </a:r>
            <a:r>
              <a:rPr sz="1900" b="0" i="0">
                <a:solidFill>
                  <a:srgbClr val="1C252B"/>
                </a:solidFill>
                <a:latin typeface="Segoe UI"/>
              </a:rPr>
              <a:t>, reached through a distribution switch. VLANs 10, 20 and 30 all have SVIs on </a:t>
            </a:r>
            <a:r>
              <a:rPr sz="1800" b="0" i="0">
                <a:solidFill>
                  <a:srgbClr val="1A5276"/>
                </a:solidFill>
                <a:latin typeface="Consolas"/>
              </a:rPr>
              <a:t>DSW1</a:t>
            </a:r>
            <a:r>
              <a:rPr sz="1900" b="0" i="0">
                <a:solidFill>
                  <a:srgbClr val="1C252B"/>
                </a:solidFill>
                <a:latin typeface="Segoe UI"/>
              </a:rPr>
              <a:t>, all three have pools on </a:t>
            </a:r>
            <a:r>
              <a:rPr sz="1800" b="0" i="0">
                <a:solidFill>
                  <a:srgbClr val="1A5276"/>
                </a:solidFill>
                <a:latin typeface="Consolas"/>
              </a:rPr>
              <a:t>R1</a:t>
            </a:r>
            <a:r>
              <a:rPr sz="1900" b="0" i="0">
                <a:solidFill>
                  <a:srgbClr val="1C252B"/>
                </a:solidFill>
                <a:latin typeface="Segoe UI"/>
              </a:rPr>
              <a:t>, and only VLAN 30 fails. Static addressing inside VLAN 30 works, and a statically addressed host in VLAN 30 can ping </a:t>
            </a:r>
            <a:r>
              <a:rPr sz="1800" b="0" i="0">
                <a:solidFill>
                  <a:srgbClr val="1A5276"/>
                </a:solidFill>
                <a:latin typeface="Consolas"/>
              </a:rPr>
              <a:t>R1</a:t>
            </a:r>
            <a:r>
              <a:rPr sz="1900" b="0" i="0">
                <a:solidFill>
                  <a:srgbClr val="1C252B"/>
                </a:solidFill>
                <a:latin typeface="Segoe UI"/>
              </a:rPr>
              <a: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200" b="1" i="0">
                <a:solidFill>
                  <a:srgbClr val="1C252B"/>
                </a:solidFill>
                <a:latin typeface="Segoe UI"/>
              </a:rPr>
              <a:t>Every host in VLAN 30 gets 169.254 addresses. VLAN 10 and VLAN 20 are fine.</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run interface vlan 30</a:t>
            </a:r>
          </a:p>
        </p:txBody>
      </p:sp>
      <p:sp>
        <p:nvSpPr>
          <p:cNvPr id="6" name="bfcodebg"/>
          <p:cNvSpPr/>
          <p:nvPr/>
        </p:nvSpPr>
        <p:spPr>
          <a:xfrm>
            <a:off x="685800" y="2011680"/>
            <a:ext cx="10820095" cy="154838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DSW1#</a:t>
            </a:r>
          </a:p>
        </p:txBody>
      </p:sp>
      <p:sp>
        <p:nvSpPr>
          <p:cNvPr id="9" name="bfcode"/>
          <p:cNvSpPr txBox="1"/>
          <p:nvPr/>
        </p:nvSpPr>
        <p:spPr>
          <a:xfrm>
            <a:off x="886968" y="2432304"/>
            <a:ext cx="10417759" cy="107289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interface Vlan30</a:t>
            </a:r>
          </a:p>
          <a:p>
            <a:pPr>
              <a:lnSpc>
                <a:spcPct val="100000"/>
              </a:lnSpc>
              <a:spcAft>
                <a:spcPts val="0"/>
              </a:spcAft>
            </a:pPr>
            <a:r>
              <a:rPr sz="1500">
                <a:solidFill>
                  <a:srgbClr val="E8EEF2"/>
                </a:solidFill>
                <a:latin typeface="Consolas"/>
              </a:rPr>
              <a:t> description Lab -- clients</a:t>
            </a:r>
          </a:p>
          <a:p>
            <a:pPr>
              <a:lnSpc>
                <a:spcPct val="100000"/>
              </a:lnSpc>
              <a:spcAft>
                <a:spcPts val="0"/>
              </a:spcAft>
            </a:pPr>
            <a:r>
              <a:rPr sz="1500">
                <a:solidFill>
                  <a:srgbClr val="E8EEF2"/>
                </a:solidFill>
                <a:latin typeface="Consolas"/>
              </a:rPr>
              <a:t> ip address 192.168.30.1 255.255.255.0</a:t>
            </a:r>
          </a:p>
          <a:p>
            <a:pPr>
              <a:lnSpc>
                <a:spcPct val="100000"/>
              </a:lnSpc>
              <a:spcAft>
                <a:spcPts val="0"/>
              </a:spcAft>
            </a:pPr>
            <a:r>
              <a:rPr sz="1500">
                <a:solidFill>
                  <a:srgbClr val="E8EEF2"/>
                </a:solidFill>
                <a:latin typeface="Consolas"/>
              </a:rPr>
              <a:t>!</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410342"/>
            <a:ext cx="10820095" cy="3944737"/>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There is no </a:t>
            </a:r>
            <a:r>
              <a:rPr sz="1800" b="0" i="0">
                <a:solidFill>
                  <a:srgbClr val="1A5276"/>
                </a:solidFill>
                <a:latin typeface="Consolas"/>
              </a:rPr>
              <a:t>ip helper-address</a:t>
            </a:r>
            <a:r>
              <a:rPr sz="1900" b="0" i="0">
                <a:solidFill>
                  <a:srgbClr val="1C252B"/>
                </a:solidFill>
                <a:latin typeface="Segoe UI"/>
              </a:rPr>
              <a:t>. VLAN 10 and VLAN 20 have one; VLAN 30 was added later and the line was missed. Everything else about VLAN 30 is correct, which is exactly why static addressing works and why the subnet is reachable — routing is fine, layer 2 is fine, and only the broadcast relay is absent.</a:t>
            </a:r>
          </a:p>
          <a:p>
            <a:pPr algn="l">
              <a:lnSpc>
                <a:spcPct val="100000"/>
              </a:lnSpc>
              <a:spcAft>
                <a:spcPts val="1000"/>
              </a:spcAft>
            </a:pPr>
            <a:r>
              <a:rPr sz="1900" b="0" i="0">
                <a:solidFill>
                  <a:srgbClr val="1C252B"/>
                </a:solidFill>
                <a:latin typeface="Segoe UI"/>
              </a:rPr>
              <a:t>The tell is that the fault is confined to </a:t>
            </a:r>
            <a:r>
              <a:rPr sz="1900" b="0" i="1">
                <a:solidFill>
                  <a:srgbClr val="1C252B"/>
                </a:solidFill>
                <a:latin typeface="Segoe UI"/>
              </a:rPr>
              <a:t>one</a:t>
            </a:r>
            <a:r>
              <a:rPr sz="1900" b="0" i="0">
                <a:solidFill>
                  <a:srgbClr val="1C252B"/>
                </a:solidFill>
                <a:latin typeface="Segoe UI"/>
              </a:rPr>
              <a:t> VLAN. A server fault or a routing fault would take out all three; a switch-port fault would take out one host. One whole VLAN failing while its neighbours work points at something configured per-SVI, and on this path there is only one such thing.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Restoring the relay</a:t>
            </a:r>
          </a:p>
        </p:txBody>
      </p:sp>
      <p:sp>
        <p:nvSpPr>
          <p:cNvPr id="6" name="bfcodebg"/>
          <p:cNvSpPr/>
          <p:nvPr/>
        </p:nvSpPr>
        <p:spPr>
          <a:xfrm>
            <a:off x="685800" y="2011680"/>
            <a:ext cx="10820095" cy="107594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9" name="bfcode"/>
          <p:cNvSpPr txBox="1"/>
          <p:nvPr/>
        </p:nvSpPr>
        <p:spPr>
          <a:xfrm>
            <a:off x="886968" y="2432304"/>
            <a:ext cx="10417759" cy="60045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interface Vlan30</a:t>
            </a:r>
          </a:p>
          <a:p>
            <a:pPr>
              <a:lnSpc>
                <a:spcPct val="100000"/>
              </a:lnSpc>
              <a:spcAft>
                <a:spcPts val="0"/>
              </a:spcAft>
            </a:pPr>
            <a:r>
              <a:rPr sz="1500">
                <a:solidFill>
                  <a:srgbClr val="E8EEF2"/>
                </a:solidFill>
                <a:latin typeface="Consolas"/>
              </a:rPr>
              <a:t> ip helper-address 10.0.0.5</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20</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772292"/>
            <a:ext cx="10820095" cy="3582787"/>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p>
          <a:p>
            <a:pPr algn="l">
              <a:lnSpc>
                <a:spcPct val="100000"/>
              </a:lnSpc>
              <a:spcAft>
                <a:spcPts val="1000"/>
              </a:spcAft>
            </a:pPr>
            <a:r>
              <a:rPr sz="1900" b="1" i="0">
                <a:solidFill>
                  <a:srgbClr val="1C252B"/>
                </a:solidFill>
                <a:latin typeface="Segoe UI"/>
              </a:rPr>
              <a:t>Then check the second half.</a:t>
            </a:r>
            <a:r>
              <a:rPr sz="1900" b="0" i="0">
                <a:solidFill>
                  <a:srgbClr val="1C252B"/>
                </a:solidFill>
                <a:latin typeface="Segoe UI"/>
              </a:rPr>
              <a:t> Confirm </a:t>
            </a:r>
            <a:r>
              <a:rPr sz="1800" b="0" i="0">
                <a:solidFill>
                  <a:srgbClr val="1A5276"/>
                </a:solidFill>
                <a:latin typeface="Consolas"/>
              </a:rPr>
              <a:t>R1</a:t>
            </a:r>
            <a:r>
              <a:rPr sz="1900" b="0" i="0">
                <a:solidFill>
                  <a:srgbClr val="1C252B"/>
                </a:solidFill>
                <a:latin typeface="Segoe UI"/>
              </a:rPr>
              <a:t> actually has a pool whose </a:t>
            </a:r>
            <a:r>
              <a:rPr sz="1800" b="0" i="0">
                <a:solidFill>
                  <a:srgbClr val="1A5276"/>
                </a:solidFill>
                <a:latin typeface="Consolas"/>
              </a:rPr>
              <a:t>network</a:t>
            </a:r>
            <a:r>
              <a:rPr sz="1900" b="0" i="0">
                <a:solidFill>
                  <a:srgbClr val="1C252B"/>
                </a:solidFill>
                <a:latin typeface="Segoe UI"/>
              </a:rPr>
              <a:t> statement matches </a:t>
            </a:r>
            <a:r>
              <a:rPr sz="1800" b="0" i="0">
                <a:solidFill>
                  <a:srgbClr val="1A5276"/>
                </a:solidFill>
                <a:latin typeface="Consolas"/>
              </a:rPr>
              <a:t>192.168.30.0/24</a:t>
            </a:r>
            <a:r>
              <a:rPr sz="1900" b="0" i="0">
                <a:solidFill>
                  <a:srgbClr val="1C252B"/>
                </a:solidFill>
                <a:latin typeface="Segoe UI"/>
              </a:rPr>
              <a:t>. A relay pointing at a server with no matching pool produces the identical symptom, and fixing one half of a two-part fault and declaring victory is how faults come back the next morning.</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DHCP in all three roles, then broken deliberately</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800" b="1" i="0">
                <a:solidFill>
                  <a:srgbClr val="1C252B"/>
                </a:solidFill>
                <a:latin typeface="Segoe UI"/>
              </a:rPr>
              <a:t>Topology.</a:t>
            </a:r>
            <a:r>
              <a:rPr sz="1800" b="0" i="0">
                <a:solidFill>
                  <a:srgbClr val="1C252B"/>
                </a:solidFill>
                <a:latin typeface="Segoe UI"/>
              </a:rPr>
              <a:t> </a:t>
            </a:r>
            <a:r>
              <a:rPr sz="1700" b="0" i="0">
                <a:solidFill>
                  <a:srgbClr val="1A5276"/>
                </a:solidFill>
                <a:latin typeface="Consolas"/>
              </a:rPr>
              <a:t>SW1</a:t>
            </a:r>
            <a:r>
              <a:rPr sz="1800" b="0" i="0">
                <a:solidFill>
                  <a:srgbClr val="1C252B"/>
                </a:solidFill>
                <a:latin typeface="Segoe UI"/>
              </a:rPr>
              <a:t> carrying VLANs 10, 20 and 30; </a:t>
            </a:r>
            <a:r>
              <a:rPr sz="1700" b="0" i="0">
                <a:solidFill>
                  <a:srgbClr val="1A5276"/>
                </a:solidFill>
                <a:latin typeface="Consolas"/>
              </a:rPr>
              <a:t>DSW1</a:t>
            </a:r>
            <a:r>
              <a:rPr sz="1800" b="0" i="0">
                <a:solidFill>
                  <a:srgbClr val="1C252B"/>
                </a:solidFill>
                <a:latin typeface="Segoe UI"/>
              </a:rPr>
              <a:t> holding the three SVIs; </a:t>
            </a:r>
            <a:r>
              <a:rPr sz="1700" b="0" i="0">
                <a:solidFill>
                  <a:srgbClr val="1A5276"/>
                </a:solidFill>
                <a:latin typeface="Consolas"/>
              </a:rPr>
              <a:t>R1</a:t>
            </a:r>
            <a:r>
              <a:rPr sz="1800" b="0" i="0">
                <a:solidFill>
                  <a:srgbClr val="1C252B"/>
                </a:solidFill>
                <a:latin typeface="Segoe UI"/>
              </a:rPr>
              <a:t> as the central server on </a:t>
            </a:r>
            <a:r>
              <a:rPr sz="1700" b="0" i="0">
                <a:solidFill>
                  <a:srgbClr val="1A5276"/>
                </a:solidFill>
                <a:latin typeface="Consolas"/>
              </a:rPr>
              <a:t>10.0.0.0/24</a:t>
            </a:r>
            <a:r>
              <a:rPr sz="1800" b="0" i="0">
                <a:solidFill>
                  <a:srgbClr val="1C252B"/>
                </a:solidFill>
                <a:latin typeface="Segoe UI"/>
              </a:rPr>
              <a:t>; two PCs per VLAN.</a:t>
            </a:r>
          </a:p>
        </p:txBody>
      </p:sp>
      <p:sp>
        <p:nvSpPr>
          <p:cNvPr id="8" name="bullets"/>
          <p:cNvSpPr txBox="1"/>
          <p:nvPr/>
        </p:nvSpPr>
        <p:spPr>
          <a:xfrm>
            <a:off x="685800" y="2295144"/>
            <a:ext cx="10820095" cy="4087368"/>
          </a:xfrm>
          <a:prstGeom prst="rect">
            <a:avLst/>
          </a:prstGeom>
          <a:noFill/>
        </p:spPr>
        <p:txBody>
          <a:bodyPr wrap="square" lIns="0" rIns="0" tIns="0" bIns="0">
            <a:spAutoFit/>
          </a:bodyPr>
          <a:lstStyle/>
          <a:p>
            <a:pPr marL="347472" indent="-347472">
              <a:lnSpc>
                <a:spcPct val="102000"/>
              </a:lnSpc>
              <a:spcAft>
                <a:spcPts val="900"/>
              </a:spcAft>
            </a:pPr>
            <a:r>
              <a:rPr sz="1800" b="1">
                <a:solidFill>
                  <a:srgbClr val="1F618D"/>
                </a:solidFill>
                <a:latin typeface="Segoe UI"/>
              </a:rPr>
              <a:t>1.  </a:t>
            </a:r>
            <a:r>
              <a:rPr sz="1800" b="0" i="0">
                <a:solidFill>
                  <a:srgbClr val="1C252B"/>
                </a:solidFill>
                <a:latin typeface="Segoe UI"/>
              </a:rPr>
              <a:t>Address the SVIs and confirm inter-VLAN routing works with static host addresses before introducing DHCP at all. Do not skip this — it separates the layer 3 work from the DHCP work.</a:t>
            </a:r>
          </a:p>
          <a:p>
            <a:pPr marL="347472" indent="-347472">
              <a:lnSpc>
                <a:spcPct val="102000"/>
              </a:lnSpc>
              <a:spcAft>
                <a:spcPts val="900"/>
              </a:spcAft>
            </a:pPr>
            <a:r>
              <a:rPr sz="1800" b="1">
                <a:solidFill>
                  <a:srgbClr val="1F618D"/>
                </a:solidFill>
                <a:latin typeface="Segoe UI"/>
              </a:rPr>
              <a:t>2.  </a:t>
            </a:r>
            <a:r>
              <a:rPr sz="1800" b="0" i="0">
                <a:solidFill>
                  <a:srgbClr val="1C252B"/>
                </a:solidFill>
                <a:latin typeface="Segoe UI"/>
              </a:rPr>
              <a:t>On </a:t>
            </a:r>
            <a:r>
              <a:rPr sz="1700" b="0" i="0">
                <a:solidFill>
                  <a:srgbClr val="1A5276"/>
                </a:solidFill>
                <a:latin typeface="Consolas"/>
              </a:rPr>
              <a:t>R1</a:t>
            </a:r>
            <a:r>
              <a:rPr sz="1800" b="0" i="0">
                <a:solidFill>
                  <a:srgbClr val="1C252B"/>
                </a:solidFill>
                <a:latin typeface="Segoe UI"/>
              </a:rPr>
              <a:t>, exclude the first twenty addresses of each subnet, then build three pools with gateway, DNS and an eight-hour lease.</a:t>
            </a:r>
          </a:p>
          <a:p>
            <a:pPr marL="347472" indent="-347472">
              <a:lnSpc>
                <a:spcPct val="102000"/>
              </a:lnSpc>
              <a:spcAft>
                <a:spcPts val="900"/>
              </a:spcAft>
            </a:pPr>
            <a:r>
              <a:rPr sz="1800" b="1">
                <a:solidFill>
                  <a:srgbClr val="1F618D"/>
                </a:solidFill>
                <a:latin typeface="Segoe UI"/>
              </a:rPr>
              <a:t>3.  </a:t>
            </a:r>
            <a:r>
              <a:rPr sz="1800" b="0" i="0">
                <a:solidFill>
                  <a:srgbClr val="1C252B"/>
                </a:solidFill>
                <a:latin typeface="Segoe UI"/>
              </a:rPr>
              <a:t>Add </a:t>
            </a:r>
            <a:r>
              <a:rPr sz="1700" b="0" i="0">
                <a:solidFill>
                  <a:srgbClr val="1A5276"/>
                </a:solidFill>
                <a:latin typeface="Consolas"/>
              </a:rPr>
              <a:t>ip helper-address</a:t>
            </a:r>
            <a:r>
              <a:rPr sz="1800" b="0" i="0">
                <a:solidFill>
                  <a:srgbClr val="1C252B"/>
                </a:solidFill>
                <a:latin typeface="Segoe UI"/>
              </a:rPr>
              <a:t> to VLAN 10’s SVI only. Boot one PC in VLAN 10 and one in VLAN 20. Record what each receives, and explain the difference in terms of </a:t>
            </a:r>
            <a:r>
              <a:rPr sz="1700" b="0" i="0">
                <a:solidFill>
                  <a:srgbClr val="1A5276"/>
                </a:solidFill>
                <a:latin typeface="Consolas"/>
              </a:rPr>
              <a:t>giaddr</a:t>
            </a:r>
            <a:r>
              <a:rPr sz="1800" b="0" i="0">
                <a:solidFill>
                  <a:srgbClr val="1C252B"/>
                </a:solidFill>
                <a:latin typeface="Segoe UI"/>
              </a:rPr>
              <a:t> before adding the second helper.</a:t>
            </a:r>
          </a:p>
          <a:p>
            <a:pPr marL="347472" indent="-347472">
              <a:lnSpc>
                <a:spcPct val="102000"/>
              </a:lnSpc>
              <a:spcAft>
                <a:spcPts val="900"/>
              </a:spcAft>
            </a:pPr>
            <a:r>
              <a:rPr sz="1800" b="1">
                <a:solidFill>
                  <a:srgbClr val="1F618D"/>
                </a:solidFill>
                <a:latin typeface="Segoe UI"/>
              </a:rPr>
              <a:t>4.  </a:t>
            </a:r>
            <a:r>
              <a:rPr sz="1800" b="0" i="0">
                <a:solidFill>
                  <a:srgbClr val="1C252B"/>
                </a:solidFill>
                <a:latin typeface="Segoe UI"/>
              </a:rPr>
              <a:t>Add the remaining helpers. Confirm all six PCs lease correctly and read </a:t>
            </a:r>
            <a:r>
              <a:rPr sz="1700" b="0" i="0">
                <a:solidFill>
                  <a:srgbClr val="1A5276"/>
                </a:solidFill>
                <a:latin typeface="Consolas"/>
              </a:rPr>
              <a:t>show ip dhcp binding</a:t>
            </a:r>
            <a:r>
              <a:rPr sz="1800" b="0" i="0">
                <a:solidFill>
                  <a:srgbClr val="1C252B"/>
                </a:solidFill>
                <a:latin typeface="Segoe UI"/>
              </a:rPr>
              <a:t> and </a:t>
            </a:r>
            <a:r>
              <a:rPr sz="1700" b="0" i="0">
                <a:solidFill>
                  <a:srgbClr val="1A5276"/>
                </a:solidFill>
                <a:latin typeface="Consolas"/>
              </a:rPr>
              <a:t>show ip dhcp pool</a:t>
            </a:r>
            <a:r>
              <a:rPr sz="1800" b="0" i="0">
                <a:solidFill>
                  <a:srgbClr val="1C252B"/>
                </a:solidFill>
                <a:latin typeface="Segoe UI"/>
              </a:rPr>
              <a:t> on </a:t>
            </a:r>
            <a:r>
              <a:rPr sz="1700" b="0" i="0">
                <a:solidFill>
                  <a:srgbClr val="1A5276"/>
                </a:solidFill>
                <a:latin typeface="Consolas"/>
              </a:rPr>
              <a:t>R1</a:t>
            </a:r>
            <a:r>
              <a:rPr sz="18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PACKET TRACER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2700" b="1" i="0">
                <a:solidFill>
                  <a:srgbClr val="1A5276"/>
                </a:solidFill>
                <a:latin typeface="Segoe UI"/>
              </a:rPr>
              <a:t>DHCP in all three roles, then broken deliberately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1F618D"/>
                </a:solidFill>
                <a:latin typeface="Segoe UI"/>
              </a:rPr>
              <a:t>1.  </a:t>
            </a:r>
            <a:r>
              <a:rPr sz="2000" b="1" i="0">
                <a:solidFill>
                  <a:srgbClr val="1C252B"/>
                </a:solidFill>
                <a:latin typeface="Segoe UI"/>
              </a:rPr>
              <a:t>Break 1.</a:t>
            </a:r>
            <a:r>
              <a:rPr sz="2000" b="0" i="0">
                <a:solidFill>
                  <a:srgbClr val="1C252B"/>
                </a:solidFill>
                <a:latin typeface="Segoe UI"/>
              </a:rPr>
              <a:t> Change VLAN 20’s SVI mask to </a:t>
            </a:r>
            <a:r>
              <a:rPr sz="1900" b="0" i="0">
                <a:solidFill>
                  <a:srgbClr val="1A5276"/>
                </a:solidFill>
                <a:latin typeface="Consolas"/>
              </a:rPr>
              <a:t>/25</a:t>
            </a:r>
            <a:r>
              <a:rPr sz="2000" b="0" i="0">
                <a:solidFill>
                  <a:srgbClr val="1C252B"/>
                </a:solidFill>
                <a:latin typeface="Segoe UI"/>
              </a:rPr>
              <a:t>, leaving the pool at </a:t>
            </a:r>
            <a:r>
              <a:rPr sz="1900" b="0" i="0">
                <a:solidFill>
                  <a:srgbClr val="1A5276"/>
                </a:solidFill>
                <a:latin typeface="Consolas"/>
              </a:rPr>
              <a:t>/24</a:t>
            </a:r>
            <a:r>
              <a:rPr sz="2000" b="0" i="0">
                <a:solidFill>
                  <a:srgbClr val="1C252B"/>
                </a:solidFill>
                <a:latin typeface="Segoe UI"/>
              </a:rPr>
              <a:t>. Release and renew a VLAN 20 host. Explain the result.</a:t>
            </a:r>
          </a:p>
          <a:p>
            <a:pPr marL="386080" indent="-386080">
              <a:lnSpc>
                <a:spcPct val="102000"/>
              </a:lnSpc>
              <a:spcAft>
                <a:spcPts val="900"/>
              </a:spcAft>
            </a:pPr>
            <a:r>
              <a:rPr sz="2000" b="1">
                <a:solidFill>
                  <a:srgbClr val="1F618D"/>
                </a:solidFill>
                <a:latin typeface="Segoe UI"/>
              </a:rPr>
              <a:t>2.  </a:t>
            </a:r>
            <a:r>
              <a:rPr sz="2000" b="1" i="0">
                <a:solidFill>
                  <a:srgbClr val="1C252B"/>
                </a:solidFill>
                <a:latin typeface="Segoe UI"/>
              </a:rPr>
              <a:t>Break 2.</a:t>
            </a:r>
            <a:r>
              <a:rPr sz="2000" b="0" i="0">
                <a:solidFill>
                  <a:srgbClr val="1C252B"/>
                </a:solidFill>
                <a:latin typeface="Segoe UI"/>
              </a:rPr>
              <a:t> Give a PC a static address inside a pool range, then force new leases until a conflict is detected. Read </a:t>
            </a:r>
            <a:r>
              <a:rPr sz="1900" b="0" i="0">
                <a:solidFill>
                  <a:srgbClr val="1A5276"/>
                </a:solidFill>
                <a:latin typeface="Consolas"/>
              </a:rPr>
              <a:t>show ip dhcp conflict</a:t>
            </a:r>
            <a:r>
              <a:rPr sz="2000" b="0" i="0">
                <a:solidFill>
                  <a:srgbClr val="1C252B"/>
                </a:solidFill>
                <a:latin typeface="Segoe UI"/>
              </a:rPr>
              <a:t>, fix the exclusion, and clear it.</a:t>
            </a:r>
          </a:p>
          <a:p>
            <a:pPr marL="386080" indent="-386080">
              <a:lnSpc>
                <a:spcPct val="102000"/>
              </a:lnSpc>
              <a:spcAft>
                <a:spcPts val="900"/>
              </a:spcAft>
            </a:pPr>
            <a:r>
              <a:rPr sz="2000" b="1">
                <a:solidFill>
                  <a:srgbClr val="1F618D"/>
                </a:solidFill>
                <a:latin typeface="Segoe UI"/>
              </a:rPr>
              <a:t>3.  </a:t>
            </a:r>
            <a:r>
              <a:rPr sz="2000" b="1" i="0">
                <a:solidFill>
                  <a:srgbClr val="1C252B"/>
                </a:solidFill>
                <a:latin typeface="Segoe UI"/>
              </a:rPr>
              <a:t>Break 3.</a:t>
            </a:r>
            <a:r>
              <a:rPr sz="2000" b="0" i="0">
                <a:solidFill>
                  <a:srgbClr val="1C252B"/>
                </a:solidFill>
                <a:latin typeface="Segoe UI"/>
              </a:rPr>
              <a:t> Remove </a:t>
            </a:r>
            <a:r>
              <a:rPr sz="1900" b="0" i="0">
                <a:solidFill>
                  <a:srgbClr val="1A5276"/>
                </a:solidFill>
                <a:latin typeface="Consolas"/>
              </a:rPr>
              <a:t>default-router</a:t>
            </a:r>
            <a:r>
              <a:rPr sz="2000" b="0" i="0">
                <a:solidFill>
                  <a:srgbClr val="1C252B"/>
                </a:solidFill>
                <a:latin typeface="Segoe UI"/>
              </a:rPr>
              <a:t> from VLAN 30’s pool. Renew a host. It will lease successfully and reach its own VLAN only. Write down the exact test that distinguishes this from a routing failure.</a:t>
            </a:r>
          </a:p>
          <a:p>
            <a:pPr marL="386080" indent="-386080">
              <a:lnSpc>
                <a:spcPct val="102000"/>
              </a:lnSpc>
              <a:spcAft>
                <a:spcPts val="900"/>
              </a:spcAft>
            </a:pPr>
            <a:r>
              <a:rPr sz="2000" b="1">
                <a:solidFill>
                  <a:srgbClr val="1F618D"/>
                </a:solidFill>
                <a:latin typeface="Segoe UI"/>
              </a:rPr>
              <a:t>4.  </a:t>
            </a:r>
            <a:r>
              <a:rPr sz="2000" b="1" i="0">
                <a:solidFill>
                  <a:srgbClr val="1C252B"/>
                </a:solidFill>
                <a:latin typeface="Segoe UI"/>
              </a:rPr>
              <a:t>Extension.</a:t>
            </a:r>
            <a:r>
              <a:rPr sz="2000" b="0" i="0">
                <a:solidFill>
                  <a:srgbClr val="1C252B"/>
                </a:solidFill>
                <a:latin typeface="Segoe UI"/>
              </a:rPr>
              <a:t> Configure </a:t>
            </a:r>
            <a:r>
              <a:rPr sz="1900" b="0" i="0">
                <a:solidFill>
                  <a:srgbClr val="1A5276"/>
                </a:solidFill>
                <a:latin typeface="Consolas"/>
              </a:rPr>
              <a:t>R1</a:t>
            </a:r>
            <a:r>
              <a:rPr sz="2000" b="0" i="0">
                <a:solidFill>
                  <a:srgbClr val="1C252B"/>
                </a:solidFill>
                <a:latin typeface="Segoe UI"/>
              </a:rPr>
              <a:t>’s uplink as </a:t>
            </a:r>
            <a:r>
              <a:rPr sz="1900" b="0" i="0">
                <a:solidFill>
                  <a:srgbClr val="1A5276"/>
                </a:solidFill>
                <a:latin typeface="Consolas"/>
              </a:rPr>
              <a:t>ip address dhcp</a:t>
            </a:r>
            <a:r>
              <a:rPr sz="2000" b="0" i="0">
                <a:solidFill>
                  <a:srgbClr val="1C252B"/>
                </a:solidFill>
                <a:latin typeface="Segoe UI"/>
              </a:rPr>
              <a:t> against a second router acting as an ISP, and observe the default route that appears with distance 254.</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Which of the four DORA messages are broadcast, and what would break if the REQUEST were unicast?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5</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Which of the four DORA messages are broadcast, and what would break if the REQUEST were unicast?</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Discover, Offer and Request are broadcast; only the Ack is unicast. If the Request were unicast, a second server that had also made an offer would never learn that its offer was declined, and would hold that address reserved for nothing until it timed out.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host has </a:t>
            </a:r>
            <a:r>
              <a:rPr sz="2900" b="0" i="0">
                <a:solidFill>
                  <a:srgbClr val="FFFFFF"/>
                </a:solidFill>
                <a:latin typeface="Consolas"/>
              </a:rPr>
              <a:t>169.254.8.31</a:t>
            </a:r>
            <a:r>
              <a:rPr sz="3000" b="0" i="0">
                <a:solidFill>
                  <a:srgbClr val="FFFFFF"/>
                </a:solidFill>
                <a:latin typeface="Segoe UI"/>
              </a:rPr>
              <a:t>. What single fact does that establish, and what does it </a:t>
            </a:r>
            <a:r>
              <a:rPr sz="3000" b="0" i="1">
                <a:solidFill>
                  <a:srgbClr val="FFFFFF"/>
                </a:solidFill>
                <a:latin typeface="Segoe UI"/>
              </a:rPr>
              <a:t>not</a:t>
            </a:r>
            <a:r>
              <a:rPr sz="3000" b="0" i="0">
                <a:solidFill>
                  <a:srgbClr val="FFFFFF"/>
                </a:solidFill>
                <a:latin typeface="Segoe UI"/>
              </a:rPr>
              <a:t> establish?</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5</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host has </a:t>
            </a:r>
            <a:r>
              <a:rPr sz="1900" b="1" i="0">
                <a:solidFill>
                  <a:srgbClr val="1A5276"/>
                </a:solidFill>
                <a:latin typeface="Consolas"/>
              </a:rPr>
              <a:t>169.254.8.31</a:t>
            </a:r>
            <a:r>
              <a:rPr sz="2000" b="1" i="0">
                <a:solidFill>
                  <a:srgbClr val="1A5276"/>
                </a:solidFill>
                <a:latin typeface="Segoe UI"/>
              </a:rPr>
              <a:t>. What single fact does that establish, and what does it </a:t>
            </a:r>
            <a:r>
              <a:rPr sz="2000" b="1" i="1">
                <a:solidFill>
                  <a:srgbClr val="1A5276"/>
                </a:solidFill>
                <a:latin typeface="Segoe UI"/>
              </a:rPr>
              <a:t>not</a:t>
            </a:r>
            <a:r>
              <a:rPr sz="2000" b="1" i="0">
                <a:solidFill>
                  <a:srgbClr val="1A5276"/>
                </a:solidFill>
                <a:latin typeface="Segoe UI"/>
              </a:rPr>
              <a:t> establish?</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It establishes only that the host asked and </a:t>
            </a:r>
            <a:r>
              <a:rPr sz="1900" b="1" i="0">
                <a:solidFill>
                  <a:srgbClr val="1C252B"/>
                </a:solidFill>
                <a:latin typeface="Segoe UI"/>
              </a:rPr>
              <a:t>nothing answered</a:t>
            </a:r>
            <a:r>
              <a:rPr sz="1900" b="0" i="0">
                <a:solidFill>
                  <a:srgbClr val="1C252B"/>
                </a:solidFill>
                <a:latin typeface="Segoe UI"/>
              </a:rPr>
              <a:t>. It does not establish where the failure is — it could be the switch port, the VLAN, the SVI, the relay, or the server, and it says nothing about whether the server is healthy.</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On which interface does </a:t>
            </a:r>
            <a:r>
              <a:rPr sz="2900" b="0" i="0">
                <a:solidFill>
                  <a:srgbClr val="FFFFFF"/>
                </a:solidFill>
                <a:latin typeface="Consolas"/>
              </a:rPr>
              <a:t>ip helper-address</a:t>
            </a:r>
            <a:r>
              <a:rPr sz="3000" b="0" i="0">
                <a:solidFill>
                  <a:srgbClr val="FFFFFF"/>
                </a:solidFill>
                <a:latin typeface="Segoe UI"/>
              </a:rPr>
              <a:t> belong, and what does the relay write into </a:t>
            </a:r>
            <a:r>
              <a:rPr sz="2900" b="0" i="0">
                <a:solidFill>
                  <a:srgbClr val="FFFFFF"/>
                </a:solidFill>
                <a:latin typeface="Consolas"/>
              </a:rPr>
              <a:t>giaddr</a:t>
            </a:r>
            <a:r>
              <a:rPr sz="3000" b="0" i="0">
                <a:solidFill>
                  <a:srgbClr val="FFFFFF"/>
                </a:solidFill>
                <a:latin typeface="Segoe UI"/>
              </a:rPr>
              <a: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5</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On which interface does </a:t>
            </a:r>
            <a:r>
              <a:rPr sz="1900" b="1" i="0">
                <a:solidFill>
                  <a:srgbClr val="1A5276"/>
                </a:solidFill>
                <a:latin typeface="Consolas"/>
              </a:rPr>
              <a:t>ip helper-address</a:t>
            </a:r>
            <a:r>
              <a:rPr sz="2000" b="1" i="0">
                <a:solidFill>
                  <a:srgbClr val="1A5276"/>
                </a:solidFill>
                <a:latin typeface="Segoe UI"/>
              </a:rPr>
              <a:t> belong, and what does the relay write into </a:t>
            </a:r>
            <a:r>
              <a:rPr sz="1900" b="1" i="0">
                <a:solidFill>
                  <a:srgbClr val="1A5276"/>
                </a:solidFill>
                <a:latin typeface="Consolas"/>
              </a:rPr>
              <a:t>giaddr</a:t>
            </a:r>
            <a:r>
              <a:rPr sz="2000" b="1" i="0">
                <a:solidFill>
                  <a:srgbClr val="1A5276"/>
                </a:solidFill>
                <a:latin typeface="Segoe UI"/>
              </a:rPr>
              <a:t>?</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On the interface facing the </a:t>
            </a:r>
            <a:r>
              <a:rPr sz="1900" b="1" i="0">
                <a:solidFill>
                  <a:srgbClr val="1C252B"/>
                </a:solidFill>
                <a:latin typeface="Segoe UI"/>
              </a:rPr>
              <a:t>clients</a:t>
            </a:r>
            <a:r>
              <a:rPr sz="1900" b="0" i="0">
                <a:solidFill>
                  <a:srgbClr val="1C252B"/>
                </a:solidFill>
                <a:latin typeface="Segoe UI"/>
              </a:rPr>
              <a:t> — the SVI in the subnet where the broadcasts are. The relay writes its own address on that interface into </a:t>
            </a:r>
            <a:r>
              <a:rPr sz="1800" b="0" i="0">
                <a:solidFill>
                  <a:srgbClr val="1A5276"/>
                </a:solidFill>
                <a:latin typeface="Consolas"/>
              </a:rPr>
              <a:t>giaddr</a:t>
            </a:r>
            <a:r>
              <a:rPr sz="1900" b="0" i="0">
                <a:solidFill>
                  <a:srgbClr val="1C252B"/>
                </a:solidFill>
                <a:latin typeface="Segoe UI"/>
              </a:rPr>
              <a:t>, which tells the server which pool to use and gives it a unicast address to reply to.</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Existing hosts work; every rebooted host fails. What class of fault does that pattern point to, and why?</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5</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Existing hosts work; every rebooted host fails. What class of fault does that pattern point to, and why?</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A relay or broadcast-path fault. Existing hosts renew at T1 by </a:t>
            </a:r>
            <a:r>
              <a:rPr sz="1900" b="0" i="1">
                <a:solidFill>
                  <a:srgbClr val="1C252B"/>
                </a:solidFill>
                <a:latin typeface="Segoe UI"/>
              </a:rPr>
              <a:t>unicast</a:t>
            </a:r>
            <a:r>
              <a:rPr sz="1900" b="0" i="0">
                <a:solidFill>
                  <a:srgbClr val="1C252B"/>
                </a:solidFill>
                <a:latin typeface="Segoe UI"/>
              </a:rPr>
              <a:t> directly to the server, which needs no relay, so they survive. Only newly booting hosts need the broadcast path, so only they fail.</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5</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host has the correct address and gateway but cannot browse the web. Is this a DHCP fault? Justify the answer.</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5</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host has the correct address and gateway but cannot browse the web. Is this a DHCP fault? Justify the answer.</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No. DHCP delivered a correct address and a correct gateway, which is its entire job. The fault is elsewhere — routing, NAT, an ACL, or DNS. Check the DNS servers the lease carried before looking further afield.</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DORA: Discover, Offer, Request, Ack. The first three are broadcast, which is why routers block the process by default.</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Renewal at T1 is a </a:t>
            </a:r>
            <a:r>
              <a:rPr sz="2000" b="0" i="1">
                <a:solidFill>
                  <a:srgbClr val="1C252B"/>
                </a:solidFill>
                <a:latin typeface="Segoe UI"/>
              </a:rPr>
              <a:t>unicast</a:t>
            </a:r>
            <a:r>
              <a:rPr sz="2000" b="0" i="0">
                <a:solidFill>
                  <a:srgbClr val="1C252B"/>
                </a:solidFill>
                <a:latin typeface="Segoe UI"/>
              </a:rPr>
              <a:t> request with no discover, so existing hosts survive faults that kill every new one.</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As a client: </a:t>
            </a:r>
            <a:r>
              <a:rPr sz="1900" b="0" i="0">
                <a:solidFill>
                  <a:srgbClr val="1A5276"/>
                </a:solidFill>
                <a:latin typeface="Consolas"/>
              </a:rPr>
              <a:t>ip address dhcp</a:t>
            </a:r>
            <a:r>
              <a:rPr sz="2000" b="0" i="0">
                <a:solidFill>
                  <a:srgbClr val="1C252B"/>
                </a:solidFill>
                <a:latin typeface="Segoe UI"/>
              </a:rPr>
              <a:t>, and the </a:t>
            </a:r>
            <a:r>
              <a:rPr sz="1900" b="0" i="0">
                <a:solidFill>
                  <a:srgbClr val="1A5276"/>
                </a:solidFill>
                <a:latin typeface="Consolas"/>
              </a:rPr>
              <a:t>Method</a:t>
            </a:r>
            <a:r>
              <a:rPr sz="2000" b="0" i="0">
                <a:solidFill>
                  <a:srgbClr val="1C252B"/>
                </a:solidFill>
                <a:latin typeface="Segoe UI"/>
              </a:rPr>
              <a:t> column of </a:t>
            </a:r>
            <a:r>
              <a:rPr sz="1900" b="0" i="0">
                <a:solidFill>
                  <a:srgbClr val="1A5276"/>
                </a:solidFill>
                <a:latin typeface="Consolas"/>
              </a:rPr>
              <a:t>show ip interface brief</a:t>
            </a:r>
            <a:r>
              <a:rPr sz="2000" b="0" i="0">
                <a:solidFill>
                  <a:srgbClr val="1C252B"/>
                </a:solidFill>
                <a:latin typeface="Segoe UI"/>
              </a:rPr>
              <a:t> proves it.</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As a server: exclude first, then a pool whose </a:t>
            </a:r>
            <a:r>
              <a:rPr sz="1900" b="0" i="0">
                <a:solidFill>
                  <a:srgbClr val="1A5276"/>
                </a:solidFill>
                <a:latin typeface="Consolas"/>
              </a:rPr>
              <a:t>network</a:t>
            </a:r>
            <a:r>
              <a:rPr sz="2000" b="0" i="0">
                <a:solidFill>
                  <a:srgbClr val="1C252B"/>
                </a:solidFill>
                <a:latin typeface="Segoe UI"/>
              </a:rPr>
              <a:t> statement matches the serving interface’s subnet exactly.</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As a relay: </a:t>
            </a:r>
            <a:r>
              <a:rPr sz="1900" b="0" i="0">
                <a:solidFill>
                  <a:srgbClr val="1A5276"/>
                </a:solidFill>
                <a:latin typeface="Consolas"/>
              </a:rPr>
              <a:t>ip helper-address</a:t>
            </a:r>
            <a:r>
              <a:rPr sz="2000" b="0" i="0">
                <a:solidFill>
                  <a:srgbClr val="1C252B"/>
                </a:solidFill>
                <a:latin typeface="Segoe UI"/>
              </a:rPr>
              <a:t> on the </a:t>
            </a:r>
            <a:r>
              <a:rPr sz="2000" b="1" i="0">
                <a:solidFill>
                  <a:srgbClr val="1C252B"/>
                </a:solidFill>
                <a:latin typeface="Segoe UI"/>
              </a:rPr>
              <a:t>client-side</a:t>
            </a:r>
            <a:r>
              <a:rPr sz="2000" b="0" i="0">
                <a:solidFill>
                  <a:srgbClr val="1C252B"/>
                </a:solidFill>
                <a:latin typeface="Segoe UI"/>
              </a:rPr>
              <a:t> interface. It writes </a:t>
            </a:r>
            <a:r>
              <a:rPr sz="1900" b="0" i="0">
                <a:solidFill>
                  <a:srgbClr val="1A5276"/>
                </a:solidFill>
                <a:latin typeface="Consolas"/>
              </a:rPr>
              <a:t>giaddr</a:t>
            </a:r>
            <a:r>
              <a:rPr sz="2000" b="0" i="0">
                <a:solidFill>
                  <a:srgbClr val="1C252B"/>
                </a:solidFill>
                <a:latin typeface="Segoe UI"/>
              </a:rPr>
              <a:t>, which selects the pool and carries the reply back.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20. DHCP: Client, Server and Relay</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1.7</a:t>
            </a:r>
          </a:p>
        </p:txBody>
      </p:sp>
      <p:sp>
        <p:nvSpPr>
          <p:cNvPr id="7" name="bullets"/>
          <p:cNvSpPr txBox="1"/>
          <p:nvPr/>
        </p:nvSpPr>
        <p:spPr>
          <a:xfrm>
            <a:off x="685800" y="2600306"/>
            <a:ext cx="10820095" cy="3782205"/>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Three symptoms, three places: no address means nothing answered; wrong subnet means the wrong pool or a rogue server; right address but no connectivity is not a DHCP fault.</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Conflicts come from static addresses inside the pool range. Fix the exclusion, then </a:t>
            </a:r>
            <a:r>
              <a:rPr sz="1900" b="0" i="0">
                <a:solidFill>
                  <a:srgbClr val="1A5276"/>
                </a:solidFill>
                <a:latin typeface="Consolas"/>
              </a:rPr>
              <a:t>clear ip dhcp conflict *</a:t>
            </a:r>
            <a:r>
              <a:rPr sz="20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1F618D"/>
        </a:solidFill>
        <a:effectLst/>
      </p:bgPr>
    </p:bg>
    <p:spTree>
      <p:nvGrpSpPr>
        <p:cNvPr id="1" name=""/>
        <p:cNvGrpSpPr/>
        <p:nvPr/>
      </p:nvGrpSpPr>
      <p:grpSpPr/>
      <p:sp>
        <p:nvSpPr>
          <p:cNvPr id="2" name="bg"/>
          <p:cNvSpPr/>
          <p:nvPr/>
        </p:nvSpPr>
        <p:spPr>
          <a:xfrm>
            <a:off x="0" y="0"/>
            <a:ext cx="12191695" cy="68580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DORA: Discover, Offer, Request, Ack. The first three are broadcast, which is why routers block the process by default.</a:t>
            </a:r>
          </a:p>
          <a:p>
            <a:pPr marL="217169" indent="-217169">
              <a:spcAft>
                <a:spcPts val="900"/>
              </a:spcAft>
            </a:pPr>
            <a:r>
              <a:rPr sz="1900">
                <a:solidFill>
                  <a:srgbClr val="C8D6E5"/>
                </a:solidFill>
              </a:rPr>
              <a:t>•  </a:t>
            </a:r>
            <a:r>
              <a:rPr sz="1900" b="0" i="0">
                <a:solidFill>
                  <a:srgbClr val="FFFFFF"/>
                </a:solidFill>
                <a:latin typeface="Segoe UI"/>
              </a:rPr>
              <a:t>Renewal at T1 is a </a:t>
            </a:r>
            <a:r>
              <a:rPr sz="1900" b="0" i="1">
                <a:solidFill>
                  <a:srgbClr val="FFFFFF"/>
                </a:solidFill>
                <a:latin typeface="Segoe UI"/>
              </a:rPr>
              <a:t>unicast</a:t>
            </a:r>
            <a:r>
              <a:rPr sz="1900" b="0" i="0">
                <a:solidFill>
                  <a:srgbClr val="FFFFFF"/>
                </a:solidFill>
                <a:latin typeface="Segoe UI"/>
              </a:rPr>
              <a:t> request with no discover, so existing hosts survive faults that kill every new one.</a:t>
            </a:r>
          </a:p>
          <a:p>
            <a:pPr marL="217169" indent="-217169">
              <a:spcAft>
                <a:spcPts val="900"/>
              </a:spcAft>
            </a:pPr>
            <a:r>
              <a:rPr sz="1900">
                <a:solidFill>
                  <a:srgbClr val="C8D6E5"/>
                </a:solidFill>
              </a:rPr>
              <a:t>•  </a:t>
            </a:r>
            <a:r>
              <a:rPr sz="1900" b="0" i="0">
                <a:solidFill>
                  <a:srgbClr val="FFFFFF"/>
                </a:solidFill>
                <a:latin typeface="Segoe UI"/>
              </a:rPr>
              <a:t>As a client: </a:t>
            </a:r>
            <a:r>
              <a:rPr sz="1800" b="0" i="0">
                <a:solidFill>
                  <a:srgbClr val="FFFFFF"/>
                </a:solidFill>
                <a:latin typeface="Consolas"/>
              </a:rPr>
              <a:t>ip address dhcp</a:t>
            </a:r>
            <a:r>
              <a:rPr sz="1900" b="0" i="0">
                <a:solidFill>
                  <a:srgbClr val="FFFFFF"/>
                </a:solidFill>
                <a:latin typeface="Segoe UI"/>
              </a:rPr>
              <a:t>, and the </a:t>
            </a:r>
            <a:r>
              <a:rPr sz="1800" b="0" i="0">
                <a:solidFill>
                  <a:srgbClr val="FFFFFF"/>
                </a:solidFill>
                <a:latin typeface="Consolas"/>
              </a:rPr>
              <a:t>Method</a:t>
            </a:r>
            <a:r>
              <a:rPr sz="1900" b="0" i="0">
                <a:solidFill>
                  <a:srgbClr val="FFFFFF"/>
                </a:solidFill>
                <a:latin typeface="Segoe UI"/>
              </a:rPr>
              <a:t> column of </a:t>
            </a:r>
            <a:r>
              <a:rPr sz="1800" b="0" i="0">
                <a:solidFill>
                  <a:srgbClr val="FFFFFF"/>
                </a:solidFill>
                <a:latin typeface="Consolas"/>
              </a:rPr>
              <a:t>show ip interface brief</a:t>
            </a:r>
            <a:r>
              <a:rPr sz="1900" b="0" i="0">
                <a:solidFill>
                  <a:srgbClr val="FFFFFF"/>
                </a:solidFill>
                <a:latin typeface="Segoe UI"/>
              </a:rPr>
              <a:t> proves it.</a:t>
            </a:r>
          </a:p>
          <a:p>
            <a:pPr marL="217169" indent="-217169">
              <a:spcAft>
                <a:spcPts val="900"/>
              </a:spcAft>
            </a:pPr>
            <a:r>
              <a:rPr sz="1900">
                <a:solidFill>
                  <a:srgbClr val="C8D6E5"/>
                </a:solidFill>
              </a:rPr>
              <a:t>•  </a:t>
            </a:r>
            <a:r>
              <a:rPr sz="1900" b="0" i="0">
                <a:solidFill>
                  <a:srgbClr val="FFFFFF"/>
                </a:solidFill>
                <a:latin typeface="Segoe UI"/>
              </a:rPr>
              <a:t>As a server: exclude first, then a pool whose </a:t>
            </a:r>
            <a:r>
              <a:rPr sz="1800" b="0" i="0">
                <a:solidFill>
                  <a:srgbClr val="FFFFFF"/>
                </a:solidFill>
                <a:latin typeface="Consolas"/>
              </a:rPr>
              <a:t>network</a:t>
            </a:r>
            <a:r>
              <a:rPr sz="1900" b="0" i="0">
                <a:solidFill>
                  <a:srgbClr val="FFFFFF"/>
                </a:solidFill>
                <a:latin typeface="Segoe UI"/>
              </a:rPr>
              <a:t> statement matches the serving interface’s subnet exactly.</a:t>
            </a:r>
          </a:p>
        </p:txBody>
      </p:sp>
      <p:sp>
        <p:nvSpPr>
          <p:cNvPr id="5" name="nextbg"/>
          <p:cNvSpPr/>
          <p:nvPr/>
        </p:nvSpPr>
        <p:spPr>
          <a:xfrm>
            <a:off x="685800" y="5303520"/>
            <a:ext cx="10820095" cy="822960"/>
          </a:xfrm>
          <a:prstGeom prst="rect">
            <a:avLst/>
          </a:prstGeom>
          <a:solidFill>
            <a:srgbClr val="094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21 — DNS, and Diagnosing Records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