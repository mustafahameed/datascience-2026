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Edge-Host Connectivity: PoE, Voice, APs and IoT. Blueprint topics: 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Edge-Host Connectivity: PoE, Voice, APs and IoT 2.2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top line first. Remaining is what decides whether the next device you plug in will power up at all. An IP phone has a small switch inside it: the cable from the wall goes into the phone, and the PC plugs into the back of the phone. Both need network access, and they should not be in the same VLAN — voice needs its own subnet for quality and for security.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blueprint distinguishes the two, and the distinction changes the port configuration completely.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Printers and IoT appliances — ordinary access ports. Put them in their own VLAN: they are rarely patched, often speak plaintext protocols, and are a favourite foothold. Add port security (Chapter 25) because they never move. Virtualised hosts — a server running virtual machines usually needs a trunk, because each VM may sit in a different VLAN and the hypervisor’s virtual switch tags accordingly. This is the one “end device” that is not an access port. Network appliances — firewalls, load balancers and the like. Read the vendor’s requirement; most want a trunk, some want several access ports.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09</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Segoe UI"/>
              </a:rPr>
              <a:t>Edge-Host Connectivity: PoE, Voice, APs and IoT</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II — Switching and Network Access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2.2"/>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2.2"/>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17864"/>
                </a:solidFill>
                <a:latin typeface="Segoe UI"/>
              </a:rPr>
              <a:t>2.2</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17864"/>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117864"/>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Configure</a:t>
            </a:r>
            <a:r>
              <a:rPr sz="2000" b="0" i="0">
                <a:solidFill>
                  <a:srgbClr val="1C252B"/>
                </a:solidFill>
                <a:latin typeface="Segoe UI"/>
              </a:rPr>
              <a:t> an access port correctly for each of the five device types the blueprint names.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Explain</a:t>
            </a:r>
            <a:r>
              <a:rPr sz="2000" b="0" i="0">
                <a:solidFill>
                  <a:srgbClr val="1C252B"/>
                </a:solidFill>
                <a:latin typeface="Segoe UI"/>
              </a:rPr>
              <a:t> how a data VLAN and a voice VLAN share one cable, and why that is not a trunk in the ordinary sense.</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Configure</a:t>
            </a:r>
            <a:r>
              <a:rPr sz="2000" b="0" i="0">
                <a:solidFill>
                  <a:srgbClr val="1C252B"/>
                </a:solidFill>
                <a:latin typeface="Segoe UI"/>
              </a:rPr>
              <a:t> and verify Power over Ethernet, including budget and per-port limits.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Diagnose</a:t>
            </a:r>
            <a:r>
              <a:rPr sz="2000" b="0" i="0">
                <a:solidFill>
                  <a:srgbClr val="1C252B"/>
                </a:solidFill>
                <a:latin typeface="Segoe UI"/>
              </a:rPr>
              <a:t> the faults peculiar to edge ports: a phone that gets no power, an AP that sees only one VLAN, and a device in the wrong VLAN because it was plugged into the wrong socket.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tint"/>
          <p:cNvSpPr/>
          <p:nvPr/>
        </p:nvSpPr>
        <p:spPr>
          <a:xfrm>
            <a:off x="685800" y="1517904"/>
            <a:ext cx="10820095" cy="10068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8 for VLANs and access ports. Chapter 7 for interface ranges.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term-Power over Etherne"/>
          <p:cNvSpPr/>
          <p:nvPr/>
        </p:nvSpPr>
        <p:spPr>
          <a:xfrm>
            <a:off x="685800" y="1609344"/>
            <a:ext cx="211937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Power over Etherne"/>
          <p:cNvSpPr/>
          <p:nvPr/>
        </p:nvSpPr>
        <p:spPr>
          <a:xfrm>
            <a:off x="685800"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Power over Etherne"/>
          <p:cNvSpPr txBox="1"/>
          <p:nvPr/>
        </p:nvSpPr>
        <p:spPr>
          <a:xfrm>
            <a:off x="850392" y="1700784"/>
            <a:ext cx="179019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Power over Ethernet</a:t>
            </a:r>
          </a:p>
        </p:txBody>
      </p:sp>
      <p:sp>
        <p:nvSpPr>
          <p:cNvPr id="10" name="term-PoE, PoE+, UPoE"/>
          <p:cNvSpPr/>
          <p:nvPr/>
        </p:nvSpPr>
        <p:spPr>
          <a:xfrm>
            <a:off x="2933191" y="1609344"/>
            <a:ext cx="186943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PoE, PoE+, UPoE"/>
          <p:cNvSpPr/>
          <p:nvPr/>
        </p:nvSpPr>
        <p:spPr>
          <a:xfrm>
            <a:off x="2933191"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PoE, PoE+, UPoE"/>
          <p:cNvSpPr txBox="1"/>
          <p:nvPr/>
        </p:nvSpPr>
        <p:spPr>
          <a:xfrm>
            <a:off x="3097784" y="1700784"/>
            <a:ext cx="154025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PoE, PoE+, UPoE</a:t>
            </a:r>
          </a:p>
        </p:txBody>
      </p:sp>
      <p:sp>
        <p:nvSpPr>
          <p:cNvPr id="13" name="term-power budget"/>
          <p:cNvSpPr/>
          <p:nvPr/>
        </p:nvSpPr>
        <p:spPr>
          <a:xfrm>
            <a:off x="4930647" y="1609344"/>
            <a:ext cx="151993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power budget"/>
          <p:cNvSpPr/>
          <p:nvPr/>
        </p:nvSpPr>
        <p:spPr>
          <a:xfrm>
            <a:off x="4930647"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power budget"/>
          <p:cNvSpPr txBox="1"/>
          <p:nvPr/>
        </p:nvSpPr>
        <p:spPr>
          <a:xfrm>
            <a:off x="5095239" y="1700784"/>
            <a:ext cx="119075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power budget</a:t>
            </a:r>
          </a:p>
        </p:txBody>
      </p:sp>
      <p:sp>
        <p:nvSpPr>
          <p:cNvPr id="16" name="term-voice VLAN"/>
          <p:cNvSpPr/>
          <p:nvPr/>
        </p:nvSpPr>
        <p:spPr>
          <a:xfrm>
            <a:off x="6578599" y="1609344"/>
            <a:ext cx="13695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voice VLAN"/>
          <p:cNvSpPr/>
          <p:nvPr/>
        </p:nvSpPr>
        <p:spPr>
          <a:xfrm>
            <a:off x="6578599"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voice VLAN"/>
          <p:cNvSpPr txBox="1"/>
          <p:nvPr/>
        </p:nvSpPr>
        <p:spPr>
          <a:xfrm>
            <a:off x="6743191" y="1700784"/>
            <a:ext cx="104038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voice VLAN</a:t>
            </a:r>
          </a:p>
        </p:txBody>
      </p:sp>
      <p:sp>
        <p:nvSpPr>
          <p:cNvPr id="19" name="term-data VLAN"/>
          <p:cNvSpPr/>
          <p:nvPr/>
        </p:nvSpPr>
        <p:spPr>
          <a:xfrm>
            <a:off x="8076183" y="1609344"/>
            <a:ext cx="12659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data VLAN"/>
          <p:cNvSpPr/>
          <p:nvPr/>
        </p:nvSpPr>
        <p:spPr>
          <a:xfrm>
            <a:off x="8076183"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data VLAN"/>
          <p:cNvSpPr txBox="1"/>
          <p:nvPr/>
        </p:nvSpPr>
        <p:spPr>
          <a:xfrm>
            <a:off x="8240775" y="1700784"/>
            <a:ext cx="9367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data VLAN</a:t>
            </a:r>
          </a:p>
        </p:txBody>
      </p:sp>
      <p:sp>
        <p:nvSpPr>
          <p:cNvPr id="22" name="term-standalone AP"/>
          <p:cNvSpPr/>
          <p:nvPr/>
        </p:nvSpPr>
        <p:spPr>
          <a:xfrm>
            <a:off x="9470135" y="1609344"/>
            <a:ext cx="159308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standalone AP"/>
          <p:cNvSpPr/>
          <p:nvPr/>
        </p:nvSpPr>
        <p:spPr>
          <a:xfrm>
            <a:off x="9470135" y="1609344"/>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standalone AP"/>
          <p:cNvSpPr txBox="1"/>
          <p:nvPr/>
        </p:nvSpPr>
        <p:spPr>
          <a:xfrm>
            <a:off x="9634727" y="1700784"/>
            <a:ext cx="126390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standalone AP</a:t>
            </a:r>
          </a:p>
        </p:txBody>
      </p:sp>
      <p:sp>
        <p:nvSpPr>
          <p:cNvPr id="25" name="term-controller-based A"/>
          <p:cNvSpPr/>
          <p:nvPr/>
        </p:nvSpPr>
        <p:spPr>
          <a:xfrm>
            <a:off x="685800" y="2212848"/>
            <a:ext cx="20868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controller-based A"/>
          <p:cNvSpPr/>
          <p:nvPr/>
        </p:nvSpPr>
        <p:spPr>
          <a:xfrm>
            <a:off x="685800"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controller-based A"/>
          <p:cNvSpPr txBox="1"/>
          <p:nvPr/>
        </p:nvSpPr>
        <p:spPr>
          <a:xfrm>
            <a:off x="850392" y="2304288"/>
            <a:ext cx="175767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controller-based AP</a:t>
            </a:r>
          </a:p>
        </p:txBody>
      </p:sp>
      <p:sp>
        <p:nvSpPr>
          <p:cNvPr id="28" name="term-LWAPP/CAPWAP"/>
          <p:cNvSpPr/>
          <p:nvPr/>
        </p:nvSpPr>
        <p:spPr>
          <a:xfrm>
            <a:off x="2900679" y="2212848"/>
            <a:ext cx="192430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LWAPP/CAPWAP"/>
          <p:cNvSpPr/>
          <p:nvPr/>
        </p:nvSpPr>
        <p:spPr>
          <a:xfrm>
            <a:off x="2900679"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LWAPP/CAPWAP"/>
          <p:cNvSpPr txBox="1"/>
          <p:nvPr/>
        </p:nvSpPr>
        <p:spPr>
          <a:xfrm>
            <a:off x="3065271" y="2304288"/>
            <a:ext cx="1595120"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LWAPP/CAPWAP</a:t>
            </a:r>
          </a:p>
        </p:txBody>
      </p:sp>
      <p:sp>
        <p:nvSpPr>
          <p:cNvPr id="31" name="term-IoT appliance"/>
          <p:cNvSpPr/>
          <p:nvPr/>
        </p:nvSpPr>
        <p:spPr>
          <a:xfrm>
            <a:off x="4952999" y="2212848"/>
            <a:ext cx="15280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IoT appliance"/>
          <p:cNvSpPr/>
          <p:nvPr/>
        </p:nvSpPr>
        <p:spPr>
          <a:xfrm>
            <a:off x="4952999"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IoT appliance"/>
          <p:cNvSpPr txBox="1"/>
          <p:nvPr/>
        </p:nvSpPr>
        <p:spPr>
          <a:xfrm>
            <a:off x="5117591" y="2304288"/>
            <a:ext cx="119887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IoT appliance</a:t>
            </a:r>
          </a:p>
        </p:txBody>
      </p:sp>
      <p:sp>
        <p:nvSpPr>
          <p:cNvPr id="34" name="term-errdisable"/>
          <p:cNvSpPr/>
          <p:nvPr/>
        </p:nvSpPr>
        <p:spPr>
          <a:xfrm>
            <a:off x="6609079" y="2212848"/>
            <a:ext cx="119481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errdisable"/>
          <p:cNvSpPr/>
          <p:nvPr/>
        </p:nvSpPr>
        <p:spPr>
          <a:xfrm>
            <a:off x="6609079" y="2212848"/>
            <a:ext cx="32004" cy="47548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errdisable"/>
          <p:cNvSpPr txBox="1"/>
          <p:nvPr/>
        </p:nvSpPr>
        <p:spPr>
          <a:xfrm>
            <a:off x="6773671" y="2304288"/>
            <a:ext cx="86563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errdisable</a:t>
            </a:r>
          </a:p>
        </p:txBody>
      </p:sp>
      <p:sp>
        <p:nvSpPr>
          <p:cNvPr id="37"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 topic 2.2 carefully — it lists the devices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17864"/>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17864"/>
                </a:solidFill>
                <a:latin typeface="Segoe UI"/>
              </a:rPr>
              <a:t> 2.2 </a:t>
            </a:r>
            <a:r>
              <a:rPr sz="2000" b="0" i="0">
                <a:solidFill>
                  <a:srgbClr val="1C252B"/>
                </a:solidFill>
                <a:latin typeface="Segoe UI"/>
              </a:rPr>
              <a:t> is “configure Layer 2 switch port attributes for edge-host connectivity (VLAN, PoE, port channel, and LACP)” and then names five categories: desktops, printers and IoT appliances; wireless access points, standalone and controller-based; VoIP phones; virtualised hosts; and network appliances. The exam expects a different port configuration for several of them, so learn them as five cases rather than 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Power over Ethernet</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PoE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tint"/>
          <p:cNvSpPr/>
          <p:nvPr/>
        </p:nvSpPr>
        <p:spPr>
          <a:xfrm>
            <a:off x="685800" y="1517904"/>
            <a:ext cx="10820095" cy="16672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1" i="0">
                <a:solidFill>
                  <a:srgbClr val="117864"/>
                </a:solidFill>
                <a:latin typeface="Segoe UI"/>
              </a:rPr>
              <a:t>Power over Ethernet</a:t>
            </a:r>
            <a:r>
              <a:rPr sz="2000" b="0" i="0">
                <a:solidFill>
                  <a:srgbClr val="1C252B"/>
                </a:solidFill>
                <a:latin typeface="Segoe UI"/>
              </a:rPr>
              <a:t> delivers electrical power over the same twisted pair that carries data, so a phone, camera or access point needs one cable rather than two. The switch negotiates with the device and supplies only what it asks for.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budget is the constraint, not the port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switch has a total power budget shared across all ports — often far less than the number of ports times the maximum per port. A 24-port PoE+ switch with a 370 W budget cannot deliver 30 W to all 24. When the budget is exhausted the switch stops powering </a:t>
            </a:r>
            <a:r>
              <a:rPr sz="2000" b="0" i="1">
                <a:solidFill>
                  <a:srgbClr val="1C252B"/>
                </a:solidFill>
                <a:latin typeface="Segoe UI"/>
              </a:rPr>
              <a:t>new</a:t>
            </a:r>
            <a:r>
              <a:rPr sz="2000" b="0" i="0">
                <a:solidFill>
                  <a:srgbClr val="1C252B"/>
                </a:solidFill>
                <a:latin typeface="Segoe UI"/>
              </a:rPr>
              <a:t> devices, so the symptom is “the phone I plugged in this morning works, the one I plugged in this afternoon does not”, and nothing in the port configuration looks wrong.</a:t>
            </a:r>
          </a:p>
          <a:p>
            <a:pPr algn="l">
              <a:lnSpc>
                <a:spcPct val="100000"/>
              </a:lnSpc>
              <a:spcAft>
                <a:spcPts val="1000"/>
              </a:spcAft>
            </a:pPr>
            <a:r>
              <a:rPr sz="2000" b="0" i="0">
                <a:solidFill>
                  <a:srgbClr val="1C252B"/>
                </a:solidFill>
                <a:latin typeface="Segoe UI"/>
              </a:rPr>
              <a:t>Check </a:t>
            </a:r>
            <a:r>
              <a:rPr sz="1900" b="0" i="0">
                <a:solidFill>
                  <a:srgbClr val="1A5276"/>
                </a:solidFill>
                <a:latin typeface="Consolas"/>
              </a:rPr>
              <a:t>show power inline</a:t>
            </a:r>
            <a:r>
              <a:rPr sz="2000" b="0" i="0">
                <a:solidFill>
                  <a:srgbClr val="1C252B"/>
                </a:solidFill>
                <a:latin typeface="Segoe UI"/>
              </a:rPr>
              <a:t> before you check anything else.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PoE on an access port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codebg"/>
          <p:cNvSpPr/>
          <p:nvPr/>
        </p:nvSpPr>
        <p:spPr>
          <a:xfrm>
            <a:off x="685800" y="1872331"/>
            <a:ext cx="10820095" cy="389737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872331"/>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27195"/>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11243"/>
            <a:ext cx="10417759" cy="3403600"/>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GigabitEthernet0/10</a:t>
            </a:r>
          </a:p>
          <a:p>
            <a:pPr>
              <a:lnSpc>
                <a:spcPct val="100000"/>
              </a:lnSpc>
              <a:spcAft>
                <a:spcPts val="0"/>
              </a:spcAft>
            </a:pPr>
            <a:r>
              <a:rPr sz="1600">
                <a:solidFill>
                  <a:srgbClr val="E8EEF2"/>
                </a:solidFill>
                <a:latin typeface="Consolas"/>
              </a:rPr>
              <a:t> description AP in the east corridor</a:t>
            </a:r>
          </a:p>
          <a:p>
            <a:pPr>
              <a:lnSpc>
                <a:spcPct val="100000"/>
              </a:lnSpc>
              <a:spcAft>
                <a:spcPts val="0"/>
              </a:spcAft>
            </a:pPr>
            <a:r>
              <a:rPr sz="1600">
                <a:solidFill>
                  <a:srgbClr val="E8EEF2"/>
                </a:solidFill>
                <a:latin typeface="Consolas"/>
              </a:rPr>
              <a:t> switchport mode access</a:t>
            </a:r>
          </a:p>
          <a:p>
            <a:pPr>
              <a:lnSpc>
                <a:spcPct val="100000"/>
              </a:lnSpc>
              <a:spcAft>
                <a:spcPts val="0"/>
              </a:spcAft>
            </a:pPr>
            <a:r>
              <a:rPr sz="1600">
                <a:solidFill>
                  <a:srgbClr val="E8EEF2"/>
                </a:solidFill>
                <a:latin typeface="Consolas"/>
              </a:rPr>
              <a:t> switchport access vlan 10</a:t>
            </a:r>
          </a:p>
          <a:p>
            <a:pPr>
              <a:lnSpc>
                <a:spcPct val="100000"/>
              </a:lnSpc>
              <a:spcAft>
                <a:spcPts val="0"/>
              </a:spcAft>
            </a:pPr>
            <a:r>
              <a:rPr sz="1600" i="1">
                <a:solidFill>
                  <a:srgbClr val="6E8BA0"/>
                </a:solidFill>
                <a:latin typeface="Consolas"/>
              </a:rPr>
              <a:t> ! auto is the default: negotiate and give the device what it asks for.</a:t>
            </a:r>
          </a:p>
          <a:p>
            <a:pPr>
              <a:lnSpc>
                <a:spcPct val="100000"/>
              </a:lnSpc>
              <a:spcAft>
                <a:spcPts val="0"/>
              </a:spcAft>
            </a:pPr>
            <a:r>
              <a:rPr sz="1600">
                <a:solidFill>
                  <a:srgbClr val="E8EEF2"/>
                </a:solidFill>
                <a:latin typeface="Consolas"/>
              </a:rPr>
              <a:t> power inline auto</a:t>
            </a:r>
          </a:p>
          <a:p>
            <a:pPr>
              <a:lnSpc>
                <a:spcPct val="100000"/>
              </a:lnSpc>
              <a:spcAft>
                <a:spcPts val="0"/>
              </a:spcAft>
            </a:pPr>
            <a:r>
              <a:rPr sz="1600" i="1">
                <a:solidFill>
                  <a:srgbClr val="6E8BA0"/>
                </a:solidFill>
                <a:latin typeface="Consolas"/>
              </a:rPr>
              <a:t> ! Cap a port that must never take more than a phone's worth.</a:t>
            </a:r>
          </a:p>
          <a:p>
            <a:pPr>
              <a:lnSpc>
                <a:spcPct val="100000"/>
              </a:lnSpc>
              <a:spcAft>
                <a:spcPts val="0"/>
              </a:spcAft>
            </a:pPr>
            <a:r>
              <a:rPr sz="1600" i="1">
                <a:solidFill>
                  <a:srgbClr val="6E8BA0"/>
                </a:solidFill>
                <a:latin typeface="Consolas"/>
              </a:rPr>
              <a:t> ! power inline auto max 15400</a:t>
            </a:r>
          </a:p>
          <a:p>
            <a:pPr>
              <a:lnSpc>
                <a:spcPct val="100000"/>
              </a:lnSpc>
              <a:spcAft>
                <a:spcPts val="0"/>
              </a:spcAft>
            </a:pPr>
            <a:r>
              <a:rPr sz="1600">
                <a:solidFill>
                  <a:srgbClr val="E8EEF2"/>
                </a:solidFill>
                <a:latin typeface="Consolas"/>
              </a:rPr>
              <a:t> no shutdown</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Never power this port -- a data-only port that must not energise.</a:t>
            </a:r>
          </a:p>
          <a:p>
            <a:pPr>
              <a:lnSpc>
                <a:spcPct val="100000"/>
              </a:lnSpc>
              <a:spcAft>
                <a:spcPts val="0"/>
              </a:spcAft>
            </a:pPr>
            <a:r>
              <a:rPr sz="1600">
                <a:solidFill>
                  <a:srgbClr val="E8EEF2"/>
                </a:solidFill>
                <a:latin typeface="Consolas"/>
              </a:rPr>
              <a:t>interface GigabitEthernet0/24</a:t>
            </a:r>
          </a:p>
          <a:p>
            <a:pPr>
              <a:lnSpc>
                <a:spcPct val="100000"/>
              </a:lnSpc>
              <a:spcAft>
                <a:spcPts val="0"/>
              </a:spcAft>
            </a:pPr>
            <a:r>
              <a:rPr sz="1600">
                <a:solidFill>
                  <a:srgbClr val="E8EEF2"/>
                </a:solidFill>
                <a:latin typeface="Consolas"/>
              </a:rPr>
              <a:t> power inline never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power inline</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codebg"/>
          <p:cNvSpPr/>
          <p:nvPr/>
        </p:nvSpPr>
        <p:spPr>
          <a:xfrm>
            <a:off x="685800" y="1901952"/>
            <a:ext cx="10820095" cy="3141471"/>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2647695"/>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Available:370.0(w)  Used:71.5(w)  Remaining:298.5(w)</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Interface Admin  Oper       Power   Device              Class Max</a:t>
            </a:r>
          </a:p>
          <a:p>
            <a:pPr>
              <a:lnSpc>
                <a:spcPct val="100000"/>
              </a:lnSpc>
              <a:spcAft>
                <a:spcPts val="0"/>
              </a:spcAft>
            </a:pPr>
            <a:r>
              <a:rPr sz="1600">
                <a:solidFill>
                  <a:srgbClr val="E8EEF2"/>
                </a:solidFill>
                <a:latin typeface="Consolas"/>
              </a:rPr>
              <a:t>                            (Watts)</a:t>
            </a:r>
          </a:p>
          <a:p>
            <a:pPr>
              <a:lnSpc>
                <a:spcPct val="100000"/>
              </a:lnSpc>
              <a:spcAft>
                <a:spcPts val="0"/>
              </a:spcAft>
            </a:pPr>
            <a:r>
              <a:rPr sz="1600">
                <a:solidFill>
                  <a:srgbClr val="E8EEF2"/>
                </a:solidFill>
                <a:latin typeface="Consolas"/>
              </a:rPr>
              <a:t>--------- ------ ---------- ------- ------------------- ----- ----</a:t>
            </a:r>
          </a:p>
          <a:p>
            <a:pPr>
              <a:lnSpc>
                <a:spcPct val="100000"/>
              </a:lnSpc>
              <a:spcAft>
                <a:spcPts val="0"/>
              </a:spcAft>
            </a:pPr>
            <a:r>
              <a:rPr sz="1600">
                <a:solidFill>
                  <a:srgbClr val="E8EEF2"/>
                </a:solidFill>
                <a:latin typeface="Consolas"/>
              </a:rPr>
              <a:t>Gi0/1     auto   on         6.3     IP Phone 7960       2     15.4</a:t>
            </a:r>
          </a:p>
          <a:p>
            <a:pPr>
              <a:lnSpc>
                <a:spcPct val="100000"/>
              </a:lnSpc>
              <a:spcAft>
                <a:spcPts val="0"/>
              </a:spcAft>
            </a:pPr>
            <a:r>
              <a:rPr sz="1600">
                <a:solidFill>
                  <a:srgbClr val="E8EEF2"/>
                </a:solidFill>
                <a:latin typeface="Consolas"/>
              </a:rPr>
              <a:t>Gi0/2     auto   on         6.3     IP Phone 7960       2     15.4</a:t>
            </a:r>
          </a:p>
          <a:p>
            <a:pPr>
              <a:lnSpc>
                <a:spcPct val="100000"/>
              </a:lnSpc>
              <a:spcAft>
                <a:spcPts val="0"/>
              </a:spcAft>
            </a:pPr>
            <a:r>
              <a:rPr sz="1600">
                <a:solidFill>
                  <a:srgbClr val="E8EEF2"/>
                </a:solidFill>
                <a:latin typeface="Consolas"/>
              </a:rPr>
              <a:t>Gi0/10    auto   on         28.6    AIR-AP2802I         4     30.0</a:t>
            </a:r>
          </a:p>
          <a:p>
            <a:pPr>
              <a:lnSpc>
                <a:spcPct val="100000"/>
              </a:lnSpc>
              <a:spcAft>
                <a:spcPts val="0"/>
              </a:spcAft>
            </a:pPr>
            <a:r>
              <a:rPr sz="1600">
                <a:solidFill>
                  <a:srgbClr val="E8EEF2"/>
                </a:solidFill>
                <a:latin typeface="Consolas"/>
              </a:rPr>
              <a:t>Gi0/11    auto   off        0.0     n/a                 n/a   30.0</a:t>
            </a:r>
          </a:p>
          <a:p>
            <a:pPr>
              <a:lnSpc>
                <a:spcPct val="100000"/>
              </a:lnSpc>
              <a:spcAft>
                <a:spcPts val="0"/>
              </a:spcAft>
            </a:pPr>
            <a:r>
              <a:rPr sz="1600">
                <a:solidFill>
                  <a:srgbClr val="E8EEF2"/>
                </a:solidFill>
                <a:latin typeface="Consolas"/>
              </a:rPr>
              <a:t>Gi0/24    never  off        0.0     n/a                 n/a   0.0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Voice VLANs: two VLANs, one cable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Voice VLANs: two VLANs, one cable</a:t>
            </a:r>
          </a:p>
        </p:txBody>
      </p:sp>
      <p:sp>
        <p:nvSpPr>
          <p:cNvPr id="3"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pic>
        <p:nvPicPr>
          <p:cNvPr id="6" name="figure" descr="voiceport.png"/>
          <p:cNvPicPr>
            <a:picLocks noChangeAspect="1"/>
          </p:cNvPicPr>
          <p:nvPr/>
        </p:nvPicPr>
        <p:blipFill>
          <a:blip r:embed="rId2"/>
          <a:stretch>
            <a:fillRect/>
          </a:stretch>
        </p:blipFill>
        <p:spPr>
          <a:xfrm>
            <a:off x="685800" y="1932784"/>
            <a:ext cx="10820095" cy="3285038"/>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One cable, two VLANs, and no trunk. The phone tags its own traffic and passes the PC’s through untouched.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How one access port carries two VLANs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tint"/>
          <p:cNvSpPr/>
          <p:nvPr/>
        </p:nvSpPr>
        <p:spPr>
          <a:xfrm>
            <a:off x="685800" y="1517904"/>
            <a:ext cx="10820095" cy="340969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port is configured with a </a:t>
            </a:r>
            <a:r>
              <a:rPr sz="2000" b="1" i="0">
                <a:solidFill>
                  <a:srgbClr val="117864"/>
                </a:solidFill>
                <a:latin typeface="Segoe UI"/>
              </a:rPr>
              <a:t>data VLAN</a:t>
            </a:r>
            <a:r>
              <a:rPr sz="2000" b="0" i="0">
                <a:solidFill>
                  <a:srgbClr val="1C252B"/>
                </a:solidFill>
                <a:latin typeface="Segoe UI"/>
              </a:rPr>
              <a:t> and a </a:t>
            </a:r>
            <a:r>
              <a:rPr sz="2000" b="1" i="0">
                <a:solidFill>
                  <a:srgbClr val="117864"/>
                </a:solidFill>
                <a:latin typeface="Segoe UI"/>
              </a:rPr>
              <a:t>voice VLAN</a:t>
            </a:r>
            <a:r>
              <a:rPr sz="2000" b="0" i="0">
                <a:solidFill>
                  <a:srgbClr val="1C252B"/>
                </a:solidFill>
                <a:latin typeface="Segoe UI"/>
              </a:rPr>
              <a:t>. The switch tells the phone, over CDP or LLDP-MED, which VLAN ID to tag its own traffic with. The phone tags voice frames and passes the PC’s frames through untagged.</a:t>
            </a:r>
          </a:p>
          <a:p>
            <a:pPr algn="l">
              <a:lnSpc>
                <a:spcPct val="100000"/>
              </a:lnSpc>
              <a:spcAft>
                <a:spcPts val="1000"/>
              </a:spcAft>
            </a:pPr>
            <a:r>
              <a:rPr sz="2000" b="0" i="0">
                <a:solidFill>
                  <a:srgbClr val="1C252B"/>
                </a:solidFill>
                <a:latin typeface="Segoe UI"/>
              </a:rPr>
              <a:t>So the switch sees tagged voice traffic and untagged data traffic on one access port. Strictly this is a trunk carrying two VLANs, but it is configured as an access port and Cisco calls it a </a:t>
            </a:r>
            <a:r>
              <a:rPr sz="2000" b="1" i="0">
                <a:solidFill>
                  <a:srgbClr val="117864"/>
                </a:solidFill>
                <a:latin typeface="Segoe UI"/>
              </a:rPr>
              <a:t>multi-VLAN access port</a:t>
            </a:r>
            <a:r>
              <a:rPr sz="2000" b="0" i="0">
                <a:solidFill>
                  <a:srgbClr val="1C252B"/>
                </a:solidFill>
                <a:latin typeface="Segoe UI"/>
              </a:rPr>
              <a:t>. Do not configure </a:t>
            </a:r>
            <a:r>
              <a:rPr sz="1900" b="0" i="0">
                <a:solidFill>
                  <a:srgbClr val="1A5276"/>
                </a:solidFill>
                <a:latin typeface="Consolas"/>
              </a:rPr>
              <a:t>switchport mode trunk</a:t>
            </a:r>
            <a:r>
              <a:rPr sz="2000" b="0" i="0">
                <a:solidFill>
                  <a:srgbClr val="1C252B"/>
                </a:solidFill>
                <a:latin typeface="Segoe UI"/>
              </a:rPr>
              <a:t> here — the voice VLAN command does what is needed, and a real trunk would change how the PC’s untagged traffic is handled.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desk port for a phone with a PC behind it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codebg"/>
          <p:cNvSpPr/>
          <p:nvPr/>
        </p:nvSpPr>
        <p:spPr>
          <a:xfrm>
            <a:off x="685800" y="1901952"/>
            <a:ext cx="10820095" cy="3141471"/>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2647695"/>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GigabitEthernet0/1</a:t>
            </a:r>
          </a:p>
          <a:p>
            <a:pPr>
              <a:lnSpc>
                <a:spcPct val="100000"/>
              </a:lnSpc>
              <a:spcAft>
                <a:spcPts val="0"/>
              </a:spcAft>
            </a:pPr>
            <a:r>
              <a:rPr sz="1600">
                <a:solidFill>
                  <a:srgbClr val="E8EEF2"/>
                </a:solidFill>
                <a:latin typeface="Consolas"/>
              </a:rPr>
              <a:t> description Desk 1 - phone with PC daisy-chained</a:t>
            </a:r>
          </a:p>
          <a:p>
            <a:pPr>
              <a:lnSpc>
                <a:spcPct val="100000"/>
              </a:lnSpc>
              <a:spcAft>
                <a:spcPts val="0"/>
              </a:spcAft>
            </a:pPr>
            <a:r>
              <a:rPr sz="1600">
                <a:solidFill>
                  <a:srgbClr val="E8EEF2"/>
                </a:solidFill>
                <a:latin typeface="Consolas"/>
              </a:rPr>
              <a:t> switchport mode access</a:t>
            </a:r>
          </a:p>
          <a:p>
            <a:pPr>
              <a:lnSpc>
                <a:spcPct val="100000"/>
              </a:lnSpc>
              <a:spcAft>
                <a:spcPts val="0"/>
              </a:spcAft>
            </a:pPr>
            <a:r>
              <a:rPr sz="1600">
                <a:solidFill>
                  <a:srgbClr val="E8EEF2"/>
                </a:solidFill>
                <a:latin typeface="Consolas"/>
              </a:rPr>
              <a:t> switchport access vlan 10</a:t>
            </a:r>
          </a:p>
          <a:p>
            <a:pPr>
              <a:lnSpc>
                <a:spcPct val="100000"/>
              </a:lnSpc>
              <a:spcAft>
                <a:spcPts val="0"/>
              </a:spcAft>
            </a:pPr>
            <a:r>
              <a:rPr sz="1600">
                <a:solidFill>
                  <a:srgbClr val="E8EEF2"/>
                </a:solidFill>
                <a:latin typeface="Consolas"/>
              </a:rPr>
              <a:t> switchport voice vlan 30</a:t>
            </a:r>
          </a:p>
          <a:p>
            <a:pPr>
              <a:lnSpc>
                <a:spcPct val="100000"/>
              </a:lnSpc>
              <a:spcAft>
                <a:spcPts val="0"/>
              </a:spcAft>
            </a:pPr>
            <a:r>
              <a:rPr sz="1600" i="1">
                <a:solidFill>
                  <a:srgbClr val="6E8BA0"/>
                </a:solidFill>
                <a:latin typeface="Consolas"/>
              </a:rPr>
              <a:t> ! The PC should forward immediately rather than waiting for</a:t>
            </a:r>
          </a:p>
          <a:p>
            <a:pPr>
              <a:lnSpc>
                <a:spcPct val="100000"/>
              </a:lnSpc>
              <a:spcAft>
                <a:spcPts val="0"/>
              </a:spcAft>
            </a:pPr>
            <a:r>
              <a:rPr sz="1600" i="1">
                <a:solidFill>
                  <a:srgbClr val="6E8BA0"/>
                </a:solidFill>
                <a:latin typeface="Consolas"/>
              </a:rPr>
              <a:t> ! spanning tree -- see chapter on Rapid PVST+.</a:t>
            </a:r>
          </a:p>
          <a:p>
            <a:pPr>
              <a:lnSpc>
                <a:spcPct val="100000"/>
              </a:lnSpc>
              <a:spcAft>
                <a:spcPts val="0"/>
              </a:spcAft>
            </a:pPr>
            <a:r>
              <a:rPr sz="1600">
                <a:solidFill>
                  <a:srgbClr val="E8EEF2"/>
                </a:solidFill>
                <a:latin typeface="Consolas"/>
              </a:rPr>
              <a:t> spanning-tree portfast</a:t>
            </a:r>
          </a:p>
          <a:p>
            <a:pPr>
              <a:lnSpc>
                <a:spcPct val="100000"/>
              </a:lnSpc>
              <a:spcAft>
                <a:spcPts val="0"/>
              </a:spcAft>
            </a:pPr>
            <a:r>
              <a:rPr sz="1600">
                <a:solidFill>
                  <a:srgbClr val="E8EEF2"/>
                </a:solidFill>
                <a:latin typeface="Consolas"/>
              </a:rPr>
              <a:t> power inline auto</a:t>
            </a:r>
          </a:p>
          <a:p>
            <a:pPr>
              <a:lnSpc>
                <a:spcPct val="100000"/>
              </a:lnSpc>
              <a:spcAft>
                <a:spcPts val="0"/>
              </a:spcAft>
            </a:pPr>
            <a:r>
              <a:rPr sz="1600">
                <a:solidFill>
                  <a:srgbClr val="E8EEF2"/>
                </a:solidFill>
                <a:latin typeface="Consolas"/>
              </a:rPr>
              <a:t> no shutdown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interfaces GigabitEthernet0/1 switchport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codebg"/>
          <p:cNvSpPr/>
          <p:nvPr/>
        </p:nvSpPr>
        <p:spPr>
          <a:xfrm>
            <a:off x="685800" y="1901952"/>
            <a:ext cx="10820095" cy="2133599"/>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163982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Name: Gi0/1</a:t>
            </a:r>
          </a:p>
          <a:p>
            <a:pPr>
              <a:lnSpc>
                <a:spcPct val="100000"/>
              </a:lnSpc>
              <a:spcAft>
                <a:spcPts val="0"/>
              </a:spcAft>
            </a:pPr>
            <a:r>
              <a:rPr sz="1600">
                <a:solidFill>
                  <a:srgbClr val="E8EEF2"/>
                </a:solidFill>
                <a:latin typeface="Consolas"/>
              </a:rPr>
              <a:t>Switchport: Enabled</a:t>
            </a:r>
          </a:p>
          <a:p>
            <a:pPr>
              <a:lnSpc>
                <a:spcPct val="100000"/>
              </a:lnSpc>
              <a:spcAft>
                <a:spcPts val="0"/>
              </a:spcAft>
            </a:pPr>
            <a:r>
              <a:rPr sz="1600">
                <a:solidFill>
                  <a:srgbClr val="E8EEF2"/>
                </a:solidFill>
                <a:latin typeface="Consolas"/>
              </a:rPr>
              <a:t>Administrative Mode: static access</a:t>
            </a:r>
          </a:p>
          <a:p>
            <a:pPr>
              <a:lnSpc>
                <a:spcPct val="100000"/>
              </a:lnSpc>
              <a:spcAft>
                <a:spcPts val="0"/>
              </a:spcAft>
            </a:pPr>
            <a:r>
              <a:rPr sz="1600">
                <a:solidFill>
                  <a:srgbClr val="E8EEF2"/>
                </a:solidFill>
                <a:latin typeface="Consolas"/>
              </a:rPr>
              <a:t>Operational Mode: static access</a:t>
            </a:r>
          </a:p>
          <a:p>
            <a:pPr>
              <a:lnSpc>
                <a:spcPct val="100000"/>
              </a:lnSpc>
              <a:spcAft>
                <a:spcPts val="0"/>
              </a:spcAft>
            </a:pPr>
            <a:r>
              <a:rPr sz="1600">
                <a:solidFill>
                  <a:srgbClr val="E8EEF2"/>
                </a:solidFill>
                <a:latin typeface="Consolas"/>
              </a:rPr>
              <a:t>Access Mode VLAN: 10 (Staff)</a:t>
            </a:r>
          </a:p>
          <a:p>
            <a:pPr>
              <a:lnSpc>
                <a:spcPct val="100000"/>
              </a:lnSpc>
              <a:spcAft>
                <a:spcPts val="0"/>
              </a:spcAft>
            </a:pPr>
            <a:r>
              <a:rPr sz="1600">
                <a:solidFill>
                  <a:srgbClr val="E8EEF2"/>
                </a:solidFill>
                <a:latin typeface="Consolas"/>
              </a:rPr>
              <a:t>Voice VLAN: 30 (Voice)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300" b="1" i="0">
                <a:solidFill>
                  <a:srgbClr val="FFFFFF"/>
                </a:solidFill>
                <a:latin typeface="Segoe UI"/>
              </a:rPr>
              <a:t>Access points, standalone and controller-based</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most common AP misconfiguration</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Configuring a lightweight AP’s port as a trunk, or a standalone AP’s port as an access port. Both leave the AP reachable — it will get an address and appear healthy — while clients on some or all SSIDs get nothing. If wireless users on one SSID work and another SSID does not, look at the switch port before you touch the wireless configuration.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Both kinds of access point</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codebg"/>
          <p:cNvSpPr/>
          <p:nvPr/>
        </p:nvSpPr>
        <p:spPr>
          <a:xfrm>
            <a:off x="685800" y="1517904"/>
            <a:ext cx="10820095" cy="4511547"/>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017771"/>
          </a:xfrm>
          <a:prstGeom prst="rect">
            <a:avLst/>
          </a:prstGeom>
          <a:noFill/>
        </p:spPr>
        <p:txBody>
          <a:bodyPr wrap="none" lIns="0" rIns="0" tIns="0" bIns="0">
            <a:spAutoFit/>
          </a:bodyPr>
          <a:lstStyle/>
          <a:p>
            <a:pPr>
              <a:lnSpc>
                <a:spcPct val="100000"/>
              </a:lnSpc>
              <a:spcAft>
                <a:spcPts val="0"/>
              </a:spcAft>
            </a:pPr>
            <a:r>
              <a:rPr sz="1300" i="1">
                <a:solidFill>
                  <a:srgbClr val="6E8BA0"/>
                </a:solidFill>
                <a:latin typeface="Consolas"/>
              </a:rPr>
              <a:t>! Lightweight AP: one access port in the AP management VLAN.</a:t>
            </a:r>
          </a:p>
          <a:p>
            <a:pPr>
              <a:lnSpc>
                <a:spcPct val="100000"/>
              </a:lnSpc>
              <a:spcAft>
                <a:spcPts val="0"/>
              </a:spcAft>
            </a:pPr>
            <a:r>
              <a:rPr sz="1300" i="1">
                <a:solidFill>
                  <a:srgbClr val="6E8BA0"/>
                </a:solidFill>
                <a:latin typeface="Consolas"/>
              </a:rPr>
              <a:t>! Client traffic is tunnelled to the controller, so no client</a:t>
            </a:r>
          </a:p>
          <a:p>
            <a:pPr>
              <a:lnSpc>
                <a:spcPct val="100000"/>
              </a:lnSpc>
              <a:spcAft>
                <a:spcPts val="0"/>
              </a:spcAft>
            </a:pPr>
            <a:r>
              <a:rPr sz="1300" i="1">
                <a:solidFill>
                  <a:srgbClr val="6E8BA0"/>
                </a:solidFill>
                <a:latin typeface="Consolas"/>
              </a:rPr>
              <a:t>! VLANs need to exist on this switch at all.</a:t>
            </a:r>
          </a:p>
          <a:p>
            <a:pPr>
              <a:lnSpc>
                <a:spcPct val="100000"/>
              </a:lnSpc>
              <a:spcAft>
                <a:spcPts val="0"/>
              </a:spcAft>
            </a:pPr>
            <a:r>
              <a:rPr sz="1300">
                <a:solidFill>
                  <a:srgbClr val="E8EEF2"/>
                </a:solidFill>
                <a:latin typeface="Consolas"/>
              </a:rPr>
              <a:t>interface GigabitEthernet0/10</a:t>
            </a:r>
          </a:p>
          <a:p>
            <a:pPr>
              <a:lnSpc>
                <a:spcPct val="100000"/>
              </a:lnSpc>
              <a:spcAft>
                <a:spcPts val="0"/>
              </a:spcAft>
            </a:pPr>
            <a:r>
              <a:rPr sz="1300">
                <a:solidFill>
                  <a:srgbClr val="E8EEF2"/>
                </a:solidFill>
                <a:latin typeface="Consolas"/>
              </a:rPr>
              <a:t> description Lightweight AP - CAPWAP to WLC</a:t>
            </a:r>
          </a:p>
          <a:p>
            <a:pPr>
              <a:lnSpc>
                <a:spcPct val="100000"/>
              </a:lnSpc>
              <a:spcAft>
                <a:spcPts val="0"/>
              </a:spcAft>
            </a:pPr>
            <a:r>
              <a:rPr sz="1300">
                <a:solidFill>
                  <a:srgbClr val="E8EEF2"/>
                </a:solidFill>
                <a:latin typeface="Consolas"/>
              </a:rPr>
              <a:t> switchport mode access</a:t>
            </a:r>
          </a:p>
          <a:p>
            <a:pPr>
              <a:lnSpc>
                <a:spcPct val="100000"/>
              </a:lnSpc>
              <a:spcAft>
                <a:spcPts val="0"/>
              </a:spcAft>
            </a:pPr>
            <a:r>
              <a:rPr sz="1300">
                <a:solidFill>
                  <a:srgbClr val="E8EEF2"/>
                </a:solidFill>
                <a:latin typeface="Consolas"/>
              </a:rPr>
              <a:t> switchport access vlan 50</a:t>
            </a:r>
          </a:p>
          <a:p>
            <a:pPr>
              <a:lnSpc>
                <a:spcPct val="100000"/>
              </a:lnSpc>
              <a:spcAft>
                <a:spcPts val="0"/>
              </a:spcAft>
            </a:pPr>
            <a:r>
              <a:rPr sz="1300">
                <a:solidFill>
                  <a:srgbClr val="E8EEF2"/>
                </a:solidFill>
                <a:latin typeface="Consolas"/>
              </a:rPr>
              <a:t> power inline auto</a:t>
            </a:r>
          </a:p>
          <a:p>
            <a:pPr>
              <a:lnSpc>
                <a:spcPct val="100000"/>
              </a:lnSpc>
              <a:spcAft>
                <a:spcPts val="0"/>
              </a:spcAft>
            </a:pPr>
            <a:r>
              <a:rPr sz="1300">
                <a:solidFill>
                  <a:srgbClr val="E8EEF2"/>
                </a:solidFill>
                <a:latin typeface="Consolas"/>
              </a:rPr>
              <a:t> spanning-tree portfast</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Standalone AP: a trunk, because the AP bridges each SSID</a:t>
            </a:r>
          </a:p>
          <a:p>
            <a:pPr>
              <a:lnSpc>
                <a:spcPct val="100000"/>
              </a:lnSpc>
              <a:spcAft>
                <a:spcPts val="0"/>
              </a:spcAft>
            </a:pPr>
            <a:r>
              <a:rPr sz="1300" i="1">
                <a:solidFill>
                  <a:srgbClr val="6E8BA0"/>
                </a:solidFill>
                <a:latin typeface="Consolas"/>
              </a:rPr>
              <a:t>! into a different VLAN and tags them itself.</a:t>
            </a:r>
          </a:p>
          <a:p>
            <a:pPr>
              <a:lnSpc>
                <a:spcPct val="100000"/>
              </a:lnSpc>
              <a:spcAft>
                <a:spcPts val="0"/>
              </a:spcAft>
            </a:pPr>
            <a:r>
              <a:rPr sz="1300">
                <a:solidFill>
                  <a:srgbClr val="E8EEF2"/>
                </a:solidFill>
                <a:latin typeface="Consolas"/>
              </a:rPr>
              <a:t>interface GigabitEthernet0/11</a:t>
            </a:r>
          </a:p>
          <a:p>
            <a:pPr>
              <a:lnSpc>
                <a:spcPct val="100000"/>
              </a:lnSpc>
              <a:spcAft>
                <a:spcPts val="0"/>
              </a:spcAft>
            </a:pPr>
            <a:r>
              <a:rPr sz="1300">
                <a:solidFill>
                  <a:srgbClr val="E8EEF2"/>
                </a:solidFill>
                <a:latin typeface="Consolas"/>
              </a:rPr>
              <a:t> description Standalone AP - SSIDs in VLANs 10 and 20</a:t>
            </a:r>
          </a:p>
          <a:p>
            <a:pPr>
              <a:lnSpc>
                <a:spcPct val="100000"/>
              </a:lnSpc>
              <a:spcAft>
                <a:spcPts val="0"/>
              </a:spcAft>
            </a:pPr>
            <a:r>
              <a:rPr sz="1300">
                <a:solidFill>
                  <a:srgbClr val="E8EEF2"/>
                </a:solidFill>
                <a:latin typeface="Consolas"/>
              </a:rPr>
              <a:t> switchport trunk encapsulation dot1q</a:t>
            </a:r>
          </a:p>
          <a:p>
            <a:pPr>
              <a:lnSpc>
                <a:spcPct val="100000"/>
              </a:lnSpc>
              <a:spcAft>
                <a:spcPts val="0"/>
              </a:spcAft>
            </a:pPr>
            <a:r>
              <a:rPr sz="1300">
                <a:solidFill>
                  <a:srgbClr val="E8EEF2"/>
                </a:solidFill>
                <a:latin typeface="Consolas"/>
              </a:rPr>
              <a:t> switchport mode trunk</a:t>
            </a:r>
          </a:p>
          <a:p>
            <a:pPr>
              <a:lnSpc>
                <a:spcPct val="100000"/>
              </a:lnSpc>
              <a:spcAft>
                <a:spcPts val="0"/>
              </a:spcAft>
            </a:pPr>
            <a:r>
              <a:rPr sz="1300">
                <a:solidFill>
                  <a:srgbClr val="E8EEF2"/>
                </a:solidFill>
                <a:latin typeface="Consolas"/>
              </a:rPr>
              <a:t> switchport trunk native vlan 50</a:t>
            </a:r>
          </a:p>
          <a:p>
            <a:pPr>
              <a:lnSpc>
                <a:spcPct val="100000"/>
              </a:lnSpc>
              <a:spcAft>
                <a:spcPts val="0"/>
              </a:spcAft>
            </a:pPr>
            <a:r>
              <a:rPr sz="1300">
                <a:solidFill>
                  <a:srgbClr val="E8EEF2"/>
                </a:solidFill>
                <a:latin typeface="Consolas"/>
              </a:rPr>
              <a:t> switchport trunk allowed vlan 10,20,50</a:t>
            </a:r>
          </a:p>
          <a:p>
            <a:pPr>
              <a:lnSpc>
                <a:spcPct val="100000"/>
              </a:lnSpc>
              <a:spcAft>
                <a:spcPts val="0"/>
              </a:spcAft>
            </a:pPr>
            <a:r>
              <a:rPr sz="1300">
                <a:solidFill>
                  <a:srgbClr val="E8EEF2"/>
                </a:solidFill>
                <a:latin typeface="Consolas"/>
              </a:rPr>
              <a:t> power inline auto</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300" b="1" i="0">
                <a:solidFill>
                  <a:srgbClr val="FFFFFF"/>
                </a:solidFill>
                <a:latin typeface="Segoe UI"/>
              </a:rPr>
              <a:t>Printers, IoT appliances and virtualised hosts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Printers, IoT appliances and virtualised hosts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PortFast on a port that leads to a switch.</a:t>
            </a:r>
            <a:r>
              <a:rPr sz="2000" b="0" i="0">
                <a:solidFill>
                  <a:srgbClr val="1C252B"/>
                </a:solidFill>
                <a:latin typeface="Segoe UI"/>
              </a:rPr>
              <a:t> PortFast skips the spanning tree listening and learning states. On an edge port that is correct; on a port leading to another switch it can create a loop. Use BPDU guard alongside it (Chapter 12).</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Assuming the phone’s PC port is in the voice VLAN.</a:t>
            </a:r>
            <a:r>
              <a:rPr sz="2000" b="0" i="0">
                <a:solidFill>
                  <a:srgbClr val="1C252B"/>
                </a:solidFill>
                <a:latin typeface="Segoe UI"/>
              </a:rPr>
              <a:t> It is not — untagged traffic from the PC lands in the data VLAN, which is the whole point.</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Ignoring the power class.</a:t>
            </a:r>
            <a:r>
              <a:rPr sz="2000" b="0" i="0">
                <a:solidFill>
                  <a:srgbClr val="1C252B"/>
                </a:solidFill>
                <a:latin typeface="Segoe UI"/>
              </a:rPr>
              <a:t> A class 4 device on a switch with only 802.3af ports will not power up, however correct the configuration looks.</a:t>
            </a:r>
          </a:p>
          <a:p>
            <a:pPr marL="228600" indent="-228600">
              <a:lnSpc>
                <a:spcPct val="102000"/>
              </a:lnSpc>
              <a:spcAft>
                <a:spcPts val="900"/>
              </a:spcAft>
            </a:pPr>
            <a:r>
              <a:rPr sz="2000" b="1">
                <a:solidFill>
                  <a:srgbClr val="117864"/>
                </a:solidFill>
                <a:latin typeface="Segoe UI"/>
              </a:rPr>
              <a:t>•  </a:t>
            </a:r>
            <a:r>
              <a:rPr sz="2000" b="1" i="0">
                <a:solidFill>
                  <a:srgbClr val="1C252B"/>
                </a:solidFill>
                <a:latin typeface="Segoe UI"/>
              </a:rPr>
              <a:t>Trunking to a lightweight AP.</a:t>
            </a:r>
            <a:r>
              <a:rPr sz="2000" b="0" i="0">
                <a:solidFill>
                  <a:srgbClr val="1C252B"/>
                </a:solidFill>
                <a:latin typeface="Segoe UI"/>
              </a:rPr>
              <a:t> See the warning above.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Half the wireless users work; the other half get no address.</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Users on the </a:t>
            </a:r>
            <a:r>
              <a:rPr sz="1800" b="0" i="0">
                <a:solidFill>
                  <a:srgbClr val="1A5276"/>
                </a:solidFill>
                <a:latin typeface="Consolas"/>
              </a:rPr>
              <a:t>Staff</a:t>
            </a:r>
            <a:r>
              <a:rPr sz="1900" b="0" i="0">
                <a:solidFill>
                  <a:srgbClr val="1C252B"/>
                </a:solidFill>
                <a:latin typeface="Segoe UI"/>
              </a:rPr>
              <a:t> SSID are fine. Users on </a:t>
            </a:r>
            <a:r>
              <a:rPr sz="1800" b="0" i="0">
                <a:solidFill>
                  <a:srgbClr val="1A5276"/>
                </a:solidFill>
                <a:latin typeface="Consolas"/>
              </a:rPr>
              <a:t>Guest</a:t>
            </a:r>
            <a:r>
              <a:rPr sz="1900" b="0" i="0">
                <a:solidFill>
                  <a:srgbClr val="1C252B"/>
                </a:solidFill>
                <a:latin typeface="Segoe UI"/>
              </a:rPr>
              <a:t> associate to the wireless network but never receive an IP address. The AP is reachable and its configuration has not changed.</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Half the wireless users work; the other half get no address.</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interfaces GigabitEthernet0/11 trunk</a:t>
            </a:r>
          </a:p>
        </p:txBody>
      </p:sp>
      <p:sp>
        <p:nvSpPr>
          <p:cNvPr id="6" name="bfcodebg"/>
          <p:cNvSpPr/>
          <p:nvPr/>
        </p:nvSpPr>
        <p:spPr>
          <a:xfrm>
            <a:off x="685800" y="2011680"/>
            <a:ext cx="10820095" cy="178460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130911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Port        Mode         Encapsulation  Status        Native vlan</a:t>
            </a:r>
          </a:p>
          <a:p>
            <a:pPr>
              <a:lnSpc>
                <a:spcPct val="100000"/>
              </a:lnSpc>
              <a:spcAft>
                <a:spcPts val="0"/>
              </a:spcAft>
            </a:pPr>
            <a:r>
              <a:rPr sz="1500">
                <a:solidFill>
                  <a:srgbClr val="E8EEF2"/>
                </a:solidFill>
                <a:latin typeface="Consolas"/>
              </a:rPr>
              <a:t>Gi0/11      on           802.1q         trunking      50</a:t>
            </a:r>
          </a:p>
          <a:p>
            <a:pPr>
              <a:lnSpc>
                <a:spcPct val="100000"/>
              </a:lnSpc>
              <a:spcAft>
                <a:spcPts val="0"/>
              </a:spcAft>
            </a:pPr>
            <a:r>
              <a:rPr sz="1500">
                <a:solidFill>
                  <a:srgbClr val="E8EEF2"/>
                </a:solidFill>
                <a:latin typeface="Consolas"/>
              </a:rPr>
              <a:t> </a:t>
            </a:r>
          </a:p>
          <a:p>
            <a:pPr>
              <a:lnSpc>
                <a:spcPct val="100000"/>
              </a:lnSpc>
              <a:spcAft>
                <a:spcPts val="0"/>
              </a:spcAft>
            </a:pPr>
            <a:r>
              <a:rPr sz="1500">
                <a:solidFill>
                  <a:srgbClr val="E8EEF2"/>
                </a:solidFill>
                <a:latin typeface="Consolas"/>
              </a:rPr>
              <a:t>Port        Vlans allowed on trunk</a:t>
            </a:r>
          </a:p>
          <a:p>
            <a:pPr>
              <a:lnSpc>
                <a:spcPct val="100000"/>
              </a:lnSpc>
              <a:spcAft>
                <a:spcPts val="0"/>
              </a:spcAft>
            </a:pPr>
            <a:r>
              <a:rPr sz="1500">
                <a:solidFill>
                  <a:srgbClr val="E8EEF2"/>
                </a:solidFill>
                <a:latin typeface="Consolas"/>
              </a:rPr>
              <a:t>Gi0/11      10,50</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This is a standalone AP, correctly trunked, but the allowed VLAN list carries 10 and 50 only. VLAN 20 — the Guest SSID’s VLAN — is not permitted on the trunk, so Guest clients associate at the radio (which the AP handles alone) and then have no path to the DHCP server. Association succeeding while addressing fails is the signature of a VLAN that does not reach the wire.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Add the missing VLAN to the trunk: </a:t>
            </a:r>
            <a:r>
              <a:rPr sz="1800" b="0" i="0">
                <a:solidFill>
                  <a:srgbClr val="1A5276"/>
                </a:solidFill>
                <a:latin typeface="Consolas"/>
              </a:rPr>
              <a:t>switchport trunk allowed vlan add 20</a:t>
            </a:r>
            <a:r>
              <a:rPr sz="1900" b="0" i="0">
                <a:solidFill>
                  <a:srgbClr val="1C252B"/>
                </a:solidFill>
                <a:latin typeface="Segoe UI"/>
              </a:rPr>
              <a:t>. Note </a:t>
            </a:r>
            <a:r>
              <a:rPr sz="1800" b="0" i="0">
                <a:solidFill>
                  <a:srgbClr val="1A5276"/>
                </a:solidFill>
                <a:latin typeface="Consolas"/>
              </a:rPr>
              <a:t>add</a:t>
            </a:r>
            <a:r>
              <a:rPr sz="1900" b="0" i="0">
                <a:solidFill>
                  <a:srgbClr val="1C252B"/>
                </a:solidFill>
                <a:latin typeface="Segoe UI"/>
              </a:rPr>
              <a:t> — without it you replace the whole list and drop VLANs 10 and 50, taking down the users who were working. Confirm with </a:t>
            </a:r>
            <a:r>
              <a:rPr sz="1800" b="0" i="0">
                <a:solidFill>
                  <a:srgbClr val="1A5276"/>
                </a:solidFill>
                <a:latin typeface="Consolas"/>
              </a:rPr>
              <a:t>show interfaces trunk</a:t>
            </a:r>
            <a:r>
              <a:rPr sz="1900" b="0" i="0">
                <a:solidFill>
                  <a:srgbClr val="1C252B"/>
                </a:solidFill>
                <a:latin typeface="Segoe UI"/>
              </a:rPr>
              <a:t>, then have a Guest client renew.</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Wire an edge properly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Topology.</a:t>
            </a:r>
            <a:r>
              <a:rPr sz="1900" b="0" i="0">
                <a:solidFill>
                  <a:srgbClr val="1C252B"/>
                </a:solidFill>
                <a:latin typeface="Segoe UI"/>
              </a:rPr>
              <a:t> One PoE switch; an IP phone with a PC behind it; a lightweight AP; a printer.</a:t>
            </a:r>
          </a:p>
        </p:txBody>
      </p:sp>
      <p:sp>
        <p:nvSpPr>
          <p:cNvPr id="8" name="bullets"/>
          <p:cNvSpPr txBox="1"/>
          <p:nvPr/>
        </p:nvSpPr>
        <p:spPr>
          <a:xfrm>
            <a:off x="685800" y="2014473"/>
            <a:ext cx="10820095" cy="4368038"/>
          </a:xfrm>
          <a:prstGeom prst="rect">
            <a:avLst/>
          </a:prstGeom>
          <a:noFill/>
        </p:spPr>
        <p:txBody>
          <a:bodyPr wrap="square" lIns="0" rIns="0" tIns="0" bIns="0">
            <a:spAutoFit/>
          </a:bodyPr>
          <a:lstStyle/>
          <a:p>
            <a:pPr marL="366776" indent="-366776">
              <a:lnSpc>
                <a:spcPct val="102000"/>
              </a:lnSpc>
              <a:spcAft>
                <a:spcPts val="900"/>
              </a:spcAft>
            </a:pPr>
            <a:r>
              <a:rPr sz="1900" b="1">
                <a:solidFill>
                  <a:srgbClr val="117864"/>
                </a:solidFill>
                <a:latin typeface="Segoe UI"/>
              </a:rPr>
              <a:t>1.  </a:t>
            </a:r>
            <a:r>
              <a:rPr sz="1900" b="0" i="0">
                <a:solidFill>
                  <a:srgbClr val="1C252B"/>
                </a:solidFill>
                <a:latin typeface="Segoe UI"/>
              </a:rPr>
              <a:t>Create VLANs 10 (Staff), 20 (Guest), 30 (Voice), 50 (AP-Mgmt) and 60 (Printers).</a:t>
            </a:r>
          </a:p>
          <a:p>
            <a:pPr marL="366776" indent="-366776">
              <a:lnSpc>
                <a:spcPct val="102000"/>
              </a:lnSpc>
              <a:spcAft>
                <a:spcPts val="900"/>
              </a:spcAft>
            </a:pPr>
            <a:r>
              <a:rPr sz="1900" b="1">
                <a:solidFill>
                  <a:srgbClr val="117864"/>
                </a:solidFill>
                <a:latin typeface="Segoe UI"/>
              </a:rPr>
              <a:t>2.  </a:t>
            </a:r>
            <a:r>
              <a:rPr sz="1900" b="0" i="0">
                <a:solidFill>
                  <a:srgbClr val="1C252B"/>
                </a:solidFill>
                <a:latin typeface="Segoe UI"/>
              </a:rPr>
              <a:t>Configure the phone port with data VLAN 10, voice VLAN 30, PortFast and PoE. Verify both VLANs appear on the one port.</a:t>
            </a:r>
          </a:p>
          <a:p>
            <a:pPr marL="366776" indent="-366776">
              <a:lnSpc>
                <a:spcPct val="102000"/>
              </a:lnSpc>
              <a:spcAft>
                <a:spcPts val="900"/>
              </a:spcAft>
            </a:pPr>
            <a:r>
              <a:rPr sz="1900" b="1">
                <a:solidFill>
                  <a:srgbClr val="117864"/>
                </a:solidFill>
                <a:latin typeface="Segoe UI"/>
              </a:rPr>
              <a:t>3.  </a:t>
            </a:r>
            <a:r>
              <a:rPr sz="1900" b="0" i="0">
                <a:solidFill>
                  <a:srgbClr val="1C252B"/>
                </a:solidFill>
                <a:latin typeface="Segoe UI"/>
              </a:rPr>
              <a:t>Configure the AP port as an access port in VLAN 50 with PoE.</a:t>
            </a:r>
          </a:p>
          <a:p>
            <a:pPr marL="366776" indent="-366776">
              <a:lnSpc>
                <a:spcPct val="102000"/>
              </a:lnSpc>
              <a:spcAft>
                <a:spcPts val="900"/>
              </a:spcAft>
            </a:pPr>
            <a:r>
              <a:rPr sz="1900" b="1">
                <a:solidFill>
                  <a:srgbClr val="117864"/>
                </a:solidFill>
                <a:latin typeface="Segoe UI"/>
              </a:rPr>
              <a:t>4.  </a:t>
            </a:r>
            <a:r>
              <a:rPr sz="1900" b="0" i="0">
                <a:solidFill>
                  <a:srgbClr val="1C252B"/>
                </a:solidFill>
                <a:latin typeface="Segoe UI"/>
              </a:rPr>
              <a:t>Configure the printer port in VLAN 60 with PortFast.</a:t>
            </a:r>
          </a:p>
          <a:p>
            <a:pPr marL="366776" indent="-366776">
              <a:lnSpc>
                <a:spcPct val="102000"/>
              </a:lnSpc>
              <a:spcAft>
                <a:spcPts val="900"/>
              </a:spcAft>
            </a:pPr>
            <a:r>
              <a:rPr sz="1900" b="1">
                <a:solidFill>
                  <a:srgbClr val="117864"/>
                </a:solidFill>
                <a:latin typeface="Segoe UI"/>
              </a:rPr>
              <a:t>5.  </a:t>
            </a:r>
            <a:r>
              <a:rPr sz="1900" b="0" i="0">
                <a:solidFill>
                  <a:srgbClr val="1C252B"/>
                </a:solidFill>
                <a:latin typeface="Segoe UI"/>
              </a:rPr>
              <a:t>Run </a:t>
            </a:r>
            <a:r>
              <a:rPr sz="1800" b="0" i="0">
                <a:solidFill>
                  <a:srgbClr val="1A5276"/>
                </a:solidFill>
                <a:latin typeface="Consolas"/>
              </a:rPr>
              <a:t>show power inline</a:t>
            </a:r>
            <a:r>
              <a:rPr sz="1900" b="0" i="0">
                <a:solidFill>
                  <a:srgbClr val="1C252B"/>
                </a:solidFill>
                <a:latin typeface="Segoe UI"/>
              </a:rPr>
              <a:t> and record the budget, the used figure and the class of each powered device.</a:t>
            </a:r>
          </a:p>
          <a:p>
            <a:pPr marL="366776" indent="-366776">
              <a:lnSpc>
                <a:spcPct val="102000"/>
              </a:lnSpc>
              <a:spcAft>
                <a:spcPts val="900"/>
              </a:spcAft>
            </a:pPr>
            <a:r>
              <a:rPr sz="1900" b="1">
                <a:solidFill>
                  <a:srgbClr val="117864"/>
                </a:solidFill>
                <a:latin typeface="Segoe UI"/>
              </a:rPr>
              <a:t>6.  </a:t>
            </a:r>
            <a:r>
              <a:rPr sz="1900" b="0" i="0">
                <a:solidFill>
                  <a:srgbClr val="1C252B"/>
                </a:solidFill>
                <a:latin typeface="Segoe UI"/>
              </a:rPr>
              <a:t>Set </a:t>
            </a:r>
            <a:r>
              <a:rPr sz="1800" b="0" i="0">
                <a:solidFill>
                  <a:srgbClr val="1A5276"/>
                </a:solidFill>
                <a:latin typeface="Consolas"/>
              </a:rPr>
              <a:t>power inline never</a:t>
            </a:r>
            <a:r>
              <a:rPr sz="1900" b="0" i="0">
                <a:solidFill>
                  <a:srgbClr val="1C252B"/>
                </a:solidFill>
                <a:latin typeface="Segoe UI"/>
              </a:rPr>
              <a:t> on the printer port and observe what happens to a PoE device moved there.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Wire an edge properly (continued)</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117864"/>
                </a:solidFill>
                <a:latin typeface="Segoe UI"/>
              </a:rPr>
              <a:t>7.  </a:t>
            </a:r>
            <a:r>
              <a:rPr sz="2000" b="1" i="0">
                <a:solidFill>
                  <a:srgbClr val="1C252B"/>
                </a:solidFill>
                <a:latin typeface="Segoe UI"/>
              </a:rPr>
              <a:t>Extension.</a:t>
            </a:r>
            <a:r>
              <a:rPr sz="2000" b="0" i="0">
                <a:solidFill>
                  <a:srgbClr val="1C252B"/>
                </a:solidFill>
                <a:latin typeface="Segoe UI"/>
              </a:rPr>
              <a:t> Change the AP to standalone: reconfigure its port as a trunk carrying VLANs 10, 20 and 50, and explain in one sentence why the two AP types need opposite port configurations.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An IP phone powers up and works; a PC plugged into the back of it gets an address in VLAN 10. Which VLAN carries the phone’s own traffic, and how did the phone learn to use it?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An IP phone powers up and works; a PC plugged into the back of it gets an address in VLAN 10. Which VLAN carries the phone’s own traffic, and how did the phone learn to use it?</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voice VLAN, tagged. The phone learned its VLAN ID from CDP or LLDP-MED advertised by the switch. The PC’s traffic stays untagged in the data VLAN, which is why one cable carries both.</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new AP will not power on. </a:t>
            </a:r>
            <a:r>
              <a:rPr sz="2900" b="0" i="0">
                <a:solidFill>
                  <a:srgbClr val="FFFFFF"/>
                </a:solidFill>
                <a:latin typeface="Consolas"/>
              </a:rPr>
              <a:t>show power inline</a:t>
            </a:r>
            <a:r>
              <a:rPr sz="3000" b="0" i="0">
                <a:solidFill>
                  <a:srgbClr val="FFFFFF"/>
                </a:solidFill>
                <a:latin typeface="Segoe UI"/>
              </a:rPr>
              <a:t> shows the port </a:t>
            </a:r>
            <a:r>
              <a:rPr sz="2900" b="0" i="0">
                <a:solidFill>
                  <a:srgbClr val="FFFFFF"/>
                </a:solidFill>
                <a:latin typeface="Consolas"/>
              </a:rPr>
              <a:t>auto/off</a:t>
            </a:r>
            <a:r>
              <a:rPr sz="3000" b="0" i="0">
                <a:solidFill>
                  <a:srgbClr val="FFFFFF"/>
                </a:solidFill>
                <a:latin typeface="Segoe UI"/>
              </a:rPr>
              <a:t> and </a:t>
            </a:r>
            <a:r>
              <a:rPr sz="2900" b="0" i="0">
                <a:solidFill>
                  <a:srgbClr val="FFFFFF"/>
                </a:solidFill>
                <a:latin typeface="Consolas"/>
              </a:rPr>
              <a:t>Remaining:4.2(w)</a:t>
            </a:r>
            <a:r>
              <a:rPr sz="3000" b="0" i="0">
                <a:solidFill>
                  <a:srgbClr val="FFFFFF"/>
                </a:solidFill>
                <a:latin typeface="Segoe UI"/>
              </a:rPr>
              <a:t>. What is wrong?</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new AP will not power on. </a:t>
            </a:r>
            <a:r>
              <a:rPr sz="1900" b="1" i="0">
                <a:solidFill>
                  <a:srgbClr val="1A5276"/>
                </a:solidFill>
                <a:latin typeface="Consolas"/>
              </a:rPr>
              <a:t>show power inline</a:t>
            </a:r>
            <a:r>
              <a:rPr sz="2000" b="1" i="0">
                <a:solidFill>
                  <a:srgbClr val="1A5276"/>
                </a:solidFill>
                <a:latin typeface="Segoe UI"/>
              </a:rPr>
              <a:t> shows the port </a:t>
            </a:r>
            <a:r>
              <a:rPr sz="1900" b="1" i="0">
                <a:solidFill>
                  <a:srgbClr val="1A5276"/>
                </a:solidFill>
                <a:latin typeface="Consolas"/>
              </a:rPr>
              <a:t>auto/off</a:t>
            </a:r>
            <a:r>
              <a:rPr sz="2000" b="1" i="0">
                <a:solidFill>
                  <a:srgbClr val="1A5276"/>
                </a:solidFill>
                <a:latin typeface="Segoe UI"/>
              </a:rPr>
              <a:t> and </a:t>
            </a:r>
            <a:r>
              <a:rPr sz="1900" b="1" i="0">
                <a:solidFill>
                  <a:srgbClr val="1A5276"/>
                </a:solidFill>
                <a:latin typeface="Consolas"/>
              </a:rPr>
              <a:t>Remaining:4.2(w)</a:t>
            </a:r>
            <a:r>
              <a:rPr sz="2000" b="1" i="0">
                <a:solidFill>
                  <a:srgbClr val="1A5276"/>
                </a:solidFill>
                <a:latin typeface="Segoe UI"/>
              </a:rPr>
              <a:t>. What is wrong?</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switch has only 4.2 W of power budget left, which is not enough for the AP. This is a </a:t>
            </a:r>
            <a:r>
              <a:rPr sz="1900" b="0" i="1">
                <a:solidFill>
                  <a:srgbClr val="1C252B"/>
                </a:solidFill>
                <a:latin typeface="Segoe UI"/>
              </a:rPr>
              <a:t>budget</a:t>
            </a:r>
            <a:r>
              <a:rPr sz="1900" b="0" i="0">
                <a:solidFill>
                  <a:srgbClr val="1C252B"/>
                </a:solidFill>
                <a:latin typeface="Segoe UI"/>
              </a:rPr>
              <a:t> problem, not a port problem — the port is willing (</a:t>
            </a:r>
            <a:r>
              <a:rPr sz="1800" b="0" i="0">
                <a:solidFill>
                  <a:srgbClr val="1A5276"/>
                </a:solidFill>
                <a:latin typeface="Consolas"/>
              </a:rPr>
              <a:t>auto</a:t>
            </a:r>
            <a:r>
              <a:rPr sz="1900" b="0" i="0">
                <a:solidFill>
                  <a:srgbClr val="1C252B"/>
                </a:solidFill>
                <a:latin typeface="Segoe UI"/>
              </a:rPr>
              <a:t>) and the supply cannot meet the request. Add a power supply, move the AP, or free capacity elsewhere.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a lightweight AP need only one VLAN on its switch port when it serves four SSIDs?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a lightweight AP need only one VLAN on its switch port when it serves four SSIDs?</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it tunnels all client traffic to the wireless controller inside CAPWAP. The SSID-to-VLAN mapping is done by the controller, so the switch port only needs to reach the controller. A </a:t>
            </a:r>
            <a:r>
              <a:rPr sz="1900" b="0" i="1">
                <a:solidFill>
                  <a:srgbClr val="1C252B"/>
                </a:solidFill>
                <a:latin typeface="Segoe UI"/>
              </a:rPr>
              <a:t>standalone</a:t>
            </a:r>
            <a:r>
              <a:rPr sz="1900" b="0" i="0">
                <a:solidFill>
                  <a:srgbClr val="1C252B"/>
                </a:solidFill>
                <a:latin typeface="Segoe UI"/>
              </a:rPr>
              <a:t> AP bridges locally and does need a trunk.</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9. Edge-Host Connectivity: PoE, Voice, APs and IoT</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2.2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PoE classes: 15.4 W af, 30 W at, up to 90 W bt. The shared </a:t>
            </a:r>
            <a:r>
              <a:rPr sz="2000" b="0" i="1">
                <a:solidFill>
                  <a:srgbClr val="1C252B"/>
                </a:solidFill>
                <a:latin typeface="Segoe UI"/>
              </a:rPr>
              <a:t>budget</a:t>
            </a:r>
            <a:r>
              <a:rPr sz="2000" b="0" i="0">
                <a:solidFill>
                  <a:srgbClr val="1C252B"/>
                </a:solidFill>
                <a:latin typeface="Segoe UI"/>
              </a:rPr>
              <a:t> is what actually runs out, so read </a:t>
            </a:r>
            <a:r>
              <a:rPr sz="1900" b="0" i="0">
                <a:solidFill>
                  <a:srgbClr val="1A5276"/>
                </a:solidFill>
                <a:latin typeface="Consolas"/>
              </a:rPr>
              <a:t>show power inline</a:t>
            </a:r>
            <a:r>
              <a:rPr sz="2000" b="0" i="0">
                <a:solidFill>
                  <a:srgbClr val="1C252B"/>
                </a:solidFill>
                <a:latin typeface="Segoe UI"/>
              </a:rPr>
              <a:t> first.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A voice VLAN plus a data VLAN on one access port lets a phone and a PC share a cable: the phone tags, the PC does not.</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Lightweight APs take an access port in the management VLAN; standalone APs take a trunk carrying every SSID’s VLAN. Getting this backwards breaks some SSIDs and not others.</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Printers and IoT devices belong in their own VLAN with port security. Virtualised hosts usually need a trunk.</a:t>
            </a:r>
          </a:p>
          <a:p>
            <a:pPr marL="228600" indent="-228600">
              <a:lnSpc>
                <a:spcPct val="102000"/>
              </a:lnSpc>
              <a:spcAft>
                <a:spcPts val="900"/>
              </a:spcAft>
            </a:pPr>
            <a:r>
              <a:rPr sz="2000" b="1">
                <a:solidFill>
                  <a:srgbClr val="117864"/>
                </a:solidFill>
                <a:latin typeface="Segoe UI"/>
              </a:rPr>
              <a:t>•  </a:t>
            </a:r>
            <a:r>
              <a:rPr sz="2000" b="0" i="0">
                <a:solidFill>
                  <a:srgbClr val="1C252B"/>
                </a:solidFill>
                <a:latin typeface="Segoe UI"/>
              </a:rPr>
              <a:t>Use </a:t>
            </a:r>
            <a:r>
              <a:rPr sz="1900" b="0" i="0">
                <a:solidFill>
                  <a:srgbClr val="1A5276"/>
                </a:solidFill>
                <a:latin typeface="Consolas"/>
              </a:rPr>
              <a:t>switchport trunk allowed vlan add</a:t>
            </a:r>
            <a:r>
              <a:rPr sz="2000" b="0" i="0">
                <a:solidFill>
                  <a:srgbClr val="1C252B"/>
                </a:solidFill>
                <a:latin typeface="Segoe UI"/>
              </a:rPr>
              <a:t>, never bare </a:t>
            </a:r>
            <a:r>
              <a:rPr sz="1900" b="0" i="0">
                <a:solidFill>
                  <a:srgbClr val="1A5276"/>
                </a:solidFill>
                <a:latin typeface="Consolas"/>
              </a:rPr>
              <a:t>allowed vlan</a:t>
            </a:r>
            <a:r>
              <a:rPr sz="2000" b="0" i="0">
                <a:solidFill>
                  <a:srgbClr val="1C252B"/>
                </a:solidFill>
                <a:latin typeface="Segoe UI"/>
              </a:rPr>
              <a:t>, on a live trunk.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7864"/>
        </a:solidFill>
        <a:effectLst/>
      </p:bgPr>
    </p:bg>
    <p:spTree>
      <p:nvGrpSpPr>
        <p:cNvPr id="1" name=""/>
        <p:cNvGrpSpPr/>
        <p:nvPr/>
      </p:nvGrpSpPr>
      <p:grpSpPr/>
      <p:sp>
        <p:nvSpPr>
          <p:cNvPr id="2" name="bg"/>
          <p:cNvSpPr/>
          <p:nvPr/>
        </p:nvSpPr>
        <p:spPr>
          <a:xfrm>
            <a:off x="0" y="0"/>
            <a:ext cx="12191695" cy="68580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PoE classes: 15.4 W af, 30 W at, up to 90 W bt. The shared </a:t>
            </a:r>
            <a:r>
              <a:rPr sz="1900" b="0" i="1">
                <a:solidFill>
                  <a:srgbClr val="FFFFFF"/>
                </a:solidFill>
                <a:latin typeface="Segoe UI"/>
              </a:rPr>
              <a:t>budget</a:t>
            </a:r>
            <a:r>
              <a:rPr sz="1900" b="0" i="0">
                <a:solidFill>
                  <a:srgbClr val="FFFFFF"/>
                </a:solidFill>
                <a:latin typeface="Segoe UI"/>
              </a:rPr>
              <a:t> is what actually runs out, so read </a:t>
            </a:r>
            <a:r>
              <a:rPr sz="1800" b="0" i="0">
                <a:solidFill>
                  <a:srgbClr val="FFFFFF"/>
                </a:solidFill>
                <a:latin typeface="Consolas"/>
              </a:rPr>
              <a:t>show power inline</a:t>
            </a:r>
            <a:r>
              <a:rPr sz="1900" b="0" i="0">
                <a:solidFill>
                  <a:srgbClr val="FFFFFF"/>
                </a:solidFill>
                <a:latin typeface="Segoe UI"/>
              </a:rPr>
              <a:t> first.</a:t>
            </a:r>
          </a:p>
          <a:p>
            <a:pPr marL="217169" indent="-217169">
              <a:spcAft>
                <a:spcPts val="900"/>
              </a:spcAft>
            </a:pPr>
            <a:r>
              <a:rPr sz="1900">
                <a:solidFill>
                  <a:srgbClr val="C8D6E5"/>
                </a:solidFill>
              </a:rPr>
              <a:t>•  </a:t>
            </a:r>
            <a:r>
              <a:rPr sz="1900" b="0" i="0">
                <a:solidFill>
                  <a:srgbClr val="FFFFFF"/>
                </a:solidFill>
                <a:latin typeface="Segoe UI"/>
              </a:rPr>
              <a:t>A voice VLAN plus a data VLAN on one access port lets a phone and a PC share a cable: the phone tags, the PC does not.</a:t>
            </a:r>
          </a:p>
          <a:p>
            <a:pPr marL="217169" indent="-217169">
              <a:spcAft>
                <a:spcPts val="900"/>
              </a:spcAft>
            </a:pPr>
            <a:r>
              <a:rPr sz="1900">
                <a:solidFill>
                  <a:srgbClr val="C8D6E5"/>
                </a:solidFill>
              </a:rPr>
              <a:t>•  </a:t>
            </a:r>
            <a:r>
              <a:rPr sz="1900" b="0" i="0">
                <a:solidFill>
                  <a:srgbClr val="FFFFFF"/>
                </a:solidFill>
                <a:latin typeface="Segoe UI"/>
              </a:rPr>
              <a:t>Lightweight APs take an access port in the management VLAN; standalone APs take a trunk carrying every SSID’s VLAN. Getting this backwards breaks some SSIDs and not others.</a:t>
            </a:r>
          </a:p>
          <a:p>
            <a:pPr marL="217169" indent="-217169">
              <a:spcAft>
                <a:spcPts val="900"/>
              </a:spcAft>
            </a:pPr>
            <a:r>
              <a:rPr sz="1900">
                <a:solidFill>
                  <a:srgbClr val="C8D6E5"/>
                </a:solidFill>
              </a:rPr>
              <a:t>•  </a:t>
            </a:r>
            <a:r>
              <a:rPr sz="1900" b="0" i="0">
                <a:solidFill>
                  <a:srgbClr val="FFFFFF"/>
                </a:solidFill>
                <a:latin typeface="Segoe UI"/>
              </a:rPr>
              <a:t>Printers and IoT devices belong in their own VLAN with port security. Virtualised hosts usually need a trunk.</a:t>
            </a:r>
          </a:p>
        </p:txBody>
      </p:sp>
      <p:sp>
        <p:nvSpPr>
          <p:cNvPr id="5" name="nextbg"/>
          <p:cNvSpPr/>
          <p:nvPr/>
        </p:nvSpPr>
        <p:spPr>
          <a:xfrm>
            <a:off x="685800" y="5303520"/>
            <a:ext cx="10820095" cy="822960"/>
          </a:xfrm>
          <a:prstGeom prst="rect">
            <a:avLst/>
          </a:prstGeom>
          <a:solidFill>
            <a:srgbClr val="006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10 — Trunking, 802.1Q and SVIs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