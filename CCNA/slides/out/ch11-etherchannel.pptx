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EtherChannel and LACP. Blueprint topics: 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EtherChannel and LACP 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two cables between a pair of switches and you do not get twice the bandwidth. You get a loop, and spanning tree (Chapter 12) blocks one of them — so you have paid for two links and can use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flags. Po1(SU) means layer Switched and Used — healthy. Each member showing (P) is bundled. The ones to worry about are (I) stand-alone, (s) suspended and (D) down. Between two multilayer switches you may want the bundle routed rather than switched.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11</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EtherChannel and LACP</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 — Switching and Network Access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1"/>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1"/>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2.1</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Explain</a:t>
            </a:r>
            <a:r>
              <a:rPr sz="2000" b="0" i="0">
                <a:solidFill>
                  <a:srgbClr val="1C252B"/>
                </a:solidFill>
                <a:latin typeface="Segoe UI"/>
              </a:rPr>
              <a:t> why bundling links needs a protocol rather than just more cables, in terms of what spanning tree would otherwise do.</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a layer 2 EtherChannel with LACP, and a layer 3 EtherChannel between routed ports.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Verify</a:t>
            </a:r>
            <a:r>
              <a:rPr sz="2000" b="0" i="0">
                <a:solidFill>
                  <a:srgbClr val="1C252B"/>
                </a:solidFill>
                <a:latin typeface="Segoe UI"/>
              </a:rPr>
              <a:t> a bundle and read the flags in </a:t>
            </a:r>
            <a:r>
              <a:rPr sz="1900" b="0" i="0">
                <a:solidFill>
                  <a:srgbClr val="1A5276"/>
                </a:solidFill>
                <a:latin typeface="Consolas"/>
              </a:rPr>
              <a:t>show etherchannel summary</a:t>
            </a:r>
            <a:r>
              <a:rPr sz="2000" b="0" i="0">
                <a:solidFill>
                  <a:srgbClr val="1C252B"/>
                </a:solidFill>
                <a:latin typeface="Segoe UI"/>
              </a:rPr>
              <a: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Diagnose</a:t>
            </a:r>
            <a:r>
              <a:rPr sz="2000" b="0" i="0">
                <a:solidFill>
                  <a:srgbClr val="1C252B"/>
                </a:solidFill>
                <a:latin typeface="Segoe UI"/>
              </a:rPr>
              <a:t> the parameter mismatches that stop a bundle forming — the single most common EtherChannel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10 for trunks and allowed VLAN lists; Chapter 8 for access ports.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erm-EtherChannel"/>
          <p:cNvSpPr/>
          <p:nvPr/>
        </p:nvSpPr>
        <p:spPr>
          <a:xfrm>
            <a:off x="685800" y="1609344"/>
            <a:ext cx="14894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EtherChannel"/>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EtherChannel"/>
          <p:cNvSpPr txBox="1"/>
          <p:nvPr/>
        </p:nvSpPr>
        <p:spPr>
          <a:xfrm>
            <a:off x="850392" y="1700784"/>
            <a:ext cx="11602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EtherChannel</a:t>
            </a:r>
          </a:p>
        </p:txBody>
      </p:sp>
      <p:sp>
        <p:nvSpPr>
          <p:cNvPr id="10" name="term-port channel"/>
          <p:cNvSpPr/>
          <p:nvPr/>
        </p:nvSpPr>
        <p:spPr>
          <a:xfrm>
            <a:off x="2303272" y="1609344"/>
            <a:ext cx="140208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port channel"/>
          <p:cNvSpPr/>
          <p:nvPr/>
        </p:nvSpPr>
        <p:spPr>
          <a:xfrm>
            <a:off x="2303272"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port channel"/>
          <p:cNvSpPr txBox="1"/>
          <p:nvPr/>
        </p:nvSpPr>
        <p:spPr>
          <a:xfrm>
            <a:off x="2467864" y="1700784"/>
            <a:ext cx="107289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port channel</a:t>
            </a:r>
          </a:p>
        </p:txBody>
      </p:sp>
      <p:sp>
        <p:nvSpPr>
          <p:cNvPr id="13" name="term-LACP"/>
          <p:cNvSpPr/>
          <p:nvPr/>
        </p:nvSpPr>
        <p:spPr>
          <a:xfrm>
            <a:off x="3833368" y="1609344"/>
            <a:ext cx="83312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LACP"/>
          <p:cNvSpPr/>
          <p:nvPr/>
        </p:nvSpPr>
        <p:spPr>
          <a:xfrm>
            <a:off x="383336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LACP"/>
          <p:cNvSpPr txBox="1"/>
          <p:nvPr/>
        </p:nvSpPr>
        <p:spPr>
          <a:xfrm>
            <a:off x="3997959" y="1700784"/>
            <a:ext cx="50393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LACP</a:t>
            </a:r>
          </a:p>
        </p:txBody>
      </p:sp>
      <p:sp>
        <p:nvSpPr>
          <p:cNvPr id="16" name="term-PAgP"/>
          <p:cNvSpPr/>
          <p:nvPr/>
        </p:nvSpPr>
        <p:spPr>
          <a:xfrm>
            <a:off x="4794504" y="1609344"/>
            <a:ext cx="8107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PAgP"/>
          <p:cNvSpPr/>
          <p:nvPr/>
        </p:nvSpPr>
        <p:spPr>
          <a:xfrm>
            <a:off x="4794504"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PAgP"/>
          <p:cNvSpPr txBox="1"/>
          <p:nvPr/>
        </p:nvSpPr>
        <p:spPr>
          <a:xfrm>
            <a:off x="4959096" y="1700784"/>
            <a:ext cx="48158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PAgP</a:t>
            </a:r>
          </a:p>
        </p:txBody>
      </p:sp>
      <p:sp>
        <p:nvSpPr>
          <p:cNvPr id="19" name="term-active"/>
          <p:cNvSpPr/>
          <p:nvPr/>
        </p:nvSpPr>
        <p:spPr>
          <a:xfrm>
            <a:off x="5733288" y="1609344"/>
            <a:ext cx="86563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active"/>
          <p:cNvSpPr/>
          <p:nvPr/>
        </p:nvSpPr>
        <p:spPr>
          <a:xfrm>
            <a:off x="5733288"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active"/>
          <p:cNvSpPr txBox="1"/>
          <p:nvPr/>
        </p:nvSpPr>
        <p:spPr>
          <a:xfrm>
            <a:off x="5897879" y="1700784"/>
            <a:ext cx="53644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active</a:t>
            </a:r>
          </a:p>
        </p:txBody>
      </p:sp>
      <p:sp>
        <p:nvSpPr>
          <p:cNvPr id="22" name="term-passive"/>
          <p:cNvSpPr/>
          <p:nvPr/>
        </p:nvSpPr>
        <p:spPr>
          <a:xfrm>
            <a:off x="6726935" y="1609344"/>
            <a:ext cx="1011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passive"/>
          <p:cNvSpPr/>
          <p:nvPr/>
        </p:nvSpPr>
        <p:spPr>
          <a:xfrm>
            <a:off x="6726935"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passive"/>
          <p:cNvSpPr txBox="1"/>
          <p:nvPr/>
        </p:nvSpPr>
        <p:spPr>
          <a:xfrm>
            <a:off x="6891527" y="1700784"/>
            <a:ext cx="682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passive</a:t>
            </a:r>
          </a:p>
        </p:txBody>
      </p:sp>
      <p:sp>
        <p:nvSpPr>
          <p:cNvPr id="25" name="term-on"/>
          <p:cNvSpPr/>
          <p:nvPr/>
        </p:nvSpPr>
        <p:spPr>
          <a:xfrm>
            <a:off x="7866887" y="1609344"/>
            <a:ext cx="53644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on"/>
          <p:cNvSpPr/>
          <p:nvPr/>
        </p:nvSpPr>
        <p:spPr>
          <a:xfrm>
            <a:off x="7866887"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on"/>
          <p:cNvSpPr txBox="1"/>
          <p:nvPr/>
        </p:nvSpPr>
        <p:spPr>
          <a:xfrm>
            <a:off x="8031479" y="1700784"/>
            <a:ext cx="20726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on</a:t>
            </a:r>
          </a:p>
        </p:txBody>
      </p:sp>
      <p:sp>
        <p:nvSpPr>
          <p:cNvPr id="28" name="term-load balancing"/>
          <p:cNvSpPr/>
          <p:nvPr/>
        </p:nvSpPr>
        <p:spPr>
          <a:xfrm>
            <a:off x="8531351" y="1609344"/>
            <a:ext cx="160934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load balancing"/>
          <p:cNvSpPr/>
          <p:nvPr/>
        </p:nvSpPr>
        <p:spPr>
          <a:xfrm>
            <a:off x="8531351"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load balancing"/>
          <p:cNvSpPr txBox="1"/>
          <p:nvPr/>
        </p:nvSpPr>
        <p:spPr>
          <a:xfrm>
            <a:off x="8695943" y="1700784"/>
            <a:ext cx="128015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load balancing</a:t>
            </a:r>
          </a:p>
        </p:txBody>
      </p:sp>
      <p:sp>
        <p:nvSpPr>
          <p:cNvPr id="31" name="term-bundle"/>
          <p:cNvSpPr/>
          <p:nvPr/>
        </p:nvSpPr>
        <p:spPr>
          <a:xfrm>
            <a:off x="10268711" y="1609344"/>
            <a:ext cx="9083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bundle"/>
          <p:cNvSpPr/>
          <p:nvPr/>
        </p:nvSpPr>
        <p:spPr>
          <a:xfrm>
            <a:off x="10268711"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bundle"/>
          <p:cNvSpPr txBox="1"/>
          <p:nvPr/>
        </p:nvSpPr>
        <p:spPr>
          <a:xfrm>
            <a:off x="10433303" y="1700784"/>
            <a:ext cx="57912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bundle</a:t>
            </a:r>
          </a:p>
        </p:txBody>
      </p:sp>
      <p:sp>
        <p:nvSpPr>
          <p:cNvPr id="34" name="term-suspended port"/>
          <p:cNvSpPr/>
          <p:nvPr/>
        </p:nvSpPr>
        <p:spPr>
          <a:xfrm>
            <a:off x="685800" y="2212848"/>
            <a:ext cx="165201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uspended port"/>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uspended port"/>
          <p:cNvSpPr txBox="1"/>
          <p:nvPr/>
        </p:nvSpPr>
        <p:spPr>
          <a:xfrm>
            <a:off x="850392" y="2304288"/>
            <a:ext cx="132283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suspended port</a:t>
            </a:r>
          </a:p>
        </p:txBody>
      </p:sp>
      <p:sp>
        <p:nvSpPr>
          <p:cNvPr id="37" name="term-layer 3 EtherChann"/>
          <p:cNvSpPr/>
          <p:nvPr/>
        </p:nvSpPr>
        <p:spPr>
          <a:xfrm>
            <a:off x="2465831" y="2212848"/>
            <a:ext cx="217017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layer 3 EtherChann"/>
          <p:cNvSpPr/>
          <p:nvPr/>
        </p:nvSpPr>
        <p:spPr>
          <a:xfrm>
            <a:off x="2465831"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layer 3 EtherChann"/>
          <p:cNvSpPr txBox="1"/>
          <p:nvPr/>
        </p:nvSpPr>
        <p:spPr>
          <a:xfrm>
            <a:off x="2630424" y="2304288"/>
            <a:ext cx="184099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layer 3 EtherChannel</a:t>
            </a:r>
          </a:p>
        </p:txBody>
      </p:sp>
      <p:sp>
        <p:nvSpPr>
          <p:cNvPr id="40"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EtherChannel</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19974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a:t>
            </a:r>
            <a:r>
              <a:rPr sz="2000" b="1" i="0">
                <a:solidFill>
                  <a:srgbClr val="117864"/>
                </a:solidFill>
                <a:latin typeface="Segoe UI"/>
              </a:rPr>
              <a:t>EtherChannel</a:t>
            </a:r>
            <a:r>
              <a:rPr sz="2000" b="0" i="0">
                <a:solidFill>
                  <a:srgbClr val="1C252B"/>
                </a:solidFill>
                <a:latin typeface="Segoe UI"/>
              </a:rPr>
              <a:t> bundles two to eight physical links into one logical interface, the </a:t>
            </a:r>
            <a:r>
              <a:rPr sz="2000" b="1" i="0">
                <a:solidFill>
                  <a:srgbClr val="117864"/>
                </a:solidFill>
                <a:latin typeface="Segoe UI"/>
              </a:rPr>
              <a:t>port channel</a:t>
            </a:r>
            <a:r>
              <a:rPr sz="2000" b="0" i="0">
                <a:solidFill>
                  <a:srgbClr val="1C252B"/>
                </a:solidFill>
                <a:latin typeface="Segoe UI"/>
              </a:rPr>
              <a:t>. Spanning tree sees a single link and does not block any member, so all of the bandwidth is usable, and if one member fails the others carry on without a topology change.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bundling needs a protocol</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pic>
        <p:nvPicPr>
          <p:cNvPr id="6" name="figure" descr="pochannel.png"/>
          <p:cNvPicPr>
            <a:picLocks noChangeAspect="1"/>
          </p:cNvPicPr>
          <p:nvPr/>
        </p:nvPicPr>
        <p:blipFill>
          <a:blip r:embed="rId2"/>
          <a:stretch>
            <a:fillRect/>
          </a:stretch>
        </p:blipFill>
        <p:spPr>
          <a:xfrm>
            <a:off x="685800" y="2275399"/>
            <a:ext cx="10820095" cy="2599809"/>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Bundling is not about speed for one conversation — it is about spanning tree seeing one link instead of four, and therefore blocking none of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Load balancing is per conversation, not per packet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37398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Frames are distributed across members by hashing fields from the frame — source MAC, destination MAC, source and destination IP, or a combination. Every frame in one conversation hashes the same way, so a conversation always takes one member link.</a:t>
            </a:r>
          </a:p>
          <a:p>
            <a:pPr algn="l">
              <a:lnSpc>
                <a:spcPct val="100000"/>
              </a:lnSpc>
              <a:spcAft>
                <a:spcPts val="1000"/>
              </a:spcAft>
            </a:pPr>
            <a:r>
              <a:rPr sz="2000" b="0" i="0">
                <a:solidFill>
                  <a:srgbClr val="1C252B"/>
                </a:solidFill>
                <a:latin typeface="Segoe UI"/>
              </a:rPr>
              <a:t>The consequence catches people out: a single large file transfer between two hosts gets </a:t>
            </a:r>
            <a:r>
              <a:rPr sz="2000" b="0" i="1">
                <a:solidFill>
                  <a:srgbClr val="1C252B"/>
                </a:solidFill>
                <a:latin typeface="Segoe UI"/>
              </a:rPr>
              <a:t>one member’s worth</a:t>
            </a:r>
            <a:r>
              <a:rPr sz="2000" b="0" i="0">
                <a:solidFill>
                  <a:srgbClr val="1C252B"/>
                </a:solidFill>
                <a:latin typeface="Segoe UI"/>
              </a:rPr>
              <a:t> of bandwidth, not the whole bundle. Four 1 Gbps links do not give one server a 4 Gbps transfer. They give you 4 Gbps of aggregate capacity across many conversations, which is a different thing. When somebody complains that a new EtherChannel “did not make the backup faster”, this is why.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Never mix on with a negotiating mode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ody"/>
          <p:cNvSpPr txBox="1"/>
          <p:nvPr/>
        </p:nvSpPr>
        <p:spPr>
          <a:xfrm>
            <a:off x="685800" y="2750892"/>
            <a:ext cx="10820095" cy="3631619"/>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on</a:t>
            </a:r>
            <a:r>
              <a:rPr sz="2000" b="0" i="0">
                <a:solidFill>
                  <a:srgbClr val="1C252B"/>
                </a:solidFill>
                <a:latin typeface="Segoe UI"/>
              </a:rPr>
              <a:t> at one end and </a:t>
            </a:r>
            <a:r>
              <a:rPr sz="1900" b="0" i="0">
                <a:solidFill>
                  <a:srgbClr val="1A5276"/>
                </a:solidFill>
                <a:latin typeface="Consolas"/>
              </a:rPr>
              <a:t>active</a:t>
            </a:r>
            <a:r>
              <a:rPr sz="2000" b="0" i="0">
                <a:solidFill>
                  <a:srgbClr val="1C252B"/>
                </a:solidFill>
                <a:latin typeface="Segoe UI"/>
              </a:rPr>
              <a:t> at the other does not form a bundle, and worse, the </a:t>
            </a:r>
            <a:r>
              <a:rPr sz="1900" b="0" i="0">
                <a:solidFill>
                  <a:srgbClr val="1A5276"/>
                </a:solidFill>
                <a:latin typeface="Consolas"/>
              </a:rPr>
              <a:t>on</a:t>
            </a:r>
            <a:r>
              <a:rPr sz="2000" b="0" i="0">
                <a:solidFill>
                  <a:srgbClr val="1C252B"/>
                </a:solidFill>
                <a:latin typeface="Segoe UI"/>
              </a:rPr>
              <a:t> end starts forwarding on every member immediately while the far end still treats them as individual links. That is a loop, built by hand. Either both ends negotiate, or both ends are </a:t>
            </a:r>
            <a:r>
              <a:rPr sz="1900" b="0" i="0">
                <a:solidFill>
                  <a:srgbClr val="1A5276"/>
                </a:solidFill>
                <a:latin typeface="Consolas"/>
              </a:rPr>
              <a:t>on</a:t>
            </a:r>
            <a:r>
              <a:rPr sz="2000" b="0" i="0">
                <a:solidFill>
                  <a:srgbClr val="1C252B"/>
                </a:solidFill>
                <a:latin typeface="Segoe UI"/>
              </a:rPr>
              <a:t>. LACP </a:t>
            </a:r>
            <a:r>
              <a:rPr sz="1900" b="0" i="0">
                <a:solidFill>
                  <a:srgbClr val="1A5276"/>
                </a:solidFill>
                <a:latin typeface="Consolas"/>
              </a:rPr>
              <a:t>active</a:t>
            </a:r>
            <a:r>
              <a:rPr sz="2000" b="0" i="0">
                <a:solidFill>
                  <a:srgbClr val="1C252B"/>
                </a:solidFill>
                <a:latin typeface="Segoe UI"/>
              </a:rPr>
              <a:t> at both ends is the right default.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rule that governs everything: members must match</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tint"/>
          <p:cNvSpPr/>
          <p:nvPr/>
        </p:nvSpPr>
        <p:spPr>
          <a:xfrm>
            <a:off x="685800" y="1517904"/>
            <a:ext cx="10820095" cy="4672584"/>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Every member port in a bundle, </a:t>
            </a:r>
            <a:r>
              <a:rPr sz="2000" b="0" i="1">
                <a:solidFill>
                  <a:srgbClr val="1C252B"/>
                </a:solidFill>
                <a:latin typeface="Segoe UI"/>
              </a:rPr>
              <a:t>at both ends</a:t>
            </a:r>
            <a:r>
              <a:rPr sz="2000" b="0" i="0">
                <a:solidFill>
                  <a:srgbClr val="1C252B"/>
                </a:solidFill>
                <a:latin typeface="Segoe UI"/>
              </a:rPr>
              <a:t>, must agree on:</a:t>
            </a:r>
          </a:p>
        </p:txBody>
      </p:sp>
      <p:sp>
        <p:nvSpPr>
          <p:cNvPr id="9" name="bullets"/>
          <p:cNvSpPr txBox="1"/>
          <p:nvPr/>
        </p:nvSpPr>
        <p:spPr>
          <a:xfrm>
            <a:off x="978408" y="2250440"/>
            <a:ext cx="10234879" cy="41320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speed and duplex;</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switch mode — all access, or all trunk;</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if trunking: the same native VLAN and the same allowed VLAN list;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if access: the same access VLAN.</a:t>
            </a:r>
          </a:p>
        </p:txBody>
      </p:sp>
      <p:sp>
        <p:nvSpPr>
          <p:cNvPr id="10" name="tailbody"/>
          <p:cNvSpPr txBox="1"/>
          <p:nvPr/>
        </p:nvSpPr>
        <p:spPr>
          <a:xfrm>
            <a:off x="978408" y="4503928"/>
            <a:ext cx="10234879" cy="1823720"/>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One port that disagrees is suspended and stays out of the bundle. Configure the port channel interface and let the settings inherit downward, rather than configuring each member separately — that is how you avoid the mismatch in the first place.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two-member LACP trunk bundle, both ends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200" i="1">
                <a:solidFill>
                  <a:srgbClr val="6E8BA0"/>
                </a:solidFill>
                <a:latin typeface="Consolas"/>
              </a:rPr>
              <a:t>! Put the physical members into the channel group first. Creating</a:t>
            </a:r>
          </a:p>
          <a:p>
            <a:pPr>
              <a:lnSpc>
                <a:spcPct val="100000"/>
              </a:lnSpc>
              <a:spcAft>
                <a:spcPts val="0"/>
              </a:spcAft>
            </a:pPr>
            <a:r>
              <a:rPr sz="1200" i="1">
                <a:solidFill>
                  <a:srgbClr val="6E8BA0"/>
                </a:solidFill>
                <a:latin typeface="Consolas"/>
              </a:rPr>
              <a:t>! the group creates the Port-channel interface automatically.</a:t>
            </a:r>
          </a:p>
          <a:p>
            <a:pPr>
              <a:lnSpc>
                <a:spcPct val="100000"/>
              </a:lnSpc>
              <a:spcAft>
                <a:spcPts val="0"/>
              </a:spcAft>
            </a:pPr>
            <a:r>
              <a:rPr sz="1200">
                <a:solidFill>
                  <a:srgbClr val="E8EEF2"/>
                </a:solidFill>
                <a:latin typeface="Consolas"/>
              </a:rPr>
              <a:t>interface range GigabitEthernet0/1 - 2</a:t>
            </a:r>
          </a:p>
          <a:p>
            <a:pPr>
              <a:lnSpc>
                <a:spcPct val="100000"/>
              </a:lnSpc>
              <a:spcAft>
                <a:spcPts val="0"/>
              </a:spcAft>
            </a:pPr>
            <a:r>
              <a:rPr sz="1200">
                <a:solidFill>
                  <a:srgbClr val="E8EEF2"/>
                </a:solidFill>
                <a:latin typeface="Consolas"/>
              </a:rPr>
              <a:t> description Member of Po1 - uplink to SW2</a:t>
            </a:r>
          </a:p>
          <a:p>
            <a:pPr>
              <a:lnSpc>
                <a:spcPct val="100000"/>
              </a:lnSpc>
              <a:spcAft>
                <a:spcPts val="0"/>
              </a:spcAft>
            </a:pPr>
            <a:r>
              <a:rPr sz="1200">
                <a:solidFill>
                  <a:srgbClr val="E8EEF2"/>
                </a:solidFill>
                <a:latin typeface="Consolas"/>
              </a:rPr>
              <a:t> shutdown</a:t>
            </a:r>
          </a:p>
          <a:p>
            <a:pPr>
              <a:lnSpc>
                <a:spcPct val="100000"/>
              </a:lnSpc>
              <a:spcAft>
                <a:spcPts val="0"/>
              </a:spcAft>
            </a:pPr>
            <a:r>
              <a:rPr sz="1200">
                <a:solidFill>
                  <a:srgbClr val="E8EEF2"/>
                </a:solidFill>
                <a:latin typeface="Consolas"/>
              </a:rPr>
              <a:t> channel-group 1 mode active</a:t>
            </a:r>
          </a:p>
          <a:p>
            <a:pPr>
              <a:lnSpc>
                <a:spcPct val="100000"/>
              </a:lnSpc>
              <a:spcAft>
                <a:spcPts val="0"/>
              </a:spcAft>
            </a:pPr>
            <a:r>
              <a:rPr sz="1200">
                <a:solidFill>
                  <a:srgbClr val="E8EEF2"/>
                </a:solidFill>
                <a:latin typeface="Consolas"/>
              </a:rPr>
              <a:t> no shutdown</a:t>
            </a:r>
          </a:p>
          <a:p>
            <a:pPr>
              <a:lnSpc>
                <a:spcPct val="100000"/>
              </a:lnSpc>
              <a:spcAft>
                <a:spcPts val="0"/>
              </a:spcAft>
            </a:pPr>
            <a:r>
              <a:rPr sz="1200">
                <a:solidFill>
                  <a:srgbClr val="E8EEF2"/>
                </a:solidFill>
                <a:latin typeface="Consolas"/>
              </a:rPr>
              <a:t>exit</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Now configure the logical interface. Settings applied here</a:t>
            </a:r>
          </a:p>
          <a:p>
            <a:pPr>
              <a:lnSpc>
                <a:spcPct val="100000"/>
              </a:lnSpc>
              <a:spcAft>
                <a:spcPts val="0"/>
              </a:spcAft>
            </a:pPr>
            <a:r>
              <a:rPr sz="1200" i="1">
                <a:solidFill>
                  <a:srgbClr val="6E8BA0"/>
                </a:solidFill>
                <a:latin typeface="Consolas"/>
              </a:rPr>
              <a:t>! propagate to every member, which is what keeps them matching.</a:t>
            </a:r>
          </a:p>
          <a:p>
            <a:pPr>
              <a:lnSpc>
                <a:spcPct val="100000"/>
              </a:lnSpc>
              <a:spcAft>
                <a:spcPts val="0"/>
              </a:spcAft>
            </a:pPr>
            <a:r>
              <a:rPr sz="1200">
                <a:solidFill>
                  <a:srgbClr val="E8EEF2"/>
                </a:solidFill>
                <a:latin typeface="Consolas"/>
              </a:rPr>
              <a:t>interface Port-channel1</a:t>
            </a:r>
          </a:p>
          <a:p>
            <a:pPr>
              <a:lnSpc>
                <a:spcPct val="100000"/>
              </a:lnSpc>
              <a:spcAft>
                <a:spcPts val="0"/>
              </a:spcAft>
            </a:pPr>
            <a:r>
              <a:rPr sz="1200">
                <a:solidFill>
                  <a:srgbClr val="E8EEF2"/>
                </a:solidFill>
                <a:latin typeface="Consolas"/>
              </a:rPr>
              <a:t> description Uplink bundle to SW2</a:t>
            </a:r>
          </a:p>
          <a:p>
            <a:pPr>
              <a:lnSpc>
                <a:spcPct val="100000"/>
              </a:lnSpc>
              <a:spcAft>
                <a:spcPts val="0"/>
              </a:spcAft>
            </a:pPr>
            <a:r>
              <a:rPr sz="1200">
                <a:solidFill>
                  <a:srgbClr val="E8EEF2"/>
                </a:solidFill>
                <a:latin typeface="Consolas"/>
              </a:rPr>
              <a:t> switchport trunk encapsulation dot1q</a:t>
            </a:r>
          </a:p>
          <a:p>
            <a:pPr>
              <a:lnSpc>
                <a:spcPct val="100000"/>
              </a:lnSpc>
              <a:spcAft>
                <a:spcPts val="0"/>
              </a:spcAft>
            </a:pPr>
            <a:r>
              <a:rPr sz="1200">
                <a:solidFill>
                  <a:srgbClr val="E8EEF2"/>
                </a:solidFill>
                <a:latin typeface="Consolas"/>
              </a:rPr>
              <a:t> switchport mode trunk</a:t>
            </a:r>
          </a:p>
          <a:p>
            <a:pPr>
              <a:lnSpc>
                <a:spcPct val="100000"/>
              </a:lnSpc>
              <a:spcAft>
                <a:spcPts val="0"/>
              </a:spcAft>
            </a:pPr>
            <a:r>
              <a:rPr sz="1200">
                <a:solidFill>
                  <a:srgbClr val="E8EEF2"/>
                </a:solidFill>
                <a:latin typeface="Consolas"/>
              </a:rPr>
              <a:t> switchport trunk native vlan 999</a:t>
            </a:r>
          </a:p>
          <a:p>
            <a:pPr>
              <a:lnSpc>
                <a:spcPct val="100000"/>
              </a:lnSpc>
              <a:spcAft>
                <a:spcPts val="0"/>
              </a:spcAft>
            </a:pPr>
            <a:r>
              <a:rPr sz="1200">
                <a:solidFill>
                  <a:srgbClr val="E8EEF2"/>
                </a:solidFill>
                <a:latin typeface="Consolas"/>
              </a:rPr>
              <a:t> switchport trunk allowed vlan 10,20,30</a:t>
            </a:r>
          </a:p>
          <a:p>
            <a:pPr>
              <a:lnSpc>
                <a:spcPct val="100000"/>
              </a:lnSpc>
              <a:spcAft>
                <a:spcPts val="0"/>
              </a:spcAft>
            </a:pPr>
            <a:r>
              <a:rPr sz="1200" i="1">
                <a:solidFill>
                  <a:srgbClr val="6E8BA0"/>
                </a:solidFill>
                <a:latin typeface="Consolas"/>
              </a:rPr>
              <a:t>!</a:t>
            </a:r>
          </a:p>
          <a:p>
            <a:pPr>
              <a:lnSpc>
                <a:spcPct val="100000"/>
              </a:lnSpc>
              <a:spcAft>
                <a:spcPts val="0"/>
              </a:spcAft>
            </a:pPr>
            <a:r>
              <a:rPr sz="1200" i="1">
                <a:solidFill>
                  <a:srgbClr val="6E8BA0"/>
                </a:solidFill>
                <a:latin typeface="Consolas"/>
              </a:rPr>
              <a:t>! Hash on both source and destination IP for a better spread than</a:t>
            </a:r>
          </a:p>
          <a:p>
            <a:pPr>
              <a:lnSpc>
                <a:spcPct val="100000"/>
              </a:lnSpc>
              <a:spcAft>
                <a:spcPts val="0"/>
              </a:spcAft>
            </a:pPr>
            <a:r>
              <a:rPr sz="1200" i="1">
                <a:solidFill>
                  <a:srgbClr val="6E8BA0"/>
                </a:solidFill>
                <a:latin typeface="Consolas"/>
              </a:rPr>
              <a:t>! the default source-MAC-only on many platforms.</a:t>
            </a:r>
          </a:p>
          <a:p>
            <a:pPr>
              <a:lnSpc>
                <a:spcPct val="100000"/>
              </a:lnSpc>
              <a:spcAft>
                <a:spcPts val="0"/>
              </a:spcAft>
            </a:pPr>
            <a:r>
              <a:rPr sz="1200">
                <a:solidFill>
                  <a:srgbClr val="E8EEF2"/>
                </a:solidFill>
                <a:latin typeface="Consolas"/>
              </a:rPr>
              <a:t>port-channel load-balance src-dst-ip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etherchannel summary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517904"/>
            <a:ext cx="10820095" cy="465328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1956816"/>
            <a:ext cx="10417759" cy="4159503"/>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Flags:  D - down        P - bundled in port-channel</a:t>
            </a:r>
          </a:p>
          <a:p>
            <a:pPr>
              <a:lnSpc>
                <a:spcPct val="100000"/>
              </a:lnSpc>
              <a:spcAft>
                <a:spcPts val="0"/>
              </a:spcAft>
            </a:pPr>
            <a:r>
              <a:rPr sz="1600">
                <a:solidFill>
                  <a:srgbClr val="E8EEF2"/>
                </a:solidFill>
                <a:latin typeface="Consolas"/>
              </a:rPr>
              <a:t>        I - stand-alone s - suspended</a:t>
            </a:r>
          </a:p>
          <a:p>
            <a:pPr>
              <a:lnSpc>
                <a:spcPct val="100000"/>
              </a:lnSpc>
              <a:spcAft>
                <a:spcPts val="0"/>
              </a:spcAft>
            </a:pPr>
            <a:r>
              <a:rPr sz="1600">
                <a:solidFill>
                  <a:srgbClr val="E8EEF2"/>
                </a:solidFill>
                <a:latin typeface="Consolas"/>
              </a:rPr>
              <a:t>        H - Hot-standby (LACP only)</a:t>
            </a:r>
          </a:p>
          <a:p>
            <a:pPr>
              <a:lnSpc>
                <a:spcPct val="100000"/>
              </a:lnSpc>
              <a:spcAft>
                <a:spcPts val="0"/>
              </a:spcAft>
            </a:pPr>
            <a:r>
              <a:rPr sz="1600">
                <a:solidFill>
                  <a:srgbClr val="E8EEF2"/>
                </a:solidFill>
                <a:latin typeface="Consolas"/>
              </a:rPr>
              <a:t>        R - Layer3      S - Layer2</a:t>
            </a:r>
          </a:p>
          <a:p>
            <a:pPr>
              <a:lnSpc>
                <a:spcPct val="100000"/>
              </a:lnSpc>
              <a:spcAft>
                <a:spcPts val="0"/>
              </a:spcAft>
            </a:pPr>
            <a:r>
              <a:rPr sz="1600">
                <a:solidFill>
                  <a:srgbClr val="E8EEF2"/>
                </a:solidFill>
                <a:latin typeface="Consolas"/>
              </a:rPr>
              <a:t>        U - in use      f - failed to allocate aggregator</a:t>
            </a:r>
          </a:p>
          <a:p>
            <a:pPr>
              <a:lnSpc>
                <a:spcPct val="100000"/>
              </a:lnSpc>
              <a:spcAft>
                <a:spcPts val="0"/>
              </a:spcAft>
            </a:pPr>
            <a:r>
              <a:rPr sz="1600">
                <a:solidFill>
                  <a:srgbClr val="E8EEF2"/>
                </a:solidFill>
                <a:latin typeface="Consolas"/>
              </a:rPr>
              <a:t>        M - not in use, minimum links not met</a:t>
            </a:r>
          </a:p>
          <a:p>
            <a:pPr>
              <a:lnSpc>
                <a:spcPct val="100000"/>
              </a:lnSpc>
              <a:spcAft>
                <a:spcPts val="0"/>
              </a:spcAft>
            </a:pPr>
            <a:r>
              <a:rPr sz="1600">
                <a:solidFill>
                  <a:srgbClr val="E8EEF2"/>
                </a:solidFill>
                <a:latin typeface="Consolas"/>
              </a:rPr>
              <a:t>        u - unsuitable for bundling</a:t>
            </a:r>
          </a:p>
          <a:p>
            <a:pPr>
              <a:lnSpc>
                <a:spcPct val="100000"/>
              </a:lnSpc>
              <a:spcAft>
                <a:spcPts val="0"/>
              </a:spcAft>
            </a:pPr>
            <a:r>
              <a:rPr sz="1600">
                <a:solidFill>
                  <a:srgbClr val="E8EEF2"/>
                </a:solidFill>
                <a:latin typeface="Consolas"/>
              </a:rPr>
              <a:t>        w - waiting to be aggregated</a:t>
            </a:r>
          </a:p>
          <a:p>
            <a:pPr>
              <a:lnSpc>
                <a:spcPct val="100000"/>
              </a:lnSpc>
              <a:spcAft>
                <a:spcPts val="0"/>
              </a:spcAft>
            </a:pPr>
            <a:r>
              <a:rPr sz="1600">
                <a:solidFill>
                  <a:srgbClr val="E8EEF2"/>
                </a:solidFill>
                <a:latin typeface="Consolas"/>
              </a:rPr>
              <a:t>        d - default port</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Number of channel-groups in use: 1</a:t>
            </a:r>
          </a:p>
          <a:p>
            <a:pPr>
              <a:lnSpc>
                <a:spcPct val="100000"/>
              </a:lnSpc>
              <a:spcAft>
                <a:spcPts val="0"/>
              </a:spcAft>
            </a:pPr>
            <a:r>
              <a:rPr sz="1600">
                <a:solidFill>
                  <a:srgbClr val="E8EEF2"/>
                </a:solidFill>
                <a:latin typeface="Consolas"/>
              </a:rPr>
              <a:t>Number of aggregators:           1</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Group  Port-channel  Protocol    Ports</a:t>
            </a:r>
          </a:p>
          <a:p>
            <a:pPr>
              <a:lnSpc>
                <a:spcPct val="100000"/>
              </a:lnSpc>
              <a:spcAft>
                <a:spcPts val="0"/>
              </a:spcAft>
            </a:pPr>
            <a:r>
              <a:rPr sz="1600">
                <a:solidFill>
                  <a:srgbClr val="E8EEF2"/>
                </a:solidFill>
                <a:latin typeface="Consolas"/>
              </a:rPr>
              <a:t>------+-------------+-----------+-----------------------------------------------</a:t>
            </a:r>
          </a:p>
          <a:p>
            <a:pPr>
              <a:lnSpc>
                <a:spcPct val="100000"/>
              </a:lnSpc>
              <a:spcAft>
                <a:spcPts val="0"/>
              </a:spcAft>
            </a:pPr>
            <a:r>
              <a:rPr sz="1600">
                <a:solidFill>
                  <a:srgbClr val="E8EEF2"/>
                </a:solidFill>
                <a:latin typeface="Consolas"/>
              </a:rPr>
              <a:t>1      Po1(SU)         LACP      Gi0/1(P)    Gi0/2(P)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routed bundle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Port-channel2</a:t>
            </a:r>
          </a:p>
          <a:p>
            <a:pPr>
              <a:lnSpc>
                <a:spcPct val="100000"/>
              </a:lnSpc>
              <a:spcAft>
                <a:spcPts val="0"/>
              </a:spcAft>
            </a:pPr>
            <a:r>
              <a:rPr sz="1600">
                <a:solidFill>
                  <a:srgbClr val="E8EEF2"/>
                </a:solidFill>
                <a:latin typeface="Consolas"/>
              </a:rPr>
              <a:t> description Routed bundle to Core2</a:t>
            </a:r>
          </a:p>
          <a:p>
            <a:pPr>
              <a:lnSpc>
                <a:spcPct val="100000"/>
              </a:lnSpc>
              <a:spcAft>
                <a:spcPts val="0"/>
              </a:spcAft>
            </a:pPr>
            <a:r>
              <a:rPr sz="1600" i="1">
                <a:solidFill>
                  <a:srgbClr val="6E8BA0"/>
                </a:solidFill>
                <a:latin typeface="Consolas"/>
              </a:rPr>
              <a:t> ! no switchport makes this a routed interface -- do it BEFORE</a:t>
            </a:r>
          </a:p>
          <a:p>
            <a:pPr>
              <a:lnSpc>
                <a:spcPct val="100000"/>
              </a:lnSpc>
              <a:spcAft>
                <a:spcPts val="0"/>
              </a:spcAft>
            </a:pPr>
            <a:r>
              <a:rPr sz="1600" i="1">
                <a:solidFill>
                  <a:srgbClr val="6E8BA0"/>
                </a:solidFill>
                <a:latin typeface="Consolas"/>
              </a:rPr>
              <a:t> ! adding an address, or the address command is rejected.</a:t>
            </a:r>
          </a:p>
          <a:p>
            <a:pPr>
              <a:lnSpc>
                <a:spcPct val="100000"/>
              </a:lnSpc>
              <a:spcAft>
                <a:spcPts val="0"/>
              </a:spcAft>
            </a:pPr>
            <a:r>
              <a:rPr sz="1600">
                <a:solidFill>
                  <a:srgbClr val="E8EEF2"/>
                </a:solidFill>
                <a:latin typeface="Consolas"/>
              </a:rPr>
              <a:t> no switchport</a:t>
            </a:r>
          </a:p>
          <a:p>
            <a:pPr>
              <a:lnSpc>
                <a:spcPct val="100000"/>
              </a:lnSpc>
              <a:spcAft>
                <a:spcPts val="0"/>
              </a:spcAft>
            </a:pPr>
            <a:r>
              <a:rPr sz="1600">
                <a:solidFill>
                  <a:srgbClr val="E8EEF2"/>
                </a:solidFill>
                <a:latin typeface="Consolas"/>
              </a:rPr>
              <a:t> ip address 10.255.0.1 255.255.255.252</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range GigabitEthernet0/23 - 24</a:t>
            </a:r>
          </a:p>
          <a:p>
            <a:pPr>
              <a:lnSpc>
                <a:spcPct val="100000"/>
              </a:lnSpc>
              <a:spcAft>
                <a:spcPts val="0"/>
              </a:spcAft>
            </a:pPr>
            <a:r>
              <a:rPr sz="1600">
                <a:solidFill>
                  <a:srgbClr val="E8EEF2"/>
                </a:solidFill>
                <a:latin typeface="Consolas"/>
              </a:rPr>
              <a:t> no switchport</a:t>
            </a:r>
          </a:p>
          <a:p>
            <a:pPr>
              <a:lnSpc>
                <a:spcPct val="100000"/>
              </a:lnSpc>
              <a:spcAft>
                <a:spcPts val="0"/>
              </a:spcAft>
            </a:pPr>
            <a:r>
              <a:rPr sz="1600">
                <a:solidFill>
                  <a:srgbClr val="E8EEF2"/>
                </a:solidFill>
                <a:latin typeface="Consolas"/>
              </a:rPr>
              <a:t> channel-group 2 mode active</a:t>
            </a:r>
          </a:p>
          <a:p>
            <a:pPr>
              <a:lnSpc>
                <a:spcPct val="100000"/>
              </a:lnSpc>
              <a:spcAft>
                <a:spcPts val="0"/>
              </a:spcAft>
            </a:pPr>
            <a:r>
              <a:rPr sz="16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A layer 3 EtherChannel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Passive–passive or auto–auto.</a:t>
            </a:r>
            <a:r>
              <a:rPr sz="2000" b="0" i="0">
                <a:solidFill>
                  <a:srgbClr val="1C252B"/>
                </a:solidFill>
                <a:latin typeface="Segoe UI"/>
              </a:rPr>
              <a:t> Neither end initiates and no bundle forms. The ports stay up as individual links, which spanning tree then blocks — so you get a working network and half the bandwidth you paid for.</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Mismatched allowed VLAN lists.</a:t>
            </a:r>
            <a:r>
              <a:rPr sz="2000" b="0" i="0">
                <a:solidFill>
                  <a:srgbClr val="1C252B"/>
                </a:solidFill>
                <a:latin typeface="Segoe UI"/>
              </a:rPr>
              <a:t> A favourite: the bundle forms, one VLAN is missing from one end, and only that VLAN breaks.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Configuring members individually.</a:t>
            </a:r>
            <a:r>
              <a:rPr sz="2000" b="0" i="0">
                <a:solidFill>
                  <a:srgbClr val="1C252B"/>
                </a:solidFill>
                <a:latin typeface="Segoe UI"/>
              </a:rPr>
              <a:t> Configure </a:t>
            </a:r>
            <a:r>
              <a:rPr sz="1900" b="0" i="0">
                <a:solidFill>
                  <a:srgbClr val="1A5276"/>
                </a:solidFill>
                <a:latin typeface="Consolas"/>
              </a:rPr>
              <a:t>interface Port-channel1</a:t>
            </a:r>
            <a:r>
              <a:rPr sz="2000" b="0" i="0">
                <a:solidFill>
                  <a:srgbClr val="1C252B"/>
                </a:solidFill>
                <a:latin typeface="Segoe UI"/>
              </a:rPr>
              <a:t>; let it inherit.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Adding </a:t>
            </a:r>
            <a:r>
              <a:rPr sz="1900" b="1" i="0">
                <a:solidFill>
                  <a:srgbClr val="1A5276"/>
                </a:solidFill>
                <a:latin typeface="Consolas"/>
              </a:rPr>
              <a:t>no switchport</a:t>
            </a:r>
            <a:r>
              <a:rPr sz="2000" b="1" i="0">
                <a:solidFill>
                  <a:srgbClr val="1C252B"/>
                </a:solidFill>
                <a:latin typeface="Segoe UI"/>
              </a:rPr>
              <a:t> after the IP address.</a:t>
            </a:r>
            <a:r>
              <a:rPr sz="2000" b="0" i="0">
                <a:solidFill>
                  <a:srgbClr val="1C252B"/>
                </a:solidFill>
                <a:latin typeface="Segoe UI"/>
              </a:rPr>
              <a:t> On a layer 3 bundle the order matters.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Expecting one flow to use the whole bundle.</a:t>
            </a:r>
            <a:r>
              <a:rPr sz="2000" b="0" i="0">
                <a:solidFill>
                  <a:srgbClr val="1C252B"/>
                </a:solidFill>
                <a:latin typeface="Segoe UI"/>
              </a:rPr>
              <a:t> It never will.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bundle formed with one member instead of four.</a:t>
            </a:r>
          </a:p>
        </p:txBody>
      </p:sp>
      <p:sp>
        <p:nvSpPr>
          <p:cNvPr id="6" name="bfbody"/>
          <p:cNvSpPr txBox="1"/>
          <p:nvPr/>
        </p:nvSpPr>
        <p:spPr>
          <a:xfrm>
            <a:off x="685800" y="3290062"/>
            <a:ext cx="10820095" cy="306501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new four-link bundle shows only </a:t>
            </a:r>
            <a:r>
              <a:rPr sz="1800" b="0" i="0">
                <a:solidFill>
                  <a:srgbClr val="1A5276"/>
                </a:solidFill>
                <a:latin typeface="Consolas"/>
              </a:rPr>
              <a:t>Gi0/1</a:t>
            </a:r>
            <a:r>
              <a:rPr sz="1900" b="0" i="0">
                <a:solidFill>
                  <a:srgbClr val="1C252B"/>
                </a:solidFill>
                <a:latin typeface="Segoe UI"/>
              </a:rPr>
              <a:t> bundled; the other three are suspended.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The bundle formed with one member instead of four.</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etherchannel summary | begin Group</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Group  Port-channel  Protocol    Ports</a:t>
            </a:r>
          </a:p>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1      Po1(SU)         LACP      Gi0/1(P)  Gi0/2(s)  Gi0/3(s)  Gi0/4(s)</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200" b="1" i="0">
                <a:solidFill>
                  <a:srgbClr val="1C252B"/>
                </a:solidFill>
                <a:latin typeface="Segoe UI"/>
              </a:rPr>
              <a:t>show interfaces GigabitEthernet0/2 switchport | include Access|Trunking|Mode</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Administrative Mode: static access</a:t>
            </a:r>
          </a:p>
          <a:p>
            <a:pPr>
              <a:lnSpc>
                <a:spcPct val="100000"/>
              </a:lnSpc>
              <a:spcAft>
                <a:spcPts val="0"/>
              </a:spcAft>
            </a:pPr>
            <a:r>
              <a:rPr sz="1500">
                <a:solidFill>
                  <a:srgbClr val="E8EEF2"/>
                </a:solidFill>
                <a:latin typeface="Consolas"/>
              </a:rPr>
              <a:t>Operational Mode: static access</a:t>
            </a:r>
          </a:p>
          <a:p>
            <a:pPr>
              <a:lnSpc>
                <a:spcPct val="100000"/>
              </a:lnSpc>
              <a:spcAft>
                <a:spcPts val="0"/>
              </a:spcAft>
            </a:pPr>
            <a:r>
              <a:rPr sz="1500">
                <a:solidFill>
                  <a:srgbClr val="E8EEF2"/>
                </a:solidFill>
                <a:latin typeface="Consolas"/>
              </a:rPr>
              <a:t>Access Mode VLAN: 1 (default)</a:t>
            </a:r>
          </a:p>
          <a:p>
            <a:pPr>
              <a:lnSpc>
                <a:spcPct val="100000"/>
              </a:lnSpc>
              <a:spcAft>
                <a:spcPts val="0"/>
              </a:spcAft>
            </a:pPr>
            <a:r>
              <a:rPr sz="1500">
                <a:solidFill>
                  <a:srgbClr val="E8EEF2"/>
                </a:solidFill>
                <a:latin typeface="Consolas"/>
              </a:rPr>
              <a:t>Trunking Native Mode VLAN: 1 (default)</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a:t>
            </a:r>
            <a:r>
              <a:rPr sz="1800" b="0" i="0">
                <a:solidFill>
                  <a:srgbClr val="1A5276"/>
                </a:solidFill>
                <a:latin typeface="Consolas"/>
              </a:rPr>
              <a:t>Gi0/1</a:t>
            </a:r>
            <a:r>
              <a:rPr sz="1900" b="0" i="0">
                <a:solidFill>
                  <a:srgbClr val="1C252B"/>
                </a:solidFill>
                <a:latin typeface="Segoe UI"/>
              </a:rPr>
              <a:t> was configured as a trunk before being added to the group, and the others were left as access ports in VLAN 1. Members must agree on switch mode, so the three that disagree with the first are suspended. The </a:t>
            </a:r>
            <a:r>
              <a:rPr sz="1800" b="0" i="0">
                <a:solidFill>
                  <a:srgbClr val="1A5276"/>
                </a:solidFill>
                <a:latin typeface="Consolas"/>
              </a:rPr>
              <a:t>(s)</a:t>
            </a:r>
            <a:r>
              <a:rPr sz="1900" b="0" i="0">
                <a:solidFill>
                  <a:srgbClr val="1C252B"/>
                </a:solidFill>
                <a:latin typeface="Segoe UI"/>
              </a:rPr>
              <a:t> flag is the whole diagnosis; the second command identifies which parameter differs.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Do not fix the members one by one — that invites the same fault again. Apply the trunk configuration to </a:t>
            </a:r>
            <a:r>
              <a:rPr sz="1800" b="0" i="0">
                <a:solidFill>
                  <a:srgbClr val="1A5276"/>
                </a:solidFill>
                <a:latin typeface="Consolas"/>
              </a:rPr>
              <a:t>interface Port-channel1</a:t>
            </a:r>
            <a:r>
              <a:rPr sz="1900" b="0" i="0">
                <a:solidFill>
                  <a:srgbClr val="1C252B"/>
                </a:solidFill>
                <a:latin typeface="Segoe UI"/>
              </a:rPr>
              <a:t> and let it propagate, then confirm all four show </a:t>
            </a:r>
            <a:r>
              <a:rPr sz="1800" b="0" i="0">
                <a:solidFill>
                  <a:srgbClr val="1A5276"/>
                </a:solidFill>
                <a:latin typeface="Consolas"/>
              </a:rPr>
              <a:t>(P)</a:t>
            </a:r>
            <a:r>
              <a:rPr sz="1900" b="0" i="0">
                <a:solidFill>
                  <a:srgbClr val="1C252B"/>
                </a:solidFill>
                <a:latin typeface="Segoe UI"/>
              </a:rPr>
              <a:t>. If a member still refuses, compare speed and duplex next.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Bundle four links and break them</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Topology.</a:t>
            </a:r>
            <a:r>
              <a:rPr sz="1900" b="0" i="0">
                <a:solidFill>
                  <a:srgbClr val="1C252B"/>
                </a:solidFill>
                <a:latin typeface="Segoe UI"/>
              </a:rPr>
              <a:t> Two switches joined by four Ethernet links; one PC on each.</a:t>
            </a:r>
          </a:p>
        </p:txBody>
      </p:sp>
      <p:sp>
        <p:nvSpPr>
          <p:cNvPr id="8" name="bullets"/>
          <p:cNvSpPr txBox="1"/>
          <p:nvPr/>
        </p:nvSpPr>
        <p:spPr>
          <a:xfrm>
            <a:off x="685800" y="2014473"/>
            <a:ext cx="10820095" cy="4368038"/>
          </a:xfrm>
          <a:prstGeom prst="rect">
            <a:avLst/>
          </a:prstGeom>
          <a:noFill/>
        </p:spPr>
        <p:txBody>
          <a:bodyPr wrap="square" lIns="0" rIns="0" tIns="0" bIns="0">
            <a:spAutoFit/>
          </a:bodyPr>
          <a:lstStyle/>
          <a:p>
            <a:pPr marL="366776" indent="-366776">
              <a:lnSpc>
                <a:spcPct val="102000"/>
              </a:lnSpc>
              <a:spcAft>
                <a:spcPts val="900"/>
              </a:spcAft>
            </a:pPr>
            <a:r>
              <a:rPr sz="1900" b="1">
                <a:solidFill>
                  <a:srgbClr val="117864"/>
                </a:solidFill>
                <a:latin typeface="Segoe UI"/>
              </a:rPr>
              <a:t>1.  </a:t>
            </a:r>
            <a:r>
              <a:rPr sz="1900" b="0" i="0">
                <a:solidFill>
                  <a:srgbClr val="1C252B"/>
                </a:solidFill>
                <a:latin typeface="Segoe UI"/>
              </a:rPr>
              <a:t>Cable all four links with no EtherChannel configured. Run </a:t>
            </a:r>
            <a:r>
              <a:rPr sz="1800" b="0" i="0">
                <a:solidFill>
                  <a:srgbClr val="1A5276"/>
                </a:solidFill>
                <a:latin typeface="Consolas"/>
              </a:rPr>
              <a:t>show spanning-tree</a:t>
            </a:r>
            <a:r>
              <a:rPr sz="1900" b="0" i="0">
                <a:solidFill>
                  <a:srgbClr val="1C252B"/>
                </a:solidFill>
                <a:latin typeface="Segoe UI"/>
              </a:rPr>
              <a:t> and record how many are forwarding and how many are blocking. Explain the result.</a:t>
            </a:r>
          </a:p>
          <a:p>
            <a:pPr marL="366776" indent="-366776">
              <a:lnSpc>
                <a:spcPct val="102000"/>
              </a:lnSpc>
              <a:spcAft>
                <a:spcPts val="900"/>
              </a:spcAft>
            </a:pPr>
            <a:r>
              <a:rPr sz="1900" b="1">
                <a:solidFill>
                  <a:srgbClr val="117864"/>
                </a:solidFill>
                <a:latin typeface="Segoe UI"/>
              </a:rPr>
              <a:t>2.  </a:t>
            </a:r>
            <a:r>
              <a:rPr sz="1900" b="0" i="0">
                <a:solidFill>
                  <a:srgbClr val="1C252B"/>
                </a:solidFill>
                <a:latin typeface="Segoe UI"/>
              </a:rPr>
              <a:t>Configure </a:t>
            </a:r>
            <a:r>
              <a:rPr sz="1800" b="0" i="0">
                <a:solidFill>
                  <a:srgbClr val="1A5276"/>
                </a:solidFill>
                <a:latin typeface="Consolas"/>
              </a:rPr>
              <a:t>Po1</a:t>
            </a:r>
            <a:r>
              <a:rPr sz="1900" b="0" i="0">
                <a:solidFill>
                  <a:srgbClr val="1C252B"/>
                </a:solidFill>
                <a:latin typeface="Segoe UI"/>
              </a:rPr>
              <a:t> with LACP </a:t>
            </a:r>
            <a:r>
              <a:rPr sz="1800" b="0" i="0">
                <a:solidFill>
                  <a:srgbClr val="1A5276"/>
                </a:solidFill>
                <a:latin typeface="Consolas"/>
              </a:rPr>
              <a:t>active</a:t>
            </a:r>
            <a:r>
              <a:rPr sz="1900" b="0" i="0">
                <a:solidFill>
                  <a:srgbClr val="1C252B"/>
                </a:solidFill>
                <a:latin typeface="Segoe UI"/>
              </a:rPr>
              <a:t> at both ends, trunked, native VLAN 999, allowed 10 and 20. Verify with </a:t>
            </a:r>
            <a:r>
              <a:rPr sz="1800" b="0" i="0">
                <a:solidFill>
                  <a:srgbClr val="1A5276"/>
                </a:solidFill>
                <a:latin typeface="Consolas"/>
              </a:rPr>
              <a:t>show etherchannel summary</a:t>
            </a:r>
            <a:r>
              <a:rPr sz="1900" b="0" i="0">
                <a:solidFill>
                  <a:srgbClr val="1C252B"/>
                </a:solidFill>
                <a:latin typeface="Segoe UI"/>
              </a:rPr>
              <a:t>.</a:t>
            </a:r>
          </a:p>
          <a:p>
            <a:pPr marL="366776" indent="-366776">
              <a:lnSpc>
                <a:spcPct val="102000"/>
              </a:lnSpc>
              <a:spcAft>
                <a:spcPts val="900"/>
              </a:spcAft>
            </a:pPr>
            <a:r>
              <a:rPr sz="1900" b="1">
                <a:solidFill>
                  <a:srgbClr val="117864"/>
                </a:solidFill>
                <a:latin typeface="Segoe UI"/>
              </a:rPr>
              <a:t>3.  </a:t>
            </a:r>
            <a:r>
              <a:rPr sz="1900" b="0" i="0">
                <a:solidFill>
                  <a:srgbClr val="1C252B"/>
                </a:solidFill>
                <a:latin typeface="Segoe UI"/>
              </a:rPr>
              <a:t>Re-run </a:t>
            </a:r>
            <a:r>
              <a:rPr sz="1800" b="0" i="0">
                <a:solidFill>
                  <a:srgbClr val="1A5276"/>
                </a:solidFill>
                <a:latin typeface="Consolas"/>
              </a:rPr>
              <a:t>show spanning-tree</a:t>
            </a:r>
            <a:r>
              <a:rPr sz="1900" b="0" i="0">
                <a:solidFill>
                  <a:srgbClr val="1C252B"/>
                </a:solidFill>
                <a:latin typeface="Segoe UI"/>
              </a:rPr>
              <a:t>. How many logical links does it now see?</a:t>
            </a:r>
          </a:p>
          <a:p>
            <a:pPr marL="366776" indent="-366776">
              <a:lnSpc>
                <a:spcPct val="102000"/>
              </a:lnSpc>
              <a:spcAft>
                <a:spcPts val="900"/>
              </a:spcAft>
            </a:pPr>
            <a:r>
              <a:rPr sz="1900" b="1">
                <a:solidFill>
                  <a:srgbClr val="117864"/>
                </a:solidFill>
                <a:latin typeface="Segoe UI"/>
              </a:rPr>
              <a:t>4.  </a:t>
            </a:r>
            <a:r>
              <a:rPr sz="1900" b="0" i="0">
                <a:solidFill>
                  <a:srgbClr val="1C252B"/>
                </a:solidFill>
                <a:latin typeface="Segoe UI"/>
              </a:rPr>
              <a:t>Shut one member. Confirm traffic continues and that spanning tree does not reconverge.</a:t>
            </a:r>
          </a:p>
          <a:p>
            <a:pPr marL="366776" indent="-366776">
              <a:lnSpc>
                <a:spcPct val="102000"/>
              </a:lnSpc>
              <a:spcAft>
                <a:spcPts val="900"/>
              </a:spcAft>
            </a:pPr>
            <a:r>
              <a:rPr sz="1900" b="1">
                <a:solidFill>
                  <a:srgbClr val="117864"/>
                </a:solidFill>
                <a:latin typeface="Segoe UI"/>
              </a:rPr>
              <a:t>5.  </a:t>
            </a:r>
            <a:r>
              <a:rPr sz="1900" b="0" i="0">
                <a:solidFill>
                  <a:srgbClr val="1C252B"/>
                </a:solidFill>
                <a:latin typeface="Segoe UI"/>
              </a:rPr>
              <a:t>Set one member’s access VLAN to 20 by configuring the physical port directly. Record the flag it earns and explain it.</a:t>
            </a:r>
          </a:p>
          <a:p>
            <a:pPr marL="366776" indent="-366776">
              <a:lnSpc>
                <a:spcPct val="102000"/>
              </a:lnSpc>
              <a:spcAft>
                <a:spcPts val="900"/>
              </a:spcAft>
            </a:pPr>
            <a:r>
              <a:rPr sz="1900" b="1">
                <a:solidFill>
                  <a:srgbClr val="117864"/>
                </a:solidFill>
                <a:latin typeface="Segoe UI"/>
              </a:rPr>
              <a:t>6.  </a:t>
            </a:r>
            <a:r>
              <a:rPr sz="1900" b="0" i="0">
                <a:solidFill>
                  <a:srgbClr val="1C252B"/>
                </a:solidFill>
                <a:latin typeface="Segoe UI"/>
              </a:rPr>
              <a:t>Change one end to </a:t>
            </a:r>
            <a:r>
              <a:rPr sz="1800" b="0" i="0">
                <a:solidFill>
                  <a:srgbClr val="1A5276"/>
                </a:solidFill>
                <a:latin typeface="Consolas"/>
              </a:rPr>
              <a:t>passive</a:t>
            </a:r>
            <a:r>
              <a:rPr sz="1900" b="0" i="0">
                <a:solidFill>
                  <a:srgbClr val="1C252B"/>
                </a:solidFill>
                <a:latin typeface="Segoe UI"/>
              </a:rPr>
              <a:t> while the other is also </a:t>
            </a:r>
            <a:r>
              <a:rPr sz="1800" b="0" i="0">
                <a:solidFill>
                  <a:srgbClr val="1A5276"/>
                </a:solidFill>
                <a:latin typeface="Consolas"/>
              </a:rPr>
              <a:t>passive</a:t>
            </a:r>
            <a:r>
              <a:rPr sz="1900" b="0" i="0">
                <a:solidFill>
                  <a:srgbClr val="1C252B"/>
                </a:solidFill>
                <a:latin typeface="Segoe UI"/>
              </a:rPr>
              <a:t>. Record what the bundle does.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Bundle four links and break them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1.  </a:t>
            </a:r>
            <a:r>
              <a:rPr sz="2000" b="1" i="0">
                <a:solidFill>
                  <a:srgbClr val="1C252B"/>
                </a:solidFill>
                <a:latin typeface="Segoe UI"/>
              </a:rPr>
              <a:t>Extension.</a:t>
            </a:r>
            <a:r>
              <a:rPr sz="2000" b="0" i="0">
                <a:solidFill>
                  <a:srgbClr val="1C252B"/>
                </a:solidFill>
                <a:latin typeface="Segoe UI"/>
              </a:rPr>
              <a:t> Build a layer 3 EtherChannel between two multilayer switches with a /30 and prove you can ping across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Two switches are configured </a:t>
            </a:r>
            <a:r>
              <a:rPr sz="2900" b="0" i="0">
                <a:solidFill>
                  <a:srgbClr val="FFFFFF"/>
                </a:solidFill>
                <a:latin typeface="Consolas"/>
              </a:rPr>
              <a:t>channel-group 1 mode passive</a:t>
            </a:r>
            <a:r>
              <a:rPr sz="3000" b="0" i="0">
                <a:solidFill>
                  <a:srgbClr val="FFFFFF"/>
                </a:solidFill>
                <a:latin typeface="Segoe UI"/>
              </a:rPr>
              <a:t> at both ends. What happens, and what does spanning tree do about 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Two switches are configured </a:t>
            </a:r>
            <a:r>
              <a:rPr sz="1900" b="1" i="0">
                <a:solidFill>
                  <a:srgbClr val="1A5276"/>
                </a:solidFill>
                <a:latin typeface="Consolas"/>
              </a:rPr>
              <a:t>channel-group 1 mode passive</a:t>
            </a:r>
            <a:r>
              <a:rPr sz="2000" b="1" i="0">
                <a:solidFill>
                  <a:srgbClr val="1A5276"/>
                </a:solidFill>
                <a:latin typeface="Segoe UI"/>
              </a:rPr>
              <a:t> at both ends. What happens, and what does spanning tree do about it?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No channel forms — both ends wait to be asked. The individual links stay up, so spanning tree sees parallel paths and blocks all but one. The result is a working but single-link connection, which is why the symptom is “it works, but it is not four gigabits”.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member port shows </a:t>
            </a:r>
            <a:r>
              <a:rPr sz="2900" b="0" i="0">
                <a:solidFill>
                  <a:srgbClr val="FFFFFF"/>
                </a:solidFill>
                <a:latin typeface="Consolas"/>
              </a:rPr>
              <a:t>(s)</a:t>
            </a:r>
            <a:r>
              <a:rPr sz="3000" b="0" i="0">
                <a:solidFill>
                  <a:srgbClr val="FFFFFF"/>
                </a:solidFill>
                <a:latin typeface="Segoe UI"/>
              </a:rPr>
              <a:t>. Name three parameters you would compare and the command that shows them.</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member port shows </a:t>
            </a:r>
            <a:r>
              <a:rPr sz="1900" b="1" i="0">
                <a:solidFill>
                  <a:srgbClr val="1A5276"/>
                </a:solidFill>
                <a:latin typeface="Consolas"/>
              </a:rPr>
              <a:t>(s)</a:t>
            </a:r>
            <a:r>
              <a:rPr sz="2000" b="1" i="0">
                <a:solidFill>
                  <a:srgbClr val="1A5276"/>
                </a:solidFill>
                <a:latin typeface="Segoe UI"/>
              </a:rPr>
              <a:t>. Name three parameters you would compare and the command that shows them.</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(s)</a:t>
            </a:r>
            <a:r>
              <a:rPr sz="1900" b="0" i="0">
                <a:solidFill>
                  <a:srgbClr val="1C252B"/>
                </a:solidFill>
                <a:latin typeface="Segoe UI"/>
              </a:rPr>
              <a:t> is suspended: a parameter mismatch. Compare speed, duplex, and the allowed VLAN list and native VLAN on each member. </a:t>
            </a:r>
            <a:r>
              <a:rPr sz="1800" b="0" i="0">
                <a:solidFill>
                  <a:srgbClr val="1A5276"/>
                </a:solidFill>
                <a:latin typeface="Consolas"/>
              </a:rPr>
              <a:t>show interfaces &lt;int&gt; switchport</a:t>
            </a:r>
            <a:r>
              <a:rPr sz="1900" b="0" i="0">
                <a:solidFill>
                  <a:srgbClr val="1C252B"/>
                </a:solidFill>
                <a:latin typeface="Segoe UI"/>
              </a:rPr>
              <a:t> and </a:t>
            </a:r>
            <a:r>
              <a:rPr sz="1800" b="0" i="0">
                <a:solidFill>
                  <a:srgbClr val="1A5276"/>
                </a:solidFill>
                <a:latin typeface="Consolas"/>
              </a:rPr>
              <a:t>show interfaces status</a:t>
            </a:r>
            <a:r>
              <a:rPr sz="1900" b="0" i="0">
                <a:solidFill>
                  <a:srgbClr val="1C252B"/>
                </a:solidFill>
                <a:latin typeface="Segoe UI"/>
              </a:rPr>
              <a:t> show them.</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adding a second member to a bundle not double the speed of a single file copy?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adding a second member to a bundle not double the speed of a single file copy?</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load balancing is per-</a:t>
            </a:r>
            <a:r>
              <a:rPr sz="1900" b="0" i="1">
                <a:solidFill>
                  <a:srgbClr val="1C252B"/>
                </a:solidFill>
                <a:latin typeface="Segoe UI"/>
              </a:rPr>
              <a:t>flow</a:t>
            </a:r>
            <a:r>
              <a:rPr sz="1900" b="0" i="0">
                <a:solidFill>
                  <a:srgbClr val="1C252B"/>
                </a:solidFill>
                <a:latin typeface="Segoe UI"/>
              </a:rPr>
              <a:t>, not per-packet. A hash of addresses and ports selects one member for a conversation, and one file copy is one conversation. Bundling raises aggregate capacity across many flows, not the speed of any single one.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11. EtherChannel and LACP</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2.1</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An EtherChannel makes several links look like one, so spanning tree blocks none of them.</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LACP </a:t>
            </a:r>
            <a:r>
              <a:rPr sz="1900" b="0" i="0">
                <a:solidFill>
                  <a:srgbClr val="1A5276"/>
                </a:solidFill>
                <a:latin typeface="Consolas"/>
              </a:rPr>
              <a:t>active</a:t>
            </a:r>
            <a:r>
              <a:rPr sz="2000" b="0" i="0">
                <a:solidFill>
                  <a:srgbClr val="1C252B"/>
                </a:solidFill>
                <a:latin typeface="Segoe UI"/>
              </a:rPr>
              <a:t> at both ends is the sensible default. Passive–passive and auto–auto form nothing; </a:t>
            </a:r>
            <a:r>
              <a:rPr sz="1900" b="0" i="0">
                <a:solidFill>
                  <a:srgbClr val="1A5276"/>
                </a:solidFill>
                <a:latin typeface="Consolas"/>
              </a:rPr>
              <a:t>on</a:t>
            </a:r>
            <a:r>
              <a:rPr sz="2000" b="0" i="0">
                <a:solidFill>
                  <a:srgbClr val="1C252B"/>
                </a:solidFill>
                <a:latin typeface="Segoe UI"/>
              </a:rPr>
              <a:t> mixed with a negotiating mode builds a loop.</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Members must match on speed, duplex, switch mode, native VLAN and allowed list. Configure the port channel interface and let it inherit.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Read </a:t>
            </a:r>
            <a:r>
              <a:rPr sz="1900" b="0" i="0">
                <a:solidFill>
                  <a:srgbClr val="1A5276"/>
                </a:solidFill>
                <a:latin typeface="Consolas"/>
              </a:rPr>
              <a:t>show etherchannel summary</a:t>
            </a:r>
            <a:r>
              <a:rPr sz="2000" b="0" i="0">
                <a:solidFill>
                  <a:srgbClr val="1C252B"/>
                </a:solidFill>
                <a:latin typeface="Segoe UI"/>
              </a:rPr>
              <a:t> by its flags: </a:t>
            </a:r>
            <a:r>
              <a:rPr sz="1900" b="0" i="0">
                <a:solidFill>
                  <a:srgbClr val="1A5276"/>
                </a:solidFill>
                <a:latin typeface="Consolas"/>
              </a:rPr>
              <a:t>(P)</a:t>
            </a:r>
            <a:r>
              <a:rPr sz="2000" b="0" i="0">
                <a:solidFill>
                  <a:srgbClr val="1C252B"/>
                </a:solidFill>
                <a:latin typeface="Segoe UI"/>
              </a:rPr>
              <a:t> bundled, </a:t>
            </a:r>
            <a:r>
              <a:rPr sz="1900" b="0" i="0">
                <a:solidFill>
                  <a:srgbClr val="1A5276"/>
                </a:solidFill>
                <a:latin typeface="Consolas"/>
              </a:rPr>
              <a:t>(s)</a:t>
            </a:r>
            <a:r>
              <a:rPr sz="2000" b="0" i="0">
                <a:solidFill>
                  <a:srgbClr val="1C252B"/>
                </a:solidFill>
                <a:latin typeface="Segoe UI"/>
              </a:rPr>
              <a:t> suspended for a mismatch, </a:t>
            </a:r>
            <a:r>
              <a:rPr sz="1900" b="0" i="0">
                <a:solidFill>
                  <a:srgbClr val="1A5276"/>
                </a:solidFill>
                <a:latin typeface="Consolas"/>
              </a:rPr>
              <a:t>(I)</a:t>
            </a:r>
            <a:r>
              <a:rPr sz="2000" b="0" i="0">
                <a:solidFill>
                  <a:srgbClr val="1C252B"/>
                </a:solidFill>
                <a:latin typeface="Segoe UI"/>
              </a:rPr>
              <a:t> stand-alone, </a:t>
            </a:r>
            <a:r>
              <a:rPr sz="1900" b="0" i="0">
                <a:solidFill>
                  <a:srgbClr val="1A5276"/>
                </a:solidFill>
                <a:latin typeface="Consolas"/>
              </a:rPr>
              <a:t>(D)</a:t>
            </a:r>
            <a:r>
              <a:rPr sz="2000" b="0" i="0">
                <a:solidFill>
                  <a:srgbClr val="1C252B"/>
                </a:solidFill>
                <a:latin typeface="Segoe UI"/>
              </a:rPr>
              <a:t> down.</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Load balancing is per conversation. One flow uses one member.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An EtherChannel makes several links look like one, so spanning tree blocks none of them.</a:t>
            </a:r>
          </a:p>
          <a:p>
            <a:pPr marL="217169" indent="-217169">
              <a:spcAft>
                <a:spcPts val="900"/>
              </a:spcAft>
            </a:pPr>
            <a:r>
              <a:rPr sz="1900">
                <a:solidFill>
                  <a:srgbClr val="C8D6E5"/>
                </a:solidFill>
              </a:rPr>
              <a:t>•  </a:t>
            </a:r>
            <a:r>
              <a:rPr sz="1900" b="0" i="0">
                <a:solidFill>
                  <a:srgbClr val="FFFFFF"/>
                </a:solidFill>
                <a:latin typeface="Segoe UI"/>
              </a:rPr>
              <a:t>LACP </a:t>
            </a:r>
            <a:r>
              <a:rPr sz="1800" b="0" i="0">
                <a:solidFill>
                  <a:srgbClr val="FFFFFF"/>
                </a:solidFill>
                <a:latin typeface="Consolas"/>
              </a:rPr>
              <a:t>active</a:t>
            </a:r>
            <a:r>
              <a:rPr sz="1900" b="0" i="0">
                <a:solidFill>
                  <a:srgbClr val="FFFFFF"/>
                </a:solidFill>
                <a:latin typeface="Segoe UI"/>
              </a:rPr>
              <a:t> at both ends is the sensible default. Passive–passive and auto–auto form nothing; </a:t>
            </a:r>
            <a:r>
              <a:rPr sz="1800" b="0" i="0">
                <a:solidFill>
                  <a:srgbClr val="FFFFFF"/>
                </a:solidFill>
                <a:latin typeface="Consolas"/>
              </a:rPr>
              <a:t>on</a:t>
            </a:r>
            <a:r>
              <a:rPr sz="1900" b="0" i="0">
                <a:solidFill>
                  <a:srgbClr val="FFFFFF"/>
                </a:solidFill>
                <a:latin typeface="Segoe UI"/>
              </a:rPr>
              <a:t> mixed with a negotiating mode builds a loop.</a:t>
            </a:r>
          </a:p>
          <a:p>
            <a:pPr marL="217169" indent="-217169">
              <a:spcAft>
                <a:spcPts val="900"/>
              </a:spcAft>
            </a:pPr>
            <a:r>
              <a:rPr sz="1900">
                <a:solidFill>
                  <a:srgbClr val="C8D6E5"/>
                </a:solidFill>
              </a:rPr>
              <a:t>•  </a:t>
            </a:r>
            <a:r>
              <a:rPr sz="1900" b="0" i="0">
                <a:solidFill>
                  <a:srgbClr val="FFFFFF"/>
                </a:solidFill>
                <a:latin typeface="Segoe UI"/>
              </a:rPr>
              <a:t>Members must match on speed, duplex, switch mode, native VLAN and allowed list. Configure the port channel interface and let it inherit.</a:t>
            </a:r>
          </a:p>
          <a:p>
            <a:pPr marL="217169" indent="-217169">
              <a:spcAft>
                <a:spcPts val="900"/>
              </a:spcAft>
            </a:pPr>
            <a:r>
              <a:rPr sz="1900">
                <a:solidFill>
                  <a:srgbClr val="C8D6E5"/>
                </a:solidFill>
              </a:rPr>
              <a:t>•  </a:t>
            </a:r>
            <a:r>
              <a:rPr sz="1900" b="0" i="0">
                <a:solidFill>
                  <a:srgbClr val="FFFFFF"/>
                </a:solidFill>
                <a:latin typeface="Segoe UI"/>
              </a:rPr>
              <a:t>Read </a:t>
            </a:r>
            <a:r>
              <a:rPr sz="1800" b="0" i="0">
                <a:solidFill>
                  <a:srgbClr val="FFFFFF"/>
                </a:solidFill>
                <a:latin typeface="Consolas"/>
              </a:rPr>
              <a:t>show etherchannel summary</a:t>
            </a:r>
            <a:r>
              <a:rPr sz="1900" b="0" i="0">
                <a:solidFill>
                  <a:srgbClr val="FFFFFF"/>
                </a:solidFill>
                <a:latin typeface="Segoe UI"/>
              </a:rPr>
              <a:t> by its flags: </a:t>
            </a:r>
            <a:r>
              <a:rPr sz="1800" b="0" i="0">
                <a:solidFill>
                  <a:srgbClr val="FFFFFF"/>
                </a:solidFill>
                <a:latin typeface="Consolas"/>
              </a:rPr>
              <a:t>(P)</a:t>
            </a:r>
            <a:r>
              <a:rPr sz="1900" b="0" i="0">
                <a:solidFill>
                  <a:srgbClr val="FFFFFF"/>
                </a:solidFill>
                <a:latin typeface="Segoe UI"/>
              </a:rPr>
              <a:t> bundled, </a:t>
            </a:r>
            <a:r>
              <a:rPr sz="1800" b="0" i="0">
                <a:solidFill>
                  <a:srgbClr val="FFFFFF"/>
                </a:solidFill>
                <a:latin typeface="Consolas"/>
              </a:rPr>
              <a:t>(s)</a:t>
            </a:r>
            <a:r>
              <a:rPr sz="1900" b="0" i="0">
                <a:solidFill>
                  <a:srgbClr val="FFFFFF"/>
                </a:solidFill>
                <a:latin typeface="Segoe UI"/>
              </a:rPr>
              <a:t> suspended for a mismatch, </a:t>
            </a:r>
            <a:r>
              <a:rPr sz="1800" b="0" i="0">
                <a:solidFill>
                  <a:srgbClr val="FFFFFF"/>
                </a:solidFill>
                <a:latin typeface="Consolas"/>
              </a:rPr>
              <a:t>(I)</a:t>
            </a:r>
            <a:r>
              <a:rPr sz="1900" b="0" i="0">
                <a:solidFill>
                  <a:srgbClr val="FFFFFF"/>
                </a:solidFill>
                <a:latin typeface="Segoe UI"/>
              </a:rPr>
              <a:t> stand-alone, </a:t>
            </a:r>
            <a:r>
              <a:rPr sz="1800" b="0" i="0">
                <a:solidFill>
                  <a:srgbClr val="FFFFFF"/>
                </a:solidFill>
                <a:latin typeface="Consolas"/>
              </a:rPr>
              <a:t>(D)</a:t>
            </a:r>
            <a:r>
              <a:rPr sz="1900" b="0" i="0">
                <a:solidFill>
                  <a:srgbClr val="FFFFFF"/>
                </a:solidFill>
                <a:latin typeface="Segoe UI"/>
              </a:rPr>
              <a:t> down.</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12 — Rapid PVST+ and the Protection Features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