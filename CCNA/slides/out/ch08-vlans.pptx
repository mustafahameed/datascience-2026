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8: VLANs and Access Ports. Blueprint topics: 2.2.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VLANs and Access Ports 2.2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 - they are defined as they arrive. This slide is for the students'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view by VLAN. Note that VLAN 30 exists but has no ports — it was created and never used, which is a common and harmless state, and also a common symptom of a half-finished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view by port, and it is the one to trust when something is odd. Administrative mode is what you configured; operational mode is what the port has actually become. When those two differ, you have found your 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view by evidence: which devices are actually present in the VLAN. If a port is in VLAN 10 and no MAC address ever appears against it, nothing is plugged in or the device is silent — and that distinction is the start of most access-layer troubleshooting.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here. Take two or three answers before advancing. The point is the prediction, not the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it aloud. Ask what single field decides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it aloud. Ask what single field decides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elimination matters as much as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7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gfoot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06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ourse"/>
          <p:cNvSpPr txBox="1"/>
          <p:nvPr/>
        </p:nvSpPr>
        <p:spPr>
          <a:xfrm>
            <a:off x="685800" y="1170432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C8D6E5"/>
                </a:solidFill>
                <a:latin typeface="Segoe UI"/>
              </a:rPr>
              <a:t>CCNA 200-301 V2.0</a:t>
            </a:r>
          </a:p>
        </p:txBody>
      </p:sp>
      <p:sp>
        <p:nvSpPr>
          <p:cNvPr id="5" name="chnum"/>
          <p:cNvSpPr txBox="1"/>
          <p:nvPr/>
        </p:nvSpPr>
        <p:spPr>
          <a:xfrm>
            <a:off x="685800" y="1572768"/>
            <a:ext cx="2011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76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6" name="chtitle"/>
          <p:cNvSpPr txBox="1"/>
          <p:nvPr/>
        </p:nvSpPr>
        <p:spPr>
          <a:xfrm>
            <a:off x="2423160" y="1700784"/>
            <a:ext cx="90827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VLANs and Access Ports</a:t>
            </a:r>
          </a:p>
        </p:txBody>
      </p:sp>
      <p:sp>
        <p:nvSpPr>
          <p:cNvPr id="7" name="part"/>
          <p:cNvSpPr txBox="1"/>
          <p:nvPr/>
        </p:nvSpPr>
        <p:spPr>
          <a:xfrm>
            <a:off x="2441448" y="3017520"/>
            <a:ext cx="90827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8D6E5"/>
                </a:solidFill>
                <a:latin typeface="Segoe UI"/>
              </a:rPr>
              <a:t>Part II — Switching and Network Access</a:t>
            </a:r>
          </a:p>
        </p:txBody>
      </p:sp>
      <p:sp>
        <p:nvSpPr>
          <p:cNvPr id="8" name="tlabel"/>
          <p:cNvSpPr txBox="1"/>
          <p:nvPr/>
        </p:nvSpPr>
        <p:spPr>
          <a:xfrm>
            <a:off x="2441448" y="340156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8C9DA"/>
                </a:solidFill>
                <a:latin typeface="Segoe UI"/>
              </a:rPr>
              <a:t>EXAM TOPICS</a:t>
            </a:r>
          </a:p>
        </p:txBody>
      </p:sp>
      <p:sp>
        <p:nvSpPr>
          <p:cNvPr id="9" name="chip-2.2"/>
          <p:cNvSpPr/>
          <p:nvPr/>
        </p:nvSpPr>
        <p:spPr>
          <a:xfrm>
            <a:off x="2441448" y="3657600"/>
            <a:ext cx="566928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chiptx-2.2"/>
          <p:cNvSpPr txBox="1"/>
          <p:nvPr/>
        </p:nvSpPr>
        <p:spPr>
          <a:xfrm>
            <a:off x="2441448" y="3689604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17864"/>
                </a:solidFill>
                <a:latin typeface="Segoe UI"/>
              </a:rPr>
              <a:t>2.2</a:t>
            </a:r>
          </a:p>
        </p:txBody>
      </p:sp>
      <p:sp>
        <p:nvSpPr>
          <p:cNvPr id="11" name="authlab"/>
          <p:cNvSpPr txBox="1"/>
          <p:nvPr/>
        </p:nvSpPr>
        <p:spPr>
          <a:xfrm>
            <a:off x="685800" y="5138928"/>
            <a:ext cx="64920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8C9DA"/>
                </a:solidFill>
                <a:latin typeface="Segoe UI"/>
              </a:rPr>
              <a:t>LECTURER</a:t>
            </a:r>
          </a:p>
        </p:txBody>
      </p:sp>
      <p:sp>
        <p:nvSpPr>
          <p:cNvPr id="12" name="author"/>
          <p:cNvSpPr txBox="1"/>
          <p:nvPr/>
        </p:nvSpPr>
        <p:spPr>
          <a:xfrm>
            <a:off x="685800" y="5394960"/>
            <a:ext cx="649205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Dr. Mustafa Hameed</a:t>
            </a:r>
          </a:p>
        </p:txBody>
      </p:sp>
      <p:sp>
        <p:nvSpPr>
          <p:cNvPr id="13" name="lockup1"/>
          <p:cNvSpPr txBox="1"/>
          <p:nvPr/>
        </p:nvSpPr>
        <p:spPr>
          <a:xfrm>
            <a:off x="7939735" y="517550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4" name="lockup2"/>
          <p:cNvSpPr txBox="1"/>
          <p:nvPr/>
        </p:nvSpPr>
        <p:spPr>
          <a:xfrm>
            <a:off x="7939735" y="5413248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C8D6E5"/>
                </a:solidFill>
                <a:latin typeface="Segoe UI"/>
              </a:rPr>
              <a:t>Department of Information Technology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LEARNING OUTCOMES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you will be able to do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299135"/>
            <a:ext cx="10820095" cy="4083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Explain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what a VLAN changes about a switch, in terms of the learning-and-flooding algorithm from Chapter 3.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Create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VLANs and assign access ports to them.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Verify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VLAN membership from three different angles, and know which one to trust when they disagree.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Diagnose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classic VLAN faults: a port in the wrong VLAN, a VLAN that does not exist, and a VLAN that is shut down.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ASSUMED KNOWLEDGE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Before we start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1337055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Chapter 3 for the MAC table and flooding; Chapter 7 for moving around the command line.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KEY TERMS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Vocabulary for this chapter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term-VLAN"/>
          <p:cNvSpPr/>
          <p:nvPr/>
        </p:nvSpPr>
        <p:spPr>
          <a:xfrm>
            <a:off x="685800" y="1609344"/>
            <a:ext cx="833120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b-VLAN"/>
          <p:cNvSpPr/>
          <p:nvPr/>
        </p:nvSpPr>
        <p:spPr>
          <a:xfrm>
            <a:off x="685800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t-VLAN"/>
          <p:cNvSpPr txBox="1"/>
          <p:nvPr/>
        </p:nvSpPr>
        <p:spPr>
          <a:xfrm>
            <a:off x="850392" y="1700784"/>
            <a:ext cx="50393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VLAN</a:t>
            </a:r>
          </a:p>
        </p:txBody>
      </p:sp>
      <p:sp>
        <p:nvSpPr>
          <p:cNvPr id="10" name="term-broadcast domain"/>
          <p:cNvSpPr/>
          <p:nvPr/>
        </p:nvSpPr>
        <p:spPr>
          <a:xfrm>
            <a:off x="1646936" y="1609344"/>
            <a:ext cx="1891791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b-broadcast domain"/>
          <p:cNvSpPr/>
          <p:nvPr/>
        </p:nvSpPr>
        <p:spPr>
          <a:xfrm>
            <a:off x="1646936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t-broadcast domain"/>
          <p:cNvSpPr txBox="1"/>
          <p:nvPr/>
        </p:nvSpPr>
        <p:spPr>
          <a:xfrm>
            <a:off x="1811528" y="1700784"/>
            <a:ext cx="1562607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broadcast domain</a:t>
            </a:r>
          </a:p>
        </p:txBody>
      </p:sp>
      <p:sp>
        <p:nvSpPr>
          <p:cNvPr id="13" name="term-access port"/>
          <p:cNvSpPr/>
          <p:nvPr/>
        </p:nvSpPr>
        <p:spPr>
          <a:xfrm>
            <a:off x="3666744" y="1609344"/>
            <a:ext cx="1341119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b-access port"/>
          <p:cNvSpPr/>
          <p:nvPr/>
        </p:nvSpPr>
        <p:spPr>
          <a:xfrm>
            <a:off x="3666744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t-access port"/>
          <p:cNvSpPr txBox="1"/>
          <p:nvPr/>
        </p:nvSpPr>
        <p:spPr>
          <a:xfrm>
            <a:off x="3831335" y="1700784"/>
            <a:ext cx="101193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access port</a:t>
            </a:r>
          </a:p>
        </p:txBody>
      </p:sp>
      <p:sp>
        <p:nvSpPr>
          <p:cNvPr id="16" name="term-VLAN database"/>
          <p:cNvSpPr/>
          <p:nvPr/>
        </p:nvSpPr>
        <p:spPr>
          <a:xfrm>
            <a:off x="5135880" y="1609344"/>
            <a:ext cx="168046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b-VLAN database"/>
          <p:cNvSpPr/>
          <p:nvPr/>
        </p:nvSpPr>
        <p:spPr>
          <a:xfrm>
            <a:off x="5135880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t-VLAN database"/>
          <p:cNvSpPr txBox="1"/>
          <p:nvPr/>
        </p:nvSpPr>
        <p:spPr>
          <a:xfrm>
            <a:off x="5300471" y="1700784"/>
            <a:ext cx="135127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VLAN database</a:t>
            </a:r>
          </a:p>
        </p:txBody>
      </p:sp>
      <p:sp>
        <p:nvSpPr>
          <p:cNvPr id="19" name="term-default VLAN"/>
          <p:cNvSpPr/>
          <p:nvPr/>
        </p:nvSpPr>
        <p:spPr>
          <a:xfrm>
            <a:off x="6944359" y="1609344"/>
            <a:ext cx="149148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b-default VLAN"/>
          <p:cNvSpPr/>
          <p:nvPr/>
        </p:nvSpPr>
        <p:spPr>
          <a:xfrm>
            <a:off x="6944359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t-default VLAN"/>
          <p:cNvSpPr txBox="1"/>
          <p:nvPr/>
        </p:nvSpPr>
        <p:spPr>
          <a:xfrm>
            <a:off x="7108951" y="1700784"/>
            <a:ext cx="116230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default VLAN</a:t>
            </a:r>
          </a:p>
        </p:txBody>
      </p:sp>
      <p:sp>
        <p:nvSpPr>
          <p:cNvPr id="22" name="term-native VLAN"/>
          <p:cNvSpPr/>
          <p:nvPr/>
        </p:nvSpPr>
        <p:spPr>
          <a:xfrm>
            <a:off x="8563863" y="1609344"/>
            <a:ext cx="1430527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b-native VLAN"/>
          <p:cNvSpPr/>
          <p:nvPr/>
        </p:nvSpPr>
        <p:spPr>
          <a:xfrm>
            <a:off x="8563863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t-native VLAN"/>
          <p:cNvSpPr txBox="1"/>
          <p:nvPr/>
        </p:nvSpPr>
        <p:spPr>
          <a:xfrm>
            <a:off x="8728455" y="1700784"/>
            <a:ext cx="11013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native VLAN</a:t>
            </a:r>
          </a:p>
        </p:txBody>
      </p:sp>
      <p:sp>
        <p:nvSpPr>
          <p:cNvPr id="25" name="term-management VLAN"/>
          <p:cNvSpPr/>
          <p:nvPr/>
        </p:nvSpPr>
        <p:spPr>
          <a:xfrm>
            <a:off x="685800" y="2212848"/>
            <a:ext cx="2038095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b-management VLAN"/>
          <p:cNvSpPr/>
          <p:nvPr/>
        </p:nvSpPr>
        <p:spPr>
          <a:xfrm>
            <a:off x="685800" y="2212848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t-management VLAN"/>
          <p:cNvSpPr txBox="1"/>
          <p:nvPr/>
        </p:nvSpPr>
        <p:spPr>
          <a:xfrm>
            <a:off x="850392" y="2304288"/>
            <a:ext cx="170891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management VLAN</a:t>
            </a:r>
          </a:p>
        </p:txBody>
      </p:sp>
      <p:sp>
        <p:nvSpPr>
          <p:cNvPr id="28" name="term-SVI"/>
          <p:cNvSpPr/>
          <p:nvPr/>
        </p:nvSpPr>
        <p:spPr>
          <a:xfrm>
            <a:off x="2851912" y="2212848"/>
            <a:ext cx="642112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b-SVI"/>
          <p:cNvSpPr/>
          <p:nvPr/>
        </p:nvSpPr>
        <p:spPr>
          <a:xfrm>
            <a:off x="2851912" y="2212848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t-SVI"/>
          <p:cNvSpPr txBox="1"/>
          <p:nvPr/>
        </p:nvSpPr>
        <p:spPr>
          <a:xfrm>
            <a:off x="3016504" y="2304288"/>
            <a:ext cx="312928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SVI</a:t>
            </a:r>
          </a:p>
        </p:txBody>
      </p:sp>
      <p:sp>
        <p:nvSpPr>
          <p:cNvPr id="31" name="term-VLAN 1"/>
          <p:cNvSpPr/>
          <p:nvPr/>
        </p:nvSpPr>
        <p:spPr>
          <a:xfrm>
            <a:off x="3622040" y="2212848"/>
            <a:ext cx="102006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b-VLAN 1"/>
          <p:cNvSpPr/>
          <p:nvPr/>
        </p:nvSpPr>
        <p:spPr>
          <a:xfrm>
            <a:off x="3622040" y="2212848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t-VLAN 1"/>
          <p:cNvSpPr txBox="1"/>
          <p:nvPr/>
        </p:nvSpPr>
        <p:spPr>
          <a:xfrm>
            <a:off x="3786632" y="2304288"/>
            <a:ext cx="69087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VLAN 1</a:t>
            </a:r>
          </a:p>
        </p:txBody>
      </p:sp>
      <p:sp>
        <p:nvSpPr>
          <p:cNvPr id="34" name="term-shutdown VLAN"/>
          <p:cNvSpPr/>
          <p:nvPr/>
        </p:nvSpPr>
        <p:spPr>
          <a:xfrm>
            <a:off x="4770120" y="2212848"/>
            <a:ext cx="175564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b-shutdown VLAN"/>
          <p:cNvSpPr/>
          <p:nvPr/>
        </p:nvSpPr>
        <p:spPr>
          <a:xfrm>
            <a:off x="4770120" y="2212848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t-shutdown VLAN"/>
          <p:cNvSpPr txBox="1"/>
          <p:nvPr/>
        </p:nvSpPr>
        <p:spPr>
          <a:xfrm>
            <a:off x="4934712" y="2304288"/>
            <a:ext cx="142646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shutdown VLAN</a:t>
            </a:r>
          </a:p>
        </p:txBody>
      </p:sp>
      <p:sp>
        <p:nvSpPr>
          <p:cNvPr id="37" name="termnote"/>
          <p:cNvSpPr txBox="1"/>
          <p:nvPr/>
        </p:nvSpPr>
        <p:spPr>
          <a:xfrm>
            <a:off x="685800" y="2962656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8A959A"/>
                </a:solidFill>
                <a:latin typeface="Segoe UI"/>
              </a:rPr>
              <a:t>Each is defined where it first matters — not here.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DEFINITION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VLAN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1997456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 </a:t>
            </a:r>
            <a:r>
              <a:rPr sz="2000" b="1" i="0">
                <a:solidFill>
                  <a:srgbClr val="117864"/>
                </a:solidFill>
                <a:latin typeface="Segoe UI"/>
              </a:rPr>
              <a:t>VLAN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a broadcast domain implemented in software on a switch. Ports in VLAN 10 behave as though they were on a physically separate switch from ports in VLAN 20: a broadcast from one never reaches the other, and a frame cannot cross between them without passing through something that routes.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One line changes in the switching algorithm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Recall the algorithm from Chapter 3: learn the source, then forward, flood, or filter. VLANs change exactly one thing —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every step is now scoped to a VLAN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978408" y="2580639"/>
            <a:ext cx="10234879" cy="380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Learning is per VLAN. The same MAC address may legitimately appear in two VLANs on the same switch.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Flooding is per VLAN. An unknown unicast in VLAN 10 goes out every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VLAN 10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port and no others.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A frame never leaves the VLAN it arrived in. Not once, not for broadcast, not for anything.</a:t>
            </a:r>
          </a:p>
        </p:txBody>
      </p:sp>
      <p:sp>
        <p:nvSpPr>
          <p:cNvPr id="10" name="tailbody"/>
          <p:cNvSpPr txBox="1"/>
          <p:nvPr/>
        </p:nvSpPr>
        <p:spPr>
          <a:xfrm>
            <a:off x="978408" y="5284215"/>
            <a:ext cx="10234879" cy="1043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That is the whole mechanism. Everything else about VLANs — trunking, inter-VLAN routing, voice VLANs — is machinery for coping with the consequences of that one rule.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45720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a VLAN actually does</a:t>
            </a:r>
          </a:p>
        </p:txBody>
      </p:sp>
      <p:sp>
        <p:nvSpPr>
          <p:cNvPr id="3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5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pic>
        <p:nvPicPr>
          <p:cNvPr id="6" name="figure" descr="vlan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77635"/>
            <a:ext cx="10820095" cy="3795337"/>
          </a:xfrm>
          <a:prstGeom prst="rect">
            <a:avLst/>
          </a:prstGeom>
        </p:spPr>
      </p:pic>
      <p:sp>
        <p:nvSpPr>
          <p:cNvPr id="7" name="figcap"/>
          <p:cNvSpPr txBox="1"/>
          <p:nvPr/>
        </p:nvSpPr>
        <p:spPr>
          <a:xfrm>
            <a:off x="685800" y="568756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07B7C"/>
                </a:solidFill>
                <a:latin typeface="Segoe UI"/>
              </a:rPr>
              <a:t>The whole idea, in one picture. Four ports on one switch become two broadcast domains that cannot reach each other — and nothing physical changed.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WATCH OUT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The consequence people forget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2364449"/>
            <a:ext cx="10820095" cy="40180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If two devices are in different VLANs they cannot communicate,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even if they are in the same IP subnet, plugged into adjacent ports on the same switch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The switch will not carry the frame. Conversely two devices in the same VLAN but different subnets cannot communicate either, because IP will not deliver it.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VLAN and subnet are separate ideas that must be kept aligned by design. The convention that saves everyone trouble is one VLAN, one subnet, and a number that matches: VLAN 10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192.168.10.0/24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VLAN 20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192.168.20.0/24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CONFIGURE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Three VLANs and the access ports that use them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517904"/>
            <a:ext cx="10820095" cy="4637532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517904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572768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IOS  ·  configuration mode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1956816"/>
            <a:ext cx="10417759" cy="4143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1">
                <a:solidFill>
                  <a:srgbClr val="6E8BA0"/>
                </a:solidFill>
                <a:latin typeface="Consolas"/>
              </a:rPr>
              <a:t>! Create the VLANs and name them. A name is documentation that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1">
                <a:solidFill>
                  <a:srgbClr val="6E8BA0"/>
                </a:solidFill>
                <a:latin typeface="Consolas"/>
              </a:rPr>
              <a:t>! survives on the device -- use it.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vlan 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 name Staff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vlan 20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 name Guest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vlan 30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 name Voice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exit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1">
                <a:solidFill>
                  <a:srgbClr val="6E8BA0"/>
                </a:solidFill>
                <a:latin typeface="Consolas"/>
              </a:rPr>
              <a:t>! Assign a single access port.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interface GigabitEthernet0/5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 description Staff desk 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 switchport mode access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 switchport access vlan 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 no shutdown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1">
                <a:solidFill>
                  <a:srgbClr val="6E8BA0"/>
                </a:solidFill>
                <a:latin typeface="Consolas"/>
              </a:rPr>
              <a:t>!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CONFIGURE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 i="0">
                <a:solidFill>
                  <a:srgbClr val="1A5276"/>
                </a:solidFill>
                <a:latin typeface="Segoe UI"/>
              </a:rPr>
              <a:t>Three VLANs and the access ports that use them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3141471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IOS  ·  configuration mode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26476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Assign a block of ports in one go.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interface range GigabitEthernet0/6 - 12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description Staff desks 6-12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switchport mode access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switchport access vlan 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interface range GigabitEthernet0/13 - 18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description Guest desks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switchport mode access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switchport access vlan 20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Why switchport mode access matters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2749296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Without it the port is left in dynamic auto mode, which means it will negotiate and may become a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trunk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if the device on the other end asks for one. On an access port that is both a fault waiting to happen and a security hole — an attacker who can negotiate a trunk can reach every VLAN.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Set it explicitly. It is one line, and it is the difference between a port that does what you configured and a port that does what the far end suggests.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VERIFY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show vlan brief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2637535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SW1#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21437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VLAN Name                             Status    Ports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---- -------------------------------- --------- -------------------------------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1    default                          active    Gi0/1, Gi0/2, Gi0/3, Gi0/4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10   Staff                            active    Gi0/5, Gi0/6, Gi0/7, Gi0/8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                                            Gi0/9, Gi0/10, Gi0/11, Gi0/12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20   Guest                            active    Gi0/13, Gi0/14, Gi0/15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30   Voice                            active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1002 fddi-default                     act/unsup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VERIFY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show interfaces GigabitEthernet0/5 switchport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2637535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SW1#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21437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Name: Gi0/5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Switchport: Enabled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Administrative Mode: static access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Operational Mode: static access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Administrative Trunking Encapsulation: dot1q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Access Mode VLAN: 10 (Staff)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Trunking Native Mode VLAN: 1 (default)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Voice VLAN: none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VERIFY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show mac address-table vlan 10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2133599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SW1#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1639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      Mac Address Table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-------------------------------------------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Vlan    Mac Address       Type        Ports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----    -----------       --------    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10    000a.f36e.7712    DYNAMIC     Gi0/5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10    0060.5c2b.19a4    DYNAMIC     Gi0/7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COMMON PITFALLS  ·  Verifying, three ways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Common pitfalls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213864"/>
            <a:ext cx="10820095" cy="4168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Assigning a port to a VLAN that does not exist.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 many platforms the switch creates it silently; on others the port simply stops forwarding. Either way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 vlan brief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tells you within seconds.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Leaving everything in VLAN 1.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VLAN 1 cannot be deleted and carries control traffic. Do not put users on it, and do not use it as the management VLAN.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Forgetting that a VLAN can be shut down.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shutdown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inside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vlan 10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stops the whole VLAN forwarding on that switch while every port still shows as correctly assigned. It is an unusual fault and therefore a nasty one.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COMMON PITFALLS  ·  Verifying, three ways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Common pitfalls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868821"/>
            <a:ext cx="10820095" cy="35136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Deleting a VLAN and leaving ports assigned to it.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Those ports become inactive.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 vlan brief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will not list them at all, which is confusing until you know to look for their absence.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SYMPTOM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8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A new desk cannot reach anything, and the port looks fine.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3013592"/>
            <a:ext cx="10820095" cy="334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 user on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Gi0/9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has no connectivity. The port is up, the cable is good, and the configuration reads exactly like the working port next to it.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0" i="0">
                <a:solidFill>
                  <a:srgbClr val="1A5276"/>
                </a:solidFill>
                <a:latin typeface="Consolas"/>
              </a:rPr>
              <a:t>Gi0/9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not listed against VLAN 10 — nor against any other VLAN.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YOUR MOVE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8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A new desk cannot reach anything, and the port looks fine.</a:t>
            </a:r>
          </a:p>
        </p:txBody>
      </p:sp>
      <p:sp>
        <p:nvSpPr>
          <p:cNvPr id="6" name="promptbg"/>
          <p:cNvSpPr/>
          <p:nvPr/>
        </p:nvSpPr>
        <p:spPr>
          <a:xfrm>
            <a:off x="685800" y="2939796"/>
            <a:ext cx="10820095" cy="84124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rompt"/>
          <p:cNvSpPr txBox="1"/>
          <p:nvPr/>
        </p:nvSpPr>
        <p:spPr>
          <a:xfrm>
            <a:off x="960120" y="3140964"/>
            <a:ext cx="102714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A5276"/>
                </a:solidFill>
                <a:latin typeface="Segoe UI"/>
              </a:rPr>
              <a:t>What would you check first — and what do you expect to see?</a:t>
            </a:r>
          </a:p>
        </p:txBody>
      </p:sp>
      <p:sp>
        <p:nvSpPr>
          <p:cNvPr id="8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9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EVIDENCE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8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show vlan brief | include Staff|Gi0/9</a:t>
            </a:r>
          </a:p>
        </p:txBody>
      </p:sp>
      <p:sp>
        <p:nvSpPr>
          <p:cNvPr id="6" name="bfcodebg"/>
          <p:cNvSpPr/>
          <p:nvPr/>
        </p:nvSpPr>
        <p:spPr>
          <a:xfrm>
            <a:off x="685800" y="2011680"/>
            <a:ext cx="10820095" cy="100584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fcodebar"/>
          <p:cNvSpPr/>
          <p:nvPr/>
        </p:nvSpPr>
        <p:spPr>
          <a:xfrm>
            <a:off x="685800" y="2011680"/>
            <a:ext cx="10820095" cy="329184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fcodettl"/>
          <p:cNvSpPr txBox="1"/>
          <p:nvPr/>
        </p:nvSpPr>
        <p:spPr>
          <a:xfrm>
            <a:off x="886968" y="2057400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SW1#</a:t>
            </a:r>
          </a:p>
        </p:txBody>
      </p:sp>
      <p:sp>
        <p:nvSpPr>
          <p:cNvPr id="9" name="bfcode"/>
          <p:cNvSpPr txBox="1"/>
          <p:nvPr/>
        </p:nvSpPr>
        <p:spPr>
          <a:xfrm>
            <a:off x="886968" y="2432304"/>
            <a:ext cx="10417759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10   Staff                            active    Gi0/5, Gi0/6, Gi0/7, Gi0/8</a:t>
            </a:r>
          </a:p>
        </p:txBody>
      </p:sp>
      <p:sp>
        <p:nvSpPr>
          <p:cNvPr id="10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11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EVIDENCE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8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show interfaces GigabitEthernet0/9 switchport</a:t>
            </a:r>
          </a:p>
        </p:txBody>
      </p:sp>
      <p:sp>
        <p:nvSpPr>
          <p:cNvPr id="6" name="bfcodebg"/>
          <p:cNvSpPr/>
          <p:nvPr/>
        </p:nvSpPr>
        <p:spPr>
          <a:xfrm>
            <a:off x="685800" y="2011680"/>
            <a:ext cx="10820095" cy="178460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fcodebar"/>
          <p:cNvSpPr/>
          <p:nvPr/>
        </p:nvSpPr>
        <p:spPr>
          <a:xfrm>
            <a:off x="685800" y="2011680"/>
            <a:ext cx="10820095" cy="329184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fcodettl"/>
          <p:cNvSpPr txBox="1"/>
          <p:nvPr/>
        </p:nvSpPr>
        <p:spPr>
          <a:xfrm>
            <a:off x="886968" y="2057400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SW1#</a:t>
            </a:r>
          </a:p>
        </p:txBody>
      </p:sp>
      <p:sp>
        <p:nvSpPr>
          <p:cNvPr id="9" name="bfcode"/>
          <p:cNvSpPr txBox="1"/>
          <p:nvPr/>
        </p:nvSpPr>
        <p:spPr>
          <a:xfrm>
            <a:off x="886968" y="2432304"/>
            <a:ext cx="10417759" cy="13091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Name: Gi0/9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Switchport: Enabled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Administrative Mode: static access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Operational Mode: static access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Access Mode VLAN: 15 (Inactive)</a:t>
            </a:r>
          </a:p>
        </p:txBody>
      </p:sp>
      <p:sp>
        <p:nvSpPr>
          <p:cNvPr id="10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11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YOUR MOVE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8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6" name="promptbg"/>
          <p:cNvSpPr/>
          <p:nvPr/>
        </p:nvSpPr>
        <p:spPr>
          <a:xfrm>
            <a:off x="685800" y="2939796"/>
            <a:ext cx="10820095" cy="84124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rompt"/>
          <p:cNvSpPr txBox="1"/>
          <p:nvPr/>
        </p:nvSpPr>
        <p:spPr>
          <a:xfrm>
            <a:off x="960120" y="3140964"/>
            <a:ext cx="102714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A5276"/>
                </a:solidFill>
                <a:latin typeface="Segoe UI"/>
              </a:rPr>
              <a:t>What is the fault — and what does this output rule out?</a:t>
            </a:r>
          </a:p>
        </p:txBody>
      </p:sp>
      <p:sp>
        <p:nvSpPr>
          <p:cNvPr id="8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9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DIAGNOSIS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8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Why it is doing that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2928111"/>
            <a:ext cx="10820095" cy="342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Diagnosis.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 port was assigned to VLAN 15, which does not exist on this switch — most likely a typing slip for 10, or a VLAN that was deleted after the port was configured. The word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(Inactive)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the whole diagnosis: the port is administratively correct and operationally orphaned.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THE FIX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8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And the lesson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3048762"/>
            <a:ext cx="10820095" cy="33063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Fix.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Either create VLAN 15 if it was meant to exist, or reassign the port: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switchport access vlan 10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Confirm with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show vlan brief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that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Gi0/9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now appears in the Staff list, then confirm a MAC address learns against it.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LAB · PACKET TRACER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Divide one switch into three networks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 i="0">
                <a:solidFill>
                  <a:srgbClr val="1C252B"/>
                </a:solidFill>
                <a:latin typeface="Segoe UI"/>
              </a:rPr>
              <a:t>Topology.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One switch, six PCs — two per VLAN — all in the same IP subnet to begin with.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685800" y="2361184"/>
            <a:ext cx="10820095" cy="402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1.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With every port in VLAN 1, confirm all six PCs can ping each other. Record the MAC address table.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2.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Create VLANs 10, 20 and 30 with names, and move two PCs into each.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3.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Re-test. Which pings now succeed and which fail? Explain each result in terms of broadcast domains, not IP.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4.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Run all three verification commands from this chapter and reconcile them.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5.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Assign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Gi0/11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to VLAN 99, which you have not created. Record what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 vlan brief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 interfaces switchport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each say.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LAB · PACKET TRACER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Divide one switch into three networks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718235"/>
            <a:ext cx="10820095" cy="36642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1.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Enter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vlan 20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type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shutdown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Confirm the ports still look correctly assigned while nothing passes. Undo it.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2.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Extension.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Re-address the PCs so each VLAN is its own subnet. Note that inter-VLAN pings still fail — and that fixing it needs Chapter 10.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1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Two PCs are in the same IP subnet, plugged into the same switch, in VLANs 10 and 20. Can they ping each other? Justify your answer at layer 2.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1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Two PCs are in the same IP subnet, plugged into the same switch, in VLANs 10 and 20. Can they ping each other? Justify your answer at layer 2.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511044"/>
            <a:ext cx="41148" cy="14559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511044"/>
            <a:ext cx="10564063" cy="3780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No. VLANs are separate broadcast domains, so the ARP request never reaches the other host. Sharing an IP subnet is irrelevant at layer 2 — and because both believe the destination is local, neither will send the traffic to a router either. This configuration cannot be fixed by routing; the VLANs must be corrected.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2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Which command distinguishes what you configured on a port from what the port has actually become?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2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Which command distinguishes what you configured on a port from what the port has actually become?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511044"/>
            <a:ext cx="41148" cy="8285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511044"/>
            <a:ext cx="10564063" cy="3780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A5276"/>
                </a:solidFill>
                <a:latin typeface="Consolas"/>
              </a:rPr>
              <a:t>show interfaces &lt;int&gt; switchport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which reports both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Administrative Mode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(what you configured) and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Operational Mode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(what it actually became).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3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A port shows </a:t>
            </a:r>
            <a:r>
              <a:rPr sz="2900" b="0" i="0">
                <a:solidFill>
                  <a:srgbClr val="FFFFFF"/>
                </a:solidFill>
                <a:latin typeface="Consolas"/>
              </a:rPr>
              <a:t>Access Mode VLAN: 15 (Inactive)</a:t>
            </a:r>
            <a:r>
              <a:rPr sz="3000" b="0" i="0">
                <a:solidFill>
                  <a:srgbClr val="FFFFFF"/>
                </a:solidFill>
                <a:latin typeface="Segoe UI"/>
              </a:rPr>
              <a:t>. State the two possible causes.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3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A port shows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Access Mode VLAN: 15 (Inactive)</a:t>
            </a:r>
            <a:r>
              <a:rPr sz="2000" b="1" i="0">
                <a:solidFill>
                  <a:srgbClr val="1A5276"/>
                </a:solidFill>
                <a:latin typeface="Segoe UI"/>
              </a:rPr>
              <a:t>. State the two possible causes.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197354"/>
            <a:ext cx="41148" cy="8285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197354"/>
            <a:ext cx="10564063" cy="4093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Either the VLAN does not exist in the VLAN database, or it exists and is shut down.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show vlan brief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distinguishes them.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CHAPTER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to take away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8. VLANs and Access Ports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2.2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A VLAN is a broadcast domain in software. Learning, flooding and forwarding all become per-VLAN operations.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A frame never leaves its VLAN without being routed.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Keep VLAN and subnet aligned one-to-one; mismatches produce faults that look like everything and nothing.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Always set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switchport mode access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explicitly, or the port may negotiate a trunk.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Verify three ways: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 vlan brief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by VLAN,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 interfaces switchport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by port, and the MAC table by evidence. Administrative versus operational mode is where faults show.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7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ltitle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Where we got to</a:t>
            </a:r>
          </a:p>
        </p:txBody>
      </p:sp>
      <p:sp>
        <p:nvSpPr>
          <p:cNvPr id="4" name="cltakeaways"/>
          <p:cNvSpPr txBox="1"/>
          <p:nvPr/>
        </p:nvSpPr>
        <p:spPr>
          <a:xfrm>
            <a:off x="685800" y="2011680"/>
            <a:ext cx="1082009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A VLAN is a broadcast domain in software. Learning, flooding and forwarding all become per-VLAN operations.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A frame never leaves its VLAN without being routed.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Keep VLAN and subnet aligned one-to-one; mismatches produce faults that look like everything and nothing.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Always set 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switchport mode access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 explicitly, or the port may negotiate a trunk.</a:t>
            </a:r>
          </a:p>
        </p:txBody>
      </p:sp>
      <p:sp>
        <p:nvSpPr>
          <p:cNvPr id="5" name="nextbg"/>
          <p:cNvSpPr/>
          <p:nvPr/>
        </p:nvSpPr>
        <p:spPr>
          <a:xfrm>
            <a:off x="685800" y="5303520"/>
            <a:ext cx="10820095" cy="822960"/>
          </a:xfrm>
          <a:prstGeom prst="rect">
            <a:avLst/>
          </a:prstGeom>
          <a:solidFill>
            <a:srgbClr val="006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nextlab"/>
          <p:cNvSpPr txBox="1"/>
          <p:nvPr/>
        </p:nvSpPr>
        <p:spPr>
          <a:xfrm>
            <a:off x="960120" y="5449824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B8C9DA"/>
                </a:solidFill>
                <a:latin typeface="Segoe UI"/>
              </a:rPr>
              <a:t>NEXT</a:t>
            </a:r>
          </a:p>
        </p:txBody>
      </p:sp>
      <p:sp>
        <p:nvSpPr>
          <p:cNvPr id="7" name="nexttitle"/>
          <p:cNvSpPr txBox="1"/>
          <p:nvPr/>
        </p:nvSpPr>
        <p:spPr>
          <a:xfrm>
            <a:off x="960120" y="5705856"/>
            <a:ext cx="102714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Chapter 9 — Edge-Host Connectivity: PoE, Voice, APs and IoT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