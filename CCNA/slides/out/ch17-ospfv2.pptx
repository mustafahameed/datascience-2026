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17: OSPFv2, Single Area. Blueprint topics: 3.3.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seconds. Students meeting a chapter in week ten cannot place it without being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OSPFv2, Single Area 3.3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 - they are defined as they arrive. This slide is for the students'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routers become neighbours by exchanging hello packets on a shared link. The hello carries several parameters, and if any of them disagree, no adjacency forms — silently. Two further conditions are worth adding because they cause the same symptom: the router IDs must be unique, and the interface must not be passive.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one output carries four of the five things that must match: area, network type, hello and dead intervals, and the subnet. When an adjacency will not form, run it on both routers and compare line by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here. Take two or three answers before advancing. The point is the prediction, not the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 aloud. Ask what single field decides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 aloud. Ask what single field decides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 aloud. Ask what single field decides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elimination matters as much as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34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gfoot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561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ourse"/>
          <p:cNvSpPr txBox="1"/>
          <p:nvPr/>
        </p:nvSpPr>
        <p:spPr>
          <a:xfrm>
            <a:off x="685800" y="1170432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C8D6E5"/>
                </a:solidFill>
                <a:latin typeface="Segoe UI"/>
              </a:rPr>
              <a:t>CCNA 200-301 V2.0</a:t>
            </a:r>
          </a:p>
        </p:txBody>
      </p:sp>
      <p:sp>
        <p:nvSpPr>
          <p:cNvPr id="5" name="chnum"/>
          <p:cNvSpPr txBox="1"/>
          <p:nvPr/>
        </p:nvSpPr>
        <p:spPr>
          <a:xfrm>
            <a:off x="685800" y="1572768"/>
            <a:ext cx="2011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760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6" name="chtitle"/>
          <p:cNvSpPr txBox="1"/>
          <p:nvPr/>
        </p:nvSpPr>
        <p:spPr>
          <a:xfrm>
            <a:off x="2423160" y="1700784"/>
            <a:ext cx="90827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OSPFv2, Single Area</a:t>
            </a:r>
          </a:p>
        </p:txBody>
      </p:sp>
      <p:sp>
        <p:nvSpPr>
          <p:cNvPr id="7" name="part"/>
          <p:cNvSpPr txBox="1"/>
          <p:nvPr/>
        </p:nvSpPr>
        <p:spPr>
          <a:xfrm>
            <a:off x="2441448" y="3017520"/>
            <a:ext cx="90827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8D6E5"/>
                </a:solidFill>
                <a:latin typeface="Segoe UI"/>
              </a:rPr>
              <a:t>Part III — IP Routing</a:t>
            </a:r>
          </a:p>
        </p:txBody>
      </p:sp>
      <p:sp>
        <p:nvSpPr>
          <p:cNvPr id="8" name="tlabel"/>
          <p:cNvSpPr txBox="1"/>
          <p:nvPr/>
        </p:nvSpPr>
        <p:spPr>
          <a:xfrm>
            <a:off x="2441448" y="340156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8C9DA"/>
                </a:solidFill>
                <a:latin typeface="Segoe UI"/>
              </a:rPr>
              <a:t>EXAM TOPICS</a:t>
            </a:r>
          </a:p>
        </p:txBody>
      </p:sp>
      <p:sp>
        <p:nvSpPr>
          <p:cNvPr id="9" name="chip-3.3"/>
          <p:cNvSpPr/>
          <p:nvPr/>
        </p:nvSpPr>
        <p:spPr>
          <a:xfrm>
            <a:off x="2441448" y="3657600"/>
            <a:ext cx="566928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chiptx-3.3"/>
          <p:cNvSpPr txBox="1"/>
          <p:nvPr/>
        </p:nvSpPr>
        <p:spPr>
          <a:xfrm>
            <a:off x="2441448" y="3689604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6C3483"/>
                </a:solidFill>
                <a:latin typeface="Segoe UI"/>
              </a:rPr>
              <a:t>3.3</a:t>
            </a:r>
          </a:p>
        </p:txBody>
      </p:sp>
      <p:sp>
        <p:nvSpPr>
          <p:cNvPr id="11" name="authlab"/>
          <p:cNvSpPr txBox="1"/>
          <p:nvPr/>
        </p:nvSpPr>
        <p:spPr>
          <a:xfrm>
            <a:off x="685800" y="5138928"/>
            <a:ext cx="64920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8C9DA"/>
                </a:solidFill>
                <a:latin typeface="Segoe UI"/>
              </a:rPr>
              <a:t>LECTURER</a:t>
            </a:r>
          </a:p>
        </p:txBody>
      </p:sp>
      <p:sp>
        <p:nvSpPr>
          <p:cNvPr id="12" name="author"/>
          <p:cNvSpPr txBox="1"/>
          <p:nvPr/>
        </p:nvSpPr>
        <p:spPr>
          <a:xfrm>
            <a:off x="685800" y="5394960"/>
            <a:ext cx="64920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Dr. Mustafa Hameed</a:t>
            </a:r>
          </a:p>
        </p:txBody>
      </p:sp>
      <p:pic>
        <p:nvPicPr>
          <p:cNvPr id="13" name="logo-iub-logo-white" descr="iub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978" y="4443984"/>
            <a:ext cx="1070141" cy="1060704"/>
          </a:xfrm>
          <a:prstGeom prst="rect">
            <a:avLst/>
          </a:prstGeom>
        </p:spPr>
      </p:pic>
      <p:pic>
        <p:nvPicPr>
          <p:cNvPr id="14" name="logo-dit-logo" descr="di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6439" y="4443984"/>
            <a:ext cx="1029456" cy="1060704"/>
          </a:xfrm>
          <a:prstGeom prst="rect">
            <a:avLst/>
          </a:prstGeom>
        </p:spPr>
      </p:pic>
      <p:sp>
        <p:nvSpPr>
          <p:cNvPr id="15" name="lockup1"/>
          <p:cNvSpPr txBox="1"/>
          <p:nvPr/>
        </p:nvSpPr>
        <p:spPr>
          <a:xfrm>
            <a:off x="7116775" y="5632704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6" name="lockup2"/>
          <p:cNvSpPr txBox="1"/>
          <p:nvPr/>
        </p:nvSpPr>
        <p:spPr>
          <a:xfrm>
            <a:off x="7116775" y="5870448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C8D6E5"/>
                </a:solidFill>
                <a:latin typeface="Segoe UI"/>
              </a:rPr>
              <a:t>Department of Information Technology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THE COURSE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Where this chapter sits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part1bg"/>
          <p:cNvSpPr/>
          <p:nvPr/>
        </p:nvSpPr>
        <p:spPr>
          <a:xfrm>
            <a:off x="685800" y="1792224"/>
            <a:ext cx="10820095" cy="56692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part1rule"/>
          <p:cNvSpPr/>
          <p:nvPr/>
        </p:nvSpPr>
        <p:spPr>
          <a:xfrm>
            <a:off x="685800" y="1792224"/>
            <a:ext cx="64008" cy="566928"/>
          </a:xfrm>
          <a:prstGeom prst="rect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art1n"/>
          <p:cNvSpPr txBox="1"/>
          <p:nvPr/>
        </p:nvSpPr>
        <p:spPr>
          <a:xfrm>
            <a:off x="941832" y="1938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8A959A"/>
                </a:solidFill>
                <a:latin typeface="Segoe UI"/>
              </a:rPr>
              <a:t>Part I</a:t>
            </a:r>
          </a:p>
        </p:txBody>
      </p:sp>
      <p:sp>
        <p:nvSpPr>
          <p:cNvPr id="10" name="part1t"/>
          <p:cNvSpPr txBox="1"/>
          <p:nvPr/>
        </p:nvSpPr>
        <p:spPr>
          <a:xfrm>
            <a:off x="2194560" y="1938528"/>
            <a:ext cx="7711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A959A"/>
                </a:solidFill>
                <a:latin typeface="Segoe UI"/>
              </a:rPr>
              <a:t>Foundations</a:t>
            </a:r>
          </a:p>
        </p:txBody>
      </p:sp>
      <p:sp>
        <p:nvSpPr>
          <p:cNvPr id="11" name="part1c"/>
          <p:cNvSpPr txBox="1"/>
          <p:nvPr/>
        </p:nvSpPr>
        <p:spPr>
          <a:xfrm>
            <a:off x="9951415" y="19385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8A959A"/>
                </a:solidFill>
                <a:latin typeface="Segoe UI"/>
              </a:rPr>
              <a:t>chapters 1–7</a:t>
            </a:r>
          </a:p>
        </p:txBody>
      </p:sp>
      <p:sp>
        <p:nvSpPr>
          <p:cNvPr id="12" name="part2bg"/>
          <p:cNvSpPr/>
          <p:nvPr/>
        </p:nvSpPr>
        <p:spPr>
          <a:xfrm>
            <a:off x="685800" y="2450591"/>
            <a:ext cx="10820095" cy="56692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art2rule"/>
          <p:cNvSpPr/>
          <p:nvPr/>
        </p:nvSpPr>
        <p:spPr>
          <a:xfrm>
            <a:off x="685800" y="2450591"/>
            <a:ext cx="64008" cy="566928"/>
          </a:xfrm>
          <a:prstGeom prst="rect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part2n"/>
          <p:cNvSpPr txBox="1"/>
          <p:nvPr/>
        </p:nvSpPr>
        <p:spPr>
          <a:xfrm>
            <a:off x="941832" y="25968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8A959A"/>
                </a:solidFill>
                <a:latin typeface="Segoe UI"/>
              </a:rPr>
              <a:t>Part II</a:t>
            </a:r>
          </a:p>
        </p:txBody>
      </p:sp>
      <p:sp>
        <p:nvSpPr>
          <p:cNvPr id="15" name="part2t"/>
          <p:cNvSpPr txBox="1"/>
          <p:nvPr/>
        </p:nvSpPr>
        <p:spPr>
          <a:xfrm>
            <a:off x="2194560" y="2596896"/>
            <a:ext cx="7711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A959A"/>
                </a:solidFill>
                <a:latin typeface="Segoe UI"/>
              </a:rPr>
              <a:t>Switching and Network Access</a:t>
            </a:r>
          </a:p>
        </p:txBody>
      </p:sp>
      <p:sp>
        <p:nvSpPr>
          <p:cNvPr id="16" name="part2c"/>
          <p:cNvSpPr txBox="1"/>
          <p:nvPr/>
        </p:nvSpPr>
        <p:spPr>
          <a:xfrm>
            <a:off x="9951415" y="25968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8A959A"/>
                </a:solidFill>
                <a:latin typeface="Segoe UI"/>
              </a:rPr>
              <a:t>chapters 8–14</a:t>
            </a:r>
          </a:p>
        </p:txBody>
      </p:sp>
      <p:sp>
        <p:nvSpPr>
          <p:cNvPr id="17" name="part3bg"/>
          <p:cNvSpPr/>
          <p:nvPr/>
        </p:nvSpPr>
        <p:spPr>
          <a:xfrm>
            <a:off x="685800" y="3108959"/>
            <a:ext cx="10820095" cy="56692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art3rule"/>
          <p:cNvSpPr/>
          <p:nvPr/>
        </p:nvSpPr>
        <p:spPr>
          <a:xfrm>
            <a:off x="685800" y="3108959"/>
            <a:ext cx="64008" cy="5669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art3n"/>
          <p:cNvSpPr txBox="1"/>
          <p:nvPr/>
        </p:nvSpPr>
        <p:spPr>
          <a:xfrm>
            <a:off x="941832" y="3255263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6C3483"/>
                </a:solidFill>
                <a:latin typeface="Segoe UI"/>
              </a:rPr>
              <a:t>Part III</a:t>
            </a:r>
          </a:p>
        </p:txBody>
      </p:sp>
      <p:sp>
        <p:nvSpPr>
          <p:cNvPr id="20" name="part3t"/>
          <p:cNvSpPr txBox="1"/>
          <p:nvPr/>
        </p:nvSpPr>
        <p:spPr>
          <a:xfrm>
            <a:off x="2194560" y="3255263"/>
            <a:ext cx="7711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C252B"/>
                </a:solidFill>
                <a:latin typeface="Segoe UI"/>
              </a:rPr>
              <a:t>IP Routing</a:t>
            </a:r>
          </a:p>
        </p:txBody>
      </p:sp>
      <p:sp>
        <p:nvSpPr>
          <p:cNvPr id="21" name="part3c"/>
          <p:cNvSpPr txBox="1"/>
          <p:nvPr/>
        </p:nvSpPr>
        <p:spPr>
          <a:xfrm>
            <a:off x="9951415" y="3255263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C3483"/>
                </a:solidFill>
                <a:latin typeface="Segoe UI"/>
              </a:rPr>
              <a:t>chapters 15–19</a:t>
            </a:r>
          </a:p>
        </p:txBody>
      </p:sp>
      <p:sp>
        <p:nvSpPr>
          <p:cNvPr id="22" name="part4bg"/>
          <p:cNvSpPr/>
          <p:nvPr/>
        </p:nvSpPr>
        <p:spPr>
          <a:xfrm>
            <a:off x="685800" y="3767327"/>
            <a:ext cx="10820095" cy="56692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art4rule"/>
          <p:cNvSpPr/>
          <p:nvPr/>
        </p:nvSpPr>
        <p:spPr>
          <a:xfrm>
            <a:off x="685800" y="3767327"/>
            <a:ext cx="64008" cy="566928"/>
          </a:xfrm>
          <a:prstGeom prst="rect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part4n"/>
          <p:cNvSpPr txBox="1"/>
          <p:nvPr/>
        </p:nvSpPr>
        <p:spPr>
          <a:xfrm>
            <a:off x="941832" y="3913631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8A959A"/>
                </a:solidFill>
                <a:latin typeface="Segoe UI"/>
              </a:rPr>
              <a:t>Part IV</a:t>
            </a:r>
          </a:p>
        </p:txBody>
      </p:sp>
      <p:sp>
        <p:nvSpPr>
          <p:cNvPr id="25" name="part4t"/>
          <p:cNvSpPr txBox="1"/>
          <p:nvPr/>
        </p:nvSpPr>
        <p:spPr>
          <a:xfrm>
            <a:off x="2194560" y="3913631"/>
            <a:ext cx="7711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A959A"/>
                </a:solidFill>
                <a:latin typeface="Segoe UI"/>
              </a:rPr>
              <a:t>Network Services and Security</a:t>
            </a:r>
          </a:p>
        </p:txBody>
      </p:sp>
      <p:sp>
        <p:nvSpPr>
          <p:cNvPr id="26" name="part4c"/>
          <p:cNvSpPr txBox="1"/>
          <p:nvPr/>
        </p:nvSpPr>
        <p:spPr>
          <a:xfrm>
            <a:off x="9951415" y="3913631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8A959A"/>
                </a:solidFill>
                <a:latin typeface="Segoe UI"/>
              </a:rPr>
              <a:t>chapters 20–26</a:t>
            </a:r>
          </a:p>
        </p:txBody>
      </p:sp>
      <p:sp>
        <p:nvSpPr>
          <p:cNvPr id="27" name="part5bg"/>
          <p:cNvSpPr/>
          <p:nvPr/>
        </p:nvSpPr>
        <p:spPr>
          <a:xfrm>
            <a:off x="685800" y="4425695"/>
            <a:ext cx="10820095" cy="56692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part5rule"/>
          <p:cNvSpPr/>
          <p:nvPr/>
        </p:nvSpPr>
        <p:spPr>
          <a:xfrm>
            <a:off x="685800" y="4425695"/>
            <a:ext cx="64008" cy="566928"/>
          </a:xfrm>
          <a:prstGeom prst="rect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art5n"/>
          <p:cNvSpPr txBox="1"/>
          <p:nvPr/>
        </p:nvSpPr>
        <p:spPr>
          <a:xfrm>
            <a:off x="941832" y="457199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8A959A"/>
                </a:solidFill>
                <a:latin typeface="Segoe UI"/>
              </a:rPr>
              <a:t>Part V</a:t>
            </a:r>
          </a:p>
        </p:txBody>
      </p:sp>
      <p:sp>
        <p:nvSpPr>
          <p:cNvPr id="30" name="part5t"/>
          <p:cNvSpPr txBox="1"/>
          <p:nvPr/>
        </p:nvSpPr>
        <p:spPr>
          <a:xfrm>
            <a:off x="2194560" y="4571999"/>
            <a:ext cx="7711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A959A"/>
                </a:solidFill>
                <a:latin typeface="Segoe UI"/>
              </a:rPr>
              <a:t>Wireless, Virtualisation and Operations</a:t>
            </a:r>
          </a:p>
        </p:txBody>
      </p:sp>
      <p:sp>
        <p:nvSpPr>
          <p:cNvPr id="31" name="part5c"/>
          <p:cNvSpPr txBox="1"/>
          <p:nvPr/>
        </p:nvSpPr>
        <p:spPr>
          <a:xfrm>
            <a:off x="9951415" y="457199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8A959A"/>
                </a:solidFill>
                <a:latin typeface="Segoe UI"/>
              </a:rPr>
              <a:t>chapters 27–32</a:t>
            </a:r>
          </a:p>
        </p:txBody>
      </p:sp>
      <p:sp>
        <p:nvSpPr>
          <p:cNvPr id="32" name="part6bg"/>
          <p:cNvSpPr/>
          <p:nvPr/>
        </p:nvSpPr>
        <p:spPr>
          <a:xfrm>
            <a:off x="685800" y="5084063"/>
            <a:ext cx="10820095" cy="56692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art6rule"/>
          <p:cNvSpPr/>
          <p:nvPr/>
        </p:nvSpPr>
        <p:spPr>
          <a:xfrm>
            <a:off x="685800" y="5084063"/>
            <a:ext cx="64008" cy="566928"/>
          </a:xfrm>
          <a:prstGeom prst="rect">
            <a:avLst/>
          </a:prstGeom>
          <a:solidFill>
            <a:srgbClr val="DD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art6n"/>
          <p:cNvSpPr txBox="1"/>
          <p:nvPr/>
        </p:nvSpPr>
        <p:spPr>
          <a:xfrm>
            <a:off x="941832" y="5230367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8A959A"/>
                </a:solidFill>
                <a:latin typeface="Segoe UI"/>
              </a:rPr>
              <a:t>Part VI</a:t>
            </a:r>
          </a:p>
        </p:txBody>
      </p:sp>
      <p:sp>
        <p:nvSpPr>
          <p:cNvPr id="35" name="part6t"/>
          <p:cNvSpPr txBox="1"/>
          <p:nvPr/>
        </p:nvSpPr>
        <p:spPr>
          <a:xfrm>
            <a:off x="2194560" y="5230367"/>
            <a:ext cx="7711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8A959A"/>
                </a:solidFill>
                <a:latin typeface="Segoe UI"/>
              </a:rPr>
              <a:t>Sitting the Exam</a:t>
            </a:r>
          </a:p>
        </p:txBody>
      </p:sp>
      <p:sp>
        <p:nvSpPr>
          <p:cNvPr id="36" name="part6c"/>
          <p:cNvSpPr txBox="1"/>
          <p:nvPr/>
        </p:nvSpPr>
        <p:spPr>
          <a:xfrm>
            <a:off x="9951415" y="5230367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8A959A"/>
                </a:solidFill>
                <a:latin typeface="Segoe UI"/>
              </a:rPr>
              <a:t>chapters 33–34</a:t>
            </a:r>
          </a:p>
        </p:txBody>
      </p:sp>
      <p:sp>
        <p:nvSpPr>
          <p:cNvPr id="3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3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LEARNING OUTCOMES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you will be able to do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901952"/>
            <a:ext cx="10820095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Explain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how OSPF forms adjacencies and why they sometimes do not.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Configure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single-area OSPFv2 with an explicit router ID, on both broadcast and point-to-point links.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Predict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influence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DR and BDR election.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Troubleshoot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five mismatches that prevent an adjacency, using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ip ospf neighbor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ip ospf interface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ASSUMED KNOWLEDGE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Before we start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1337055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Chapter 15 for administrative distance and metrics; Chapter 16 for the contrast with a route you configure by hand.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KEY TERMS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Vocabulary for this chapter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term-OSPF"/>
          <p:cNvSpPr/>
          <p:nvPr/>
        </p:nvSpPr>
        <p:spPr>
          <a:xfrm>
            <a:off x="685800" y="1609344"/>
            <a:ext cx="80162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b-OSPF"/>
          <p:cNvSpPr/>
          <p:nvPr/>
        </p:nvSpPr>
        <p:spPr>
          <a:xfrm>
            <a:off x="685800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t-OSPF"/>
          <p:cNvSpPr txBox="1"/>
          <p:nvPr/>
        </p:nvSpPr>
        <p:spPr>
          <a:xfrm>
            <a:off x="850392" y="1700784"/>
            <a:ext cx="4724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OSPF</a:t>
            </a:r>
          </a:p>
        </p:txBody>
      </p:sp>
      <p:sp>
        <p:nvSpPr>
          <p:cNvPr id="10" name="term-link-state"/>
          <p:cNvSpPr/>
          <p:nvPr/>
        </p:nvSpPr>
        <p:spPr>
          <a:xfrm>
            <a:off x="1615440" y="1609344"/>
            <a:ext cx="114071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b-link-state"/>
          <p:cNvSpPr/>
          <p:nvPr/>
        </p:nvSpPr>
        <p:spPr>
          <a:xfrm>
            <a:off x="1615440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t-link-state"/>
          <p:cNvSpPr txBox="1"/>
          <p:nvPr/>
        </p:nvSpPr>
        <p:spPr>
          <a:xfrm>
            <a:off x="1780032" y="1700784"/>
            <a:ext cx="81152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link-state</a:t>
            </a:r>
          </a:p>
        </p:txBody>
      </p:sp>
      <p:sp>
        <p:nvSpPr>
          <p:cNvPr id="13" name="term-adjacency"/>
          <p:cNvSpPr/>
          <p:nvPr/>
        </p:nvSpPr>
        <p:spPr>
          <a:xfrm>
            <a:off x="2884169" y="1609344"/>
            <a:ext cx="116357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b-adjacency"/>
          <p:cNvSpPr/>
          <p:nvPr/>
        </p:nvSpPr>
        <p:spPr>
          <a:xfrm>
            <a:off x="2884169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t-adjacency"/>
          <p:cNvSpPr txBox="1"/>
          <p:nvPr/>
        </p:nvSpPr>
        <p:spPr>
          <a:xfrm>
            <a:off x="3048762" y="1700784"/>
            <a:ext cx="83439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adjacency</a:t>
            </a:r>
          </a:p>
        </p:txBody>
      </p:sp>
      <p:sp>
        <p:nvSpPr>
          <p:cNvPr id="16" name="term-neighbour"/>
          <p:cNvSpPr/>
          <p:nvPr/>
        </p:nvSpPr>
        <p:spPr>
          <a:xfrm>
            <a:off x="4175760" y="1609344"/>
            <a:ext cx="112356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b-neighbour"/>
          <p:cNvSpPr/>
          <p:nvPr/>
        </p:nvSpPr>
        <p:spPr>
          <a:xfrm>
            <a:off x="4175760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t-neighbour"/>
          <p:cNvSpPr txBox="1"/>
          <p:nvPr/>
        </p:nvSpPr>
        <p:spPr>
          <a:xfrm>
            <a:off x="4340351" y="1700784"/>
            <a:ext cx="79438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neighbour</a:t>
            </a:r>
          </a:p>
        </p:txBody>
      </p:sp>
      <p:sp>
        <p:nvSpPr>
          <p:cNvPr id="19" name="term-hello"/>
          <p:cNvSpPr/>
          <p:nvPr/>
        </p:nvSpPr>
        <p:spPr>
          <a:xfrm>
            <a:off x="5427345" y="1609344"/>
            <a:ext cx="734949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b-hello"/>
          <p:cNvSpPr/>
          <p:nvPr/>
        </p:nvSpPr>
        <p:spPr>
          <a:xfrm>
            <a:off x="5427345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t-hello"/>
          <p:cNvSpPr txBox="1"/>
          <p:nvPr/>
        </p:nvSpPr>
        <p:spPr>
          <a:xfrm>
            <a:off x="5591937" y="1700784"/>
            <a:ext cx="40576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hello</a:t>
            </a:r>
          </a:p>
        </p:txBody>
      </p:sp>
      <p:sp>
        <p:nvSpPr>
          <p:cNvPr id="22" name="term-router ID"/>
          <p:cNvSpPr/>
          <p:nvPr/>
        </p:nvSpPr>
        <p:spPr>
          <a:xfrm>
            <a:off x="6290310" y="1609344"/>
            <a:ext cx="102450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b-router ID"/>
          <p:cNvSpPr/>
          <p:nvPr/>
        </p:nvSpPr>
        <p:spPr>
          <a:xfrm>
            <a:off x="6290310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t-router ID"/>
          <p:cNvSpPr txBox="1"/>
          <p:nvPr/>
        </p:nvSpPr>
        <p:spPr>
          <a:xfrm>
            <a:off x="6454901" y="1700784"/>
            <a:ext cx="69532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router ID</a:t>
            </a:r>
          </a:p>
        </p:txBody>
      </p:sp>
      <p:sp>
        <p:nvSpPr>
          <p:cNvPr id="25" name="term-area 0"/>
          <p:cNvSpPr/>
          <p:nvPr/>
        </p:nvSpPr>
        <p:spPr>
          <a:xfrm>
            <a:off x="7442834" y="1609344"/>
            <a:ext cx="853059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b-area 0"/>
          <p:cNvSpPr/>
          <p:nvPr/>
        </p:nvSpPr>
        <p:spPr>
          <a:xfrm>
            <a:off x="7442834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t-area 0"/>
          <p:cNvSpPr txBox="1"/>
          <p:nvPr/>
        </p:nvSpPr>
        <p:spPr>
          <a:xfrm>
            <a:off x="7607426" y="1700784"/>
            <a:ext cx="52387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area 0</a:t>
            </a:r>
          </a:p>
        </p:txBody>
      </p:sp>
      <p:sp>
        <p:nvSpPr>
          <p:cNvPr id="28" name="term-DR"/>
          <p:cNvSpPr/>
          <p:nvPr/>
        </p:nvSpPr>
        <p:spPr>
          <a:xfrm>
            <a:off x="8423909" y="1609344"/>
            <a:ext cx="56540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b-DR"/>
          <p:cNvSpPr/>
          <p:nvPr/>
        </p:nvSpPr>
        <p:spPr>
          <a:xfrm>
            <a:off x="8423909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t-DR"/>
          <p:cNvSpPr txBox="1"/>
          <p:nvPr/>
        </p:nvSpPr>
        <p:spPr>
          <a:xfrm>
            <a:off x="8588501" y="1700784"/>
            <a:ext cx="23622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DR</a:t>
            </a:r>
          </a:p>
        </p:txBody>
      </p:sp>
      <p:sp>
        <p:nvSpPr>
          <p:cNvPr id="31" name="term-BDR"/>
          <p:cNvSpPr/>
          <p:nvPr/>
        </p:nvSpPr>
        <p:spPr>
          <a:xfrm>
            <a:off x="9117329" y="1609344"/>
            <a:ext cx="68351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b-BDR"/>
          <p:cNvSpPr/>
          <p:nvPr/>
        </p:nvSpPr>
        <p:spPr>
          <a:xfrm>
            <a:off x="9117329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t-BDR"/>
          <p:cNvSpPr txBox="1"/>
          <p:nvPr/>
        </p:nvSpPr>
        <p:spPr>
          <a:xfrm>
            <a:off x="9281921" y="1700784"/>
            <a:ext cx="35432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BDR</a:t>
            </a:r>
          </a:p>
        </p:txBody>
      </p:sp>
      <p:sp>
        <p:nvSpPr>
          <p:cNvPr id="34" name="term-DROTHER"/>
          <p:cNvSpPr/>
          <p:nvPr/>
        </p:nvSpPr>
        <p:spPr>
          <a:xfrm>
            <a:off x="9928859" y="1609344"/>
            <a:ext cx="115595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b-DROTHER"/>
          <p:cNvSpPr/>
          <p:nvPr/>
        </p:nvSpPr>
        <p:spPr>
          <a:xfrm>
            <a:off x="9928859" y="1609344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t-DROTHER"/>
          <p:cNvSpPr txBox="1"/>
          <p:nvPr/>
        </p:nvSpPr>
        <p:spPr>
          <a:xfrm>
            <a:off x="10093451" y="1700784"/>
            <a:ext cx="82677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DROTHER</a:t>
            </a:r>
          </a:p>
        </p:txBody>
      </p:sp>
      <p:sp>
        <p:nvSpPr>
          <p:cNvPr id="37" name="term-cost"/>
          <p:cNvSpPr/>
          <p:nvPr/>
        </p:nvSpPr>
        <p:spPr>
          <a:xfrm>
            <a:off x="685800" y="2212848"/>
            <a:ext cx="677799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b-cost"/>
          <p:cNvSpPr/>
          <p:nvPr/>
        </p:nvSpPr>
        <p:spPr>
          <a:xfrm>
            <a:off x="685800" y="2212848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t-cost"/>
          <p:cNvSpPr txBox="1"/>
          <p:nvPr/>
        </p:nvSpPr>
        <p:spPr>
          <a:xfrm>
            <a:off x="850392" y="2304288"/>
            <a:ext cx="3486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cost</a:t>
            </a:r>
          </a:p>
        </p:txBody>
      </p:sp>
      <p:sp>
        <p:nvSpPr>
          <p:cNvPr id="40" name="term-reference bandwidt"/>
          <p:cNvSpPr/>
          <p:nvPr/>
        </p:nvSpPr>
        <p:spPr>
          <a:xfrm>
            <a:off x="1491615" y="2212848"/>
            <a:ext cx="200558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b-reference bandwidt"/>
          <p:cNvSpPr/>
          <p:nvPr/>
        </p:nvSpPr>
        <p:spPr>
          <a:xfrm>
            <a:off x="1491615" y="2212848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t-reference bandwidt"/>
          <p:cNvSpPr txBox="1"/>
          <p:nvPr/>
        </p:nvSpPr>
        <p:spPr>
          <a:xfrm>
            <a:off x="1656207" y="2304288"/>
            <a:ext cx="167639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reference bandwidth</a:t>
            </a:r>
          </a:p>
        </p:txBody>
      </p:sp>
      <p:sp>
        <p:nvSpPr>
          <p:cNvPr id="43" name="term-wildcard mask"/>
          <p:cNvSpPr/>
          <p:nvPr/>
        </p:nvSpPr>
        <p:spPr>
          <a:xfrm>
            <a:off x="3625215" y="2212848"/>
            <a:ext cx="157314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b-wildcard mask"/>
          <p:cNvSpPr/>
          <p:nvPr/>
        </p:nvSpPr>
        <p:spPr>
          <a:xfrm>
            <a:off x="3625215" y="2212848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t-wildcard mask"/>
          <p:cNvSpPr txBox="1"/>
          <p:nvPr/>
        </p:nvSpPr>
        <p:spPr>
          <a:xfrm>
            <a:off x="3789807" y="2304288"/>
            <a:ext cx="124396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wildcard mask</a:t>
            </a:r>
          </a:p>
        </p:txBody>
      </p:sp>
      <p:sp>
        <p:nvSpPr>
          <p:cNvPr id="46" name="term-passive interface"/>
          <p:cNvSpPr/>
          <p:nvPr/>
        </p:nvSpPr>
        <p:spPr>
          <a:xfrm>
            <a:off x="5326379" y="2212848"/>
            <a:ext cx="174078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b-passive interface"/>
          <p:cNvSpPr/>
          <p:nvPr/>
        </p:nvSpPr>
        <p:spPr>
          <a:xfrm>
            <a:off x="5326379" y="2212848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t-passive interface"/>
          <p:cNvSpPr txBox="1"/>
          <p:nvPr/>
        </p:nvSpPr>
        <p:spPr>
          <a:xfrm>
            <a:off x="5490971" y="2304288"/>
            <a:ext cx="141160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passive interface</a:t>
            </a:r>
          </a:p>
        </p:txBody>
      </p:sp>
      <p:sp>
        <p:nvSpPr>
          <p:cNvPr id="49" name="term-FULL state"/>
          <p:cNvSpPr/>
          <p:nvPr/>
        </p:nvSpPr>
        <p:spPr>
          <a:xfrm>
            <a:off x="7195184" y="2212848"/>
            <a:ext cx="1264539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b-FULL state"/>
          <p:cNvSpPr/>
          <p:nvPr/>
        </p:nvSpPr>
        <p:spPr>
          <a:xfrm>
            <a:off x="7195184" y="2212848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t-FULL state"/>
          <p:cNvSpPr txBox="1"/>
          <p:nvPr/>
        </p:nvSpPr>
        <p:spPr>
          <a:xfrm>
            <a:off x="7359776" y="2304288"/>
            <a:ext cx="93535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FULL state</a:t>
            </a:r>
          </a:p>
        </p:txBody>
      </p:sp>
      <p:sp>
        <p:nvSpPr>
          <p:cNvPr id="52" name="term-2-WAY state"/>
          <p:cNvSpPr/>
          <p:nvPr/>
        </p:nvSpPr>
        <p:spPr>
          <a:xfrm>
            <a:off x="8587740" y="2212848"/>
            <a:ext cx="141122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b-2-WAY state"/>
          <p:cNvSpPr/>
          <p:nvPr/>
        </p:nvSpPr>
        <p:spPr>
          <a:xfrm>
            <a:off x="8587740" y="2212848"/>
            <a:ext cx="32004" cy="47548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t-2-WAY state"/>
          <p:cNvSpPr txBox="1"/>
          <p:nvPr/>
        </p:nvSpPr>
        <p:spPr>
          <a:xfrm>
            <a:off x="8752331" y="2304288"/>
            <a:ext cx="108203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2-WAY state</a:t>
            </a:r>
          </a:p>
        </p:txBody>
      </p:sp>
      <p:sp>
        <p:nvSpPr>
          <p:cNvPr id="55" name="termnote"/>
          <p:cNvSpPr txBox="1"/>
          <p:nvPr/>
        </p:nvSpPr>
        <p:spPr>
          <a:xfrm>
            <a:off x="685800" y="2962656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8A959A"/>
                </a:solidFill>
                <a:latin typeface="Segoe UI"/>
              </a:rPr>
              <a:t>Each is defined where it first matters — not here.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ON THE EXAM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the blueprint asks for, precisely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icon"/>
          <p:cNvSpPr txBox="1"/>
          <p:nvPr/>
        </p:nvSpPr>
        <p:spPr>
          <a:xfrm>
            <a:off x="685800" y="1517904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6C3483"/>
                </a:solidFill>
                <a:latin typeface="Segoe UI"/>
              </a:rPr>
              <a:t>This is what the blueprint actually asks for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685800" y="2267712"/>
            <a:ext cx="1082009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Topic </a:t>
            </a:r>
            <a:r>
              <a:rPr sz="1600" b="1">
                <a:solidFill>
                  <a:srgbClr val="6C3483"/>
                </a:solidFill>
                <a:latin typeface="Segoe UI"/>
              </a:rPr>
              <a:t> 3.3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“configure single area OSPFv2 for IPv4 and OSPFv3 for IPv6” with four sub-points: neighbour adjacencies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excluding authentication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point-to-point, broadcast with DR/BDR selection, and router ID. Multi-area OSPF, authentication, virtual links and route summarisation are all out of scope. Learn these four properly rather than the whole protocol thinly.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2331720"/>
            <a:ext cx="12191695" cy="1828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secheading"/>
          <p:cNvSpPr txBox="1"/>
          <p:nvPr/>
        </p:nvSpPr>
        <p:spPr>
          <a:xfrm>
            <a:off x="685800" y="2670048"/>
            <a:ext cx="94484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What OSPF does that a static route cannot</a:t>
            </a:r>
          </a:p>
        </p:txBody>
      </p:sp>
      <p:pic>
        <p:nvPicPr>
          <p:cNvPr id="4" name="logo-iub-logo-white" descr="iub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00" y="2670048"/>
            <a:ext cx="1162394" cy="1152144"/>
          </a:xfrm>
          <a:prstGeom prst="rect">
            <a:avLst/>
          </a:prstGeom>
        </p:spPr>
      </p:pic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Link state, in three sentences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3079496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Every OSPF router floods a description of its own links to every other router in the area. Each router therefore ends up with an identical map of the whole area, which it stores in a </a:t>
            </a:r>
            <a:r>
              <a:rPr sz="2000" b="1" i="0">
                <a:solidFill>
                  <a:srgbClr val="6C3483"/>
                </a:solidFill>
                <a:latin typeface="Segoe UI"/>
              </a:rPr>
              <a:t>link-state database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Each then runs the shortest-path algorithm against that map to work out its own best route to everywhere.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Because every router has the whole map, a failure anywhere is known everywhere within seconds, and every router recalculates independently and consistently. That is the property a static route can never have.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45720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OSPF does that a static route cannot</a:t>
            </a:r>
          </a:p>
        </p:txBody>
      </p:sp>
      <p:sp>
        <p:nvSpPr>
          <p:cNvPr id="3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5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pic>
        <p:nvPicPr>
          <p:cNvPr id="6" name="figure" descr="ospfls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34009"/>
            <a:ext cx="10820095" cy="3082589"/>
          </a:xfrm>
          <a:prstGeom prst="rect">
            <a:avLst/>
          </a:prstGeom>
        </p:spPr>
      </p:pic>
      <p:sp>
        <p:nvSpPr>
          <p:cNvPr id="7" name="figcap"/>
          <p:cNvSpPr txBox="1"/>
          <p:nvPr/>
        </p:nvSpPr>
        <p:spPr>
          <a:xfrm>
            <a:off x="685800" y="568756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07B7C"/>
                </a:solidFill>
                <a:latin typeface="Segoe UI"/>
              </a:rPr>
              <a:t>Link state in one picture. The database is shared and identical; the routing table each router builds from it is its own.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DEFINITION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Router ID, and how it is chosen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3801872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The </a:t>
            </a:r>
            <a:r>
              <a:rPr sz="2000" b="1" i="0">
                <a:solidFill>
                  <a:srgbClr val="6C3483"/>
                </a:solidFill>
                <a:latin typeface="Segoe UI"/>
              </a:rPr>
              <a:t>router ID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a 32-bit value written like an IP address that uniquely identifies the router in OSPF. It is selected in this order: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978408" y="2580639"/>
            <a:ext cx="10234879" cy="380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The value configured with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router-id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always use this.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Otherwise, the highest IP address on any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loopback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interface.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Otherwise, the highest IP address on any active physical interface.</a:t>
            </a:r>
          </a:p>
        </p:txBody>
      </p:sp>
      <p:sp>
        <p:nvSpPr>
          <p:cNvPr id="10" name="tailbody"/>
          <p:cNvSpPr txBox="1"/>
          <p:nvPr/>
        </p:nvSpPr>
        <p:spPr>
          <a:xfrm>
            <a:off x="978408" y="4293615"/>
            <a:ext cx="10234879" cy="2034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Left to itself the ID can change when an interface goes down, which forces the adjacency to rebuild. Configure it explicitly and the problem disappears.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2331720"/>
            <a:ext cx="12191695" cy="1828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secheading"/>
          <p:cNvSpPr txBox="1"/>
          <p:nvPr/>
        </p:nvSpPr>
        <p:spPr>
          <a:xfrm>
            <a:off x="685800" y="2670048"/>
            <a:ext cx="94484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Configuring single-area OSPFv2</a:t>
            </a:r>
          </a:p>
        </p:txBody>
      </p:sp>
      <p:pic>
        <p:nvPicPr>
          <p:cNvPr id="4" name="logo-iub-logo-white" descr="iub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00" y="2670048"/>
            <a:ext cx="1162394" cy="1152144"/>
          </a:xfrm>
          <a:prstGeom prst="rect">
            <a:avLst/>
          </a:prstGeom>
        </p:spPr>
      </p:pic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CONFIGURE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OSPF on R1, area 0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517904"/>
            <a:ext cx="10820095" cy="4590288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517904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572768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IOS  ·  configuration mode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1956816"/>
            <a:ext cx="10417759" cy="40965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 A loopback gives a stable ID and a pingable address that never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 goes down with a physical interface.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interface Loopback0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 ip address 1.1.1.1 255.255.255.255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router ospf 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 ! The process number is LOCAL. R2 may use a different one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 ! the two will still peer -- unlike EIGRP or BGP.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 router-id 1.1.1.1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 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 ! The network statement uses a WILDCARD mask -- the inverse of 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 ! subnet mask. It means "enable OSPF on any interface whose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 ! address falls in this range, and advertise that subnet".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 network 10.255.0.0 0.0.0.3 area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 network 192.168.10.0 0.0.0.255 area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 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 ! Do not send hellos out of a LAN with no other routers on it.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 ! It saves bandwidth and removes an attack surface, while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 ! subnet is still advertised.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8EEF2"/>
                </a:solidFill>
                <a:latin typeface="Consolas"/>
              </a:rPr>
              <a:t> passive-interface Vlan10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 i="1">
                <a:solidFill>
                  <a:srgbClr val="6E8BA0"/>
                </a:solidFill>
                <a:latin typeface="Consolas"/>
              </a:rPr>
              <a:t> !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CONFIGURE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OSPF on R1, area 0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1125728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IOS  ·  configuration mode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6319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 ! Make cost reflect modern link speeds -- see the note below.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auto-cost reference-bandwidth 10000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Wildcard masks, quickly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3801872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 wildcard mask is the subnet mask with every bit inverted: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means “this bit must match”,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255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means “do not care”.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978408" y="2580639"/>
            <a:ext cx="10234879" cy="380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/24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→ mask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255.255.255.0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→ wildcard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0.0.0.255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/30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→ mask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255.255.255.252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→ wildcard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0.0.0.3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A single interface → wildcard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0.0.0.0</a:t>
            </a:r>
          </a:p>
        </p:txBody>
      </p:sp>
      <p:sp>
        <p:nvSpPr>
          <p:cNvPr id="10" name="tailbody"/>
          <p:cNvSpPr txBox="1"/>
          <p:nvPr/>
        </p:nvSpPr>
        <p:spPr>
          <a:xfrm>
            <a:off x="978408" y="4293615"/>
            <a:ext cx="10234879" cy="2034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The arithmetic is 255 minus each octet of the subnet mask. Wildcards return in Chapter 24.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WATCH OUT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Reference bandwidth: change it everywhere or nowhere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1901952"/>
            <a:ext cx="10820095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OSPF cost is textreference bandwidth div textinterface bandwidth, and the default reference is 100 Mbps. That means a 1 Gbps link and a 10 Gbps link both come out at cost 1 — OSPF cannot tell them apart, and will happily choose the slower one.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Raising the reference to 10000 (10 Gbps) restores the distinction. But cost is compared across the area, so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every router must use the same reference bandwidth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or the path calculations disagree and traffic takes strange routes. Change it on all of them, or on none.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2331720"/>
            <a:ext cx="12191695" cy="1828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secheading"/>
          <p:cNvSpPr txBox="1"/>
          <p:nvPr/>
        </p:nvSpPr>
        <p:spPr>
          <a:xfrm>
            <a:off x="685800" y="2670048"/>
            <a:ext cx="94484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DR and BDR on broadcast links</a:t>
            </a:r>
          </a:p>
        </p:txBody>
      </p:sp>
      <p:pic>
        <p:nvPicPr>
          <p:cNvPr id="4" name="logo-iub-logo-white" descr="iub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00" y="2670048"/>
            <a:ext cx="1162394" cy="1152144"/>
          </a:xfrm>
          <a:prstGeom prst="rect">
            <a:avLst/>
          </a:prstGeom>
        </p:spPr>
      </p:pic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Why a designated router exists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4161536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On a broadcast segment with n routers, full adjacencies between every pair would be n(n-1)/2 relationships — ten routers would need forty-five. Instead one router is elected </a:t>
            </a:r>
            <a:r>
              <a:rPr sz="2000" b="1" i="0">
                <a:solidFill>
                  <a:srgbClr val="6C3483"/>
                </a:solidFill>
                <a:latin typeface="Segoe UI"/>
              </a:rPr>
              <a:t>DR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one </a:t>
            </a:r>
            <a:r>
              <a:rPr sz="2000" b="1" i="0">
                <a:solidFill>
                  <a:srgbClr val="6C3483"/>
                </a:solidFill>
                <a:latin typeface="Segoe UI"/>
              </a:rPr>
              <a:t>BDR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and everyone else becomes a </a:t>
            </a:r>
            <a:r>
              <a:rPr sz="2000" b="1" i="0">
                <a:solidFill>
                  <a:srgbClr val="6C3483"/>
                </a:solidFill>
                <a:latin typeface="Segoe UI"/>
              </a:rPr>
              <a:t>DROTHER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adjacent only to those two. Flooding goes through the DR.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The election: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highest OSPF interface priority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wins; if priorities tie,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highest router ID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wins. Default priority is 1. Priority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means “never be DR”.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Two things surprise people. The election is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per segment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not per router — a router can be DR on one link and DROTHER on another. And it is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non-preemptive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: a new router with a better priority does not take over until the current DR fails. To force it, clear the process or bounce the interface.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CONFIGURE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Influencing the election, and avoiding it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3645407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IOS  ·  configuration mode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31516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Make this router the DR on the segment.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interface GigabitEthernet0/0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ip ospf priority 255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Never allow this one to be DR or BDR.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interface GigabitEthernet0/1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ip ospf priority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On a link with exactly two routers, skip the election entirely.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Point-to-point forms an adjacency faster and elects nobody.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interface GigabitEthernet0/2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ip ospf network point-to-point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2331720"/>
            <a:ext cx="12191695" cy="1828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secheading"/>
          <p:cNvSpPr txBox="1"/>
          <p:nvPr/>
        </p:nvSpPr>
        <p:spPr>
          <a:xfrm>
            <a:off x="685800" y="2670048"/>
            <a:ext cx="94484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Verifying</a:t>
            </a:r>
          </a:p>
        </p:txBody>
      </p:sp>
      <p:pic>
        <p:nvPicPr>
          <p:cNvPr id="4" name="logo-iub-logo-white" descr="iub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00" y="2670048"/>
            <a:ext cx="1162394" cy="1152144"/>
          </a:xfrm>
          <a:prstGeom prst="rect">
            <a:avLst/>
          </a:prstGeom>
        </p:spPr>
      </p:pic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VERIFY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show ip ospf neighbor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16296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R1#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1135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Neighbor ID     Pri   State           Dead Time   Address         Interface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2.2.2.2           1   FULL/DR         00:00:33    10.255.0.2      GigabitEthernet0/1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3.3.3.3           1   FULL/BDR        00:00:31    10.255.0.3      GigabitEthernet0/1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4.4.4.4           0   FULL/  -        00:00:38    10.255.1.2      GigabitEthernet0/2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VERIFY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show ip ospf interface GigabitEthernet0/1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2385568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R1#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189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GigabitEthernet0/1 is up, line protocol is up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Internet Address 10.255.0.1/30, Area 0, Attached via Network Statement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Process ID 10, Router ID 1.1.1.1, Network Type BROADCAST, Cost: 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Designated Router (ID) 2.2.2.2, Interface address 10.255.0.2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Backup Designated router (ID) 3.3.3.3, Interface address 10.255.0.3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Timer intervals configured, Hello 10, Dead 40, Wait 40, Retransmit 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 Neighbor Count is 2, Adjacent neighbor count is 2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COMMON PITFALLS  ·  Verifying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Common pitfalls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Assuming the process number must match.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It is locally significant.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router ospf 10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peers happily with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router ospf 65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Using a subnet mask in the network statement.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It takes a wildcard.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network 10.255.0.0 255.255.255.252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does not do what you expect.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Leaving the router ID to chance.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It changes when interfaces change, and every adjacency rebuilds.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Panicking at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2-WAY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Between two DROTHERs it is correct.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Changing reference bandwidth on one router.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See the warning above.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COMMON PITFALLS  ·  Verifying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Common pitfalls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901952"/>
            <a:ext cx="10820095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Forgetting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passive-interface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 on user VLANs.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Hellos on a LAN full of PCs are wasted and expose the protocol.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SYMPTOM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17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Adjacency stuck in EXSTART.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2130552"/>
            <a:ext cx="10820095" cy="422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Two routers see each other but never reach FULL: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Hellos are being exchanged — so area, timers, subnet and network type all match, or the neighbour would not be listed at all. The failure is later, during database exchange.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YOUR MOVE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17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Adjacency stuck in EXSTART.</a:t>
            </a:r>
          </a:p>
        </p:txBody>
      </p:sp>
      <p:sp>
        <p:nvSpPr>
          <p:cNvPr id="6" name="promptbg"/>
          <p:cNvSpPr/>
          <p:nvPr/>
        </p:nvSpPr>
        <p:spPr>
          <a:xfrm>
            <a:off x="685800" y="2939796"/>
            <a:ext cx="10820095" cy="84124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rompt"/>
          <p:cNvSpPr txBox="1"/>
          <p:nvPr/>
        </p:nvSpPr>
        <p:spPr>
          <a:xfrm>
            <a:off x="960120" y="3140964"/>
            <a:ext cx="102714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A5276"/>
                </a:solidFill>
                <a:latin typeface="Segoe UI"/>
              </a:rPr>
              <a:t>What would you check first — and what do you expect to see?</a:t>
            </a:r>
          </a:p>
        </p:txBody>
      </p:sp>
      <p:sp>
        <p:nvSpPr>
          <p:cNvPr id="8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9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EVIDENCE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17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show ip ospf neighbor</a:t>
            </a:r>
          </a:p>
        </p:txBody>
      </p:sp>
      <p:sp>
        <p:nvSpPr>
          <p:cNvPr id="6" name="bfcodebg"/>
          <p:cNvSpPr/>
          <p:nvPr/>
        </p:nvSpPr>
        <p:spPr>
          <a:xfrm>
            <a:off x="685800" y="2011680"/>
            <a:ext cx="10820095" cy="107594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fcodebar"/>
          <p:cNvSpPr/>
          <p:nvPr/>
        </p:nvSpPr>
        <p:spPr>
          <a:xfrm>
            <a:off x="685800" y="2011680"/>
            <a:ext cx="10820095" cy="329184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fcodettl"/>
          <p:cNvSpPr txBox="1"/>
          <p:nvPr/>
        </p:nvSpPr>
        <p:spPr>
          <a:xfrm>
            <a:off x="886968" y="2057400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R1#</a:t>
            </a:r>
          </a:p>
        </p:txBody>
      </p:sp>
      <p:sp>
        <p:nvSpPr>
          <p:cNvPr id="9" name="bfcode"/>
          <p:cNvSpPr txBox="1"/>
          <p:nvPr/>
        </p:nvSpPr>
        <p:spPr>
          <a:xfrm>
            <a:off x="886968" y="2432304"/>
            <a:ext cx="10417759" cy="600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Neighbor ID     Pri   State           Dead Time   Address         Interface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2.2.2.2           1   EXSTART/DR      00:00:35    10.255.0.2      GigabitEthernet0/1</a:t>
            </a:r>
          </a:p>
        </p:txBody>
      </p:sp>
      <p:sp>
        <p:nvSpPr>
          <p:cNvPr id="10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11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EVIDENCE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17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C252B"/>
                </a:solidFill>
                <a:latin typeface="Segoe UI"/>
              </a:rPr>
              <a:t>show ip ospf interface GigabitEthernet0/1 | include MTU|Internet</a:t>
            </a:r>
          </a:p>
        </p:txBody>
      </p:sp>
      <p:sp>
        <p:nvSpPr>
          <p:cNvPr id="6" name="bfcodebg"/>
          <p:cNvSpPr/>
          <p:nvPr/>
        </p:nvSpPr>
        <p:spPr>
          <a:xfrm>
            <a:off x="685800" y="2011680"/>
            <a:ext cx="10820095" cy="107594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fcodebar"/>
          <p:cNvSpPr/>
          <p:nvPr/>
        </p:nvSpPr>
        <p:spPr>
          <a:xfrm>
            <a:off x="685800" y="2011680"/>
            <a:ext cx="10820095" cy="329184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fcodettl"/>
          <p:cNvSpPr txBox="1"/>
          <p:nvPr/>
        </p:nvSpPr>
        <p:spPr>
          <a:xfrm>
            <a:off x="886968" y="2057400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R1#</a:t>
            </a:r>
          </a:p>
        </p:txBody>
      </p:sp>
      <p:sp>
        <p:nvSpPr>
          <p:cNvPr id="9" name="bfcode"/>
          <p:cNvSpPr txBox="1"/>
          <p:nvPr/>
        </p:nvSpPr>
        <p:spPr>
          <a:xfrm>
            <a:off x="886968" y="2432304"/>
            <a:ext cx="10417759" cy="600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  Internet Address 10.255.0.1/30, Area 0, Attached via Network Statement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  MTU is 1500 bytes</a:t>
            </a:r>
          </a:p>
        </p:txBody>
      </p:sp>
      <p:sp>
        <p:nvSpPr>
          <p:cNvPr id="10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11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EVIDENCE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17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C252B"/>
                </a:solidFill>
                <a:latin typeface="Segoe UI"/>
              </a:rPr>
              <a:t>show ip ospf interface GigabitEthernet0/1 | include MTU|Internet</a:t>
            </a:r>
          </a:p>
        </p:txBody>
      </p:sp>
      <p:sp>
        <p:nvSpPr>
          <p:cNvPr id="6" name="bfcodebg"/>
          <p:cNvSpPr/>
          <p:nvPr/>
        </p:nvSpPr>
        <p:spPr>
          <a:xfrm>
            <a:off x="685800" y="2011680"/>
            <a:ext cx="10820095" cy="107594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fcodebar"/>
          <p:cNvSpPr/>
          <p:nvPr/>
        </p:nvSpPr>
        <p:spPr>
          <a:xfrm>
            <a:off x="685800" y="2011680"/>
            <a:ext cx="10820095" cy="329184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fcodettl"/>
          <p:cNvSpPr txBox="1"/>
          <p:nvPr/>
        </p:nvSpPr>
        <p:spPr>
          <a:xfrm>
            <a:off x="886968" y="2057400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R2#</a:t>
            </a:r>
          </a:p>
        </p:txBody>
      </p:sp>
      <p:sp>
        <p:nvSpPr>
          <p:cNvPr id="9" name="bfcode"/>
          <p:cNvSpPr txBox="1"/>
          <p:nvPr/>
        </p:nvSpPr>
        <p:spPr>
          <a:xfrm>
            <a:off x="886968" y="2432304"/>
            <a:ext cx="10417759" cy="600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  Internet Address 10.255.0.2/30, Area 0, Attached via Network Statement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E8EEF2"/>
                </a:solidFill>
                <a:latin typeface="Consolas"/>
              </a:rPr>
              <a:t>  MTU is 1400 bytes</a:t>
            </a:r>
          </a:p>
        </p:txBody>
      </p:sp>
      <p:sp>
        <p:nvSpPr>
          <p:cNvPr id="10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11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YOUR MOVE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17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6" name="promptbg"/>
          <p:cNvSpPr/>
          <p:nvPr/>
        </p:nvSpPr>
        <p:spPr>
          <a:xfrm>
            <a:off x="685800" y="2939796"/>
            <a:ext cx="10820095" cy="84124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rompt"/>
          <p:cNvSpPr txBox="1"/>
          <p:nvPr/>
        </p:nvSpPr>
        <p:spPr>
          <a:xfrm>
            <a:off x="960120" y="3140964"/>
            <a:ext cx="102714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A5276"/>
                </a:solidFill>
                <a:latin typeface="Segoe UI"/>
              </a:rPr>
              <a:t>What is the fault — and what does this output rule out?</a:t>
            </a:r>
          </a:p>
        </p:txBody>
      </p:sp>
      <p:sp>
        <p:nvSpPr>
          <p:cNvPr id="8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9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DIAGNOSIS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17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Why it is doing that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2130552"/>
            <a:ext cx="10820095" cy="422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Diagnosis.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 MTU mismatch. OSPF checks MTU during database description exchange and refuses to proceed if the two ends disagree — which is exactly why the adjacency reaches EXSTART and stops there. Being stuck in EXSTART or EXCHANGE is close to diagnostic of this.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THE FIX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17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And the lesson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2130552"/>
            <a:ext cx="10820095" cy="422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Fix.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Make the MTUs match: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ip mtu 1500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on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’s interface, or 1400 on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’s if the smaller value was deliberate. The adjacency will move to FULL within a dead interval. Do not use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ip ospf mtu-ignore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except as a temporary measure — it suppresses the symptom and leaves a real MTU mismatch to fragment traffic later.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LAB · PACKET TRACER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Three routers, one area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 i="0">
                <a:solidFill>
                  <a:srgbClr val="1C252B"/>
                </a:solidFill>
                <a:latin typeface="Segoe UI"/>
              </a:rPr>
              <a:t>Topology.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R1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R2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R3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 a shared Ethernet segment; each with a LAN;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R1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also point-to-point to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R3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685800" y="2361184"/>
            <a:ext cx="10820095" cy="402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1.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Configure loopbacks and explicit router IDs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1.1.1.1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2.2.2.2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3.3.3.3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Enable OSPF area 0 on all links and LANs, with LANs passive.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2.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Confirm every neighbour reaches FULL. Record which router became DR and which BDR, and explain the election from the router IDs.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3.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Set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ip ospf priority 255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R3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’s segment interface. Note that nothing changes, then bounce the interfaces and note that it does. Explain why.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4.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On the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R1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–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R3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link, set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ip ospf network point-to-point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at both ends. Confirm the state becomes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FULL/ -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with no DR.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LAB · PACKET TRACER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Three routers, one area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901952"/>
            <a:ext cx="10820095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5.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Change the hello interval on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R1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only. Watch the adjacency drop, and find the mismatch with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ip ospf interface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6.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Set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ip mtu 1400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 one end and reproduce the EXSTART fault above.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7.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Extension.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Raise the reference bandwidth on one router only and observe the asymmetric routing that results.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1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Two routers on a broadcast segment show </a:t>
            </a:r>
            <a:r>
              <a:rPr sz="2900" b="0" i="0">
                <a:solidFill>
                  <a:srgbClr val="FFFFFF"/>
                </a:solidFill>
                <a:latin typeface="Consolas"/>
              </a:rPr>
              <a:t>2-WAY</a:t>
            </a:r>
            <a:r>
              <a:rPr sz="3000" b="0" i="0">
                <a:solidFill>
                  <a:srgbClr val="FFFFFF"/>
                </a:solidFill>
                <a:latin typeface="Segoe UI"/>
              </a:rPr>
              <a:t> and never go FULL. Under what circumstance is this correct rather than a fault?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1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Two routers on a broadcast segment show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2-WAY</a:t>
            </a:r>
            <a:r>
              <a:rPr sz="2000" b="1" i="0">
                <a:solidFill>
                  <a:srgbClr val="1A5276"/>
                </a:solidFill>
                <a:latin typeface="Segoe UI"/>
              </a:rPr>
              <a:t> and never go FULL. Under what circumstance is this correct rather than a fault?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511044"/>
            <a:ext cx="41148" cy="114223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511044"/>
            <a:ext cx="10564063" cy="3780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When both routers are DROTHERs. Two non-designated routers on a broadcast segment deliberately stop at 2-WAY — they exchange databases with the DR and BDR, not with each other. It is a fault only if one of them should have been the DR or BDR.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2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Which wildcard mask enables OSPF on </a:t>
            </a:r>
            <a:r>
              <a:rPr sz="2900" b="0" i="0">
                <a:solidFill>
                  <a:srgbClr val="FFFFFF"/>
                </a:solidFill>
                <a:latin typeface="Consolas"/>
              </a:rPr>
              <a:t>172.16.8.0/22</a:t>
            </a:r>
            <a:r>
              <a:rPr sz="3000" b="0" i="0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2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Which wildcard mask enables OSPF on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172.16.8.0/22</a:t>
            </a:r>
            <a:r>
              <a:rPr sz="2000" b="1" i="0">
                <a:solidFill>
                  <a:srgbClr val="1A5276"/>
                </a:solidFill>
                <a:latin typeface="Segoe UI"/>
              </a:rPr>
              <a:t>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197354"/>
            <a:ext cx="41148" cy="51485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197354"/>
            <a:ext cx="10564063" cy="40937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A5276"/>
                </a:solidFill>
                <a:latin typeface="Consolas"/>
              </a:rPr>
              <a:t>0.0.3.255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The mask for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/22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255.255.252.0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255-252 = 3.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3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A router’s OSPF adjacencies all rebuild every time one interface flaps. What is the cause, and what is the one-line fix?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3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A router’s OSPF adjacencies all rebuild every time one interface flaps. What is the cause, and what is the one-line fix?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511044"/>
            <a:ext cx="41148" cy="114223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511044"/>
            <a:ext cx="10564063" cy="3780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The router ID was derived from that interface’s address, so when the interface flaps the router ID changes and every adjacency rebuilds. Fix it with an explicit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router-id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or a loopback, which never flaps.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CHAPTER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to take away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17. OSPFv2, Single Area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3.3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OSPF floods a description of every link, so all routers in the area share one map and converge consistently.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Area, hello and dead timers, subnet and mask, and network type must all match, or no adjacency forms. Router IDs must be unique.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Configure the router ID explicitly; otherwise it moves and adjacencies rebuild.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Network statements take wildcard masks. The process number is local.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DR and BDR are elected per segment by priority then router ID, and the election is non-preemptive.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ip ospf network point-to-point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avoids it entirely on two-router links.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6C3483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FULL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healthy;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2-WAY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between DROTHERs is healthy; stuck in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EXSTART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means MTU.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34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ltitle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Where we got to</a:t>
            </a:r>
          </a:p>
        </p:txBody>
      </p:sp>
      <p:sp>
        <p:nvSpPr>
          <p:cNvPr id="4" name="cltakeaways"/>
          <p:cNvSpPr txBox="1"/>
          <p:nvPr/>
        </p:nvSpPr>
        <p:spPr>
          <a:xfrm>
            <a:off x="685800" y="2011680"/>
            <a:ext cx="1082009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OSPF floods a description of every link, so all routers in the area share one map and converge consistently.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Area, hello and dead timers, subnet and mask, and network type must all match, or no adjacency forms. Router IDs must be unique.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Configure the router ID explicitly; otherwise it moves and adjacencies rebuild.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Network statements take wildcard masks. The process number is local.</a:t>
            </a:r>
          </a:p>
        </p:txBody>
      </p:sp>
      <p:sp>
        <p:nvSpPr>
          <p:cNvPr id="5" name="nextbg"/>
          <p:cNvSpPr/>
          <p:nvPr/>
        </p:nvSpPr>
        <p:spPr>
          <a:xfrm>
            <a:off x="685800" y="5303520"/>
            <a:ext cx="10820095" cy="822960"/>
          </a:xfrm>
          <a:prstGeom prst="rect">
            <a:avLst/>
          </a:prstGeom>
          <a:solidFill>
            <a:srgbClr val="561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nextlab"/>
          <p:cNvSpPr txBox="1"/>
          <p:nvPr/>
        </p:nvSpPr>
        <p:spPr>
          <a:xfrm>
            <a:off x="960120" y="5449824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B8C9DA"/>
                </a:solidFill>
                <a:latin typeface="Segoe UI"/>
              </a:rPr>
              <a:t>NEXT</a:t>
            </a:r>
          </a:p>
        </p:txBody>
      </p:sp>
      <p:sp>
        <p:nvSpPr>
          <p:cNvPr id="7" name="nexttitle"/>
          <p:cNvSpPr txBox="1"/>
          <p:nvPr/>
        </p:nvSpPr>
        <p:spPr>
          <a:xfrm>
            <a:off x="960120" y="5705856"/>
            <a:ext cx="102714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Chapter 18 — OSPFv3 for IPv6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