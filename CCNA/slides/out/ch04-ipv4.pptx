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4: IPv4 Addressing and Subnetting. Blueprint topics: 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seconds. Students meeting a chapter in week ten cannot place it without being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IPv4 Addressing and Subnetting 1.3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 - they are defined as they arrive. This slide is for the students'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in this chapter is a consequence of one fact: an IPv4 address is 32 bits, and we write it as four decimal numbers only for our own convenience. The shortcut in Section sec:magic lets you subnet without ever writing a bit down — but it will be a magic trick you can forget rather than a method you can rebuild unless you look at the bits properly once. This is that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% Nine columns: the budget is about 12.8 cm, not the 15.78 of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IPv4 address is 32 bits, written as four decimal bytes. It carries two pieces of information at once, and the mask is what separates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Usable is block size minus two, because the first address in a block is the network address and the last is the broadcast address. The exception is /31, where both are usable because a point-to-point link has no need for a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have now seen where this comes from, so it is a shortcut rather than a spell. In the exam you will not have time to write out binary — and after this section you will not need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Take two or three answers before advancing. The point is the prediction, not the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61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gfoot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94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ourse"/>
          <p:cNvSpPr txBox="1"/>
          <p:nvPr/>
        </p:nvSpPr>
        <p:spPr>
          <a:xfrm>
            <a:off x="685800" y="1170432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8D6E5"/>
                </a:solidFill>
                <a:latin typeface="Segoe UI"/>
              </a:rPr>
              <a:t>CCNA 200-301 V2.0</a:t>
            </a:r>
          </a:p>
        </p:txBody>
      </p:sp>
      <p:sp>
        <p:nvSpPr>
          <p:cNvPr id="5" name="chnum"/>
          <p:cNvSpPr txBox="1"/>
          <p:nvPr/>
        </p:nvSpPr>
        <p:spPr>
          <a:xfrm>
            <a:off x="685800" y="1572768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6" name="chtitle"/>
          <p:cNvSpPr txBox="1"/>
          <p:nvPr/>
        </p:nvSpPr>
        <p:spPr>
          <a:xfrm>
            <a:off x="2423160" y="1700784"/>
            <a:ext cx="90827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IPv4 Addressing and Subnetting</a:t>
            </a:r>
          </a:p>
        </p:txBody>
      </p:sp>
      <p:sp>
        <p:nvSpPr>
          <p:cNvPr id="7" name="part"/>
          <p:cNvSpPr txBox="1"/>
          <p:nvPr/>
        </p:nvSpPr>
        <p:spPr>
          <a:xfrm>
            <a:off x="2441448" y="3017520"/>
            <a:ext cx="90827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8D6E5"/>
                </a:solidFill>
                <a:latin typeface="Segoe UI"/>
              </a:rPr>
              <a:t>Part I — Foundations</a:t>
            </a:r>
          </a:p>
        </p:txBody>
      </p:sp>
      <p:sp>
        <p:nvSpPr>
          <p:cNvPr id="8" name="tlabel"/>
          <p:cNvSpPr txBox="1"/>
          <p:nvPr/>
        </p:nvSpPr>
        <p:spPr>
          <a:xfrm>
            <a:off x="2441448" y="340156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EXAM TOPICS</a:t>
            </a:r>
          </a:p>
        </p:txBody>
      </p:sp>
      <p:sp>
        <p:nvSpPr>
          <p:cNvPr id="9" name="chip-1.3"/>
          <p:cNvSpPr/>
          <p:nvPr/>
        </p:nvSpPr>
        <p:spPr>
          <a:xfrm>
            <a:off x="2441448" y="3657600"/>
            <a:ext cx="566928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iptx-1.3"/>
          <p:cNvSpPr txBox="1"/>
          <p:nvPr/>
        </p:nvSpPr>
        <p:spPr>
          <a:xfrm>
            <a:off x="2441448" y="3689604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618D"/>
                </a:solidFill>
                <a:latin typeface="Segoe UI"/>
              </a:rPr>
              <a:t>1.3</a:t>
            </a:r>
          </a:p>
        </p:txBody>
      </p:sp>
      <p:sp>
        <p:nvSpPr>
          <p:cNvPr id="11" name="authlab"/>
          <p:cNvSpPr txBox="1"/>
          <p:nvPr/>
        </p:nvSpPr>
        <p:spPr>
          <a:xfrm>
            <a:off x="685800" y="5138928"/>
            <a:ext cx="64920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LECTURER</a:t>
            </a:r>
          </a:p>
        </p:txBody>
      </p:sp>
      <p:sp>
        <p:nvSpPr>
          <p:cNvPr id="12" name="author"/>
          <p:cNvSpPr txBox="1"/>
          <p:nvPr/>
        </p:nvSpPr>
        <p:spPr>
          <a:xfrm>
            <a:off x="685800" y="5394960"/>
            <a:ext cx="649205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Dr. Mustafa Hameed</a:t>
            </a:r>
          </a:p>
        </p:txBody>
      </p:sp>
      <p:pic>
        <p:nvPicPr>
          <p:cNvPr id="13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1978" y="4443984"/>
            <a:ext cx="1070141" cy="1060704"/>
          </a:xfrm>
          <a:prstGeom prst="rect">
            <a:avLst/>
          </a:prstGeom>
        </p:spPr>
      </p:pic>
      <p:pic>
        <p:nvPicPr>
          <p:cNvPr id="14" name="logo-dit-logo" descr="di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6439" y="4443984"/>
            <a:ext cx="1029456" cy="1060704"/>
          </a:xfrm>
          <a:prstGeom prst="rect">
            <a:avLst/>
          </a:prstGeom>
        </p:spPr>
      </p:pic>
      <p:sp>
        <p:nvSpPr>
          <p:cNvPr id="15" name="lockup1"/>
          <p:cNvSpPr txBox="1"/>
          <p:nvPr/>
        </p:nvSpPr>
        <p:spPr>
          <a:xfrm>
            <a:off x="7116775" y="563270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6" name="lockup2"/>
          <p:cNvSpPr txBox="1"/>
          <p:nvPr/>
        </p:nvSpPr>
        <p:spPr>
          <a:xfrm>
            <a:off x="7116775" y="5870448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C8D6E5"/>
                </a:solidFill>
                <a:latin typeface="Segoe UI"/>
              </a:rPr>
              <a:t>Department of Information Technology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THE COURSE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Where this chapter sits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part1bg"/>
          <p:cNvSpPr/>
          <p:nvPr/>
        </p:nvSpPr>
        <p:spPr>
          <a:xfrm>
            <a:off x="685800" y="1792224"/>
            <a:ext cx="10820095" cy="56692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part1rule"/>
          <p:cNvSpPr/>
          <p:nvPr/>
        </p:nvSpPr>
        <p:spPr>
          <a:xfrm>
            <a:off x="685800" y="1792224"/>
            <a:ext cx="64008" cy="56692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part1n"/>
          <p:cNvSpPr txBox="1"/>
          <p:nvPr/>
        </p:nvSpPr>
        <p:spPr>
          <a:xfrm>
            <a:off x="941832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618D"/>
                </a:solidFill>
                <a:latin typeface="Segoe UI"/>
              </a:rPr>
              <a:t>Part I</a:t>
            </a:r>
          </a:p>
        </p:txBody>
      </p:sp>
      <p:sp>
        <p:nvSpPr>
          <p:cNvPr id="10" name="part1t"/>
          <p:cNvSpPr txBox="1"/>
          <p:nvPr/>
        </p:nvSpPr>
        <p:spPr>
          <a:xfrm>
            <a:off x="2194560" y="1938528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C252B"/>
                </a:solidFill>
                <a:latin typeface="Segoe UI"/>
              </a:rPr>
              <a:t>Foundations</a:t>
            </a:r>
          </a:p>
        </p:txBody>
      </p:sp>
      <p:sp>
        <p:nvSpPr>
          <p:cNvPr id="11" name="part1c"/>
          <p:cNvSpPr txBox="1"/>
          <p:nvPr/>
        </p:nvSpPr>
        <p:spPr>
          <a:xfrm>
            <a:off x="9951415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F618D"/>
                </a:solidFill>
                <a:latin typeface="Segoe UI"/>
              </a:rPr>
              <a:t>chapters 1–7</a:t>
            </a:r>
          </a:p>
        </p:txBody>
      </p:sp>
      <p:sp>
        <p:nvSpPr>
          <p:cNvPr id="12" name="part2bg"/>
          <p:cNvSpPr/>
          <p:nvPr/>
        </p:nvSpPr>
        <p:spPr>
          <a:xfrm>
            <a:off x="685800" y="2450591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art2rule"/>
          <p:cNvSpPr/>
          <p:nvPr/>
        </p:nvSpPr>
        <p:spPr>
          <a:xfrm>
            <a:off x="685800" y="2450591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part2n"/>
          <p:cNvSpPr txBox="1"/>
          <p:nvPr/>
        </p:nvSpPr>
        <p:spPr>
          <a:xfrm>
            <a:off x="941832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</a:t>
            </a:r>
          </a:p>
        </p:txBody>
      </p:sp>
      <p:sp>
        <p:nvSpPr>
          <p:cNvPr id="15" name="part2t"/>
          <p:cNvSpPr txBox="1"/>
          <p:nvPr/>
        </p:nvSpPr>
        <p:spPr>
          <a:xfrm>
            <a:off x="2194560" y="2596896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Switching and Network Access</a:t>
            </a:r>
          </a:p>
        </p:txBody>
      </p:sp>
      <p:sp>
        <p:nvSpPr>
          <p:cNvPr id="16" name="part2c"/>
          <p:cNvSpPr txBox="1"/>
          <p:nvPr/>
        </p:nvSpPr>
        <p:spPr>
          <a:xfrm>
            <a:off x="9951415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8–14</a:t>
            </a:r>
          </a:p>
        </p:txBody>
      </p:sp>
      <p:sp>
        <p:nvSpPr>
          <p:cNvPr id="17" name="part3bg"/>
          <p:cNvSpPr/>
          <p:nvPr/>
        </p:nvSpPr>
        <p:spPr>
          <a:xfrm>
            <a:off x="685800" y="3108959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art3rule"/>
          <p:cNvSpPr/>
          <p:nvPr/>
        </p:nvSpPr>
        <p:spPr>
          <a:xfrm>
            <a:off x="685800" y="3108959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art3n"/>
          <p:cNvSpPr txBox="1"/>
          <p:nvPr/>
        </p:nvSpPr>
        <p:spPr>
          <a:xfrm>
            <a:off x="941832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III</a:t>
            </a:r>
          </a:p>
        </p:txBody>
      </p:sp>
      <p:sp>
        <p:nvSpPr>
          <p:cNvPr id="20" name="part3t"/>
          <p:cNvSpPr txBox="1"/>
          <p:nvPr/>
        </p:nvSpPr>
        <p:spPr>
          <a:xfrm>
            <a:off x="2194560" y="3255263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IP Routing</a:t>
            </a:r>
          </a:p>
        </p:txBody>
      </p:sp>
      <p:sp>
        <p:nvSpPr>
          <p:cNvPr id="21" name="part3c"/>
          <p:cNvSpPr txBox="1"/>
          <p:nvPr/>
        </p:nvSpPr>
        <p:spPr>
          <a:xfrm>
            <a:off x="9951415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15–19</a:t>
            </a:r>
          </a:p>
        </p:txBody>
      </p:sp>
      <p:sp>
        <p:nvSpPr>
          <p:cNvPr id="22" name="part4bg"/>
          <p:cNvSpPr/>
          <p:nvPr/>
        </p:nvSpPr>
        <p:spPr>
          <a:xfrm>
            <a:off x="685800" y="3767327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part4rule"/>
          <p:cNvSpPr/>
          <p:nvPr/>
        </p:nvSpPr>
        <p:spPr>
          <a:xfrm>
            <a:off x="685800" y="3767327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part4n"/>
          <p:cNvSpPr txBox="1"/>
          <p:nvPr/>
        </p:nvSpPr>
        <p:spPr>
          <a:xfrm>
            <a:off x="941832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IV</a:t>
            </a:r>
          </a:p>
        </p:txBody>
      </p:sp>
      <p:sp>
        <p:nvSpPr>
          <p:cNvPr id="25" name="part4t"/>
          <p:cNvSpPr txBox="1"/>
          <p:nvPr/>
        </p:nvSpPr>
        <p:spPr>
          <a:xfrm>
            <a:off x="2194560" y="3913631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Network Services and Security</a:t>
            </a:r>
          </a:p>
        </p:txBody>
      </p:sp>
      <p:sp>
        <p:nvSpPr>
          <p:cNvPr id="26" name="part4c"/>
          <p:cNvSpPr txBox="1"/>
          <p:nvPr/>
        </p:nvSpPr>
        <p:spPr>
          <a:xfrm>
            <a:off x="9951415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20–26</a:t>
            </a:r>
          </a:p>
        </p:txBody>
      </p:sp>
      <p:sp>
        <p:nvSpPr>
          <p:cNvPr id="27" name="part5bg"/>
          <p:cNvSpPr/>
          <p:nvPr/>
        </p:nvSpPr>
        <p:spPr>
          <a:xfrm>
            <a:off x="685800" y="4425695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part5rule"/>
          <p:cNvSpPr/>
          <p:nvPr/>
        </p:nvSpPr>
        <p:spPr>
          <a:xfrm>
            <a:off x="685800" y="4425695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part5n"/>
          <p:cNvSpPr txBox="1"/>
          <p:nvPr/>
        </p:nvSpPr>
        <p:spPr>
          <a:xfrm>
            <a:off x="941832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</a:t>
            </a:r>
          </a:p>
        </p:txBody>
      </p:sp>
      <p:sp>
        <p:nvSpPr>
          <p:cNvPr id="30" name="part5t"/>
          <p:cNvSpPr txBox="1"/>
          <p:nvPr/>
        </p:nvSpPr>
        <p:spPr>
          <a:xfrm>
            <a:off x="2194560" y="4571999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Wireless, Virtualisation and Operations</a:t>
            </a:r>
          </a:p>
        </p:txBody>
      </p:sp>
      <p:sp>
        <p:nvSpPr>
          <p:cNvPr id="31" name="part5c"/>
          <p:cNvSpPr txBox="1"/>
          <p:nvPr/>
        </p:nvSpPr>
        <p:spPr>
          <a:xfrm>
            <a:off x="9951415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27–32</a:t>
            </a:r>
          </a:p>
        </p:txBody>
      </p:sp>
      <p:sp>
        <p:nvSpPr>
          <p:cNvPr id="32" name="part6bg"/>
          <p:cNvSpPr/>
          <p:nvPr/>
        </p:nvSpPr>
        <p:spPr>
          <a:xfrm>
            <a:off x="685800" y="5084063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part6rule"/>
          <p:cNvSpPr/>
          <p:nvPr/>
        </p:nvSpPr>
        <p:spPr>
          <a:xfrm>
            <a:off x="685800" y="5084063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part6n"/>
          <p:cNvSpPr txBox="1"/>
          <p:nvPr/>
        </p:nvSpPr>
        <p:spPr>
          <a:xfrm>
            <a:off x="941832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VI</a:t>
            </a:r>
          </a:p>
        </p:txBody>
      </p:sp>
      <p:sp>
        <p:nvSpPr>
          <p:cNvPr id="35" name="part6t"/>
          <p:cNvSpPr txBox="1"/>
          <p:nvPr/>
        </p:nvSpPr>
        <p:spPr>
          <a:xfrm>
            <a:off x="2194560" y="5230367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Sitting the Exam</a:t>
            </a:r>
          </a:p>
        </p:txBody>
      </p:sp>
      <p:sp>
        <p:nvSpPr>
          <p:cNvPr id="36" name="part6c"/>
          <p:cNvSpPr txBox="1"/>
          <p:nvPr/>
        </p:nvSpPr>
        <p:spPr>
          <a:xfrm>
            <a:off x="9951415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33–34</a:t>
            </a:r>
          </a:p>
        </p:txBody>
      </p:sp>
      <p:sp>
        <p:nvSpPr>
          <p:cNvPr id="3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3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LEARNING OUTCOMES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you will be able to do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Convert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between dotted decimal, binary and prefix length fast enough to do it in an exam without a calculator.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Compute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network address, broadcast address, usable range and host count of any subnet, in under thirty seconds.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Subnet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 given block to meet a stated requirement, and apply variable-length masks without overlapping.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Diagnose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four addressing faults that account for almost every broken host: wrong mask, wrong gateway, address outside the subnet, and duplicate address.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ASSUMED KNOWLEDGE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Before we start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33705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Chapter 1 and Chapter 3. You need to be comfortable that a switch works on MAC addresses and a router works on IP addresses.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KEY TERMS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Vocabulary for this chapter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erm-dotted decimal"/>
          <p:cNvSpPr/>
          <p:nvPr/>
        </p:nvSpPr>
        <p:spPr>
          <a:xfrm>
            <a:off x="685800" y="1609344"/>
            <a:ext cx="155981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b-dotted decimal"/>
          <p:cNvSpPr/>
          <p:nvPr/>
        </p:nvSpPr>
        <p:spPr>
          <a:xfrm>
            <a:off x="685800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t-dotted decimal"/>
          <p:cNvSpPr txBox="1"/>
          <p:nvPr/>
        </p:nvSpPr>
        <p:spPr>
          <a:xfrm>
            <a:off x="850392" y="1700784"/>
            <a:ext cx="123063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dotted decimal</a:t>
            </a:r>
          </a:p>
        </p:txBody>
      </p:sp>
      <p:sp>
        <p:nvSpPr>
          <p:cNvPr id="10" name="term-prefix length"/>
          <p:cNvSpPr/>
          <p:nvPr/>
        </p:nvSpPr>
        <p:spPr>
          <a:xfrm>
            <a:off x="2373630" y="1609344"/>
            <a:ext cx="135216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b-prefix length"/>
          <p:cNvSpPr/>
          <p:nvPr/>
        </p:nvSpPr>
        <p:spPr>
          <a:xfrm>
            <a:off x="2373630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t-prefix length"/>
          <p:cNvSpPr txBox="1"/>
          <p:nvPr/>
        </p:nvSpPr>
        <p:spPr>
          <a:xfrm>
            <a:off x="2538222" y="1700784"/>
            <a:ext cx="10229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prefix length</a:t>
            </a:r>
          </a:p>
        </p:txBody>
      </p:sp>
      <p:sp>
        <p:nvSpPr>
          <p:cNvPr id="13" name="term-subnet mask"/>
          <p:cNvSpPr/>
          <p:nvPr/>
        </p:nvSpPr>
        <p:spPr>
          <a:xfrm>
            <a:off x="3853815" y="1609344"/>
            <a:ext cx="138836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b-subnet mask"/>
          <p:cNvSpPr/>
          <p:nvPr/>
        </p:nvSpPr>
        <p:spPr>
          <a:xfrm>
            <a:off x="3853815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t-subnet mask"/>
          <p:cNvSpPr txBox="1"/>
          <p:nvPr/>
        </p:nvSpPr>
        <p:spPr>
          <a:xfrm>
            <a:off x="4018407" y="1700784"/>
            <a:ext cx="105918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subnet mask</a:t>
            </a:r>
          </a:p>
        </p:txBody>
      </p:sp>
      <p:sp>
        <p:nvSpPr>
          <p:cNvPr id="16" name="term-network address"/>
          <p:cNvSpPr/>
          <p:nvPr/>
        </p:nvSpPr>
        <p:spPr>
          <a:xfrm>
            <a:off x="5370195" y="1609344"/>
            <a:ext cx="169697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b-network address"/>
          <p:cNvSpPr/>
          <p:nvPr/>
        </p:nvSpPr>
        <p:spPr>
          <a:xfrm>
            <a:off x="5370195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t-network address"/>
          <p:cNvSpPr txBox="1"/>
          <p:nvPr/>
        </p:nvSpPr>
        <p:spPr>
          <a:xfrm>
            <a:off x="5534787" y="1700784"/>
            <a:ext cx="136778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network address</a:t>
            </a:r>
          </a:p>
        </p:txBody>
      </p:sp>
      <p:sp>
        <p:nvSpPr>
          <p:cNvPr id="19" name="term-broadcast address"/>
          <p:cNvSpPr/>
          <p:nvPr/>
        </p:nvSpPr>
        <p:spPr>
          <a:xfrm>
            <a:off x="7195185" y="1609344"/>
            <a:ext cx="182079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b-broadcast address"/>
          <p:cNvSpPr/>
          <p:nvPr/>
        </p:nvSpPr>
        <p:spPr>
          <a:xfrm>
            <a:off x="7195185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t-broadcast address"/>
          <p:cNvSpPr txBox="1"/>
          <p:nvPr/>
        </p:nvSpPr>
        <p:spPr>
          <a:xfrm>
            <a:off x="7359777" y="1700784"/>
            <a:ext cx="149161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broadcast address</a:t>
            </a:r>
          </a:p>
        </p:txBody>
      </p:sp>
      <p:sp>
        <p:nvSpPr>
          <p:cNvPr id="22" name="term-usable range"/>
          <p:cNvSpPr/>
          <p:nvPr/>
        </p:nvSpPr>
        <p:spPr>
          <a:xfrm>
            <a:off x="9144000" y="1609344"/>
            <a:ext cx="137502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b-usable range"/>
          <p:cNvSpPr/>
          <p:nvPr/>
        </p:nvSpPr>
        <p:spPr>
          <a:xfrm>
            <a:off x="9144000" y="1609344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t-usable range"/>
          <p:cNvSpPr txBox="1"/>
          <p:nvPr/>
        </p:nvSpPr>
        <p:spPr>
          <a:xfrm>
            <a:off x="9308592" y="1700784"/>
            <a:ext cx="10458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usable range</a:t>
            </a:r>
          </a:p>
        </p:txBody>
      </p:sp>
      <p:sp>
        <p:nvSpPr>
          <p:cNvPr id="25" name="term-block size"/>
          <p:cNvSpPr/>
          <p:nvPr/>
        </p:nvSpPr>
        <p:spPr>
          <a:xfrm>
            <a:off x="685800" y="2212848"/>
            <a:ext cx="118071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b-block size"/>
          <p:cNvSpPr/>
          <p:nvPr/>
        </p:nvSpPr>
        <p:spPr>
          <a:xfrm>
            <a:off x="68580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t-block size"/>
          <p:cNvSpPr txBox="1"/>
          <p:nvPr/>
        </p:nvSpPr>
        <p:spPr>
          <a:xfrm>
            <a:off x="850392" y="2304288"/>
            <a:ext cx="85153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block size</a:t>
            </a:r>
          </a:p>
        </p:txBody>
      </p:sp>
      <p:sp>
        <p:nvSpPr>
          <p:cNvPr id="28" name="term-magic number"/>
          <p:cNvSpPr/>
          <p:nvPr/>
        </p:nvSpPr>
        <p:spPr>
          <a:xfrm>
            <a:off x="1994535" y="2212848"/>
            <a:ext cx="151599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b-magic number"/>
          <p:cNvSpPr/>
          <p:nvPr/>
        </p:nvSpPr>
        <p:spPr>
          <a:xfrm>
            <a:off x="1994535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t-magic number"/>
          <p:cNvSpPr txBox="1"/>
          <p:nvPr/>
        </p:nvSpPr>
        <p:spPr>
          <a:xfrm>
            <a:off x="2159127" y="2304288"/>
            <a:ext cx="118681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magic number</a:t>
            </a:r>
          </a:p>
        </p:txBody>
      </p:sp>
      <p:sp>
        <p:nvSpPr>
          <p:cNvPr id="31" name="term-RFC 1918"/>
          <p:cNvSpPr/>
          <p:nvPr/>
        </p:nvSpPr>
        <p:spPr>
          <a:xfrm>
            <a:off x="3638550" y="2212848"/>
            <a:ext cx="121310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b-RFC 1918"/>
          <p:cNvSpPr/>
          <p:nvPr/>
        </p:nvSpPr>
        <p:spPr>
          <a:xfrm>
            <a:off x="363855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t-RFC 1918"/>
          <p:cNvSpPr txBox="1"/>
          <p:nvPr/>
        </p:nvSpPr>
        <p:spPr>
          <a:xfrm>
            <a:off x="3803142" y="2304288"/>
            <a:ext cx="88392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RFC 1918</a:t>
            </a:r>
          </a:p>
        </p:txBody>
      </p:sp>
      <p:sp>
        <p:nvSpPr>
          <p:cNvPr id="34" name="term-private address"/>
          <p:cNvSpPr/>
          <p:nvPr/>
        </p:nvSpPr>
        <p:spPr>
          <a:xfrm>
            <a:off x="4979670" y="2212848"/>
            <a:ext cx="158648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b-private address"/>
          <p:cNvSpPr/>
          <p:nvPr/>
        </p:nvSpPr>
        <p:spPr>
          <a:xfrm>
            <a:off x="497967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t-private address"/>
          <p:cNvSpPr txBox="1"/>
          <p:nvPr/>
        </p:nvSpPr>
        <p:spPr>
          <a:xfrm>
            <a:off x="5144261" y="2304288"/>
            <a:ext cx="125729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private address</a:t>
            </a:r>
          </a:p>
        </p:txBody>
      </p:sp>
      <p:sp>
        <p:nvSpPr>
          <p:cNvPr id="37" name="term-public address"/>
          <p:cNvSpPr/>
          <p:nvPr/>
        </p:nvSpPr>
        <p:spPr>
          <a:xfrm>
            <a:off x="6694170" y="2212848"/>
            <a:ext cx="152933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b-public address"/>
          <p:cNvSpPr/>
          <p:nvPr/>
        </p:nvSpPr>
        <p:spPr>
          <a:xfrm>
            <a:off x="669417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t-public address"/>
          <p:cNvSpPr txBox="1"/>
          <p:nvPr/>
        </p:nvSpPr>
        <p:spPr>
          <a:xfrm>
            <a:off x="6858761" y="2304288"/>
            <a:ext cx="120014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public address</a:t>
            </a:r>
          </a:p>
        </p:txBody>
      </p:sp>
      <p:sp>
        <p:nvSpPr>
          <p:cNvPr id="40" name="term-VLSM"/>
          <p:cNvSpPr/>
          <p:nvPr/>
        </p:nvSpPr>
        <p:spPr>
          <a:xfrm>
            <a:off x="8351520" y="2212848"/>
            <a:ext cx="85115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b-VLSM"/>
          <p:cNvSpPr/>
          <p:nvPr/>
        </p:nvSpPr>
        <p:spPr>
          <a:xfrm>
            <a:off x="835152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t-VLSM"/>
          <p:cNvSpPr txBox="1"/>
          <p:nvPr/>
        </p:nvSpPr>
        <p:spPr>
          <a:xfrm>
            <a:off x="8516112" y="2304288"/>
            <a:ext cx="52197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VLSM</a:t>
            </a:r>
          </a:p>
        </p:txBody>
      </p:sp>
      <p:sp>
        <p:nvSpPr>
          <p:cNvPr id="43" name="term-default gateway"/>
          <p:cNvSpPr/>
          <p:nvPr/>
        </p:nvSpPr>
        <p:spPr>
          <a:xfrm>
            <a:off x="9330690" y="2212848"/>
            <a:ext cx="165696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b-default gateway"/>
          <p:cNvSpPr/>
          <p:nvPr/>
        </p:nvSpPr>
        <p:spPr>
          <a:xfrm>
            <a:off x="9330690" y="2212848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t-default gateway"/>
          <p:cNvSpPr txBox="1"/>
          <p:nvPr/>
        </p:nvSpPr>
        <p:spPr>
          <a:xfrm>
            <a:off x="9495281" y="2304288"/>
            <a:ext cx="13277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default gateway</a:t>
            </a:r>
          </a:p>
        </p:txBody>
      </p:sp>
      <p:sp>
        <p:nvSpPr>
          <p:cNvPr id="46" name="term-APIPA"/>
          <p:cNvSpPr/>
          <p:nvPr/>
        </p:nvSpPr>
        <p:spPr>
          <a:xfrm>
            <a:off x="685800" y="2816352"/>
            <a:ext cx="85877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b-APIPA"/>
          <p:cNvSpPr/>
          <p:nvPr/>
        </p:nvSpPr>
        <p:spPr>
          <a:xfrm>
            <a:off x="685800" y="2816352"/>
            <a:ext cx="32004" cy="47548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t-APIPA"/>
          <p:cNvSpPr txBox="1"/>
          <p:nvPr/>
        </p:nvSpPr>
        <p:spPr>
          <a:xfrm>
            <a:off x="850392" y="2907792"/>
            <a:ext cx="52959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APIPA</a:t>
            </a:r>
          </a:p>
        </p:txBody>
      </p:sp>
      <p:sp>
        <p:nvSpPr>
          <p:cNvPr id="49" name="termnote"/>
          <p:cNvSpPr txBox="1"/>
          <p:nvPr/>
        </p:nvSpPr>
        <p:spPr>
          <a:xfrm>
            <a:off x="685800" y="356616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8A959A"/>
                </a:solidFill>
                <a:latin typeface="Segoe UI"/>
              </a:rPr>
              <a:t>Each is defined where it first matters — not here.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ON THE EXAM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 i="0">
                <a:solidFill>
                  <a:srgbClr val="1A5276"/>
                </a:solidFill>
                <a:latin typeface="Segoe UI"/>
              </a:rPr>
              <a:t>This topic is worth more time than any other in Part I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icon"/>
          <p:cNvSpPr txBox="1"/>
          <p:nvPr/>
        </p:nvSpPr>
        <p:spPr>
          <a:xfrm>
            <a:off x="685800" y="1517904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618D"/>
                </a:solidFill>
                <a:latin typeface="Segoe UI"/>
              </a:rPr>
              <a:t>This is what the blueprint actually asks for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85800" y="2267712"/>
            <a:ext cx="10820095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Topic </a:t>
            </a:r>
            <a:r>
              <a:rPr sz="1600" b="1">
                <a:solidFill>
                  <a:srgbClr val="1F618D"/>
                </a:solidFill>
                <a:latin typeface="Segoe UI"/>
              </a:rPr>
              <a:t> 1.3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says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troubleshoot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IPv4 addressing, assignment and subnetting, “public and private”. You will be given a host that cannot reach something and expected to spot that its mask is wrong. Every second you spend computing a subnet boundary is a second not spent reasoning, so the arithmetic has to be automatic. Learn the method in §sec:magic until it is boring.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Counting in binary, once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Bits, bytes and octets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758696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bit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a single 0 or 1. Eight bits make a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byte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which in networking is almost always called an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octet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the words mean the same thing here.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Each position in an octet is worth twice the one to its right: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Both directions, in one line each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383133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1C252B"/>
                </a:solidFill>
                <a:latin typeface="Segoe UI"/>
              </a:rPr>
              <a:t>Binary to decimal: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add the position values wherever there is a 1. 64+8+4+1 = 77.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1C252B"/>
                </a:solidFill>
                <a:latin typeface="Segoe UI"/>
              </a:rPr>
              <a:t>Decimal to binary: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walk left to right, and at each position ask “does this fit in what is left?”. For 77: 128 no (0), 64 yes (1, leaving 13), 32 no (0), 16 no (0), 8 yes (1, leaving 5), 4 yes (1, leaving 1), 2 no (0), 1 yes (1, leaving 0). That gives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01001101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Two facts fall straight out and are worth holding on to.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255 is all eight bits set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which is why it is the largest value an octet can hold, and why a mask octet of 255 means “all of this octet is network”. And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0 is all eight clear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meaning “none of it is”.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Where the block size comes from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Take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192.168.10.77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with mask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255.255.255.192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and write only the last octet of each in bits: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{@{}ll@{}} address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77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&amp;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01 001101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mask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&amp;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11 000000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The mask has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two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1 bits in this octet, so two bits of it are network and the remaining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six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are host. Set those six host bits to zero and you have the network address; set them all to one and you have the broadcast address: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{@{}lll@{}} network &amp;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01 000000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&amp; = 64 broadcast &amp;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01 111111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&amp; = 127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So the subnet is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192.168.10.64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to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192.168.10.127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and it is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64 addresses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wide, because six free host bits give 2⁶ = 64 combinations.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Now notice: 256 - 192 = 64 as well. That is not a coincidence and it is not a trick. Subtracting the mask value from 256 is simply a fast way of asking “how many combinations do the remaining host bits have?”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That is the magic number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and Section sec:magic does the whole job with it.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Powers of two, which you should know on sight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317093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Host bits decide subnet size, so these eleven numbers cover almost every question you will be asked.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{@{}lllllllllll@{}} 2¹ &amp; 2² &amp; 2³ &amp; 2⁴ &amp; 2⁵ &amp; 2⁶ &amp; 2⁷ &amp; 2⁸ &amp; 2⁹ &amp; 2¹⁰ &amp; 2¹¹ 2 &amp; 4 &amp; 8 &amp; 16 &amp; 32 &amp; 64 &amp; 128 &amp; 256 &amp; 512 &amp; 1024 &amp; 2048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1C252B"/>
                </a:solidFill>
                <a:latin typeface="Segoe UI"/>
              </a:rPr>
              <a:t>Usable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hosts is always two fewer than the total, because the all-zeros address names the network itself and the all-ones address is the broadcast. Neither can be given to a host. So six host bits give 64 addresses and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62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usable ones.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address and the mask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Network part and host part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3409695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subnet mask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marks, with 1 bits, which leading bits of the address identify the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network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The remaining 0 bits identify the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host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within it. Written as a count of 1 bits, the mask is a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prefix length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255.255.255.0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/24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are the same statement.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Two addresses are on the same subnet if and only if their network parts are identical. That single sentence is the source of most addressing faults: a host with the wrong mask computes a different network part, decides its neighbour is remote, and sends the traffic to a gateway that may not want it.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Default gateway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474463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1C252B"/>
                </a:solidFill>
                <a:latin typeface="Segoe UI"/>
              </a:rPr>
              <a:t>The address a host sends traffic to when the destination is </a:t>
            </a:r>
            <a:r>
              <a:rPr sz="1400" b="1" i="0">
                <a:solidFill>
                  <a:srgbClr val="1C252B"/>
                </a:solidFill>
                <a:latin typeface="Segoe UI"/>
              </a:rPr>
              <a:t>not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 on its own subnet. Almost always a router or a layer 3 switch interface on that subnet.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1C252B"/>
                </a:solidFill>
                <a:latin typeface="Segoe UI"/>
              </a:rPr>
              <a:t>Every host makes exactly one decision for every packet it sends, and it makes it with the mask: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1C252B"/>
                </a:solidFill>
                <a:latin typeface="Segoe UI"/>
              </a:rPr>
              <a:t>Three consequences that account for a great many faults, and that Chapter 28 will make you test for directly: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3027680"/>
            <a:ext cx="10234879" cy="3354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0019" indent="-160019">
              <a:lnSpc>
                <a:spcPct val="102000"/>
              </a:lnSpc>
              <a:spcAft>
                <a:spcPts val="900"/>
              </a:spcAft>
            </a:pPr>
            <a:r>
              <a:rPr sz="14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1C252B"/>
                </a:solidFill>
                <a:latin typeface="Segoe UI"/>
              </a:rPr>
              <a:t>Same network part as mine?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 Then the destination is local. ARP for it directly and send the frame straight there. The gateway is not involved at all.</a:t>
            </a:r>
          </a:p>
          <a:p>
            <a:pPr marL="160019" indent="-160019">
              <a:lnSpc>
                <a:spcPct val="102000"/>
              </a:lnSpc>
              <a:spcAft>
                <a:spcPts val="900"/>
              </a:spcAft>
            </a:pPr>
            <a:r>
              <a:rPr sz="14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1C252B"/>
                </a:solidFill>
                <a:latin typeface="Segoe UI"/>
              </a:rPr>
              <a:t>Different?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 Then it is remote. ARP for the </a:t>
            </a:r>
            <a:r>
              <a:rPr sz="1400" b="0" i="1">
                <a:solidFill>
                  <a:srgbClr val="1C252B"/>
                </a:solidFill>
                <a:latin typeface="Segoe UI"/>
              </a:rPr>
              <a:t>gateway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, and hand the frame to it — with the destination’s IP address still inside, but the gateway’s MAC address on the outside.</a:t>
            </a:r>
          </a:p>
          <a:p>
            <a:pPr marL="160019" indent="-160019">
              <a:lnSpc>
                <a:spcPct val="102000"/>
              </a:lnSpc>
              <a:spcAft>
                <a:spcPts val="900"/>
              </a:spcAft>
            </a:pPr>
            <a:r>
              <a:rPr sz="14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1C252B"/>
                </a:solidFill>
                <a:latin typeface="Segoe UI"/>
              </a:rPr>
              <a:t>A host with no gateway can reach its own subnet and nothing else.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 Everything local works, so the user reports “the internet is down” rather than “my machine is misconfigured”.</a:t>
            </a:r>
          </a:p>
          <a:p>
            <a:pPr marL="160019" indent="-160019">
              <a:lnSpc>
                <a:spcPct val="102000"/>
              </a:lnSpc>
              <a:spcAft>
                <a:spcPts val="900"/>
              </a:spcAft>
            </a:pPr>
            <a:r>
              <a:rPr sz="14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1C252B"/>
                </a:solidFill>
                <a:latin typeface="Segoe UI"/>
              </a:rPr>
              <a:t>The gateway must be inside the host’s own subnet.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 A host will not ARP for something it believes is remote, so a gateway outside the subnet is unreachable by definition — which is the fault in this chapter’s Break &amp; Fix.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Default gateway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694688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Get the mask wrong and the host makes the local-or-remote decision wrongly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for some destinations and not others. That is why a wrong mask presents as “some things work”, which is far harder to read than “nothing works”.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Private addresses — RFC 1918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132072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Three ranges are reserved for internal use and are never routed on the internet. The exam expects you to recognise them instantly.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580639"/>
            <a:ext cx="10234879" cy="380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10.0.0.0/8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one very large block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172.16.0.0/12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that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172.16.0.0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172.31.255.255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and the upper bound catches people out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192.168.0.0/16</a:t>
            </a:r>
          </a:p>
        </p:txBody>
      </p:sp>
      <p:sp>
        <p:nvSpPr>
          <p:cNvPr id="10" name="tailbody"/>
          <p:cNvSpPr txBox="1"/>
          <p:nvPr/>
        </p:nvSpPr>
        <p:spPr>
          <a:xfrm>
            <a:off x="978408" y="4623816"/>
            <a:ext cx="10234879" cy="1703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Also worth knowing: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169.254.0.0/16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APIPA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which a host assigns itself when DHCP fails. A host with a 169.254 address has not been given one — see Chapter 20.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method: block size, or “magic number”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Four steps, every time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3316223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ullets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Find the interesting octet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the one where the mask is neither 255 nor 0.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Block size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= 256 - (the mask value in that octet). This is the magic number.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Count in blocks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from zero in that octet until you pass the address. The multiple you last passed is the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network address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Broadcast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= next network address -1. Usable range is everything between the two, exclusive.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Where does 172.16.83.190/26 live?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Mask for /26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255.255.255.192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The interesting octet is the fourth.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Block size = 256 - 192 = 64.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Count in 64s in the fourth octet: 0, 64, 128,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192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Our host is 190, which sits after 128 and before 192. Network address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172.16.83.128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Next network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172.16.83.192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so broadcast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172.16.83.191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Usable range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172.16.83.129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172.16.83.190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8" name="tailbody"/>
          <p:cNvSpPr txBox="1"/>
          <p:nvPr/>
        </p:nvSpPr>
        <p:spPr>
          <a:xfrm>
            <a:off x="685800" y="4815839"/>
            <a:ext cx="10820095" cy="1511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So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.190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the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last usable address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in its subnet — a perfectly valid host address, and a favourite exam distractor because it looks like a broadcast.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The same method in the third octet: 10.44.150.7/21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/21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255.255.248.0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Interesting octet is the third.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Block size = 256 - 248 = 8.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Count in 8s in the third octet: 0, 8, …, 144,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152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Our 150 sits after 144. Network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10.44.144.0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Next network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10.44.152.0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so broadcast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10.44.151.255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Usable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10.44.144.1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10.44.151.254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2046 hosts.</a:t>
            </a:r>
          </a:p>
        </p:txBody>
      </p:sp>
      <p:sp>
        <p:nvSpPr>
          <p:cNvPr id="8" name="tailbody"/>
          <p:cNvSpPr txBox="1"/>
          <p:nvPr/>
        </p:nvSpPr>
        <p:spPr>
          <a:xfrm>
            <a:off x="685800" y="4815839"/>
            <a:ext cx="10820095" cy="1511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Note that the fourth octet plays no part in finding the boundary. Only the interesting octet does.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Subnetting a block to a requirement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A5276"/>
                </a:solidFill>
                <a:latin typeface="Segoe UI"/>
              </a:rPr>
              <a:t>Split 192.168.20.0/24 for four sites of 50, 25, 10 and 2 hosts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Work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largest first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or you will strand addresses.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030984"/>
            <a:ext cx="10820095" cy="4351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50 hosts needs 62 usable → /26, block 64.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192.168.20.0/26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usable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–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.62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25 hosts needs 30 usable → /27, block 32. Next free address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.64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192.168.20.64/27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usable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.65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–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.94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10 hosts needs 14 usable → /28, block 16. Next free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.96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192.168.20.96/28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usable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.97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–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.110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2 hosts (a router link) → /30, block 4. Next free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.112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192.168.20.112/30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usable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.113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–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.114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9" name="tailbody"/>
          <p:cNvSpPr txBox="1"/>
          <p:nvPr/>
        </p:nvSpPr>
        <p:spPr>
          <a:xfrm>
            <a:off x="685800" y="5275071"/>
            <a:ext cx="10820095" cy="1052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Everything from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.116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upwards is still free. This is </a:t>
            </a:r>
            <a:r>
              <a:rPr sz="2000" b="1" i="0">
                <a:solidFill>
                  <a:srgbClr val="1F618D"/>
                </a:solidFill>
                <a:latin typeface="Segoe UI"/>
              </a:rPr>
              <a:t>VLSM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: different masks inside one block, sized to the requirement.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WATCH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The two rules VLSM must obey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 subnet must start on a multiple of its own block size.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 /27 can start at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.64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or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.96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never at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.70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Subnets must not overlap.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If you allocate smallest-first you will eventually place a large subnet where it does not fit, and have to start again. Largest first avoids this.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Configuring and verifying an address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An interface address and a default gateway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872331"/>
            <a:ext cx="10820095" cy="3897376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872331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27195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11243"/>
            <a:ext cx="10417759" cy="3403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On a router interface -- the mask is written in full.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GigabitEthernet0/0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description User VLAN 10 gateway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ip address 192.168.20.1 255.255.255.192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no shutdown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On a layer 2 switch, the management address lives on an SVI,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and the switch needs a default gateway because it does not route.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Vlan10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ip address 192.168.20.2 255.255.255.192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no shutdown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ip default-gateway 192.168.20.1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ip interface brief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16296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1135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             IP-Address      OK? Method Status                Protocol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GigabitEthernet0/0     192.168.20.1    YES manual up                    up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GigabitEthernet0/1     unassigned      YES unset  administratively down down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Vlan1                  unassigned      YES unset  down                  down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Reading the two status columns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819903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pair of columns is the single most useful diagnostic on a router, and the combinations mean different things.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580639"/>
            <a:ext cx="10234879" cy="380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up / up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working.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up / 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the cable and electrical link are fine, but the protocol is not. Usually an encapsulation or keepalive mismatch, or the far end is not configured.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down / 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a physical problem. Cable, transceiver, or the other end is shut. Go back to Chapter 2.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administratively down / 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somebody typed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shutdown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The fix is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no shutdown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Configuring and verifying an address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Forgetting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no shutdown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Router interfaces are shut by default. Switch ports are not. This asymmetry catches everyone once.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Assuming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172.16.0.0/12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 stops at 172.16.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It runs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172.31.255.255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172.32.0.0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public.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Giving the gateway an address outside the subnet.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 host will accept the configuration and then fail silently for everything off-net.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Using the network or broadcast address on a host.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.255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are only network and broadcast in a /24. In a /26 the boundaries move,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192.168.20.64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a network address even though it does not end in zero.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SYMPTOM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4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“I can reach my own floor but nothing else”.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 host is configured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192.168.20.100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mask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255.255.255.192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gateway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192.168.20.1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It can ping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192.168.20.90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but not its gateway and nothing beyond.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4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“I can reach my own floor but nothing else”.</a:t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would you check first — and what do you expect to see?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DIAGNOSIS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4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Why it is doing that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Diagnosis.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Work the mask. /26 gives block size 64, so the boundaries are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.64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.128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.192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host at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.100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in the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192.168.20.64/26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subnet, usable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.65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–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.126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Its gateway at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in the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first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subnet,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192.168.20.0/26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host and its gateway are on different subnets, so the host cannot ARP for it and has no way off its own segment. It can still reach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.90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because that address is in the same /26.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THE FIX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4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And the lesson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Fix.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Either move the host into the subnet its gateway serves, or — far more likely what was intended — correct the gateway to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192.168.20.65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the first usable address of the subnet the host is actually in. Then confirm with a ping to the gateway before testing anything remote.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Subnet, configure, then break it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1C252B"/>
                </a:solidFill>
                <a:latin typeface="Segoe UI"/>
              </a:rPr>
              <a:t>Topology.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One router, two switches, four PCs — two per VLAN.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030984"/>
            <a:ext cx="10820095" cy="4351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1.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Subnet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172.16.5.0/24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into two subnets of at least 100 hosts each. Write down, before touching a device: network address, first and last usable address, and broadcast address for both.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2.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Configure the router with a gateway address in each subnet and the PCs with addresses from your plan. Verify with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ip interface brief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a ping within each subnet.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3.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Prove routing works between the two subnets by pinging across.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4.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Now change one PC’s mask from your planned value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255.255.255.0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Predict what will break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before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you test, then test it. Explain the result in terms of the network part.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Subnet, configure, then break it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5.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Change it back, then set one PC’s gateway to an address in the other subnet. Predict and test again.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6.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Extension.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Re-plan the same /24 using VLSM for four segments of 100, 50, 20 and 2 hosts, and configure it without overlaps.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1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10.19.200.37/27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: give the network address, broadcast address, and first and last usable address.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1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For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10.19.200.37/27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: give the network address, broadcast address, and first and last usable address.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A5276"/>
                </a:solidFill>
                <a:latin typeface="Consolas"/>
              </a:rPr>
              <a:t>/27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gives a block size of 32 in the fourth octet. The address ends in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37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which falls in the block starting at 32. Network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10.19.200.32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broadcast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10.19.200.63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first usable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10.19.200.33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last usable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10.19.200.62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2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A host is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192.168.1.130/25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 and its gateway is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192.168.1.126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. Will it work? Show your reasoning.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2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A host is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192.168.1.130/25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 and its gateway is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192.168.1.126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. Will it work? Show your reasoning.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No.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/25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has a block size of 128, so the host is in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192.168.1.128/25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whose range is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.129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to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.254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gateway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192.168.1.126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in the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other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half,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192.168.1.0/25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host will ARP for a gateway that is not on its segment and reach nothing beyond its own subnet.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3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How many usable addresses does a /30 provide, and why is a /31 sometimes used instead on a router-to-router link?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3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How many usable addresses does a /30 provide, and why is a /31 sometimes used instead on a router-to-router link?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Two. A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/31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used on a router-to-router link because there are only ever two devices and neither needs a broadcast address, so it provides both addresses usefully and halves the address consumption of every point-to-point link on a network.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Address plus mask equals two facts: which network, and which host. Devices are on the same subnet only if their network parts match.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Block size =256- mask octet. Count in blocks. That method answers every subnetting question you will be asked.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Usable = block -2, except /31 and /32.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Private ranges are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10/8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172.16/12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(to 172.31)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192.168/16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A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169.254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address means DHCP failed.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Plan VLSM largest first, and start every subnet on a multiple of its own block size.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4. IPv4 Addressing and Subnetting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1.3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F618D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Four faults cover most cases: wrong mask, wrong gateway, address outside the subnet, duplicate address.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61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ltitle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we got to</a:t>
            </a:r>
          </a:p>
        </p:txBody>
      </p:sp>
      <p:sp>
        <p:nvSpPr>
          <p:cNvPr id="4" name="cltakeaways"/>
          <p:cNvSpPr txBox="1"/>
          <p:nvPr/>
        </p:nvSpPr>
        <p:spPr>
          <a:xfrm>
            <a:off x="685800" y="2011680"/>
            <a:ext cx="1082009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Address plus mask equals two facts: which network, and which host. Devices are on the same subnet only if their network parts match.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Block size =256- mask octet. Count in blocks. That method answers every subnetting question you will be asked.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Usable = block -2, except /31 and /32.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Private ranges are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10/8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,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172.16/12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(to 172.31) and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192.168/16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. A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169.254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address means DHCP failed.</a:t>
            </a:r>
          </a:p>
        </p:txBody>
      </p:sp>
      <p:sp>
        <p:nvSpPr>
          <p:cNvPr id="5" name="nextbg"/>
          <p:cNvSpPr/>
          <p:nvPr/>
        </p:nvSpPr>
        <p:spPr>
          <a:xfrm>
            <a:off x="685800" y="5303520"/>
            <a:ext cx="10820095" cy="822960"/>
          </a:xfrm>
          <a:prstGeom prst="rect">
            <a:avLst/>
          </a:prstGeom>
          <a:solidFill>
            <a:srgbClr val="094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extlab"/>
          <p:cNvSpPr txBox="1"/>
          <p:nvPr/>
        </p:nvSpPr>
        <p:spPr>
          <a:xfrm>
            <a:off x="960120" y="5449824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B8C9DA"/>
                </a:solidFill>
                <a:latin typeface="Segoe UI"/>
              </a:rPr>
              <a:t>NEXT</a:t>
            </a:r>
          </a:p>
        </p:txBody>
      </p:sp>
      <p:sp>
        <p:nvSpPr>
          <p:cNvPr id="7" name="nexttitle"/>
          <p:cNvSpPr txBox="1"/>
          <p:nvPr/>
        </p:nvSpPr>
        <p:spPr>
          <a:xfrm>
            <a:off x="960120" y="5705856"/>
            <a:ext cx="1027145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Chapter 5 — IPv6 Addressing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