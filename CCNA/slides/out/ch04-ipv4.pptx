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4: IPv4 Addressing and Subnetting. Blueprint topics: 1.3.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IPv4 Addressing and Subnetting 1.3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 - they are defined as they arrive. This slide is for the students'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in this chapter is a consequence of one fact: an IPv4 address is 32 bits, and we write it as four decimal numbers only for our own convenience. The shortcut in Section sec:magic lets you subnet without ever writing a bit down — but it will be a magic trick you can forget rather than a method you can rebuild unless you look at the bits properly once. This is that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% Nine columns: the budget is about 12.8 cm, not the 15.78 of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IPv4 address is 32 bits, written as four decimal bytes. It carries two pieces of information at once, and the mask is what separates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Usable is block size minus two, because the first address in a block is the network address and the last is the broadcast address. The exception is /31, where both are usable because a point-to-point link has no need for a broadcast.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have now seen where this comes from, so it is a shortcut rather than a spell. In the exam you will not have time to write out binary — and after this section you will not need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here. Take two or three answers before advancing. The point is the prediction, not the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somebody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somebody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somebody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18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gfoot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094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ourse"/>
          <p:cNvSpPr txBox="1"/>
          <p:nvPr/>
        </p:nvSpPr>
        <p:spPr>
          <a:xfrm>
            <a:off x="685800" y="1170432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C8D6E5"/>
                </a:solidFill>
                <a:latin typeface="Segoe UI"/>
              </a:rPr>
              <a:t>CCNA 200-301 V2.0</a:t>
            </a:r>
          </a:p>
        </p:txBody>
      </p:sp>
      <p:sp>
        <p:nvSpPr>
          <p:cNvPr id="5" name="chnum"/>
          <p:cNvSpPr txBox="1"/>
          <p:nvPr/>
        </p:nvSpPr>
        <p:spPr>
          <a:xfrm>
            <a:off x="685800" y="1572768"/>
            <a:ext cx="2011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76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6" name="chtitle"/>
          <p:cNvSpPr txBox="1"/>
          <p:nvPr/>
        </p:nvSpPr>
        <p:spPr>
          <a:xfrm>
            <a:off x="2423160" y="1700784"/>
            <a:ext cx="90827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IPv4 Addressing and Subnetting</a:t>
            </a:r>
          </a:p>
        </p:txBody>
      </p:sp>
      <p:sp>
        <p:nvSpPr>
          <p:cNvPr id="7" name="part"/>
          <p:cNvSpPr txBox="1"/>
          <p:nvPr/>
        </p:nvSpPr>
        <p:spPr>
          <a:xfrm>
            <a:off x="2441448" y="3017520"/>
            <a:ext cx="90827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C8D6E5"/>
                </a:solidFill>
                <a:latin typeface="Segoe UI"/>
              </a:rPr>
              <a:t>Part I — Foundations</a:t>
            </a:r>
          </a:p>
        </p:txBody>
      </p:sp>
      <p:sp>
        <p:nvSpPr>
          <p:cNvPr id="8" name="tlabel"/>
          <p:cNvSpPr txBox="1"/>
          <p:nvPr/>
        </p:nvSpPr>
        <p:spPr>
          <a:xfrm>
            <a:off x="2441448" y="3401568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8C9DA"/>
                </a:solidFill>
                <a:latin typeface="Segoe UI"/>
              </a:rPr>
              <a:t>EXAM TOPICS</a:t>
            </a:r>
          </a:p>
        </p:txBody>
      </p:sp>
      <p:sp>
        <p:nvSpPr>
          <p:cNvPr id="9" name="chip-1.3"/>
          <p:cNvSpPr/>
          <p:nvPr/>
        </p:nvSpPr>
        <p:spPr>
          <a:xfrm>
            <a:off x="2441448" y="3657600"/>
            <a:ext cx="566928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chiptx-1.3"/>
          <p:cNvSpPr txBox="1"/>
          <p:nvPr/>
        </p:nvSpPr>
        <p:spPr>
          <a:xfrm>
            <a:off x="2441448" y="3689604"/>
            <a:ext cx="5669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618D"/>
                </a:solidFill>
                <a:latin typeface="Segoe UI"/>
              </a:rPr>
              <a:t>1.3</a:t>
            </a:r>
          </a:p>
        </p:txBody>
      </p:sp>
      <p:sp>
        <p:nvSpPr>
          <p:cNvPr id="11" name="authlab"/>
          <p:cNvSpPr txBox="1"/>
          <p:nvPr/>
        </p:nvSpPr>
        <p:spPr>
          <a:xfrm>
            <a:off x="685800" y="5138928"/>
            <a:ext cx="64920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8C9DA"/>
                </a:solidFill>
                <a:latin typeface="Segoe UI"/>
              </a:rPr>
              <a:t>LECTURER</a:t>
            </a:r>
          </a:p>
        </p:txBody>
      </p:sp>
      <p:sp>
        <p:nvSpPr>
          <p:cNvPr id="12" name="author"/>
          <p:cNvSpPr txBox="1"/>
          <p:nvPr/>
        </p:nvSpPr>
        <p:spPr>
          <a:xfrm>
            <a:off x="685800" y="5394960"/>
            <a:ext cx="649205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Dr. Mustafa Hameed</a:t>
            </a:r>
          </a:p>
        </p:txBody>
      </p:sp>
      <p:sp>
        <p:nvSpPr>
          <p:cNvPr id="13" name="lockup1"/>
          <p:cNvSpPr txBox="1"/>
          <p:nvPr/>
        </p:nvSpPr>
        <p:spPr>
          <a:xfrm>
            <a:off x="7939735" y="517550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4" name="lockup2"/>
          <p:cNvSpPr txBox="1"/>
          <p:nvPr/>
        </p:nvSpPr>
        <p:spPr>
          <a:xfrm>
            <a:off x="7939735" y="5413248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C8D6E5"/>
                </a:solidFill>
                <a:latin typeface="Segoe UI"/>
              </a:rPr>
              <a:t>Department of Information Technology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LEARNING OUTCOMES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What you will be able to do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Convert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between dotted decimal, binary and prefix length fast enough to do it in an exam without a calculator.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Compute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the network address, broadcast address, usable range and host count of any subnet, in under thirty seconds.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Subnet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 given block to meet a stated requirement, and apply variable-length masks without overlapping.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Diagnose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the four addressing faults that account for almost every broken host: wrong mask, wrong gateway, address outside the subnet, and duplicate address.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ASSUMED KNOWLEDGE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Before we start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1337055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Chapter 1 and Chapter 3. You need to be comfortable that a switch works on MAC addresses and a router works on IP addresses.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KEY TERMS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Vocabulary for this chapter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term-dotted decimal"/>
          <p:cNvSpPr/>
          <p:nvPr/>
        </p:nvSpPr>
        <p:spPr>
          <a:xfrm>
            <a:off x="685800" y="1609344"/>
            <a:ext cx="1559813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b-dotted decimal"/>
          <p:cNvSpPr/>
          <p:nvPr/>
        </p:nvSpPr>
        <p:spPr>
          <a:xfrm>
            <a:off x="685800" y="1609344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t-dotted decimal"/>
          <p:cNvSpPr txBox="1"/>
          <p:nvPr/>
        </p:nvSpPr>
        <p:spPr>
          <a:xfrm>
            <a:off x="850392" y="1700784"/>
            <a:ext cx="123063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dotted decimal</a:t>
            </a:r>
          </a:p>
        </p:txBody>
      </p:sp>
      <p:sp>
        <p:nvSpPr>
          <p:cNvPr id="10" name="term-prefix length"/>
          <p:cNvSpPr/>
          <p:nvPr/>
        </p:nvSpPr>
        <p:spPr>
          <a:xfrm>
            <a:off x="2373630" y="1609344"/>
            <a:ext cx="1352168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b-prefix length"/>
          <p:cNvSpPr/>
          <p:nvPr/>
        </p:nvSpPr>
        <p:spPr>
          <a:xfrm>
            <a:off x="2373630" y="1609344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t-prefix length"/>
          <p:cNvSpPr txBox="1"/>
          <p:nvPr/>
        </p:nvSpPr>
        <p:spPr>
          <a:xfrm>
            <a:off x="2538222" y="1700784"/>
            <a:ext cx="102298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prefix length</a:t>
            </a:r>
          </a:p>
        </p:txBody>
      </p:sp>
      <p:sp>
        <p:nvSpPr>
          <p:cNvPr id="13" name="term-subnet mask"/>
          <p:cNvSpPr/>
          <p:nvPr/>
        </p:nvSpPr>
        <p:spPr>
          <a:xfrm>
            <a:off x="3853815" y="1609344"/>
            <a:ext cx="1388363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b-subnet mask"/>
          <p:cNvSpPr/>
          <p:nvPr/>
        </p:nvSpPr>
        <p:spPr>
          <a:xfrm>
            <a:off x="3853815" y="1609344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t-subnet mask"/>
          <p:cNvSpPr txBox="1"/>
          <p:nvPr/>
        </p:nvSpPr>
        <p:spPr>
          <a:xfrm>
            <a:off x="4018407" y="1700784"/>
            <a:ext cx="105918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subnet mask</a:t>
            </a:r>
          </a:p>
        </p:txBody>
      </p:sp>
      <p:sp>
        <p:nvSpPr>
          <p:cNvPr id="16" name="term-network address"/>
          <p:cNvSpPr/>
          <p:nvPr/>
        </p:nvSpPr>
        <p:spPr>
          <a:xfrm>
            <a:off x="5370195" y="1609344"/>
            <a:ext cx="1696973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b-network address"/>
          <p:cNvSpPr/>
          <p:nvPr/>
        </p:nvSpPr>
        <p:spPr>
          <a:xfrm>
            <a:off x="5370195" y="1609344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t-network address"/>
          <p:cNvSpPr txBox="1"/>
          <p:nvPr/>
        </p:nvSpPr>
        <p:spPr>
          <a:xfrm>
            <a:off x="5534787" y="1700784"/>
            <a:ext cx="136778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network address</a:t>
            </a:r>
          </a:p>
        </p:txBody>
      </p:sp>
      <p:sp>
        <p:nvSpPr>
          <p:cNvPr id="19" name="term-broadcast address"/>
          <p:cNvSpPr/>
          <p:nvPr/>
        </p:nvSpPr>
        <p:spPr>
          <a:xfrm>
            <a:off x="7195185" y="1609344"/>
            <a:ext cx="1820798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b-broadcast address"/>
          <p:cNvSpPr/>
          <p:nvPr/>
        </p:nvSpPr>
        <p:spPr>
          <a:xfrm>
            <a:off x="7195185" y="1609344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t-broadcast address"/>
          <p:cNvSpPr txBox="1"/>
          <p:nvPr/>
        </p:nvSpPr>
        <p:spPr>
          <a:xfrm>
            <a:off x="7359777" y="1700784"/>
            <a:ext cx="149161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broadcast address</a:t>
            </a:r>
          </a:p>
        </p:txBody>
      </p:sp>
      <p:sp>
        <p:nvSpPr>
          <p:cNvPr id="22" name="term-usable range"/>
          <p:cNvSpPr/>
          <p:nvPr/>
        </p:nvSpPr>
        <p:spPr>
          <a:xfrm>
            <a:off x="9144000" y="1609344"/>
            <a:ext cx="1375028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b-usable range"/>
          <p:cNvSpPr/>
          <p:nvPr/>
        </p:nvSpPr>
        <p:spPr>
          <a:xfrm>
            <a:off x="9144000" y="1609344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t-usable range"/>
          <p:cNvSpPr txBox="1"/>
          <p:nvPr/>
        </p:nvSpPr>
        <p:spPr>
          <a:xfrm>
            <a:off x="9308592" y="1700784"/>
            <a:ext cx="104584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usable range</a:t>
            </a:r>
          </a:p>
        </p:txBody>
      </p:sp>
      <p:sp>
        <p:nvSpPr>
          <p:cNvPr id="25" name="term-block size"/>
          <p:cNvSpPr/>
          <p:nvPr/>
        </p:nvSpPr>
        <p:spPr>
          <a:xfrm>
            <a:off x="685800" y="2212848"/>
            <a:ext cx="1180718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b-block size"/>
          <p:cNvSpPr/>
          <p:nvPr/>
        </p:nvSpPr>
        <p:spPr>
          <a:xfrm>
            <a:off x="685800" y="2212848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t-block size"/>
          <p:cNvSpPr txBox="1"/>
          <p:nvPr/>
        </p:nvSpPr>
        <p:spPr>
          <a:xfrm>
            <a:off x="850392" y="2304288"/>
            <a:ext cx="85153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block size</a:t>
            </a:r>
          </a:p>
        </p:txBody>
      </p:sp>
      <p:sp>
        <p:nvSpPr>
          <p:cNvPr id="28" name="term-magic number"/>
          <p:cNvSpPr/>
          <p:nvPr/>
        </p:nvSpPr>
        <p:spPr>
          <a:xfrm>
            <a:off x="1994535" y="2212848"/>
            <a:ext cx="1515998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b-magic number"/>
          <p:cNvSpPr/>
          <p:nvPr/>
        </p:nvSpPr>
        <p:spPr>
          <a:xfrm>
            <a:off x="1994535" y="2212848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t-magic number"/>
          <p:cNvSpPr txBox="1"/>
          <p:nvPr/>
        </p:nvSpPr>
        <p:spPr>
          <a:xfrm>
            <a:off x="2159127" y="2304288"/>
            <a:ext cx="11868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magic number</a:t>
            </a:r>
          </a:p>
        </p:txBody>
      </p:sp>
      <p:sp>
        <p:nvSpPr>
          <p:cNvPr id="31" name="term-RFC 1918"/>
          <p:cNvSpPr/>
          <p:nvPr/>
        </p:nvSpPr>
        <p:spPr>
          <a:xfrm>
            <a:off x="3638550" y="2212848"/>
            <a:ext cx="1213104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b-RFC 1918"/>
          <p:cNvSpPr/>
          <p:nvPr/>
        </p:nvSpPr>
        <p:spPr>
          <a:xfrm>
            <a:off x="3638550" y="2212848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t-RFC 1918"/>
          <p:cNvSpPr txBox="1"/>
          <p:nvPr/>
        </p:nvSpPr>
        <p:spPr>
          <a:xfrm>
            <a:off x="3803142" y="2304288"/>
            <a:ext cx="88392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RFC 1918</a:t>
            </a:r>
          </a:p>
        </p:txBody>
      </p:sp>
      <p:sp>
        <p:nvSpPr>
          <p:cNvPr id="34" name="term-private address"/>
          <p:cNvSpPr/>
          <p:nvPr/>
        </p:nvSpPr>
        <p:spPr>
          <a:xfrm>
            <a:off x="4979670" y="2212848"/>
            <a:ext cx="1586483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b-private address"/>
          <p:cNvSpPr/>
          <p:nvPr/>
        </p:nvSpPr>
        <p:spPr>
          <a:xfrm>
            <a:off x="4979670" y="2212848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t-private address"/>
          <p:cNvSpPr txBox="1"/>
          <p:nvPr/>
        </p:nvSpPr>
        <p:spPr>
          <a:xfrm>
            <a:off x="5144261" y="2304288"/>
            <a:ext cx="125729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private address</a:t>
            </a:r>
          </a:p>
        </p:txBody>
      </p:sp>
      <p:sp>
        <p:nvSpPr>
          <p:cNvPr id="37" name="term-public address"/>
          <p:cNvSpPr/>
          <p:nvPr/>
        </p:nvSpPr>
        <p:spPr>
          <a:xfrm>
            <a:off x="6694170" y="2212848"/>
            <a:ext cx="1529333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b-public address"/>
          <p:cNvSpPr/>
          <p:nvPr/>
        </p:nvSpPr>
        <p:spPr>
          <a:xfrm>
            <a:off x="6694170" y="2212848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t-public address"/>
          <p:cNvSpPr txBox="1"/>
          <p:nvPr/>
        </p:nvSpPr>
        <p:spPr>
          <a:xfrm>
            <a:off x="6858761" y="2304288"/>
            <a:ext cx="120014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public address</a:t>
            </a:r>
          </a:p>
        </p:txBody>
      </p:sp>
      <p:sp>
        <p:nvSpPr>
          <p:cNvPr id="40" name="term-VLSM"/>
          <p:cNvSpPr/>
          <p:nvPr/>
        </p:nvSpPr>
        <p:spPr>
          <a:xfrm>
            <a:off x="8351520" y="2212848"/>
            <a:ext cx="851154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b-VLSM"/>
          <p:cNvSpPr/>
          <p:nvPr/>
        </p:nvSpPr>
        <p:spPr>
          <a:xfrm>
            <a:off x="8351520" y="2212848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t-VLSM"/>
          <p:cNvSpPr txBox="1"/>
          <p:nvPr/>
        </p:nvSpPr>
        <p:spPr>
          <a:xfrm>
            <a:off x="8516112" y="2304288"/>
            <a:ext cx="52197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VLSM</a:t>
            </a:r>
          </a:p>
        </p:txBody>
      </p:sp>
      <p:sp>
        <p:nvSpPr>
          <p:cNvPr id="43" name="term-default gateway"/>
          <p:cNvSpPr/>
          <p:nvPr/>
        </p:nvSpPr>
        <p:spPr>
          <a:xfrm>
            <a:off x="9330690" y="2212848"/>
            <a:ext cx="1656968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b-default gateway"/>
          <p:cNvSpPr/>
          <p:nvPr/>
        </p:nvSpPr>
        <p:spPr>
          <a:xfrm>
            <a:off x="9330690" y="2212848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t-default gateway"/>
          <p:cNvSpPr txBox="1"/>
          <p:nvPr/>
        </p:nvSpPr>
        <p:spPr>
          <a:xfrm>
            <a:off x="9495281" y="2304288"/>
            <a:ext cx="1327784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default gateway</a:t>
            </a:r>
          </a:p>
        </p:txBody>
      </p:sp>
      <p:sp>
        <p:nvSpPr>
          <p:cNvPr id="46" name="term-APIPA"/>
          <p:cNvSpPr/>
          <p:nvPr/>
        </p:nvSpPr>
        <p:spPr>
          <a:xfrm>
            <a:off x="685800" y="2816352"/>
            <a:ext cx="858774" cy="47548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b-APIPA"/>
          <p:cNvSpPr/>
          <p:nvPr/>
        </p:nvSpPr>
        <p:spPr>
          <a:xfrm>
            <a:off x="685800" y="2816352"/>
            <a:ext cx="32004" cy="47548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t-APIPA"/>
          <p:cNvSpPr txBox="1"/>
          <p:nvPr/>
        </p:nvSpPr>
        <p:spPr>
          <a:xfrm>
            <a:off x="850392" y="2907792"/>
            <a:ext cx="52959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1C252B"/>
                </a:solidFill>
                <a:latin typeface="Segoe UI"/>
              </a:rPr>
              <a:t>APIPA</a:t>
            </a:r>
          </a:p>
        </p:txBody>
      </p:sp>
      <p:sp>
        <p:nvSpPr>
          <p:cNvPr id="49" name="termnote"/>
          <p:cNvSpPr txBox="1"/>
          <p:nvPr/>
        </p:nvSpPr>
        <p:spPr>
          <a:xfrm>
            <a:off x="685800" y="356616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8A959A"/>
                </a:solidFill>
                <a:latin typeface="Segoe UI"/>
              </a:rPr>
              <a:t>Each is defined where it first matters — not here.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ON THE EXAM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100" b="1" i="0">
                <a:solidFill>
                  <a:srgbClr val="1A5276"/>
                </a:solidFill>
                <a:latin typeface="Segoe UI"/>
              </a:rPr>
              <a:t>This topic is worth more time than any other in Part I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icon"/>
          <p:cNvSpPr txBox="1"/>
          <p:nvPr/>
        </p:nvSpPr>
        <p:spPr>
          <a:xfrm>
            <a:off x="685800" y="1517904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618D"/>
                </a:solidFill>
                <a:latin typeface="Segoe UI"/>
              </a:rPr>
              <a:t>This is what the blueprint actually asks for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685800" y="2868095"/>
            <a:ext cx="10820095" cy="3514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Topic </a:t>
            </a:r>
            <a:r>
              <a:rPr sz="1600" b="1">
                <a:solidFill>
                  <a:srgbClr val="1F618D"/>
                </a:solidFill>
                <a:latin typeface="Segoe UI"/>
              </a:rPr>
              <a:t> 1.3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says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troubleshoot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IPv4 addressing, assignment and subnetting, “public and private”. You will be given a host that cannot reach something and expected to spot that its mask is wrong. Every second you spend computing a subnet boundary is a second not spent reasoning, so the arithmetic has to be automatic. Learn the method in §sec:magic until it is boring.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DEFINITION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Bits, bytes and octets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1758696"/>
          </a:xfrm>
          <a:prstGeom prst="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A </a:t>
            </a:r>
            <a:r>
              <a:rPr sz="2000" b="1" i="0">
                <a:solidFill>
                  <a:srgbClr val="1F618D"/>
                </a:solidFill>
                <a:latin typeface="Segoe UI"/>
              </a:rPr>
              <a:t>bit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is a single 0 or 1. Eight bits make a </a:t>
            </a:r>
            <a:r>
              <a:rPr sz="2000" b="1" i="0">
                <a:solidFill>
                  <a:srgbClr val="1F618D"/>
                </a:solidFill>
                <a:latin typeface="Segoe UI"/>
              </a:rPr>
              <a:t>byte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which in networking is almost always called an </a:t>
            </a:r>
            <a:r>
              <a:rPr sz="2000" b="1" i="0">
                <a:solidFill>
                  <a:srgbClr val="1F618D"/>
                </a:solidFill>
                <a:latin typeface="Segoe UI"/>
              </a:rPr>
              <a:t>octet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the words mean the same thing here.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Each position in an octet is worth twice the one to its right: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CONCEPT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Both directions, in one line each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3831335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 i="0">
                <a:solidFill>
                  <a:srgbClr val="1C252B"/>
                </a:solidFill>
                <a:latin typeface="Segoe UI"/>
              </a:rPr>
              <a:t>Binary to decimal: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add the position values wherever there is a 1. 64+8+4+1 = 77.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 i="0">
                <a:solidFill>
                  <a:srgbClr val="1C252B"/>
                </a:solidFill>
                <a:latin typeface="Segoe UI"/>
              </a:rPr>
              <a:t>Decimal to binary: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walk left to right, and at each position ask “does this fit in what is left?”. For 77: 128 no (0), 64 yes (1, leaving 13), 32 no (0), 16 no (0), 8 yes (1, leaving 5), 4 yes (1, leaving 1), 2 no (0), 1 yes (1, leaving 0). That gives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01001101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Two facts fall straight out and are worth holding on to.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255 is all eight bits set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which is why it is the largest value an octet can hold, and why a mask octet of 255 means “all of this octet is network”. And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0 is all eight clear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meaning “none of it is”.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WORKED EXAMPLE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Where the block size comes from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Take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192.168.10.77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with mask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255.255.255.192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and write only the last octet of each in bits: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{@{}ll@{}} address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77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&amp;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01 001101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mask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192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&amp;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11 000000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The mask has 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two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1 bits in this octet, so two bits of it are network and the remaining 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six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are host. Set those six host bits to zero and you have the network address; set them all to one and you have the broadcast address: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{@{}lll@{}} network &amp;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01 000000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&amp; = 64 broadcast &amp;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01 111111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&amp; = 127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So the subnet is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192.168.10.64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to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192.168.10.127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and it is 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64 addresses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wide, because six free host bits give 2⁶ = 64 combinations.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Now notice: 256 - 192 = 64 as well. That is not a coincidence and it is not a trick. Subtracting the mask value from 256 is simply a fast way of asking “how many combinations do the remaining host bits have?” 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That is the magic number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and Section sec:magic does the whole job with it.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CONCEPT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Powers of two, which you should know on sight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3170935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Host bits decide subnet size, so these eleven numbers cover almost every question you will be asked.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{@{}lllllllllll@{}} 2¹ &amp; 2² &amp; 2³ &amp; 2⁴ &amp; 2⁵ &amp; 2⁶ &amp; 2⁷ &amp; 2⁸ &amp; 2⁹ &amp; 2¹⁰ &amp; 2¹¹ 2 &amp; 4 &amp; 8 &amp; 16 &amp; 32 &amp; 64 &amp; 128 &amp; 256 &amp; 512 &amp; 1024 &amp; 2048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 i="0">
                <a:solidFill>
                  <a:srgbClr val="1C252B"/>
                </a:solidFill>
                <a:latin typeface="Segoe UI"/>
              </a:rPr>
              <a:t>Usable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hosts is always two fewer than the total, because the all-zeros address names the network itself and the all-ones address is the broadcast. Neither can be given to a host. So six host bits give 64 addresses and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62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usable ones.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DEFINITION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Network part and host part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3409695"/>
          </a:xfrm>
          <a:prstGeom prst="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The </a:t>
            </a:r>
            <a:r>
              <a:rPr sz="2000" b="1" i="0">
                <a:solidFill>
                  <a:srgbClr val="1F618D"/>
                </a:solidFill>
                <a:latin typeface="Segoe UI"/>
              </a:rPr>
              <a:t>subnet mask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marks, with 1 bits, which leading bits of the address identify the </a:t>
            </a:r>
            <a:r>
              <a:rPr sz="2000" b="1" i="0">
                <a:solidFill>
                  <a:srgbClr val="1F618D"/>
                </a:solidFill>
                <a:latin typeface="Segoe UI"/>
              </a:rPr>
              <a:t>network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The remaining 0 bits identify the </a:t>
            </a:r>
            <a:r>
              <a:rPr sz="2000" b="1" i="0">
                <a:solidFill>
                  <a:srgbClr val="1F618D"/>
                </a:solidFill>
                <a:latin typeface="Segoe UI"/>
              </a:rPr>
              <a:t>host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within it. Written as a count of 1 bits, the mask is a </a:t>
            </a:r>
            <a:r>
              <a:rPr sz="2000" b="1" i="0">
                <a:solidFill>
                  <a:srgbClr val="1F618D"/>
                </a:solidFill>
                <a:latin typeface="Segoe UI"/>
              </a:rPr>
              <a:t>prefix length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: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255.255.255.0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/24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are the same statement.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Two addresses are on the same subnet if and only if their network parts are identical. That single sentence is the source of most addressing faults: a host with the wrong mask computes a different network part, decides its neighbour is remote, and sends the traffic to a gateway that may not want it.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DEFINITION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Default gateway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4474463"/>
          </a:xfrm>
          <a:prstGeom prst="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1C252B"/>
                </a:solidFill>
                <a:latin typeface="Segoe UI"/>
              </a:rPr>
              <a:t>The address a host sends traffic to when the destination is </a:t>
            </a:r>
            <a:r>
              <a:rPr sz="1400" b="1" i="0">
                <a:solidFill>
                  <a:srgbClr val="1C252B"/>
                </a:solidFill>
                <a:latin typeface="Segoe UI"/>
              </a:rPr>
              <a:t>not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 on its own subnet. Almost always a router or a layer 3 switch interface on that subnet.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1C252B"/>
                </a:solidFill>
                <a:latin typeface="Segoe UI"/>
              </a:rPr>
              <a:t>Every host makes exactly one decision for every packet it sends, and it makes it with the mask: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400" b="0" i="0">
                <a:solidFill>
                  <a:srgbClr val="1C252B"/>
                </a:solidFill>
                <a:latin typeface="Segoe UI"/>
              </a:rPr>
              <a:t>Three consequences that account for a great many faults, and that Chapter 28 will make you test for directly:</a:t>
            </a:r>
          </a:p>
        </p:txBody>
      </p:sp>
      <p:sp>
        <p:nvSpPr>
          <p:cNvPr id="9" name="bullets"/>
          <p:cNvSpPr txBox="1"/>
          <p:nvPr/>
        </p:nvSpPr>
        <p:spPr>
          <a:xfrm>
            <a:off x="978408" y="3027680"/>
            <a:ext cx="10234879" cy="3354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60019" indent="-160019">
              <a:lnSpc>
                <a:spcPct val="102000"/>
              </a:lnSpc>
              <a:spcAft>
                <a:spcPts val="900"/>
              </a:spcAft>
            </a:pPr>
            <a:r>
              <a:rPr sz="1400" b="1">
                <a:solidFill>
                  <a:srgbClr val="1F618D"/>
                </a:solidFill>
                <a:latin typeface="Segoe UI"/>
              </a:rPr>
              <a:t>•  </a:t>
            </a:r>
            <a:r>
              <a:rPr sz="1400" b="1" i="0">
                <a:solidFill>
                  <a:srgbClr val="1C252B"/>
                </a:solidFill>
                <a:latin typeface="Segoe UI"/>
              </a:rPr>
              <a:t>Same network part as mine?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 Then the destination is local. ARP for it directly and send the frame straight there. The gateway is not involved at all.</a:t>
            </a:r>
          </a:p>
          <a:p>
            <a:pPr marL="160019" indent="-160019">
              <a:lnSpc>
                <a:spcPct val="102000"/>
              </a:lnSpc>
              <a:spcAft>
                <a:spcPts val="900"/>
              </a:spcAft>
            </a:pPr>
            <a:r>
              <a:rPr sz="1400" b="1">
                <a:solidFill>
                  <a:srgbClr val="1F618D"/>
                </a:solidFill>
                <a:latin typeface="Segoe UI"/>
              </a:rPr>
              <a:t>•  </a:t>
            </a:r>
            <a:r>
              <a:rPr sz="1400" b="1" i="0">
                <a:solidFill>
                  <a:srgbClr val="1C252B"/>
                </a:solidFill>
                <a:latin typeface="Segoe UI"/>
              </a:rPr>
              <a:t>Different?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 Then it is remote. ARP for the </a:t>
            </a:r>
            <a:r>
              <a:rPr sz="1400" b="0" i="1">
                <a:solidFill>
                  <a:srgbClr val="1C252B"/>
                </a:solidFill>
                <a:latin typeface="Segoe UI"/>
              </a:rPr>
              <a:t>gateway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, and hand the frame to it — with the destination’s IP address still inside, but the gateway’s MAC address on the outside.</a:t>
            </a:r>
          </a:p>
          <a:p>
            <a:pPr marL="160019" indent="-160019">
              <a:lnSpc>
                <a:spcPct val="102000"/>
              </a:lnSpc>
              <a:spcAft>
                <a:spcPts val="900"/>
              </a:spcAft>
            </a:pPr>
            <a:r>
              <a:rPr sz="1400" b="1">
                <a:solidFill>
                  <a:srgbClr val="1F618D"/>
                </a:solidFill>
                <a:latin typeface="Segoe UI"/>
              </a:rPr>
              <a:t>•  </a:t>
            </a:r>
            <a:r>
              <a:rPr sz="1400" b="1" i="0">
                <a:solidFill>
                  <a:srgbClr val="1C252B"/>
                </a:solidFill>
                <a:latin typeface="Segoe UI"/>
              </a:rPr>
              <a:t>A host with no gateway can reach its own subnet and nothing else.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 Everything local works, so the user reports “the internet is down” rather than “my machine is misconfigured”.</a:t>
            </a:r>
          </a:p>
          <a:p>
            <a:pPr marL="160019" indent="-160019">
              <a:lnSpc>
                <a:spcPct val="102000"/>
              </a:lnSpc>
              <a:spcAft>
                <a:spcPts val="900"/>
              </a:spcAft>
            </a:pPr>
            <a:r>
              <a:rPr sz="1400" b="1">
                <a:solidFill>
                  <a:srgbClr val="1F618D"/>
                </a:solidFill>
                <a:latin typeface="Segoe UI"/>
              </a:rPr>
              <a:t>•  </a:t>
            </a:r>
            <a:r>
              <a:rPr sz="1400" b="1" i="0">
                <a:solidFill>
                  <a:srgbClr val="1C252B"/>
                </a:solidFill>
                <a:latin typeface="Segoe UI"/>
              </a:rPr>
              <a:t>The gateway must be inside the host’s own subnet.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 A host will not ARP for something it believes is remote, so a gateway outside the subnet is unreachable by definition — which is the fault in this chapter’s Break &amp; Fix.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DEFINITION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Default gateway (continued)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1694688"/>
          </a:xfrm>
          <a:prstGeom prst="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ullets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Get the mask wrong and the host makes the local-or-remote decision wrongly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for some destinations and not others. That is why a wrong mask presents as “some things work”, which is far harder to read than “nothing works”.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DEFINITION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Private addresses — RFC 1918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4132072"/>
          </a:xfrm>
          <a:prstGeom prst="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Three ranges are reserved for internal use and are never routed on the internet. The exam expects you to recognise them instantly.</a:t>
            </a:r>
          </a:p>
        </p:txBody>
      </p:sp>
      <p:sp>
        <p:nvSpPr>
          <p:cNvPr id="9" name="bullets"/>
          <p:cNvSpPr txBox="1"/>
          <p:nvPr/>
        </p:nvSpPr>
        <p:spPr>
          <a:xfrm>
            <a:off x="978408" y="2580639"/>
            <a:ext cx="10234879" cy="380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10.0.0.0/8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one very large block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172.16.0.0/12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that is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172.16.0.0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to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172.31.255.255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and the upper bound catches people out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192.168.0.0/16</a:t>
            </a:r>
          </a:p>
        </p:txBody>
      </p:sp>
      <p:sp>
        <p:nvSpPr>
          <p:cNvPr id="10" name="tailbody"/>
          <p:cNvSpPr txBox="1"/>
          <p:nvPr/>
        </p:nvSpPr>
        <p:spPr>
          <a:xfrm>
            <a:off x="978408" y="4623816"/>
            <a:ext cx="10234879" cy="1703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Also worth knowing: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169.254.0.0/16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is </a:t>
            </a:r>
            <a:r>
              <a:rPr sz="2000" b="1" i="0">
                <a:solidFill>
                  <a:srgbClr val="1F618D"/>
                </a:solidFill>
                <a:latin typeface="Segoe UI"/>
              </a:rPr>
              <a:t>APIPA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which a host assigns itself when DHCP fails. A host with a 169.254 address has not been given one — see Chapter 20.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CONCEPT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Four steps, every time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3316223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ullets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Find the interesting octet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the one where the mask is neither 255 nor 0.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Block size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= 256 - (the mask value in that octet). This is the magic number.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Count in blocks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from zero in that octet until you pass the address. The multiple you last passed is the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network address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Broadcast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= next network address -1. Usable range is everything between the two, exclusive.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WORKED EXAMPLE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Where does 172.16.83.190/26 live?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2417064"/>
            <a:ext cx="10820095" cy="396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Mask for /26 is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255.255.255.192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The interesting octet is the fourth.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Block size = 256 - 192 = 64.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Count in 64s in the fourth octet: 0, 64, 128,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192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Our host is 190, which sits after 128 and before 192. Network address is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172.16.83.128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Next network is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172.16.83.192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so broadcast is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172.16.83.191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Usable range is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172.16.83.129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to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172.16.83.190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8" name="tailbody"/>
          <p:cNvSpPr txBox="1"/>
          <p:nvPr/>
        </p:nvSpPr>
        <p:spPr>
          <a:xfrm>
            <a:off x="685800" y="5330952"/>
            <a:ext cx="10820095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So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.190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is the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last usable address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in its subnet — a perfectly valid host address, and a favourite exam distractor because it looks like a broadcast.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WORKED EXAMPLE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The same method in the third octet: 10.44.150.7/21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2417064"/>
            <a:ext cx="10820095" cy="396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/21 is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255.255.248.0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Interesting octet is the third.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Block size = 256 - 248 = 8.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Count in 8s in the third octet: 0, 8, …, 144,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152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Our 150 sits after 144. Network is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10.44.144.0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Next network is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10.44.152.0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so broadcast is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10.44.151.255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Usable is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10.44.144.1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to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10.44.151.254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2046 hosts.</a:t>
            </a:r>
          </a:p>
        </p:txBody>
      </p:sp>
      <p:sp>
        <p:nvSpPr>
          <p:cNvPr id="8" name="tailbody"/>
          <p:cNvSpPr txBox="1"/>
          <p:nvPr/>
        </p:nvSpPr>
        <p:spPr>
          <a:xfrm>
            <a:off x="685800" y="5330952"/>
            <a:ext cx="10820095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Note that the fourth octet plays no part in finding the boundary. Only the interesting octet does.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WORKED EXAMPLE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A5276"/>
                </a:solidFill>
                <a:latin typeface="Segoe UI"/>
              </a:rPr>
              <a:t>Split 192.168.20.0/24 for four sites of 50, 25, 10 and 2 hosts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Work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largest first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or you will strand addresses.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685800" y="2030984"/>
            <a:ext cx="10820095" cy="4351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50 hosts needs 62 usable → /26, block 64.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192.168.20.0/26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usable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.1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–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.62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25 hosts needs 30 usable → /27, block 32. Next free address is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.64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: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192.168.20.64/27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usable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.65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–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.94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10 hosts needs 14 usable → /28, block 16. Next free is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.96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: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192.168.20.96/28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usable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.97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–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.110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2 hosts (a router link) → /30, block 4. Next free is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.112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: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192.168.20.112/30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usable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.113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–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.114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9" name="tailbody"/>
          <p:cNvSpPr txBox="1"/>
          <p:nvPr/>
        </p:nvSpPr>
        <p:spPr>
          <a:xfrm>
            <a:off x="685800" y="5275071"/>
            <a:ext cx="10820095" cy="1052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Everything from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.116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upwards is still free. This is </a:t>
            </a:r>
            <a:r>
              <a:rPr sz="2000" b="1" i="0">
                <a:solidFill>
                  <a:srgbClr val="1F618D"/>
                </a:solidFill>
                <a:latin typeface="Segoe UI"/>
              </a:rPr>
              <a:t>VLSM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: different masks inside one block, sized to the requirement.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WATCH OUT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The two rules VLSM must obey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2600306"/>
            <a:ext cx="10820095" cy="37822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A subnet must start on a multiple of its own block size.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 /27 can start at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.64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or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.96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never at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.70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Subnets must not overlap.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If you allocate smallest-first you will eventually place a large subnet where it does not fit, and have to start again. Largest first avoids this.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CONFIGURE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An interface address and a default gateway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872331"/>
            <a:ext cx="10820095" cy="3897376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872331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927195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IOS  ·  configuration mode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2311243"/>
            <a:ext cx="10417759" cy="3403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 On a router interface -- the mask is written in full.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interface GigabitEthernet0/0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description User VLAN 10 gateway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ip address 192.168.20.1 255.255.255.192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no shutdown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 On a layer 2 switch, the management address lives on an SVI,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 and the switch needs a default gateway because it does not route.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interface Vlan10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ip address 192.168.20.2 255.255.255.192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 no shutdown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i="1">
                <a:solidFill>
                  <a:srgbClr val="6E8BA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ip default-gateway 192.168.20.1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VERIFY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show ip interface brief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codebg"/>
          <p:cNvSpPr/>
          <p:nvPr/>
        </p:nvSpPr>
        <p:spPr>
          <a:xfrm>
            <a:off x="685800" y="1901952"/>
            <a:ext cx="10820095" cy="1629664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bar"/>
          <p:cNvSpPr/>
          <p:nvPr/>
        </p:nvSpPr>
        <p:spPr>
          <a:xfrm>
            <a:off x="685800" y="1901952"/>
            <a:ext cx="10820095" cy="347472"/>
          </a:xfrm>
          <a:prstGeom prst="rect">
            <a:avLst/>
          </a:prstGeom>
          <a:solidFill>
            <a:srgbClr val="27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dettl"/>
          <p:cNvSpPr txBox="1"/>
          <p:nvPr/>
        </p:nvSpPr>
        <p:spPr>
          <a:xfrm>
            <a:off x="886968" y="1956816"/>
            <a:ext cx="10417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9FB3C8"/>
                </a:solidFill>
                <a:latin typeface="Segoe UI"/>
              </a:rPr>
              <a:t>R1#</a:t>
            </a:r>
          </a:p>
        </p:txBody>
      </p:sp>
      <p:sp>
        <p:nvSpPr>
          <p:cNvPr id="10" name="code"/>
          <p:cNvSpPr txBox="1"/>
          <p:nvPr/>
        </p:nvSpPr>
        <p:spPr>
          <a:xfrm>
            <a:off x="886968" y="2340864"/>
            <a:ext cx="10417759" cy="1135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Interface              IP-Address      OK? Method Status                Protocol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GigabitEthernet0/0     192.168.20.1    YES manual up                    up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GigabitEthernet0/1     unassigned      YES unset  administratively down down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E8EEF2"/>
                </a:solidFill>
                <a:latin typeface="Consolas"/>
              </a:rPr>
              <a:t>Vlan1                  unassigned      YES unset  down                  down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CONCEPT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Reading the two status columns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tint"/>
          <p:cNvSpPr/>
          <p:nvPr/>
        </p:nvSpPr>
        <p:spPr>
          <a:xfrm>
            <a:off x="685800" y="1517904"/>
            <a:ext cx="10820095" cy="4819903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dy"/>
          <p:cNvSpPr txBox="1"/>
          <p:nvPr/>
        </p:nvSpPr>
        <p:spPr>
          <a:xfrm>
            <a:off x="978408" y="1737360"/>
            <a:ext cx="10234879" cy="4645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The pair of columns is the single most useful diagnostic on a router, and the combinations mean different things.</a:t>
            </a:r>
          </a:p>
        </p:txBody>
      </p:sp>
      <p:sp>
        <p:nvSpPr>
          <p:cNvPr id="9" name="bullets"/>
          <p:cNvSpPr txBox="1"/>
          <p:nvPr/>
        </p:nvSpPr>
        <p:spPr>
          <a:xfrm>
            <a:off x="978408" y="2580639"/>
            <a:ext cx="10234879" cy="380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up / up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working.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up / down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the cable and electrical link are fine, but the protocol is not. Usually an encapsulation or keepalive mismatch, or the far end is not configured.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down / down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a physical problem. Cable, transceiver, or the other end is shut. Go back to Chapter 2.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administratively down / down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— somebody typed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shutdown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The fix is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no shutdown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COMMON PITFALLS  ·  Configuring and verifying an address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Common pitfalls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Forgetting </a:t>
            </a:r>
            <a:r>
              <a:rPr sz="1900" b="1" i="0">
                <a:solidFill>
                  <a:srgbClr val="1A5276"/>
                </a:solidFill>
                <a:latin typeface="Consolas"/>
              </a:rPr>
              <a:t>no shutdown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Router interfaces are shut by default. Switch ports are not. This asymmetry catches everyone once.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Assuming </a:t>
            </a:r>
            <a:r>
              <a:rPr sz="1900" b="1" i="0">
                <a:solidFill>
                  <a:srgbClr val="1A5276"/>
                </a:solidFill>
                <a:latin typeface="Consolas"/>
              </a:rPr>
              <a:t>172.16.0.0/12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 stops at 172.16.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It runs to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172.31.255.255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172.32.0.0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is public.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Giving the gateway an address outside the subnet.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 host will accept the configuration and then fail silently for everything off-net.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Using the network or broadcast address on a host.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.0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.255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are only network and broadcast in a /24. In a /26 the boundaries move, and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192.168.20.64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is a network address even though it does not end in zero.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SYMPTOM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4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“I can reach my own floor but nothing else”.</a:t>
            </a:r>
          </a:p>
        </p:txBody>
      </p:sp>
      <p:sp>
        <p:nvSpPr>
          <p:cNvPr id="6" name="bfbody"/>
          <p:cNvSpPr txBox="1"/>
          <p:nvPr/>
        </p:nvSpPr>
        <p:spPr>
          <a:xfrm>
            <a:off x="685800" y="3169412"/>
            <a:ext cx="10820095" cy="31856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A host is configured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192.168.20.100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mask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255.255.255.192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gateway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192.168.20.1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It can ping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192.168.20.90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but not its gateway and nothing beyond.</a:t>
            </a:r>
          </a:p>
        </p:txBody>
      </p:sp>
      <p:sp>
        <p:nvSpPr>
          <p:cNvPr id="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YOUR MOVE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4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“I can reach my own floor but nothing else”.</a:t>
            </a:r>
          </a:p>
        </p:txBody>
      </p:sp>
      <p:sp>
        <p:nvSpPr>
          <p:cNvPr id="6" name="promptbg"/>
          <p:cNvSpPr/>
          <p:nvPr/>
        </p:nvSpPr>
        <p:spPr>
          <a:xfrm>
            <a:off x="685800" y="2939796"/>
            <a:ext cx="10820095" cy="841248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rompt"/>
          <p:cNvSpPr txBox="1"/>
          <p:nvPr/>
        </p:nvSpPr>
        <p:spPr>
          <a:xfrm>
            <a:off x="960120" y="3140964"/>
            <a:ext cx="1027145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A5276"/>
                </a:solidFill>
                <a:latin typeface="Segoe UI"/>
              </a:rPr>
              <a:t>What would you check first — and what do you expect to see?</a:t>
            </a:r>
          </a:p>
        </p:txBody>
      </p:sp>
      <p:sp>
        <p:nvSpPr>
          <p:cNvPr id="8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9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DIAGNOSIS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4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Why it is doing that</a:t>
            </a:r>
          </a:p>
        </p:txBody>
      </p:sp>
      <p:sp>
        <p:nvSpPr>
          <p:cNvPr id="6" name="bfbody"/>
          <p:cNvSpPr txBox="1"/>
          <p:nvPr/>
        </p:nvSpPr>
        <p:spPr>
          <a:xfrm>
            <a:off x="685800" y="2807462"/>
            <a:ext cx="10820095" cy="35476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1" i="0">
                <a:solidFill>
                  <a:srgbClr val="1C252B"/>
                </a:solidFill>
                <a:latin typeface="Segoe UI"/>
              </a:rPr>
              <a:t>Diagnosis.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Work the mask. /26 gives block size 64, so the boundaries are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.0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.64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.128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.192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The host at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.100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in the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192.168.20.64/26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subnet, usable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.65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–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.126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Its gateway at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.1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in the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first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subnet,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192.168.20.0/26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The host and its gateway are on different subnets, so the host cannot ARP for it and has no way off its own segment. It can still reach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.90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because that address is in the same /26.</a:t>
            </a:r>
          </a:p>
        </p:txBody>
      </p:sp>
      <p:sp>
        <p:nvSpPr>
          <p:cNvPr id="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fband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fstage"/>
          <p:cNvSpPr txBox="1"/>
          <p:nvPr/>
        </p:nvSpPr>
        <p:spPr>
          <a:xfrm>
            <a:off x="685800" y="137160"/>
            <a:ext cx="649205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BREAK &amp; FIX  ·  THE FIX</a:t>
            </a:r>
          </a:p>
        </p:txBody>
      </p:sp>
      <p:sp>
        <p:nvSpPr>
          <p:cNvPr id="4" name="bfch"/>
          <p:cNvSpPr txBox="1"/>
          <p:nvPr/>
        </p:nvSpPr>
        <p:spPr>
          <a:xfrm>
            <a:off x="7177857" y="137160"/>
            <a:ext cx="432803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F2D7D5"/>
                </a:solidFill>
                <a:latin typeface="Segoe UI"/>
              </a:rPr>
              <a:t>Chapter 4</a:t>
            </a:r>
          </a:p>
        </p:txBody>
      </p:sp>
      <p:sp>
        <p:nvSpPr>
          <p:cNvPr id="5" name="bftitle"/>
          <p:cNvSpPr txBox="1"/>
          <p:nvPr/>
        </p:nvSpPr>
        <p:spPr>
          <a:xfrm>
            <a:off x="685800" y="841248"/>
            <a:ext cx="1082009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C252B"/>
                </a:solidFill>
                <a:latin typeface="Segoe UI"/>
              </a:rPr>
              <a:t>And the lesson</a:t>
            </a:r>
          </a:p>
        </p:txBody>
      </p:sp>
      <p:sp>
        <p:nvSpPr>
          <p:cNvPr id="6" name="bfbody"/>
          <p:cNvSpPr txBox="1"/>
          <p:nvPr/>
        </p:nvSpPr>
        <p:spPr>
          <a:xfrm>
            <a:off x="685800" y="2928111"/>
            <a:ext cx="10820095" cy="342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900" b="1" i="0">
                <a:solidFill>
                  <a:srgbClr val="1C252B"/>
                </a:solidFill>
                <a:latin typeface="Segoe UI"/>
              </a:rPr>
              <a:t>Fix.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Either move the host into the subnet its gateway serves, or — far more likely what was intended — correct the gateway to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192.168.20.65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the first usable address of the subnet the host is actually in. Then confirm with a ping to the gateway before testing anything remote.</a:t>
            </a:r>
          </a:p>
        </p:txBody>
      </p:sp>
      <p:sp>
        <p:nvSpPr>
          <p:cNvPr id="7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8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LAB · PACKET TRACER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Subnet, configure, then break it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000" b="1" i="0">
                <a:solidFill>
                  <a:srgbClr val="1C252B"/>
                </a:solidFill>
                <a:latin typeface="Segoe UI"/>
              </a:rPr>
              <a:t>Topology.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One router, two switches, four PCs — two per VLAN.</a:t>
            </a:r>
          </a:p>
        </p:txBody>
      </p:sp>
      <p:sp>
        <p:nvSpPr>
          <p:cNvPr id="8" name="bullets"/>
          <p:cNvSpPr txBox="1"/>
          <p:nvPr/>
        </p:nvSpPr>
        <p:spPr>
          <a:xfrm>
            <a:off x="685800" y="2030984"/>
            <a:ext cx="10820095" cy="4351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1.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Subnet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172.16.5.0/24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into two subnets of at least 100 hosts each. Write down, before touching a device: network address, first and last usable address, and broadcast address for both.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2.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Configure the router with a gateway address in each subnet and the PCs with addresses from your plan. Verify with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show ip interface brief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and a ping within each subnet.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3.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Prove routing works between the two subnets by pinging across.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4.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Now change one PC’s mask from your planned value to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255.255.255.0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Predict what will break </a:t>
            </a:r>
            <a:r>
              <a:rPr sz="2000" b="0" i="1">
                <a:solidFill>
                  <a:srgbClr val="1C252B"/>
                </a:solidFill>
                <a:latin typeface="Segoe UI"/>
              </a:rPr>
              <a:t>before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you test, then test it. Explain the result in terms of the network part.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LAB · PACKET TRACER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Subnet, configure, then break it (continued)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2718235"/>
            <a:ext cx="10820095" cy="36642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1.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Change it back, then set one PC’s gateway to an address in the other subnet. Predict and test again.</a:t>
            </a:r>
          </a:p>
          <a:p>
            <a:pPr marL="386080" indent="-38608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2.  </a:t>
            </a:r>
            <a:r>
              <a:rPr sz="2000" b="1" i="0">
                <a:solidFill>
                  <a:srgbClr val="1C252B"/>
                </a:solidFill>
                <a:latin typeface="Segoe UI"/>
              </a:rPr>
              <a:t>Extension.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Re-plan the same /24 using VLSM for four segments of 100, 50, 20 and 2 hosts, and configure it without overlaps.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qlab"/>
          <p:cNvSpPr txBox="1"/>
          <p:nvPr/>
        </p:nvSpPr>
        <p:spPr>
          <a:xfrm>
            <a:off x="685800" y="118872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FC5E8"/>
                </a:solidFill>
                <a:latin typeface="Segoe UI"/>
              </a:rPr>
              <a:t>CHECKPOINT  1 of 3</a:t>
            </a:r>
          </a:p>
        </p:txBody>
      </p:sp>
      <p:sp>
        <p:nvSpPr>
          <p:cNvPr id="4" name="qtext"/>
          <p:cNvSpPr txBox="1"/>
          <p:nvPr/>
        </p:nvSpPr>
        <p:spPr>
          <a:xfrm>
            <a:off x="685800" y="1783080"/>
            <a:ext cx="1082009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"/>
              </a:rPr>
              <a:t>For </a:t>
            </a:r>
            <a:r>
              <a:rPr sz="2900" b="0" i="0">
                <a:solidFill>
                  <a:srgbClr val="FFFFFF"/>
                </a:solidFill>
                <a:latin typeface="Consolas"/>
              </a:rPr>
              <a:t>10.19.200.37/27</a:t>
            </a:r>
            <a:r>
              <a:rPr sz="3000" b="0" i="0">
                <a:solidFill>
                  <a:srgbClr val="FFFFFF"/>
                </a:solidFill>
                <a:latin typeface="Segoe UI"/>
              </a:rPr>
              <a:t>: give the network address, broadcast address, and first and last usable address.</a:t>
            </a:r>
          </a:p>
        </p:txBody>
      </p:sp>
      <p:sp>
        <p:nvSpPr>
          <p:cNvPr id="5" name="qhint"/>
          <p:cNvSpPr txBox="1"/>
          <p:nvPr/>
        </p:nvSpPr>
        <p:spPr>
          <a:xfrm>
            <a:off x="685800" y="539496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FA8C9"/>
                </a:solidFill>
                <a:latin typeface="Segoe UI"/>
              </a:rPr>
              <a:t>Discuss · then advance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Checkpoint 1 of 3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qtext"/>
          <p:cNvSpPr txBox="1"/>
          <p:nvPr/>
        </p:nvSpPr>
        <p:spPr>
          <a:xfrm>
            <a:off x="685800" y="1517904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A5276"/>
                </a:solidFill>
                <a:latin typeface="Segoe UI"/>
              </a:rPr>
              <a:t>For </a:t>
            </a:r>
            <a:r>
              <a:rPr sz="1900" b="1" i="0">
                <a:solidFill>
                  <a:srgbClr val="1A5276"/>
                </a:solidFill>
                <a:latin typeface="Consolas"/>
              </a:rPr>
              <a:t>10.19.200.37/27</a:t>
            </a:r>
            <a:r>
              <a:rPr sz="2000" b="1" i="0">
                <a:solidFill>
                  <a:srgbClr val="1A5276"/>
                </a:solidFill>
                <a:latin typeface="Segoe UI"/>
              </a:rPr>
              <a:t>: give the network address, broadcast address, and first and last usable address.</a:t>
            </a:r>
          </a:p>
        </p:txBody>
      </p:sp>
      <p:sp>
        <p:nvSpPr>
          <p:cNvPr id="8" name="abar"/>
          <p:cNvSpPr/>
          <p:nvPr/>
        </p:nvSpPr>
        <p:spPr>
          <a:xfrm>
            <a:off x="685800" y="2511044"/>
            <a:ext cx="41148" cy="114223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text"/>
          <p:cNvSpPr txBox="1"/>
          <p:nvPr/>
        </p:nvSpPr>
        <p:spPr>
          <a:xfrm>
            <a:off x="941832" y="2511044"/>
            <a:ext cx="10564063" cy="3780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A5276"/>
                </a:solidFill>
                <a:latin typeface="Consolas"/>
              </a:rPr>
              <a:t>/27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gives a block size of 32 in the fourth octet. The address ends in 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37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which falls in the block starting at 32. Network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10.19.200.32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broadcast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10.19.200.63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first usable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10.19.200.33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last usable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10.19.200.62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qlab"/>
          <p:cNvSpPr txBox="1"/>
          <p:nvPr/>
        </p:nvSpPr>
        <p:spPr>
          <a:xfrm>
            <a:off x="685800" y="118872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FC5E8"/>
                </a:solidFill>
                <a:latin typeface="Segoe UI"/>
              </a:rPr>
              <a:t>CHECKPOINT  2 of 3</a:t>
            </a:r>
          </a:p>
        </p:txBody>
      </p:sp>
      <p:sp>
        <p:nvSpPr>
          <p:cNvPr id="4" name="qtext"/>
          <p:cNvSpPr txBox="1"/>
          <p:nvPr/>
        </p:nvSpPr>
        <p:spPr>
          <a:xfrm>
            <a:off x="685800" y="1783080"/>
            <a:ext cx="1082009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"/>
              </a:rPr>
              <a:t>A host is </a:t>
            </a:r>
            <a:r>
              <a:rPr sz="2900" b="0" i="0">
                <a:solidFill>
                  <a:srgbClr val="FFFFFF"/>
                </a:solidFill>
                <a:latin typeface="Consolas"/>
              </a:rPr>
              <a:t>192.168.1.130/25</a:t>
            </a:r>
            <a:r>
              <a:rPr sz="3000" b="0" i="0">
                <a:solidFill>
                  <a:srgbClr val="FFFFFF"/>
                </a:solidFill>
                <a:latin typeface="Segoe UI"/>
              </a:rPr>
              <a:t> and its gateway is </a:t>
            </a:r>
            <a:r>
              <a:rPr sz="2900" b="0" i="0">
                <a:solidFill>
                  <a:srgbClr val="FFFFFF"/>
                </a:solidFill>
                <a:latin typeface="Consolas"/>
              </a:rPr>
              <a:t>192.168.1.126</a:t>
            </a:r>
            <a:r>
              <a:rPr sz="3000" b="0" i="0">
                <a:solidFill>
                  <a:srgbClr val="FFFFFF"/>
                </a:solidFill>
                <a:latin typeface="Segoe UI"/>
              </a:rPr>
              <a:t>. Will it work? Show your reasoning.</a:t>
            </a:r>
          </a:p>
        </p:txBody>
      </p:sp>
      <p:sp>
        <p:nvSpPr>
          <p:cNvPr id="5" name="qhint"/>
          <p:cNvSpPr txBox="1"/>
          <p:nvPr/>
        </p:nvSpPr>
        <p:spPr>
          <a:xfrm>
            <a:off x="685800" y="539496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FA8C9"/>
                </a:solidFill>
                <a:latin typeface="Segoe UI"/>
              </a:rPr>
              <a:t>Discuss · then advance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Checkpoint 2 of 3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qtext"/>
          <p:cNvSpPr txBox="1"/>
          <p:nvPr/>
        </p:nvSpPr>
        <p:spPr>
          <a:xfrm>
            <a:off x="685800" y="1517904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A5276"/>
                </a:solidFill>
                <a:latin typeface="Segoe UI"/>
              </a:rPr>
              <a:t>A host is </a:t>
            </a:r>
            <a:r>
              <a:rPr sz="1900" b="1" i="0">
                <a:solidFill>
                  <a:srgbClr val="1A5276"/>
                </a:solidFill>
                <a:latin typeface="Consolas"/>
              </a:rPr>
              <a:t>192.168.1.130/25</a:t>
            </a:r>
            <a:r>
              <a:rPr sz="2000" b="1" i="0">
                <a:solidFill>
                  <a:srgbClr val="1A5276"/>
                </a:solidFill>
                <a:latin typeface="Segoe UI"/>
              </a:rPr>
              <a:t> and its gateway is </a:t>
            </a:r>
            <a:r>
              <a:rPr sz="1900" b="1" i="0">
                <a:solidFill>
                  <a:srgbClr val="1A5276"/>
                </a:solidFill>
                <a:latin typeface="Consolas"/>
              </a:rPr>
              <a:t>192.168.1.126</a:t>
            </a:r>
            <a:r>
              <a:rPr sz="2000" b="1" i="0">
                <a:solidFill>
                  <a:srgbClr val="1A5276"/>
                </a:solidFill>
                <a:latin typeface="Segoe UI"/>
              </a:rPr>
              <a:t>. Will it work? Show your reasoning.</a:t>
            </a:r>
          </a:p>
        </p:txBody>
      </p:sp>
      <p:sp>
        <p:nvSpPr>
          <p:cNvPr id="8" name="abar"/>
          <p:cNvSpPr/>
          <p:nvPr/>
        </p:nvSpPr>
        <p:spPr>
          <a:xfrm>
            <a:off x="685800" y="2511044"/>
            <a:ext cx="41148" cy="114223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text"/>
          <p:cNvSpPr txBox="1"/>
          <p:nvPr/>
        </p:nvSpPr>
        <p:spPr>
          <a:xfrm>
            <a:off x="941832" y="2511044"/>
            <a:ext cx="10564063" cy="3780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C252B"/>
                </a:solidFill>
                <a:latin typeface="Segoe UI"/>
              </a:rPr>
              <a:t>No.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/25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has a block size of 128, so the host is in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192.168.1.128/25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whose range is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.129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to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.254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The gateway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192.168.1.126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in the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other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half,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192.168.1.0/25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The host will ARP for a gateway that is not on its segment and reach nothing beyond its own subnet.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qlab"/>
          <p:cNvSpPr txBox="1"/>
          <p:nvPr/>
        </p:nvSpPr>
        <p:spPr>
          <a:xfrm>
            <a:off x="685800" y="118872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9FC5E8"/>
                </a:solidFill>
                <a:latin typeface="Segoe UI"/>
              </a:rPr>
              <a:t>CHECKPOINT  3 of 3</a:t>
            </a:r>
          </a:p>
        </p:txBody>
      </p:sp>
      <p:sp>
        <p:nvSpPr>
          <p:cNvPr id="4" name="qtext"/>
          <p:cNvSpPr txBox="1"/>
          <p:nvPr/>
        </p:nvSpPr>
        <p:spPr>
          <a:xfrm>
            <a:off x="685800" y="1783080"/>
            <a:ext cx="10820095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 i="0">
                <a:solidFill>
                  <a:srgbClr val="FFFFFF"/>
                </a:solidFill>
                <a:latin typeface="Segoe UI"/>
              </a:rPr>
              <a:t>How many usable addresses does a /30 provide, and why is a /31 sometimes used instead on a router-to-router link?</a:t>
            </a:r>
          </a:p>
        </p:txBody>
      </p:sp>
      <p:sp>
        <p:nvSpPr>
          <p:cNvPr id="5" name="qhint"/>
          <p:cNvSpPr txBox="1"/>
          <p:nvPr/>
        </p:nvSpPr>
        <p:spPr>
          <a:xfrm>
            <a:off x="685800" y="5394960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7FA8C9"/>
                </a:solidFill>
                <a:latin typeface="Segoe UI"/>
              </a:rPr>
              <a:t>Discuss · then advance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ANSWER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Checkpoint 3 of 3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qtext"/>
          <p:cNvSpPr txBox="1"/>
          <p:nvPr/>
        </p:nvSpPr>
        <p:spPr>
          <a:xfrm>
            <a:off x="685800" y="1517904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A5276"/>
                </a:solidFill>
                <a:latin typeface="Segoe UI"/>
              </a:rPr>
              <a:t>How many usable addresses does a /30 provide, and why is a /31 sometimes used instead on a router-to-router link?</a:t>
            </a:r>
          </a:p>
        </p:txBody>
      </p:sp>
      <p:sp>
        <p:nvSpPr>
          <p:cNvPr id="8" name="abar"/>
          <p:cNvSpPr/>
          <p:nvPr/>
        </p:nvSpPr>
        <p:spPr>
          <a:xfrm>
            <a:off x="685800" y="2511044"/>
            <a:ext cx="41148" cy="114223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atext"/>
          <p:cNvSpPr txBox="1"/>
          <p:nvPr/>
        </p:nvSpPr>
        <p:spPr>
          <a:xfrm>
            <a:off x="941832" y="2511044"/>
            <a:ext cx="10564063" cy="3780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Two. A </a:t>
            </a:r>
            <a:r>
              <a:rPr sz="1800" b="0" i="0">
                <a:solidFill>
                  <a:srgbClr val="1A5276"/>
                </a:solidFill>
                <a:latin typeface="Consolas"/>
              </a:rPr>
              <a:t>/31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used on a router-to-router link because there are only ever two devices and neither needs a broadcast address, so it provides both addresses usefully and halves the address consumption of every point-to-point link on a network.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159:morph xmlns:p159="http://schemas.microsoft.com/office/powerpoint/2015/09/main" option="byObject"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CHAPTER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What to take away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1517904"/>
            <a:ext cx="10820095" cy="4864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Address plus mask equals two facts: which network, and which host. Devices are on the same subnet only if their network parts match.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Block size =256- mask octet. Count in blocks. That method answers every subnetting question you will be asked.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Usable = block -2, except /31 and /32.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Private ranges are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10/8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172.16/12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(to 172.31) and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192.168/16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. A </a:t>
            </a:r>
            <a:r>
              <a:rPr sz="1900" b="0" i="0">
                <a:solidFill>
                  <a:srgbClr val="1A5276"/>
                </a:solidFill>
                <a:latin typeface="Consolas"/>
              </a:rPr>
              <a:t>169.254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 address means DHCP failed.</a:t>
            </a:r>
          </a:p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Plan VLSM largest first, and start every subnet on a multiple of its own block size.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420624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959A"/>
                </a:solidFill>
                <a:latin typeface="Segoe UI"/>
              </a:rPr>
              <a:t>CHAPTER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640080"/>
            <a:ext cx="1082009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1A5276"/>
                </a:solidFill>
                <a:latin typeface="Segoe UI"/>
              </a:rPr>
              <a:t>What to take away (continued)</a:t>
            </a:r>
          </a:p>
        </p:txBody>
      </p:sp>
      <p:sp>
        <p:nvSpPr>
          <p:cNvPr id="4" name="rule"/>
          <p:cNvSpPr/>
          <p:nvPr/>
        </p:nvSpPr>
        <p:spPr>
          <a:xfrm>
            <a:off x="685800" y="1280160"/>
            <a:ext cx="10820095" cy="32004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L"/>
          <p:cNvSpPr txBox="1"/>
          <p:nvPr/>
        </p:nvSpPr>
        <p:spPr>
          <a:xfrm>
            <a:off x="685800" y="6419088"/>
            <a:ext cx="77904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CCNA 200-301 v2.0   ·   Chapter 4. IPv4 Addressing and Subnetting</a:t>
            </a:r>
          </a:p>
        </p:txBody>
      </p:sp>
      <p:sp>
        <p:nvSpPr>
          <p:cNvPr id="6" name="footR"/>
          <p:cNvSpPr txBox="1"/>
          <p:nvPr/>
        </p:nvSpPr>
        <p:spPr>
          <a:xfrm>
            <a:off x="8476268" y="6419088"/>
            <a:ext cx="30296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8A959A"/>
                </a:solidFill>
                <a:latin typeface="Segoe UI"/>
              </a:rPr>
              <a:t>1.3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685800" y="2986749"/>
            <a:ext cx="10820095" cy="33957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lnSpc>
                <a:spcPct val="102000"/>
              </a:lnSpc>
              <a:spcAft>
                <a:spcPts val="900"/>
              </a:spcAft>
            </a:pPr>
            <a:r>
              <a:rPr sz="2000" b="1">
                <a:solidFill>
                  <a:srgbClr val="1F618D"/>
                </a:solidFill>
                <a:latin typeface="Segoe UI"/>
              </a:rPr>
              <a:t>•  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Four faults cover most cases: wrong mask, wrong gateway, address outside the subnet, duplicate address.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18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ltitle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Where we got to</a:t>
            </a:r>
          </a:p>
        </p:txBody>
      </p:sp>
      <p:sp>
        <p:nvSpPr>
          <p:cNvPr id="4" name="cltakeaways"/>
          <p:cNvSpPr txBox="1"/>
          <p:nvPr/>
        </p:nvSpPr>
        <p:spPr>
          <a:xfrm>
            <a:off x="685800" y="2011680"/>
            <a:ext cx="10820095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Address plus mask equals two facts: which network, and which host. Devices are on the same subnet only if their network parts match.</a:t>
            </a:r>
          </a:p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Block size =256- mask octet. Count in blocks. That method answers every subnetting question you will be asked.</a:t>
            </a:r>
          </a:p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Usable = block -2, except /31 and /32.</a:t>
            </a:r>
          </a:p>
          <a:p>
            <a:pPr marL="217169" indent="-217169">
              <a:spcAft>
                <a:spcPts val="900"/>
              </a:spcAft>
            </a:pPr>
            <a:r>
              <a:rPr sz="1900">
                <a:solidFill>
                  <a:srgbClr val="C8D6E5"/>
                </a:solidFill>
              </a:rPr>
              <a:t>•  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Private ranges are </a:t>
            </a:r>
            <a:r>
              <a:rPr sz="1800" b="0" i="0">
                <a:solidFill>
                  <a:srgbClr val="FFFFFF"/>
                </a:solidFill>
                <a:latin typeface="Consolas"/>
              </a:rPr>
              <a:t>10/8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, </a:t>
            </a:r>
            <a:r>
              <a:rPr sz="1800" b="0" i="0">
                <a:solidFill>
                  <a:srgbClr val="FFFFFF"/>
                </a:solidFill>
                <a:latin typeface="Consolas"/>
              </a:rPr>
              <a:t>172.16/12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 (to 172.31) and </a:t>
            </a:r>
            <a:r>
              <a:rPr sz="1800" b="0" i="0">
                <a:solidFill>
                  <a:srgbClr val="FFFFFF"/>
                </a:solidFill>
                <a:latin typeface="Consolas"/>
              </a:rPr>
              <a:t>192.168/16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. A </a:t>
            </a:r>
            <a:r>
              <a:rPr sz="1800" b="0" i="0">
                <a:solidFill>
                  <a:srgbClr val="FFFFFF"/>
                </a:solidFill>
                <a:latin typeface="Consolas"/>
              </a:rPr>
              <a:t>169.254</a:t>
            </a:r>
            <a:r>
              <a:rPr sz="1900" b="0" i="0">
                <a:solidFill>
                  <a:srgbClr val="FFFFFF"/>
                </a:solidFill>
                <a:latin typeface="Segoe UI"/>
              </a:rPr>
              <a:t> address means DHCP failed.</a:t>
            </a:r>
          </a:p>
        </p:txBody>
      </p:sp>
      <p:sp>
        <p:nvSpPr>
          <p:cNvPr id="5" name="nextbg"/>
          <p:cNvSpPr/>
          <p:nvPr/>
        </p:nvSpPr>
        <p:spPr>
          <a:xfrm>
            <a:off x="685800" y="5303520"/>
            <a:ext cx="10820095" cy="822960"/>
          </a:xfrm>
          <a:prstGeom prst="rect">
            <a:avLst/>
          </a:prstGeom>
          <a:solidFill>
            <a:srgbClr val="094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nextlab"/>
          <p:cNvSpPr txBox="1"/>
          <p:nvPr/>
        </p:nvSpPr>
        <p:spPr>
          <a:xfrm>
            <a:off x="960120" y="5449824"/>
            <a:ext cx="10271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B8C9DA"/>
                </a:solidFill>
                <a:latin typeface="Segoe UI"/>
              </a:rPr>
              <a:t>NEXT</a:t>
            </a:r>
          </a:p>
        </p:txBody>
      </p:sp>
      <p:sp>
        <p:nvSpPr>
          <p:cNvPr id="7" name="nexttitle"/>
          <p:cNvSpPr txBox="1"/>
          <p:nvPr/>
        </p:nvSpPr>
        <p:spPr>
          <a:xfrm>
            <a:off x="960120" y="5705856"/>
            <a:ext cx="102714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Chapter 5 — IPv6 Addressing</a:t>
            </a: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med" p14:dur="500">
        <p:fade/>
      </p:transition>
    </mc:Choice>
    <mc:Fallback>
      <p:transition spd="med">
        <p:fade/>
      </p:transition>
    </mc:Fallback>
  </mc:AlternateContent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