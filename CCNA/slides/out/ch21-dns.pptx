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21: DNS, and Diagnosing Records. Blueprint topics: 4.4.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DNS, and Diagnosing Records 4.4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step 1 is recursive. The host asks one question and waits; the resolver does the walking and caches what it learns for the TTL.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record carries a time to live in seconds. A resolver that answers from cache serves the record until the TTL expires, and it does not re-check early because somebody in another organisation changed something. This is the source of the single most common DNS complaint: “we fixed the record an hour ago and it is still wrong.” If the old record had a 24-hour TTL, it is still wrong for up to 24 more hours, for anyone whose resolver cached it. There is no remote command to flush somebody else’s cache.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in that command line, and all three matter when diagnosing. -type=MX asks for one record type. Without it you get A records and would wrongly conclude the MX records are missing. 8.8.8.8 at the end queries that server, bypassing the host’s configured resolver. This is how you prove whether a fault is local caching or genuinely upstream. Non-authoritative answer means it came from a cache. An authoritative answer comes only from a server that holds the zone.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two-line answer is worth studying. It shows a CNAME being followed: the name asked for is an alias, the alias points at another name, and the resolver returned both the alias and the address it eventually reached. The numbers 3600 and 300 are the two TTLs, and they are independent — the alias is cached for an hour, the address behind it for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router resolving names is a convenience for you, not a service for users, but it appears in labs and it has one famous side effect.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blueprint names three purposes. Take them one at a time, because each has a characteristic record behind it. ping &lt;name&gt; fails, ping &lt;address&gt; works → it is DNS, not the network. This one test separates the two and should always be first. Both fail → it is not DNS. Stop here and go to Chapter 28. Name resolves to an address, but the wrong one → a stale cache or a stale A record. Query an authoritative server directly and compare. The characteristic web fault is partial: the site loads for some people, or loads slowly, or works on one machine and not another. Two causes account for most of it. An AAAA record pointing somewhere that does not answer. A dual-stack client prefers IPv6, tries the AAAA address, waits for a timeout, and only then falls back to IPv4. The site works — after a painful delay — for v6-capable clients and instantly for everyone else. A missing AAAA is harmless; a wrong AAAA is much worse than none. A CNAME where there should not be one. A name that is a CNAME cannot hold any other record. Putting a CNAME at a zone apex therefore conflicts with the zone’s own NS records, and resolvers behave inconsistently. www may safely be a CNAME; the bare domain may not. Mail exercises three of the six record types at once, and the exam knows it. Inbound fails → look at MX. Does it exist? Does the name it gives have an A record? An MX pointing at a name with no address is a common and completely silent fault. Outbound is rejected by the recipient → look at PTR. Receiving servers routinely check that the connecting IP reverse-resolves to a name, and that the name forward-resolves back to the same IP. If either half is missing, mail is rejected or scored as spam. Nothing about the domain resolves → look at NS. A delegation problem takes out MX, A and everything else simultaneously, which is how you tell it apart from a record-level fault.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21</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DNS, and Diagnosing Records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IV — Network Services and Security</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4.4"/>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4.4"/>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922B21"/>
                </a:solidFill>
                <a:latin typeface="Segoe UI"/>
              </a:rPr>
              <a:t>4.4</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922B21"/>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922B21"/>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Trace</a:t>
            </a:r>
            <a:r>
              <a:rPr sz="2000" b="0" i="0">
                <a:solidFill>
                  <a:srgbClr val="1C252B"/>
                </a:solidFill>
                <a:latin typeface="Segoe UI"/>
              </a:rPr>
              <a:t> a name resolution from a stub resolver to an authoritative server, and say which step a given failure is stuck at.</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Identify</a:t>
            </a:r>
            <a:r>
              <a:rPr sz="2000" b="0" i="0">
                <a:solidFill>
                  <a:srgbClr val="1C252B"/>
                </a:solidFill>
                <a:latin typeface="Segoe UI"/>
              </a:rPr>
              <a:t> the six record types the blueprint names — A, AAAA, CNAME, MX, NS and PTR — and state what each is for.</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Use</a:t>
            </a:r>
            <a:r>
              <a:rPr sz="2000" b="0" i="0">
                <a:solidFill>
                  <a:srgbClr val="1C252B"/>
                </a:solidFill>
                <a:latin typeface="Segoe UI"/>
              </a:rPr>
              <a:t> </a:t>
            </a:r>
            <a:r>
              <a:rPr sz="1900" b="0" i="0">
                <a:solidFill>
                  <a:srgbClr val="1A5276"/>
                </a:solidFill>
                <a:latin typeface="Consolas"/>
              </a:rPr>
              <a:t>nslookup</a:t>
            </a:r>
            <a:r>
              <a:rPr sz="2000" b="0" i="0">
                <a:solidFill>
                  <a:srgbClr val="1C252B"/>
                </a:solidFill>
                <a:latin typeface="Segoe UI"/>
              </a:rPr>
              <a:t> and </a:t>
            </a:r>
            <a:r>
              <a:rPr sz="1900" b="0" i="0">
                <a:solidFill>
                  <a:srgbClr val="1A5276"/>
                </a:solidFill>
                <a:latin typeface="Consolas"/>
              </a:rPr>
              <a:t>dig</a:t>
            </a:r>
            <a:r>
              <a:rPr sz="2000" b="0" i="0">
                <a:solidFill>
                  <a:srgbClr val="1C252B"/>
                </a:solidFill>
                <a:latin typeface="Segoe UI"/>
              </a:rPr>
              <a:t> to query a specific record type against a specific server.</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Diagnose</a:t>
            </a:r>
            <a:r>
              <a:rPr sz="2000" b="0" i="0">
                <a:solidFill>
                  <a:srgbClr val="1C252B"/>
                </a:solidFill>
                <a:latin typeface="Segoe UI"/>
              </a:rPr>
              <a:t> the three failure classes the topic names: a host unreachable by name, a web application that half works, and mail that is rejected.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6 for UDP, TCP and ports. Chapter 20 — the DNS server address usually arrives in a lease, so a DNS fault is sometimes a DHCP option fault. Chapter 5 for what an AAAA record contains.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term-resolver"/>
          <p:cNvSpPr/>
          <p:nvPr/>
        </p:nvSpPr>
        <p:spPr>
          <a:xfrm>
            <a:off x="685800" y="1609344"/>
            <a:ext cx="9864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resolver"/>
          <p:cNvSpPr/>
          <p:nvPr/>
        </p:nvSpPr>
        <p:spPr>
          <a:xfrm>
            <a:off x="68580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resolver"/>
          <p:cNvSpPr txBox="1"/>
          <p:nvPr/>
        </p:nvSpPr>
        <p:spPr>
          <a:xfrm>
            <a:off x="850392" y="1700784"/>
            <a:ext cx="65722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resolver</a:t>
            </a:r>
          </a:p>
        </p:txBody>
      </p:sp>
      <p:sp>
        <p:nvSpPr>
          <p:cNvPr id="10" name="term-recursion"/>
          <p:cNvSpPr/>
          <p:nvPr/>
        </p:nvSpPr>
        <p:spPr>
          <a:xfrm>
            <a:off x="1800225" y="1609344"/>
            <a:ext cx="10835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recursion"/>
          <p:cNvSpPr/>
          <p:nvPr/>
        </p:nvSpPr>
        <p:spPr>
          <a:xfrm>
            <a:off x="1800225"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recursion"/>
          <p:cNvSpPr txBox="1"/>
          <p:nvPr/>
        </p:nvSpPr>
        <p:spPr>
          <a:xfrm>
            <a:off x="1964817" y="1700784"/>
            <a:ext cx="75437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recursion</a:t>
            </a:r>
          </a:p>
        </p:txBody>
      </p:sp>
      <p:sp>
        <p:nvSpPr>
          <p:cNvPr id="13" name="term-authoritative"/>
          <p:cNvSpPr/>
          <p:nvPr/>
        </p:nvSpPr>
        <p:spPr>
          <a:xfrm>
            <a:off x="3011804" y="1609344"/>
            <a:ext cx="13521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authoritative"/>
          <p:cNvSpPr/>
          <p:nvPr/>
        </p:nvSpPr>
        <p:spPr>
          <a:xfrm>
            <a:off x="3011804"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authoritative"/>
          <p:cNvSpPr txBox="1"/>
          <p:nvPr/>
        </p:nvSpPr>
        <p:spPr>
          <a:xfrm>
            <a:off x="3176397" y="1700784"/>
            <a:ext cx="102298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authoritative</a:t>
            </a:r>
          </a:p>
        </p:txBody>
      </p:sp>
      <p:sp>
        <p:nvSpPr>
          <p:cNvPr id="16" name="term-TTL"/>
          <p:cNvSpPr/>
          <p:nvPr/>
        </p:nvSpPr>
        <p:spPr>
          <a:xfrm>
            <a:off x="4491990" y="1609344"/>
            <a:ext cx="6835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TTL"/>
          <p:cNvSpPr/>
          <p:nvPr/>
        </p:nvSpPr>
        <p:spPr>
          <a:xfrm>
            <a:off x="449199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TTL"/>
          <p:cNvSpPr txBox="1"/>
          <p:nvPr/>
        </p:nvSpPr>
        <p:spPr>
          <a:xfrm>
            <a:off x="4656581" y="1700784"/>
            <a:ext cx="3543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TTL</a:t>
            </a:r>
          </a:p>
        </p:txBody>
      </p:sp>
      <p:sp>
        <p:nvSpPr>
          <p:cNvPr id="19" name="term-zone"/>
          <p:cNvSpPr/>
          <p:nvPr/>
        </p:nvSpPr>
        <p:spPr>
          <a:xfrm>
            <a:off x="5303520" y="1609344"/>
            <a:ext cx="71780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zone"/>
          <p:cNvSpPr/>
          <p:nvPr/>
        </p:nvSpPr>
        <p:spPr>
          <a:xfrm>
            <a:off x="530352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zone"/>
          <p:cNvSpPr txBox="1"/>
          <p:nvPr/>
        </p:nvSpPr>
        <p:spPr>
          <a:xfrm>
            <a:off x="5468112" y="1700784"/>
            <a:ext cx="3886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zone</a:t>
            </a:r>
          </a:p>
        </p:txBody>
      </p:sp>
      <p:sp>
        <p:nvSpPr>
          <p:cNvPr id="22" name="term-A"/>
          <p:cNvSpPr/>
          <p:nvPr/>
        </p:nvSpPr>
        <p:spPr>
          <a:xfrm>
            <a:off x="6149340" y="1609344"/>
            <a:ext cx="44729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A"/>
          <p:cNvSpPr/>
          <p:nvPr/>
        </p:nvSpPr>
        <p:spPr>
          <a:xfrm>
            <a:off x="614934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A"/>
          <p:cNvSpPr txBox="1"/>
          <p:nvPr/>
        </p:nvSpPr>
        <p:spPr>
          <a:xfrm>
            <a:off x="6313931" y="1700784"/>
            <a:ext cx="11810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a:t>
            </a:r>
          </a:p>
        </p:txBody>
      </p:sp>
      <p:sp>
        <p:nvSpPr>
          <p:cNvPr id="25" name="term-AAAA"/>
          <p:cNvSpPr/>
          <p:nvPr/>
        </p:nvSpPr>
        <p:spPr>
          <a:xfrm>
            <a:off x="6724649" y="1609344"/>
            <a:ext cx="80162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AAAA"/>
          <p:cNvSpPr/>
          <p:nvPr/>
        </p:nvSpPr>
        <p:spPr>
          <a:xfrm>
            <a:off x="6724649"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AAAA"/>
          <p:cNvSpPr txBox="1"/>
          <p:nvPr/>
        </p:nvSpPr>
        <p:spPr>
          <a:xfrm>
            <a:off x="6889241" y="1700784"/>
            <a:ext cx="47244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AAAA</a:t>
            </a:r>
          </a:p>
        </p:txBody>
      </p:sp>
      <p:sp>
        <p:nvSpPr>
          <p:cNvPr id="28" name="term-CNAME"/>
          <p:cNvSpPr/>
          <p:nvPr/>
        </p:nvSpPr>
        <p:spPr>
          <a:xfrm>
            <a:off x="7654290" y="1609344"/>
            <a:ext cx="96926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CNAME"/>
          <p:cNvSpPr/>
          <p:nvPr/>
        </p:nvSpPr>
        <p:spPr>
          <a:xfrm>
            <a:off x="765429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CNAME"/>
          <p:cNvSpPr txBox="1"/>
          <p:nvPr/>
        </p:nvSpPr>
        <p:spPr>
          <a:xfrm>
            <a:off x="7818882" y="1700784"/>
            <a:ext cx="64008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CNAME</a:t>
            </a:r>
          </a:p>
        </p:txBody>
      </p:sp>
      <p:sp>
        <p:nvSpPr>
          <p:cNvPr id="31" name="term-MX"/>
          <p:cNvSpPr/>
          <p:nvPr/>
        </p:nvSpPr>
        <p:spPr>
          <a:xfrm>
            <a:off x="8751570" y="1609344"/>
            <a:ext cx="61493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MX"/>
          <p:cNvSpPr/>
          <p:nvPr/>
        </p:nvSpPr>
        <p:spPr>
          <a:xfrm>
            <a:off x="875157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MX"/>
          <p:cNvSpPr txBox="1"/>
          <p:nvPr/>
        </p:nvSpPr>
        <p:spPr>
          <a:xfrm>
            <a:off x="8916162" y="1700784"/>
            <a:ext cx="28575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MX</a:t>
            </a:r>
          </a:p>
        </p:txBody>
      </p:sp>
      <p:sp>
        <p:nvSpPr>
          <p:cNvPr id="34" name="term-NS"/>
          <p:cNvSpPr/>
          <p:nvPr/>
        </p:nvSpPr>
        <p:spPr>
          <a:xfrm>
            <a:off x="9494520" y="1609344"/>
            <a:ext cx="56540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NS"/>
          <p:cNvSpPr/>
          <p:nvPr/>
        </p:nvSpPr>
        <p:spPr>
          <a:xfrm>
            <a:off x="949452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NS"/>
          <p:cNvSpPr txBox="1"/>
          <p:nvPr/>
        </p:nvSpPr>
        <p:spPr>
          <a:xfrm>
            <a:off x="9659112" y="1700784"/>
            <a:ext cx="2362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NS</a:t>
            </a:r>
          </a:p>
        </p:txBody>
      </p:sp>
      <p:sp>
        <p:nvSpPr>
          <p:cNvPr id="37" name="term-PTR"/>
          <p:cNvSpPr/>
          <p:nvPr/>
        </p:nvSpPr>
        <p:spPr>
          <a:xfrm>
            <a:off x="10187940" y="1609344"/>
            <a:ext cx="6835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PTR"/>
          <p:cNvSpPr/>
          <p:nvPr/>
        </p:nvSpPr>
        <p:spPr>
          <a:xfrm>
            <a:off x="1018794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PTR"/>
          <p:cNvSpPr txBox="1"/>
          <p:nvPr/>
        </p:nvSpPr>
        <p:spPr>
          <a:xfrm>
            <a:off x="10352531" y="1700784"/>
            <a:ext cx="3543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PTR</a:t>
            </a:r>
          </a:p>
        </p:txBody>
      </p:sp>
      <p:sp>
        <p:nvSpPr>
          <p:cNvPr id="40" name="term-NXDOMAIN"/>
          <p:cNvSpPr/>
          <p:nvPr/>
        </p:nvSpPr>
        <p:spPr>
          <a:xfrm>
            <a:off x="685800" y="2212848"/>
            <a:ext cx="126263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NXDOMAIN"/>
          <p:cNvSpPr/>
          <p:nvPr/>
        </p:nvSpPr>
        <p:spPr>
          <a:xfrm>
            <a:off x="685800"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NXDOMAIN"/>
          <p:cNvSpPr txBox="1"/>
          <p:nvPr/>
        </p:nvSpPr>
        <p:spPr>
          <a:xfrm>
            <a:off x="850392" y="2304288"/>
            <a:ext cx="93345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NXDOMAIN</a:t>
            </a:r>
          </a:p>
        </p:txBody>
      </p:sp>
      <p:sp>
        <p:nvSpPr>
          <p:cNvPr id="43" name="term-SERVFAIL"/>
          <p:cNvSpPr/>
          <p:nvPr/>
        </p:nvSpPr>
        <p:spPr>
          <a:xfrm>
            <a:off x="2076450" y="2212848"/>
            <a:ext cx="121310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SERVFAIL"/>
          <p:cNvSpPr/>
          <p:nvPr/>
        </p:nvSpPr>
        <p:spPr>
          <a:xfrm>
            <a:off x="2076450"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SERVFAIL"/>
          <p:cNvSpPr txBox="1"/>
          <p:nvPr/>
        </p:nvSpPr>
        <p:spPr>
          <a:xfrm>
            <a:off x="2241042" y="2304288"/>
            <a:ext cx="8839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SERVFAIL</a:t>
            </a:r>
          </a:p>
        </p:txBody>
      </p:sp>
      <p:sp>
        <p:nvSpPr>
          <p:cNvPr id="46"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 the topic wording carefully</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922B21"/>
                </a:solidFill>
                <a:latin typeface="Segoe UI"/>
              </a:rPr>
              <a:t> 4.4 </a:t>
            </a:r>
            <a:r>
              <a:rPr sz="2000" b="0" i="0">
                <a:solidFill>
                  <a:srgbClr val="1C252B"/>
                </a:solidFill>
                <a:latin typeface="Segoe UI"/>
              </a:rPr>
              <a:t> is </a:t>
            </a:r>
            <a:r>
              <a:rPr sz="2000" b="0" i="1">
                <a:solidFill>
                  <a:srgbClr val="1C252B"/>
                </a:solidFill>
                <a:latin typeface="Segoe UI"/>
              </a:rPr>
              <a:t>diagnose issues with DNS records (A, AAAA, CNAME, MX, NS, and PTR) to support host, web application, and mail server access by name</a:t>
            </a:r>
            <a:r>
              <a:rPr sz="2000" b="0" i="0">
                <a:solidFill>
                  <a:srgbClr val="1C252B"/>
                </a:solidFill>
                <a:latin typeface="Segoe UI"/>
              </a:rPr>
              <a:t>.</a:t>
            </a:r>
          </a:p>
          <a:p>
            <a:pPr algn="l">
              <a:lnSpc>
                <a:spcPct val="100000"/>
              </a:lnSpc>
              <a:spcAft>
                <a:spcPts val="1000"/>
              </a:spcAft>
            </a:pPr>
            <a:r>
              <a:rPr sz="2000" b="0" i="0">
                <a:solidFill>
                  <a:srgbClr val="1C252B"/>
                </a:solidFill>
                <a:latin typeface="Segoe UI"/>
              </a:rPr>
              <a:t>Three things follow. The verb is </a:t>
            </a:r>
            <a:r>
              <a:rPr sz="2000" b="0" i="1">
                <a:solidFill>
                  <a:srgbClr val="1C252B"/>
                </a:solidFill>
                <a:latin typeface="Segoe UI"/>
              </a:rPr>
              <a:t>diagnose</a:t>
            </a:r>
            <a:r>
              <a:rPr sz="2000" b="0" i="0">
                <a:solidFill>
                  <a:srgbClr val="1C252B"/>
                </a:solidFill>
                <a:latin typeface="Segoe UI"/>
              </a:rPr>
              <a:t>, so you will be given a resolution that is wrong and asked why. The record types are enumerated, so those six and no others are examinable — there is no SOA, SRV or TXT question waiting for you. And the three purposes are enumerated too, which is a strong hint that questions will be framed as “the website works but mail bounces” rather than as “define a CNAME”.</a:t>
            </a:r>
          </a:p>
          <a:p>
            <a:pPr algn="l">
              <a:lnSpc>
                <a:spcPct val="100000"/>
              </a:lnSpc>
              <a:spcAft>
                <a:spcPts val="1000"/>
              </a:spcAft>
            </a:pPr>
            <a:r>
              <a:rPr sz="2000" b="0" i="0">
                <a:solidFill>
                  <a:srgbClr val="1C252B"/>
                </a:solidFill>
                <a:latin typeface="Segoe UI"/>
              </a:rPr>
              <a:t>You are not asked to configure a DNS server. You are asked to read 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How a name becomes an address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DNS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tint"/>
          <p:cNvSpPr/>
          <p:nvPr/>
        </p:nvSpPr>
        <p:spPr>
          <a:xfrm>
            <a:off x="685800" y="1517904"/>
            <a:ext cx="10820095" cy="16672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distributed, hierarchical database mapping names to records. Queries normally travel over UDP port 53; responses too large for a datagram, and zone transfers between servers, use TCP port 53.</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How a name becomes an address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pic>
        <p:nvPicPr>
          <p:cNvPr id="6" name="figure" descr="dnsflow-1.png"/>
          <p:cNvPicPr>
            <a:picLocks noChangeAspect="1"/>
          </p:cNvPicPr>
          <p:nvPr/>
        </p:nvPicPr>
        <p:blipFill>
          <a:blip r:embed="rId2"/>
          <a:stretch>
            <a:fillRect/>
          </a:stretch>
        </p:blipFill>
        <p:spPr>
          <a:xfrm>
            <a:off x="1392708" y="1517904"/>
            <a:ext cx="9406278"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How a name becomes an address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pic>
        <p:nvPicPr>
          <p:cNvPr id="6" name="figure" descr="dnsflow-2.png"/>
          <p:cNvPicPr>
            <a:picLocks noChangeAspect="1"/>
          </p:cNvPicPr>
          <p:nvPr/>
        </p:nvPicPr>
        <p:blipFill>
          <a:blip r:embed="rId2"/>
          <a:stretch>
            <a:fillRect/>
          </a:stretch>
        </p:blipFill>
        <p:spPr>
          <a:xfrm>
            <a:off x="1392708" y="1517904"/>
            <a:ext cx="9406278"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How a name becomes an address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pic>
        <p:nvPicPr>
          <p:cNvPr id="6" name="figure" descr="dnsflow-3.png"/>
          <p:cNvPicPr>
            <a:picLocks noChangeAspect="1"/>
          </p:cNvPicPr>
          <p:nvPr/>
        </p:nvPicPr>
        <p:blipFill>
          <a:blip r:embed="rId2"/>
          <a:stretch>
            <a:fillRect/>
          </a:stretch>
        </p:blipFill>
        <p:spPr>
          <a:xfrm>
            <a:off x="1392708" y="1517904"/>
            <a:ext cx="9406278"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How a name becomes an address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pic>
        <p:nvPicPr>
          <p:cNvPr id="6" name="figure" descr="dnsflow-4.png"/>
          <p:cNvPicPr>
            <a:picLocks noChangeAspect="1"/>
          </p:cNvPicPr>
          <p:nvPr/>
        </p:nvPicPr>
        <p:blipFill>
          <a:blip r:embed="rId2"/>
          <a:stretch>
            <a:fillRect/>
          </a:stretch>
        </p:blipFill>
        <p:spPr>
          <a:xfrm>
            <a:off x="1392708" y="1517904"/>
            <a:ext cx="9406278"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How a name becomes an address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pic>
        <p:nvPicPr>
          <p:cNvPr id="6" name="figure" descr="dnsflow-5.png"/>
          <p:cNvPicPr>
            <a:picLocks noChangeAspect="1"/>
          </p:cNvPicPr>
          <p:nvPr/>
        </p:nvPicPr>
        <p:blipFill>
          <a:blip r:embed="rId2"/>
          <a:stretch>
            <a:fillRect/>
          </a:stretch>
        </p:blipFill>
        <p:spPr>
          <a:xfrm>
            <a:off x="1392708" y="1517904"/>
            <a:ext cx="9406278"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The stub resolver explains most “it works for me” arguments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tint"/>
          <p:cNvSpPr/>
          <p:nvPr/>
        </p:nvSpPr>
        <p:spPr>
          <a:xfrm>
            <a:off x="685800" y="1517904"/>
            <a:ext cx="10820095" cy="340969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Your host is not doing the work in that figure. It sends one query to whichever resolver DHCP gave it and waits for a complete answer. Everything downstream — which root it used, whether the TLD was slow, whether a cached record is stale — is invisible to the host and different for every resolver.</a:t>
            </a:r>
          </a:p>
          <a:p>
            <a:pPr algn="l">
              <a:lnSpc>
                <a:spcPct val="100000"/>
              </a:lnSpc>
              <a:spcAft>
                <a:spcPts val="1000"/>
              </a:spcAft>
            </a:pPr>
            <a:r>
              <a:rPr sz="2000" b="0" i="0">
                <a:solidFill>
                  <a:srgbClr val="1C252B"/>
                </a:solidFill>
                <a:latin typeface="Segoe UI"/>
              </a:rPr>
              <a:t>So when one user cannot reach a site and another can, the first question is not “what is wrong with the site” but </a:t>
            </a:r>
            <a:r>
              <a:rPr sz="2000" b="1" i="0">
                <a:solidFill>
                  <a:srgbClr val="1C252B"/>
                </a:solidFill>
                <a:latin typeface="Segoe UI"/>
              </a:rPr>
              <a:t>“are they using the same resolver?”</a:t>
            </a:r>
            <a:r>
              <a:rPr sz="2000" b="0" i="0">
                <a:solidFill>
                  <a:srgbClr val="1C252B"/>
                </a:solidFill>
                <a:latin typeface="Segoe UI"/>
              </a:rPr>
              <a:t>. </a:t>
            </a:r>
            <a:r>
              <a:rPr sz="1900" b="0" i="0">
                <a:solidFill>
                  <a:srgbClr val="1A5276"/>
                </a:solidFill>
                <a:latin typeface="Consolas"/>
              </a:rPr>
              <a:t>ipconfig /all</a:t>
            </a:r>
            <a:r>
              <a:rPr sz="2000" b="0" i="0">
                <a:solidFill>
                  <a:srgbClr val="1C252B"/>
                </a:solidFill>
                <a:latin typeface="Segoe UI"/>
              </a:rPr>
              <a:t> or </a:t>
            </a:r>
            <a:r>
              <a:rPr sz="1900" b="0" i="0">
                <a:solidFill>
                  <a:srgbClr val="1A5276"/>
                </a:solidFill>
                <a:latin typeface="Consolas"/>
              </a:rPr>
              <a:t>resolvectl status</a:t>
            </a:r>
            <a:r>
              <a:rPr sz="2000" b="0" i="0">
                <a:solidFill>
                  <a:srgbClr val="1C252B"/>
                </a:solidFill>
                <a:latin typeface="Segoe UI"/>
              </a:rPr>
              <a:t> answers it in one line, and the answer resolves the argument more often than not.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practical consequence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Lower the TTL </a:t>
            </a:r>
            <a:r>
              <a:rPr sz="2000" b="0" i="1">
                <a:solidFill>
                  <a:srgbClr val="1C252B"/>
                </a:solidFill>
                <a:latin typeface="Segoe UI"/>
              </a:rPr>
              <a:t>before</a:t>
            </a:r>
            <a:r>
              <a:rPr sz="2000" b="0" i="0">
                <a:solidFill>
                  <a:srgbClr val="1C252B"/>
                </a:solidFill>
                <a:latin typeface="Segoe UI"/>
              </a:rPr>
              <a:t> a planned change, not after. Drop it to 300 seconds a day ahead, make the change, verify, then raise it again. Doing this in the right order is the difference between a five-minute cutover and a day of intermittent failure — and “why did the change take so long to appear” is a fair short-answer exam question.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Reverse lookups are a separate tree, not a mirror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PTR record does not live in your forward zone. It lives in </a:t>
            </a:r>
            <a:r>
              <a:rPr sz="1900" b="0" i="0">
                <a:solidFill>
                  <a:srgbClr val="1A5276"/>
                </a:solidFill>
                <a:latin typeface="Consolas"/>
              </a:rPr>
              <a:t>in-addr.arpa</a:t>
            </a:r>
            <a:r>
              <a:rPr sz="2000" b="0" i="0">
                <a:solidFill>
                  <a:srgbClr val="1C252B"/>
                </a:solidFill>
                <a:latin typeface="Segoe UI"/>
              </a:rPr>
              <a:t> for IPv4 (or </a:t>
            </a:r>
            <a:r>
              <a:rPr sz="1900" b="0" i="0">
                <a:solidFill>
                  <a:srgbClr val="1A5276"/>
                </a:solidFill>
                <a:latin typeface="Consolas"/>
              </a:rPr>
              <a:t>ip6.arpa</a:t>
            </a:r>
            <a:r>
              <a:rPr sz="2000" b="0" i="0">
                <a:solidFill>
                  <a:srgbClr val="1C252B"/>
                </a:solidFill>
                <a:latin typeface="Segoe UI"/>
              </a:rPr>
              <a:t> for IPv6), with the octets reversed, and it is delegated to </a:t>
            </a:r>
            <a:r>
              <a:rPr sz="2000" b="0" i="1">
                <a:solidFill>
                  <a:srgbClr val="1C252B"/>
                </a:solidFill>
                <a:latin typeface="Segoe UI"/>
              </a:rPr>
              <a:t>whoever owns the address block</a:t>
            </a:r>
            <a:r>
              <a:rPr sz="2000" b="0" i="0">
                <a:solidFill>
                  <a:srgbClr val="1C252B"/>
                </a:solidFill>
                <a:latin typeface="Segoe UI"/>
              </a:rPr>
              <a:t> — normally your ISP or cloud provider, not you.</a:t>
            </a:r>
          </a:p>
          <a:p>
            <a:pPr algn="l">
              <a:lnSpc>
                <a:spcPct val="100000"/>
              </a:lnSpc>
              <a:spcAft>
                <a:spcPts val="1000"/>
              </a:spcAft>
            </a:pPr>
            <a:r>
              <a:rPr sz="2000" b="0" i="0">
                <a:solidFill>
                  <a:srgbClr val="1C252B"/>
                </a:solidFill>
                <a:latin typeface="Segoe UI"/>
              </a:rPr>
              <a:t>That is why forward and reverse so often disagree. Adding an A record for a new mail server takes you thirty seconds; adding the matching PTR may require a support ticket to somebody else. The exam likes this asymmetry because it explains a real failure: mail that leaves cleanly and is rejected at the far end.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Querying: the two tools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nslookup -type=MX example.edu 8.8.8.8</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codebg"/>
          <p:cNvSpPr/>
          <p:nvPr/>
        </p:nvSpPr>
        <p:spPr>
          <a:xfrm>
            <a:off x="685800" y="1901952"/>
            <a:ext cx="10820095" cy="288950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Windows</a:t>
            </a:r>
          </a:p>
        </p:txBody>
      </p:sp>
      <p:sp>
        <p:nvSpPr>
          <p:cNvPr id="10" name="code"/>
          <p:cNvSpPr txBox="1"/>
          <p:nvPr/>
        </p:nvSpPr>
        <p:spPr>
          <a:xfrm>
            <a:off x="886968" y="2340864"/>
            <a:ext cx="10417759" cy="239572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Server:  dns.google</a:t>
            </a:r>
          </a:p>
          <a:p>
            <a:pPr>
              <a:lnSpc>
                <a:spcPct val="100000"/>
              </a:lnSpc>
              <a:spcAft>
                <a:spcPts val="0"/>
              </a:spcAft>
            </a:pPr>
            <a:r>
              <a:rPr sz="1600">
                <a:solidFill>
                  <a:srgbClr val="E8EEF2"/>
                </a:solidFill>
                <a:latin typeface="Consolas"/>
              </a:rPr>
              <a:t>Address:  8.8.8.8</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Non-authoritative answer:</a:t>
            </a:r>
          </a:p>
          <a:p>
            <a:pPr>
              <a:lnSpc>
                <a:spcPct val="100000"/>
              </a:lnSpc>
              <a:spcAft>
                <a:spcPts val="0"/>
              </a:spcAft>
            </a:pPr>
            <a:r>
              <a:rPr sz="1600">
                <a:solidFill>
                  <a:srgbClr val="E8EEF2"/>
                </a:solidFill>
                <a:latin typeface="Consolas"/>
              </a:rPr>
              <a:t>example.edu     MX preference = 10, mail exchanger = mail1.example.edu</a:t>
            </a:r>
          </a:p>
          <a:p>
            <a:pPr>
              <a:lnSpc>
                <a:spcPct val="100000"/>
              </a:lnSpc>
              <a:spcAft>
                <a:spcPts val="0"/>
              </a:spcAft>
            </a:pPr>
            <a:r>
              <a:rPr sz="1600">
                <a:solidFill>
                  <a:srgbClr val="E8EEF2"/>
                </a:solidFill>
                <a:latin typeface="Consolas"/>
              </a:rPr>
              <a:t>example.edu     MX preference = 20, mail exchanger = mail2.example.edu</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mail1.example.edu       internet address = 203.0.113.25</a:t>
            </a:r>
          </a:p>
          <a:p>
            <a:pPr>
              <a:lnSpc>
                <a:spcPct val="100000"/>
              </a:lnSpc>
              <a:spcAft>
                <a:spcPts val="0"/>
              </a:spcAft>
            </a:pPr>
            <a:r>
              <a:rPr sz="1600">
                <a:solidFill>
                  <a:srgbClr val="E8EEF2"/>
                </a:solidFill>
                <a:latin typeface="Consolas"/>
              </a:rPr>
              <a:t>mail2.example.edu       internet address = 203.0.113.26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dig +noall +answer www.example.edu A</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codebg"/>
          <p:cNvSpPr/>
          <p:nvPr/>
        </p:nvSpPr>
        <p:spPr>
          <a:xfrm>
            <a:off x="685800" y="1901952"/>
            <a:ext cx="10820095" cy="112572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Linux or macOS</a:t>
            </a:r>
          </a:p>
        </p:txBody>
      </p:sp>
      <p:sp>
        <p:nvSpPr>
          <p:cNvPr id="10" name="code"/>
          <p:cNvSpPr txBox="1"/>
          <p:nvPr/>
        </p:nvSpPr>
        <p:spPr>
          <a:xfrm>
            <a:off x="886968" y="2340864"/>
            <a:ext cx="10417759" cy="631951"/>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www.example.edu.      3600    IN    CNAME   web-lb.example.edu.</a:t>
            </a:r>
          </a:p>
          <a:p>
            <a:pPr>
              <a:lnSpc>
                <a:spcPct val="100000"/>
              </a:lnSpc>
              <a:spcAft>
                <a:spcPts val="0"/>
              </a:spcAft>
            </a:pPr>
            <a:r>
              <a:rPr sz="1600">
                <a:solidFill>
                  <a:srgbClr val="E8EEF2"/>
                </a:solidFill>
                <a:latin typeface="Consolas"/>
              </a:rPr>
              <a:t>web-lb.example.edu.   300     IN    A       203.0.113.10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 the status line first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1800" b="0" i="0">
                <a:solidFill>
                  <a:srgbClr val="1C252B"/>
                </a:solidFill>
                <a:latin typeface="Segoe UI"/>
              </a:rPr>
              <a:t>When </a:t>
            </a:r>
            <a:r>
              <a:rPr sz="1700" b="0" i="0">
                <a:solidFill>
                  <a:srgbClr val="1A5276"/>
                </a:solidFill>
                <a:latin typeface="Consolas"/>
              </a:rPr>
              <a:t>dig</a:t>
            </a:r>
            <a:r>
              <a:rPr sz="1800" b="0" i="0">
                <a:solidFill>
                  <a:srgbClr val="1C252B"/>
                </a:solidFill>
                <a:latin typeface="Segoe UI"/>
              </a:rPr>
              <a:t> is run without </a:t>
            </a:r>
            <a:r>
              <a:rPr sz="1700" b="0" i="0">
                <a:solidFill>
                  <a:srgbClr val="1A5276"/>
                </a:solidFill>
                <a:latin typeface="Consolas"/>
              </a:rPr>
              <a:t>+noall +answer</a:t>
            </a:r>
            <a:r>
              <a:rPr sz="1800" b="0" i="0">
                <a:solidFill>
                  <a:srgbClr val="1C252B"/>
                </a:solidFill>
                <a:latin typeface="Segoe UI"/>
              </a:rPr>
              <a:t>, the header carries a status, and it narrows the fault immediately:</a:t>
            </a:r>
          </a:p>
        </p:txBody>
      </p:sp>
      <p:sp>
        <p:nvSpPr>
          <p:cNvPr id="9" name="bullets"/>
          <p:cNvSpPr txBox="1"/>
          <p:nvPr/>
        </p:nvSpPr>
        <p:spPr>
          <a:xfrm>
            <a:off x="685800" y="2660904"/>
            <a:ext cx="10820095" cy="3721608"/>
          </a:xfrm>
          <a:prstGeom prst="rect">
            <a:avLst/>
          </a:prstGeom>
          <a:noFill/>
        </p:spPr>
        <p:txBody>
          <a:bodyPr wrap="square" lIns="0" rIns="0" tIns="0" bIns="0">
            <a:spAutoFit/>
          </a:bodyPr>
          <a:lstStyle/>
          <a:p>
            <a:pPr marL="205739" indent="-205739">
              <a:lnSpc>
                <a:spcPct val="102000"/>
              </a:lnSpc>
              <a:spcAft>
                <a:spcPts val="900"/>
              </a:spcAft>
            </a:pPr>
            <a:r>
              <a:rPr sz="1800" b="1">
                <a:solidFill>
                  <a:srgbClr val="922B21"/>
                </a:solidFill>
                <a:latin typeface="Segoe UI"/>
              </a:rPr>
              <a:t>•  </a:t>
            </a:r>
            <a:r>
              <a:rPr sz="1700" b="0" i="0">
                <a:solidFill>
                  <a:srgbClr val="1A5276"/>
                </a:solidFill>
                <a:latin typeface="Consolas"/>
              </a:rPr>
              <a:t>NOERROR</a:t>
            </a:r>
            <a:r>
              <a:rPr sz="1800" b="0" i="0">
                <a:solidFill>
                  <a:srgbClr val="1C252B"/>
                </a:solidFill>
                <a:latin typeface="Segoe UI"/>
              </a:rPr>
              <a:t> with an empty answer section — the name exists, but not with that record type. Very often the real answer in an exam question.</a:t>
            </a:r>
          </a:p>
          <a:p>
            <a:pPr marL="205739" indent="-205739">
              <a:lnSpc>
                <a:spcPct val="102000"/>
              </a:lnSpc>
              <a:spcAft>
                <a:spcPts val="900"/>
              </a:spcAft>
            </a:pPr>
            <a:r>
              <a:rPr sz="1800" b="1">
                <a:solidFill>
                  <a:srgbClr val="922B21"/>
                </a:solidFill>
                <a:latin typeface="Segoe UI"/>
              </a:rPr>
              <a:t>•  </a:t>
            </a:r>
            <a:r>
              <a:rPr sz="1700" b="0" i="0">
                <a:solidFill>
                  <a:srgbClr val="1A5276"/>
                </a:solidFill>
                <a:latin typeface="Consolas"/>
              </a:rPr>
              <a:t>NXDOMAIN</a:t>
            </a:r>
            <a:r>
              <a:rPr sz="1800" b="0" i="0">
                <a:solidFill>
                  <a:srgbClr val="1C252B"/>
                </a:solidFill>
                <a:latin typeface="Segoe UI"/>
              </a:rPr>
              <a:t> — the name does not exist. A typo, or a record never created.</a:t>
            </a:r>
          </a:p>
          <a:p>
            <a:pPr marL="205739" indent="-205739">
              <a:lnSpc>
                <a:spcPct val="102000"/>
              </a:lnSpc>
              <a:spcAft>
                <a:spcPts val="900"/>
              </a:spcAft>
            </a:pPr>
            <a:r>
              <a:rPr sz="1800" b="1">
                <a:solidFill>
                  <a:srgbClr val="922B21"/>
                </a:solidFill>
                <a:latin typeface="Segoe UI"/>
              </a:rPr>
              <a:t>•  </a:t>
            </a:r>
            <a:r>
              <a:rPr sz="1700" b="0" i="0">
                <a:solidFill>
                  <a:srgbClr val="1A5276"/>
                </a:solidFill>
                <a:latin typeface="Consolas"/>
              </a:rPr>
              <a:t>SERVFAIL</a:t>
            </a:r>
            <a:r>
              <a:rPr sz="1800" b="0" i="0">
                <a:solidFill>
                  <a:srgbClr val="1C252B"/>
                </a:solidFill>
                <a:latin typeface="Segoe UI"/>
              </a:rPr>
              <a:t> — the resolver could not complete. Broken delegation, an unreachable authoritative server, or a validation failure.</a:t>
            </a:r>
          </a:p>
          <a:p>
            <a:pPr marL="205739" indent="-205739">
              <a:lnSpc>
                <a:spcPct val="102000"/>
              </a:lnSpc>
              <a:spcAft>
                <a:spcPts val="900"/>
              </a:spcAft>
            </a:pPr>
            <a:r>
              <a:rPr sz="1800" b="1">
                <a:solidFill>
                  <a:srgbClr val="922B21"/>
                </a:solidFill>
                <a:latin typeface="Segoe UI"/>
              </a:rPr>
              <a:t>•  </a:t>
            </a:r>
            <a:r>
              <a:rPr sz="1700" b="0" i="0">
                <a:solidFill>
                  <a:srgbClr val="1A5276"/>
                </a:solidFill>
                <a:latin typeface="Consolas"/>
              </a:rPr>
              <a:t>REFUSED</a:t>
            </a:r>
            <a:r>
              <a:rPr sz="1800" b="0" i="0">
                <a:solidFill>
                  <a:srgbClr val="1C252B"/>
                </a:solidFill>
                <a:latin typeface="Segoe UI"/>
              </a:rPr>
              <a:t> — the server will not answer you. Usually an access control, not a record problem.</a:t>
            </a:r>
          </a:p>
        </p:txBody>
      </p:sp>
      <p:sp>
        <p:nvSpPr>
          <p:cNvPr id="10" name="tailbody"/>
          <p:cNvSpPr txBox="1"/>
          <p:nvPr/>
        </p:nvSpPr>
        <p:spPr>
          <a:xfrm>
            <a:off x="685800" y="5376672"/>
            <a:ext cx="10820095" cy="950976"/>
          </a:xfrm>
          <a:prstGeom prst="rect">
            <a:avLst/>
          </a:prstGeom>
          <a:noFill/>
        </p:spPr>
        <p:txBody>
          <a:bodyPr wrap="square" anchor="t" lIns="0" rIns="0" tIns="0" bIns="0">
            <a:spAutoFit/>
          </a:bodyPr>
          <a:lstStyle/>
          <a:p>
            <a:pPr algn="l">
              <a:lnSpc>
                <a:spcPct val="100000"/>
              </a:lnSpc>
              <a:spcAft>
                <a:spcPts val="600"/>
              </a:spcAft>
            </a:pPr>
            <a:r>
              <a:rPr sz="1700" b="0" i="0">
                <a:solidFill>
                  <a:srgbClr val="1A5276"/>
                </a:solidFill>
                <a:latin typeface="Consolas"/>
              </a:rPr>
              <a:t>NOERROR</a:t>
            </a:r>
            <a:r>
              <a:rPr sz="1800" b="0" i="0">
                <a:solidFill>
                  <a:srgbClr val="1C252B"/>
                </a:solidFill>
                <a:latin typeface="Segoe UI"/>
              </a:rPr>
              <a:t>-with-no-answer and </a:t>
            </a:r>
            <a:r>
              <a:rPr sz="1700" b="0" i="0">
                <a:solidFill>
                  <a:srgbClr val="1A5276"/>
                </a:solidFill>
                <a:latin typeface="Consolas"/>
              </a:rPr>
              <a:t>NXDOMAIN</a:t>
            </a:r>
            <a:r>
              <a:rPr sz="1800" b="0" i="0">
                <a:solidFill>
                  <a:srgbClr val="1C252B"/>
                </a:solidFill>
                <a:latin typeface="Segoe UI"/>
              </a:rPr>
              <a:t> look identical to a user and mean completely different things to you.</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DNS on IOS itself</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Name resolution on a router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codebg"/>
          <p:cNvSpPr/>
          <p:nvPr/>
        </p:nvSpPr>
        <p:spPr>
          <a:xfrm>
            <a:off x="685800" y="1901952"/>
            <a:ext cx="10820095" cy="238556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891792"/>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ip domain lookup</a:t>
            </a:r>
          </a:p>
          <a:p>
            <a:pPr>
              <a:lnSpc>
                <a:spcPct val="100000"/>
              </a:lnSpc>
              <a:spcAft>
                <a:spcPts val="0"/>
              </a:spcAft>
            </a:pPr>
            <a:r>
              <a:rPr sz="1600">
                <a:solidFill>
                  <a:srgbClr val="E8EEF2"/>
                </a:solidFill>
                <a:latin typeface="Consolas"/>
              </a:rPr>
              <a:t>ip name-server 192.168.20.10 192.168.20.11</a:t>
            </a:r>
          </a:p>
          <a:p>
            <a:pPr>
              <a:lnSpc>
                <a:spcPct val="100000"/>
              </a:lnSpc>
              <a:spcAft>
                <a:spcPts val="0"/>
              </a:spcAft>
            </a:pPr>
            <a:r>
              <a:rPr sz="1600">
                <a:solidFill>
                  <a:srgbClr val="E8EEF2"/>
                </a:solidFill>
                <a:latin typeface="Consolas"/>
              </a:rPr>
              <a:t>ip domain name campus.example.edu</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A local override, no server needed. Useful in a lab and useful when</a:t>
            </a:r>
          </a:p>
          <a:p>
            <a:pPr>
              <a:lnSpc>
                <a:spcPct val="100000"/>
              </a:lnSpc>
              <a:spcAft>
                <a:spcPts val="0"/>
              </a:spcAft>
            </a:pPr>
            <a:r>
              <a:rPr sz="1600" i="1">
                <a:solidFill>
                  <a:srgbClr val="6E8BA0"/>
                </a:solidFill>
                <a:latin typeface="Consolas"/>
              </a:rPr>
              <a:t>! you want a name to resolve even if DNS is the thing that is broken.</a:t>
            </a:r>
          </a:p>
          <a:p>
            <a:pPr>
              <a:lnSpc>
                <a:spcPct val="100000"/>
              </a:lnSpc>
              <a:spcAft>
                <a:spcPts val="0"/>
              </a:spcAft>
            </a:pPr>
            <a:r>
              <a:rPr sz="1600">
                <a:solidFill>
                  <a:srgbClr val="E8EEF2"/>
                </a:solidFill>
                <a:latin typeface="Consolas"/>
              </a:rPr>
              <a:t>ip host CORE1 10.0.0.1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mistyped-command hang</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Type a command wrong in EXEC mode — </a:t>
            </a:r>
            <a:r>
              <a:rPr sz="1900" b="0" i="0">
                <a:solidFill>
                  <a:srgbClr val="1A5276"/>
                </a:solidFill>
                <a:latin typeface="Consolas"/>
              </a:rPr>
              <a:t>shwo ip route</a:t>
            </a:r>
            <a:r>
              <a:rPr sz="2000" b="0" i="0">
                <a:solidFill>
                  <a:srgbClr val="1C252B"/>
                </a:solidFill>
                <a:latin typeface="Segoe UI"/>
              </a:rPr>
              <a:t> — and IOS assumes you meant to telnet to a host called </a:t>
            </a:r>
            <a:r>
              <a:rPr sz="1900" b="0" i="0">
                <a:solidFill>
                  <a:srgbClr val="1A5276"/>
                </a:solidFill>
                <a:latin typeface="Consolas"/>
              </a:rPr>
              <a:t>shwo</a:t>
            </a:r>
            <a:r>
              <a:rPr sz="2000" b="0" i="0">
                <a:solidFill>
                  <a:srgbClr val="1C252B"/>
                </a:solidFill>
                <a:latin typeface="Segoe UI"/>
              </a:rPr>
              <a:t>. With </a:t>
            </a:r>
            <a:r>
              <a:rPr sz="1900" b="0" i="0">
                <a:solidFill>
                  <a:srgbClr val="1A5276"/>
                </a:solidFill>
                <a:latin typeface="Consolas"/>
              </a:rPr>
              <a:t>ip domain lookup</a:t>
            </a:r>
            <a:r>
              <a:rPr sz="2000" b="0" i="0">
                <a:solidFill>
                  <a:srgbClr val="1C252B"/>
                </a:solidFill>
                <a:latin typeface="Segoe UI"/>
              </a:rPr>
              <a:t> enabled and no reachable server, the CLI freezes for tens of seconds on every typo.</a:t>
            </a:r>
          </a:p>
          <a:p>
            <a:pPr algn="l">
              <a:lnSpc>
                <a:spcPct val="100000"/>
              </a:lnSpc>
              <a:spcAft>
                <a:spcPts val="1000"/>
              </a:spcAft>
            </a:pPr>
            <a:r>
              <a:rPr sz="2000" b="0" i="0">
                <a:solidFill>
                  <a:srgbClr val="1C252B"/>
                </a:solidFill>
                <a:latin typeface="Segoe UI"/>
              </a:rPr>
              <a:t>On a lab device the fix is </a:t>
            </a:r>
            <a:r>
              <a:rPr sz="1900" b="0" i="0">
                <a:solidFill>
                  <a:srgbClr val="1A5276"/>
                </a:solidFill>
                <a:latin typeface="Consolas"/>
              </a:rPr>
              <a:t>no ip domain lookup</a:t>
            </a:r>
            <a:r>
              <a:rPr sz="2000" b="0" i="0">
                <a:solidFill>
                  <a:srgbClr val="1C252B"/>
                </a:solidFill>
                <a:latin typeface="Segoe UI"/>
              </a:rPr>
              <a:t>. On a production device, where you may want resolution, use </a:t>
            </a:r>
            <a:r>
              <a:rPr sz="1900" b="0" i="0">
                <a:solidFill>
                  <a:srgbClr val="1A5276"/>
                </a:solidFill>
                <a:latin typeface="Consolas"/>
              </a:rPr>
              <a:t>line con 0</a:t>
            </a:r>
            <a:r>
              <a:rPr sz="2000" b="0" i="0">
                <a:solidFill>
                  <a:srgbClr val="1C252B"/>
                </a:solidFill>
                <a:latin typeface="Segoe UI"/>
              </a:rPr>
              <a:t> then </a:t>
            </a:r>
            <a:r>
              <a:rPr sz="1900" b="0" i="0">
                <a:solidFill>
                  <a:srgbClr val="1A5276"/>
                </a:solidFill>
                <a:latin typeface="Consolas"/>
              </a:rPr>
              <a:t>transport preferred none</a:t>
            </a:r>
            <a:r>
              <a:rPr sz="2000" b="0" i="0">
                <a:solidFill>
                  <a:srgbClr val="1C252B"/>
                </a:solidFill>
                <a:latin typeface="Segoe UI"/>
              </a:rPr>
              <a:t>, which stops the CLI from treating unknown words as hostnames without disabling DNS.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Diagnosing the three named failures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MX must point at a name with an A record, never at a CNAME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Two rules, both examinable. The value of an MX record must be a hostname, not an IP address. And that hostname must resolve by A or AAAA directly — pointing an MX at a CNAME is prohibited by the standards and rejected by some mail servers and tolerated by others, which produces the worst kind of fault: mail from </a:t>
            </a:r>
            <a:r>
              <a:rPr sz="2000" b="0" i="1">
                <a:solidFill>
                  <a:srgbClr val="1C252B"/>
                </a:solidFill>
                <a:latin typeface="Segoe UI"/>
              </a:rPr>
              <a:t>some</a:t>
            </a:r>
            <a:r>
              <a:rPr sz="2000" b="0" i="0">
                <a:solidFill>
                  <a:srgbClr val="1C252B"/>
                </a:solidFill>
                <a:latin typeface="Segoe UI"/>
              </a:rPr>
              <a:t> senders is delivered and from others is not.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Mail server access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Querying without </a:t>
            </a:r>
            <a:r>
              <a:rPr sz="1900" b="1" i="0">
                <a:solidFill>
                  <a:srgbClr val="1A5276"/>
                </a:solidFill>
                <a:latin typeface="Consolas"/>
              </a:rPr>
              <a:t>-type=</a:t>
            </a:r>
            <a:r>
              <a:rPr sz="2000" b="1" i="0">
                <a:solidFill>
                  <a:srgbClr val="1C252B"/>
                </a:solidFill>
                <a:latin typeface="Segoe UI"/>
              </a:rPr>
              <a:t>.</a:t>
            </a:r>
            <a:r>
              <a:rPr sz="2000" b="0" i="0">
                <a:solidFill>
                  <a:srgbClr val="1C252B"/>
                </a:solidFill>
                <a:latin typeface="Segoe UI"/>
              </a:rPr>
              <a:t> You get A records, see them, and wrongly declare the MX or NS records missing.</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Not naming a server in the query.</a:t>
            </a:r>
            <a:r>
              <a:rPr sz="2000" b="0" i="0">
                <a:solidFill>
                  <a:srgbClr val="1C252B"/>
                </a:solidFill>
                <a:latin typeface="Segoe UI"/>
              </a:rPr>
              <a:t> You test your own cache instead of the truth. Always query the authoritative server too.</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Treating </a:t>
            </a:r>
            <a:r>
              <a:rPr sz="1900" b="1" i="0">
                <a:solidFill>
                  <a:srgbClr val="1A5276"/>
                </a:solidFill>
                <a:latin typeface="Consolas"/>
              </a:rPr>
              <a:t>NXDOMAIN</a:t>
            </a:r>
            <a:r>
              <a:rPr sz="2000" b="1" i="0">
                <a:solidFill>
                  <a:srgbClr val="1C252B"/>
                </a:solidFill>
                <a:latin typeface="Segoe UI"/>
              </a:rPr>
              <a:t> and empty-</a:t>
            </a:r>
            <a:r>
              <a:rPr sz="1900" b="1" i="0">
                <a:solidFill>
                  <a:srgbClr val="1A5276"/>
                </a:solidFill>
                <a:latin typeface="Consolas"/>
              </a:rPr>
              <a:t>NOERROR</a:t>
            </a:r>
            <a:r>
              <a:rPr sz="2000" b="1" i="0">
                <a:solidFill>
                  <a:srgbClr val="1C252B"/>
                </a:solidFill>
                <a:latin typeface="Segoe UI"/>
              </a:rPr>
              <a:t> as the same.</a:t>
            </a:r>
            <a:r>
              <a:rPr sz="2000" b="0" i="0">
                <a:solidFill>
                  <a:srgbClr val="1C252B"/>
                </a:solidFill>
                <a:latin typeface="Segoe UI"/>
              </a:rPr>
              <a:t> One means the name is absent; the other means the </a:t>
            </a:r>
            <a:r>
              <a:rPr sz="2000" b="0" i="1">
                <a:solidFill>
                  <a:srgbClr val="1C252B"/>
                </a:solidFill>
                <a:latin typeface="Segoe UI"/>
              </a:rPr>
              <a:t>record type</a:t>
            </a:r>
            <a:r>
              <a:rPr sz="2000" b="0" i="0">
                <a:solidFill>
                  <a:srgbClr val="1C252B"/>
                </a:solidFill>
                <a:latin typeface="Segoe UI"/>
              </a:rPr>
              <a:t> is.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Forgetting TTL.</a:t>
            </a:r>
            <a:r>
              <a:rPr sz="2000" b="0" i="0">
                <a:solidFill>
                  <a:srgbClr val="1C252B"/>
                </a:solidFill>
                <a:latin typeface="Segoe UI"/>
              </a:rPr>
              <a:t> A correct fix looks like a failed fix for as long as the old TTL.</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Assuming reverse DNS is yours to fix.</a:t>
            </a:r>
            <a:r>
              <a:rPr sz="2000" b="0" i="0">
                <a:solidFill>
                  <a:srgbClr val="1C252B"/>
                </a:solidFill>
                <a:latin typeface="Segoe UI"/>
              </a:rPr>
              <a:t> PTR usually lives with whoever owns the address block.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Mail server access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Blaming DNS for a routing fault.</a:t>
            </a:r>
            <a:r>
              <a:rPr sz="2000" b="0" i="0">
                <a:solidFill>
                  <a:srgbClr val="1C252B"/>
                </a:solidFill>
                <a:latin typeface="Segoe UI"/>
              </a:rPr>
              <a:t> If </a:t>
            </a:r>
            <a:r>
              <a:rPr sz="1900" b="0" i="0">
                <a:solidFill>
                  <a:srgbClr val="1A5276"/>
                </a:solidFill>
                <a:latin typeface="Consolas"/>
              </a:rPr>
              <a:t>ping</a:t>
            </a:r>
            <a:r>
              <a:rPr sz="2000" b="0" i="0">
                <a:solidFill>
                  <a:srgbClr val="1C252B"/>
                </a:solidFill>
                <a:latin typeface="Segoe UI"/>
              </a:rPr>
              <a:t> by address also fails, DNS is not involved.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400" b="1" i="0">
                <a:solidFill>
                  <a:srgbClr val="1C252B"/>
                </a:solidFill>
                <a:latin typeface="Segoe UI"/>
              </a:rPr>
              <a:t>The website works. Mail to the domain bounces with “no route to host”.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800" b="0" i="0">
                <a:solidFill>
                  <a:srgbClr val="1A5276"/>
                </a:solidFill>
                <a:latin typeface="Consolas"/>
              </a:rPr>
              <a:t>example.edu</a:t>
            </a:r>
            <a:r>
              <a:rPr sz="1900" b="0" i="0">
                <a:solidFill>
                  <a:srgbClr val="1C252B"/>
                </a:solidFill>
                <a:latin typeface="Segoe UI"/>
              </a:rPr>
              <a:t> loads correctly in a browser from everywhere. Mail sent to </a:t>
            </a:r>
            <a:r>
              <a:rPr sz="1800" b="0" i="0">
                <a:solidFill>
                  <a:srgbClr val="1A5276"/>
                </a:solidFill>
                <a:latin typeface="Consolas"/>
              </a:rPr>
              <a:t>staff@example.edu</a:t>
            </a:r>
            <a:r>
              <a:rPr sz="1900" b="0" i="0">
                <a:solidFill>
                  <a:srgbClr val="1C252B"/>
                </a:solidFill>
                <a:latin typeface="Segoe UI"/>
              </a:rPr>
              <a:t> from outside is returned by the sender’s server. Mail </a:t>
            </a:r>
            <a:r>
              <a:rPr sz="1900" b="0" i="1">
                <a:solidFill>
                  <a:srgbClr val="1C252B"/>
                </a:solidFill>
                <a:latin typeface="Segoe UI"/>
              </a:rPr>
              <a:t>between</a:t>
            </a:r>
            <a:r>
              <a:rPr sz="1900" b="0" i="0">
                <a:solidFill>
                  <a:srgbClr val="1C252B"/>
                </a:solidFill>
                <a:latin typeface="Segoe UI"/>
              </a:rPr>
              <a:t> internal users is fine. The mail server itself is up, is listening on port 25, and can be reached by IP address from outside.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400" b="1" i="0">
                <a:solidFill>
                  <a:srgbClr val="1C252B"/>
                </a:solidFill>
                <a:latin typeface="Segoe UI"/>
              </a:rPr>
              <a:t>The website works. Mail to the domain bounces with “no route to host”.</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dig +noall +answer example.edu MX</a:t>
            </a:r>
          </a:p>
        </p:txBody>
      </p:sp>
      <p:sp>
        <p:nvSpPr>
          <p:cNvPr id="6" name="bfcodebg"/>
          <p:cNvSpPr/>
          <p:nvPr/>
        </p:nvSpPr>
        <p:spPr>
          <a:xfrm>
            <a:off x="685800" y="2011680"/>
            <a:ext cx="10820095" cy="100584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Linux#</a:t>
            </a:r>
          </a:p>
        </p:txBody>
      </p:sp>
      <p:sp>
        <p:nvSpPr>
          <p:cNvPr id="9" name="bfcode"/>
          <p:cNvSpPr txBox="1"/>
          <p:nvPr/>
        </p:nvSpPr>
        <p:spPr>
          <a:xfrm>
            <a:off x="886968" y="2432304"/>
            <a:ext cx="10417759" cy="530352"/>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example.edu.        3600    IN    MX    10 mail.example.edu.</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dig +noall +answer mail.example.edu A</a:t>
            </a:r>
          </a:p>
        </p:txBody>
      </p:sp>
      <p:sp>
        <p:nvSpPr>
          <p:cNvPr id="6"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7"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The MX record exists and is syntactically fine. The name it points at, </a:t>
            </a:r>
            <a:r>
              <a:rPr sz="1800" b="0" i="0">
                <a:solidFill>
                  <a:srgbClr val="1A5276"/>
                </a:solidFill>
                <a:latin typeface="Consolas"/>
              </a:rPr>
              <a:t>mail.example.edu</a:t>
            </a:r>
            <a:r>
              <a:rPr sz="1900" b="0" i="0">
                <a:solidFill>
                  <a:srgbClr val="1C252B"/>
                </a:solidFill>
                <a:latin typeface="Segoe UI"/>
              </a:rPr>
              <a:t>, has no A record — the answer section is empty. A sending server looks up the MX, gets a name, tries to resolve that name to an address, gets nothing, and has nowhere to connect to.</a:t>
            </a:r>
          </a:p>
          <a:p>
            <a:pPr algn="l">
              <a:lnSpc>
                <a:spcPct val="100000"/>
              </a:lnSpc>
              <a:spcAft>
                <a:spcPts val="1000"/>
              </a:spcAft>
            </a:pPr>
            <a:r>
              <a:rPr sz="1900" b="0" i="0">
                <a:solidFill>
                  <a:srgbClr val="1C252B"/>
                </a:solidFill>
                <a:latin typeface="Segoe UI"/>
              </a:rPr>
              <a:t>Everything else being healthy is what makes this hard to spot. The web works because </a:t>
            </a:r>
            <a:r>
              <a:rPr sz="1800" b="0" i="0">
                <a:solidFill>
                  <a:srgbClr val="1A5276"/>
                </a:solidFill>
                <a:latin typeface="Consolas"/>
              </a:rPr>
              <a:t>www</a:t>
            </a:r>
            <a:r>
              <a:rPr sz="1900" b="0" i="0">
                <a:solidFill>
                  <a:srgbClr val="1C252B"/>
                </a:solidFill>
                <a:latin typeface="Segoe UI"/>
              </a:rPr>
              <a:t> has its own A record. Internal mail works because internal clients are configured with the server’s address directly and never consult the MX. Only </a:t>
            </a:r>
            <a:r>
              <a:rPr sz="1900" b="0" i="1">
                <a:solidFill>
                  <a:srgbClr val="1C252B"/>
                </a:solidFill>
                <a:latin typeface="Segoe UI"/>
              </a:rPr>
              <a:t>external inbound</a:t>
            </a:r>
            <a:r>
              <a:rPr sz="1900" b="0" i="0">
                <a:solidFill>
                  <a:srgbClr val="1C252B"/>
                </a:solidFill>
                <a:latin typeface="Segoe UI"/>
              </a:rPr>
              <a:t> mail follows the full MX-then-A path, so only external inbound mail fails.</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The tell is the shape of the failure: one direction, one protocol, one class of sender. Faults that broad in effect but that narrow in scope are almost always in a record that only one code path reads.</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Add the missing A record for </a:t>
            </a:r>
            <a:r>
              <a:rPr sz="1800" b="0" i="0">
                <a:solidFill>
                  <a:srgbClr val="1A5276"/>
                </a:solidFill>
                <a:latin typeface="Consolas"/>
              </a:rPr>
              <a:t>mail.example.edu</a:t>
            </a:r>
            <a:r>
              <a:rPr sz="1900" b="0" i="0">
                <a:solidFill>
                  <a:srgbClr val="1C252B"/>
                </a:solidFill>
                <a:latin typeface="Segoe UI"/>
              </a:rPr>
              <a:t> pointing at the server’s public address, then re-query to confirm. Two further checks before closing it: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A BIND OR WINDOWS DNS SERVER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Diagnosing a zone you did not build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700" b="1" i="0">
                <a:solidFill>
                  <a:srgbClr val="1C252B"/>
                </a:solidFill>
                <a:latin typeface="Segoe UI"/>
              </a:rPr>
              <a:t>Platform note.</a:t>
            </a:r>
            <a:r>
              <a:rPr sz="1700" b="0" i="0">
                <a:solidFill>
                  <a:srgbClr val="1C252B"/>
                </a:solidFill>
                <a:latin typeface="Segoe UI"/>
              </a:rPr>
              <a:t> Packet Tracer’s DNS server holds only A and CNAME records and cannot express MX, NS or PTR, so it cannot support this lab. Use a real resolver in CML or GNS3, or run BIND in a container alongside a virtual network.</a:t>
            </a:r>
          </a:p>
          <a:p>
            <a:pPr algn="l">
              <a:lnSpc>
                <a:spcPct val="100000"/>
              </a:lnSpc>
              <a:spcAft>
                <a:spcPts val="1000"/>
              </a:spcAft>
            </a:pPr>
            <a:r>
              <a:rPr sz="1700" b="1" i="0">
                <a:solidFill>
                  <a:srgbClr val="1C252B"/>
                </a:solidFill>
                <a:latin typeface="Segoe UI"/>
              </a:rPr>
              <a:t>Topology.</a:t>
            </a:r>
            <a:r>
              <a:rPr sz="1700" b="0" i="0">
                <a:solidFill>
                  <a:srgbClr val="1C252B"/>
                </a:solidFill>
                <a:latin typeface="Segoe UI"/>
              </a:rPr>
              <a:t> One router with </a:t>
            </a:r>
            <a:r>
              <a:rPr sz="1600" b="0" i="0">
                <a:solidFill>
                  <a:srgbClr val="1A5276"/>
                </a:solidFill>
                <a:latin typeface="Consolas"/>
              </a:rPr>
              <a:t>ip name-server</a:t>
            </a:r>
            <a:r>
              <a:rPr sz="1700" b="0" i="0">
                <a:solidFill>
                  <a:srgbClr val="1C252B"/>
                </a:solidFill>
                <a:latin typeface="Segoe UI"/>
              </a:rPr>
              <a:t> configured, one DNS server holding </a:t>
            </a:r>
            <a:r>
              <a:rPr sz="1600" b="0" i="0">
                <a:solidFill>
                  <a:srgbClr val="1A5276"/>
                </a:solidFill>
                <a:latin typeface="Consolas"/>
              </a:rPr>
              <a:t>example.edu</a:t>
            </a:r>
            <a:r>
              <a:rPr sz="1700" b="0" i="0">
                <a:solidFill>
                  <a:srgbClr val="1C252B"/>
                </a:solidFill>
                <a:latin typeface="Segoe UI"/>
              </a:rPr>
              <a:t>, and two clients — one dual-stack, one IPv4 only.</a:t>
            </a:r>
          </a:p>
        </p:txBody>
      </p:sp>
      <p:sp>
        <p:nvSpPr>
          <p:cNvPr id="8" name="bullets"/>
          <p:cNvSpPr txBox="1"/>
          <p:nvPr/>
        </p:nvSpPr>
        <p:spPr>
          <a:xfrm>
            <a:off x="685800" y="3195574"/>
            <a:ext cx="10820095" cy="3186938"/>
          </a:xfrm>
          <a:prstGeom prst="rect">
            <a:avLst/>
          </a:prstGeom>
          <a:noFill/>
        </p:spPr>
        <p:txBody>
          <a:bodyPr wrap="square" lIns="0" rIns="0" tIns="0" bIns="0">
            <a:spAutoFit/>
          </a:bodyPr>
          <a:lstStyle/>
          <a:p>
            <a:pPr marL="328168" indent="-328168">
              <a:lnSpc>
                <a:spcPct val="102000"/>
              </a:lnSpc>
              <a:spcAft>
                <a:spcPts val="900"/>
              </a:spcAft>
            </a:pPr>
            <a:r>
              <a:rPr sz="1700" b="1">
                <a:solidFill>
                  <a:srgbClr val="922B21"/>
                </a:solidFill>
                <a:latin typeface="Segoe UI"/>
              </a:rPr>
              <a:t>1.  </a:t>
            </a:r>
            <a:r>
              <a:rPr sz="1700" b="0" i="0">
                <a:solidFill>
                  <a:srgbClr val="1C252B"/>
                </a:solidFill>
                <a:latin typeface="Segoe UI"/>
              </a:rPr>
              <a:t>Load the zone supplied with this lab. Do not read the zone file yet; diagnose from the client side first, as you would in practice.</a:t>
            </a:r>
          </a:p>
          <a:p>
            <a:pPr marL="328168" indent="-328168">
              <a:lnSpc>
                <a:spcPct val="102000"/>
              </a:lnSpc>
              <a:spcAft>
                <a:spcPts val="900"/>
              </a:spcAft>
            </a:pPr>
            <a:r>
              <a:rPr sz="1700" b="1">
                <a:solidFill>
                  <a:srgbClr val="922B21"/>
                </a:solidFill>
                <a:latin typeface="Segoe UI"/>
              </a:rPr>
              <a:t>2.  </a:t>
            </a:r>
            <a:r>
              <a:rPr sz="1700" b="0" i="0">
                <a:solidFill>
                  <a:srgbClr val="1C252B"/>
                </a:solidFill>
                <a:latin typeface="Segoe UI"/>
              </a:rPr>
              <a:t>For each of the six record types, run a query that returns it, using </a:t>
            </a:r>
            <a:r>
              <a:rPr sz="1600" b="0" i="0">
                <a:solidFill>
                  <a:srgbClr val="1A5276"/>
                </a:solidFill>
                <a:latin typeface="Consolas"/>
              </a:rPr>
              <a:t>nslookup</a:t>
            </a:r>
            <a:r>
              <a:rPr sz="1700" b="0" i="0">
                <a:solidFill>
                  <a:srgbClr val="1C252B"/>
                </a:solidFill>
                <a:latin typeface="Segoe UI"/>
              </a:rPr>
              <a:t> on one client and </a:t>
            </a:r>
            <a:r>
              <a:rPr sz="1600" b="0" i="0">
                <a:solidFill>
                  <a:srgbClr val="1A5276"/>
                </a:solidFill>
                <a:latin typeface="Consolas"/>
              </a:rPr>
              <a:t>dig</a:t>
            </a:r>
            <a:r>
              <a:rPr sz="1700" b="0" i="0">
                <a:solidFill>
                  <a:srgbClr val="1C252B"/>
                </a:solidFill>
                <a:latin typeface="Segoe UI"/>
              </a:rPr>
              <a:t> on the other. Record the exact command in each case.</a:t>
            </a:r>
          </a:p>
          <a:p>
            <a:pPr marL="328168" indent="-328168">
              <a:lnSpc>
                <a:spcPct val="102000"/>
              </a:lnSpc>
              <a:spcAft>
                <a:spcPts val="900"/>
              </a:spcAft>
            </a:pPr>
            <a:r>
              <a:rPr sz="1700" b="1">
                <a:solidFill>
                  <a:srgbClr val="922B21"/>
                </a:solidFill>
                <a:latin typeface="Segoe UI"/>
              </a:rPr>
              <a:t>3.  </a:t>
            </a:r>
            <a:r>
              <a:rPr sz="1700" b="0" i="0">
                <a:solidFill>
                  <a:srgbClr val="1C252B"/>
                </a:solidFill>
                <a:latin typeface="Segoe UI"/>
              </a:rPr>
              <a:t>Find every fault in the zone using queries alone. There are four. Write a one-line diagnosis for each </a:t>
            </a:r>
            <a:r>
              <a:rPr sz="1700" b="0" i="1">
                <a:solidFill>
                  <a:srgbClr val="1C252B"/>
                </a:solidFill>
                <a:latin typeface="Segoe UI"/>
              </a:rPr>
              <a:t>before</a:t>
            </a:r>
            <a:r>
              <a:rPr sz="1700" b="0" i="0">
                <a:solidFill>
                  <a:srgbClr val="1C252B"/>
                </a:solidFill>
                <a:latin typeface="Segoe UI"/>
              </a:rPr>
              <a:t> opening the zone file.</a:t>
            </a:r>
          </a:p>
          <a:p>
            <a:pPr marL="328168" indent="-328168">
              <a:lnSpc>
                <a:spcPct val="102000"/>
              </a:lnSpc>
              <a:spcAft>
                <a:spcPts val="900"/>
              </a:spcAft>
            </a:pPr>
            <a:r>
              <a:rPr sz="1700" b="1">
                <a:solidFill>
                  <a:srgbClr val="922B21"/>
                </a:solidFill>
                <a:latin typeface="Segoe UI"/>
              </a:rPr>
              <a:t>4.  </a:t>
            </a:r>
            <a:r>
              <a:rPr sz="1700" b="0" i="0">
                <a:solidFill>
                  <a:srgbClr val="1C252B"/>
                </a:solidFill>
                <a:latin typeface="Segoe UI"/>
              </a:rPr>
              <a:t>Open the zone file and check your diagnoses. Note any fault you missed and what query would have found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A BIND OR WINDOWS DNS SERVER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Diagnosing a zone you did not build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5.  </a:t>
            </a:r>
            <a:r>
              <a:rPr sz="2000" b="1" i="0">
                <a:solidFill>
                  <a:srgbClr val="1C252B"/>
                </a:solidFill>
                <a:latin typeface="Segoe UI"/>
              </a:rPr>
              <a:t>Break 1.</a:t>
            </a:r>
            <a:r>
              <a:rPr sz="2000" b="0" i="0">
                <a:solidFill>
                  <a:srgbClr val="1C252B"/>
                </a:solidFill>
                <a:latin typeface="Segoe UI"/>
              </a:rPr>
              <a:t> Point </a:t>
            </a:r>
            <a:r>
              <a:rPr sz="1900" b="0" i="0">
                <a:solidFill>
                  <a:srgbClr val="1A5276"/>
                </a:solidFill>
                <a:latin typeface="Consolas"/>
              </a:rPr>
              <a:t>www</a:t>
            </a:r>
            <a:r>
              <a:rPr sz="2000" b="0" i="0">
                <a:solidFill>
                  <a:srgbClr val="1C252B"/>
                </a:solidFill>
                <a:latin typeface="Segoe UI"/>
              </a:rPr>
              <a:t> at a CNAME chain three deep, with the last entry pointing back at the first. Query it and describe the result.</a:t>
            </a:r>
          </a:p>
          <a:p>
            <a:pPr marL="386080" indent="-386080">
              <a:lnSpc>
                <a:spcPct val="102000"/>
              </a:lnSpc>
              <a:spcAft>
                <a:spcPts val="900"/>
              </a:spcAft>
            </a:pPr>
            <a:r>
              <a:rPr sz="2000" b="1">
                <a:solidFill>
                  <a:srgbClr val="922B21"/>
                </a:solidFill>
                <a:latin typeface="Segoe UI"/>
              </a:rPr>
              <a:t>6.  </a:t>
            </a:r>
            <a:r>
              <a:rPr sz="2000" b="1" i="0">
                <a:solidFill>
                  <a:srgbClr val="1C252B"/>
                </a:solidFill>
                <a:latin typeface="Segoe UI"/>
              </a:rPr>
              <a:t>Break 2.</a:t>
            </a:r>
            <a:r>
              <a:rPr sz="2000" b="0" i="0">
                <a:solidFill>
                  <a:srgbClr val="1C252B"/>
                </a:solidFill>
                <a:latin typeface="Segoe UI"/>
              </a:rPr>
              <a:t> Add an AAAA record for </a:t>
            </a:r>
            <a:r>
              <a:rPr sz="1900" b="0" i="0">
                <a:solidFill>
                  <a:srgbClr val="1A5276"/>
                </a:solidFill>
                <a:latin typeface="Consolas"/>
              </a:rPr>
              <a:t>www</a:t>
            </a:r>
            <a:r>
              <a:rPr sz="2000" b="0" i="0">
                <a:solidFill>
                  <a:srgbClr val="1C252B"/>
                </a:solidFill>
                <a:latin typeface="Segoe UI"/>
              </a:rPr>
              <a:t> pointing at an unreachable IPv6 address. Browse from the dual-stack client and from the IPv4-only client. Time both. Explain the difference to somebody who has not read this chapter.</a:t>
            </a:r>
          </a:p>
          <a:p>
            <a:pPr marL="386080" indent="-386080">
              <a:lnSpc>
                <a:spcPct val="102000"/>
              </a:lnSpc>
              <a:spcAft>
                <a:spcPts val="900"/>
              </a:spcAft>
            </a:pPr>
            <a:r>
              <a:rPr sz="2000" b="1">
                <a:solidFill>
                  <a:srgbClr val="922B21"/>
                </a:solidFill>
                <a:latin typeface="Segoe UI"/>
              </a:rPr>
              <a:t>7.  </a:t>
            </a:r>
            <a:r>
              <a:rPr sz="2000" b="1" i="0">
                <a:solidFill>
                  <a:srgbClr val="1C252B"/>
                </a:solidFill>
                <a:latin typeface="Segoe UI"/>
              </a:rPr>
              <a:t>Break 3.</a:t>
            </a:r>
            <a:r>
              <a:rPr sz="2000" b="0" i="0">
                <a:solidFill>
                  <a:srgbClr val="1C252B"/>
                </a:solidFill>
                <a:latin typeface="Segoe UI"/>
              </a:rPr>
              <a:t> Set the A record TTL to 3600, change the address, and observe how long the old value survives on a client that had already queried it. Then repeat with a TTL of 60.</a:t>
            </a:r>
          </a:p>
          <a:p>
            <a:pPr marL="386080" indent="-386080">
              <a:lnSpc>
                <a:spcPct val="102000"/>
              </a:lnSpc>
              <a:spcAft>
                <a:spcPts val="900"/>
              </a:spcAft>
            </a:pPr>
            <a:r>
              <a:rPr sz="2000" b="1">
                <a:solidFill>
                  <a:srgbClr val="922B21"/>
                </a:solidFill>
                <a:latin typeface="Segoe UI"/>
              </a:rPr>
              <a:t>8.  </a:t>
            </a:r>
            <a:r>
              <a:rPr sz="2000" b="1" i="0">
                <a:solidFill>
                  <a:srgbClr val="1C252B"/>
                </a:solidFill>
                <a:latin typeface="Segoe UI"/>
              </a:rPr>
              <a:t>Extension.</a:t>
            </a:r>
            <a:r>
              <a:rPr sz="2000" b="0" i="0">
                <a:solidFill>
                  <a:srgbClr val="1C252B"/>
                </a:solidFill>
                <a:latin typeface="Segoe UI"/>
              </a:rPr>
              <a:t> Disable </a:t>
            </a:r>
            <a:r>
              <a:rPr sz="1900" b="0" i="0">
                <a:solidFill>
                  <a:srgbClr val="1A5276"/>
                </a:solidFill>
                <a:latin typeface="Consolas"/>
              </a:rPr>
              <a:t>ip domain lookup</a:t>
            </a:r>
            <a:r>
              <a:rPr sz="2000" b="0" i="0">
                <a:solidFill>
                  <a:srgbClr val="1C252B"/>
                </a:solidFill>
                <a:latin typeface="Segoe UI"/>
              </a:rPr>
              <a:t> on the router, mistype a command, and compare the behaviour with it enabled and no reachable server.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2900" b="0" i="0">
                <a:solidFill>
                  <a:srgbClr val="FFFFFF"/>
                </a:solidFill>
                <a:latin typeface="Consolas"/>
              </a:rPr>
              <a:t>ping www.example.edu</a:t>
            </a:r>
            <a:r>
              <a:rPr sz="3000" b="0" i="0">
                <a:solidFill>
                  <a:srgbClr val="FFFFFF"/>
                </a:solidFill>
                <a:latin typeface="Segoe UI"/>
              </a:rPr>
              <a:t> fails and </a:t>
            </a:r>
            <a:r>
              <a:rPr sz="2900" b="0" i="0">
                <a:solidFill>
                  <a:srgbClr val="FFFFFF"/>
                </a:solidFill>
                <a:latin typeface="Consolas"/>
              </a:rPr>
              <a:t>ping 203.0.113.10</a:t>
            </a:r>
            <a:r>
              <a:rPr sz="3000" b="0" i="0">
                <a:solidFill>
                  <a:srgbClr val="FFFFFF"/>
                </a:solidFill>
                <a:latin typeface="Segoe UI"/>
              </a:rPr>
              <a:t> succeeds. What has this proved, and what is the next command you run?</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1900" b="1" i="0">
                <a:solidFill>
                  <a:srgbClr val="1A5276"/>
                </a:solidFill>
                <a:latin typeface="Consolas"/>
              </a:rPr>
              <a:t>ping www.example.edu</a:t>
            </a:r>
            <a:r>
              <a:rPr sz="2000" b="1" i="0">
                <a:solidFill>
                  <a:srgbClr val="1A5276"/>
                </a:solidFill>
                <a:latin typeface="Segoe UI"/>
              </a:rPr>
              <a:t> fails and </a:t>
            </a:r>
            <a:r>
              <a:rPr sz="1900" b="1" i="0">
                <a:solidFill>
                  <a:srgbClr val="1A5276"/>
                </a:solidFill>
                <a:latin typeface="Consolas"/>
              </a:rPr>
              <a:t>ping 203.0.113.10</a:t>
            </a:r>
            <a:r>
              <a:rPr sz="2000" b="1" i="0">
                <a:solidFill>
                  <a:srgbClr val="1A5276"/>
                </a:solidFill>
                <a:latin typeface="Segoe UI"/>
              </a:rPr>
              <a:t> succeeds. What has this proved, and what is the next command you run?</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That the network path and the server are fine and the fault is name resolution. Next, query the record explicitly and against a known server: </a:t>
            </a:r>
            <a:r>
              <a:rPr sz="1800" b="0" i="0">
                <a:solidFill>
                  <a:srgbClr val="1A5276"/>
                </a:solidFill>
                <a:latin typeface="Consolas"/>
              </a:rPr>
              <a:t>nslookup -type=A www.example.edu 8.8.8.8</a:t>
            </a:r>
            <a:r>
              <a:rPr sz="1900" b="0" i="0">
                <a:solidFill>
                  <a:srgbClr val="1C252B"/>
                </a:solidFill>
                <a:latin typeface="Segoe UI"/>
              </a:rPr>
              <a:t>, and compare with what your own resolver returns.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is the difference between </a:t>
            </a:r>
            <a:r>
              <a:rPr sz="2900" b="0" i="0">
                <a:solidFill>
                  <a:srgbClr val="FFFFFF"/>
                </a:solidFill>
                <a:latin typeface="Consolas"/>
              </a:rPr>
              <a:t>NXDOMAIN</a:t>
            </a:r>
            <a:r>
              <a:rPr sz="3000" b="0" i="0">
                <a:solidFill>
                  <a:srgbClr val="FFFFFF"/>
                </a:solidFill>
                <a:latin typeface="Segoe UI"/>
              </a:rPr>
              <a:t> and </a:t>
            </a:r>
            <a:r>
              <a:rPr sz="2900" b="0" i="0">
                <a:solidFill>
                  <a:srgbClr val="FFFFFF"/>
                </a:solidFill>
                <a:latin typeface="Consolas"/>
              </a:rPr>
              <a:t>NOERROR</a:t>
            </a:r>
            <a:r>
              <a:rPr sz="3000" b="0" i="0">
                <a:solidFill>
                  <a:srgbClr val="FFFFFF"/>
                </a:solidFill>
                <a:latin typeface="Segoe UI"/>
              </a:rPr>
              <a:t> with an empty answer section?</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is the difference between </a:t>
            </a:r>
            <a:r>
              <a:rPr sz="1900" b="1" i="0">
                <a:solidFill>
                  <a:srgbClr val="1A5276"/>
                </a:solidFill>
                <a:latin typeface="Consolas"/>
              </a:rPr>
              <a:t>NXDOMAIN</a:t>
            </a:r>
            <a:r>
              <a:rPr sz="2000" b="1" i="0">
                <a:solidFill>
                  <a:srgbClr val="1A5276"/>
                </a:solidFill>
                <a:latin typeface="Segoe UI"/>
              </a:rPr>
              <a:t> and </a:t>
            </a:r>
            <a:r>
              <a:rPr sz="1900" b="1" i="0">
                <a:solidFill>
                  <a:srgbClr val="1A5276"/>
                </a:solidFill>
                <a:latin typeface="Consolas"/>
              </a:rPr>
              <a:t>NOERROR</a:t>
            </a:r>
            <a:r>
              <a:rPr sz="2000" b="1" i="0">
                <a:solidFill>
                  <a:srgbClr val="1A5276"/>
                </a:solidFill>
                <a:latin typeface="Segoe UI"/>
              </a:rPr>
              <a:t> with an empty answer section?</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NXDOMAIN</a:t>
            </a:r>
            <a:r>
              <a:rPr sz="1900" b="0" i="0">
                <a:solidFill>
                  <a:srgbClr val="1C252B"/>
                </a:solidFill>
                <a:latin typeface="Segoe UI"/>
              </a:rPr>
              <a:t> means the </a:t>
            </a:r>
            <a:r>
              <a:rPr sz="1900" b="0" i="1">
                <a:solidFill>
                  <a:srgbClr val="1C252B"/>
                </a:solidFill>
                <a:latin typeface="Segoe UI"/>
              </a:rPr>
              <a:t>name</a:t>
            </a:r>
            <a:r>
              <a:rPr sz="1900" b="0" i="0">
                <a:solidFill>
                  <a:srgbClr val="1C252B"/>
                </a:solidFill>
                <a:latin typeface="Segoe UI"/>
              </a:rPr>
              <a:t> does not exist. </a:t>
            </a:r>
            <a:r>
              <a:rPr sz="1800" b="0" i="0">
                <a:solidFill>
                  <a:srgbClr val="1A5276"/>
                </a:solidFill>
                <a:latin typeface="Consolas"/>
              </a:rPr>
              <a:t>NOERROR</a:t>
            </a:r>
            <a:r>
              <a:rPr sz="1900" b="0" i="0">
                <a:solidFill>
                  <a:srgbClr val="1C252B"/>
                </a:solidFill>
                <a:latin typeface="Segoe UI"/>
              </a:rPr>
              <a:t> with an empty answer means the name exists but has no record </a:t>
            </a:r>
            <a:r>
              <a:rPr sz="1900" b="0" i="1">
                <a:solidFill>
                  <a:srgbClr val="1C252B"/>
                </a:solidFill>
                <a:latin typeface="Segoe UI"/>
              </a:rPr>
              <a:t>of the type you asked for</a:t>
            </a:r>
            <a:r>
              <a:rPr sz="1900" b="0" i="0">
                <a:solidFill>
                  <a:srgbClr val="1C252B"/>
                </a:solidFill>
                <a:latin typeface="Segoe UI"/>
              </a:rPr>
              <a:t>. They look identical to a user and mean entirely different things.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can a name that is a CNAME not also hold an MX record?</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can a name that is a CNAME not also hold an MX record?</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a CNAME means “this name is an alias for that name”, and a name that is an alias cannot also carry data of its own. Standards prohibit other records alongside it, and mail servers differ in how they cope — which produces the worst symptom, where mail from some senders arrives and from others does not.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site is slow for some users and instant for others. Which record type would you check first, and why does it affect only some clients?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site is slow for some users and instant for others. Which record type would you check first, and why does it affect only some clients?</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AAAA. A dual-stack client prefers IPv6 and will try the AAAA address first; if it is wrong or unreachable the client waits for a timeout before falling back to IPv4. IPv4-only clients never see it, so the site is slow for some and instant for others.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Whose responsibility is a PTR record for your public address, and what breaks when it is missing?</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Whose responsibility is a PTR record for your public address, and what breaks when it is missing?</a:t>
            </a:r>
          </a:p>
        </p:txBody>
      </p:sp>
      <p:sp>
        <p:nvSpPr>
          <p:cNvPr id="8" name="abar"/>
          <p:cNvSpPr/>
          <p:nvPr/>
        </p:nvSpPr>
        <p:spPr>
          <a:xfrm>
            <a:off x="685800" y="251104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Usually whoever owns the address block — your ISP or cloud provider, not you, because reverse DNS is delegated separately in </a:t>
            </a:r>
            <a:r>
              <a:rPr sz="1800" b="0" i="0">
                <a:solidFill>
                  <a:srgbClr val="1A5276"/>
                </a:solidFill>
                <a:latin typeface="Consolas"/>
              </a:rPr>
              <a:t>in-addr.arpa</a:t>
            </a:r>
            <a:r>
              <a:rPr sz="1900" b="0" i="0">
                <a:solidFill>
                  <a:srgbClr val="1C252B"/>
                </a:solidFill>
                <a:latin typeface="Segoe UI"/>
              </a:rPr>
              <a:t>. Without it, outbound mail is commonly rejected or scored as spam, because receiving servers check that the connecting address reverse-resolves and forward-resolves back.</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A host runs a stub resolver: one query, one answer. All the recursion happens at the resolver, which caches for the TTL.</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Six examinable types: A and AAAA give addresses, CNAME gives another name, MX gives a mail exchanger with a preference, NS delegates a zone, PTR reverses an address into a name.</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Query a </a:t>
            </a:r>
            <a:r>
              <a:rPr sz="2000" b="0" i="1">
                <a:solidFill>
                  <a:srgbClr val="1C252B"/>
                </a:solidFill>
                <a:latin typeface="Segoe UI"/>
              </a:rPr>
              <a:t>type</a:t>
            </a:r>
            <a:r>
              <a:rPr sz="2000" b="0" i="0">
                <a:solidFill>
                  <a:srgbClr val="1C252B"/>
                </a:solidFill>
                <a:latin typeface="Segoe UI"/>
              </a:rPr>
              <a:t> and a </a:t>
            </a:r>
            <a:r>
              <a:rPr sz="2000" b="0" i="1">
                <a:solidFill>
                  <a:srgbClr val="1C252B"/>
                </a:solidFill>
                <a:latin typeface="Segoe UI"/>
              </a:rPr>
              <a:t>server</a:t>
            </a:r>
            <a:r>
              <a:rPr sz="2000" b="0" i="0">
                <a:solidFill>
                  <a:srgbClr val="1C252B"/>
                </a:solidFill>
                <a:latin typeface="Segoe UI"/>
              </a:rPr>
              <a:t> explicitly, or you are testing neither the record you meant nor the source you meant.</a:t>
            </a:r>
          </a:p>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NXDOMAIN</a:t>
            </a:r>
            <a:r>
              <a:rPr sz="2000" b="0" i="0">
                <a:solidFill>
                  <a:srgbClr val="1C252B"/>
                </a:solidFill>
                <a:latin typeface="Segoe UI"/>
              </a:rPr>
              <a:t> is a missing name; empty </a:t>
            </a:r>
            <a:r>
              <a:rPr sz="1900" b="0" i="0">
                <a:solidFill>
                  <a:srgbClr val="1A5276"/>
                </a:solidFill>
                <a:latin typeface="Consolas"/>
              </a:rPr>
              <a:t>NOERROR</a:t>
            </a:r>
            <a:r>
              <a:rPr sz="2000" b="0" i="0">
                <a:solidFill>
                  <a:srgbClr val="1C252B"/>
                </a:solidFill>
                <a:latin typeface="Segoe UI"/>
              </a:rPr>
              <a:t> is a missing record type; </a:t>
            </a:r>
            <a:r>
              <a:rPr sz="1900" b="0" i="0">
                <a:solidFill>
                  <a:srgbClr val="1A5276"/>
                </a:solidFill>
                <a:latin typeface="Consolas"/>
              </a:rPr>
              <a:t>SERVFAIL</a:t>
            </a:r>
            <a:r>
              <a:rPr sz="2000" b="0" i="0">
                <a:solidFill>
                  <a:srgbClr val="1C252B"/>
                </a:solidFill>
                <a:latin typeface="Segoe UI"/>
              </a:rPr>
              <a:t> is usually a broken delegation.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21. DNS, and Diagnosing Records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4.4</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Host fault: does it ping by address? Web fault: suspect AAAA or an apex CNAME. Mail fault: MX inbound, PTR outbound, NS if everything is gone.</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MX must name a host that has an A record, and must not name a CNAME.</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TTL means a correct fix takes time to become visible. Lower it before a change, not after.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A host runs a stub resolver: one query, one answer. All the recursion happens at the resolver, which caches for the TTL.</a:t>
            </a:r>
          </a:p>
          <a:p>
            <a:pPr marL="217169" indent="-217169">
              <a:spcAft>
                <a:spcPts val="900"/>
              </a:spcAft>
            </a:pPr>
            <a:r>
              <a:rPr sz="1900">
                <a:solidFill>
                  <a:srgbClr val="C8D6E5"/>
                </a:solidFill>
              </a:rPr>
              <a:t>•  </a:t>
            </a:r>
            <a:r>
              <a:rPr sz="1900" b="0" i="0">
                <a:solidFill>
                  <a:srgbClr val="FFFFFF"/>
                </a:solidFill>
                <a:latin typeface="Segoe UI"/>
              </a:rPr>
              <a:t>Six examinable types: A and AAAA give addresses, CNAME gives another name, MX gives a mail exchanger with a preference, NS delegates a zone, PTR reverses an address into a name.</a:t>
            </a:r>
          </a:p>
          <a:p>
            <a:pPr marL="217169" indent="-217169">
              <a:spcAft>
                <a:spcPts val="900"/>
              </a:spcAft>
            </a:pPr>
            <a:r>
              <a:rPr sz="1900">
                <a:solidFill>
                  <a:srgbClr val="C8D6E5"/>
                </a:solidFill>
              </a:rPr>
              <a:t>•  </a:t>
            </a:r>
            <a:r>
              <a:rPr sz="1900" b="0" i="0">
                <a:solidFill>
                  <a:srgbClr val="FFFFFF"/>
                </a:solidFill>
                <a:latin typeface="Segoe UI"/>
              </a:rPr>
              <a:t>Query a </a:t>
            </a:r>
            <a:r>
              <a:rPr sz="1900" b="0" i="1">
                <a:solidFill>
                  <a:srgbClr val="FFFFFF"/>
                </a:solidFill>
                <a:latin typeface="Segoe UI"/>
              </a:rPr>
              <a:t>type</a:t>
            </a:r>
            <a:r>
              <a:rPr sz="1900" b="0" i="0">
                <a:solidFill>
                  <a:srgbClr val="FFFFFF"/>
                </a:solidFill>
                <a:latin typeface="Segoe UI"/>
              </a:rPr>
              <a:t> and a </a:t>
            </a:r>
            <a:r>
              <a:rPr sz="1900" b="0" i="1">
                <a:solidFill>
                  <a:srgbClr val="FFFFFF"/>
                </a:solidFill>
                <a:latin typeface="Segoe UI"/>
              </a:rPr>
              <a:t>server</a:t>
            </a:r>
            <a:r>
              <a:rPr sz="1900" b="0" i="0">
                <a:solidFill>
                  <a:srgbClr val="FFFFFF"/>
                </a:solidFill>
                <a:latin typeface="Segoe UI"/>
              </a:rPr>
              <a:t> explicitly, or you are testing neither the record you meant nor the source you meant.</a:t>
            </a:r>
          </a:p>
          <a:p>
            <a:pPr marL="217169" indent="-217169">
              <a:spcAft>
                <a:spcPts val="900"/>
              </a:spcAft>
            </a:pPr>
            <a:r>
              <a:rPr sz="1900">
                <a:solidFill>
                  <a:srgbClr val="C8D6E5"/>
                </a:solidFill>
              </a:rPr>
              <a:t>•  </a:t>
            </a:r>
            <a:r>
              <a:rPr sz="1800" b="0" i="0">
                <a:solidFill>
                  <a:srgbClr val="FFFFFF"/>
                </a:solidFill>
                <a:latin typeface="Consolas"/>
              </a:rPr>
              <a:t>NXDOMAIN</a:t>
            </a:r>
            <a:r>
              <a:rPr sz="1900" b="0" i="0">
                <a:solidFill>
                  <a:srgbClr val="FFFFFF"/>
                </a:solidFill>
                <a:latin typeface="Segoe UI"/>
              </a:rPr>
              <a:t> is a missing name; empty </a:t>
            </a:r>
            <a:r>
              <a:rPr sz="1800" b="0" i="0">
                <a:solidFill>
                  <a:srgbClr val="FFFFFF"/>
                </a:solidFill>
                <a:latin typeface="Consolas"/>
              </a:rPr>
              <a:t>NOERROR</a:t>
            </a:r>
            <a:r>
              <a:rPr sz="1900" b="0" i="0">
                <a:solidFill>
                  <a:srgbClr val="FFFFFF"/>
                </a:solidFill>
                <a:latin typeface="Segoe UI"/>
              </a:rPr>
              <a:t> is a missing record type; </a:t>
            </a:r>
            <a:r>
              <a:rPr sz="1800" b="0" i="0">
                <a:solidFill>
                  <a:srgbClr val="FFFFFF"/>
                </a:solidFill>
                <a:latin typeface="Consolas"/>
              </a:rPr>
              <a:t>SERVFAIL</a:t>
            </a:r>
            <a:r>
              <a:rPr sz="1900" b="0" i="0">
                <a:solidFill>
                  <a:srgbClr val="FFFFFF"/>
                </a:solidFill>
                <a:latin typeface="Segoe UI"/>
              </a:rPr>
              <a:t> is usually a broken delegation.</a:t>
            </a:r>
          </a:p>
        </p:txBody>
      </p:sp>
      <p:sp>
        <p:nvSpPr>
          <p:cNvPr id="5" name="nextbg"/>
          <p:cNvSpPr/>
          <p:nvPr/>
        </p:nvSpPr>
        <p:spPr>
          <a:xfrm>
            <a:off x="685800" y="5303520"/>
            <a:ext cx="10820095" cy="82296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22 — NAT and PAT on IOS XE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